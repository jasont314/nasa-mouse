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43891200" cy="246888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200" cy="4617720"/>
          </a:xfrm>
          <a:prstGeom prst="rect">
            <a:avLst/>
          </a:prstGeom>
          <a:solidFill>
            <a:srgbClr val="DDE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164592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97889"/>
                </a:solidFill>
                <a:latin typeface="Arial"/>
              </a:rPr>
              <a:t>National Aeronautics and Space Administration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39136320" cy="7498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00" b="1" i="0">
                <a:solidFill>
                  <a:srgbClr val="111111"/>
                </a:solidFill>
                <a:latin typeface="Arial"/>
              </a:rPr>
              <a:t>Cross-mission expiMap analysis recovers established tissue responses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55648"/>
            <a:ext cx="39136320" cy="7498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00" b="1" i="0">
                <a:solidFill>
                  <a:srgbClr val="111111"/>
                </a:solidFill>
                <a:latin typeface="Arial"/>
              </a:rPr>
              <a:t>and identifies complementary pathway shifts in mouse spaceflight transcriptomes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383280"/>
            <a:ext cx="37490400" cy="6583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697889"/>
                </a:solidFill>
                <a:latin typeface="Arial"/>
              </a:rPr>
              <a:t>Jason Trinh / University of California, Berkeley | NASA Space Life Sciences Training Program, NASA Ames Research Center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16480" y="713232"/>
            <a:ext cx="2788920" cy="231899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20040" y="4892040"/>
            <a:ext cx="13853160" cy="3456432"/>
          </a:xfrm>
          <a:prstGeom prst="rect">
            <a:avLst/>
          </a:prstGeom>
          <a:solidFill>
            <a:srgbClr val="DCE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76072" y="5074920"/>
            <a:ext cx="13341096" cy="658368"/>
          </a:xfrm>
          <a:prstGeom prst="rect">
            <a:avLst/>
          </a:prstGeom>
          <a:solidFill>
            <a:srgbClr val="FFFFFF"/>
          </a:solidFill>
          <a:ln w="13970">
            <a:solidFill>
              <a:srgbClr val="AEBC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5093207"/>
            <a:ext cx="13066776" cy="6035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11111"/>
                </a:solidFill>
                <a:latin typeface="Arial"/>
              </a:rPr>
              <a:t>ABSTRACT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925312"/>
            <a:ext cx="12938760" cy="2212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3445D"/>
                </a:solidFill>
                <a:latin typeface="Arial"/>
              </a:rPr>
              <a:t>Spaceflight affects multiple organs, but differences among missions can obscure responses that recur across studies. We asked whether pathway-constrained expiMap models could identify reproducible programs in NASA OSDR mouse bulk RNA-seq. Samples were mapped into tissue-matched ARCHS4 references using approximately 2,000 highly variable genes linked to current mouse Reactome pathways. Project-balanced flight-ground shifts were evaluated with enrichment, held-out projects, three complete trainings, composition proxies, and member-gene review. Retained patterns included lower repair and cytoskeletal programs in thymus, lower maintenance and barrier programs in skin, lower adaptive-immune programs in liver, and coordinated lower adaptive and innate immune programs in spleen, the strongest multi-pathway result.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8622792"/>
            <a:ext cx="13853160" cy="13944600"/>
          </a:xfrm>
          <a:prstGeom prst="rect">
            <a:avLst/>
          </a:prstGeom>
          <a:solidFill>
            <a:srgbClr val="DCE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76072" y="8805672"/>
            <a:ext cx="13341096" cy="658368"/>
          </a:xfrm>
          <a:prstGeom prst="rect">
            <a:avLst/>
          </a:prstGeom>
          <a:solidFill>
            <a:srgbClr val="FFFFFF"/>
          </a:solidFill>
          <a:ln w="13970">
            <a:solidFill>
              <a:srgbClr val="AEBC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8823960"/>
            <a:ext cx="13066776" cy="6035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11111"/>
                </a:solidFill>
                <a:latin typeface="Arial"/>
              </a:rPr>
              <a:t>INTRODUCTION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9710928"/>
            <a:ext cx="12847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9A6D1D"/>
                </a:solidFill>
                <a:latin typeface="Arial"/>
              </a:rPr>
              <a:t>PROJECT OBJECTIVE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10104120"/>
            <a:ext cx="128473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71C3F"/>
                </a:solidFill>
                <a:latin typeface="Arial"/>
              </a:rPr>
              <a:t>Identify gene programs that shift consistently across spaceflight missions.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11247120"/>
            <a:ext cx="12847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9A6D1D"/>
                </a:solidFill>
                <a:latin typeface="Arial"/>
              </a:rPr>
              <a:t>THE CENTRAL CHALLENGE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11686032"/>
            <a:ext cx="2468880" cy="5486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71C3F"/>
                </a:solidFill>
                <a:latin typeface="Arial"/>
              </a:rPr>
              <a:t>Observed expression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29000" y="11686032"/>
            <a:ext cx="2514600" cy="548640"/>
          </a:xfrm>
          <a:prstGeom prst="roundRect">
            <a:avLst/>
          </a:prstGeom>
          <a:solidFill>
            <a:srgbClr val="D9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93008" y="11704320"/>
            <a:ext cx="2386584" cy="49377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FFFFF"/>
                </a:solidFill>
                <a:latin typeface="Arial"/>
              </a:rPr>
              <a:t>Spaceflight biology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11686032"/>
            <a:ext cx="347472" cy="5486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697889"/>
                </a:solidFill>
                <a:latin typeface="Arial"/>
              </a:rPr>
              <a:t>+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36792" y="11686032"/>
            <a:ext cx="2011680" cy="548640"/>
          </a:xfrm>
          <a:prstGeom prst="roundRect">
            <a:avLst/>
          </a:prstGeom>
          <a:solidFill>
            <a:srgbClr val="082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1704320"/>
            <a:ext cx="1883664" cy="49377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FFFFF"/>
                </a:solidFill>
                <a:latin typeface="Arial"/>
              </a:rPr>
              <a:t>Tissue biology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8471" y="11686032"/>
            <a:ext cx="347472" cy="5486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697889"/>
                </a:solidFill>
                <a:latin typeface="Arial"/>
              </a:rPr>
              <a:t>+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741663" y="11686032"/>
            <a:ext cx="2148840" cy="548640"/>
          </a:xfrm>
          <a:prstGeom prst="roundRect">
            <a:avLst/>
          </a:prstGeom>
          <a:solidFill>
            <a:srgbClr val="6978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05672" y="11704320"/>
            <a:ext cx="2020824" cy="49377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FFFFF"/>
                </a:solidFill>
                <a:latin typeface="Arial"/>
              </a:rPr>
              <a:t>Animal variation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90503" y="11686032"/>
            <a:ext cx="347472" cy="5486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697889"/>
                </a:solidFill>
                <a:latin typeface="Arial"/>
              </a:rPr>
              <a:t>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283695" y="11686032"/>
            <a:ext cx="2331720" cy="548640"/>
          </a:xfrm>
          <a:prstGeom prst="roundRect">
            <a:avLst/>
          </a:prstGeom>
          <a:solidFill>
            <a:srgbClr val="9A6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347703" y="11704320"/>
            <a:ext cx="2203703" cy="49377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FFFFF"/>
                </a:solidFill>
                <a:latin typeface="Arial"/>
              </a:rPr>
              <a:t>Study / protocol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12454128"/>
            <a:ext cx="1284732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33445D"/>
                </a:solidFill>
                <a:latin typeface="Arial"/>
              </a:rPr>
              <a:t>Study identity and protocol can dominate an unconstrained expression representation. Tissue-matched reference mapping, accession conditioning, and equal project weighting reduce this bias without claiming to remove all mission confounding.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14008608"/>
            <a:ext cx="12847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9A6D1D"/>
                </a:solidFill>
                <a:latin typeface="Arial"/>
              </a:rPr>
              <a:t>FINAL ANALYSIS SCOPE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822960" y="14474952"/>
          <a:ext cx="1197864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514600"/>
                <a:gridCol w="2148840"/>
                <a:gridCol w="2057400"/>
                <a:gridCol w="2423160"/>
              </a:tblGrid>
              <a:tr h="740664">
                <a:tc>
                  <a:txBody>
                    <a:bodyPr wrap="none" anchor="ctr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Tissue</a:t>
                      </a:r>
                    </a:p>
                  </a:txBody>
                  <a:tcPr marL="64008" marR="54864" marT="27432" marB="27432">
                    <a:solidFill>
                      <a:srgbClr val="082552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ARCHS4</a:t>
                      </a:r>
                    </a:p>
                  </a:txBody>
                  <a:tcPr marL="64008" marR="54864" marT="27432" marB="27432">
                    <a:solidFill>
                      <a:srgbClr val="082552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OSDR</a:t>
                      </a:r>
                    </a:p>
                  </a:txBody>
                  <a:tcPr marL="64008" marR="54864" marT="27432" marB="27432">
                    <a:solidFill>
                      <a:srgbClr val="082552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Projects</a:t>
                      </a:r>
                    </a:p>
                  </a:txBody>
                  <a:tcPr marL="64008" marR="54864" marT="27432" marB="27432">
                    <a:solidFill>
                      <a:srgbClr val="082552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Programs</a:t>
                      </a:r>
                    </a:p>
                  </a:txBody>
                  <a:tcPr marL="64008" marR="54864" marT="27432" marB="27432">
                    <a:solidFill>
                      <a:srgbClr val="082552"/>
                    </a:solidFill>
                  </a:tcPr>
                </a:tc>
              </a:tr>
              <a:tr h="740664">
                <a:tc>
                  <a:txBody>
                    <a:bodyPr wrap="none" anchor="ctr"/>
                    <a:lstStyle/>
                    <a:p>
                      <a:pPr algn="l"/>
                      <a:r>
                        <a:rPr sz="1650" b="1">
                          <a:solidFill>
                            <a:srgbClr val="6A4C93"/>
                          </a:solidFill>
                          <a:latin typeface="Arial"/>
                        </a:rPr>
                        <a:t>Thymus</a:t>
                      </a:r>
                    </a:p>
                  </a:txBody>
                  <a:tcPr marL="64008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/>
                      <a:r>
                        <a:rPr sz="1650" b="0">
                          <a:solidFill>
                            <a:srgbClr val="33445D"/>
                          </a:solidFill>
                          <a:latin typeface="Arial"/>
                        </a:rPr>
                        <a:t>1,362</a:t>
                      </a:r>
                    </a:p>
                  </a:txBody>
                  <a:tcPr marL="64008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/>
                      <a:r>
                        <a:rPr sz="1650" b="0">
                          <a:solidFill>
                            <a:srgbClr val="33445D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64008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/>
                      <a:r>
                        <a:rPr sz="1650" b="0">
                          <a:solidFill>
                            <a:srgbClr val="33445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64008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/>
                      <a:r>
                        <a:rPr sz="1650" b="0">
                          <a:solidFill>
                            <a:srgbClr val="33445D"/>
                          </a:solidFill>
                          <a:latin typeface="Arial"/>
                        </a:rPr>
                        <a:t>387</a:t>
                      </a:r>
                    </a:p>
                  </a:txBody>
                  <a:tcPr marL="64008" marR="54864" marT="27432" marB="27432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 wrap="none" anchor="ctr"/>
                    <a:lstStyle/>
                    <a:p>
                      <a:pPr algn="l"/>
                      <a:r>
                        <a:rPr sz="1650" b="1">
                          <a:solidFill>
                            <a:srgbClr val="C65D37"/>
                          </a:solidFill>
                          <a:latin typeface="Arial"/>
                        </a:rPr>
                        <a:t>Skin</a:t>
                      </a:r>
                    </a:p>
                  </a:txBody>
                  <a:tcPr marL="64008" marR="54864" marT="27432" marB="27432">
                    <a:solidFill>
                      <a:srgbClr val="EEF4F8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/>
                      <a:r>
                        <a:rPr sz="1650" b="0">
                          <a:solidFill>
                            <a:srgbClr val="33445D"/>
                          </a:solidFill>
                          <a:latin typeface="Arial"/>
                        </a:rPr>
                        <a:t>2,593</a:t>
                      </a:r>
                    </a:p>
                  </a:txBody>
                  <a:tcPr marL="64008" marR="54864" marT="27432" marB="27432">
                    <a:solidFill>
                      <a:srgbClr val="EEF4F8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/>
                      <a:r>
                        <a:rPr sz="1650" b="0">
                          <a:solidFill>
                            <a:srgbClr val="33445D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64008" marR="54864" marT="27432" marB="27432">
                    <a:solidFill>
                      <a:srgbClr val="EEF4F8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/>
                      <a:r>
                        <a:rPr sz="1650" b="0">
                          <a:solidFill>
                            <a:srgbClr val="33445D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64008" marR="54864" marT="27432" marB="27432">
                    <a:solidFill>
                      <a:srgbClr val="EEF4F8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/>
                      <a:r>
                        <a:rPr sz="1650" b="0">
                          <a:solidFill>
                            <a:srgbClr val="33445D"/>
                          </a:solidFill>
                          <a:latin typeface="Arial"/>
                        </a:rPr>
                        <a:t>319</a:t>
                      </a:r>
                    </a:p>
                  </a:txBody>
                  <a:tcPr marL="64008" marR="54864" marT="27432" marB="27432">
                    <a:solidFill>
                      <a:srgbClr val="EEF4F8"/>
                    </a:solidFill>
                  </a:tcPr>
                </a:tc>
              </a:tr>
              <a:tr h="740664">
                <a:tc>
                  <a:txBody>
                    <a:bodyPr wrap="none" anchor="ctr"/>
                    <a:lstStyle/>
                    <a:p>
                      <a:pPr algn="l"/>
                      <a:r>
                        <a:rPr sz="1650" b="1">
                          <a:solidFill>
                            <a:srgbClr val="13877C"/>
                          </a:solidFill>
                          <a:latin typeface="Arial"/>
                        </a:rPr>
                        <a:t>Liver</a:t>
                      </a:r>
                    </a:p>
                  </a:txBody>
                  <a:tcPr marL="64008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/>
                      <a:r>
                        <a:rPr sz="1650" b="0">
                          <a:solidFill>
                            <a:srgbClr val="33445D"/>
                          </a:solidFill>
                          <a:latin typeface="Arial"/>
                        </a:rPr>
                        <a:t>5,000</a:t>
                      </a:r>
                    </a:p>
                  </a:txBody>
                  <a:tcPr marL="64008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/>
                      <a:r>
                        <a:rPr sz="1650" b="0">
                          <a:solidFill>
                            <a:srgbClr val="33445D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64008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/>
                      <a:r>
                        <a:rPr sz="1650" b="0">
                          <a:solidFill>
                            <a:srgbClr val="33445D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64008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/>
                      <a:r>
                        <a:rPr sz="1650" b="0">
                          <a:solidFill>
                            <a:srgbClr val="33445D"/>
                          </a:solidFill>
                          <a:latin typeface="Arial"/>
                        </a:rPr>
                        <a:t>364</a:t>
                      </a:r>
                    </a:p>
                  </a:txBody>
                  <a:tcPr marL="64008" marR="54864" marT="27432" marB="27432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 wrap="none" anchor="ctr"/>
                    <a:lstStyle/>
                    <a:p>
                      <a:pPr algn="l"/>
                      <a:r>
                        <a:rPr sz="1650" b="1">
                          <a:solidFill>
                            <a:srgbClr val="A64D67"/>
                          </a:solidFill>
                          <a:latin typeface="Arial"/>
                        </a:rPr>
                        <a:t>Spleen</a:t>
                      </a:r>
                    </a:p>
                  </a:txBody>
                  <a:tcPr marL="64008" marR="54864" marT="27432" marB="27432">
                    <a:solidFill>
                      <a:srgbClr val="EEF4F8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/>
                      <a:r>
                        <a:rPr sz="1650" b="0">
                          <a:solidFill>
                            <a:srgbClr val="33445D"/>
                          </a:solidFill>
                          <a:latin typeface="Arial"/>
                        </a:rPr>
                        <a:t>6,289</a:t>
                      </a:r>
                    </a:p>
                  </a:txBody>
                  <a:tcPr marL="64008" marR="54864" marT="27432" marB="27432">
                    <a:solidFill>
                      <a:srgbClr val="EEF4F8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/>
                      <a:r>
                        <a:rPr sz="1650" b="0">
                          <a:solidFill>
                            <a:srgbClr val="33445D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54864" marT="27432" marB="27432">
                    <a:solidFill>
                      <a:srgbClr val="EEF4F8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/>
                      <a:r>
                        <a:rPr sz="1650" b="0">
                          <a:solidFill>
                            <a:srgbClr val="33445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64008" marR="54864" marT="27432" marB="27432">
                    <a:solidFill>
                      <a:srgbClr val="EEF4F8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/>
                      <a:r>
                        <a:rPr sz="1650" b="0">
                          <a:solidFill>
                            <a:srgbClr val="33445D"/>
                          </a:solidFill>
                          <a:latin typeface="Arial"/>
                        </a:rPr>
                        <a:t>360</a:t>
                      </a:r>
                    </a:p>
                  </a:txBody>
                  <a:tcPr marL="64008" marR="54864" marT="27432" marB="27432"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822960" y="18260568"/>
            <a:ext cx="12847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1">
                <a:solidFill>
                  <a:srgbClr val="697889"/>
                </a:solidFill>
                <a:latin typeface="Arial"/>
              </a:rPr>
              <a:t>OSDR counts are primary analysis samples. Spleen excludes one condition-strain-confounded project.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18882360"/>
            <a:ext cx="12847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9A6D1D"/>
                </a:solidFill>
                <a:latin typeface="Arial"/>
              </a:rPr>
              <a:t>ROBUSTNESS GATE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2960" y="19366992"/>
            <a:ext cx="3877056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236D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6112" y="19394424"/>
            <a:ext cx="3730752" cy="5760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36DA2"/>
                </a:solidFill>
                <a:latin typeface="Arial"/>
              </a:rPr>
              <a:t>ssGSEA + GSEA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84064" y="19366992"/>
            <a:ext cx="3877056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236D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157216" y="19394424"/>
            <a:ext cx="3730752" cy="5760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36DA2"/>
                </a:solidFill>
                <a:latin typeface="Arial"/>
              </a:rPr>
              <a:t>Held-out projects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345168" y="19366992"/>
            <a:ext cx="3877056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6A4C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418320" y="19394424"/>
            <a:ext cx="3730752" cy="5760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6A4C93"/>
                </a:solidFill>
                <a:latin typeface="Arial"/>
              </a:rPr>
              <a:t>3 full trainings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2960" y="20189952"/>
            <a:ext cx="3877056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178C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96112" y="20217384"/>
            <a:ext cx="3730752" cy="5760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8C6A"/>
                </a:solidFill>
                <a:latin typeface="Arial"/>
              </a:rPr>
              <a:t>Composition proxies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84064" y="20189952"/>
            <a:ext cx="3877056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178C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57216" y="20217384"/>
            <a:ext cx="3730752" cy="5760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8C6A"/>
                </a:solidFill>
                <a:latin typeface="Arial"/>
              </a:rPr>
              <a:t>Member genes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345168" y="20189952"/>
            <a:ext cx="3877056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178C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418320" y="20217384"/>
            <a:ext cx="3730752" cy="5760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8C6A"/>
                </a:solidFill>
                <a:latin typeface="Arial"/>
              </a:rPr>
              <a:t>Literature review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960" y="21104352"/>
            <a:ext cx="128473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33445D"/>
                </a:solidFill>
                <a:latin typeface="Arial"/>
              </a:rPr>
              <a:t>Complementary means an annotated Reactome program that adds a plausible perspective beyond the dominant phenotype in prior literature. De novo nodes were not retained in the final models.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4493240" y="4892040"/>
            <a:ext cx="14401800" cy="7360920"/>
          </a:xfrm>
          <a:prstGeom prst="rect">
            <a:avLst/>
          </a:prstGeom>
          <a:solidFill>
            <a:srgbClr val="DCE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4749272" y="5074920"/>
            <a:ext cx="13889736" cy="658368"/>
          </a:xfrm>
          <a:prstGeom prst="rect">
            <a:avLst/>
          </a:prstGeom>
          <a:solidFill>
            <a:srgbClr val="FFFFFF"/>
          </a:solidFill>
          <a:ln w="13970">
            <a:solidFill>
              <a:srgbClr val="AEBC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4886431" y="5093207"/>
            <a:ext cx="13615415" cy="6035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11111"/>
                </a:solidFill>
                <a:latin typeface="Arial"/>
              </a:rPr>
              <a:t>METHODS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4859000" y="5870448"/>
            <a:ext cx="13670280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71C3F"/>
                </a:solidFill>
                <a:latin typeface="Arial"/>
              </a:rPr>
              <a:t>Pathway structure is wired into the decoder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5179040" y="6345936"/>
            <a:ext cx="13030200" cy="4206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97889"/>
                </a:solidFill>
                <a:latin typeface="Arial"/>
              </a:rPr>
              <a:t>Train a tissue reference, then map flight and ground samples into the same annotated program space.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996159" y="681228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36DA2"/>
                </a:solidFill>
                <a:latin typeface="Arial"/>
              </a:rPr>
              <a:t>1  REFERENCE TRAINING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4996159" y="7196328"/>
            <a:ext cx="3246120" cy="1005840"/>
          </a:xfrm>
          <a:prstGeom prst="roundRect">
            <a:avLst>
              <a:gd name="adj" fmla="val 6000"/>
            </a:avLst>
          </a:prstGeom>
          <a:solidFill>
            <a:srgbClr val="E9F3F8"/>
          </a:solidFill>
          <a:ln w="17780">
            <a:solidFill>
              <a:srgbClr val="236D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71C3F"/>
                </a:solidFill>
                <a:latin typeface="Arial"/>
              </a:rPr>
              <a:t>ARCHS4 reference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697889"/>
                </a:solidFill>
                <a:latin typeface="Arial"/>
              </a:rPr>
              <a:t>non-spaceflight tissue counts</a:t>
            </a:r>
          </a:p>
        </p:txBody>
      </p:sp>
      <p:sp>
        <p:nvSpPr>
          <p:cNvPr id="55" name="Right Arrow 54"/>
          <p:cNvSpPr/>
          <p:nvPr/>
        </p:nvSpPr>
        <p:spPr>
          <a:xfrm>
            <a:off x="18406872" y="7507224"/>
            <a:ext cx="502920" cy="329184"/>
          </a:xfrm>
          <a:prstGeom prst="rightArrow">
            <a:avLst/>
          </a:prstGeom>
          <a:solidFill>
            <a:srgbClr val="236D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19019520" y="7040880"/>
            <a:ext cx="9326880" cy="2423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236D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9266408" y="7168896"/>
            <a:ext cx="40233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071C3F"/>
                </a:solidFill>
                <a:latin typeface="Arial"/>
              </a:rPr>
              <a:t>Tissue expiMap reference</a:t>
            </a:r>
          </a:p>
        </p:txBody>
      </p:sp>
      <p:sp>
        <p:nvSpPr>
          <p:cNvPr id="58" name="Oval 57"/>
          <p:cNvSpPr/>
          <p:nvPr/>
        </p:nvSpPr>
        <p:spPr>
          <a:xfrm>
            <a:off x="19385280" y="7744967"/>
            <a:ext cx="219456" cy="219456"/>
          </a:xfrm>
          <a:prstGeom prst="ellipse">
            <a:avLst/>
          </a:prstGeom>
          <a:solidFill>
            <a:srgbClr val="A9B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9385280" y="8129015"/>
            <a:ext cx="219456" cy="219456"/>
          </a:xfrm>
          <a:prstGeom prst="ellipse">
            <a:avLst/>
          </a:prstGeom>
          <a:solidFill>
            <a:srgbClr val="A9B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9385280" y="8513063"/>
            <a:ext cx="219456" cy="219456"/>
          </a:xfrm>
          <a:prstGeom prst="ellipse">
            <a:avLst/>
          </a:prstGeom>
          <a:solidFill>
            <a:srgbClr val="A9B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9385280" y="8897111"/>
            <a:ext cx="219456" cy="219456"/>
          </a:xfrm>
          <a:prstGeom prst="ellipse">
            <a:avLst/>
          </a:prstGeom>
          <a:solidFill>
            <a:srgbClr val="A9B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rapezoid 61"/>
          <p:cNvSpPr/>
          <p:nvPr/>
        </p:nvSpPr>
        <p:spPr>
          <a:xfrm>
            <a:off x="19751040" y="7626096"/>
            <a:ext cx="1920240" cy="1298448"/>
          </a:xfrm>
          <a:prstGeom prst="trapezoid">
            <a:avLst/>
          </a:prstGeom>
          <a:solidFill>
            <a:srgbClr val="DCE6F2"/>
          </a:solidFill>
          <a:ln w="17780">
            <a:solidFill>
              <a:srgbClr val="236D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9860768" y="8083296"/>
            <a:ext cx="1700784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71C3F"/>
                </a:solidFill>
                <a:latin typeface="Arial"/>
              </a:rPr>
              <a:t>Dense encoder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19604735" y="7854695"/>
            <a:ext cx="310897" cy="420625"/>
          </a:xfrm>
          <a:prstGeom prst="line">
            <a:avLst/>
          </a:prstGeom>
          <a:ln w="10160">
            <a:solidFill>
              <a:srgbClr val="A9B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9604735" y="8238743"/>
            <a:ext cx="310897" cy="36577"/>
          </a:xfrm>
          <a:prstGeom prst="line">
            <a:avLst/>
          </a:prstGeom>
          <a:ln w="10160">
            <a:solidFill>
              <a:srgbClr val="A9B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9604735" y="8275320"/>
            <a:ext cx="310897" cy="347471"/>
          </a:xfrm>
          <a:prstGeom prst="line">
            <a:avLst/>
          </a:prstGeom>
          <a:ln w="10160">
            <a:solidFill>
              <a:srgbClr val="A9B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19604735" y="8275320"/>
            <a:ext cx="310897" cy="731519"/>
          </a:xfrm>
          <a:prstGeom prst="line">
            <a:avLst/>
          </a:prstGeom>
          <a:ln w="10160">
            <a:solidFill>
              <a:srgbClr val="A9B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1506688" y="7799831"/>
            <a:ext cx="374904" cy="475489"/>
          </a:xfrm>
          <a:prstGeom prst="line">
            <a:avLst/>
          </a:prstGeom>
          <a:ln w="11430">
            <a:solidFill>
              <a:srgbClr val="A9B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Oval 68"/>
          <p:cNvSpPr/>
          <p:nvPr/>
        </p:nvSpPr>
        <p:spPr>
          <a:xfrm>
            <a:off x="21881592" y="7653527"/>
            <a:ext cx="292608" cy="292608"/>
          </a:xfrm>
          <a:prstGeom prst="ellipse">
            <a:avLst/>
          </a:prstGeom>
          <a:solidFill>
            <a:srgbClr val="6A4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22247352" y="7635240"/>
            <a:ext cx="2029968" cy="329184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1430">
            <a:solidFill>
              <a:srgbClr val="6A4C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2338792" y="7635240"/>
            <a:ext cx="1847088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6A4C93"/>
                </a:solidFill>
                <a:latin typeface="Arial"/>
              </a:rPr>
              <a:t>DNA repair</a:t>
            </a:r>
          </a:p>
        </p:txBody>
      </p:sp>
      <p:cxnSp>
        <p:nvCxnSpPr>
          <p:cNvPr id="72" name="Connector 71"/>
          <p:cNvCxnSpPr/>
          <p:nvPr/>
        </p:nvCxnSpPr>
        <p:spPr>
          <a:xfrm flipV="1">
            <a:off x="21506688" y="8238744"/>
            <a:ext cx="374904" cy="36576"/>
          </a:xfrm>
          <a:prstGeom prst="line">
            <a:avLst/>
          </a:prstGeom>
          <a:ln w="11430">
            <a:solidFill>
              <a:srgbClr val="A9B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21881592" y="8092440"/>
            <a:ext cx="292608" cy="292608"/>
          </a:xfrm>
          <a:prstGeom prst="ellipse">
            <a:avLst/>
          </a:prstGeom>
          <a:solidFill>
            <a:srgbClr val="A64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22247352" y="8074152"/>
            <a:ext cx="2029968" cy="329184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1430">
            <a:solidFill>
              <a:srgbClr val="A64D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2338792" y="8074152"/>
            <a:ext cx="1847088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A64D67"/>
                </a:solidFill>
                <a:latin typeface="Arial"/>
              </a:rPr>
              <a:t>T-cell signaling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21506688" y="8275320"/>
            <a:ext cx="374904" cy="402336"/>
          </a:xfrm>
          <a:prstGeom prst="line">
            <a:avLst/>
          </a:prstGeom>
          <a:ln w="11430">
            <a:solidFill>
              <a:srgbClr val="A9B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Oval 76"/>
          <p:cNvSpPr/>
          <p:nvPr/>
        </p:nvSpPr>
        <p:spPr>
          <a:xfrm>
            <a:off x="21881592" y="8531352"/>
            <a:ext cx="292608" cy="292608"/>
          </a:xfrm>
          <a:prstGeom prst="ellipse">
            <a:avLst/>
          </a:prstGeom>
          <a:solidFill>
            <a:srgbClr val="C65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22247352" y="8513064"/>
            <a:ext cx="2029968" cy="329184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1430">
            <a:solidFill>
              <a:srgbClr val="C65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2338792" y="8513064"/>
            <a:ext cx="1847088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C65D37"/>
                </a:solidFill>
                <a:latin typeface="Arial"/>
              </a:rPr>
              <a:t>Cell junctions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24505920" y="7168896"/>
            <a:ext cx="3246120" cy="530352"/>
          </a:xfrm>
          <a:prstGeom prst="roundRect">
            <a:avLst/>
          </a:prstGeom>
          <a:solidFill>
            <a:srgbClr val="E9F4EE"/>
          </a:solidFill>
          <a:ln w="13970">
            <a:solidFill>
              <a:srgbClr val="178C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4624792" y="7223760"/>
            <a:ext cx="3008376" cy="4023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8C6A"/>
                </a:solidFill>
                <a:latin typeface="Arial"/>
              </a:rPr>
              <a:t>Reactome program mask</a:t>
            </a:r>
          </a:p>
        </p:txBody>
      </p:sp>
      <p:sp>
        <p:nvSpPr>
          <p:cNvPr id="82" name="Down Arrow 81"/>
          <p:cNvSpPr/>
          <p:nvPr/>
        </p:nvSpPr>
        <p:spPr>
          <a:xfrm>
            <a:off x="25667208" y="7726679"/>
            <a:ext cx="329184" cy="310896"/>
          </a:xfrm>
          <a:prstGeom prst="downArrow">
            <a:avLst/>
          </a:prstGeom>
          <a:solidFill>
            <a:srgbClr val="178C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27249120" y="7726679"/>
            <a:ext cx="219456" cy="219456"/>
          </a:xfrm>
          <a:prstGeom prst="ellipse">
            <a:avLst/>
          </a:prstGeom>
          <a:solidFill>
            <a:srgbClr val="A9B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27249120" y="8074152"/>
            <a:ext cx="219456" cy="219456"/>
          </a:xfrm>
          <a:prstGeom prst="ellipse">
            <a:avLst/>
          </a:prstGeom>
          <a:solidFill>
            <a:srgbClr val="A9B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27249120" y="8421624"/>
            <a:ext cx="219456" cy="219456"/>
          </a:xfrm>
          <a:prstGeom prst="ellipse">
            <a:avLst/>
          </a:prstGeom>
          <a:solidFill>
            <a:srgbClr val="A9B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27249120" y="8769096"/>
            <a:ext cx="219456" cy="219456"/>
          </a:xfrm>
          <a:prstGeom prst="ellipse">
            <a:avLst/>
          </a:prstGeom>
          <a:solidFill>
            <a:srgbClr val="A9B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7" name="Connector 86"/>
          <p:cNvCxnSpPr/>
          <p:nvPr/>
        </p:nvCxnSpPr>
        <p:spPr>
          <a:xfrm>
            <a:off x="24277320" y="7799831"/>
            <a:ext cx="2971800" cy="36576"/>
          </a:xfrm>
          <a:prstGeom prst="line">
            <a:avLst/>
          </a:prstGeom>
          <a:ln w="15240">
            <a:solidFill>
              <a:srgbClr val="6A4C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24277320" y="7799831"/>
            <a:ext cx="2971800" cy="731520"/>
          </a:xfrm>
          <a:prstGeom prst="line">
            <a:avLst/>
          </a:prstGeom>
          <a:ln w="15240">
            <a:solidFill>
              <a:srgbClr val="6A4C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24277320" y="8183879"/>
            <a:ext cx="2971800" cy="54865"/>
          </a:xfrm>
          <a:prstGeom prst="line">
            <a:avLst/>
          </a:prstGeom>
          <a:ln w="15240">
            <a:solidFill>
              <a:srgbClr val="A64D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24277320" y="8238744"/>
            <a:ext cx="2971800" cy="640080"/>
          </a:xfrm>
          <a:prstGeom prst="line">
            <a:avLst/>
          </a:prstGeom>
          <a:ln w="15240">
            <a:solidFill>
              <a:srgbClr val="A64D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24277320" y="8531351"/>
            <a:ext cx="2971800" cy="146305"/>
          </a:xfrm>
          <a:prstGeom prst="line">
            <a:avLst/>
          </a:prstGeom>
          <a:ln w="15240">
            <a:solidFill>
              <a:srgbClr val="C65D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24277320" y="8677656"/>
            <a:ext cx="2971800" cy="201168"/>
          </a:xfrm>
          <a:prstGeom prst="line">
            <a:avLst/>
          </a:prstGeom>
          <a:ln w="15240">
            <a:solidFill>
              <a:srgbClr val="C65D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>
            <a:off x="19220688" y="9052560"/>
            <a:ext cx="603504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97889"/>
                </a:solidFill>
                <a:latin typeface="Arial"/>
              </a:rPr>
              <a:t>genes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1607272" y="9052560"/>
            <a:ext cx="283464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97889"/>
                </a:solidFill>
                <a:latin typeface="Arial"/>
              </a:rPr>
              <a:t>annotated program scores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4597360" y="9052560"/>
            <a:ext cx="22402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97889"/>
                </a:solidFill>
                <a:latin typeface="Arial"/>
              </a:rPr>
              <a:t>masked decoder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6471880" y="9052560"/>
            <a:ext cx="169164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97889"/>
                </a:solidFill>
                <a:latin typeface="Arial"/>
              </a:rPr>
              <a:t>output genes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4996159" y="9601200"/>
            <a:ext cx="7406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D97800"/>
                </a:solidFill>
                <a:latin typeface="Arial"/>
              </a:rPr>
              <a:t>2  QUERY MAPPING AND CROSS-MISSION COMPARISON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14996159" y="9966960"/>
            <a:ext cx="2926080" cy="987552"/>
          </a:xfrm>
          <a:prstGeom prst="roundRect">
            <a:avLst>
              <a:gd name="adj" fmla="val 6000"/>
            </a:avLst>
          </a:prstGeom>
          <a:solidFill>
            <a:srgbClr val="FAEFE7"/>
          </a:solidFill>
          <a:ln w="17780">
            <a:solidFill>
              <a:srgbClr val="D97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bIns="36576"/>
          <a:lstStyle/>
          <a:p>
            <a:pPr algn="ctr">
              <a:spcAft>
                <a:spcPts val="200"/>
              </a:spcAft>
            </a:pPr>
            <a:r>
              <a:rPr sz="1750" b="1">
                <a:solidFill>
                  <a:srgbClr val="071C3F"/>
                </a:solidFill>
                <a:latin typeface="Arial"/>
              </a:rPr>
              <a:t>NASA OSDR query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697889"/>
                </a:solidFill>
                <a:latin typeface="Arial"/>
              </a:rPr>
              <a:t>FLT, GC, and accession</a:t>
            </a:r>
          </a:p>
        </p:txBody>
      </p:sp>
      <p:sp>
        <p:nvSpPr>
          <p:cNvPr id="99" name="Right Arrow 98"/>
          <p:cNvSpPr/>
          <p:nvPr/>
        </p:nvSpPr>
        <p:spPr>
          <a:xfrm>
            <a:off x="18041112" y="10277856"/>
            <a:ext cx="411480" cy="329184"/>
          </a:xfrm>
          <a:prstGeom prst="rightArrow">
            <a:avLst/>
          </a:prstGeom>
          <a:solidFill>
            <a:srgbClr val="D9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18562320" y="9966960"/>
            <a:ext cx="2834640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D97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071C3F"/>
                </a:solidFill>
                <a:latin typeface="Arial"/>
              </a:rPr>
              <a:t>Reference-query map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697889"/>
                </a:solidFill>
                <a:latin typeface="Arial"/>
              </a:rPr>
              <a:t>scArches adaptation</a:t>
            </a:r>
          </a:p>
        </p:txBody>
      </p:sp>
      <p:sp>
        <p:nvSpPr>
          <p:cNvPr id="101" name="Right Arrow 100"/>
          <p:cNvSpPr/>
          <p:nvPr/>
        </p:nvSpPr>
        <p:spPr>
          <a:xfrm>
            <a:off x="21515832" y="10277856"/>
            <a:ext cx="411480" cy="329184"/>
          </a:xfrm>
          <a:prstGeom prst="rightArrow">
            <a:avLst/>
          </a:prstGeom>
          <a:solidFill>
            <a:srgbClr val="236D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22037040" y="9966960"/>
            <a:ext cx="2697480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0825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071C3F"/>
                </a:solidFill>
                <a:latin typeface="Arial"/>
              </a:rPr>
              <a:t>Program scores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697889"/>
                </a:solidFill>
                <a:latin typeface="Arial"/>
              </a:rPr>
              <a:t>posterior mean per sample</a:t>
            </a:r>
          </a:p>
        </p:txBody>
      </p:sp>
      <p:sp>
        <p:nvSpPr>
          <p:cNvPr id="103" name="Right Arrow 102"/>
          <p:cNvSpPr/>
          <p:nvPr/>
        </p:nvSpPr>
        <p:spPr>
          <a:xfrm>
            <a:off x="24853392" y="10277856"/>
            <a:ext cx="365760" cy="329184"/>
          </a:xfrm>
          <a:prstGeom prst="rightArrow">
            <a:avLst/>
          </a:prstGeom>
          <a:solidFill>
            <a:srgbClr val="236D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25328880" y="9966960"/>
            <a:ext cx="3017520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236D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bIns="36576"/>
          <a:lstStyle/>
          <a:p>
            <a:pPr algn="ctr">
              <a:spcAft>
                <a:spcPts val="200"/>
              </a:spcAft>
            </a:pPr>
            <a:r>
              <a:rPr sz="1650" b="1">
                <a:solidFill>
                  <a:srgbClr val="071C3F"/>
                </a:solidFill>
                <a:latin typeface="Arial"/>
              </a:rPr>
              <a:t>Project-balanced shift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697889"/>
                </a:solidFill>
                <a:latin typeface="Arial"/>
              </a:rPr>
              <a:t>equal-weight FLT - GC mean</a:t>
            </a:r>
          </a:p>
        </p:txBody>
      </p:sp>
      <p:sp>
        <p:nvSpPr>
          <p:cNvPr id="105" name="Down Arrow 104"/>
          <p:cNvSpPr/>
          <p:nvPr/>
        </p:nvSpPr>
        <p:spPr>
          <a:xfrm>
            <a:off x="26673048" y="10991088"/>
            <a:ext cx="329184" cy="310896"/>
          </a:xfrm>
          <a:prstGeom prst="downArrow">
            <a:avLst/>
          </a:prstGeom>
          <a:solidFill>
            <a:srgbClr val="178C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23180040" y="11301984"/>
            <a:ext cx="5166360" cy="566928"/>
          </a:xfrm>
          <a:prstGeom prst="roundRect">
            <a:avLst>
              <a:gd name="adj" fmla="val 6000"/>
            </a:avLst>
          </a:prstGeom>
          <a:solidFill>
            <a:srgbClr val="EBF5EF"/>
          </a:solidFill>
          <a:ln w="17780">
            <a:solidFill>
              <a:srgbClr val="178C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bIns="36576"/>
          <a:lstStyle/>
          <a:p>
            <a:pPr algn="ctr">
              <a:spcAft>
                <a:spcPts val="200"/>
              </a:spcAft>
            </a:pPr>
            <a:r>
              <a:rPr sz="1550" b="1">
                <a:solidFill>
                  <a:srgbClr val="071C3F"/>
                </a:solidFill>
                <a:latin typeface="Arial"/>
              </a:rPr>
              <a:t>Post-score annotation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>
                <a:solidFill>
                  <a:srgbClr val="697889"/>
                </a:solidFill>
                <a:latin typeface="Arial"/>
              </a:rPr>
              <a:t>literature and mission-context role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5041880" y="11430000"/>
            <a:ext cx="7818120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97889"/>
                </a:solidFill>
                <a:latin typeface="Arial"/>
              </a:rPr>
              <a:t>~2,000 HVGs | 319-387 Reactome programs | 250-epoch query mapping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4493240" y="12527280"/>
            <a:ext cx="14401800" cy="10040112"/>
          </a:xfrm>
          <a:prstGeom prst="rect">
            <a:avLst/>
          </a:prstGeom>
          <a:solidFill>
            <a:srgbClr val="DCE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4749272" y="12710160"/>
            <a:ext cx="13889736" cy="658368"/>
          </a:xfrm>
          <a:prstGeom prst="rect">
            <a:avLst/>
          </a:prstGeom>
          <a:solidFill>
            <a:srgbClr val="FFFFFF"/>
          </a:solidFill>
          <a:ln w="13970">
            <a:solidFill>
              <a:srgbClr val="AEBC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14886431" y="12728448"/>
            <a:ext cx="13615415" cy="6035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11111"/>
                </a:solidFill>
                <a:latin typeface="Arial"/>
              </a:rPr>
              <a:t>RESULTS: ALL 13 PRIMARY RETAINED PATHWAY SHIFTS</a:t>
            </a:r>
          </a:p>
        </p:txBody>
      </p:sp>
      <p:pic>
        <p:nvPicPr>
          <p:cNvPr id="111" name="Retained pathway shifts" descr="Project-balanced expiMap pathway shifts for thymus, skin, liver, and spleen, with project effects and three-training ranges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13280" y="13770356"/>
            <a:ext cx="13761720" cy="7645400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15041880" y="21598128"/>
            <a:ext cx="1330452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697889"/>
                </a:solidFill>
                <a:latin typeface="Arial"/>
              </a:rPr>
              <a:t>All 13 primary retained programs are shown; three exploratory kidney programs remain in the paper. Open circles are OSDR projects; colored ranges span three complete reference-query trainings. All displayed shifts are lower in flight; axes are tissue specific.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29215080" y="4892040"/>
            <a:ext cx="14356080" cy="12143232"/>
          </a:xfrm>
          <a:prstGeom prst="rect">
            <a:avLst/>
          </a:prstGeom>
          <a:solidFill>
            <a:srgbClr val="DCE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29471111" y="5074920"/>
            <a:ext cx="13844015" cy="658368"/>
          </a:xfrm>
          <a:prstGeom prst="rect">
            <a:avLst/>
          </a:prstGeom>
          <a:solidFill>
            <a:srgbClr val="FFFFFF"/>
          </a:solidFill>
          <a:ln w="13970">
            <a:solidFill>
              <a:srgbClr val="AEBC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29608271" y="5093207"/>
            <a:ext cx="13569695" cy="6035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11111"/>
                </a:solidFill>
                <a:latin typeface="Arial"/>
              </a:rPr>
              <a:t>RESULTS: BIOLOGICAL INTERPRETATION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9672280" y="5870448"/>
            <a:ext cx="13441680" cy="3840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36DA2"/>
                </a:solidFill>
                <a:latin typeface="Arial"/>
              </a:rPr>
              <a:t>Final robustness-filtered tissue stories</a:t>
            </a:r>
          </a:p>
        </p:txBody>
      </p:sp>
      <p:pic>
        <p:nvPicPr>
          <p:cNvPr id="117" name="Tissue-state hypotheses" descr="Observed lower expiMap program scores and qualified tissue-state hypotheses for thymus, skin, liver, and spleen.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76671" y="6281928"/>
            <a:ext cx="11632896" cy="10259568"/>
          </a:xfrm>
          <a:prstGeom prst="rect">
            <a:avLst/>
          </a:prstGeom>
        </p:spPr>
      </p:pic>
      <p:sp>
        <p:nvSpPr>
          <p:cNvPr id="118" name="Rectangle 117"/>
          <p:cNvSpPr/>
          <p:nvPr/>
        </p:nvSpPr>
        <p:spPr>
          <a:xfrm>
            <a:off x="29215080" y="17309592"/>
            <a:ext cx="14356080" cy="3246120"/>
          </a:xfrm>
          <a:prstGeom prst="rect">
            <a:avLst/>
          </a:prstGeom>
          <a:solidFill>
            <a:srgbClr val="DCE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29471111" y="17492472"/>
            <a:ext cx="13844015" cy="658368"/>
          </a:xfrm>
          <a:prstGeom prst="rect">
            <a:avLst/>
          </a:prstGeom>
          <a:solidFill>
            <a:srgbClr val="FFFFFF"/>
          </a:solidFill>
          <a:ln w="13970">
            <a:solidFill>
              <a:srgbClr val="AEBC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29608271" y="17510760"/>
            <a:ext cx="13569695" cy="6035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11111"/>
                </a:solidFill>
                <a:latin typeface="Arial"/>
              </a:rPr>
              <a:t>CONCLUSIONS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9718000" y="18333720"/>
            <a:ext cx="13350240" cy="2057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>
                <a:solidFill>
                  <a:srgbClr val="33445D"/>
                </a:solidFill>
                <a:latin typeface="Arial"/>
              </a:rPr>
              <a:t>• Spleen was strongest: T-cell receptor, neutrophil degranulation, and C-type lectin receptor programs were lower across five projects and three trainings; all had GSEA FDR &lt;0.05.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>
                <a:solidFill>
                  <a:srgbClr val="33445D"/>
                </a:solidFill>
                <a:latin typeface="Arial"/>
              </a:rPr>
              <a:t>• Skin and thymus emphasized lower tissue-maintenance programs; liver added a lower adaptive-immune axis to heterogeneous metabolism.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>
                <a:solidFill>
                  <a:srgbClr val="33445D"/>
                </a:solidFill>
                <a:latin typeface="Arial"/>
              </a:rPr>
              <a:t>• Bulk latent scores are testable hypotheses, not causal or cell-type-resolved pathway activity.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215080" y="20802600"/>
            <a:ext cx="14356080" cy="1764792"/>
          </a:xfrm>
          <a:prstGeom prst="rect">
            <a:avLst/>
          </a:prstGeom>
          <a:solidFill>
            <a:srgbClr val="DCE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29471111" y="20985480"/>
            <a:ext cx="13844015" cy="658368"/>
          </a:xfrm>
          <a:prstGeom prst="rect">
            <a:avLst/>
          </a:prstGeom>
          <a:solidFill>
            <a:srgbClr val="FFFFFF"/>
          </a:solidFill>
          <a:ln w="13970">
            <a:solidFill>
              <a:srgbClr val="AEBC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9608271" y="21003768"/>
            <a:ext cx="13569695" cy="6035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11111"/>
                </a:solidFill>
                <a:latin typeface="Arial"/>
              </a:rPr>
              <a:t>REFERENCES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9690568" y="21744432"/>
            <a:ext cx="13405104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33445D"/>
                </a:solidFill>
                <a:latin typeface="Arial"/>
              </a:rPr>
              <a:t>1 Gebre et al., NAR 2025 (OSDR). 2 Lotfollahi et al., Nat Cell Biol 2023 (expiMap). 3 Lachmann et al., Nat Commun 2018 (ARCHS4). 4 Milacic et al., NAR 2024 (Reactome). 5 Horie et al., Sci Rep 2019. 6 Cope et al., Commun Med 2024. 7 Beheshti et al., Sci Rep 2019. 8 Gridley et al., J Appl Physiol 2009.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4493240" y="22786848"/>
            <a:ext cx="28803600" cy="1901952"/>
          </a:xfrm>
          <a:prstGeom prst="rect">
            <a:avLst/>
          </a:prstGeom>
          <a:solidFill>
            <a:srgbClr val="DDE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14813280" y="2287828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697889"/>
                </a:solidFill>
                <a:latin typeface="Arial"/>
              </a:rPr>
              <a:t>Acknowledgements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4813280" y="23335488"/>
            <a:ext cx="1883664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33445D"/>
                </a:solidFill>
                <a:latin typeface="Arial"/>
              </a:rPr>
              <a:t>Mentor: James Casaletto | NASA Space Life Sciences Training Program | NASA OSDR, ARCHS4, and Reactome investigators and curation teams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5890200" y="23152608"/>
            <a:ext cx="7242048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82552"/>
                </a:solidFill>
                <a:latin typeface="Arial"/>
              </a:rPr>
              <a:t>jasontrinh@berkeley.edu
github.com/jasont314/nasa-mouse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40080" y="238658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97889"/>
                </a:solidFill>
                <a:latin typeface="Arial"/>
              </a:rPr>
              <a:t>www.nasa.gov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Cross-mission expiMap analysis recovers established tissue responses and identifies complementary pathway shifts in mouse spaceflight transcriptomes</dc:title>
  <dc:subject>Template-based cross-mission expiMap poster using NASA OSDR mouse RNA-seq</dc:subject>
  <dc:creator>Jason Trinh</dc:creator>
  <cp:keywords>spaceflight, expiMap, OSDR, ARCHS4, Reactome, transcriptomics, NASA</cp:keywords>
  <dc:description>Layout and NASA branding reference 00 Poster Session Student Template_Approved by Legal.pptx.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