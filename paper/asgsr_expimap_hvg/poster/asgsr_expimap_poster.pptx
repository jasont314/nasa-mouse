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246888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3891200" cy="4617720"/>
          </a:xfrm>
          <a:prstGeom prst="rect">
            <a:avLst/>
          </a:prstGeom>
          <a:solidFill>
            <a:srgbClr val="DD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6459200" cy="43891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697889"/>
                </a:solidFill>
                <a:latin typeface="Arial"/>
              </a:rPr>
              <a:t>National Aeronautics and Space Administration</a:t>
            </a:r>
          </a:p>
        </p:txBody>
      </p:sp>
      <p:sp>
        <p:nvSpPr>
          <p:cNvPr id="4" name="TextBox 3"/>
          <p:cNvSpPr txBox="1"/>
          <p:nvPr/>
        </p:nvSpPr>
        <p:spPr>
          <a:xfrm>
            <a:off x="548640" y="914400"/>
            <a:ext cx="39136320" cy="749808"/>
          </a:xfrm>
          <a:prstGeom prst="rect">
            <a:avLst/>
          </a:prstGeom>
          <a:noFill/>
        </p:spPr>
        <p:txBody>
          <a:bodyPr wrap="none" lIns="0" rIns="0" tIns="0" bIns="0" anchor="ctr">
            <a:spAutoFit/>
          </a:bodyPr>
          <a:lstStyle/>
          <a:p>
            <a:pPr algn="ctr">
              <a:lnSpc>
                <a:spcPct val="100000"/>
              </a:lnSpc>
              <a:spcBef>
                <a:spcPts val="0"/>
              </a:spcBef>
              <a:spcAft>
                <a:spcPts val="0"/>
              </a:spcAft>
            </a:pPr>
            <a:r>
              <a:rPr sz="5000" b="1" i="0">
                <a:solidFill>
                  <a:srgbClr val="111111"/>
                </a:solidFill>
                <a:latin typeface="Arial"/>
              </a:rPr>
              <a:t>Cross-mission expiMap analysis recovers established tissue responses</a:t>
            </a:r>
          </a:p>
        </p:txBody>
      </p:sp>
      <p:sp>
        <p:nvSpPr>
          <p:cNvPr id="5" name="TextBox 4"/>
          <p:cNvSpPr txBox="1"/>
          <p:nvPr/>
        </p:nvSpPr>
        <p:spPr>
          <a:xfrm>
            <a:off x="548640" y="1755648"/>
            <a:ext cx="39136320" cy="749808"/>
          </a:xfrm>
          <a:prstGeom prst="rect">
            <a:avLst/>
          </a:prstGeom>
          <a:noFill/>
        </p:spPr>
        <p:txBody>
          <a:bodyPr wrap="none" lIns="0" rIns="0" tIns="0" bIns="0" anchor="ctr">
            <a:spAutoFit/>
          </a:bodyPr>
          <a:lstStyle/>
          <a:p>
            <a:pPr algn="ctr">
              <a:lnSpc>
                <a:spcPct val="100000"/>
              </a:lnSpc>
              <a:spcBef>
                <a:spcPts val="0"/>
              </a:spcBef>
              <a:spcAft>
                <a:spcPts val="0"/>
              </a:spcAft>
            </a:pPr>
            <a:r>
              <a:rPr sz="5000" b="1" i="0">
                <a:solidFill>
                  <a:srgbClr val="111111"/>
                </a:solidFill>
                <a:latin typeface="Arial"/>
              </a:rPr>
              <a:t>and identifies complementary pathway shifts in mouse spaceflight transcriptomes</a:t>
            </a:r>
          </a:p>
        </p:txBody>
      </p:sp>
      <p:sp>
        <p:nvSpPr>
          <p:cNvPr id="6" name="TextBox 5"/>
          <p:cNvSpPr txBox="1"/>
          <p:nvPr/>
        </p:nvSpPr>
        <p:spPr>
          <a:xfrm>
            <a:off x="1371600" y="3383280"/>
            <a:ext cx="37490400" cy="658368"/>
          </a:xfrm>
          <a:prstGeom prst="rect">
            <a:avLst/>
          </a:prstGeom>
          <a:noFill/>
        </p:spPr>
        <p:txBody>
          <a:bodyPr wrap="none" lIns="0" rIns="0" tIns="0" bIns="0" anchor="ctr">
            <a:spAutoFit/>
          </a:bodyPr>
          <a:lstStyle/>
          <a:p>
            <a:pPr algn="ctr">
              <a:lnSpc>
                <a:spcPct val="100000"/>
              </a:lnSpc>
              <a:spcBef>
                <a:spcPts val="0"/>
              </a:spcBef>
              <a:spcAft>
                <a:spcPts val="0"/>
              </a:spcAft>
            </a:pPr>
            <a:r>
              <a:rPr sz="2600" b="1" i="0">
                <a:solidFill>
                  <a:srgbClr val="697889"/>
                </a:solidFill>
                <a:latin typeface="Arial"/>
              </a:rPr>
              <a:t>Jason Trinh / University of California, Berkeley | NASA Space Life Sciences Training Program, NASA Ames Research Center</a:t>
            </a:r>
          </a:p>
        </p:txBody>
      </p:sp>
      <p:pic>
        <p:nvPicPr>
          <p:cNvPr id="7" name="Picture 6" descr="image.png"/>
          <p:cNvPicPr>
            <a:picLocks noChangeAspect="1"/>
          </p:cNvPicPr>
          <p:nvPr/>
        </p:nvPicPr>
        <p:blipFill>
          <a:blip r:embed="rId2"/>
          <a:stretch>
            <a:fillRect/>
          </a:stretch>
        </p:blipFill>
        <p:spPr>
          <a:xfrm>
            <a:off x="40416480" y="713232"/>
            <a:ext cx="2788920" cy="2318992"/>
          </a:xfrm>
          <a:prstGeom prst="rect">
            <a:avLst/>
          </a:prstGeom>
        </p:spPr>
      </p:pic>
      <p:sp>
        <p:nvSpPr>
          <p:cNvPr id="8" name="Rectangle 7"/>
          <p:cNvSpPr/>
          <p:nvPr/>
        </p:nvSpPr>
        <p:spPr>
          <a:xfrm>
            <a:off x="320040" y="4892040"/>
            <a:ext cx="13853160" cy="3456432"/>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6072" y="5074920"/>
            <a:ext cx="13341096"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093207"/>
            <a:ext cx="13066776" cy="603504"/>
          </a:xfrm>
          <a:prstGeom prst="rect">
            <a:avLst/>
          </a:prstGeom>
          <a:noFill/>
        </p:spPr>
        <p:txBody>
          <a:bodyPr wrap="none" lIns="0" rIns="0" tIns="0" bIns="0" anchor="ctr">
            <a:spAutoFit/>
          </a:bodyPr>
          <a:lstStyle/>
          <a:p>
            <a:pPr algn="ctr">
              <a:lnSpc>
                <a:spcPct val="100000"/>
              </a:lnSpc>
              <a:spcBef>
                <a:spcPts val="0"/>
              </a:spcBef>
              <a:spcAft>
                <a:spcPts val="0"/>
              </a:spcAft>
            </a:pPr>
            <a:r>
              <a:rPr sz="2600" b="1" i="0">
                <a:solidFill>
                  <a:srgbClr val="111111"/>
                </a:solidFill>
                <a:latin typeface="Arial"/>
              </a:rPr>
              <a:t>ABSTRACT</a:t>
            </a:r>
          </a:p>
        </p:txBody>
      </p:sp>
      <p:sp>
        <p:nvSpPr>
          <p:cNvPr id="11" name="TextBox 10"/>
          <p:cNvSpPr txBox="1"/>
          <p:nvPr/>
        </p:nvSpPr>
        <p:spPr>
          <a:xfrm>
            <a:off x="777240" y="5925312"/>
            <a:ext cx="12938760" cy="2286000"/>
          </a:xfrm>
          <a:prstGeom prst="rect">
            <a:avLst/>
          </a:prstGeom>
          <a:noFill/>
        </p:spPr>
        <p:txBody>
          <a:bodyPr wrap="square" lIns="0" rIns="0" tIns="0" bIns="0" anchor="t">
            <a:spAutoFit/>
          </a:bodyPr>
          <a:lstStyle/>
          <a:p>
            <a:pPr algn="l">
              <a:lnSpc>
                <a:spcPct val="100000"/>
              </a:lnSpc>
              <a:spcBef>
                <a:spcPts val="0"/>
              </a:spcBef>
              <a:spcAft>
                <a:spcPts val="0"/>
              </a:spcAft>
            </a:pPr>
            <a:r>
              <a:rPr sz="2000" b="0" i="0">
                <a:solidFill>
                  <a:srgbClr val="33445D"/>
                </a:solidFill>
                <a:latin typeface="Arial"/>
              </a:rPr>
              <a:t>Mission differences can obscure spaceflight responses shared across studies. We mapped NASA OSDR mouse bulk RNA sequencing samples to ARCHS4 references matched by tissue. We used expiMap models constrained by Reactome to analyze about 2,000 highly variable genes. Flight versus ground shifts were balanced across projects and assessed with enrichment tests, project holdouts, three training runs, composition proxies, review of member genes, and literature annotation after scoring. Retained programs were lower for thymic repair and cytoskeletal processes, skin maintenance and barrier processes, liver adaptive immunity, and spleen adaptive and innate immunity. Spleen showed the strongest result across multiple pathways.</a:t>
            </a:r>
          </a:p>
        </p:txBody>
      </p:sp>
      <p:sp>
        <p:nvSpPr>
          <p:cNvPr id="12" name="Rectangle 11"/>
          <p:cNvSpPr/>
          <p:nvPr/>
        </p:nvSpPr>
        <p:spPr>
          <a:xfrm>
            <a:off x="320040" y="8622792"/>
            <a:ext cx="13853160" cy="13944600"/>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 y="8805672"/>
            <a:ext cx="13341096"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8823960"/>
            <a:ext cx="13066776" cy="603504"/>
          </a:xfrm>
          <a:prstGeom prst="rect">
            <a:avLst/>
          </a:prstGeom>
          <a:noFill/>
        </p:spPr>
        <p:txBody>
          <a:bodyPr wrap="none" lIns="0" rIns="0" tIns="0" bIns="0" anchor="ctr">
            <a:spAutoFit/>
          </a:bodyPr>
          <a:lstStyle/>
          <a:p>
            <a:pPr algn="ctr">
              <a:lnSpc>
                <a:spcPct val="100000"/>
              </a:lnSpc>
              <a:spcBef>
                <a:spcPts val="0"/>
              </a:spcBef>
              <a:spcAft>
                <a:spcPts val="0"/>
              </a:spcAft>
            </a:pPr>
            <a:r>
              <a:rPr sz="2600" b="1" i="0">
                <a:solidFill>
                  <a:srgbClr val="111111"/>
                </a:solidFill>
                <a:latin typeface="Arial"/>
              </a:rPr>
              <a:t>INTRODUCTION</a:t>
            </a:r>
          </a:p>
        </p:txBody>
      </p:sp>
      <p:sp>
        <p:nvSpPr>
          <p:cNvPr id="15" name="TextBox 14"/>
          <p:cNvSpPr txBox="1"/>
          <p:nvPr/>
        </p:nvSpPr>
        <p:spPr>
          <a:xfrm>
            <a:off x="822960" y="9710928"/>
            <a:ext cx="12847320" cy="384048"/>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9A6D1D"/>
                </a:solidFill>
                <a:latin typeface="Arial"/>
              </a:rPr>
              <a:t>PROJECT OBJECTIVE</a:t>
            </a:r>
          </a:p>
        </p:txBody>
      </p:sp>
      <p:sp>
        <p:nvSpPr>
          <p:cNvPr id="16" name="TextBox 15"/>
          <p:cNvSpPr txBox="1"/>
          <p:nvPr/>
        </p:nvSpPr>
        <p:spPr>
          <a:xfrm>
            <a:off x="822960" y="10104120"/>
            <a:ext cx="12847320" cy="1005840"/>
          </a:xfrm>
          <a:prstGeom prst="rect">
            <a:avLst/>
          </a:prstGeom>
          <a:noFill/>
        </p:spPr>
        <p:txBody>
          <a:bodyPr wrap="none" lIns="0" rIns="0" tIns="0" bIns="0" anchor="t">
            <a:spAutoFit/>
          </a:bodyPr>
          <a:lstStyle/>
          <a:p>
            <a:pPr algn="l">
              <a:lnSpc>
                <a:spcPct val="100000"/>
              </a:lnSpc>
              <a:spcBef>
                <a:spcPts val="0"/>
              </a:spcBef>
              <a:spcAft>
                <a:spcPts val="0"/>
              </a:spcAft>
            </a:pPr>
            <a:r>
              <a:rPr sz="2500" b="1" i="0">
                <a:solidFill>
                  <a:srgbClr val="071C3F"/>
                </a:solidFill>
                <a:latin typeface="Arial"/>
              </a:rPr>
              <a:t>Identify gene programs that shift consistently across spaceflight missions.</a:t>
            </a:r>
          </a:p>
        </p:txBody>
      </p:sp>
      <p:sp>
        <p:nvSpPr>
          <p:cNvPr id="17" name="TextBox 16"/>
          <p:cNvSpPr txBox="1"/>
          <p:nvPr/>
        </p:nvSpPr>
        <p:spPr>
          <a:xfrm>
            <a:off x="822960" y="11247120"/>
            <a:ext cx="12847320" cy="36576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9A6D1D"/>
                </a:solidFill>
                <a:latin typeface="Arial"/>
              </a:rPr>
              <a:t>THE CENTRAL CHALLENGE</a:t>
            </a:r>
          </a:p>
        </p:txBody>
      </p:sp>
      <p:sp>
        <p:nvSpPr>
          <p:cNvPr id="18" name="TextBox 17"/>
          <p:cNvSpPr txBox="1"/>
          <p:nvPr/>
        </p:nvSpPr>
        <p:spPr>
          <a:xfrm>
            <a:off x="822960" y="11686032"/>
            <a:ext cx="2468880" cy="548640"/>
          </a:xfrm>
          <a:prstGeom prst="rect">
            <a:avLst/>
          </a:prstGeom>
          <a:noFill/>
        </p:spPr>
        <p:txBody>
          <a:bodyPr wrap="none" lIns="0" rIns="0" tIns="0" bIns="0" anchor="ctr">
            <a:spAutoFit/>
          </a:bodyPr>
          <a:lstStyle/>
          <a:p>
            <a:pPr algn="l">
              <a:lnSpc>
                <a:spcPct val="100000"/>
              </a:lnSpc>
              <a:spcBef>
                <a:spcPts val="0"/>
              </a:spcBef>
              <a:spcAft>
                <a:spcPts val="0"/>
              </a:spcAft>
            </a:pPr>
            <a:r>
              <a:rPr sz="1700" b="1" i="0">
                <a:solidFill>
                  <a:srgbClr val="071C3F"/>
                </a:solidFill>
                <a:latin typeface="Arial"/>
              </a:rPr>
              <a:t>Observed expression</a:t>
            </a:r>
          </a:p>
        </p:txBody>
      </p:sp>
      <p:sp>
        <p:nvSpPr>
          <p:cNvPr id="19" name="Rounded Rectangle 18"/>
          <p:cNvSpPr/>
          <p:nvPr/>
        </p:nvSpPr>
        <p:spPr>
          <a:xfrm>
            <a:off x="3429000" y="11686032"/>
            <a:ext cx="2514600" cy="548640"/>
          </a:xfrm>
          <a:prstGeom prst="roundRect">
            <a:avLst/>
          </a:prstGeom>
          <a:solidFill>
            <a:srgbClr val="D9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11704320"/>
            <a:ext cx="2386584" cy="493776"/>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FFFFFF"/>
                </a:solidFill>
                <a:latin typeface="Arial"/>
              </a:rPr>
              <a:t>Spaceflight biology</a:t>
            </a:r>
          </a:p>
        </p:txBody>
      </p:sp>
      <p:sp>
        <p:nvSpPr>
          <p:cNvPr id="21" name="TextBox 20"/>
          <p:cNvSpPr txBox="1"/>
          <p:nvPr/>
        </p:nvSpPr>
        <p:spPr>
          <a:xfrm>
            <a:off x="5943600" y="11686032"/>
            <a:ext cx="347472" cy="548640"/>
          </a:xfrm>
          <a:prstGeom prst="rect">
            <a:avLst/>
          </a:prstGeom>
          <a:noFill/>
        </p:spPr>
        <p:txBody>
          <a:bodyPr wrap="none" lIns="0" rIns="0" tIns="0" bIns="0" anchor="ctr">
            <a:spAutoFit/>
          </a:bodyPr>
          <a:lstStyle/>
          <a:p>
            <a:pPr algn="ctr">
              <a:lnSpc>
                <a:spcPct val="100000"/>
              </a:lnSpc>
              <a:spcBef>
                <a:spcPts val="0"/>
              </a:spcBef>
              <a:spcAft>
                <a:spcPts val="0"/>
              </a:spcAft>
            </a:pPr>
            <a:r>
              <a:rPr sz="2200" b="1" i="0">
                <a:solidFill>
                  <a:srgbClr val="697889"/>
                </a:solidFill>
                <a:latin typeface="Arial"/>
              </a:rPr>
              <a:t>+</a:t>
            </a:r>
          </a:p>
        </p:txBody>
      </p:sp>
      <p:sp>
        <p:nvSpPr>
          <p:cNvPr id="22" name="Rounded Rectangle 21"/>
          <p:cNvSpPr/>
          <p:nvPr/>
        </p:nvSpPr>
        <p:spPr>
          <a:xfrm>
            <a:off x="6336792" y="11686032"/>
            <a:ext cx="2011680" cy="548640"/>
          </a:xfrm>
          <a:prstGeom prst="roundRect">
            <a:avLst/>
          </a:prstGeom>
          <a:solidFill>
            <a:srgbClr val="082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1704320"/>
            <a:ext cx="1883664" cy="493776"/>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FFFFFF"/>
                </a:solidFill>
                <a:latin typeface="Arial"/>
              </a:rPr>
              <a:t>Tissue biology</a:t>
            </a:r>
          </a:p>
        </p:txBody>
      </p:sp>
      <p:sp>
        <p:nvSpPr>
          <p:cNvPr id="24" name="TextBox 23"/>
          <p:cNvSpPr txBox="1"/>
          <p:nvPr/>
        </p:nvSpPr>
        <p:spPr>
          <a:xfrm>
            <a:off x="8348471" y="11686032"/>
            <a:ext cx="347472" cy="548640"/>
          </a:xfrm>
          <a:prstGeom prst="rect">
            <a:avLst/>
          </a:prstGeom>
          <a:noFill/>
        </p:spPr>
        <p:txBody>
          <a:bodyPr wrap="none" lIns="0" rIns="0" tIns="0" bIns="0" anchor="ctr">
            <a:spAutoFit/>
          </a:bodyPr>
          <a:lstStyle/>
          <a:p>
            <a:pPr algn="ctr">
              <a:lnSpc>
                <a:spcPct val="100000"/>
              </a:lnSpc>
              <a:spcBef>
                <a:spcPts val="0"/>
              </a:spcBef>
              <a:spcAft>
                <a:spcPts val="0"/>
              </a:spcAft>
            </a:pPr>
            <a:r>
              <a:rPr sz="2200" b="1" i="0">
                <a:solidFill>
                  <a:srgbClr val="697889"/>
                </a:solidFill>
                <a:latin typeface="Arial"/>
              </a:rPr>
              <a:t>+</a:t>
            </a:r>
          </a:p>
        </p:txBody>
      </p:sp>
      <p:sp>
        <p:nvSpPr>
          <p:cNvPr id="25" name="Rounded Rectangle 24"/>
          <p:cNvSpPr/>
          <p:nvPr/>
        </p:nvSpPr>
        <p:spPr>
          <a:xfrm>
            <a:off x="8741663" y="11686032"/>
            <a:ext cx="2148840" cy="548640"/>
          </a:xfrm>
          <a:prstGeom prst="roundRect">
            <a:avLst/>
          </a:prstGeom>
          <a:solidFill>
            <a:srgbClr val="6978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05672" y="11704320"/>
            <a:ext cx="2020824" cy="493776"/>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FFFFFF"/>
                </a:solidFill>
                <a:latin typeface="Arial"/>
              </a:rPr>
              <a:t>Animal variation</a:t>
            </a:r>
          </a:p>
        </p:txBody>
      </p:sp>
      <p:sp>
        <p:nvSpPr>
          <p:cNvPr id="27" name="TextBox 26"/>
          <p:cNvSpPr txBox="1"/>
          <p:nvPr/>
        </p:nvSpPr>
        <p:spPr>
          <a:xfrm>
            <a:off x="10890503" y="11686032"/>
            <a:ext cx="347472" cy="548640"/>
          </a:xfrm>
          <a:prstGeom prst="rect">
            <a:avLst/>
          </a:prstGeom>
          <a:noFill/>
        </p:spPr>
        <p:txBody>
          <a:bodyPr wrap="none" lIns="0" rIns="0" tIns="0" bIns="0" anchor="ctr">
            <a:spAutoFit/>
          </a:bodyPr>
          <a:lstStyle/>
          <a:p>
            <a:pPr algn="ctr">
              <a:lnSpc>
                <a:spcPct val="100000"/>
              </a:lnSpc>
              <a:spcBef>
                <a:spcPts val="0"/>
              </a:spcBef>
              <a:spcAft>
                <a:spcPts val="0"/>
              </a:spcAft>
            </a:pPr>
            <a:r>
              <a:rPr sz="2200" b="1" i="0">
                <a:solidFill>
                  <a:srgbClr val="697889"/>
                </a:solidFill>
                <a:latin typeface="Arial"/>
              </a:rPr>
              <a:t>+</a:t>
            </a:r>
          </a:p>
        </p:txBody>
      </p:sp>
      <p:sp>
        <p:nvSpPr>
          <p:cNvPr id="28" name="Rounded Rectangle 27"/>
          <p:cNvSpPr/>
          <p:nvPr/>
        </p:nvSpPr>
        <p:spPr>
          <a:xfrm>
            <a:off x="11283695" y="11686032"/>
            <a:ext cx="2331720" cy="548640"/>
          </a:xfrm>
          <a:prstGeom prst="roundRect">
            <a:avLst/>
          </a:prstGeom>
          <a:solidFill>
            <a:srgbClr val="9A6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347703" y="11704320"/>
            <a:ext cx="2203703" cy="493776"/>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FFFFFF"/>
                </a:solidFill>
                <a:latin typeface="Arial"/>
              </a:rPr>
              <a:t>Study / protocol</a:t>
            </a:r>
          </a:p>
        </p:txBody>
      </p:sp>
      <p:sp>
        <p:nvSpPr>
          <p:cNvPr id="30" name="TextBox 29"/>
          <p:cNvSpPr txBox="1"/>
          <p:nvPr/>
        </p:nvSpPr>
        <p:spPr>
          <a:xfrm>
            <a:off x="822960" y="12454128"/>
            <a:ext cx="12847320" cy="1417320"/>
          </a:xfrm>
          <a:prstGeom prst="rect">
            <a:avLst/>
          </a:prstGeom>
          <a:noFill/>
        </p:spPr>
        <p:txBody>
          <a:bodyPr wrap="square" lIns="0" rIns="0" tIns="0" bIns="0" anchor="t">
            <a:spAutoFit/>
          </a:bodyPr>
          <a:lstStyle/>
          <a:p>
            <a:pPr algn="l">
              <a:lnSpc>
                <a:spcPct val="100000"/>
              </a:lnSpc>
              <a:spcBef>
                <a:spcPts val="0"/>
              </a:spcBef>
              <a:spcAft>
                <a:spcPts val="0"/>
              </a:spcAft>
            </a:pPr>
            <a:r>
              <a:rPr sz="1900" b="0" i="0">
                <a:solidFill>
                  <a:srgbClr val="33445D"/>
                </a:solidFill>
                <a:latin typeface="Arial"/>
              </a:rPr>
              <a:t>Study identity and protocol can dominate an unconstrained expression representation. Tissue-matched reference mapping, accession conditioning, and equal project weighting reduce this bias without claiming to remove all mission confounding.</a:t>
            </a:r>
          </a:p>
        </p:txBody>
      </p:sp>
      <p:sp>
        <p:nvSpPr>
          <p:cNvPr id="31" name="TextBox 30"/>
          <p:cNvSpPr txBox="1"/>
          <p:nvPr/>
        </p:nvSpPr>
        <p:spPr>
          <a:xfrm>
            <a:off x="822960" y="14008608"/>
            <a:ext cx="12847320" cy="36576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9A6D1D"/>
                </a:solidFill>
                <a:latin typeface="Arial"/>
              </a:rPr>
              <a:t>FINAL ANALYSIS SCOPE</a:t>
            </a:r>
          </a:p>
        </p:txBody>
      </p:sp>
      <p:graphicFrame>
        <p:nvGraphicFramePr>
          <p:cNvPr id="32" name="Table 31"/>
          <p:cNvGraphicFramePr>
            <a:graphicFrameLocks noGrp="1"/>
          </p:cNvGraphicFramePr>
          <p:nvPr/>
        </p:nvGraphicFramePr>
        <p:xfrm>
          <a:off x="822960" y="14474952"/>
          <a:ext cx="11978640" cy="3703320"/>
        </p:xfrm>
        <a:graphic>
          <a:graphicData uri="http://schemas.openxmlformats.org/drawingml/2006/table">
            <a:tbl>
              <a:tblPr firstRow="1" bandRow="1">
                <a:tableStyleId>{5C22544A-7EE6-4342-B048-85BDC9FD1C3A}</a:tableStyleId>
              </a:tblPr>
              <a:tblGrid>
                <a:gridCol w="2834640"/>
                <a:gridCol w="2514600"/>
                <a:gridCol w="2148840"/>
                <a:gridCol w="2057400"/>
                <a:gridCol w="2423160"/>
              </a:tblGrid>
              <a:tr h="740664">
                <a:tc>
                  <a:txBody>
                    <a:bodyPr wrap="none" anchor="ctr"/>
                    <a:lstStyle/>
                    <a:p>
                      <a:pPr algn="l"/>
                      <a:r>
                        <a:rPr sz="1600" b="1">
                          <a:solidFill>
                            <a:srgbClr val="FFFFFF"/>
                          </a:solidFill>
                          <a:latin typeface="Arial"/>
                        </a:rPr>
                        <a:t>Tissue</a:t>
                      </a:r>
                    </a:p>
                  </a:txBody>
                  <a:tcPr marL="64008" marR="54864" marT="27432" marB="27432">
                    <a:solidFill>
                      <a:srgbClr val="082552"/>
                    </a:solidFill>
                  </a:tcPr>
                </a:tc>
                <a:tc>
                  <a:txBody>
                    <a:bodyPr wrap="none" anchor="ctr"/>
                    <a:lstStyle/>
                    <a:p>
                      <a:pPr algn="ctr"/>
                      <a:r>
                        <a:rPr sz="1600" b="1">
                          <a:solidFill>
                            <a:srgbClr val="FFFFFF"/>
                          </a:solidFill>
                          <a:latin typeface="Arial"/>
                        </a:rPr>
                        <a:t>ARCHS4</a:t>
                      </a:r>
                    </a:p>
                  </a:txBody>
                  <a:tcPr marL="64008" marR="54864" marT="27432" marB="27432">
                    <a:solidFill>
                      <a:srgbClr val="082552"/>
                    </a:solidFill>
                  </a:tcPr>
                </a:tc>
                <a:tc>
                  <a:txBody>
                    <a:bodyPr wrap="none" anchor="ctr"/>
                    <a:lstStyle/>
                    <a:p>
                      <a:pPr algn="ctr"/>
                      <a:r>
                        <a:rPr sz="1600" b="1">
                          <a:solidFill>
                            <a:srgbClr val="FFFFFF"/>
                          </a:solidFill>
                          <a:latin typeface="Arial"/>
                        </a:rPr>
                        <a:t>OSDR</a:t>
                      </a:r>
                    </a:p>
                  </a:txBody>
                  <a:tcPr marL="64008" marR="54864" marT="27432" marB="27432">
                    <a:solidFill>
                      <a:srgbClr val="082552"/>
                    </a:solidFill>
                  </a:tcPr>
                </a:tc>
                <a:tc>
                  <a:txBody>
                    <a:bodyPr wrap="none" anchor="ctr"/>
                    <a:lstStyle/>
                    <a:p>
                      <a:pPr algn="ctr"/>
                      <a:r>
                        <a:rPr sz="1600" b="1">
                          <a:solidFill>
                            <a:srgbClr val="FFFFFF"/>
                          </a:solidFill>
                          <a:latin typeface="Arial"/>
                        </a:rPr>
                        <a:t>Projects</a:t>
                      </a:r>
                    </a:p>
                  </a:txBody>
                  <a:tcPr marL="64008" marR="54864" marT="27432" marB="27432">
                    <a:solidFill>
                      <a:srgbClr val="082552"/>
                    </a:solidFill>
                  </a:tcPr>
                </a:tc>
                <a:tc>
                  <a:txBody>
                    <a:bodyPr wrap="none" anchor="ctr"/>
                    <a:lstStyle/>
                    <a:p>
                      <a:pPr algn="ctr"/>
                      <a:r>
                        <a:rPr sz="1600" b="1">
                          <a:solidFill>
                            <a:srgbClr val="FFFFFF"/>
                          </a:solidFill>
                          <a:latin typeface="Arial"/>
                        </a:rPr>
                        <a:t>Programs</a:t>
                      </a:r>
                    </a:p>
                  </a:txBody>
                  <a:tcPr marL="64008" marR="54864" marT="27432" marB="27432">
                    <a:solidFill>
                      <a:srgbClr val="082552"/>
                    </a:solidFill>
                  </a:tcPr>
                </a:tc>
              </a:tr>
              <a:tr h="740664">
                <a:tc>
                  <a:txBody>
                    <a:bodyPr wrap="none" anchor="ctr"/>
                    <a:lstStyle/>
                    <a:p>
                      <a:pPr algn="l"/>
                      <a:r>
                        <a:rPr sz="1650" b="1">
                          <a:solidFill>
                            <a:srgbClr val="6A4C93"/>
                          </a:solidFill>
                          <a:latin typeface="Arial"/>
                        </a:rPr>
                        <a:t>Thymus</a:t>
                      </a:r>
                    </a:p>
                  </a:txBody>
                  <a:tcPr marL="64008" marR="54864" marT="27432" marB="27432">
                    <a:solidFill>
                      <a:srgbClr val="FFFFFF"/>
                    </a:solidFill>
                  </a:tcPr>
                </a:tc>
                <a:tc>
                  <a:txBody>
                    <a:bodyPr wrap="none" anchor="ctr"/>
                    <a:lstStyle/>
                    <a:p>
                      <a:pPr algn="ctr"/>
                      <a:r>
                        <a:rPr sz="1650" b="0">
                          <a:solidFill>
                            <a:srgbClr val="33445D"/>
                          </a:solidFill>
                          <a:latin typeface="Arial"/>
                        </a:rPr>
                        <a:t>1,362</a:t>
                      </a:r>
                    </a:p>
                  </a:txBody>
                  <a:tcPr marL="64008" marR="54864" marT="27432" marB="27432">
                    <a:solidFill>
                      <a:srgbClr val="FFFFFF"/>
                    </a:solidFill>
                  </a:tcPr>
                </a:tc>
                <a:tc>
                  <a:txBody>
                    <a:bodyPr wrap="none" anchor="ctr"/>
                    <a:lstStyle/>
                    <a:p>
                      <a:pPr algn="ctr"/>
                      <a:r>
                        <a:rPr sz="1650" b="0">
                          <a:solidFill>
                            <a:srgbClr val="33445D"/>
                          </a:solidFill>
                          <a:latin typeface="Arial"/>
                        </a:rPr>
                        <a:t>117</a:t>
                      </a:r>
                    </a:p>
                  </a:txBody>
                  <a:tcPr marL="64008" marR="54864" marT="27432" marB="27432">
                    <a:solidFill>
                      <a:srgbClr val="FFFFFF"/>
                    </a:solidFill>
                  </a:tcPr>
                </a:tc>
                <a:tc>
                  <a:txBody>
                    <a:bodyPr wrap="none" anchor="ctr"/>
                    <a:lstStyle/>
                    <a:p>
                      <a:pPr algn="ctr"/>
                      <a:r>
                        <a:rPr sz="1650" b="0">
                          <a:solidFill>
                            <a:srgbClr val="33445D"/>
                          </a:solidFill>
                          <a:latin typeface="Arial"/>
                        </a:rPr>
                        <a:t>5</a:t>
                      </a:r>
                    </a:p>
                  </a:txBody>
                  <a:tcPr marL="64008" marR="54864" marT="27432" marB="27432">
                    <a:solidFill>
                      <a:srgbClr val="FFFFFF"/>
                    </a:solidFill>
                  </a:tcPr>
                </a:tc>
                <a:tc>
                  <a:txBody>
                    <a:bodyPr wrap="none" anchor="ctr"/>
                    <a:lstStyle/>
                    <a:p>
                      <a:pPr algn="ctr"/>
                      <a:r>
                        <a:rPr sz="1650" b="0">
                          <a:solidFill>
                            <a:srgbClr val="33445D"/>
                          </a:solidFill>
                          <a:latin typeface="Arial"/>
                        </a:rPr>
                        <a:t>387</a:t>
                      </a:r>
                    </a:p>
                  </a:txBody>
                  <a:tcPr marL="64008" marR="54864" marT="27432" marB="27432">
                    <a:solidFill>
                      <a:srgbClr val="FFFFFF"/>
                    </a:solidFill>
                  </a:tcPr>
                </a:tc>
              </a:tr>
              <a:tr h="740664">
                <a:tc>
                  <a:txBody>
                    <a:bodyPr wrap="none" anchor="ctr"/>
                    <a:lstStyle/>
                    <a:p>
                      <a:pPr algn="l"/>
                      <a:r>
                        <a:rPr sz="1650" b="1">
                          <a:solidFill>
                            <a:srgbClr val="C65D37"/>
                          </a:solidFill>
                          <a:latin typeface="Arial"/>
                        </a:rPr>
                        <a:t>Skin</a:t>
                      </a:r>
                    </a:p>
                  </a:txBody>
                  <a:tcPr marL="64008" marR="54864" marT="27432" marB="27432">
                    <a:solidFill>
                      <a:srgbClr val="EEF4F8"/>
                    </a:solidFill>
                  </a:tcPr>
                </a:tc>
                <a:tc>
                  <a:txBody>
                    <a:bodyPr wrap="none" anchor="ctr"/>
                    <a:lstStyle/>
                    <a:p>
                      <a:pPr algn="ctr"/>
                      <a:r>
                        <a:rPr sz="1650" b="0">
                          <a:solidFill>
                            <a:srgbClr val="33445D"/>
                          </a:solidFill>
                          <a:latin typeface="Arial"/>
                        </a:rPr>
                        <a:t>2,593</a:t>
                      </a:r>
                    </a:p>
                  </a:txBody>
                  <a:tcPr marL="64008" marR="54864" marT="27432" marB="27432">
                    <a:solidFill>
                      <a:srgbClr val="EEF4F8"/>
                    </a:solidFill>
                  </a:tcPr>
                </a:tc>
                <a:tc>
                  <a:txBody>
                    <a:bodyPr wrap="none" anchor="ctr"/>
                    <a:lstStyle/>
                    <a:p>
                      <a:pPr algn="ctr"/>
                      <a:r>
                        <a:rPr sz="1650" b="0">
                          <a:solidFill>
                            <a:srgbClr val="33445D"/>
                          </a:solidFill>
                          <a:latin typeface="Arial"/>
                        </a:rPr>
                        <a:t>151</a:t>
                      </a:r>
                    </a:p>
                  </a:txBody>
                  <a:tcPr marL="64008" marR="54864" marT="27432" marB="27432">
                    <a:solidFill>
                      <a:srgbClr val="EEF4F8"/>
                    </a:solidFill>
                  </a:tcPr>
                </a:tc>
                <a:tc>
                  <a:txBody>
                    <a:bodyPr wrap="none" anchor="ctr"/>
                    <a:lstStyle/>
                    <a:p>
                      <a:pPr algn="ctr"/>
                      <a:r>
                        <a:rPr sz="1650" b="0">
                          <a:solidFill>
                            <a:srgbClr val="33445D"/>
                          </a:solidFill>
                          <a:latin typeface="Arial"/>
                        </a:rPr>
                        <a:t>4</a:t>
                      </a:r>
                    </a:p>
                  </a:txBody>
                  <a:tcPr marL="64008" marR="54864" marT="27432" marB="27432">
                    <a:solidFill>
                      <a:srgbClr val="EEF4F8"/>
                    </a:solidFill>
                  </a:tcPr>
                </a:tc>
                <a:tc>
                  <a:txBody>
                    <a:bodyPr wrap="none" anchor="ctr"/>
                    <a:lstStyle/>
                    <a:p>
                      <a:pPr algn="ctr"/>
                      <a:r>
                        <a:rPr sz="1650" b="0">
                          <a:solidFill>
                            <a:srgbClr val="33445D"/>
                          </a:solidFill>
                          <a:latin typeface="Arial"/>
                        </a:rPr>
                        <a:t>319</a:t>
                      </a:r>
                    </a:p>
                  </a:txBody>
                  <a:tcPr marL="64008" marR="54864" marT="27432" marB="27432">
                    <a:solidFill>
                      <a:srgbClr val="EEF4F8"/>
                    </a:solidFill>
                  </a:tcPr>
                </a:tc>
              </a:tr>
              <a:tr h="740664">
                <a:tc>
                  <a:txBody>
                    <a:bodyPr wrap="none" anchor="ctr"/>
                    <a:lstStyle/>
                    <a:p>
                      <a:pPr algn="l"/>
                      <a:r>
                        <a:rPr sz="1650" b="1">
                          <a:solidFill>
                            <a:srgbClr val="13877C"/>
                          </a:solidFill>
                          <a:latin typeface="Arial"/>
                        </a:rPr>
                        <a:t>Liver</a:t>
                      </a:r>
                    </a:p>
                  </a:txBody>
                  <a:tcPr marL="64008" marR="54864" marT="27432" marB="27432">
                    <a:solidFill>
                      <a:srgbClr val="FFFFFF"/>
                    </a:solidFill>
                  </a:tcPr>
                </a:tc>
                <a:tc>
                  <a:txBody>
                    <a:bodyPr wrap="none" anchor="ctr"/>
                    <a:lstStyle/>
                    <a:p>
                      <a:pPr algn="ctr"/>
                      <a:r>
                        <a:rPr sz="1650" b="0">
                          <a:solidFill>
                            <a:srgbClr val="33445D"/>
                          </a:solidFill>
                          <a:latin typeface="Arial"/>
                        </a:rPr>
                        <a:t>5,000</a:t>
                      </a:r>
                    </a:p>
                  </a:txBody>
                  <a:tcPr marL="64008" marR="54864" marT="27432" marB="27432">
                    <a:solidFill>
                      <a:srgbClr val="FFFFFF"/>
                    </a:solidFill>
                  </a:tcPr>
                </a:tc>
                <a:tc>
                  <a:txBody>
                    <a:bodyPr wrap="none" anchor="ctr"/>
                    <a:lstStyle/>
                    <a:p>
                      <a:pPr algn="ctr"/>
                      <a:r>
                        <a:rPr sz="1650" b="0">
                          <a:solidFill>
                            <a:srgbClr val="33445D"/>
                          </a:solidFill>
                          <a:latin typeface="Arial"/>
                        </a:rPr>
                        <a:t>197</a:t>
                      </a:r>
                    </a:p>
                  </a:txBody>
                  <a:tcPr marL="64008" marR="54864" marT="27432" marB="27432">
                    <a:solidFill>
                      <a:srgbClr val="FFFFFF"/>
                    </a:solidFill>
                  </a:tcPr>
                </a:tc>
                <a:tc>
                  <a:txBody>
                    <a:bodyPr wrap="none" anchor="ctr"/>
                    <a:lstStyle/>
                    <a:p>
                      <a:pPr algn="ctr"/>
                      <a:r>
                        <a:rPr sz="1650" b="0">
                          <a:solidFill>
                            <a:srgbClr val="33445D"/>
                          </a:solidFill>
                          <a:latin typeface="Arial"/>
                        </a:rPr>
                        <a:t>9</a:t>
                      </a:r>
                    </a:p>
                  </a:txBody>
                  <a:tcPr marL="64008" marR="54864" marT="27432" marB="27432">
                    <a:solidFill>
                      <a:srgbClr val="FFFFFF"/>
                    </a:solidFill>
                  </a:tcPr>
                </a:tc>
                <a:tc>
                  <a:txBody>
                    <a:bodyPr wrap="none" anchor="ctr"/>
                    <a:lstStyle/>
                    <a:p>
                      <a:pPr algn="ctr"/>
                      <a:r>
                        <a:rPr sz="1650" b="0">
                          <a:solidFill>
                            <a:srgbClr val="33445D"/>
                          </a:solidFill>
                          <a:latin typeface="Arial"/>
                        </a:rPr>
                        <a:t>364</a:t>
                      </a:r>
                    </a:p>
                  </a:txBody>
                  <a:tcPr marL="64008" marR="54864" marT="27432" marB="27432">
                    <a:solidFill>
                      <a:srgbClr val="FFFFFF"/>
                    </a:solidFill>
                  </a:tcPr>
                </a:tc>
              </a:tr>
              <a:tr h="740664">
                <a:tc>
                  <a:txBody>
                    <a:bodyPr wrap="none" anchor="ctr"/>
                    <a:lstStyle/>
                    <a:p>
                      <a:pPr algn="l"/>
                      <a:r>
                        <a:rPr sz="1650" b="1">
                          <a:solidFill>
                            <a:srgbClr val="A64D67"/>
                          </a:solidFill>
                          <a:latin typeface="Arial"/>
                        </a:rPr>
                        <a:t>Spleen</a:t>
                      </a:r>
                    </a:p>
                  </a:txBody>
                  <a:tcPr marL="64008" marR="54864" marT="27432" marB="27432">
                    <a:solidFill>
                      <a:srgbClr val="EEF4F8"/>
                    </a:solidFill>
                  </a:tcPr>
                </a:tc>
                <a:tc>
                  <a:txBody>
                    <a:bodyPr wrap="none" anchor="ctr"/>
                    <a:lstStyle/>
                    <a:p>
                      <a:pPr algn="ctr"/>
                      <a:r>
                        <a:rPr sz="1650" b="0">
                          <a:solidFill>
                            <a:srgbClr val="33445D"/>
                          </a:solidFill>
                          <a:latin typeface="Arial"/>
                        </a:rPr>
                        <a:t>6,289</a:t>
                      </a:r>
                    </a:p>
                  </a:txBody>
                  <a:tcPr marL="64008" marR="54864" marT="27432" marB="27432">
                    <a:solidFill>
                      <a:srgbClr val="EEF4F8"/>
                    </a:solidFill>
                  </a:tcPr>
                </a:tc>
                <a:tc>
                  <a:txBody>
                    <a:bodyPr wrap="none" anchor="ctr"/>
                    <a:lstStyle/>
                    <a:p>
                      <a:pPr algn="ctr"/>
                      <a:r>
                        <a:rPr sz="1650" b="0">
                          <a:solidFill>
                            <a:srgbClr val="33445D"/>
                          </a:solidFill>
                          <a:latin typeface="Arial"/>
                        </a:rPr>
                        <a:t>100</a:t>
                      </a:r>
                    </a:p>
                  </a:txBody>
                  <a:tcPr marL="64008" marR="54864" marT="27432" marB="27432">
                    <a:solidFill>
                      <a:srgbClr val="EEF4F8"/>
                    </a:solidFill>
                  </a:tcPr>
                </a:tc>
                <a:tc>
                  <a:txBody>
                    <a:bodyPr wrap="none" anchor="ctr"/>
                    <a:lstStyle/>
                    <a:p>
                      <a:pPr algn="ctr"/>
                      <a:r>
                        <a:rPr sz="1650" b="0">
                          <a:solidFill>
                            <a:srgbClr val="33445D"/>
                          </a:solidFill>
                          <a:latin typeface="Arial"/>
                        </a:rPr>
                        <a:t>5</a:t>
                      </a:r>
                    </a:p>
                  </a:txBody>
                  <a:tcPr marL="64008" marR="54864" marT="27432" marB="27432">
                    <a:solidFill>
                      <a:srgbClr val="EEF4F8"/>
                    </a:solidFill>
                  </a:tcPr>
                </a:tc>
                <a:tc>
                  <a:txBody>
                    <a:bodyPr wrap="none" anchor="ctr"/>
                    <a:lstStyle/>
                    <a:p>
                      <a:pPr algn="ctr"/>
                      <a:r>
                        <a:rPr sz="1650" b="0">
                          <a:solidFill>
                            <a:srgbClr val="33445D"/>
                          </a:solidFill>
                          <a:latin typeface="Arial"/>
                        </a:rPr>
                        <a:t>360</a:t>
                      </a:r>
                    </a:p>
                  </a:txBody>
                  <a:tcPr marL="64008" marR="54864" marT="27432" marB="27432">
                    <a:solidFill>
                      <a:srgbClr val="EEF4F8"/>
                    </a:solidFill>
                  </a:tcPr>
                </a:tc>
              </a:tr>
            </a:tbl>
          </a:graphicData>
        </a:graphic>
      </p:graphicFrame>
      <p:sp>
        <p:nvSpPr>
          <p:cNvPr id="33" name="TextBox 32"/>
          <p:cNvSpPr txBox="1"/>
          <p:nvPr/>
        </p:nvSpPr>
        <p:spPr>
          <a:xfrm>
            <a:off x="822960" y="18260568"/>
            <a:ext cx="12847320" cy="502920"/>
          </a:xfrm>
          <a:prstGeom prst="rect">
            <a:avLst/>
          </a:prstGeom>
          <a:noFill/>
        </p:spPr>
        <p:txBody>
          <a:bodyPr wrap="square" lIns="0" rIns="0" tIns="0" bIns="0" anchor="t">
            <a:spAutoFit/>
          </a:bodyPr>
          <a:lstStyle/>
          <a:p>
            <a:pPr algn="l">
              <a:lnSpc>
                <a:spcPct val="100000"/>
              </a:lnSpc>
              <a:spcBef>
                <a:spcPts val="0"/>
              </a:spcBef>
              <a:spcAft>
                <a:spcPts val="0"/>
              </a:spcAft>
            </a:pPr>
            <a:r>
              <a:rPr sz="1450" b="0" i="1">
                <a:solidFill>
                  <a:srgbClr val="697889"/>
                </a:solidFill>
                <a:latin typeface="Arial"/>
              </a:rPr>
              <a:t>OSDR counts are primary analysis samples. Spleen excludes one condition-strain-confounded project.</a:t>
            </a:r>
          </a:p>
        </p:txBody>
      </p:sp>
      <p:sp>
        <p:nvSpPr>
          <p:cNvPr id="34" name="TextBox 33"/>
          <p:cNvSpPr txBox="1"/>
          <p:nvPr/>
        </p:nvSpPr>
        <p:spPr>
          <a:xfrm>
            <a:off x="822960" y="18882360"/>
            <a:ext cx="12847320" cy="36576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9A6D1D"/>
                </a:solidFill>
                <a:latin typeface="Arial"/>
              </a:rPr>
              <a:t>ROBUSTNESS GATE</a:t>
            </a:r>
          </a:p>
        </p:txBody>
      </p:sp>
      <p:sp>
        <p:nvSpPr>
          <p:cNvPr id="35" name="Rounded Rectangle 34"/>
          <p:cNvSpPr/>
          <p:nvPr/>
        </p:nvSpPr>
        <p:spPr>
          <a:xfrm>
            <a:off x="822960" y="19366992"/>
            <a:ext cx="3877056" cy="658368"/>
          </a:xfrm>
          <a:prstGeom prst="roundRect">
            <a:avLst>
              <a:gd name="adj" fmla="val 8000"/>
            </a:avLst>
          </a:prstGeom>
          <a:solidFill>
            <a:srgbClr val="FFFFFF"/>
          </a:solidFill>
          <a:ln w="15240">
            <a:solidFill>
              <a:srgbClr val="236D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19394424"/>
            <a:ext cx="3730752" cy="576072"/>
          </a:xfrm>
          <a:prstGeom prst="rect">
            <a:avLst/>
          </a:prstGeom>
          <a:noFill/>
        </p:spPr>
        <p:txBody>
          <a:bodyPr wrap="none" lIns="0" rIns="0" tIns="0" bIns="0" anchor="ctr">
            <a:spAutoFit/>
          </a:bodyPr>
          <a:lstStyle/>
          <a:p>
            <a:pPr algn="ctr">
              <a:lnSpc>
                <a:spcPct val="100000"/>
              </a:lnSpc>
              <a:spcBef>
                <a:spcPts val="0"/>
              </a:spcBef>
              <a:spcAft>
                <a:spcPts val="0"/>
              </a:spcAft>
            </a:pPr>
            <a:r>
              <a:rPr sz="1700" b="1" i="0">
                <a:solidFill>
                  <a:srgbClr val="236DA2"/>
                </a:solidFill>
                <a:latin typeface="Arial"/>
              </a:rPr>
              <a:t>ssGSEA + GSEA</a:t>
            </a:r>
          </a:p>
        </p:txBody>
      </p:sp>
      <p:sp>
        <p:nvSpPr>
          <p:cNvPr id="37" name="Rounded Rectangle 36"/>
          <p:cNvSpPr/>
          <p:nvPr/>
        </p:nvSpPr>
        <p:spPr>
          <a:xfrm>
            <a:off x="5084064" y="19366992"/>
            <a:ext cx="3877056" cy="658368"/>
          </a:xfrm>
          <a:prstGeom prst="roundRect">
            <a:avLst>
              <a:gd name="adj" fmla="val 8000"/>
            </a:avLst>
          </a:prstGeom>
          <a:solidFill>
            <a:srgbClr val="FFFFFF"/>
          </a:solidFill>
          <a:ln w="15240">
            <a:solidFill>
              <a:srgbClr val="236D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57216" y="19394424"/>
            <a:ext cx="3730752" cy="576072"/>
          </a:xfrm>
          <a:prstGeom prst="rect">
            <a:avLst/>
          </a:prstGeom>
          <a:noFill/>
        </p:spPr>
        <p:txBody>
          <a:bodyPr wrap="none" lIns="0" rIns="0" tIns="0" bIns="0" anchor="ctr">
            <a:spAutoFit/>
          </a:bodyPr>
          <a:lstStyle/>
          <a:p>
            <a:pPr algn="ctr">
              <a:lnSpc>
                <a:spcPct val="100000"/>
              </a:lnSpc>
              <a:spcBef>
                <a:spcPts val="0"/>
              </a:spcBef>
              <a:spcAft>
                <a:spcPts val="0"/>
              </a:spcAft>
            </a:pPr>
            <a:r>
              <a:rPr sz="1700" b="1" i="0">
                <a:solidFill>
                  <a:srgbClr val="236DA2"/>
                </a:solidFill>
                <a:latin typeface="Arial"/>
              </a:rPr>
              <a:t>Held-out projects</a:t>
            </a:r>
          </a:p>
        </p:txBody>
      </p:sp>
      <p:sp>
        <p:nvSpPr>
          <p:cNvPr id="39" name="Rounded Rectangle 38"/>
          <p:cNvSpPr/>
          <p:nvPr/>
        </p:nvSpPr>
        <p:spPr>
          <a:xfrm>
            <a:off x="9345168" y="19366992"/>
            <a:ext cx="3877056" cy="658368"/>
          </a:xfrm>
          <a:prstGeom prst="roundRect">
            <a:avLst>
              <a:gd name="adj" fmla="val 8000"/>
            </a:avLst>
          </a:prstGeom>
          <a:solidFill>
            <a:srgbClr val="FFFFFF"/>
          </a:solidFill>
          <a:ln w="15240">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0" y="19394424"/>
            <a:ext cx="3730752" cy="576072"/>
          </a:xfrm>
          <a:prstGeom prst="rect">
            <a:avLst/>
          </a:prstGeom>
          <a:noFill/>
        </p:spPr>
        <p:txBody>
          <a:bodyPr wrap="none" lIns="0" rIns="0" tIns="0" bIns="0" anchor="ctr">
            <a:spAutoFit/>
          </a:bodyPr>
          <a:lstStyle/>
          <a:p>
            <a:pPr algn="ctr">
              <a:lnSpc>
                <a:spcPct val="100000"/>
              </a:lnSpc>
              <a:spcBef>
                <a:spcPts val="0"/>
              </a:spcBef>
              <a:spcAft>
                <a:spcPts val="0"/>
              </a:spcAft>
            </a:pPr>
            <a:r>
              <a:rPr sz="1700" b="1" i="0">
                <a:solidFill>
                  <a:srgbClr val="6A4C93"/>
                </a:solidFill>
                <a:latin typeface="Arial"/>
              </a:rPr>
              <a:t>3 full trainings</a:t>
            </a:r>
          </a:p>
        </p:txBody>
      </p:sp>
      <p:sp>
        <p:nvSpPr>
          <p:cNvPr id="41" name="Rounded Rectangle 40"/>
          <p:cNvSpPr/>
          <p:nvPr/>
        </p:nvSpPr>
        <p:spPr>
          <a:xfrm>
            <a:off x="822960" y="20189952"/>
            <a:ext cx="3877056" cy="658368"/>
          </a:xfrm>
          <a:prstGeom prst="roundRect">
            <a:avLst>
              <a:gd name="adj" fmla="val 8000"/>
            </a:avLst>
          </a:prstGeom>
          <a:solidFill>
            <a:srgbClr val="FFFFFF"/>
          </a:solidFill>
          <a:ln w="15240">
            <a:solidFill>
              <a:srgbClr val="178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20217384"/>
            <a:ext cx="3730752" cy="576072"/>
          </a:xfrm>
          <a:prstGeom prst="rect">
            <a:avLst/>
          </a:prstGeom>
          <a:noFill/>
        </p:spPr>
        <p:txBody>
          <a:bodyPr wrap="none" lIns="0" rIns="0" tIns="0" bIns="0" anchor="ctr">
            <a:spAutoFit/>
          </a:bodyPr>
          <a:lstStyle/>
          <a:p>
            <a:pPr algn="ctr">
              <a:lnSpc>
                <a:spcPct val="100000"/>
              </a:lnSpc>
              <a:spcBef>
                <a:spcPts val="0"/>
              </a:spcBef>
              <a:spcAft>
                <a:spcPts val="0"/>
              </a:spcAft>
            </a:pPr>
            <a:r>
              <a:rPr sz="1700" b="1" i="0">
                <a:solidFill>
                  <a:srgbClr val="178C6A"/>
                </a:solidFill>
                <a:latin typeface="Arial"/>
              </a:rPr>
              <a:t>Composition proxies</a:t>
            </a:r>
          </a:p>
        </p:txBody>
      </p:sp>
      <p:sp>
        <p:nvSpPr>
          <p:cNvPr id="43" name="Rounded Rectangle 42"/>
          <p:cNvSpPr/>
          <p:nvPr/>
        </p:nvSpPr>
        <p:spPr>
          <a:xfrm>
            <a:off x="5084064" y="20189952"/>
            <a:ext cx="3877056" cy="658368"/>
          </a:xfrm>
          <a:prstGeom prst="roundRect">
            <a:avLst>
              <a:gd name="adj" fmla="val 8000"/>
            </a:avLst>
          </a:prstGeom>
          <a:solidFill>
            <a:srgbClr val="FFFFFF"/>
          </a:solidFill>
          <a:ln w="15240">
            <a:solidFill>
              <a:srgbClr val="178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57216" y="20217384"/>
            <a:ext cx="3730752" cy="576072"/>
          </a:xfrm>
          <a:prstGeom prst="rect">
            <a:avLst/>
          </a:prstGeom>
          <a:noFill/>
        </p:spPr>
        <p:txBody>
          <a:bodyPr wrap="none" lIns="0" rIns="0" tIns="0" bIns="0" anchor="ctr">
            <a:spAutoFit/>
          </a:bodyPr>
          <a:lstStyle/>
          <a:p>
            <a:pPr algn="ctr">
              <a:lnSpc>
                <a:spcPct val="100000"/>
              </a:lnSpc>
              <a:spcBef>
                <a:spcPts val="0"/>
              </a:spcBef>
              <a:spcAft>
                <a:spcPts val="0"/>
              </a:spcAft>
            </a:pPr>
            <a:r>
              <a:rPr sz="1700" b="1" i="0">
                <a:solidFill>
                  <a:srgbClr val="178C6A"/>
                </a:solidFill>
                <a:latin typeface="Arial"/>
              </a:rPr>
              <a:t>Member genes</a:t>
            </a:r>
          </a:p>
        </p:txBody>
      </p:sp>
      <p:sp>
        <p:nvSpPr>
          <p:cNvPr id="45" name="Rounded Rectangle 44"/>
          <p:cNvSpPr/>
          <p:nvPr/>
        </p:nvSpPr>
        <p:spPr>
          <a:xfrm>
            <a:off x="9345168" y="20189952"/>
            <a:ext cx="3877056" cy="658368"/>
          </a:xfrm>
          <a:prstGeom prst="roundRect">
            <a:avLst>
              <a:gd name="adj" fmla="val 8000"/>
            </a:avLst>
          </a:prstGeom>
          <a:solidFill>
            <a:srgbClr val="FFFFFF"/>
          </a:solidFill>
          <a:ln w="15240">
            <a:solidFill>
              <a:srgbClr val="178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18320" y="20217384"/>
            <a:ext cx="3730752" cy="576072"/>
          </a:xfrm>
          <a:prstGeom prst="rect">
            <a:avLst/>
          </a:prstGeom>
          <a:noFill/>
        </p:spPr>
        <p:txBody>
          <a:bodyPr wrap="none" lIns="0" rIns="0" tIns="0" bIns="0" anchor="ctr">
            <a:spAutoFit/>
          </a:bodyPr>
          <a:lstStyle/>
          <a:p>
            <a:pPr algn="ctr">
              <a:lnSpc>
                <a:spcPct val="100000"/>
              </a:lnSpc>
              <a:spcBef>
                <a:spcPts val="0"/>
              </a:spcBef>
              <a:spcAft>
                <a:spcPts val="0"/>
              </a:spcAft>
            </a:pPr>
            <a:r>
              <a:rPr sz="1700" b="1" i="0">
                <a:solidFill>
                  <a:srgbClr val="178C6A"/>
                </a:solidFill>
                <a:latin typeface="Arial"/>
              </a:rPr>
              <a:t>Literature review</a:t>
            </a:r>
          </a:p>
        </p:txBody>
      </p:sp>
      <p:sp>
        <p:nvSpPr>
          <p:cNvPr id="47" name="TextBox 46"/>
          <p:cNvSpPr txBox="1"/>
          <p:nvPr/>
        </p:nvSpPr>
        <p:spPr>
          <a:xfrm>
            <a:off x="822960" y="21104352"/>
            <a:ext cx="12847320" cy="1051560"/>
          </a:xfrm>
          <a:prstGeom prst="rect">
            <a:avLst/>
          </a:prstGeom>
          <a:noFill/>
        </p:spPr>
        <p:txBody>
          <a:bodyPr wrap="square" lIns="0" rIns="0" tIns="0" bIns="0" anchor="t">
            <a:spAutoFit/>
          </a:bodyPr>
          <a:lstStyle/>
          <a:p>
            <a:pPr algn="l">
              <a:lnSpc>
                <a:spcPct val="100000"/>
              </a:lnSpc>
              <a:spcBef>
                <a:spcPts val="0"/>
              </a:spcBef>
              <a:spcAft>
                <a:spcPts val="0"/>
              </a:spcAft>
            </a:pPr>
            <a:r>
              <a:rPr sz="1650" b="0" i="0">
                <a:solidFill>
                  <a:srgbClr val="33445D"/>
                </a:solidFill>
                <a:latin typeface="Arial"/>
              </a:rPr>
              <a:t>Complementary means an annotated Reactome program that adds a plausible perspective beyond the dominant phenotype in prior literature. De novo nodes were not retained in the final models.</a:t>
            </a:r>
          </a:p>
        </p:txBody>
      </p:sp>
      <p:sp>
        <p:nvSpPr>
          <p:cNvPr id="48" name="Rectangle 47"/>
          <p:cNvSpPr/>
          <p:nvPr/>
        </p:nvSpPr>
        <p:spPr>
          <a:xfrm>
            <a:off x="14493240" y="4892040"/>
            <a:ext cx="14401800" cy="7360920"/>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4749272" y="5074920"/>
            <a:ext cx="13889736"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886431" y="5093207"/>
            <a:ext cx="13615415" cy="603504"/>
          </a:xfrm>
          <a:prstGeom prst="rect">
            <a:avLst/>
          </a:prstGeom>
          <a:noFill/>
        </p:spPr>
        <p:txBody>
          <a:bodyPr wrap="none" lIns="0" rIns="0" tIns="0" bIns="0" anchor="ctr">
            <a:spAutoFit/>
          </a:bodyPr>
          <a:lstStyle/>
          <a:p>
            <a:pPr algn="ctr">
              <a:lnSpc>
                <a:spcPct val="100000"/>
              </a:lnSpc>
              <a:spcBef>
                <a:spcPts val="0"/>
              </a:spcBef>
              <a:spcAft>
                <a:spcPts val="0"/>
              </a:spcAft>
            </a:pPr>
            <a:r>
              <a:rPr sz="2600" b="1" i="0">
                <a:solidFill>
                  <a:srgbClr val="111111"/>
                </a:solidFill>
                <a:latin typeface="Arial"/>
              </a:rPr>
              <a:t>METHODS</a:t>
            </a:r>
          </a:p>
        </p:txBody>
      </p:sp>
      <p:sp>
        <p:nvSpPr>
          <p:cNvPr id="51" name="TextBox 50"/>
          <p:cNvSpPr txBox="1"/>
          <p:nvPr/>
        </p:nvSpPr>
        <p:spPr>
          <a:xfrm>
            <a:off x="14859000" y="5870448"/>
            <a:ext cx="13670280" cy="457200"/>
          </a:xfrm>
          <a:prstGeom prst="rect">
            <a:avLst/>
          </a:prstGeom>
          <a:noFill/>
        </p:spPr>
        <p:txBody>
          <a:bodyPr wrap="none" lIns="0" rIns="0" tIns="0" bIns="0" anchor="t">
            <a:spAutoFit/>
          </a:bodyPr>
          <a:lstStyle/>
          <a:p>
            <a:pPr algn="ctr">
              <a:lnSpc>
                <a:spcPct val="100000"/>
              </a:lnSpc>
              <a:spcBef>
                <a:spcPts val="0"/>
              </a:spcBef>
              <a:spcAft>
                <a:spcPts val="0"/>
              </a:spcAft>
            </a:pPr>
            <a:r>
              <a:rPr sz="2200" b="1" i="0">
                <a:solidFill>
                  <a:srgbClr val="071C3F"/>
                </a:solidFill>
                <a:latin typeface="Arial"/>
              </a:rPr>
              <a:t>Pathway structure is wired into the decoder</a:t>
            </a:r>
          </a:p>
        </p:txBody>
      </p:sp>
      <p:sp>
        <p:nvSpPr>
          <p:cNvPr id="52" name="TextBox 51"/>
          <p:cNvSpPr txBox="1"/>
          <p:nvPr/>
        </p:nvSpPr>
        <p:spPr>
          <a:xfrm>
            <a:off x="15179040" y="6345936"/>
            <a:ext cx="13030200" cy="420624"/>
          </a:xfrm>
          <a:prstGeom prst="rect">
            <a:avLst/>
          </a:prstGeom>
          <a:noFill/>
        </p:spPr>
        <p:txBody>
          <a:bodyPr wrap="none" lIns="0" rIns="0" tIns="0" bIns="0" anchor="t">
            <a:spAutoFit/>
          </a:bodyPr>
          <a:lstStyle/>
          <a:p>
            <a:pPr algn="ctr">
              <a:lnSpc>
                <a:spcPct val="100000"/>
              </a:lnSpc>
              <a:spcBef>
                <a:spcPts val="0"/>
              </a:spcBef>
              <a:spcAft>
                <a:spcPts val="0"/>
              </a:spcAft>
            </a:pPr>
            <a:r>
              <a:rPr sz="1600" b="0" i="0">
                <a:solidFill>
                  <a:srgbClr val="697889"/>
                </a:solidFill>
                <a:latin typeface="Arial"/>
              </a:rPr>
              <a:t>Train a tissue reference, then map flight and ground samples into the same annotated program space.</a:t>
            </a:r>
          </a:p>
        </p:txBody>
      </p:sp>
      <p:sp>
        <p:nvSpPr>
          <p:cNvPr id="53" name="TextBox 52"/>
          <p:cNvSpPr txBox="1"/>
          <p:nvPr/>
        </p:nvSpPr>
        <p:spPr>
          <a:xfrm>
            <a:off x="14996159" y="6812280"/>
            <a:ext cx="3657600" cy="320040"/>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236DA2"/>
                </a:solidFill>
                <a:latin typeface="Arial"/>
              </a:rPr>
              <a:t>1  REFERENCE TRAINING</a:t>
            </a:r>
          </a:p>
        </p:txBody>
      </p:sp>
      <p:sp>
        <p:nvSpPr>
          <p:cNvPr id="54" name="Rounded Rectangle 53"/>
          <p:cNvSpPr/>
          <p:nvPr/>
        </p:nvSpPr>
        <p:spPr>
          <a:xfrm>
            <a:off x="14996159" y="7196328"/>
            <a:ext cx="3246120" cy="1005840"/>
          </a:xfrm>
          <a:prstGeom prst="roundRect">
            <a:avLst>
              <a:gd name="adj" fmla="val 6000"/>
            </a:avLst>
          </a:prstGeom>
          <a:solidFill>
            <a:srgbClr val="E9F3F8"/>
          </a:solidFill>
          <a:ln w="17780">
            <a:solidFill>
              <a:srgbClr val="236DA2"/>
            </a:solidFill>
          </a:ln>
        </p:spPr>
        <p:style>
          <a:lnRef idx="1">
            <a:schemeClr val="accent1"/>
          </a:lnRef>
          <a:fillRef idx="3">
            <a:schemeClr val="accent1"/>
          </a:fillRef>
          <a:effectRef idx="2">
            <a:schemeClr val="accent1"/>
          </a:effectRef>
          <a:fontRef idx="minor">
            <a:schemeClr val="lt1"/>
          </a:fontRef>
        </p:style>
        <p:txBody>
          <a:bodyPr rtlCol="0" anchor="ctr" wrap="none" bIns="36576"/>
          <a:lstStyle/>
          <a:p>
            <a:pPr algn="ctr">
              <a:spcAft>
                <a:spcPts val="200"/>
              </a:spcAft>
            </a:pPr>
            <a:r>
              <a:rPr sz="1800" b="1">
                <a:solidFill>
                  <a:srgbClr val="071C3F"/>
                </a:solidFill>
                <a:latin typeface="Arial"/>
              </a:rPr>
              <a:t>ARCHS4 reference</a:t>
            </a:r>
          </a:p>
          <a:p>
            <a:pPr algn="ctr">
              <a:spcBef>
                <a:spcPts val="0"/>
              </a:spcBef>
              <a:spcAft>
                <a:spcPts val="0"/>
              </a:spcAft>
            </a:pPr>
            <a:r>
              <a:rPr sz="1400">
                <a:solidFill>
                  <a:srgbClr val="697889"/>
                </a:solidFill>
                <a:latin typeface="Arial"/>
              </a:rPr>
              <a:t>non-spaceflight tissue counts</a:t>
            </a:r>
          </a:p>
        </p:txBody>
      </p:sp>
      <p:sp>
        <p:nvSpPr>
          <p:cNvPr id="55" name="Right Arrow 54"/>
          <p:cNvSpPr/>
          <p:nvPr/>
        </p:nvSpPr>
        <p:spPr>
          <a:xfrm>
            <a:off x="18406872" y="7507224"/>
            <a:ext cx="502920" cy="329184"/>
          </a:xfrm>
          <a:prstGeom prst="rightArrow">
            <a:avLst/>
          </a:prstGeom>
          <a:solidFill>
            <a:srgbClr val="236D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9019520" y="7040880"/>
            <a:ext cx="9326880" cy="2423160"/>
          </a:xfrm>
          <a:prstGeom prst="roundRect">
            <a:avLst>
              <a:gd name="adj" fmla="val 4000"/>
            </a:avLst>
          </a:prstGeom>
          <a:solidFill>
            <a:srgbClr val="FFFFFF"/>
          </a:solidFill>
          <a:ln w="15240">
            <a:solidFill>
              <a:srgbClr val="236D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266408" y="7168896"/>
            <a:ext cx="4023360" cy="329184"/>
          </a:xfrm>
          <a:prstGeom prst="rect">
            <a:avLst/>
          </a:prstGeom>
          <a:noFill/>
        </p:spPr>
        <p:txBody>
          <a:bodyPr wrap="none" lIns="0" rIns="0" tIns="0" bIns="0" anchor="t">
            <a:spAutoFit/>
          </a:bodyPr>
          <a:lstStyle/>
          <a:p>
            <a:pPr algn="l">
              <a:lnSpc>
                <a:spcPct val="100000"/>
              </a:lnSpc>
              <a:spcBef>
                <a:spcPts val="0"/>
              </a:spcBef>
              <a:spcAft>
                <a:spcPts val="0"/>
              </a:spcAft>
            </a:pPr>
            <a:r>
              <a:rPr sz="1750" b="1" i="0">
                <a:solidFill>
                  <a:srgbClr val="071C3F"/>
                </a:solidFill>
                <a:latin typeface="Arial"/>
              </a:rPr>
              <a:t>expiMap tissue model</a:t>
            </a:r>
          </a:p>
        </p:txBody>
      </p:sp>
      <p:sp>
        <p:nvSpPr>
          <p:cNvPr id="58" name="Oval 57"/>
          <p:cNvSpPr/>
          <p:nvPr/>
        </p:nvSpPr>
        <p:spPr>
          <a:xfrm>
            <a:off x="19385280" y="7744967"/>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9385280" y="8129015"/>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9385280" y="8513063"/>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9385280" y="8897111"/>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rapezoid 61"/>
          <p:cNvSpPr/>
          <p:nvPr/>
        </p:nvSpPr>
        <p:spPr>
          <a:xfrm rot="5400000">
            <a:off x="19869912" y="7626096"/>
            <a:ext cx="1353312" cy="1298448"/>
          </a:xfrm>
          <a:prstGeom prst="trapezoid">
            <a:avLst/>
          </a:prstGeom>
          <a:solidFill>
            <a:srgbClr val="DCE6F2"/>
          </a:solidFill>
          <a:ln w="17780">
            <a:solidFill>
              <a:srgbClr val="236D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9824192" y="8083296"/>
            <a:ext cx="1444752" cy="347472"/>
          </a:xfrm>
          <a:prstGeom prst="rect">
            <a:avLst/>
          </a:prstGeom>
          <a:noFill/>
        </p:spPr>
        <p:txBody>
          <a:bodyPr wrap="none" lIns="0" rIns="0" tIns="0" bIns="0" anchor="ctr">
            <a:spAutoFit/>
          </a:bodyPr>
          <a:lstStyle/>
          <a:p>
            <a:pPr algn="ctr">
              <a:lnSpc>
                <a:spcPct val="100000"/>
              </a:lnSpc>
              <a:spcBef>
                <a:spcPts val="0"/>
              </a:spcBef>
              <a:spcAft>
                <a:spcPts val="0"/>
              </a:spcAft>
            </a:pPr>
            <a:r>
              <a:rPr sz="1400" b="1" i="0">
                <a:solidFill>
                  <a:srgbClr val="071C3F"/>
                </a:solidFill>
                <a:latin typeface="Arial"/>
              </a:rPr>
              <a:t>Encoder</a:t>
            </a:r>
          </a:p>
        </p:txBody>
      </p:sp>
      <p:cxnSp>
        <p:nvCxnSpPr>
          <p:cNvPr id="64" name="Connector 63"/>
          <p:cNvCxnSpPr/>
          <p:nvPr/>
        </p:nvCxnSpPr>
        <p:spPr>
          <a:xfrm>
            <a:off x="19604735" y="7854695"/>
            <a:ext cx="301753" cy="420625"/>
          </a:xfrm>
          <a:prstGeom prst="line">
            <a:avLst/>
          </a:prstGeom>
          <a:ln w="10160">
            <a:solidFill>
              <a:srgbClr val="A9BBD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9604735" y="8238743"/>
            <a:ext cx="301753" cy="36577"/>
          </a:xfrm>
          <a:prstGeom prst="line">
            <a:avLst/>
          </a:prstGeom>
          <a:ln w="10160">
            <a:solidFill>
              <a:srgbClr val="A9BBD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9604735" y="8275320"/>
            <a:ext cx="301753" cy="347471"/>
          </a:xfrm>
          <a:prstGeom prst="line">
            <a:avLst/>
          </a:prstGeom>
          <a:ln w="10160">
            <a:solidFill>
              <a:srgbClr val="A9BBD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9604735" y="8275320"/>
            <a:ext cx="301753" cy="731519"/>
          </a:xfrm>
          <a:prstGeom prst="line">
            <a:avLst/>
          </a:prstGeom>
          <a:ln w="10160">
            <a:solidFill>
              <a:srgbClr val="A9BBD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21186648" y="7799831"/>
            <a:ext cx="457200" cy="475489"/>
          </a:xfrm>
          <a:prstGeom prst="line">
            <a:avLst/>
          </a:prstGeom>
          <a:ln w="11430">
            <a:solidFill>
              <a:srgbClr val="A9BBD0"/>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21643848" y="7653527"/>
            <a:ext cx="292608" cy="292608"/>
          </a:xfrm>
          <a:prstGeom prst="ellipse">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22009608" y="7635240"/>
            <a:ext cx="2029968" cy="329184"/>
          </a:xfrm>
          <a:prstGeom prst="roundRect">
            <a:avLst>
              <a:gd name="adj" fmla="val 8000"/>
            </a:avLst>
          </a:prstGeom>
          <a:solidFill>
            <a:srgbClr val="F8FAFC"/>
          </a:solidFill>
          <a:ln w="11430">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101048" y="7635240"/>
            <a:ext cx="1847088" cy="329184"/>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6A4C93"/>
                </a:solidFill>
                <a:latin typeface="Arial"/>
              </a:rPr>
              <a:t>DNA repair</a:t>
            </a:r>
          </a:p>
        </p:txBody>
      </p:sp>
      <p:cxnSp>
        <p:nvCxnSpPr>
          <p:cNvPr id="72" name="Connector 71"/>
          <p:cNvCxnSpPr/>
          <p:nvPr/>
        </p:nvCxnSpPr>
        <p:spPr>
          <a:xfrm flipV="1">
            <a:off x="21186648" y="8238744"/>
            <a:ext cx="457200" cy="36576"/>
          </a:xfrm>
          <a:prstGeom prst="line">
            <a:avLst/>
          </a:prstGeom>
          <a:ln w="11430">
            <a:solidFill>
              <a:srgbClr val="A9BBD0"/>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21643848" y="8092440"/>
            <a:ext cx="292608" cy="292608"/>
          </a:xfrm>
          <a:prstGeom prst="ellipse">
            <a:avLst/>
          </a:prstGeom>
          <a:solidFill>
            <a:srgbClr val="A64D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22009608" y="8074152"/>
            <a:ext cx="2029968" cy="329184"/>
          </a:xfrm>
          <a:prstGeom prst="roundRect">
            <a:avLst>
              <a:gd name="adj" fmla="val 8000"/>
            </a:avLst>
          </a:prstGeom>
          <a:solidFill>
            <a:srgbClr val="F8FAFC"/>
          </a:solidFill>
          <a:ln w="11430">
            <a:solidFill>
              <a:srgbClr val="A64D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2101048" y="8074152"/>
            <a:ext cx="1847088" cy="329184"/>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A64D67"/>
                </a:solidFill>
                <a:latin typeface="Arial"/>
              </a:rPr>
              <a:t>T-cell signaling</a:t>
            </a:r>
          </a:p>
        </p:txBody>
      </p:sp>
      <p:cxnSp>
        <p:nvCxnSpPr>
          <p:cNvPr id="76" name="Connector 75"/>
          <p:cNvCxnSpPr/>
          <p:nvPr/>
        </p:nvCxnSpPr>
        <p:spPr>
          <a:xfrm>
            <a:off x="21186648" y="8275320"/>
            <a:ext cx="457200" cy="402336"/>
          </a:xfrm>
          <a:prstGeom prst="line">
            <a:avLst/>
          </a:prstGeom>
          <a:ln w="11430">
            <a:solidFill>
              <a:srgbClr val="A9BBD0"/>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21643848" y="8531352"/>
            <a:ext cx="292608" cy="292608"/>
          </a:xfrm>
          <a:prstGeom prst="ellipse">
            <a:avLst/>
          </a:prstGeom>
          <a:solidFill>
            <a:srgbClr val="C65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22009608" y="8513064"/>
            <a:ext cx="2029968" cy="329184"/>
          </a:xfrm>
          <a:prstGeom prst="roundRect">
            <a:avLst>
              <a:gd name="adj" fmla="val 8000"/>
            </a:avLst>
          </a:prstGeom>
          <a:solidFill>
            <a:srgbClr val="F8FAFC"/>
          </a:solidFill>
          <a:ln w="11430">
            <a:solidFill>
              <a:srgbClr val="C65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101048" y="8513064"/>
            <a:ext cx="1847088" cy="329184"/>
          </a:xfrm>
          <a:prstGeom prst="rect">
            <a:avLst/>
          </a:prstGeom>
          <a:noFill/>
        </p:spPr>
        <p:txBody>
          <a:bodyPr wrap="none" lIns="0" rIns="0" tIns="0" bIns="0" anchor="ctr">
            <a:spAutoFit/>
          </a:bodyPr>
          <a:lstStyle/>
          <a:p>
            <a:pPr algn="ctr">
              <a:lnSpc>
                <a:spcPct val="100000"/>
              </a:lnSpc>
              <a:spcBef>
                <a:spcPts val="0"/>
              </a:spcBef>
              <a:spcAft>
                <a:spcPts val="0"/>
              </a:spcAft>
            </a:pPr>
            <a:r>
              <a:rPr sz="1550" b="1" i="0">
                <a:solidFill>
                  <a:srgbClr val="C65D37"/>
                </a:solidFill>
                <a:latin typeface="Arial"/>
              </a:rPr>
              <a:t>Cell junctions</a:t>
            </a:r>
          </a:p>
        </p:txBody>
      </p:sp>
      <p:cxnSp>
        <p:nvCxnSpPr>
          <p:cNvPr id="80" name="Connector 79"/>
          <p:cNvCxnSpPr/>
          <p:nvPr/>
        </p:nvCxnSpPr>
        <p:spPr>
          <a:xfrm>
            <a:off x="24039576" y="7799831"/>
            <a:ext cx="3209544" cy="36576"/>
          </a:xfrm>
          <a:prstGeom prst="line">
            <a:avLst/>
          </a:prstGeom>
          <a:ln w="15240">
            <a:solidFill>
              <a:srgbClr val="6A4C9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4039576" y="7799831"/>
            <a:ext cx="3209544" cy="731520"/>
          </a:xfrm>
          <a:prstGeom prst="line">
            <a:avLst/>
          </a:prstGeom>
          <a:ln w="15240">
            <a:solidFill>
              <a:srgbClr val="6A4C93"/>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24039576" y="8183879"/>
            <a:ext cx="3209544" cy="54865"/>
          </a:xfrm>
          <a:prstGeom prst="line">
            <a:avLst/>
          </a:prstGeom>
          <a:ln w="15240">
            <a:solidFill>
              <a:srgbClr val="A64D6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4039576" y="8238744"/>
            <a:ext cx="3209544" cy="640080"/>
          </a:xfrm>
          <a:prstGeom prst="line">
            <a:avLst/>
          </a:prstGeom>
          <a:ln w="15240">
            <a:solidFill>
              <a:srgbClr val="A64D6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4039576" y="8531351"/>
            <a:ext cx="3209544" cy="146305"/>
          </a:xfrm>
          <a:prstGeom prst="line">
            <a:avLst/>
          </a:prstGeom>
          <a:ln w="15240">
            <a:solidFill>
              <a:srgbClr val="C65D3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4039576" y="8677656"/>
            <a:ext cx="3209544" cy="201168"/>
          </a:xfrm>
          <a:prstGeom prst="line">
            <a:avLst/>
          </a:prstGeom>
          <a:ln w="15240">
            <a:solidFill>
              <a:srgbClr val="C65D37"/>
            </a:solidFill>
          </a:ln>
        </p:spPr>
        <p:style>
          <a:lnRef idx="2">
            <a:schemeClr val="accent1"/>
          </a:lnRef>
          <a:fillRef idx="0">
            <a:schemeClr val="accent1"/>
          </a:fillRef>
          <a:effectRef idx="1">
            <a:schemeClr val="accent1"/>
          </a:effectRef>
          <a:fontRef idx="minor">
            <a:schemeClr val="tx1"/>
          </a:fontRef>
        </p:style>
      </p:cxnSp>
      <p:sp>
        <p:nvSpPr>
          <p:cNvPr id="86" name="Trapezoid 85"/>
          <p:cNvSpPr/>
          <p:nvPr/>
        </p:nvSpPr>
        <p:spPr>
          <a:xfrm rot="16200000">
            <a:off x="24533352" y="7626096"/>
            <a:ext cx="1353312" cy="1298448"/>
          </a:xfrm>
          <a:prstGeom prst="trapezoid">
            <a:avLst/>
          </a:prstGeom>
          <a:solidFill>
            <a:srgbClr val="E5F1EC"/>
          </a:solidFill>
          <a:ln w="17780">
            <a:solidFill>
              <a:srgbClr val="178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4423623" y="8083296"/>
            <a:ext cx="1572768" cy="347472"/>
          </a:xfrm>
          <a:prstGeom prst="rect">
            <a:avLst/>
          </a:prstGeom>
          <a:noFill/>
        </p:spPr>
        <p:txBody>
          <a:bodyPr wrap="none" lIns="0" rIns="0" tIns="0" bIns="0" anchor="ctr">
            <a:spAutoFit/>
          </a:bodyPr>
          <a:lstStyle/>
          <a:p>
            <a:pPr algn="ctr">
              <a:lnSpc>
                <a:spcPct val="100000"/>
              </a:lnSpc>
              <a:spcBef>
                <a:spcPts val="0"/>
              </a:spcBef>
              <a:spcAft>
                <a:spcPts val="0"/>
              </a:spcAft>
            </a:pPr>
            <a:r>
              <a:rPr sz="1350" b="1" i="0">
                <a:solidFill>
                  <a:srgbClr val="071C3F"/>
                </a:solidFill>
                <a:latin typeface="Arial"/>
              </a:rPr>
              <a:t>Decoder</a:t>
            </a:r>
          </a:p>
        </p:txBody>
      </p:sp>
      <p:sp>
        <p:nvSpPr>
          <p:cNvPr id="88" name="Oval 87"/>
          <p:cNvSpPr/>
          <p:nvPr/>
        </p:nvSpPr>
        <p:spPr>
          <a:xfrm>
            <a:off x="27249120" y="7726679"/>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7249120" y="8074152"/>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7249120" y="8421624"/>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7249120" y="8769096"/>
            <a:ext cx="219456" cy="219456"/>
          </a:xfrm>
          <a:prstGeom prst="ellipse">
            <a:avLst/>
          </a:prstGeom>
          <a:solidFill>
            <a:srgbClr val="A9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24112727" y="7168896"/>
            <a:ext cx="3456432" cy="530352"/>
          </a:xfrm>
          <a:prstGeom prst="roundRect">
            <a:avLst/>
          </a:prstGeom>
          <a:solidFill>
            <a:srgbClr val="E9F4EE"/>
          </a:solidFill>
          <a:ln w="13970">
            <a:solidFill>
              <a:srgbClr val="178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4231600" y="7223760"/>
            <a:ext cx="3218688" cy="402336"/>
          </a:xfrm>
          <a:prstGeom prst="rect">
            <a:avLst/>
          </a:prstGeom>
          <a:noFill/>
        </p:spPr>
        <p:txBody>
          <a:bodyPr wrap="none" lIns="0" rIns="0" tIns="0" bIns="0" anchor="ctr">
            <a:spAutoFit/>
          </a:bodyPr>
          <a:lstStyle/>
          <a:p>
            <a:pPr algn="ctr">
              <a:lnSpc>
                <a:spcPct val="100000"/>
              </a:lnSpc>
              <a:spcBef>
                <a:spcPts val="0"/>
              </a:spcBef>
              <a:spcAft>
                <a:spcPts val="0"/>
              </a:spcAft>
            </a:pPr>
            <a:r>
              <a:rPr sz="1320" b="1" i="0">
                <a:solidFill>
                  <a:srgbClr val="178C6A"/>
                </a:solidFill>
                <a:latin typeface="Arial"/>
              </a:rPr>
              <a:t>Reactome mask selects pathway-gene edges</a:t>
            </a:r>
          </a:p>
        </p:txBody>
      </p:sp>
      <p:sp>
        <p:nvSpPr>
          <p:cNvPr id="94" name="Down Arrow 93"/>
          <p:cNvSpPr/>
          <p:nvPr/>
        </p:nvSpPr>
        <p:spPr>
          <a:xfrm>
            <a:off x="25045415" y="7726679"/>
            <a:ext cx="329184" cy="310896"/>
          </a:xfrm>
          <a:prstGeom prst="downArrow">
            <a:avLst/>
          </a:prstGeom>
          <a:solidFill>
            <a:srgbClr val="178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9220688" y="9052560"/>
            <a:ext cx="603504" cy="320040"/>
          </a:xfrm>
          <a:prstGeom prst="rect">
            <a:avLst/>
          </a:prstGeom>
          <a:noFill/>
        </p:spPr>
        <p:txBody>
          <a:bodyPr wrap="none" lIns="0" rIns="0" tIns="0" bIns="0" anchor="t">
            <a:spAutoFit/>
          </a:bodyPr>
          <a:lstStyle/>
          <a:p>
            <a:pPr algn="ctr">
              <a:lnSpc>
                <a:spcPct val="100000"/>
              </a:lnSpc>
              <a:spcBef>
                <a:spcPts val="0"/>
              </a:spcBef>
              <a:spcAft>
                <a:spcPts val="0"/>
              </a:spcAft>
            </a:pPr>
            <a:r>
              <a:rPr sz="1400" b="0" i="0">
                <a:solidFill>
                  <a:srgbClr val="697889"/>
                </a:solidFill>
                <a:latin typeface="Arial"/>
              </a:rPr>
              <a:t>genes</a:t>
            </a:r>
          </a:p>
        </p:txBody>
      </p:sp>
      <p:sp>
        <p:nvSpPr>
          <p:cNvPr id="96" name="TextBox 95"/>
          <p:cNvSpPr txBox="1"/>
          <p:nvPr/>
        </p:nvSpPr>
        <p:spPr>
          <a:xfrm>
            <a:off x="21598128" y="9052560"/>
            <a:ext cx="2423160" cy="320040"/>
          </a:xfrm>
          <a:prstGeom prst="rect">
            <a:avLst/>
          </a:prstGeom>
          <a:noFill/>
        </p:spPr>
        <p:txBody>
          <a:bodyPr wrap="none" lIns="0" rIns="0" tIns="0" bIns="0" anchor="t">
            <a:spAutoFit/>
          </a:bodyPr>
          <a:lstStyle/>
          <a:p>
            <a:pPr algn="ctr">
              <a:lnSpc>
                <a:spcPct val="100000"/>
              </a:lnSpc>
              <a:spcBef>
                <a:spcPts val="0"/>
              </a:spcBef>
              <a:spcAft>
                <a:spcPts val="0"/>
              </a:spcAft>
            </a:pPr>
            <a:r>
              <a:rPr sz="1400" b="0" i="0">
                <a:solidFill>
                  <a:srgbClr val="697889"/>
                </a:solidFill>
                <a:latin typeface="Arial"/>
              </a:rPr>
              <a:t>program scores</a:t>
            </a:r>
          </a:p>
        </p:txBody>
      </p:sp>
      <p:sp>
        <p:nvSpPr>
          <p:cNvPr id="97" name="TextBox 96"/>
          <p:cNvSpPr txBox="1"/>
          <p:nvPr/>
        </p:nvSpPr>
        <p:spPr>
          <a:xfrm>
            <a:off x="24368760" y="9052560"/>
            <a:ext cx="1682495" cy="320040"/>
          </a:xfrm>
          <a:prstGeom prst="rect">
            <a:avLst/>
          </a:prstGeom>
          <a:noFill/>
        </p:spPr>
        <p:txBody>
          <a:bodyPr wrap="none" lIns="0" rIns="0" tIns="0" bIns="0" anchor="t">
            <a:spAutoFit/>
          </a:bodyPr>
          <a:lstStyle/>
          <a:p>
            <a:pPr algn="ctr">
              <a:lnSpc>
                <a:spcPct val="100000"/>
              </a:lnSpc>
              <a:spcBef>
                <a:spcPts val="0"/>
              </a:spcBef>
              <a:spcAft>
                <a:spcPts val="0"/>
              </a:spcAft>
            </a:pPr>
            <a:r>
              <a:rPr sz="1400" b="0" i="0">
                <a:solidFill>
                  <a:srgbClr val="697889"/>
                </a:solidFill>
                <a:latin typeface="Arial"/>
              </a:rPr>
              <a:t>masked decoder</a:t>
            </a:r>
          </a:p>
        </p:txBody>
      </p:sp>
      <p:sp>
        <p:nvSpPr>
          <p:cNvPr id="98" name="TextBox 97"/>
          <p:cNvSpPr txBox="1"/>
          <p:nvPr/>
        </p:nvSpPr>
        <p:spPr>
          <a:xfrm>
            <a:off x="26609040" y="9052560"/>
            <a:ext cx="1508760" cy="320040"/>
          </a:xfrm>
          <a:prstGeom prst="rect">
            <a:avLst/>
          </a:prstGeom>
          <a:noFill/>
        </p:spPr>
        <p:txBody>
          <a:bodyPr wrap="none" lIns="0" rIns="0" tIns="0" bIns="0" anchor="t">
            <a:spAutoFit/>
          </a:bodyPr>
          <a:lstStyle/>
          <a:p>
            <a:pPr algn="ctr">
              <a:lnSpc>
                <a:spcPct val="100000"/>
              </a:lnSpc>
              <a:spcBef>
                <a:spcPts val="0"/>
              </a:spcBef>
              <a:spcAft>
                <a:spcPts val="0"/>
              </a:spcAft>
            </a:pPr>
            <a:r>
              <a:rPr sz="1400" b="0" i="0">
                <a:solidFill>
                  <a:srgbClr val="697889"/>
                </a:solidFill>
                <a:latin typeface="Arial"/>
              </a:rPr>
              <a:t>output genes</a:t>
            </a:r>
          </a:p>
        </p:txBody>
      </p:sp>
      <p:sp>
        <p:nvSpPr>
          <p:cNvPr id="99" name="TextBox 98"/>
          <p:cNvSpPr txBox="1"/>
          <p:nvPr/>
        </p:nvSpPr>
        <p:spPr>
          <a:xfrm>
            <a:off x="14996159" y="9601200"/>
            <a:ext cx="7406640" cy="329184"/>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D97800"/>
                </a:solidFill>
                <a:latin typeface="Arial"/>
              </a:rPr>
              <a:t>2  QUERY MAPPING AND CROSS-MISSION COMPARISON</a:t>
            </a:r>
          </a:p>
        </p:txBody>
      </p:sp>
      <p:sp>
        <p:nvSpPr>
          <p:cNvPr id="100" name="Rounded Rectangle 99"/>
          <p:cNvSpPr/>
          <p:nvPr/>
        </p:nvSpPr>
        <p:spPr>
          <a:xfrm>
            <a:off x="14996159" y="9966960"/>
            <a:ext cx="2926080" cy="987552"/>
          </a:xfrm>
          <a:prstGeom prst="roundRect">
            <a:avLst>
              <a:gd name="adj" fmla="val 6000"/>
            </a:avLst>
          </a:prstGeom>
          <a:solidFill>
            <a:srgbClr val="FAEFE7"/>
          </a:solidFill>
          <a:ln w="17780">
            <a:solidFill>
              <a:srgbClr val="D97800"/>
            </a:solidFill>
          </a:ln>
        </p:spPr>
        <p:style>
          <a:lnRef idx="1">
            <a:schemeClr val="accent1"/>
          </a:lnRef>
          <a:fillRef idx="3">
            <a:schemeClr val="accent1"/>
          </a:fillRef>
          <a:effectRef idx="2">
            <a:schemeClr val="accent1"/>
          </a:effectRef>
          <a:fontRef idx="minor">
            <a:schemeClr val="lt1"/>
          </a:fontRef>
        </p:style>
        <p:txBody>
          <a:bodyPr rtlCol="0" anchor="ctr" wrap="none" bIns="36576"/>
          <a:lstStyle/>
          <a:p>
            <a:pPr algn="ctr">
              <a:spcAft>
                <a:spcPts val="200"/>
              </a:spcAft>
            </a:pPr>
            <a:r>
              <a:rPr sz="1750" b="1">
                <a:solidFill>
                  <a:srgbClr val="071C3F"/>
                </a:solidFill>
                <a:latin typeface="Arial"/>
              </a:rPr>
              <a:t>NASA OSDR query</a:t>
            </a:r>
          </a:p>
          <a:p>
            <a:pPr algn="ctr">
              <a:spcBef>
                <a:spcPts val="0"/>
              </a:spcBef>
              <a:spcAft>
                <a:spcPts val="0"/>
              </a:spcAft>
            </a:pPr>
            <a:r>
              <a:rPr sz="1400">
                <a:solidFill>
                  <a:srgbClr val="697889"/>
                </a:solidFill>
                <a:latin typeface="Arial"/>
              </a:rPr>
              <a:t>FLT, GC, and accession</a:t>
            </a:r>
          </a:p>
        </p:txBody>
      </p:sp>
      <p:sp>
        <p:nvSpPr>
          <p:cNvPr id="101" name="Right Arrow 100"/>
          <p:cNvSpPr/>
          <p:nvPr/>
        </p:nvSpPr>
        <p:spPr>
          <a:xfrm>
            <a:off x="18041112" y="10277856"/>
            <a:ext cx="411480" cy="329184"/>
          </a:xfrm>
          <a:prstGeom prst="rightArrow">
            <a:avLst/>
          </a:prstGeom>
          <a:solidFill>
            <a:srgbClr val="D9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18562320" y="9966960"/>
            <a:ext cx="2834640" cy="987552"/>
          </a:xfrm>
          <a:prstGeom prst="roundRect">
            <a:avLst>
              <a:gd name="adj" fmla="val 6000"/>
            </a:avLst>
          </a:prstGeom>
          <a:solidFill>
            <a:srgbClr val="FFFFFF"/>
          </a:solidFill>
          <a:ln w="17780">
            <a:solidFill>
              <a:srgbClr val="D97800"/>
            </a:solidFill>
          </a:ln>
        </p:spPr>
        <p:style>
          <a:lnRef idx="1">
            <a:schemeClr val="accent1"/>
          </a:lnRef>
          <a:fillRef idx="3">
            <a:schemeClr val="accent1"/>
          </a:fillRef>
          <a:effectRef idx="2">
            <a:schemeClr val="accent1"/>
          </a:effectRef>
          <a:fontRef idx="minor">
            <a:schemeClr val="lt1"/>
          </a:fontRef>
        </p:style>
        <p:txBody>
          <a:bodyPr rtlCol="0" anchor="ctr" wrap="none" bIns="36576"/>
          <a:lstStyle/>
          <a:p>
            <a:pPr algn="ctr">
              <a:spcAft>
                <a:spcPts val="200"/>
              </a:spcAft>
            </a:pPr>
            <a:r>
              <a:rPr sz="1700" b="1">
                <a:solidFill>
                  <a:srgbClr val="071C3F"/>
                </a:solidFill>
                <a:latin typeface="Arial"/>
              </a:rPr>
              <a:t>Reference-query map</a:t>
            </a:r>
          </a:p>
          <a:p>
            <a:pPr algn="ctr">
              <a:spcBef>
                <a:spcPts val="0"/>
              </a:spcBef>
              <a:spcAft>
                <a:spcPts val="0"/>
              </a:spcAft>
            </a:pPr>
            <a:r>
              <a:rPr sz="1400">
                <a:solidFill>
                  <a:srgbClr val="697889"/>
                </a:solidFill>
                <a:latin typeface="Arial"/>
              </a:rPr>
              <a:t>scArches adaptation</a:t>
            </a:r>
          </a:p>
        </p:txBody>
      </p:sp>
      <p:sp>
        <p:nvSpPr>
          <p:cNvPr id="103" name="Right Arrow 102"/>
          <p:cNvSpPr/>
          <p:nvPr/>
        </p:nvSpPr>
        <p:spPr>
          <a:xfrm>
            <a:off x="21515832" y="10277856"/>
            <a:ext cx="411480" cy="329184"/>
          </a:xfrm>
          <a:prstGeom prst="rightArrow">
            <a:avLst/>
          </a:prstGeom>
          <a:solidFill>
            <a:srgbClr val="236D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22037040" y="9966960"/>
            <a:ext cx="2697480" cy="987552"/>
          </a:xfrm>
          <a:prstGeom prst="roundRect">
            <a:avLst>
              <a:gd name="adj" fmla="val 6000"/>
            </a:avLst>
          </a:prstGeom>
          <a:solidFill>
            <a:srgbClr val="FFFFFF"/>
          </a:solidFill>
          <a:ln w="17780">
            <a:solidFill>
              <a:srgbClr val="082552"/>
            </a:solidFill>
          </a:ln>
        </p:spPr>
        <p:style>
          <a:lnRef idx="1">
            <a:schemeClr val="accent1"/>
          </a:lnRef>
          <a:fillRef idx="3">
            <a:schemeClr val="accent1"/>
          </a:fillRef>
          <a:effectRef idx="2">
            <a:schemeClr val="accent1"/>
          </a:effectRef>
          <a:fontRef idx="minor">
            <a:schemeClr val="lt1"/>
          </a:fontRef>
        </p:style>
        <p:txBody>
          <a:bodyPr rtlCol="0" anchor="ctr" wrap="none" bIns="36576"/>
          <a:lstStyle/>
          <a:p>
            <a:pPr algn="ctr">
              <a:spcAft>
                <a:spcPts val="200"/>
              </a:spcAft>
            </a:pPr>
            <a:r>
              <a:rPr sz="1700" b="1">
                <a:solidFill>
                  <a:srgbClr val="071C3F"/>
                </a:solidFill>
                <a:latin typeface="Arial"/>
              </a:rPr>
              <a:t>Program scores</a:t>
            </a:r>
          </a:p>
          <a:p>
            <a:pPr algn="ctr">
              <a:spcBef>
                <a:spcPts val="0"/>
              </a:spcBef>
              <a:spcAft>
                <a:spcPts val="0"/>
              </a:spcAft>
            </a:pPr>
            <a:r>
              <a:rPr sz="1400">
                <a:solidFill>
                  <a:srgbClr val="697889"/>
                </a:solidFill>
                <a:latin typeface="Arial"/>
              </a:rPr>
              <a:t>posterior mean per sample</a:t>
            </a:r>
          </a:p>
        </p:txBody>
      </p:sp>
      <p:sp>
        <p:nvSpPr>
          <p:cNvPr id="105" name="Right Arrow 104"/>
          <p:cNvSpPr/>
          <p:nvPr/>
        </p:nvSpPr>
        <p:spPr>
          <a:xfrm>
            <a:off x="24853392" y="10277856"/>
            <a:ext cx="365760" cy="329184"/>
          </a:xfrm>
          <a:prstGeom prst="rightArrow">
            <a:avLst/>
          </a:prstGeom>
          <a:solidFill>
            <a:srgbClr val="236D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25328880" y="9966960"/>
            <a:ext cx="3017520" cy="987552"/>
          </a:xfrm>
          <a:prstGeom prst="roundRect">
            <a:avLst>
              <a:gd name="adj" fmla="val 6000"/>
            </a:avLst>
          </a:prstGeom>
          <a:solidFill>
            <a:srgbClr val="FFFFFF"/>
          </a:solidFill>
          <a:ln w="17780">
            <a:solidFill>
              <a:srgbClr val="236DA2"/>
            </a:solidFill>
          </a:ln>
        </p:spPr>
        <p:style>
          <a:lnRef idx="1">
            <a:schemeClr val="accent1"/>
          </a:lnRef>
          <a:fillRef idx="3">
            <a:schemeClr val="accent1"/>
          </a:fillRef>
          <a:effectRef idx="2">
            <a:schemeClr val="accent1"/>
          </a:effectRef>
          <a:fontRef idx="minor">
            <a:schemeClr val="lt1"/>
          </a:fontRef>
        </p:style>
        <p:txBody>
          <a:bodyPr rtlCol="0" anchor="ctr" wrap="none" bIns="36576"/>
          <a:lstStyle/>
          <a:p>
            <a:pPr algn="ctr">
              <a:spcAft>
                <a:spcPts val="200"/>
              </a:spcAft>
            </a:pPr>
            <a:r>
              <a:rPr sz="1650" b="1">
                <a:solidFill>
                  <a:srgbClr val="071C3F"/>
                </a:solidFill>
                <a:latin typeface="Arial"/>
              </a:rPr>
              <a:t>Project-balanced shift</a:t>
            </a:r>
          </a:p>
          <a:p>
            <a:pPr algn="ctr">
              <a:spcBef>
                <a:spcPts val="0"/>
              </a:spcBef>
              <a:spcAft>
                <a:spcPts val="0"/>
              </a:spcAft>
            </a:pPr>
            <a:r>
              <a:rPr sz="1400">
                <a:solidFill>
                  <a:srgbClr val="697889"/>
                </a:solidFill>
                <a:latin typeface="Arial"/>
              </a:rPr>
              <a:t>equal-weight FLT - GC mean</a:t>
            </a:r>
          </a:p>
        </p:txBody>
      </p:sp>
      <p:sp>
        <p:nvSpPr>
          <p:cNvPr id="107" name="Down Arrow 106"/>
          <p:cNvSpPr/>
          <p:nvPr/>
        </p:nvSpPr>
        <p:spPr>
          <a:xfrm>
            <a:off x="26673048" y="10991088"/>
            <a:ext cx="329184" cy="310896"/>
          </a:xfrm>
          <a:prstGeom prst="downArrow">
            <a:avLst/>
          </a:prstGeom>
          <a:solidFill>
            <a:srgbClr val="178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23180040" y="11301984"/>
            <a:ext cx="5166360" cy="566928"/>
          </a:xfrm>
          <a:prstGeom prst="roundRect">
            <a:avLst>
              <a:gd name="adj" fmla="val 6000"/>
            </a:avLst>
          </a:prstGeom>
          <a:solidFill>
            <a:srgbClr val="EBF5EF"/>
          </a:solidFill>
          <a:ln w="17780">
            <a:solidFill>
              <a:srgbClr val="178C6A"/>
            </a:solidFill>
          </a:ln>
        </p:spPr>
        <p:style>
          <a:lnRef idx="1">
            <a:schemeClr val="accent1"/>
          </a:lnRef>
          <a:fillRef idx="3">
            <a:schemeClr val="accent1"/>
          </a:fillRef>
          <a:effectRef idx="2">
            <a:schemeClr val="accent1"/>
          </a:effectRef>
          <a:fontRef idx="minor">
            <a:schemeClr val="lt1"/>
          </a:fontRef>
        </p:style>
        <p:txBody>
          <a:bodyPr rtlCol="0" anchor="ctr" wrap="none" bIns="36576"/>
          <a:lstStyle/>
          <a:p>
            <a:pPr algn="ctr">
              <a:spcAft>
                <a:spcPts val="200"/>
              </a:spcAft>
            </a:pPr>
            <a:r>
              <a:rPr sz="1550" b="1">
                <a:solidFill>
                  <a:srgbClr val="071C3F"/>
                </a:solidFill>
                <a:latin typeface="Arial"/>
              </a:rPr>
              <a:t>Post-score annotation</a:t>
            </a:r>
          </a:p>
          <a:p>
            <a:pPr algn="ctr">
              <a:spcBef>
                <a:spcPts val="0"/>
              </a:spcBef>
              <a:spcAft>
                <a:spcPts val="0"/>
              </a:spcAft>
            </a:pPr>
            <a:r>
              <a:rPr sz="1350">
                <a:solidFill>
                  <a:srgbClr val="697889"/>
                </a:solidFill>
                <a:latin typeface="Arial"/>
              </a:rPr>
              <a:t>literature and mission-context role</a:t>
            </a:r>
          </a:p>
        </p:txBody>
      </p:sp>
      <p:sp>
        <p:nvSpPr>
          <p:cNvPr id="109" name="TextBox 108"/>
          <p:cNvSpPr txBox="1"/>
          <p:nvPr/>
        </p:nvSpPr>
        <p:spPr>
          <a:xfrm>
            <a:off x="15041880" y="11430000"/>
            <a:ext cx="7818120" cy="310896"/>
          </a:xfrm>
          <a:prstGeom prst="rect">
            <a:avLst/>
          </a:prstGeom>
          <a:noFill/>
        </p:spPr>
        <p:txBody>
          <a:bodyPr wrap="none" lIns="0" rIns="0" tIns="0" bIns="0" anchor="t">
            <a:spAutoFit/>
          </a:bodyPr>
          <a:lstStyle/>
          <a:p>
            <a:pPr algn="ctr">
              <a:lnSpc>
                <a:spcPct val="100000"/>
              </a:lnSpc>
              <a:spcBef>
                <a:spcPts val="0"/>
              </a:spcBef>
              <a:spcAft>
                <a:spcPts val="0"/>
              </a:spcAft>
            </a:pPr>
            <a:r>
              <a:rPr sz="1400" b="0" i="0">
                <a:solidFill>
                  <a:srgbClr val="697889"/>
                </a:solidFill>
                <a:latin typeface="Arial"/>
              </a:rPr>
              <a:t>~2,000 HVGs | 319-387 Reactome programs | 250-epoch query mapping</a:t>
            </a:r>
          </a:p>
        </p:txBody>
      </p:sp>
      <p:sp>
        <p:nvSpPr>
          <p:cNvPr id="110" name="Rectangle 109"/>
          <p:cNvSpPr/>
          <p:nvPr/>
        </p:nvSpPr>
        <p:spPr>
          <a:xfrm>
            <a:off x="14493240" y="12527280"/>
            <a:ext cx="14401800" cy="10040112"/>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4749272" y="12710160"/>
            <a:ext cx="13889736"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4886431" y="12728448"/>
            <a:ext cx="13615415" cy="603504"/>
          </a:xfrm>
          <a:prstGeom prst="rect">
            <a:avLst/>
          </a:prstGeom>
          <a:noFill/>
        </p:spPr>
        <p:txBody>
          <a:bodyPr wrap="none" lIns="0" rIns="0" tIns="0" bIns="0" anchor="ctr">
            <a:spAutoFit/>
          </a:bodyPr>
          <a:lstStyle/>
          <a:p>
            <a:pPr algn="ctr">
              <a:lnSpc>
                <a:spcPct val="100000"/>
              </a:lnSpc>
              <a:spcBef>
                <a:spcPts val="0"/>
              </a:spcBef>
              <a:spcAft>
                <a:spcPts val="0"/>
              </a:spcAft>
            </a:pPr>
            <a:r>
              <a:rPr sz="2400" b="1" i="0">
                <a:solidFill>
                  <a:srgbClr val="111111"/>
                </a:solidFill>
                <a:latin typeface="Arial"/>
              </a:rPr>
              <a:t>RESULTS: ALIGNED ANCHORS AND RETAINED PROGRAM SHIFTS</a:t>
            </a:r>
          </a:p>
        </p:txBody>
      </p:sp>
      <p:pic>
        <p:nvPicPr>
          <p:cNvPr id="113" name="Retained pathway shifts" descr="Literature-aligned anchors and retained expiMap pathway shifts for thymus, skin, liver, and spleen, with project effects and three-training ranges."/>
          <p:cNvPicPr>
            <a:picLocks noChangeAspect="1"/>
          </p:cNvPicPr>
          <p:nvPr/>
        </p:nvPicPr>
        <p:blipFill>
          <a:blip r:embed="rId3"/>
          <a:stretch>
            <a:fillRect/>
          </a:stretch>
        </p:blipFill>
        <p:spPr>
          <a:xfrm>
            <a:off x="14813280" y="13770356"/>
            <a:ext cx="13761720" cy="7645400"/>
          </a:xfrm>
          <a:prstGeom prst="rect">
            <a:avLst/>
          </a:prstGeom>
        </p:spPr>
      </p:pic>
      <p:sp>
        <p:nvSpPr>
          <p:cNvPr id="114" name="TextBox 113"/>
          <p:cNvSpPr txBox="1"/>
          <p:nvPr/>
        </p:nvSpPr>
        <p:spPr>
          <a:xfrm>
            <a:off x="15041880" y="21598128"/>
            <a:ext cx="13304520" cy="713232"/>
          </a:xfrm>
          <a:prstGeom prst="rect">
            <a:avLst/>
          </a:prstGeom>
          <a:noFill/>
        </p:spPr>
        <p:txBody>
          <a:bodyPr wrap="square" lIns="0" rIns="0" tIns="0" bIns="0" anchor="t">
            <a:spAutoFit/>
          </a:bodyPr>
          <a:lstStyle/>
          <a:p>
            <a:pPr algn="ctr">
              <a:lnSpc>
                <a:spcPct val="100000"/>
              </a:lnSpc>
              <a:spcBef>
                <a:spcPts val="0"/>
              </a:spcBef>
              <a:spcAft>
                <a:spcPts val="0"/>
              </a:spcAft>
            </a:pPr>
            <a:r>
              <a:rPr sz="1500" b="0" i="1">
                <a:solidFill>
                  <a:srgbClr val="697889"/>
                </a:solidFill>
                <a:latin typeface="Arial"/>
              </a:rPr>
              <a:t>Filled markers show the 13 primary retained programs. Four open green diamonds show literature-aligned anchors that failed at least one robustness gate and provide context rather than additional claims. Colored ranges span three complete trainings; axes are tissue specific.</a:t>
            </a:r>
          </a:p>
        </p:txBody>
      </p:sp>
      <p:sp>
        <p:nvSpPr>
          <p:cNvPr id="115" name="Rectangle 114"/>
          <p:cNvSpPr/>
          <p:nvPr/>
        </p:nvSpPr>
        <p:spPr>
          <a:xfrm>
            <a:off x="29215080" y="4892040"/>
            <a:ext cx="14356080" cy="12143232"/>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29471111" y="5074920"/>
            <a:ext cx="13844015"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9608271" y="5093207"/>
            <a:ext cx="13569695" cy="603504"/>
          </a:xfrm>
          <a:prstGeom prst="rect">
            <a:avLst/>
          </a:prstGeom>
          <a:noFill/>
        </p:spPr>
        <p:txBody>
          <a:bodyPr wrap="none" lIns="0" rIns="0" tIns="0" bIns="0" anchor="ctr">
            <a:spAutoFit/>
          </a:bodyPr>
          <a:lstStyle/>
          <a:p>
            <a:pPr algn="ctr">
              <a:lnSpc>
                <a:spcPct val="100000"/>
              </a:lnSpc>
              <a:spcBef>
                <a:spcPts val="0"/>
              </a:spcBef>
              <a:spcAft>
                <a:spcPts val="0"/>
              </a:spcAft>
            </a:pPr>
            <a:r>
              <a:rPr sz="2400" b="1" i="0">
                <a:solidFill>
                  <a:srgbClr val="111111"/>
                </a:solidFill>
                <a:latin typeface="Arial"/>
              </a:rPr>
              <a:t>RESULTS: BIOLOGICAL INTERPRETATION</a:t>
            </a:r>
          </a:p>
        </p:txBody>
      </p:sp>
      <p:sp>
        <p:nvSpPr>
          <p:cNvPr id="118" name="TextBox 117"/>
          <p:cNvSpPr txBox="1"/>
          <p:nvPr/>
        </p:nvSpPr>
        <p:spPr>
          <a:xfrm>
            <a:off x="29672280" y="5870448"/>
            <a:ext cx="13441680" cy="384048"/>
          </a:xfrm>
          <a:prstGeom prst="rect">
            <a:avLst/>
          </a:prstGeom>
          <a:noFill/>
        </p:spPr>
        <p:txBody>
          <a:bodyPr wrap="none" lIns="0" rIns="0" tIns="0" bIns="0" anchor="t">
            <a:spAutoFit/>
          </a:bodyPr>
          <a:lstStyle/>
          <a:p>
            <a:pPr algn="ctr">
              <a:lnSpc>
                <a:spcPct val="100000"/>
              </a:lnSpc>
              <a:spcBef>
                <a:spcPts val="0"/>
              </a:spcBef>
              <a:spcAft>
                <a:spcPts val="0"/>
              </a:spcAft>
            </a:pPr>
            <a:r>
              <a:rPr sz="1900" b="1" i="0">
                <a:solidFill>
                  <a:srgbClr val="236DA2"/>
                </a:solidFill>
                <a:latin typeface="Arial"/>
              </a:rPr>
              <a:t>Final robustness-filtered tissue stories</a:t>
            </a:r>
          </a:p>
        </p:txBody>
      </p:sp>
      <p:pic>
        <p:nvPicPr>
          <p:cNvPr id="119" name="Tissue-state hypotheses" descr="Observed lower expiMap program scores and qualified tissue-state hypotheses for thymus, skin, liver, and spleen."/>
          <p:cNvPicPr>
            <a:picLocks noChangeAspect="1"/>
          </p:cNvPicPr>
          <p:nvPr/>
        </p:nvPicPr>
        <p:blipFill>
          <a:blip r:embed="rId4"/>
          <a:stretch>
            <a:fillRect/>
          </a:stretch>
        </p:blipFill>
        <p:spPr>
          <a:xfrm>
            <a:off x="30576671" y="6281928"/>
            <a:ext cx="11632896" cy="10259568"/>
          </a:xfrm>
          <a:prstGeom prst="rect">
            <a:avLst/>
          </a:prstGeom>
        </p:spPr>
      </p:pic>
      <p:sp>
        <p:nvSpPr>
          <p:cNvPr id="120" name="Rectangle 119"/>
          <p:cNvSpPr/>
          <p:nvPr/>
        </p:nvSpPr>
        <p:spPr>
          <a:xfrm>
            <a:off x="29215080" y="17309592"/>
            <a:ext cx="14356080" cy="3246120"/>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9471111" y="17492472"/>
            <a:ext cx="13844015"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9608271" y="17510760"/>
            <a:ext cx="13569695" cy="603504"/>
          </a:xfrm>
          <a:prstGeom prst="rect">
            <a:avLst/>
          </a:prstGeom>
          <a:noFill/>
        </p:spPr>
        <p:txBody>
          <a:bodyPr wrap="none" lIns="0" rIns="0" tIns="0" bIns="0" anchor="ctr">
            <a:spAutoFit/>
          </a:bodyPr>
          <a:lstStyle/>
          <a:p>
            <a:pPr algn="ctr">
              <a:lnSpc>
                <a:spcPct val="100000"/>
              </a:lnSpc>
              <a:spcBef>
                <a:spcPts val="0"/>
              </a:spcBef>
              <a:spcAft>
                <a:spcPts val="0"/>
              </a:spcAft>
            </a:pPr>
            <a:r>
              <a:rPr sz="2600" b="1" i="0">
                <a:solidFill>
                  <a:srgbClr val="111111"/>
                </a:solidFill>
                <a:latin typeface="Arial"/>
              </a:rPr>
              <a:t>CONCLUSIONS</a:t>
            </a:r>
          </a:p>
        </p:txBody>
      </p:sp>
      <p:sp>
        <p:nvSpPr>
          <p:cNvPr id="123" name="TextBox 122"/>
          <p:cNvSpPr txBox="1"/>
          <p:nvPr/>
        </p:nvSpPr>
        <p:spPr>
          <a:xfrm>
            <a:off x="29718000" y="18333720"/>
            <a:ext cx="13350240" cy="2057400"/>
          </a:xfrm>
          <a:prstGeom prst="rect">
            <a:avLst/>
          </a:prstGeom>
          <a:noFill/>
        </p:spPr>
        <p:txBody>
          <a:bodyPr wrap="square" lIns="0" rIns="0" tIns="0" bIns="0">
            <a:spAutoFit/>
          </a:bodyPr>
          <a:lstStyle/>
          <a:p>
            <a:pPr>
              <a:lnSpc>
                <a:spcPct val="100000"/>
              </a:lnSpc>
              <a:spcBef>
                <a:spcPts val="0"/>
              </a:spcBef>
              <a:spcAft>
                <a:spcPts val="400"/>
              </a:spcAft>
            </a:pPr>
            <a:r>
              <a:rPr sz="1800">
                <a:solidFill>
                  <a:srgbClr val="33445D"/>
                </a:solidFill>
                <a:latin typeface="Arial"/>
              </a:rPr>
              <a:t>• Spleen was strongest: T cell receptor, neutrophil degranulation, and C‑type lectin receptor programs were lower across five projects and three trainings; all had GSEA FDR &lt;0.05.</a:t>
            </a:r>
          </a:p>
          <a:p>
            <a:pPr>
              <a:lnSpc>
                <a:spcPct val="100000"/>
              </a:lnSpc>
              <a:spcBef>
                <a:spcPts val="0"/>
              </a:spcBef>
              <a:spcAft>
                <a:spcPts val="400"/>
              </a:spcAft>
            </a:pPr>
            <a:r>
              <a:rPr sz="1800">
                <a:solidFill>
                  <a:srgbClr val="33445D"/>
                </a:solidFill>
                <a:latin typeface="Arial"/>
              </a:rPr>
              <a:t>• Skin and thymus emphasized lower tissue maintenance programs; liver showed lower adaptive immune signaling amid heterogeneous metabolism.</a:t>
            </a:r>
          </a:p>
          <a:p>
            <a:pPr>
              <a:lnSpc>
                <a:spcPct val="100000"/>
              </a:lnSpc>
              <a:spcBef>
                <a:spcPts val="0"/>
              </a:spcBef>
              <a:spcAft>
                <a:spcPts val="400"/>
              </a:spcAft>
            </a:pPr>
            <a:r>
              <a:rPr sz="1800">
                <a:solidFill>
                  <a:srgbClr val="33445D"/>
                </a:solidFill>
                <a:latin typeface="Arial"/>
              </a:rPr>
              <a:t>• Bulk latent scores are testable hypotheses, not causal or cell resolved measures of pathway activity.</a:t>
            </a:r>
          </a:p>
        </p:txBody>
      </p:sp>
      <p:sp>
        <p:nvSpPr>
          <p:cNvPr id="124" name="Rectangle 123"/>
          <p:cNvSpPr/>
          <p:nvPr/>
        </p:nvSpPr>
        <p:spPr>
          <a:xfrm>
            <a:off x="29215080" y="20802600"/>
            <a:ext cx="14356080" cy="1764792"/>
          </a:xfrm>
          <a:prstGeom prst="rect">
            <a:avLst/>
          </a:prstGeom>
          <a:solidFill>
            <a:srgbClr val="DCE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9471111" y="20985480"/>
            <a:ext cx="13844015" cy="658368"/>
          </a:xfrm>
          <a:prstGeom prst="rect">
            <a:avLst/>
          </a:prstGeom>
          <a:solidFill>
            <a:srgbClr val="FFFFFF"/>
          </a:solidFill>
          <a:ln w="13970">
            <a:solidFill>
              <a:srgbClr val="AEB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9608271" y="21003768"/>
            <a:ext cx="13569695" cy="603504"/>
          </a:xfrm>
          <a:prstGeom prst="rect">
            <a:avLst/>
          </a:prstGeom>
          <a:noFill/>
        </p:spPr>
        <p:txBody>
          <a:bodyPr wrap="none" lIns="0" rIns="0" tIns="0" bIns="0" anchor="ctr">
            <a:spAutoFit/>
          </a:bodyPr>
          <a:lstStyle/>
          <a:p>
            <a:pPr algn="ctr">
              <a:lnSpc>
                <a:spcPct val="100000"/>
              </a:lnSpc>
              <a:spcBef>
                <a:spcPts val="0"/>
              </a:spcBef>
              <a:spcAft>
                <a:spcPts val="0"/>
              </a:spcAft>
            </a:pPr>
            <a:r>
              <a:rPr sz="2200" b="1" i="0">
                <a:solidFill>
                  <a:srgbClr val="111111"/>
                </a:solidFill>
                <a:latin typeface="Arial"/>
              </a:rPr>
              <a:t>REFERENCES</a:t>
            </a:r>
          </a:p>
        </p:txBody>
      </p:sp>
      <p:sp>
        <p:nvSpPr>
          <p:cNvPr id="127" name="TextBox 126"/>
          <p:cNvSpPr txBox="1"/>
          <p:nvPr/>
        </p:nvSpPr>
        <p:spPr>
          <a:xfrm>
            <a:off x="29690568" y="21744432"/>
            <a:ext cx="13405104" cy="713232"/>
          </a:xfrm>
          <a:prstGeom prst="rect">
            <a:avLst/>
          </a:prstGeom>
          <a:noFill/>
        </p:spPr>
        <p:txBody>
          <a:bodyPr wrap="square" lIns="0" rIns="0" tIns="0" bIns="0" anchor="t">
            <a:spAutoFit/>
          </a:bodyPr>
          <a:lstStyle/>
          <a:p>
            <a:pPr algn="l">
              <a:lnSpc>
                <a:spcPct val="100000"/>
              </a:lnSpc>
              <a:spcBef>
                <a:spcPts val="0"/>
              </a:spcBef>
              <a:spcAft>
                <a:spcPts val="0"/>
              </a:spcAft>
            </a:pPr>
            <a:r>
              <a:rPr sz="1450" b="0" i="0">
                <a:solidFill>
                  <a:srgbClr val="33445D"/>
                </a:solidFill>
                <a:latin typeface="Arial"/>
              </a:rPr>
              <a:t>1 Gebre et al., NAR 2025 (OSDR). 2 Lotfollahi et al., Nat Cell Biol 2023 (expiMap). 3 Lachmann et al., Nat Commun 2018 (ARCHS4). 4 Milacic et al., NAR 2024 (Reactome). 5 Horie et al., Sci Rep 2019. 6 Cope et al., Commun Med 2024. 7 Beheshti et al., Sci Rep 2019. 8 Gridley et al., J Appl Physiol 2009.</a:t>
            </a:r>
          </a:p>
        </p:txBody>
      </p:sp>
      <p:sp>
        <p:nvSpPr>
          <p:cNvPr id="128" name="Rectangle 127"/>
          <p:cNvSpPr/>
          <p:nvPr/>
        </p:nvSpPr>
        <p:spPr>
          <a:xfrm>
            <a:off x="14493240" y="22786848"/>
            <a:ext cx="28803600" cy="1901952"/>
          </a:xfrm>
          <a:prstGeom prst="rect">
            <a:avLst/>
          </a:prstGeom>
          <a:solidFill>
            <a:srgbClr val="DD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4813280" y="22878288"/>
            <a:ext cx="4572000" cy="411480"/>
          </a:xfrm>
          <a:prstGeom prst="rect">
            <a:avLst/>
          </a:prstGeom>
          <a:noFill/>
        </p:spPr>
        <p:txBody>
          <a:bodyPr wrap="square" lIns="0" rIns="0" tIns="0" bIns="0" anchor="t">
            <a:spAutoFit/>
          </a:bodyPr>
          <a:lstStyle/>
          <a:p>
            <a:pPr algn="l">
              <a:lnSpc>
                <a:spcPct val="100000"/>
              </a:lnSpc>
              <a:spcBef>
                <a:spcPts val="0"/>
              </a:spcBef>
              <a:spcAft>
                <a:spcPts val="0"/>
              </a:spcAft>
            </a:pPr>
            <a:r>
              <a:rPr sz="2200" b="1" i="0">
                <a:solidFill>
                  <a:srgbClr val="697889"/>
                </a:solidFill>
                <a:latin typeface="Arial"/>
              </a:rPr>
              <a:t>Acknowledgements</a:t>
            </a:r>
          </a:p>
        </p:txBody>
      </p:sp>
      <p:sp>
        <p:nvSpPr>
          <p:cNvPr id="130" name="TextBox 129"/>
          <p:cNvSpPr txBox="1"/>
          <p:nvPr/>
        </p:nvSpPr>
        <p:spPr>
          <a:xfrm>
            <a:off x="14813280" y="23335488"/>
            <a:ext cx="18836640" cy="8046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33445D"/>
                </a:solidFill>
                <a:latin typeface="Arial"/>
              </a:rPr>
              <a:t>Mentor: James Casaletto | NASA Space Life Sciences Training Program | NASA OSDR, ARCHS4, and Reactome investigators and curation teams</a:t>
            </a:r>
          </a:p>
        </p:txBody>
      </p:sp>
      <p:sp>
        <p:nvSpPr>
          <p:cNvPr id="131" name="TextBox 130"/>
          <p:cNvSpPr txBox="1"/>
          <p:nvPr/>
        </p:nvSpPr>
        <p:spPr>
          <a:xfrm>
            <a:off x="35890200" y="23152608"/>
            <a:ext cx="7242048" cy="822960"/>
          </a:xfrm>
          <a:prstGeom prst="rect">
            <a:avLst/>
          </a:prstGeom>
          <a:noFill/>
        </p:spPr>
        <p:txBody>
          <a:bodyPr wrap="none" lIns="0" rIns="0" tIns="0" bIns="0" anchor="t">
            <a:spAutoFit/>
          </a:bodyPr>
          <a:lstStyle/>
          <a:p>
            <a:pPr algn="r">
              <a:lnSpc>
                <a:spcPct val="100000"/>
              </a:lnSpc>
              <a:spcBef>
                <a:spcPts val="0"/>
              </a:spcBef>
              <a:spcAft>
                <a:spcPts val="0"/>
              </a:spcAft>
            </a:pPr>
            <a:r>
              <a:rPr sz="1600" b="1" i="0">
                <a:solidFill>
                  <a:srgbClr val="082552"/>
                </a:solidFill>
                <a:latin typeface="Arial"/>
              </a:rPr>
              <a:t>jasontrinh@berkeley.edu
github.com/jasont314/nasa-mouse</a:t>
            </a:r>
          </a:p>
        </p:txBody>
      </p:sp>
      <p:sp>
        <p:nvSpPr>
          <p:cNvPr id="132" name="TextBox 131"/>
          <p:cNvSpPr txBox="1"/>
          <p:nvPr/>
        </p:nvSpPr>
        <p:spPr>
          <a:xfrm>
            <a:off x="640080" y="23865840"/>
            <a:ext cx="3291840" cy="365760"/>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697889"/>
                </a:solidFill>
                <a:latin typeface="Arial"/>
              </a:rPr>
              <a:t>www.nasa.gov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Cross-mission expiMap analysis recovers established tissue responses and identifies complementary pathway shifts in mouse spaceflight transcriptomes</dc:title>
  <dc:subject>Template-based cross-mission expiMap poster using NASA OSDR mouse RNA-seq</dc:subject>
  <dc:creator>Jason Trinh</dc:creator>
  <cp:keywords>spaceflight, expiMap, OSDR, ARCHS4, Reactome, transcriptomics, NASA</cp:keywords>
  <dc:description>Layout and NASA branding reference 00 Poster Session Student Template_Approved by Legal.pptx.</dc:description>
  <cp:lastModifiedBy>Steve Canny</cp:lastModifiedBy>
  <cp:revision>1</cp:revision>
  <dcterms:created xsi:type="dcterms:W3CDTF">2013-01-27T09:14:16Z</dcterms:created>
  <dcterms:modified xsi:type="dcterms:W3CDTF">2013-01-27T09:15:58Z</dcterms:modified>
  <cp:category/>
</cp:coreProperties>
</file>