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3891200" cy="246888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200" cy="4617720"/>
          </a:xfrm>
          <a:prstGeom prst="rect">
            <a:avLst/>
          </a:prstGeom>
          <a:solidFill>
            <a:srgbClr val="DDE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164592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97889"/>
                </a:solidFill>
                <a:latin typeface="Arial"/>
              </a:rPr>
              <a:t>National Aeronautics and Space Administration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41248"/>
            <a:ext cx="38770560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00" b="1" i="0">
                <a:solidFill>
                  <a:srgbClr val="111111"/>
                </a:solidFill>
                <a:latin typeface="Arial"/>
              </a:rPr>
              <a:t>Cross-mission expiMap analysis recovers established tissue responses
and identifies complementary pathway shifts in mouse spaceflight transcriptomes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383280"/>
            <a:ext cx="374904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697889"/>
                </a:solidFill>
                <a:latin typeface="Arial"/>
              </a:rPr>
              <a:t>Jason Trinh / University of California, Berkeley | NASA Space Life Sciences Training Program, NASA Ames Research Center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16480" y="713232"/>
            <a:ext cx="2788920" cy="231899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20040" y="4892040"/>
            <a:ext cx="13853160" cy="3456432"/>
          </a:xfrm>
          <a:prstGeom prst="rect">
            <a:avLst/>
          </a:prstGeom>
          <a:solidFill>
            <a:srgbClr val="DCE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76072" y="5074920"/>
            <a:ext cx="13341096" cy="658368"/>
          </a:xfrm>
          <a:prstGeom prst="rect">
            <a:avLst/>
          </a:prstGeom>
          <a:solidFill>
            <a:srgbClr val="FFFFFF"/>
          </a:solidFill>
          <a:ln w="13970">
            <a:solidFill>
              <a:srgbClr val="AEBC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5093207"/>
            <a:ext cx="1306677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11111"/>
                </a:solidFill>
                <a:latin typeface="Arial"/>
              </a:rPr>
              <a:t>ABSTRACT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925312"/>
            <a:ext cx="12938760" cy="2148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 i="0">
                <a:solidFill>
                  <a:srgbClr val="33445D"/>
                </a:solidFill>
                <a:latin typeface="Arial"/>
              </a:rPr>
              <a:t>Spaceflight affects multiple organs, but mission differences can obscure responses that recur across studies. We mapped NASA OSDR mouse bulk RNA-seq samples into tissue-matched expiMap references trained on ARCHS4 and constrained by current mouse Reactome programs. Project-balanced flight-ground shifts were checked with conventional enrichment, held-out projects, three complete trainings, composition proxies, and member-gene review. Thymus, skin, liver, and spleen produced reproducible tissue-specific patterns; spleen had the strongest multi-pathway evidence.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8622792"/>
            <a:ext cx="13853160" cy="13944600"/>
          </a:xfrm>
          <a:prstGeom prst="rect">
            <a:avLst/>
          </a:prstGeom>
          <a:solidFill>
            <a:srgbClr val="DCE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6072" y="8805672"/>
            <a:ext cx="13341096" cy="658368"/>
          </a:xfrm>
          <a:prstGeom prst="rect">
            <a:avLst/>
          </a:prstGeom>
          <a:solidFill>
            <a:srgbClr val="FFFFFF"/>
          </a:solidFill>
          <a:ln w="13970">
            <a:solidFill>
              <a:srgbClr val="AEBC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8823960"/>
            <a:ext cx="1306677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11111"/>
                </a:solidFill>
                <a:latin typeface="Arial"/>
              </a:rPr>
              <a:t>INTRODUCTION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9710928"/>
            <a:ext cx="1284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9A6D1D"/>
                </a:solidFill>
                <a:latin typeface="Arial"/>
              </a:rPr>
              <a:t>PROJECT OBJECTIVE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10104120"/>
            <a:ext cx="12847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71C3F"/>
                </a:solidFill>
                <a:latin typeface="Arial"/>
              </a:rPr>
              <a:t>Learn how spaceflight changes living systems by asking which gene programs shift consistently across missions.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11247120"/>
            <a:ext cx="12847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9A6D1D"/>
                </a:solidFill>
                <a:latin typeface="Arial"/>
              </a:rPr>
              <a:t>THE CENTRAL CHALLENGE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11686032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71C3F"/>
                </a:solidFill>
                <a:latin typeface="Arial"/>
              </a:rPr>
              <a:t>Observed expression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29000" y="11686032"/>
            <a:ext cx="2514600" cy="548640"/>
          </a:xfrm>
          <a:prstGeom prst="roundRect">
            <a:avLst/>
          </a:prstGeom>
          <a:solidFill>
            <a:srgbClr val="D9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93008" y="11704320"/>
            <a:ext cx="238658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Spaceflight biology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11686032"/>
            <a:ext cx="347472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697889"/>
                </a:solidFill>
                <a:latin typeface="Arial"/>
              </a:rPr>
              <a:t>+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36792" y="11686032"/>
            <a:ext cx="2011680" cy="548640"/>
          </a:xfrm>
          <a:prstGeom prst="roundRect">
            <a:avLst/>
          </a:prstGeom>
          <a:solidFill>
            <a:srgbClr val="082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11704320"/>
            <a:ext cx="188366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Tissue biology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48471" y="11686032"/>
            <a:ext cx="347472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697889"/>
                </a:solidFill>
                <a:latin typeface="Arial"/>
              </a:rPr>
              <a:t>+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41663" y="11686032"/>
            <a:ext cx="2148840" cy="548640"/>
          </a:xfrm>
          <a:prstGeom prst="roundRect">
            <a:avLst/>
          </a:prstGeom>
          <a:solidFill>
            <a:srgbClr val="697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05672" y="11704320"/>
            <a:ext cx="202082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Animal variation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90503" y="11686032"/>
            <a:ext cx="347472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697889"/>
                </a:solidFill>
                <a:latin typeface="Arial"/>
              </a:rPr>
              <a:t>+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283695" y="11686032"/>
            <a:ext cx="2331720" cy="548640"/>
          </a:xfrm>
          <a:prstGeom prst="roundRect">
            <a:avLst/>
          </a:prstGeom>
          <a:solidFill>
            <a:srgbClr val="9A6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347703" y="11704320"/>
            <a:ext cx="220370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Study / protocol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12454128"/>
            <a:ext cx="1284732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33445D"/>
                </a:solidFill>
                <a:latin typeface="Arial"/>
              </a:rPr>
              <a:t>Study identity and protocol can dominate an unconstrained expression representation. Tissue-matched reference mapping, accession conditioning, and equal project weighting reduce this bias without claiming to remove all mission confounding.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14008608"/>
            <a:ext cx="12847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9A6D1D"/>
                </a:solidFill>
                <a:latin typeface="Arial"/>
              </a:rPr>
              <a:t>FINAL ANALYSIS SCOPE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822960" y="14474952"/>
          <a:ext cx="1197864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514600"/>
                <a:gridCol w="2148840"/>
                <a:gridCol w="2057400"/>
                <a:gridCol w="2423160"/>
              </a:tblGrid>
              <a:tr h="740664">
                <a:tc>
                  <a:txBody>
                    <a:bodyPr anchor="ctr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Tissue</a:t>
                      </a:r>
                    </a:p>
                  </a:txBody>
                  <a:tcPr marL="64008" marR="54864" marT="27432" marB="27432">
                    <a:solidFill>
                      <a:srgbClr val="08255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ARCHS4</a:t>
                      </a:r>
                    </a:p>
                  </a:txBody>
                  <a:tcPr marL="64008" marR="54864" marT="27432" marB="27432">
                    <a:solidFill>
                      <a:srgbClr val="08255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OSDR</a:t>
                      </a:r>
                    </a:p>
                  </a:txBody>
                  <a:tcPr marL="64008" marR="54864" marT="27432" marB="27432">
                    <a:solidFill>
                      <a:srgbClr val="08255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Projects</a:t>
                      </a:r>
                    </a:p>
                  </a:txBody>
                  <a:tcPr marL="64008" marR="54864" marT="27432" marB="27432">
                    <a:solidFill>
                      <a:srgbClr val="08255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Programs</a:t>
                      </a:r>
                    </a:p>
                  </a:txBody>
                  <a:tcPr marL="64008" marR="54864" marT="27432" marB="27432">
                    <a:solidFill>
                      <a:srgbClr val="082552"/>
                    </a:solidFill>
                  </a:tcPr>
                </a:tc>
              </a:tr>
              <a:tr h="740664">
                <a:tc>
                  <a:txBody>
                    <a:bodyPr anchor="ctr"/>
                    <a:lstStyle/>
                    <a:p>
                      <a:pPr algn="l"/>
                      <a:r>
                        <a:rPr sz="1450" b="1">
                          <a:solidFill>
                            <a:srgbClr val="6A4C93"/>
                          </a:solidFill>
                          <a:latin typeface="Arial"/>
                        </a:rPr>
                        <a:t>Thymus</a:t>
                      </a:r>
                    </a:p>
                  </a:txBody>
                  <a:tcPr marL="64008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450" b="0">
                          <a:solidFill>
                            <a:srgbClr val="33445D"/>
                          </a:solidFill>
                          <a:latin typeface="Arial"/>
                        </a:rPr>
                        <a:t>1,362</a:t>
                      </a:r>
                    </a:p>
                  </a:txBody>
                  <a:tcPr marL="64008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450" b="0">
                          <a:solidFill>
                            <a:srgbClr val="33445D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64008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450" b="0">
                          <a:solidFill>
                            <a:srgbClr val="33445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64008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450" b="0">
                          <a:solidFill>
                            <a:srgbClr val="33445D"/>
                          </a:solidFill>
                          <a:latin typeface="Arial"/>
                        </a:rPr>
                        <a:t>387</a:t>
                      </a:r>
                    </a:p>
                  </a:txBody>
                  <a:tcPr marL="64008" marR="54864" marT="27432" marB="27432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 anchor="ctr"/>
                    <a:lstStyle/>
                    <a:p>
                      <a:pPr algn="l"/>
                      <a:r>
                        <a:rPr sz="1450" b="1">
                          <a:solidFill>
                            <a:srgbClr val="C65D37"/>
                          </a:solidFill>
                          <a:latin typeface="Arial"/>
                        </a:rPr>
                        <a:t>Skin</a:t>
                      </a:r>
                    </a:p>
                  </a:txBody>
                  <a:tcPr marL="64008" marR="54864" marT="27432" marB="27432">
                    <a:solidFill>
                      <a:srgbClr val="EEF4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450" b="0">
                          <a:solidFill>
                            <a:srgbClr val="33445D"/>
                          </a:solidFill>
                          <a:latin typeface="Arial"/>
                        </a:rPr>
                        <a:t>2,593</a:t>
                      </a:r>
                    </a:p>
                  </a:txBody>
                  <a:tcPr marL="64008" marR="54864" marT="27432" marB="27432">
                    <a:solidFill>
                      <a:srgbClr val="EEF4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450" b="0">
                          <a:solidFill>
                            <a:srgbClr val="33445D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64008" marR="54864" marT="27432" marB="27432">
                    <a:solidFill>
                      <a:srgbClr val="EEF4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450" b="0">
                          <a:solidFill>
                            <a:srgbClr val="33445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64008" marR="54864" marT="27432" marB="27432">
                    <a:solidFill>
                      <a:srgbClr val="EEF4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450" b="0">
                          <a:solidFill>
                            <a:srgbClr val="33445D"/>
                          </a:solidFill>
                          <a:latin typeface="Arial"/>
                        </a:rPr>
                        <a:t>319</a:t>
                      </a:r>
                    </a:p>
                  </a:txBody>
                  <a:tcPr marL="64008" marR="54864" marT="27432" marB="27432">
                    <a:solidFill>
                      <a:srgbClr val="EEF4F8"/>
                    </a:solidFill>
                  </a:tcPr>
                </a:tc>
              </a:tr>
              <a:tr h="740664">
                <a:tc>
                  <a:txBody>
                    <a:bodyPr anchor="ctr"/>
                    <a:lstStyle/>
                    <a:p>
                      <a:pPr algn="l"/>
                      <a:r>
                        <a:rPr sz="1450" b="1">
                          <a:solidFill>
                            <a:srgbClr val="13877C"/>
                          </a:solidFill>
                          <a:latin typeface="Arial"/>
                        </a:rPr>
                        <a:t>Liver</a:t>
                      </a:r>
                    </a:p>
                  </a:txBody>
                  <a:tcPr marL="64008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450" b="0">
                          <a:solidFill>
                            <a:srgbClr val="33445D"/>
                          </a:solidFill>
                          <a:latin typeface="Arial"/>
                        </a:rPr>
                        <a:t>5,000</a:t>
                      </a:r>
                    </a:p>
                  </a:txBody>
                  <a:tcPr marL="64008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450" b="0">
                          <a:solidFill>
                            <a:srgbClr val="33445D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64008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450" b="0">
                          <a:solidFill>
                            <a:srgbClr val="33445D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64008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450" b="0">
                          <a:solidFill>
                            <a:srgbClr val="33445D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64008" marR="54864" marT="27432" marB="27432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 anchor="ctr"/>
                    <a:lstStyle/>
                    <a:p>
                      <a:pPr algn="l"/>
                      <a:r>
                        <a:rPr sz="1450" b="1">
                          <a:solidFill>
                            <a:srgbClr val="A64D67"/>
                          </a:solidFill>
                          <a:latin typeface="Arial"/>
                        </a:rPr>
                        <a:t>Spleen</a:t>
                      </a:r>
                    </a:p>
                  </a:txBody>
                  <a:tcPr marL="64008" marR="54864" marT="27432" marB="27432">
                    <a:solidFill>
                      <a:srgbClr val="EEF4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450" b="0">
                          <a:solidFill>
                            <a:srgbClr val="33445D"/>
                          </a:solidFill>
                          <a:latin typeface="Arial"/>
                        </a:rPr>
                        <a:t>6,289</a:t>
                      </a:r>
                    </a:p>
                  </a:txBody>
                  <a:tcPr marL="64008" marR="54864" marT="27432" marB="27432">
                    <a:solidFill>
                      <a:srgbClr val="EEF4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450" b="0">
                          <a:solidFill>
                            <a:srgbClr val="33445D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54864" marT="27432" marB="27432">
                    <a:solidFill>
                      <a:srgbClr val="EEF4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450" b="0">
                          <a:solidFill>
                            <a:srgbClr val="33445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64008" marR="54864" marT="27432" marB="27432">
                    <a:solidFill>
                      <a:srgbClr val="EEF4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450" b="0">
                          <a:solidFill>
                            <a:srgbClr val="33445D"/>
                          </a:solidFill>
                          <a:latin typeface="Arial"/>
                        </a:rPr>
                        <a:t>360</a:t>
                      </a:r>
                    </a:p>
                  </a:txBody>
                  <a:tcPr marL="64008" marR="54864" marT="27432" marB="27432"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822960" y="18260568"/>
            <a:ext cx="12847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1">
                <a:solidFill>
                  <a:srgbClr val="697889"/>
                </a:solidFill>
                <a:latin typeface="Arial"/>
              </a:rPr>
              <a:t>OSDR counts are primary analysis samples. Spleen excludes one condition-strain-confounded project.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18882360"/>
            <a:ext cx="12847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9A6D1D"/>
                </a:solidFill>
                <a:latin typeface="Arial"/>
              </a:rPr>
              <a:t>ROBUSTNESS GATE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19366992"/>
            <a:ext cx="3877056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236D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6112" y="19394424"/>
            <a:ext cx="3730752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36DA2"/>
                </a:solidFill>
                <a:latin typeface="Arial"/>
              </a:rPr>
              <a:t>ssGSEA + GSEA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84064" y="19366992"/>
            <a:ext cx="3877056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236D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57216" y="19394424"/>
            <a:ext cx="3730752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36DA2"/>
                </a:solidFill>
                <a:latin typeface="Arial"/>
              </a:rPr>
              <a:t>Held-out projects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345168" y="19366992"/>
            <a:ext cx="3877056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6A4C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418320" y="19394424"/>
            <a:ext cx="3730752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6A4C93"/>
                </a:solidFill>
                <a:latin typeface="Arial"/>
              </a:rPr>
              <a:t>3 full trainings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20189952"/>
            <a:ext cx="3877056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178C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6112" y="20217384"/>
            <a:ext cx="3730752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8C6A"/>
                </a:solidFill>
                <a:latin typeface="Arial"/>
              </a:rPr>
              <a:t>Composition proxies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84064" y="20189952"/>
            <a:ext cx="3877056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178C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57216" y="20217384"/>
            <a:ext cx="3730752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8C6A"/>
                </a:solidFill>
                <a:latin typeface="Arial"/>
              </a:rPr>
              <a:t>Member genes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345168" y="20189952"/>
            <a:ext cx="3877056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178C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418320" y="20217384"/>
            <a:ext cx="3730752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8C6A"/>
                </a:solidFill>
                <a:latin typeface="Arial"/>
              </a:rPr>
              <a:t>Literature review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21104352"/>
            <a:ext cx="128473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33445D"/>
                </a:solidFill>
                <a:latin typeface="Arial"/>
              </a:rPr>
              <a:t>Complementary means an annotated Reactome program that adds a plausible perspective beyond the dominant phenotype in prior literature. De novo nodes were not retained in the final models.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4493240" y="4892040"/>
            <a:ext cx="14401800" cy="7360920"/>
          </a:xfrm>
          <a:prstGeom prst="rect">
            <a:avLst/>
          </a:prstGeom>
          <a:solidFill>
            <a:srgbClr val="DCE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4749272" y="5074920"/>
            <a:ext cx="13889736" cy="658368"/>
          </a:xfrm>
          <a:prstGeom prst="rect">
            <a:avLst/>
          </a:prstGeom>
          <a:solidFill>
            <a:srgbClr val="FFFFFF"/>
          </a:solidFill>
          <a:ln w="13970">
            <a:solidFill>
              <a:srgbClr val="AEBC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4886431" y="5093207"/>
            <a:ext cx="1361541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11111"/>
                </a:solidFill>
                <a:latin typeface="Arial"/>
              </a:rPr>
              <a:t>METHODS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4859000" y="5870448"/>
            <a:ext cx="136702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71C3F"/>
                </a:solidFill>
                <a:latin typeface="Arial"/>
              </a:rPr>
              <a:t>Pathway structure is wired into the decoder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179040" y="6300216"/>
            <a:ext cx="13030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697889"/>
                </a:solidFill>
                <a:latin typeface="Arial"/>
              </a:rPr>
              <a:t>Train a tissue reference, then map flight and ground samples into the same annotated program space.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5087600" y="6803136"/>
            <a:ext cx="3977639" cy="822960"/>
          </a:xfrm>
          <a:prstGeom prst="roundRect">
            <a:avLst>
              <a:gd name="adj" fmla="val 6000"/>
            </a:avLst>
          </a:prstGeom>
          <a:solidFill>
            <a:srgbClr val="E9F3F8"/>
          </a:solidFill>
          <a:ln w="17780">
            <a:solidFill>
              <a:srgbClr val="236D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071C3F"/>
                </a:solidFill>
                <a:latin typeface="Arial"/>
              </a:rPr>
              <a:t>ARCHS4 reference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697889"/>
                </a:solidFill>
                <a:latin typeface="Arial"/>
              </a:rPr>
              <a:t>tissue-matched non-spaceflight counts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9568160" y="6803136"/>
            <a:ext cx="3977639" cy="822960"/>
          </a:xfrm>
          <a:prstGeom prst="roundRect">
            <a:avLst>
              <a:gd name="adj" fmla="val 6000"/>
            </a:avLst>
          </a:prstGeom>
          <a:solidFill>
            <a:srgbClr val="E9F4EE"/>
          </a:solidFill>
          <a:ln w="17780">
            <a:solidFill>
              <a:srgbClr val="178C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071C3F"/>
                </a:solidFill>
                <a:latin typeface="Arial"/>
              </a:rPr>
              <a:t>Reactome mask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697889"/>
                </a:solidFill>
                <a:latin typeface="Arial"/>
              </a:rPr>
              <a:t>mouse gene-to-program memberships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4048720" y="6803136"/>
            <a:ext cx="3977639" cy="822960"/>
          </a:xfrm>
          <a:prstGeom prst="roundRect">
            <a:avLst>
              <a:gd name="adj" fmla="val 6000"/>
            </a:avLst>
          </a:prstGeom>
          <a:solidFill>
            <a:srgbClr val="FAEFE7"/>
          </a:solidFill>
          <a:ln w="17780">
            <a:solidFill>
              <a:srgbClr val="D97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071C3F"/>
                </a:solidFill>
                <a:latin typeface="Arial"/>
              </a:rPr>
              <a:t>NASA OSDR query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697889"/>
                </a:solidFill>
                <a:latin typeface="Arial"/>
              </a:rPr>
              <a:t>FLT and GC | accession conditioned</a:t>
            </a:r>
          </a:p>
        </p:txBody>
      </p:sp>
      <p:sp>
        <p:nvSpPr>
          <p:cNvPr id="55" name="Down Arrow 54"/>
          <p:cNvSpPr/>
          <p:nvPr/>
        </p:nvSpPr>
        <p:spPr>
          <a:xfrm>
            <a:off x="16916400" y="7662671"/>
            <a:ext cx="329184" cy="310896"/>
          </a:xfrm>
          <a:prstGeom prst="downArrow">
            <a:avLst/>
          </a:prstGeom>
          <a:solidFill>
            <a:srgbClr val="236D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Down Arrow 55"/>
          <p:cNvSpPr/>
          <p:nvPr/>
        </p:nvSpPr>
        <p:spPr>
          <a:xfrm>
            <a:off x="21396960" y="7662671"/>
            <a:ext cx="329184" cy="310896"/>
          </a:xfrm>
          <a:prstGeom prst="downArrow">
            <a:avLst/>
          </a:prstGeom>
          <a:solidFill>
            <a:srgbClr val="178C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Down Arrow 56"/>
          <p:cNvSpPr/>
          <p:nvPr/>
        </p:nvSpPr>
        <p:spPr>
          <a:xfrm>
            <a:off x="25877520" y="7662671"/>
            <a:ext cx="329184" cy="310896"/>
          </a:xfrm>
          <a:prstGeom prst="downArrow">
            <a:avLst/>
          </a:prstGeom>
          <a:solidFill>
            <a:srgbClr val="D9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5636240" y="8183879"/>
            <a:ext cx="256032" cy="256032"/>
          </a:xfrm>
          <a:prstGeom prst="ellipse">
            <a:avLst/>
          </a:prstGeom>
          <a:solidFill>
            <a:srgbClr val="A9B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5636240" y="8686800"/>
            <a:ext cx="256032" cy="256032"/>
          </a:xfrm>
          <a:prstGeom prst="ellipse">
            <a:avLst/>
          </a:prstGeom>
          <a:solidFill>
            <a:srgbClr val="A9B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5636240" y="9189719"/>
            <a:ext cx="256032" cy="256032"/>
          </a:xfrm>
          <a:prstGeom prst="ellipse">
            <a:avLst/>
          </a:prstGeom>
          <a:solidFill>
            <a:srgbClr val="A9B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5636240" y="9692640"/>
            <a:ext cx="256032" cy="256032"/>
          </a:xfrm>
          <a:prstGeom prst="ellipse">
            <a:avLst/>
          </a:prstGeom>
          <a:solidFill>
            <a:srgbClr val="A9B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5636240" y="10195559"/>
            <a:ext cx="256032" cy="256032"/>
          </a:xfrm>
          <a:prstGeom prst="ellipse">
            <a:avLst/>
          </a:prstGeom>
          <a:solidFill>
            <a:srgbClr val="A9B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rapezoid 62"/>
          <p:cNvSpPr/>
          <p:nvPr/>
        </p:nvSpPr>
        <p:spPr>
          <a:xfrm>
            <a:off x="16870680" y="8019288"/>
            <a:ext cx="1920240" cy="2606040"/>
          </a:xfrm>
          <a:prstGeom prst="trapezoid">
            <a:avLst/>
          </a:prstGeom>
          <a:solidFill>
            <a:srgbClr val="DCE6F2"/>
          </a:solidFill>
          <a:ln w="17780">
            <a:solidFill>
              <a:srgbClr val="236D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7108424" y="8750808"/>
            <a:ext cx="14173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071C3F"/>
                </a:solidFill>
                <a:latin typeface="Arial"/>
              </a:rPr>
              <a:t>dense
encoder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5892272" y="8311896"/>
            <a:ext cx="1207008" cy="1005840"/>
          </a:xfrm>
          <a:prstGeom prst="line">
            <a:avLst/>
          </a:prstGeom>
          <a:ln w="10160">
            <a:solidFill>
              <a:srgbClr val="A9B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15892272" y="8814816"/>
            <a:ext cx="1207008" cy="502920"/>
          </a:xfrm>
          <a:prstGeom prst="line">
            <a:avLst/>
          </a:prstGeom>
          <a:ln w="10160">
            <a:solidFill>
              <a:srgbClr val="A9B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5892272" y="9317736"/>
            <a:ext cx="1207008" cy="0"/>
          </a:xfrm>
          <a:prstGeom prst="line">
            <a:avLst/>
          </a:prstGeom>
          <a:ln w="10160">
            <a:solidFill>
              <a:srgbClr val="A9B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15892272" y="9317736"/>
            <a:ext cx="1207008" cy="502920"/>
          </a:xfrm>
          <a:prstGeom prst="line">
            <a:avLst/>
          </a:prstGeom>
          <a:ln w="10160">
            <a:solidFill>
              <a:srgbClr val="A9B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15892272" y="9317736"/>
            <a:ext cx="1207008" cy="1005840"/>
          </a:xfrm>
          <a:prstGeom prst="line">
            <a:avLst/>
          </a:prstGeom>
          <a:ln w="10160">
            <a:solidFill>
              <a:srgbClr val="A9B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18562320" y="8412480"/>
            <a:ext cx="1280160" cy="905256"/>
          </a:xfrm>
          <a:prstGeom prst="line">
            <a:avLst/>
          </a:prstGeom>
          <a:ln w="11430">
            <a:solidFill>
              <a:srgbClr val="A9B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Oval 70"/>
          <p:cNvSpPr/>
          <p:nvPr/>
        </p:nvSpPr>
        <p:spPr>
          <a:xfrm>
            <a:off x="19842480" y="8247888"/>
            <a:ext cx="329184" cy="329184"/>
          </a:xfrm>
          <a:prstGeom prst="ellipse">
            <a:avLst/>
          </a:prstGeom>
          <a:solidFill>
            <a:srgbClr val="6A4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0281392" y="8220456"/>
            <a:ext cx="17830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6A4C93"/>
                </a:solidFill>
                <a:latin typeface="Arial"/>
              </a:rPr>
              <a:t>DNA repair</a:t>
            </a:r>
          </a:p>
        </p:txBody>
      </p:sp>
      <p:cxnSp>
        <p:nvCxnSpPr>
          <p:cNvPr id="73" name="Connector 72"/>
          <p:cNvCxnSpPr/>
          <p:nvPr/>
        </p:nvCxnSpPr>
        <p:spPr>
          <a:xfrm flipV="1">
            <a:off x="18562320" y="9235440"/>
            <a:ext cx="1280160" cy="82296"/>
          </a:xfrm>
          <a:prstGeom prst="line">
            <a:avLst/>
          </a:prstGeom>
          <a:ln w="11430">
            <a:solidFill>
              <a:srgbClr val="A9B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/>
          <p:cNvSpPr/>
          <p:nvPr/>
        </p:nvSpPr>
        <p:spPr>
          <a:xfrm>
            <a:off x="19842480" y="9070848"/>
            <a:ext cx="329184" cy="329184"/>
          </a:xfrm>
          <a:prstGeom prst="ellipse">
            <a:avLst/>
          </a:prstGeom>
          <a:solidFill>
            <a:srgbClr val="A64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0281392" y="9043416"/>
            <a:ext cx="17830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A64D67"/>
                </a:solidFill>
                <a:latin typeface="Arial"/>
              </a:rPr>
              <a:t>T-cell signaling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18562320" y="9317736"/>
            <a:ext cx="1280160" cy="740664"/>
          </a:xfrm>
          <a:prstGeom prst="line">
            <a:avLst/>
          </a:prstGeom>
          <a:ln w="11430">
            <a:solidFill>
              <a:srgbClr val="A9B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/>
          <p:cNvSpPr/>
          <p:nvPr/>
        </p:nvSpPr>
        <p:spPr>
          <a:xfrm>
            <a:off x="19842480" y="9893808"/>
            <a:ext cx="329184" cy="329184"/>
          </a:xfrm>
          <a:prstGeom prst="ellipse">
            <a:avLst/>
          </a:prstGeom>
          <a:solidFill>
            <a:srgbClr val="C65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0281392" y="9866376"/>
            <a:ext cx="17830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65D37"/>
                </a:solidFill>
                <a:latin typeface="Arial"/>
              </a:rPr>
              <a:t>Cell junctions</a:t>
            </a:r>
          </a:p>
        </p:txBody>
      </p:sp>
      <p:sp>
        <p:nvSpPr>
          <p:cNvPr id="79" name="Oval 78"/>
          <p:cNvSpPr/>
          <p:nvPr/>
        </p:nvSpPr>
        <p:spPr>
          <a:xfrm>
            <a:off x="22357080" y="8110727"/>
            <a:ext cx="256032" cy="256032"/>
          </a:xfrm>
          <a:prstGeom prst="ellipse">
            <a:avLst/>
          </a:prstGeom>
          <a:solidFill>
            <a:srgbClr val="A9B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22357080" y="8705088"/>
            <a:ext cx="256032" cy="256032"/>
          </a:xfrm>
          <a:prstGeom prst="ellipse">
            <a:avLst/>
          </a:prstGeom>
          <a:solidFill>
            <a:srgbClr val="A9B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22357080" y="9299448"/>
            <a:ext cx="256032" cy="256032"/>
          </a:xfrm>
          <a:prstGeom prst="ellipse">
            <a:avLst/>
          </a:prstGeom>
          <a:solidFill>
            <a:srgbClr val="A9B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22357080" y="9893808"/>
            <a:ext cx="256032" cy="256032"/>
          </a:xfrm>
          <a:prstGeom prst="ellipse">
            <a:avLst/>
          </a:prstGeom>
          <a:solidFill>
            <a:srgbClr val="A9B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22357080" y="10488167"/>
            <a:ext cx="256032" cy="256032"/>
          </a:xfrm>
          <a:prstGeom prst="ellipse">
            <a:avLst/>
          </a:prstGeom>
          <a:solidFill>
            <a:srgbClr val="A9B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20171664" y="8238744"/>
            <a:ext cx="2185416" cy="173736"/>
          </a:xfrm>
          <a:prstGeom prst="line">
            <a:avLst/>
          </a:prstGeom>
          <a:ln w="15240">
            <a:solidFill>
              <a:srgbClr val="6A4C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20171664" y="8412480"/>
            <a:ext cx="2185416" cy="1014984"/>
          </a:xfrm>
          <a:prstGeom prst="line">
            <a:avLst/>
          </a:prstGeom>
          <a:ln w="15240">
            <a:solidFill>
              <a:srgbClr val="6A4C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20171664" y="8833104"/>
            <a:ext cx="2185416" cy="402336"/>
          </a:xfrm>
          <a:prstGeom prst="line">
            <a:avLst/>
          </a:prstGeom>
          <a:ln w="15240">
            <a:solidFill>
              <a:srgbClr val="A64D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20171664" y="9235440"/>
            <a:ext cx="2185416" cy="786384"/>
          </a:xfrm>
          <a:prstGeom prst="line">
            <a:avLst/>
          </a:prstGeom>
          <a:ln w="15240">
            <a:solidFill>
              <a:srgbClr val="A64D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20171664" y="9427464"/>
            <a:ext cx="2185416" cy="630936"/>
          </a:xfrm>
          <a:prstGeom prst="line">
            <a:avLst/>
          </a:prstGeom>
          <a:ln w="15240">
            <a:solidFill>
              <a:srgbClr val="C65D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20171664" y="10058400"/>
            <a:ext cx="2185416" cy="557784"/>
          </a:xfrm>
          <a:prstGeom prst="line">
            <a:avLst/>
          </a:prstGeom>
          <a:ln w="15240">
            <a:solidFill>
              <a:srgbClr val="C65D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15453360" y="10671048"/>
            <a:ext cx="65836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97889"/>
                </a:solidFill>
                <a:latin typeface="Arial"/>
              </a:rPr>
              <a:t>genes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9659600" y="10671048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97889"/>
                </a:solidFill>
                <a:latin typeface="Arial"/>
              </a:rPr>
              <a:t>annotated latent programs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1854160" y="10671048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97889"/>
                </a:solidFill>
                <a:latin typeface="Arial"/>
              </a:rPr>
              <a:t>masked decoder</a:t>
            </a:r>
          </a:p>
        </p:txBody>
      </p:sp>
      <p:sp>
        <p:nvSpPr>
          <p:cNvPr id="93" name="Right Arrow 92"/>
          <p:cNvSpPr/>
          <p:nvPr/>
        </p:nvSpPr>
        <p:spPr>
          <a:xfrm>
            <a:off x="22860000" y="9070848"/>
            <a:ext cx="987552" cy="384048"/>
          </a:xfrm>
          <a:prstGeom prst="rightArrow">
            <a:avLst/>
          </a:prstGeom>
          <a:solidFill>
            <a:srgbClr val="236D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24277320" y="8430768"/>
            <a:ext cx="3429000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0825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071C3F"/>
                </a:solidFill>
                <a:latin typeface="Arial"/>
              </a:rPr>
              <a:t>Program scores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697889"/>
                </a:solidFill>
                <a:latin typeface="Arial"/>
              </a:rPr>
              <a:t>posterior mean by sample</a:t>
            </a:r>
          </a:p>
        </p:txBody>
      </p:sp>
      <p:sp>
        <p:nvSpPr>
          <p:cNvPr id="95" name="Down Arrow 94"/>
          <p:cNvSpPr/>
          <p:nvPr/>
        </p:nvSpPr>
        <p:spPr>
          <a:xfrm>
            <a:off x="25831800" y="9436608"/>
            <a:ext cx="329184" cy="310896"/>
          </a:xfrm>
          <a:prstGeom prst="downArrow">
            <a:avLst/>
          </a:prstGeom>
          <a:solidFill>
            <a:srgbClr val="236D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24277320" y="9774936"/>
            <a:ext cx="3429000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236D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071C3F"/>
                </a:solidFill>
                <a:latin typeface="Arial"/>
              </a:rPr>
              <a:t>Project-balanced shift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697889"/>
                </a:solidFill>
                <a:latin typeface="Arial"/>
              </a:rPr>
              <a:t>mean FLT minus GC score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5087600" y="11475720"/>
            <a:ext cx="132130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97889"/>
                </a:solidFill>
                <a:latin typeface="Arial"/>
              </a:rPr>
              <a:t>approximately 2,000 HVGs | 319-387 retained Reactome programs | negative-binomial reference | 250-epoch query map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4493240" y="12527280"/>
            <a:ext cx="14401800" cy="10040112"/>
          </a:xfrm>
          <a:prstGeom prst="rect">
            <a:avLst/>
          </a:prstGeom>
          <a:solidFill>
            <a:srgbClr val="DCE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4749272" y="12710160"/>
            <a:ext cx="13889736" cy="658368"/>
          </a:xfrm>
          <a:prstGeom prst="rect">
            <a:avLst/>
          </a:prstGeom>
          <a:solidFill>
            <a:srgbClr val="FFFFFF"/>
          </a:solidFill>
          <a:ln w="13970">
            <a:solidFill>
              <a:srgbClr val="AEBC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4886431" y="12728448"/>
            <a:ext cx="1361541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Arial"/>
              </a:rPr>
              <a:t>RESULTS: CROSS-MISSION PATHWAY SHIFTS</a:t>
            </a:r>
          </a:p>
        </p:txBody>
      </p:sp>
      <p:pic>
        <p:nvPicPr>
          <p:cNvPr id="101" name="Retained pathway shifts" descr="Project-balanced expiMap pathway shifts for thymus, skin, liver, and spleen, with project effects and three-training ranges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48695" y="13560552"/>
            <a:ext cx="9290889" cy="8065008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15041880" y="21744432"/>
            <a:ext cx="13304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1">
                <a:solidFill>
                  <a:srgbClr val="697889"/>
                </a:solidFill>
                <a:latin typeface="Arial"/>
              </a:rPr>
              <a:t>Open circles are OSDR projects; colored ranges span three complete reference-query trainings. All displayed shifts are lower in flight; axes are tissue specific.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9215080" y="4892040"/>
            <a:ext cx="14356080" cy="12143232"/>
          </a:xfrm>
          <a:prstGeom prst="rect">
            <a:avLst/>
          </a:prstGeom>
          <a:solidFill>
            <a:srgbClr val="DCE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9471111" y="5074920"/>
            <a:ext cx="13844015" cy="658368"/>
          </a:xfrm>
          <a:prstGeom prst="rect">
            <a:avLst/>
          </a:prstGeom>
          <a:solidFill>
            <a:srgbClr val="FFFFFF"/>
          </a:solidFill>
          <a:ln w="13970">
            <a:solidFill>
              <a:srgbClr val="AEBC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9608271" y="5093207"/>
            <a:ext cx="1356969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Arial"/>
              </a:rPr>
              <a:t>RESULTS: BIOLOGICAL INTERPRETATION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672280" y="5870448"/>
            <a:ext cx="13441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36DA2"/>
                </a:solidFill>
                <a:latin typeface="Arial"/>
              </a:rPr>
              <a:t>Final robustness-filtered tissue stories</a:t>
            </a:r>
          </a:p>
        </p:txBody>
      </p:sp>
      <p:pic>
        <p:nvPicPr>
          <p:cNvPr id="107" name="Tissue-state hypotheses" descr="Observed lower expiMap program scores and qualified tissue-state hypotheses for thymus, skin, liver, and spleen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76671" y="6281928"/>
            <a:ext cx="11632896" cy="10259568"/>
          </a:xfrm>
          <a:prstGeom prst="rect">
            <a:avLst/>
          </a:prstGeom>
        </p:spPr>
      </p:pic>
      <p:sp>
        <p:nvSpPr>
          <p:cNvPr id="108" name="Rectangle 107"/>
          <p:cNvSpPr/>
          <p:nvPr/>
        </p:nvSpPr>
        <p:spPr>
          <a:xfrm>
            <a:off x="29215080" y="17309592"/>
            <a:ext cx="14356080" cy="3246120"/>
          </a:xfrm>
          <a:prstGeom prst="rect">
            <a:avLst/>
          </a:prstGeom>
          <a:solidFill>
            <a:srgbClr val="DCE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29471111" y="17492472"/>
            <a:ext cx="13844015" cy="658368"/>
          </a:xfrm>
          <a:prstGeom prst="rect">
            <a:avLst/>
          </a:prstGeom>
          <a:solidFill>
            <a:srgbClr val="FFFFFF"/>
          </a:solidFill>
          <a:ln w="13970">
            <a:solidFill>
              <a:srgbClr val="AEBC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29608271" y="17510760"/>
            <a:ext cx="1356969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11111"/>
                </a:solidFill>
                <a:latin typeface="Arial"/>
              </a:rPr>
              <a:t>CONCLUSIONS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9718000" y="18333720"/>
            <a:ext cx="13350240" cy="2057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>
                <a:solidFill>
                  <a:srgbClr val="33445D"/>
                </a:solidFill>
                <a:latin typeface="Arial"/>
              </a:rPr>
              <a:t>• Spleen was strongest: T-cell receptor, neutrophil degranulation, and C-type lectin receptor programs were lower across five projects and three trainings; all had GSEA FDR &lt;0.05.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>
                <a:solidFill>
                  <a:srgbClr val="33445D"/>
                </a:solidFill>
                <a:latin typeface="Arial"/>
              </a:rPr>
              <a:t>• Skin and thymus emphasized lower tissue-maintenance programs; liver added a lower adaptive-immune axis to heterogeneous metabolism.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>
                <a:solidFill>
                  <a:srgbClr val="33445D"/>
                </a:solidFill>
                <a:latin typeface="Arial"/>
              </a:rPr>
              <a:t>• Bulk latent scores are testable hypotheses, not causal or cell-type-resolved pathway activity.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215080" y="20802600"/>
            <a:ext cx="14356080" cy="1764792"/>
          </a:xfrm>
          <a:prstGeom prst="rect">
            <a:avLst/>
          </a:prstGeom>
          <a:solidFill>
            <a:srgbClr val="DCE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29471111" y="20985480"/>
            <a:ext cx="13844015" cy="658368"/>
          </a:xfrm>
          <a:prstGeom prst="rect">
            <a:avLst/>
          </a:prstGeom>
          <a:solidFill>
            <a:srgbClr val="FFFFFF"/>
          </a:solidFill>
          <a:ln w="13970">
            <a:solidFill>
              <a:srgbClr val="AEBC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29608271" y="21003768"/>
            <a:ext cx="1356969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11111"/>
                </a:solidFill>
                <a:latin typeface="Arial"/>
              </a:rPr>
              <a:t>REFERENCES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690568" y="21744432"/>
            <a:ext cx="1340510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3445D"/>
                </a:solidFill>
                <a:latin typeface="Arial"/>
              </a:rPr>
              <a:t>1 Gebre et al., NAR 2025 (OSDR). 2 Lotfollahi et al., Nat Cell Biol 2023 (expiMap). 3 Lachmann et al., Nat Commun 2018 (ARCHS4). 4 Milacic et al., NAR 2024 (Reactome). 5 Horie et al., Sci Rep 2019. 6 Cope et al., Commun Med 2024. 7 Beheshti et al., Sci Rep 2019. 8 Gridley et al., J Appl Physiol 2009.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4493240" y="22786848"/>
            <a:ext cx="28803600" cy="1901952"/>
          </a:xfrm>
          <a:prstGeom prst="rect">
            <a:avLst/>
          </a:prstGeom>
          <a:solidFill>
            <a:srgbClr val="DDE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4813280" y="2287828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697889"/>
                </a:solidFill>
                <a:latin typeface="Arial"/>
              </a:rPr>
              <a:t>Acknowledgements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813280" y="23335488"/>
            <a:ext cx="1883664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33445D"/>
                </a:solidFill>
                <a:latin typeface="Arial"/>
              </a:rPr>
              <a:t>Mentor: James Casaletto | NASA Space Life Sciences Training Program | NASA OSDR, ARCHS4, and Reactome investigators and curation teams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5890200" y="23152608"/>
            <a:ext cx="724204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82552"/>
                </a:solidFill>
                <a:latin typeface="Arial"/>
              </a:rPr>
              <a:t>jasontrinh@berkeley.edu
github.com/jasont314/nasa-mouse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40080" y="238658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97889"/>
                </a:solidFill>
                <a:latin typeface="Arial"/>
              </a:rPr>
              <a:t>www.nasa.gov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Cross-mission expiMap analysis recovers established tissue responses and identifies complementary pathway shifts in mouse spaceflight transcriptomes</dc:title>
  <dc:subject>Template-based cross-mission expiMap poster using NASA OSDR mouse RNA-seq</dc:subject>
  <dc:creator>Jason Trinh</dc:creator>
  <cp:keywords>spaceflight, expiMap, OSDR, ARCHS4, Reactome, transcriptomics, NASA</cp:keywords>
  <dc:description>Layout and NASA branding reference 00 Poster Session Student Template_Approved by Legal.pptx.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