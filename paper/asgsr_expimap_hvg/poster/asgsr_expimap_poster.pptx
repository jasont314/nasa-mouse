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43891200" cy="246888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3891200" cy="4617720"/>
          </a:xfrm>
          <a:prstGeom prst="rect">
            <a:avLst/>
          </a:prstGeom>
          <a:solidFill>
            <a:srgbClr val="DDEC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56032"/>
            <a:ext cx="16459200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latinLnBrk="0" ea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697889"/>
                </a:solidFill>
                <a:latin typeface="Arial"/>
              </a:rPr>
              <a:t>National Aeronautics and Space Administration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39136320" cy="74980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 latinLnBrk="0" ea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000" b="1" i="0">
                <a:solidFill>
                  <a:srgbClr val="111111"/>
                </a:solidFill>
                <a:latin typeface="Arial"/>
              </a:rPr>
              <a:t>Cross-mission expiMap analysis recovers established tissue responses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755648"/>
            <a:ext cx="39136320" cy="74980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 latinLnBrk="0" ea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000" b="1" i="0">
                <a:solidFill>
                  <a:srgbClr val="111111"/>
                </a:solidFill>
                <a:latin typeface="Arial"/>
              </a:rPr>
              <a:t>and identifies complementary pathway shifts in mouse spaceflight transcriptomes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3383280"/>
            <a:ext cx="37490400" cy="6583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 latinLnBrk="0" ea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697889"/>
                </a:solidFill>
                <a:latin typeface="Arial"/>
              </a:rPr>
              <a:t>Jason Trinh / University of California, Berkeley | NASA Space Life Sciences Training Program, NASA Ames Research Center</a:t>
            </a:r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416480" y="713232"/>
            <a:ext cx="2788920" cy="2318992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320040" y="4892040"/>
            <a:ext cx="13853160" cy="3456432"/>
          </a:xfrm>
          <a:prstGeom prst="rect">
            <a:avLst/>
          </a:prstGeom>
          <a:solidFill>
            <a:srgbClr val="DCEA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76072" y="5074920"/>
            <a:ext cx="13341096" cy="658368"/>
          </a:xfrm>
          <a:prstGeom prst="rect">
            <a:avLst/>
          </a:prstGeom>
          <a:solidFill>
            <a:srgbClr val="FFFFFF"/>
          </a:solidFill>
          <a:ln w="13970">
            <a:solidFill>
              <a:srgbClr val="AEBCC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13232" y="5093207"/>
            <a:ext cx="13066776" cy="60350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 latinLnBrk="0" ea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11111"/>
                </a:solidFill>
                <a:latin typeface="Arial"/>
              </a:rPr>
              <a:t>ABSTRACT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5925312"/>
            <a:ext cx="12938760" cy="2857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 latinLnBrk="0" ea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50" b="0" i="0">
                <a:solidFill>
                  <a:srgbClr val="33445D"/>
                </a:solidFill>
                <a:latin typeface="Arial"/>
              </a:rPr>
              <a:t>Mission differences can obscure spaceflight responses shared across studies.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6211062"/>
            <a:ext cx="12938760" cy="2857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 latinLnBrk="0" ea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50" b="0" i="0">
                <a:solidFill>
                  <a:srgbClr val="33445D"/>
                </a:solidFill>
                <a:latin typeface="Arial"/>
              </a:rPr>
              <a:t>We mapped NASA OSDR mouse bulk RNA sequencing samples to tissue-matched ARCHS4 references.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6496812"/>
            <a:ext cx="12938760" cy="2857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 latinLnBrk="0" ea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50" b="0" i="0">
                <a:solidFill>
                  <a:srgbClr val="33445D"/>
                </a:solidFill>
                <a:latin typeface="Arial"/>
              </a:rPr>
              <a:t>Reactome-constrained expiMap models analyzed about 2,000 highly variable genes.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6782562"/>
            <a:ext cx="12938760" cy="2857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 latinLnBrk="0" ea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50" b="0" i="0">
                <a:solidFill>
                  <a:srgbClr val="33445D"/>
                </a:solidFill>
                <a:latin typeface="Arial"/>
              </a:rPr>
              <a:t>Flight-ground shifts were balanced across projects and evaluated with gene-set enrichment,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7068312"/>
            <a:ext cx="12938760" cy="2857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 latinLnBrk="0" ea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50" b="0" i="0">
                <a:solidFill>
                  <a:srgbClr val="33445D"/>
                </a:solidFill>
                <a:latin typeface="Arial"/>
              </a:rPr>
              <a:t>project holdouts, three complete training runs, composition proxies, and member-gene review.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7354062"/>
            <a:ext cx="12938760" cy="2857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 latinLnBrk="0" ea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50" b="0" i="0">
                <a:solidFill>
                  <a:srgbClr val="33445D"/>
                </a:solidFill>
                <a:latin typeface="Arial"/>
              </a:rPr>
              <a:t>Literature review was performed after scoring. Retained programs were lower for thymic repair,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7639812"/>
            <a:ext cx="12938760" cy="2857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 latinLnBrk="0" ea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50" b="0" i="0">
                <a:solidFill>
                  <a:srgbClr val="33445D"/>
                </a:solidFill>
                <a:latin typeface="Arial"/>
              </a:rPr>
              <a:t>skin maintenance, liver adaptive immunity, and splenic adaptive and innate immunity.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7925562"/>
            <a:ext cx="12938760" cy="2857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 latinLnBrk="0" ea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50" b="0" i="0">
                <a:solidFill>
                  <a:srgbClr val="33445D"/>
                </a:solidFill>
                <a:latin typeface="Arial"/>
              </a:rPr>
              <a:t>Spleen showed the strongest result across multiple pathways.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20040" y="8622792"/>
            <a:ext cx="13853160" cy="13944600"/>
          </a:xfrm>
          <a:prstGeom prst="rect">
            <a:avLst/>
          </a:prstGeom>
          <a:solidFill>
            <a:srgbClr val="DCEA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76072" y="8805672"/>
            <a:ext cx="13341096" cy="658368"/>
          </a:xfrm>
          <a:prstGeom prst="rect">
            <a:avLst/>
          </a:prstGeom>
          <a:solidFill>
            <a:srgbClr val="FFFFFF"/>
          </a:solidFill>
          <a:ln w="13970">
            <a:solidFill>
              <a:srgbClr val="AEBCC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13232" y="8823960"/>
            <a:ext cx="13066776" cy="60350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 latinLnBrk="0" ea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11111"/>
                </a:solidFill>
                <a:latin typeface="Arial"/>
              </a:rPr>
              <a:t>INTRODUCTION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2960" y="9710928"/>
            <a:ext cx="128473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latinLnBrk="0" ea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9A6D1D"/>
                </a:solidFill>
                <a:latin typeface="Arial"/>
              </a:rPr>
              <a:t>PROJECT OBJECTIVE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2960" y="10104120"/>
            <a:ext cx="12847320" cy="10058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 latinLnBrk="0" ea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071C3F"/>
                </a:solidFill>
                <a:latin typeface="Arial"/>
              </a:rPr>
              <a:t>Identify gene programs that shift consistently across spaceflight missions.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2960" y="11247120"/>
            <a:ext cx="12847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latinLnBrk="0" ea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9A6D1D"/>
                </a:solidFill>
                <a:latin typeface="Arial"/>
              </a:rPr>
              <a:t>THE CENTRAL CHALLENGE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2960" y="11686032"/>
            <a:ext cx="2468880" cy="5486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 latinLnBrk="0" ea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071C3F"/>
                </a:solidFill>
                <a:latin typeface="Arial"/>
              </a:rPr>
              <a:t>Observed expression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429000" y="11686032"/>
            <a:ext cx="2514600" cy="548640"/>
          </a:xfrm>
          <a:prstGeom prst="roundRect">
            <a:avLst/>
          </a:prstGeom>
          <a:solidFill>
            <a:srgbClr val="D97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493008" y="11704320"/>
            <a:ext cx="2386584" cy="49377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 latinLnBrk="0" ea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 i="0">
                <a:solidFill>
                  <a:srgbClr val="FFFFFF"/>
                </a:solidFill>
                <a:latin typeface="Arial"/>
              </a:rPr>
              <a:t>Spaceflight biology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943600" y="11686032"/>
            <a:ext cx="347472" cy="5486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 latinLnBrk="0" ea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697889"/>
                </a:solidFill>
                <a:latin typeface="Arial"/>
              </a:rPr>
              <a:t>+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336792" y="11686032"/>
            <a:ext cx="2011680" cy="548640"/>
          </a:xfrm>
          <a:prstGeom prst="roundRect">
            <a:avLst/>
          </a:prstGeom>
          <a:solidFill>
            <a:srgbClr val="0825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00800" y="11704320"/>
            <a:ext cx="1883664" cy="49377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 latinLnBrk="0" ea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 i="0">
                <a:solidFill>
                  <a:srgbClr val="FFFFFF"/>
                </a:solidFill>
                <a:latin typeface="Arial"/>
              </a:rPr>
              <a:t>Tissue biology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348471" y="11686032"/>
            <a:ext cx="347472" cy="5486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 latinLnBrk="0" ea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697889"/>
                </a:solidFill>
                <a:latin typeface="Arial"/>
              </a:rPr>
              <a:t>+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741663" y="11686032"/>
            <a:ext cx="2148840" cy="548640"/>
          </a:xfrm>
          <a:prstGeom prst="roundRect">
            <a:avLst/>
          </a:prstGeom>
          <a:solidFill>
            <a:srgbClr val="6978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805672" y="11704320"/>
            <a:ext cx="2020824" cy="49377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 latinLnBrk="0" ea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 i="0">
                <a:solidFill>
                  <a:srgbClr val="FFFFFF"/>
                </a:solidFill>
                <a:latin typeface="Arial"/>
              </a:rPr>
              <a:t>Animal variation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890503" y="11686032"/>
            <a:ext cx="347472" cy="5486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 latinLnBrk="0" ea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697889"/>
                </a:solidFill>
                <a:latin typeface="Arial"/>
              </a:rPr>
              <a:t>+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11283695" y="11686032"/>
            <a:ext cx="2331720" cy="548640"/>
          </a:xfrm>
          <a:prstGeom prst="roundRect">
            <a:avLst/>
          </a:prstGeom>
          <a:solidFill>
            <a:srgbClr val="9A6D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1347703" y="11704320"/>
            <a:ext cx="2203703" cy="49377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 latinLnBrk="0" ea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 i="0">
                <a:solidFill>
                  <a:srgbClr val="FFFFFF"/>
                </a:solidFill>
                <a:latin typeface="Arial"/>
              </a:rPr>
              <a:t>Study / protocol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22960" y="12454128"/>
            <a:ext cx="12847320" cy="29260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 latinLnBrk="0" ea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 i="0">
                <a:solidFill>
                  <a:srgbClr val="33445D"/>
                </a:solidFill>
                <a:latin typeface="Arial"/>
              </a:rPr>
              <a:t>Study identity and protocol can dominate an unconstrained expression representation.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22960" y="12746736"/>
            <a:ext cx="12847320" cy="29260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 latinLnBrk="0" ea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 i="0">
                <a:solidFill>
                  <a:srgbClr val="33445D"/>
                </a:solidFill>
                <a:latin typeface="Arial"/>
              </a:rPr>
              <a:t>Tissue-matched reference mapping, accession conditioning, and equal project weighting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22960" y="13039344"/>
            <a:ext cx="12847320" cy="29260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 latinLnBrk="0" ea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 i="0">
                <a:solidFill>
                  <a:srgbClr val="33445D"/>
                </a:solidFill>
                <a:latin typeface="Arial"/>
              </a:rPr>
              <a:t>reduce this bias without claiming to remove all mission confounding.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22960" y="14008608"/>
            <a:ext cx="12847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latinLnBrk="0" ea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9A6D1D"/>
                </a:solidFill>
                <a:latin typeface="Arial"/>
              </a:rPr>
              <a:t>FINAL ANALYSIS SCOPE</a:t>
            </a:r>
          </a:p>
        </p:txBody>
      </p:sp>
      <p:graphicFrame>
        <p:nvGraphicFramePr>
          <p:cNvPr id="41" name="Table 40"/>
          <p:cNvGraphicFramePr>
            <a:graphicFrameLocks noGrp="1"/>
          </p:cNvGraphicFramePr>
          <p:nvPr/>
        </p:nvGraphicFramePr>
        <p:xfrm>
          <a:off x="822960" y="14474952"/>
          <a:ext cx="11978640" cy="3703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34640"/>
                <a:gridCol w="2514600"/>
                <a:gridCol w="2148840"/>
                <a:gridCol w="2057400"/>
                <a:gridCol w="2423160"/>
              </a:tblGrid>
              <a:tr h="740664">
                <a:tc>
                  <a:txBody>
                    <a:bodyPr wrap="none" anchor="ctr"/>
                    <a:lstStyle/>
                    <a:p>
                      <a:pPr algn="l" latinLnBrk="0" eaLnBrk="0" hangingPunct="0"/>
                      <a:r>
                        <a:rPr sz="1600" b="1">
                          <a:solidFill>
                            <a:srgbClr val="FFFFFF"/>
                          </a:solidFill>
                          <a:latin typeface="Arial"/>
                        </a:rPr>
                        <a:t>Tissue</a:t>
                      </a:r>
                    </a:p>
                  </a:txBody>
                  <a:tcPr marL="182880" marR="54864" marT="27432" marB="27432">
                    <a:solidFill>
                      <a:srgbClr val="082552"/>
                    </a:solidFill>
                  </a:tcPr>
                </a:tc>
                <a:tc>
                  <a:txBody>
                    <a:bodyPr wrap="none" anchor="ctr"/>
                    <a:lstStyle/>
                    <a:p>
                      <a:pPr algn="ctr" latinLnBrk="0" eaLnBrk="0" hangingPunct="0"/>
                      <a:r>
                        <a:rPr sz="1600" b="1">
                          <a:solidFill>
                            <a:srgbClr val="FFFFFF"/>
                          </a:solidFill>
                          <a:latin typeface="Arial"/>
                        </a:rPr>
                        <a:t>ARCHS4</a:t>
                      </a:r>
                    </a:p>
                  </a:txBody>
                  <a:tcPr marL="64008" marR="54864" marT="27432" marB="27432">
                    <a:solidFill>
                      <a:srgbClr val="082552"/>
                    </a:solidFill>
                  </a:tcPr>
                </a:tc>
                <a:tc>
                  <a:txBody>
                    <a:bodyPr wrap="none" anchor="ctr"/>
                    <a:lstStyle/>
                    <a:p>
                      <a:pPr algn="ctr" latinLnBrk="0" eaLnBrk="0" hangingPunct="0"/>
                      <a:r>
                        <a:rPr sz="1600" b="1">
                          <a:solidFill>
                            <a:srgbClr val="FFFFFF"/>
                          </a:solidFill>
                          <a:latin typeface="Arial"/>
                        </a:rPr>
                        <a:t>OSDR</a:t>
                      </a:r>
                    </a:p>
                  </a:txBody>
                  <a:tcPr marL="64008" marR="54864" marT="27432" marB="27432">
                    <a:solidFill>
                      <a:srgbClr val="082552"/>
                    </a:solidFill>
                  </a:tcPr>
                </a:tc>
                <a:tc>
                  <a:txBody>
                    <a:bodyPr wrap="none" anchor="ctr"/>
                    <a:lstStyle/>
                    <a:p>
                      <a:pPr algn="ctr" latinLnBrk="0" eaLnBrk="0" hangingPunct="0"/>
                      <a:r>
                        <a:rPr sz="1600" b="1">
                          <a:solidFill>
                            <a:srgbClr val="FFFFFF"/>
                          </a:solidFill>
                          <a:latin typeface="Arial"/>
                        </a:rPr>
                        <a:t>Projects</a:t>
                      </a:r>
                    </a:p>
                  </a:txBody>
                  <a:tcPr marL="64008" marR="54864" marT="27432" marB="27432">
                    <a:solidFill>
                      <a:srgbClr val="082552"/>
                    </a:solidFill>
                  </a:tcPr>
                </a:tc>
                <a:tc>
                  <a:txBody>
                    <a:bodyPr wrap="none" anchor="ctr"/>
                    <a:lstStyle/>
                    <a:p>
                      <a:pPr algn="ctr" latinLnBrk="0" eaLnBrk="0" hangingPunct="0"/>
                      <a:r>
                        <a:rPr sz="1600" b="1">
                          <a:solidFill>
                            <a:srgbClr val="FFFFFF"/>
                          </a:solidFill>
                          <a:latin typeface="Arial"/>
                        </a:rPr>
                        <a:t>Programs</a:t>
                      </a:r>
                    </a:p>
                  </a:txBody>
                  <a:tcPr marL="64008" marR="54864" marT="27432" marB="27432">
                    <a:solidFill>
                      <a:srgbClr val="082552"/>
                    </a:solidFill>
                  </a:tcPr>
                </a:tc>
              </a:tr>
              <a:tr h="740664">
                <a:tc>
                  <a:txBody>
                    <a:bodyPr wrap="none" anchor="ctr"/>
                    <a:lstStyle/>
                    <a:p>
                      <a:pPr algn="l" latinLnBrk="0" eaLnBrk="0" hangingPunct="0"/>
                      <a:r>
                        <a:rPr sz="1650" b="1">
                          <a:solidFill>
                            <a:srgbClr val="6A4C93"/>
                          </a:solidFill>
                          <a:latin typeface="Arial"/>
                        </a:rPr>
                        <a:t>Thymus</a:t>
                      </a:r>
                    </a:p>
                  </a:txBody>
                  <a:tcPr marL="182880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none" anchor="ctr"/>
                    <a:lstStyle/>
                    <a:p>
                      <a:pPr algn="ctr" latinLnBrk="0" eaLnBrk="0" hangingPunct="0"/>
                      <a:r>
                        <a:rPr sz="1650" b="0">
                          <a:solidFill>
                            <a:srgbClr val="33445D"/>
                          </a:solidFill>
                          <a:latin typeface="Arial"/>
                        </a:rPr>
                        <a:t>1,362</a:t>
                      </a:r>
                    </a:p>
                  </a:txBody>
                  <a:tcPr marL="64008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none" anchor="ctr"/>
                    <a:lstStyle/>
                    <a:p>
                      <a:pPr algn="ctr" latinLnBrk="0" eaLnBrk="0" hangingPunct="0"/>
                      <a:r>
                        <a:rPr sz="1650" b="0">
                          <a:solidFill>
                            <a:srgbClr val="33445D"/>
                          </a:solidFill>
                          <a:latin typeface="Arial"/>
                        </a:rPr>
                        <a:t>117</a:t>
                      </a:r>
                    </a:p>
                  </a:txBody>
                  <a:tcPr marL="64008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none" anchor="ctr"/>
                    <a:lstStyle/>
                    <a:p>
                      <a:pPr algn="ctr" latinLnBrk="0" eaLnBrk="0" hangingPunct="0"/>
                      <a:r>
                        <a:rPr sz="1650" b="0">
                          <a:solidFill>
                            <a:srgbClr val="33445D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64008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none" anchor="ctr"/>
                    <a:lstStyle/>
                    <a:p>
                      <a:pPr algn="ctr" latinLnBrk="0" eaLnBrk="0" hangingPunct="0"/>
                      <a:r>
                        <a:rPr sz="1650" b="0">
                          <a:solidFill>
                            <a:srgbClr val="33445D"/>
                          </a:solidFill>
                          <a:latin typeface="Arial"/>
                        </a:rPr>
                        <a:t>387</a:t>
                      </a:r>
                    </a:p>
                  </a:txBody>
                  <a:tcPr marL="64008" marR="54864" marT="27432" marB="27432">
                    <a:solidFill>
                      <a:srgbClr val="FFFFFF"/>
                    </a:solidFill>
                  </a:tcPr>
                </a:tc>
              </a:tr>
              <a:tr h="740664">
                <a:tc>
                  <a:txBody>
                    <a:bodyPr wrap="none" anchor="ctr"/>
                    <a:lstStyle/>
                    <a:p>
                      <a:pPr algn="l" latinLnBrk="0" eaLnBrk="0" hangingPunct="0"/>
                      <a:r>
                        <a:rPr sz="1650" b="1">
                          <a:solidFill>
                            <a:srgbClr val="C65D37"/>
                          </a:solidFill>
                          <a:latin typeface="Arial"/>
                        </a:rPr>
                        <a:t>Skin</a:t>
                      </a:r>
                    </a:p>
                  </a:txBody>
                  <a:tcPr marL="182880" marR="54864" marT="27432" marB="27432">
                    <a:solidFill>
                      <a:srgbClr val="EEF4F8"/>
                    </a:solidFill>
                  </a:tcPr>
                </a:tc>
                <a:tc>
                  <a:txBody>
                    <a:bodyPr wrap="none" anchor="ctr"/>
                    <a:lstStyle/>
                    <a:p>
                      <a:pPr algn="ctr" latinLnBrk="0" eaLnBrk="0" hangingPunct="0"/>
                      <a:r>
                        <a:rPr sz="1650" b="0">
                          <a:solidFill>
                            <a:srgbClr val="33445D"/>
                          </a:solidFill>
                          <a:latin typeface="Arial"/>
                        </a:rPr>
                        <a:t>2,593</a:t>
                      </a:r>
                    </a:p>
                  </a:txBody>
                  <a:tcPr marL="64008" marR="54864" marT="27432" marB="27432">
                    <a:solidFill>
                      <a:srgbClr val="EEF4F8"/>
                    </a:solidFill>
                  </a:tcPr>
                </a:tc>
                <a:tc>
                  <a:txBody>
                    <a:bodyPr wrap="none" anchor="ctr"/>
                    <a:lstStyle/>
                    <a:p>
                      <a:pPr algn="ctr" latinLnBrk="0" eaLnBrk="0" hangingPunct="0"/>
                      <a:r>
                        <a:rPr sz="1650" b="0">
                          <a:solidFill>
                            <a:srgbClr val="33445D"/>
                          </a:solidFill>
                          <a:latin typeface="Arial"/>
                        </a:rPr>
                        <a:t>151</a:t>
                      </a:r>
                    </a:p>
                  </a:txBody>
                  <a:tcPr marL="64008" marR="54864" marT="27432" marB="27432">
                    <a:solidFill>
                      <a:srgbClr val="EEF4F8"/>
                    </a:solidFill>
                  </a:tcPr>
                </a:tc>
                <a:tc>
                  <a:txBody>
                    <a:bodyPr wrap="none" anchor="ctr"/>
                    <a:lstStyle/>
                    <a:p>
                      <a:pPr algn="ctr" latinLnBrk="0" eaLnBrk="0" hangingPunct="0"/>
                      <a:r>
                        <a:rPr sz="1650" b="0">
                          <a:solidFill>
                            <a:srgbClr val="33445D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64008" marR="54864" marT="27432" marB="27432">
                    <a:solidFill>
                      <a:srgbClr val="EEF4F8"/>
                    </a:solidFill>
                  </a:tcPr>
                </a:tc>
                <a:tc>
                  <a:txBody>
                    <a:bodyPr wrap="none" anchor="ctr"/>
                    <a:lstStyle/>
                    <a:p>
                      <a:pPr algn="ctr" latinLnBrk="0" eaLnBrk="0" hangingPunct="0"/>
                      <a:r>
                        <a:rPr sz="1650" b="0">
                          <a:solidFill>
                            <a:srgbClr val="33445D"/>
                          </a:solidFill>
                          <a:latin typeface="Arial"/>
                        </a:rPr>
                        <a:t>319</a:t>
                      </a:r>
                    </a:p>
                  </a:txBody>
                  <a:tcPr marL="64008" marR="54864" marT="27432" marB="27432">
                    <a:solidFill>
                      <a:srgbClr val="EEF4F8"/>
                    </a:solidFill>
                  </a:tcPr>
                </a:tc>
              </a:tr>
              <a:tr h="740664">
                <a:tc>
                  <a:txBody>
                    <a:bodyPr wrap="none" anchor="ctr"/>
                    <a:lstStyle/>
                    <a:p>
                      <a:pPr algn="l" latinLnBrk="0" eaLnBrk="0" hangingPunct="0"/>
                      <a:r>
                        <a:rPr sz="1650" b="1">
                          <a:solidFill>
                            <a:srgbClr val="13877C"/>
                          </a:solidFill>
                          <a:latin typeface="Arial"/>
                        </a:rPr>
                        <a:t>Liver</a:t>
                      </a:r>
                    </a:p>
                  </a:txBody>
                  <a:tcPr marL="182880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none" anchor="ctr"/>
                    <a:lstStyle/>
                    <a:p>
                      <a:pPr algn="ctr" latinLnBrk="0" eaLnBrk="0" hangingPunct="0"/>
                      <a:r>
                        <a:rPr sz="1650" b="0">
                          <a:solidFill>
                            <a:srgbClr val="33445D"/>
                          </a:solidFill>
                          <a:latin typeface="Arial"/>
                        </a:rPr>
                        <a:t>5,000</a:t>
                      </a:r>
                    </a:p>
                  </a:txBody>
                  <a:tcPr marL="64008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none" anchor="ctr"/>
                    <a:lstStyle/>
                    <a:p>
                      <a:pPr algn="ctr" latinLnBrk="0" eaLnBrk="0" hangingPunct="0"/>
                      <a:r>
                        <a:rPr sz="1650" b="0">
                          <a:solidFill>
                            <a:srgbClr val="33445D"/>
                          </a:solidFill>
                          <a:latin typeface="Arial"/>
                        </a:rPr>
                        <a:t>197</a:t>
                      </a:r>
                    </a:p>
                  </a:txBody>
                  <a:tcPr marL="64008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none" anchor="ctr"/>
                    <a:lstStyle/>
                    <a:p>
                      <a:pPr algn="ctr" latinLnBrk="0" eaLnBrk="0" hangingPunct="0"/>
                      <a:r>
                        <a:rPr sz="1650" b="0">
                          <a:solidFill>
                            <a:srgbClr val="33445D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64008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none" anchor="ctr"/>
                    <a:lstStyle/>
                    <a:p>
                      <a:pPr algn="ctr" latinLnBrk="0" eaLnBrk="0" hangingPunct="0"/>
                      <a:r>
                        <a:rPr sz="1650" b="0">
                          <a:solidFill>
                            <a:srgbClr val="33445D"/>
                          </a:solidFill>
                          <a:latin typeface="Arial"/>
                        </a:rPr>
                        <a:t>364</a:t>
                      </a:r>
                    </a:p>
                  </a:txBody>
                  <a:tcPr marL="64008" marR="54864" marT="27432" marB="27432">
                    <a:solidFill>
                      <a:srgbClr val="FFFFFF"/>
                    </a:solidFill>
                  </a:tcPr>
                </a:tc>
              </a:tr>
              <a:tr h="740664">
                <a:tc>
                  <a:txBody>
                    <a:bodyPr wrap="none" anchor="ctr"/>
                    <a:lstStyle/>
                    <a:p>
                      <a:pPr algn="l" latinLnBrk="0" eaLnBrk="0" hangingPunct="0"/>
                      <a:r>
                        <a:rPr sz="1650" b="1">
                          <a:solidFill>
                            <a:srgbClr val="A64D67"/>
                          </a:solidFill>
                          <a:latin typeface="Arial"/>
                        </a:rPr>
                        <a:t>Spleen</a:t>
                      </a:r>
                    </a:p>
                  </a:txBody>
                  <a:tcPr marL="182880" marR="54864" marT="27432" marB="27432">
                    <a:solidFill>
                      <a:srgbClr val="EEF4F8"/>
                    </a:solidFill>
                  </a:tcPr>
                </a:tc>
                <a:tc>
                  <a:txBody>
                    <a:bodyPr wrap="none" anchor="ctr"/>
                    <a:lstStyle/>
                    <a:p>
                      <a:pPr algn="ctr" latinLnBrk="0" eaLnBrk="0" hangingPunct="0"/>
                      <a:r>
                        <a:rPr sz="1650" b="0">
                          <a:solidFill>
                            <a:srgbClr val="33445D"/>
                          </a:solidFill>
                          <a:latin typeface="Arial"/>
                        </a:rPr>
                        <a:t>6,289</a:t>
                      </a:r>
                    </a:p>
                  </a:txBody>
                  <a:tcPr marL="64008" marR="54864" marT="27432" marB="27432">
                    <a:solidFill>
                      <a:srgbClr val="EEF4F8"/>
                    </a:solidFill>
                  </a:tcPr>
                </a:tc>
                <a:tc>
                  <a:txBody>
                    <a:bodyPr wrap="none" anchor="ctr"/>
                    <a:lstStyle/>
                    <a:p>
                      <a:pPr algn="ctr" latinLnBrk="0" eaLnBrk="0" hangingPunct="0"/>
                      <a:r>
                        <a:rPr sz="1650" b="0">
                          <a:solidFill>
                            <a:srgbClr val="33445D"/>
                          </a:solidFill>
                          <a:latin typeface="Arial"/>
                        </a:rPr>
                        <a:t>100</a:t>
                      </a:r>
                    </a:p>
                  </a:txBody>
                  <a:tcPr marL="64008" marR="54864" marT="27432" marB="27432">
                    <a:solidFill>
                      <a:srgbClr val="EEF4F8"/>
                    </a:solidFill>
                  </a:tcPr>
                </a:tc>
                <a:tc>
                  <a:txBody>
                    <a:bodyPr wrap="none" anchor="ctr"/>
                    <a:lstStyle/>
                    <a:p>
                      <a:pPr algn="ctr" latinLnBrk="0" eaLnBrk="0" hangingPunct="0"/>
                      <a:r>
                        <a:rPr sz="1650" b="0">
                          <a:solidFill>
                            <a:srgbClr val="33445D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64008" marR="54864" marT="27432" marB="27432">
                    <a:solidFill>
                      <a:srgbClr val="EEF4F8"/>
                    </a:solidFill>
                  </a:tcPr>
                </a:tc>
                <a:tc>
                  <a:txBody>
                    <a:bodyPr wrap="none" anchor="ctr"/>
                    <a:lstStyle/>
                    <a:p>
                      <a:pPr algn="ctr" latinLnBrk="0" eaLnBrk="0" hangingPunct="0"/>
                      <a:r>
                        <a:rPr sz="1650" b="0">
                          <a:solidFill>
                            <a:srgbClr val="33445D"/>
                          </a:solidFill>
                          <a:latin typeface="Arial"/>
                        </a:rPr>
                        <a:t>360</a:t>
                      </a:r>
                    </a:p>
                  </a:txBody>
                  <a:tcPr marL="64008" marR="54864" marT="27432" marB="27432">
                    <a:solidFill>
                      <a:srgbClr val="EEF4F8"/>
                    </a:solidFill>
                  </a:tcPr>
                </a:tc>
              </a:tr>
            </a:tbl>
          </a:graphicData>
        </a:graphic>
      </p:graphicFrame>
      <p:sp>
        <p:nvSpPr>
          <p:cNvPr id="42" name="TextBox 41"/>
          <p:cNvSpPr txBox="1"/>
          <p:nvPr/>
        </p:nvSpPr>
        <p:spPr>
          <a:xfrm>
            <a:off x="822960" y="18260568"/>
            <a:ext cx="12847320" cy="25146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 latinLnBrk="0" ea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 i="1">
                <a:solidFill>
                  <a:srgbClr val="697889"/>
                </a:solidFill>
                <a:latin typeface="Arial"/>
              </a:rPr>
              <a:t>OSDR counts are primary analysis samples.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22960" y="18512027"/>
            <a:ext cx="12847320" cy="25146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 latinLnBrk="0" ea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 i="1">
                <a:solidFill>
                  <a:srgbClr val="697889"/>
                </a:solidFill>
                <a:latin typeface="Arial"/>
              </a:rPr>
              <a:t>Spleen excludes one condition-strain-confounded project.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22960" y="18882360"/>
            <a:ext cx="12847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latinLnBrk="0" ea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9A6D1D"/>
                </a:solidFill>
                <a:latin typeface="Arial"/>
              </a:rPr>
              <a:t>ROBUSTNESS GATE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822960" y="19366992"/>
            <a:ext cx="3877056" cy="65836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240">
            <a:solidFill>
              <a:srgbClr val="236D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896112" y="19394424"/>
            <a:ext cx="3730752" cy="57607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 latinLnBrk="0" ea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236DA2"/>
                </a:solidFill>
                <a:latin typeface="Arial"/>
              </a:rPr>
              <a:t>ssGSEA + GSEA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5084064" y="19366992"/>
            <a:ext cx="3877056" cy="65836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240">
            <a:solidFill>
              <a:srgbClr val="236D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5157216" y="19394424"/>
            <a:ext cx="3730752" cy="57607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 latinLnBrk="0" ea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236DA2"/>
                </a:solidFill>
                <a:latin typeface="Arial"/>
              </a:rPr>
              <a:t>Held-out projects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9345168" y="19366992"/>
            <a:ext cx="3877056" cy="65836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240">
            <a:solidFill>
              <a:srgbClr val="6A4C9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9418320" y="19394424"/>
            <a:ext cx="3730752" cy="57607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 latinLnBrk="0" ea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6A4C93"/>
                </a:solidFill>
                <a:latin typeface="Arial"/>
              </a:rPr>
              <a:t>3 full trainings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822960" y="20189952"/>
            <a:ext cx="3877056" cy="65836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240">
            <a:solidFill>
              <a:srgbClr val="178C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896112" y="20217384"/>
            <a:ext cx="3730752" cy="57607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 latinLnBrk="0" ea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178C6A"/>
                </a:solidFill>
                <a:latin typeface="Arial"/>
              </a:rPr>
              <a:t>Composition proxies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5084064" y="20189952"/>
            <a:ext cx="3877056" cy="65836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240">
            <a:solidFill>
              <a:srgbClr val="178C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5157216" y="20217384"/>
            <a:ext cx="3730752" cy="57607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 latinLnBrk="0" ea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178C6A"/>
                </a:solidFill>
                <a:latin typeface="Arial"/>
              </a:rPr>
              <a:t>Member genes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9345168" y="20189952"/>
            <a:ext cx="3877056" cy="65836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240">
            <a:solidFill>
              <a:srgbClr val="178C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9418320" y="20217384"/>
            <a:ext cx="3730752" cy="57607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 latinLnBrk="0" ea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178C6A"/>
                </a:solidFill>
                <a:latin typeface="Arial"/>
              </a:rPr>
              <a:t>Literature review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22960" y="21104352"/>
            <a:ext cx="12847320" cy="30175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 latinLnBrk="0" ea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50" b="0" i="0">
                <a:solidFill>
                  <a:srgbClr val="33445D"/>
                </a:solidFill>
                <a:latin typeface="Arial"/>
              </a:rPr>
              <a:t>Complementary programs add a plausible perspective beyond the dominant phenotype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22960" y="21406103"/>
            <a:ext cx="12847320" cy="30175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 latinLnBrk="0" ea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50" b="0" i="0">
                <a:solidFill>
                  <a:srgbClr val="33445D"/>
                </a:solidFill>
                <a:latin typeface="Arial"/>
              </a:rPr>
              <a:t>in prior literature. De novo nodes were not retained in the final models.</a:t>
            </a:r>
          </a:p>
        </p:txBody>
      </p:sp>
      <p:sp>
        <p:nvSpPr>
          <p:cNvPr id="59" name="Rectangle 58"/>
          <p:cNvSpPr/>
          <p:nvPr/>
        </p:nvSpPr>
        <p:spPr>
          <a:xfrm>
            <a:off x="14493240" y="4892040"/>
            <a:ext cx="14401800" cy="7360920"/>
          </a:xfrm>
          <a:prstGeom prst="rect">
            <a:avLst/>
          </a:prstGeom>
          <a:solidFill>
            <a:srgbClr val="DCEA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14749272" y="5074920"/>
            <a:ext cx="13889736" cy="658368"/>
          </a:xfrm>
          <a:prstGeom prst="rect">
            <a:avLst/>
          </a:prstGeom>
          <a:solidFill>
            <a:srgbClr val="FFFFFF"/>
          </a:solidFill>
          <a:ln w="13970">
            <a:solidFill>
              <a:srgbClr val="AEBCC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14886431" y="5093207"/>
            <a:ext cx="13615415" cy="60350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 latinLnBrk="0" ea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11111"/>
                </a:solidFill>
                <a:latin typeface="Arial"/>
              </a:rPr>
              <a:t>METHODS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4859000" y="5870448"/>
            <a:ext cx="13670280" cy="4572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 latinLnBrk="0" ea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071C3F"/>
                </a:solidFill>
                <a:latin typeface="Arial"/>
              </a:rPr>
              <a:t>Pathway structure is wired into the decoder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5179040" y="6345936"/>
            <a:ext cx="13030200" cy="42062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 latinLnBrk="0" ea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697889"/>
                </a:solidFill>
                <a:latin typeface="Arial"/>
              </a:rPr>
              <a:t>Train a tissue reference, then map flight and ground samples into the same annotated program space.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4996159" y="6812280"/>
            <a:ext cx="3657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latinLnBrk="0" ea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236DA2"/>
                </a:solidFill>
                <a:latin typeface="Arial"/>
              </a:rPr>
              <a:t>1  REFERENCE TRAINING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14996159" y="7196328"/>
            <a:ext cx="3246120" cy="1005840"/>
          </a:xfrm>
          <a:prstGeom prst="roundRect">
            <a:avLst>
              <a:gd name="adj" fmla="val 6000"/>
            </a:avLst>
          </a:prstGeom>
          <a:solidFill>
            <a:srgbClr val="E9F3F8"/>
          </a:solidFill>
          <a:ln w="17780">
            <a:solidFill>
              <a:srgbClr val="236D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bIns="36576"/>
          <a:lstStyle/>
          <a:p>
            <a:pPr algn="ctr" latinLnBrk="0" eaLnBrk="0" hangingPunct="0">
              <a:spcAft>
                <a:spcPts val="200"/>
              </a:spcAft>
            </a:pPr>
            <a:r>
              <a:rPr sz="1800" b="1">
                <a:solidFill>
                  <a:srgbClr val="071C3F"/>
                </a:solidFill>
                <a:latin typeface="Arial"/>
              </a:rPr>
              <a:t>ARCHS4 reference</a:t>
            </a:r>
          </a:p>
          <a:p>
            <a:pPr algn="ctr" latinLnBrk="0" eaLnBrk="0" hangingPunct="0">
              <a:spcBef>
                <a:spcPts val="0"/>
              </a:spcBef>
              <a:spcAft>
                <a:spcPts val="0"/>
              </a:spcAft>
            </a:pPr>
            <a:r>
              <a:rPr sz="1400">
                <a:solidFill>
                  <a:srgbClr val="697889"/>
                </a:solidFill>
                <a:latin typeface="Arial"/>
              </a:rPr>
              <a:t>non-spaceflight tissue counts</a:t>
            </a:r>
          </a:p>
        </p:txBody>
      </p:sp>
      <p:sp>
        <p:nvSpPr>
          <p:cNvPr id="66" name="Right Arrow 65"/>
          <p:cNvSpPr/>
          <p:nvPr/>
        </p:nvSpPr>
        <p:spPr>
          <a:xfrm>
            <a:off x="18406872" y="7507224"/>
            <a:ext cx="502920" cy="329184"/>
          </a:xfrm>
          <a:prstGeom prst="rightArrow">
            <a:avLst/>
          </a:prstGeom>
          <a:solidFill>
            <a:srgbClr val="236DA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ounded Rectangle 66"/>
          <p:cNvSpPr/>
          <p:nvPr/>
        </p:nvSpPr>
        <p:spPr>
          <a:xfrm>
            <a:off x="19019520" y="7040880"/>
            <a:ext cx="9326880" cy="24231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240">
            <a:solidFill>
              <a:srgbClr val="236D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19266408" y="7168896"/>
            <a:ext cx="4023360" cy="32918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 latinLnBrk="0" ea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50" b="1" i="0">
                <a:solidFill>
                  <a:srgbClr val="071C3F"/>
                </a:solidFill>
                <a:latin typeface="Arial"/>
              </a:rPr>
              <a:t>expiMap tissue model</a:t>
            </a:r>
          </a:p>
        </p:txBody>
      </p:sp>
      <p:sp>
        <p:nvSpPr>
          <p:cNvPr id="69" name="Oval 68"/>
          <p:cNvSpPr/>
          <p:nvPr/>
        </p:nvSpPr>
        <p:spPr>
          <a:xfrm>
            <a:off x="19385280" y="7744967"/>
            <a:ext cx="219456" cy="219456"/>
          </a:xfrm>
          <a:prstGeom prst="ellipse">
            <a:avLst/>
          </a:prstGeom>
          <a:solidFill>
            <a:srgbClr val="A9BB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Oval 69"/>
          <p:cNvSpPr/>
          <p:nvPr/>
        </p:nvSpPr>
        <p:spPr>
          <a:xfrm>
            <a:off x="19385280" y="8129015"/>
            <a:ext cx="219456" cy="219456"/>
          </a:xfrm>
          <a:prstGeom prst="ellipse">
            <a:avLst/>
          </a:prstGeom>
          <a:solidFill>
            <a:srgbClr val="A9BB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Oval 70"/>
          <p:cNvSpPr/>
          <p:nvPr/>
        </p:nvSpPr>
        <p:spPr>
          <a:xfrm>
            <a:off x="19385280" y="8513063"/>
            <a:ext cx="219456" cy="219456"/>
          </a:xfrm>
          <a:prstGeom prst="ellipse">
            <a:avLst/>
          </a:prstGeom>
          <a:solidFill>
            <a:srgbClr val="A9BB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Oval 71"/>
          <p:cNvSpPr/>
          <p:nvPr/>
        </p:nvSpPr>
        <p:spPr>
          <a:xfrm>
            <a:off x="19385280" y="8897111"/>
            <a:ext cx="219456" cy="219456"/>
          </a:xfrm>
          <a:prstGeom prst="ellipse">
            <a:avLst/>
          </a:prstGeom>
          <a:solidFill>
            <a:srgbClr val="A9BB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rapezoid 72"/>
          <p:cNvSpPr/>
          <p:nvPr/>
        </p:nvSpPr>
        <p:spPr>
          <a:xfrm rot="5400000">
            <a:off x="19869912" y="7626096"/>
            <a:ext cx="1353312" cy="1298448"/>
          </a:xfrm>
          <a:prstGeom prst="trapezoid">
            <a:avLst/>
          </a:prstGeom>
          <a:solidFill>
            <a:srgbClr val="DCE6F2"/>
          </a:solidFill>
          <a:ln w="17780">
            <a:solidFill>
              <a:srgbClr val="236D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19824192" y="8083296"/>
            <a:ext cx="1444752" cy="34747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 latinLnBrk="0" ea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071C3F"/>
                </a:solidFill>
                <a:latin typeface="Arial"/>
              </a:rPr>
              <a:t>Encoder</a:t>
            </a:r>
          </a:p>
        </p:txBody>
      </p:sp>
      <p:cxnSp>
        <p:nvCxnSpPr>
          <p:cNvPr id="75" name="Connector 74"/>
          <p:cNvCxnSpPr/>
          <p:nvPr/>
        </p:nvCxnSpPr>
        <p:spPr>
          <a:xfrm>
            <a:off x="19604735" y="7854695"/>
            <a:ext cx="301753" cy="420625"/>
          </a:xfrm>
          <a:prstGeom prst="line">
            <a:avLst/>
          </a:prstGeom>
          <a:ln w="10160">
            <a:solidFill>
              <a:srgbClr val="A9BB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Connector 75"/>
          <p:cNvCxnSpPr/>
          <p:nvPr/>
        </p:nvCxnSpPr>
        <p:spPr>
          <a:xfrm>
            <a:off x="19604735" y="8238743"/>
            <a:ext cx="301753" cy="36577"/>
          </a:xfrm>
          <a:prstGeom prst="line">
            <a:avLst/>
          </a:prstGeom>
          <a:ln w="10160">
            <a:solidFill>
              <a:srgbClr val="A9BB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Connector 76"/>
          <p:cNvCxnSpPr/>
          <p:nvPr/>
        </p:nvCxnSpPr>
        <p:spPr>
          <a:xfrm flipV="1">
            <a:off x="19604735" y="8275320"/>
            <a:ext cx="301753" cy="347471"/>
          </a:xfrm>
          <a:prstGeom prst="line">
            <a:avLst/>
          </a:prstGeom>
          <a:ln w="10160">
            <a:solidFill>
              <a:srgbClr val="A9BB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" name="Connector 77"/>
          <p:cNvCxnSpPr/>
          <p:nvPr/>
        </p:nvCxnSpPr>
        <p:spPr>
          <a:xfrm flipV="1">
            <a:off x="19604735" y="8275320"/>
            <a:ext cx="301753" cy="731519"/>
          </a:xfrm>
          <a:prstGeom prst="line">
            <a:avLst/>
          </a:prstGeom>
          <a:ln w="10160">
            <a:solidFill>
              <a:srgbClr val="A9BB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" name="Connector 78"/>
          <p:cNvCxnSpPr/>
          <p:nvPr/>
        </p:nvCxnSpPr>
        <p:spPr>
          <a:xfrm flipV="1">
            <a:off x="21186648" y="7799831"/>
            <a:ext cx="457200" cy="475489"/>
          </a:xfrm>
          <a:prstGeom prst="line">
            <a:avLst/>
          </a:prstGeom>
          <a:ln w="11430">
            <a:solidFill>
              <a:srgbClr val="A9BB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0" name="Oval 79"/>
          <p:cNvSpPr/>
          <p:nvPr/>
        </p:nvSpPr>
        <p:spPr>
          <a:xfrm>
            <a:off x="21643848" y="7653527"/>
            <a:ext cx="292608" cy="292608"/>
          </a:xfrm>
          <a:prstGeom prst="ellipse">
            <a:avLst/>
          </a:prstGeom>
          <a:solidFill>
            <a:srgbClr val="6A4C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ounded Rectangle 80"/>
          <p:cNvSpPr/>
          <p:nvPr/>
        </p:nvSpPr>
        <p:spPr>
          <a:xfrm>
            <a:off x="22009608" y="7635240"/>
            <a:ext cx="2029968" cy="329184"/>
          </a:xfrm>
          <a:prstGeom prst="roundRect">
            <a:avLst>
              <a:gd name="adj" fmla="val 8000"/>
            </a:avLst>
          </a:prstGeom>
          <a:solidFill>
            <a:srgbClr val="F8FAFC"/>
          </a:solidFill>
          <a:ln w="11430">
            <a:solidFill>
              <a:srgbClr val="6A4C9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22101048" y="7635240"/>
            <a:ext cx="1847088" cy="32918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 latinLnBrk="0" ea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 i="0">
                <a:solidFill>
                  <a:srgbClr val="6A4C93"/>
                </a:solidFill>
                <a:latin typeface="Arial"/>
              </a:rPr>
              <a:t>DNA repair</a:t>
            </a:r>
          </a:p>
        </p:txBody>
      </p:sp>
      <p:cxnSp>
        <p:nvCxnSpPr>
          <p:cNvPr id="83" name="Connector 82"/>
          <p:cNvCxnSpPr/>
          <p:nvPr/>
        </p:nvCxnSpPr>
        <p:spPr>
          <a:xfrm flipV="1">
            <a:off x="21186648" y="8238744"/>
            <a:ext cx="457200" cy="36576"/>
          </a:xfrm>
          <a:prstGeom prst="line">
            <a:avLst/>
          </a:prstGeom>
          <a:ln w="11430">
            <a:solidFill>
              <a:srgbClr val="A9BB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4" name="Oval 83"/>
          <p:cNvSpPr/>
          <p:nvPr/>
        </p:nvSpPr>
        <p:spPr>
          <a:xfrm>
            <a:off x="21643848" y="8092440"/>
            <a:ext cx="292608" cy="292608"/>
          </a:xfrm>
          <a:prstGeom prst="ellipse">
            <a:avLst/>
          </a:prstGeom>
          <a:solidFill>
            <a:srgbClr val="A64D6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ounded Rectangle 84"/>
          <p:cNvSpPr/>
          <p:nvPr/>
        </p:nvSpPr>
        <p:spPr>
          <a:xfrm>
            <a:off x="22009608" y="8074152"/>
            <a:ext cx="2029968" cy="329184"/>
          </a:xfrm>
          <a:prstGeom prst="roundRect">
            <a:avLst>
              <a:gd name="adj" fmla="val 8000"/>
            </a:avLst>
          </a:prstGeom>
          <a:solidFill>
            <a:srgbClr val="F8FAFC"/>
          </a:solidFill>
          <a:ln w="11430">
            <a:solidFill>
              <a:srgbClr val="A64D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22101048" y="8074152"/>
            <a:ext cx="1847088" cy="32918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 latinLnBrk="0" ea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 i="0">
                <a:solidFill>
                  <a:srgbClr val="A64D67"/>
                </a:solidFill>
                <a:latin typeface="Arial"/>
              </a:rPr>
              <a:t>T-cell signaling</a:t>
            </a:r>
          </a:p>
        </p:txBody>
      </p:sp>
      <p:cxnSp>
        <p:nvCxnSpPr>
          <p:cNvPr id="87" name="Connector 86"/>
          <p:cNvCxnSpPr/>
          <p:nvPr/>
        </p:nvCxnSpPr>
        <p:spPr>
          <a:xfrm>
            <a:off x="21186648" y="8275320"/>
            <a:ext cx="457200" cy="402336"/>
          </a:xfrm>
          <a:prstGeom prst="line">
            <a:avLst/>
          </a:prstGeom>
          <a:ln w="11430">
            <a:solidFill>
              <a:srgbClr val="A9BB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8" name="Oval 87"/>
          <p:cNvSpPr/>
          <p:nvPr/>
        </p:nvSpPr>
        <p:spPr>
          <a:xfrm>
            <a:off x="21643848" y="8531352"/>
            <a:ext cx="292608" cy="292608"/>
          </a:xfrm>
          <a:prstGeom prst="ellipse">
            <a:avLst/>
          </a:prstGeom>
          <a:solidFill>
            <a:srgbClr val="C65D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ounded Rectangle 88"/>
          <p:cNvSpPr/>
          <p:nvPr/>
        </p:nvSpPr>
        <p:spPr>
          <a:xfrm>
            <a:off x="22009608" y="8513064"/>
            <a:ext cx="2029968" cy="329184"/>
          </a:xfrm>
          <a:prstGeom prst="roundRect">
            <a:avLst>
              <a:gd name="adj" fmla="val 8000"/>
            </a:avLst>
          </a:prstGeom>
          <a:solidFill>
            <a:srgbClr val="F8FAFC"/>
          </a:solidFill>
          <a:ln w="11430">
            <a:solidFill>
              <a:srgbClr val="C65D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22101048" y="8513064"/>
            <a:ext cx="1847088" cy="32918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 latinLnBrk="0" ea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 i="0">
                <a:solidFill>
                  <a:srgbClr val="C65D37"/>
                </a:solidFill>
                <a:latin typeface="Arial"/>
              </a:rPr>
              <a:t>Cell junctions</a:t>
            </a:r>
          </a:p>
        </p:txBody>
      </p:sp>
      <p:cxnSp>
        <p:nvCxnSpPr>
          <p:cNvPr id="91" name="Connector 90"/>
          <p:cNvCxnSpPr/>
          <p:nvPr/>
        </p:nvCxnSpPr>
        <p:spPr>
          <a:xfrm>
            <a:off x="24039576" y="7799831"/>
            <a:ext cx="3209544" cy="36576"/>
          </a:xfrm>
          <a:prstGeom prst="line">
            <a:avLst/>
          </a:prstGeom>
          <a:ln w="15240">
            <a:solidFill>
              <a:srgbClr val="6A4C9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" name="Connector 91"/>
          <p:cNvCxnSpPr/>
          <p:nvPr/>
        </p:nvCxnSpPr>
        <p:spPr>
          <a:xfrm>
            <a:off x="24039576" y="7799831"/>
            <a:ext cx="3209544" cy="731520"/>
          </a:xfrm>
          <a:prstGeom prst="line">
            <a:avLst/>
          </a:prstGeom>
          <a:ln w="15240">
            <a:solidFill>
              <a:srgbClr val="6A4C9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3" name="Connector 92"/>
          <p:cNvCxnSpPr/>
          <p:nvPr/>
        </p:nvCxnSpPr>
        <p:spPr>
          <a:xfrm flipV="1">
            <a:off x="24039576" y="8183879"/>
            <a:ext cx="3209544" cy="54865"/>
          </a:xfrm>
          <a:prstGeom prst="line">
            <a:avLst/>
          </a:prstGeom>
          <a:ln w="15240">
            <a:solidFill>
              <a:srgbClr val="A64D6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4" name="Connector 93"/>
          <p:cNvCxnSpPr/>
          <p:nvPr/>
        </p:nvCxnSpPr>
        <p:spPr>
          <a:xfrm>
            <a:off x="24039576" y="8238744"/>
            <a:ext cx="3209544" cy="640080"/>
          </a:xfrm>
          <a:prstGeom prst="line">
            <a:avLst/>
          </a:prstGeom>
          <a:ln w="15240">
            <a:solidFill>
              <a:srgbClr val="A64D6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5" name="Connector 94"/>
          <p:cNvCxnSpPr/>
          <p:nvPr/>
        </p:nvCxnSpPr>
        <p:spPr>
          <a:xfrm flipV="1">
            <a:off x="24039576" y="8531351"/>
            <a:ext cx="3209544" cy="146305"/>
          </a:xfrm>
          <a:prstGeom prst="line">
            <a:avLst/>
          </a:prstGeom>
          <a:ln w="15240">
            <a:solidFill>
              <a:srgbClr val="C65D3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6" name="Connector 95"/>
          <p:cNvCxnSpPr/>
          <p:nvPr/>
        </p:nvCxnSpPr>
        <p:spPr>
          <a:xfrm>
            <a:off x="24039576" y="8677656"/>
            <a:ext cx="3209544" cy="201168"/>
          </a:xfrm>
          <a:prstGeom prst="line">
            <a:avLst/>
          </a:prstGeom>
          <a:ln w="15240">
            <a:solidFill>
              <a:srgbClr val="C65D3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7" name="Trapezoid 96"/>
          <p:cNvSpPr/>
          <p:nvPr/>
        </p:nvSpPr>
        <p:spPr>
          <a:xfrm rot="16200000">
            <a:off x="24533352" y="7626096"/>
            <a:ext cx="1353312" cy="1298448"/>
          </a:xfrm>
          <a:prstGeom prst="trapezoid">
            <a:avLst/>
          </a:prstGeom>
          <a:noFill/>
          <a:ln w="17780">
            <a:solidFill>
              <a:srgbClr val="178C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Rectangle 97"/>
          <p:cNvSpPr/>
          <p:nvPr/>
        </p:nvSpPr>
        <p:spPr>
          <a:xfrm>
            <a:off x="24780239" y="8092440"/>
            <a:ext cx="859536" cy="31089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24734519" y="8083296"/>
            <a:ext cx="950976" cy="34747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 latinLnBrk="0" ea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071C3F"/>
                </a:solidFill>
                <a:latin typeface="Arial"/>
              </a:rPr>
              <a:t>Decoder</a:t>
            </a:r>
          </a:p>
        </p:txBody>
      </p:sp>
      <p:sp>
        <p:nvSpPr>
          <p:cNvPr id="100" name="Oval 99"/>
          <p:cNvSpPr/>
          <p:nvPr/>
        </p:nvSpPr>
        <p:spPr>
          <a:xfrm>
            <a:off x="27249120" y="7726679"/>
            <a:ext cx="219456" cy="219456"/>
          </a:xfrm>
          <a:prstGeom prst="ellipse">
            <a:avLst/>
          </a:prstGeom>
          <a:solidFill>
            <a:srgbClr val="A9BB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Oval 100"/>
          <p:cNvSpPr/>
          <p:nvPr/>
        </p:nvSpPr>
        <p:spPr>
          <a:xfrm>
            <a:off x="27249120" y="8074152"/>
            <a:ext cx="219456" cy="219456"/>
          </a:xfrm>
          <a:prstGeom prst="ellipse">
            <a:avLst/>
          </a:prstGeom>
          <a:solidFill>
            <a:srgbClr val="A9BB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Oval 101"/>
          <p:cNvSpPr/>
          <p:nvPr/>
        </p:nvSpPr>
        <p:spPr>
          <a:xfrm>
            <a:off x="27249120" y="8421624"/>
            <a:ext cx="219456" cy="219456"/>
          </a:xfrm>
          <a:prstGeom prst="ellipse">
            <a:avLst/>
          </a:prstGeom>
          <a:solidFill>
            <a:srgbClr val="A9BB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Oval 102"/>
          <p:cNvSpPr/>
          <p:nvPr/>
        </p:nvSpPr>
        <p:spPr>
          <a:xfrm>
            <a:off x="27249120" y="8769096"/>
            <a:ext cx="219456" cy="219456"/>
          </a:xfrm>
          <a:prstGeom prst="ellipse">
            <a:avLst/>
          </a:prstGeom>
          <a:solidFill>
            <a:srgbClr val="A9BB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Rounded Rectangle 103"/>
          <p:cNvSpPr/>
          <p:nvPr/>
        </p:nvSpPr>
        <p:spPr>
          <a:xfrm>
            <a:off x="24112727" y="7168896"/>
            <a:ext cx="3456432" cy="530352"/>
          </a:xfrm>
          <a:prstGeom prst="roundRect">
            <a:avLst/>
          </a:prstGeom>
          <a:solidFill>
            <a:srgbClr val="E9F4EE"/>
          </a:solidFill>
          <a:ln w="13970">
            <a:solidFill>
              <a:srgbClr val="178C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24231600" y="7223760"/>
            <a:ext cx="3218688" cy="40233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 latinLnBrk="0" ea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20" b="1" i="0">
                <a:solidFill>
                  <a:srgbClr val="178C6A"/>
                </a:solidFill>
                <a:latin typeface="Arial"/>
              </a:rPr>
              <a:t>Reactome mask selects pathway-gene edges</a:t>
            </a:r>
          </a:p>
        </p:txBody>
      </p:sp>
      <p:sp>
        <p:nvSpPr>
          <p:cNvPr id="106" name="Down Arrow 105"/>
          <p:cNvSpPr/>
          <p:nvPr/>
        </p:nvSpPr>
        <p:spPr>
          <a:xfrm>
            <a:off x="25045415" y="7726679"/>
            <a:ext cx="329184" cy="310896"/>
          </a:xfrm>
          <a:prstGeom prst="downArrow">
            <a:avLst/>
          </a:prstGeom>
          <a:solidFill>
            <a:srgbClr val="178C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19220688" y="9052560"/>
            <a:ext cx="603504" cy="3200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 latinLnBrk="0" ea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697889"/>
                </a:solidFill>
                <a:latin typeface="Arial"/>
              </a:rPr>
              <a:t>genes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21598128" y="9052560"/>
            <a:ext cx="2423160" cy="3200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 latinLnBrk="0" ea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697889"/>
                </a:solidFill>
                <a:latin typeface="Arial"/>
              </a:rPr>
              <a:t>program scores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24368760" y="9052560"/>
            <a:ext cx="1682495" cy="3200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 latinLnBrk="0" ea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697889"/>
                </a:solidFill>
                <a:latin typeface="Arial"/>
              </a:rPr>
              <a:t>masked decoder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26609040" y="9052560"/>
            <a:ext cx="1508760" cy="3200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 latinLnBrk="0" ea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697889"/>
                </a:solidFill>
                <a:latin typeface="Arial"/>
              </a:rPr>
              <a:t>output genes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14996159" y="9601200"/>
            <a:ext cx="740664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latinLnBrk="0" ea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D97800"/>
                </a:solidFill>
                <a:latin typeface="Arial"/>
              </a:rPr>
              <a:t>2  QUERY MAPPING AND CROSS-MISSION COMPARISON</a:t>
            </a:r>
          </a:p>
        </p:txBody>
      </p:sp>
      <p:sp>
        <p:nvSpPr>
          <p:cNvPr id="112" name="Rounded Rectangle 111"/>
          <p:cNvSpPr/>
          <p:nvPr/>
        </p:nvSpPr>
        <p:spPr>
          <a:xfrm>
            <a:off x="14996159" y="9966960"/>
            <a:ext cx="2926080" cy="987552"/>
          </a:xfrm>
          <a:prstGeom prst="roundRect">
            <a:avLst>
              <a:gd name="adj" fmla="val 6000"/>
            </a:avLst>
          </a:prstGeom>
          <a:solidFill>
            <a:srgbClr val="FAEFE7"/>
          </a:solidFill>
          <a:ln w="17780">
            <a:solidFill>
              <a:srgbClr val="D97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bIns="36576"/>
          <a:lstStyle/>
          <a:p>
            <a:pPr algn="ctr" latinLnBrk="0" eaLnBrk="0" hangingPunct="0">
              <a:spcAft>
                <a:spcPts val="200"/>
              </a:spcAft>
            </a:pPr>
            <a:r>
              <a:rPr sz="1750" b="1">
                <a:solidFill>
                  <a:srgbClr val="071C3F"/>
                </a:solidFill>
                <a:latin typeface="Arial"/>
              </a:rPr>
              <a:t>NASA OSDR query</a:t>
            </a:r>
          </a:p>
          <a:p>
            <a:pPr algn="ctr" latinLnBrk="0" eaLnBrk="0" hangingPunct="0">
              <a:spcBef>
                <a:spcPts val="0"/>
              </a:spcBef>
              <a:spcAft>
                <a:spcPts val="0"/>
              </a:spcAft>
            </a:pPr>
            <a:r>
              <a:rPr sz="1400">
                <a:solidFill>
                  <a:srgbClr val="697889"/>
                </a:solidFill>
                <a:latin typeface="Arial"/>
              </a:rPr>
              <a:t>FLT, GC, and accession</a:t>
            </a:r>
          </a:p>
        </p:txBody>
      </p:sp>
      <p:sp>
        <p:nvSpPr>
          <p:cNvPr id="113" name="Right Arrow 112"/>
          <p:cNvSpPr/>
          <p:nvPr/>
        </p:nvSpPr>
        <p:spPr>
          <a:xfrm>
            <a:off x="18041112" y="10277856"/>
            <a:ext cx="411480" cy="329184"/>
          </a:xfrm>
          <a:prstGeom prst="rightArrow">
            <a:avLst/>
          </a:prstGeom>
          <a:solidFill>
            <a:srgbClr val="D97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Rounded Rectangle 113"/>
          <p:cNvSpPr/>
          <p:nvPr/>
        </p:nvSpPr>
        <p:spPr>
          <a:xfrm>
            <a:off x="18562320" y="9966960"/>
            <a:ext cx="2834640" cy="98755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7780">
            <a:solidFill>
              <a:srgbClr val="D97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bIns="36576"/>
          <a:lstStyle/>
          <a:p>
            <a:pPr algn="ctr" latinLnBrk="0" eaLnBrk="0" hangingPunct="0">
              <a:spcAft>
                <a:spcPts val="200"/>
              </a:spcAft>
            </a:pPr>
            <a:r>
              <a:rPr sz="1700" b="1">
                <a:solidFill>
                  <a:srgbClr val="071C3F"/>
                </a:solidFill>
                <a:latin typeface="Arial"/>
              </a:rPr>
              <a:t>Reference-query map</a:t>
            </a:r>
          </a:p>
          <a:p>
            <a:pPr algn="ctr" latinLnBrk="0" eaLnBrk="0" hangingPunct="0">
              <a:spcBef>
                <a:spcPts val="0"/>
              </a:spcBef>
              <a:spcAft>
                <a:spcPts val="0"/>
              </a:spcAft>
            </a:pPr>
            <a:r>
              <a:rPr sz="1400">
                <a:solidFill>
                  <a:srgbClr val="697889"/>
                </a:solidFill>
                <a:latin typeface="Arial"/>
              </a:rPr>
              <a:t>scArches adaptation</a:t>
            </a:r>
          </a:p>
        </p:txBody>
      </p:sp>
      <p:sp>
        <p:nvSpPr>
          <p:cNvPr id="115" name="Right Arrow 114"/>
          <p:cNvSpPr/>
          <p:nvPr/>
        </p:nvSpPr>
        <p:spPr>
          <a:xfrm>
            <a:off x="21515832" y="10277856"/>
            <a:ext cx="411480" cy="329184"/>
          </a:xfrm>
          <a:prstGeom prst="rightArrow">
            <a:avLst/>
          </a:prstGeom>
          <a:solidFill>
            <a:srgbClr val="236DA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Rounded Rectangle 115"/>
          <p:cNvSpPr/>
          <p:nvPr/>
        </p:nvSpPr>
        <p:spPr>
          <a:xfrm>
            <a:off x="22037040" y="9966960"/>
            <a:ext cx="2697480" cy="98755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7780">
            <a:solidFill>
              <a:srgbClr val="0825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bIns="36576"/>
          <a:lstStyle/>
          <a:p>
            <a:pPr algn="ctr" latinLnBrk="0" eaLnBrk="0" hangingPunct="0">
              <a:spcAft>
                <a:spcPts val="200"/>
              </a:spcAft>
            </a:pPr>
            <a:r>
              <a:rPr sz="1700" b="1">
                <a:solidFill>
                  <a:srgbClr val="071C3F"/>
                </a:solidFill>
                <a:latin typeface="Arial"/>
              </a:rPr>
              <a:t>Program scores</a:t>
            </a:r>
          </a:p>
          <a:p>
            <a:pPr algn="ctr" latinLnBrk="0" eaLnBrk="0" hangingPunct="0">
              <a:spcBef>
                <a:spcPts val="0"/>
              </a:spcBef>
              <a:spcAft>
                <a:spcPts val="0"/>
              </a:spcAft>
            </a:pPr>
            <a:r>
              <a:rPr sz="1400">
                <a:solidFill>
                  <a:srgbClr val="697889"/>
                </a:solidFill>
                <a:latin typeface="Arial"/>
              </a:rPr>
              <a:t>posterior mean per sample</a:t>
            </a:r>
          </a:p>
        </p:txBody>
      </p:sp>
      <p:sp>
        <p:nvSpPr>
          <p:cNvPr id="117" name="Right Arrow 116"/>
          <p:cNvSpPr/>
          <p:nvPr/>
        </p:nvSpPr>
        <p:spPr>
          <a:xfrm>
            <a:off x="24853392" y="10277856"/>
            <a:ext cx="365760" cy="329184"/>
          </a:xfrm>
          <a:prstGeom prst="rightArrow">
            <a:avLst/>
          </a:prstGeom>
          <a:solidFill>
            <a:srgbClr val="236DA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Rounded Rectangle 117"/>
          <p:cNvSpPr/>
          <p:nvPr/>
        </p:nvSpPr>
        <p:spPr>
          <a:xfrm>
            <a:off x="25328880" y="9966960"/>
            <a:ext cx="3017520" cy="98755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7780">
            <a:solidFill>
              <a:srgbClr val="236D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bIns="36576"/>
          <a:lstStyle/>
          <a:p>
            <a:pPr algn="ctr" latinLnBrk="0" eaLnBrk="0" hangingPunct="0">
              <a:spcAft>
                <a:spcPts val="200"/>
              </a:spcAft>
            </a:pPr>
            <a:r>
              <a:rPr sz="1650" b="1">
                <a:solidFill>
                  <a:srgbClr val="071C3F"/>
                </a:solidFill>
                <a:latin typeface="Arial"/>
              </a:rPr>
              <a:t>Project-balanced shift</a:t>
            </a:r>
          </a:p>
          <a:p>
            <a:pPr algn="ctr" latinLnBrk="0" eaLnBrk="0" hangingPunct="0">
              <a:spcBef>
                <a:spcPts val="0"/>
              </a:spcBef>
              <a:spcAft>
                <a:spcPts val="0"/>
              </a:spcAft>
            </a:pPr>
            <a:r>
              <a:rPr sz="1400">
                <a:solidFill>
                  <a:srgbClr val="697889"/>
                </a:solidFill>
                <a:latin typeface="Arial"/>
              </a:rPr>
              <a:t>equal-weight FLT - GC mean</a:t>
            </a:r>
          </a:p>
        </p:txBody>
      </p:sp>
      <p:sp>
        <p:nvSpPr>
          <p:cNvPr id="119" name="Down Arrow 118"/>
          <p:cNvSpPr/>
          <p:nvPr/>
        </p:nvSpPr>
        <p:spPr>
          <a:xfrm>
            <a:off x="26673048" y="10991088"/>
            <a:ext cx="329184" cy="310896"/>
          </a:xfrm>
          <a:prstGeom prst="downArrow">
            <a:avLst/>
          </a:prstGeom>
          <a:solidFill>
            <a:srgbClr val="178C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Rounded Rectangle 119"/>
          <p:cNvSpPr/>
          <p:nvPr/>
        </p:nvSpPr>
        <p:spPr>
          <a:xfrm>
            <a:off x="23180040" y="11301984"/>
            <a:ext cx="5166360" cy="566928"/>
          </a:xfrm>
          <a:prstGeom prst="roundRect">
            <a:avLst>
              <a:gd name="adj" fmla="val 6000"/>
            </a:avLst>
          </a:prstGeom>
          <a:solidFill>
            <a:srgbClr val="EBF5EF"/>
          </a:solidFill>
          <a:ln w="17780">
            <a:solidFill>
              <a:srgbClr val="178C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bIns="36576"/>
          <a:lstStyle/>
          <a:p>
            <a:pPr algn="ctr" latinLnBrk="0" eaLnBrk="0" hangingPunct="0">
              <a:spcAft>
                <a:spcPts val="200"/>
              </a:spcAft>
            </a:pPr>
            <a:r>
              <a:rPr sz="1550" b="1">
                <a:solidFill>
                  <a:srgbClr val="071C3F"/>
                </a:solidFill>
                <a:latin typeface="Arial"/>
              </a:rPr>
              <a:t>Post-score annotation</a:t>
            </a:r>
          </a:p>
          <a:p>
            <a:pPr algn="ctr" latinLnBrk="0" eaLnBrk="0" hangingPunct="0">
              <a:spcBef>
                <a:spcPts val="0"/>
              </a:spcBef>
              <a:spcAft>
                <a:spcPts val="0"/>
              </a:spcAft>
            </a:pPr>
            <a:r>
              <a:rPr sz="1350">
                <a:solidFill>
                  <a:srgbClr val="697889"/>
                </a:solidFill>
                <a:latin typeface="Arial"/>
              </a:rPr>
              <a:t>literature and mission-context role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15041880" y="11430000"/>
            <a:ext cx="7818120" cy="31089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 latinLnBrk="0" ea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697889"/>
                </a:solidFill>
                <a:latin typeface="Arial"/>
              </a:rPr>
              <a:t>~2,000 HVGs | 319-387 Reactome programs | 250-epoch query mapping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14493240" y="12527280"/>
            <a:ext cx="14401800" cy="10040112"/>
          </a:xfrm>
          <a:prstGeom prst="rect">
            <a:avLst/>
          </a:prstGeom>
          <a:solidFill>
            <a:srgbClr val="DCEA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Rectangle 122"/>
          <p:cNvSpPr/>
          <p:nvPr/>
        </p:nvSpPr>
        <p:spPr>
          <a:xfrm>
            <a:off x="14749272" y="12710160"/>
            <a:ext cx="13889736" cy="658368"/>
          </a:xfrm>
          <a:prstGeom prst="rect">
            <a:avLst/>
          </a:prstGeom>
          <a:solidFill>
            <a:srgbClr val="FFFFFF"/>
          </a:solidFill>
          <a:ln w="13970">
            <a:solidFill>
              <a:srgbClr val="AEBCC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TextBox 123"/>
          <p:cNvSpPr txBox="1"/>
          <p:nvPr/>
        </p:nvSpPr>
        <p:spPr>
          <a:xfrm>
            <a:off x="14886431" y="12728448"/>
            <a:ext cx="13615415" cy="60350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 latinLnBrk="0" ea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111111"/>
                </a:solidFill>
                <a:latin typeface="Arial"/>
              </a:rPr>
              <a:t>RESULTS: ALIGNED ANCHORS AND RETAINED PROGRAM SHIFTS</a:t>
            </a:r>
          </a:p>
        </p:txBody>
      </p:sp>
      <p:pic>
        <p:nvPicPr>
          <p:cNvPr id="125" name="Retained pathway shifts" descr="Literature-aligned anchors and retained expiMap pathway shifts for thymus, skin, liver, and spleen, with project effects and three-training ranges.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813280" y="13770356"/>
            <a:ext cx="13761720" cy="7645400"/>
          </a:xfrm>
          <a:prstGeom prst="rect">
            <a:avLst/>
          </a:prstGeom>
        </p:spPr>
      </p:pic>
      <p:sp>
        <p:nvSpPr>
          <p:cNvPr id="126" name="TextBox 125"/>
          <p:cNvSpPr txBox="1"/>
          <p:nvPr/>
        </p:nvSpPr>
        <p:spPr>
          <a:xfrm>
            <a:off x="15041880" y="21598128"/>
            <a:ext cx="13304520" cy="237744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 latinLnBrk="0" ea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 i="1">
                <a:solidFill>
                  <a:srgbClr val="697889"/>
                </a:solidFill>
                <a:latin typeface="Arial"/>
              </a:rPr>
              <a:t>Filled markers show 13 retained programs. Open diamonds are literature-aligned context only,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15041880" y="21835872"/>
            <a:ext cx="13304520" cy="237744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 latinLnBrk="0" ea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 i="1">
                <a:solidFill>
                  <a:srgbClr val="697889"/>
                </a:solidFill>
                <a:latin typeface="Arial"/>
              </a:rPr>
              <a:t>not retained findings; keratinization reversed in one of three trainings.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15041880" y="22073616"/>
            <a:ext cx="13304520" cy="237744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 latinLnBrk="0" ea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 i="1">
                <a:solidFill>
                  <a:srgbClr val="697889"/>
                </a:solidFill>
                <a:latin typeface="Arial"/>
              </a:rPr>
              <a:t>Colored ranges span three complete trainings; axes are tissue specific.</a:t>
            </a:r>
          </a:p>
        </p:txBody>
      </p:sp>
      <p:sp>
        <p:nvSpPr>
          <p:cNvPr id="129" name="Rectangle 128"/>
          <p:cNvSpPr/>
          <p:nvPr/>
        </p:nvSpPr>
        <p:spPr>
          <a:xfrm>
            <a:off x="29215080" y="4892040"/>
            <a:ext cx="14356080" cy="12143232"/>
          </a:xfrm>
          <a:prstGeom prst="rect">
            <a:avLst/>
          </a:prstGeom>
          <a:solidFill>
            <a:srgbClr val="DCEA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Rectangle 129"/>
          <p:cNvSpPr/>
          <p:nvPr/>
        </p:nvSpPr>
        <p:spPr>
          <a:xfrm>
            <a:off x="29471111" y="5074920"/>
            <a:ext cx="13844015" cy="658368"/>
          </a:xfrm>
          <a:prstGeom prst="rect">
            <a:avLst/>
          </a:prstGeom>
          <a:solidFill>
            <a:srgbClr val="FFFFFF"/>
          </a:solidFill>
          <a:ln w="13970">
            <a:solidFill>
              <a:srgbClr val="AEBCC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29608271" y="5093207"/>
            <a:ext cx="13569695" cy="60350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 latinLnBrk="0" ea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111111"/>
                </a:solidFill>
                <a:latin typeface="Arial"/>
              </a:rPr>
              <a:t>RESULTS: BIOLOGICAL INTERPRETATION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29672280" y="5870448"/>
            <a:ext cx="13441680" cy="38404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 latinLnBrk="0" ea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236DA2"/>
                </a:solidFill>
                <a:latin typeface="Arial"/>
              </a:rPr>
              <a:t>Prior evidence, observed shifts, and hypotheses to test</a:t>
            </a:r>
          </a:p>
        </p:txBody>
      </p:sp>
      <p:pic>
        <p:nvPicPr>
          <p:cNvPr id="133" name="Tissue-state hypotheses" descr="Prior-literature phenotypes, observed lower expiMap program scores, and complementary hypotheses for thymus, skin, liver, and spleen.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576671" y="6281928"/>
            <a:ext cx="11632896" cy="10259568"/>
          </a:xfrm>
          <a:prstGeom prst="rect">
            <a:avLst/>
          </a:prstGeom>
        </p:spPr>
      </p:pic>
      <p:sp>
        <p:nvSpPr>
          <p:cNvPr id="134" name="Rectangle 133"/>
          <p:cNvSpPr/>
          <p:nvPr/>
        </p:nvSpPr>
        <p:spPr>
          <a:xfrm>
            <a:off x="29215080" y="17309592"/>
            <a:ext cx="14356080" cy="3246120"/>
          </a:xfrm>
          <a:prstGeom prst="rect">
            <a:avLst/>
          </a:prstGeom>
          <a:solidFill>
            <a:srgbClr val="DCEA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Rectangle 134"/>
          <p:cNvSpPr/>
          <p:nvPr/>
        </p:nvSpPr>
        <p:spPr>
          <a:xfrm>
            <a:off x="29471111" y="17492472"/>
            <a:ext cx="13844015" cy="658368"/>
          </a:xfrm>
          <a:prstGeom prst="rect">
            <a:avLst/>
          </a:prstGeom>
          <a:solidFill>
            <a:srgbClr val="FFFFFF"/>
          </a:solidFill>
          <a:ln w="13970">
            <a:solidFill>
              <a:srgbClr val="AEBCC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TextBox 135"/>
          <p:cNvSpPr txBox="1"/>
          <p:nvPr/>
        </p:nvSpPr>
        <p:spPr>
          <a:xfrm>
            <a:off x="29608271" y="17510760"/>
            <a:ext cx="13569695" cy="60350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 latinLnBrk="0" ea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11111"/>
                </a:solidFill>
                <a:latin typeface="Arial"/>
              </a:rPr>
              <a:t>CONCLUSIONS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29718000" y="18306288"/>
            <a:ext cx="13350240" cy="310896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 latinLnBrk="0" ea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50" b="0" i="0">
                <a:solidFill>
                  <a:srgbClr val="33445D"/>
                </a:solidFill>
                <a:latin typeface="Arial"/>
              </a:rPr>
              <a:t>• Spleen was strongest: T cell receptor, neutrophil degranulation, and C‑type lectin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29718000" y="18617184"/>
            <a:ext cx="13350240" cy="310896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 latinLnBrk="0" ea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50" b="0" i="0">
                <a:solidFill>
                  <a:srgbClr val="33445D"/>
                </a:solidFill>
                <a:latin typeface="Arial"/>
              </a:rPr>
              <a:t>  receptor programs were lower across five projects and three trainings; all had GSEA FDR &lt;0.05.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29718000" y="19019520"/>
            <a:ext cx="13350240" cy="310896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 latinLnBrk="0" ea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50" b="0" i="0">
                <a:solidFill>
                  <a:srgbClr val="33445D"/>
                </a:solidFill>
                <a:latin typeface="Arial"/>
              </a:rPr>
              <a:t>• Skin and thymus emphasized lower tissue maintenance programs; liver showed lower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29718000" y="19330416"/>
            <a:ext cx="13350240" cy="310896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 latinLnBrk="0" ea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50" b="0" i="0">
                <a:solidFill>
                  <a:srgbClr val="33445D"/>
                </a:solidFill>
                <a:latin typeface="Arial"/>
              </a:rPr>
              <a:t>  adaptive immune signaling amid heterogeneous metabolism.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29718000" y="19659600"/>
            <a:ext cx="13350240" cy="265176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 latinLnBrk="0" ea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50" b="0" i="0">
                <a:solidFill>
                  <a:srgbClr val="33445D"/>
                </a:solidFill>
                <a:latin typeface="Arial"/>
              </a:rPr>
              <a:t>• Bulk latent scores are testable hypotheses, not causal or cell-resolved measures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29718000" y="19924776"/>
            <a:ext cx="13350240" cy="265176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 latinLnBrk="0" ea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50" b="0" i="0">
                <a:solidFill>
                  <a:srgbClr val="33445D"/>
                </a:solidFill>
                <a:latin typeface="Arial"/>
              </a:rPr>
              <a:t>  of pathway activity.</a:t>
            </a:r>
          </a:p>
        </p:txBody>
      </p:sp>
      <p:sp>
        <p:nvSpPr>
          <p:cNvPr id="143" name="Rectangle 142"/>
          <p:cNvSpPr/>
          <p:nvPr/>
        </p:nvSpPr>
        <p:spPr>
          <a:xfrm>
            <a:off x="29215080" y="20802600"/>
            <a:ext cx="14356080" cy="1764792"/>
          </a:xfrm>
          <a:prstGeom prst="rect">
            <a:avLst/>
          </a:prstGeom>
          <a:solidFill>
            <a:srgbClr val="DCEA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Rectangle 143"/>
          <p:cNvSpPr/>
          <p:nvPr/>
        </p:nvSpPr>
        <p:spPr>
          <a:xfrm>
            <a:off x="29471111" y="20985480"/>
            <a:ext cx="13844015" cy="658368"/>
          </a:xfrm>
          <a:prstGeom prst="rect">
            <a:avLst/>
          </a:prstGeom>
          <a:solidFill>
            <a:srgbClr val="FFFFFF"/>
          </a:solidFill>
          <a:ln w="13970">
            <a:solidFill>
              <a:srgbClr val="AEBCC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TextBox 144"/>
          <p:cNvSpPr txBox="1"/>
          <p:nvPr/>
        </p:nvSpPr>
        <p:spPr>
          <a:xfrm>
            <a:off x="29608271" y="21003768"/>
            <a:ext cx="13569695" cy="60350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 latinLnBrk="0" ea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111111"/>
                </a:solidFill>
                <a:latin typeface="Arial"/>
              </a:rPr>
              <a:t>REFERENCES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29690568" y="21744432"/>
            <a:ext cx="13405104" cy="17830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 latinLnBrk="0" ea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33445D"/>
                </a:solidFill>
                <a:latin typeface="Arial"/>
              </a:rPr>
              <a:t>1 Gebre et al., NAR 2025 (OSDR). 2 Lotfollahi et al., Nat Cell Biol 2023 (expiMap).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29690568" y="21922740"/>
            <a:ext cx="13405104" cy="17830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 latinLnBrk="0" ea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33445D"/>
                </a:solidFill>
                <a:latin typeface="Arial"/>
              </a:rPr>
              <a:t>3 Lachmann et al., Nat Commun 2018 (ARCHS4). 4 Milacic et al., NAR 2024 (Reactome).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9690568" y="22101048"/>
            <a:ext cx="13405104" cy="17830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 latinLnBrk="0" ea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33445D"/>
                </a:solidFill>
                <a:latin typeface="Arial"/>
              </a:rPr>
              <a:t>5 Horie et al., Sci Rep 2019. 6 Cope et al., Commun Med 2024.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9690568" y="22279356"/>
            <a:ext cx="13405104" cy="17830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 latinLnBrk="0" ea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33445D"/>
                </a:solidFill>
                <a:latin typeface="Arial"/>
              </a:rPr>
              <a:t>7 Beheshti et al., Sci Rep 2019. 8 Gridley et al., J Appl Physiol 2009.</a:t>
            </a:r>
          </a:p>
        </p:txBody>
      </p:sp>
      <p:sp>
        <p:nvSpPr>
          <p:cNvPr id="150" name="Rectangle 149"/>
          <p:cNvSpPr/>
          <p:nvPr/>
        </p:nvSpPr>
        <p:spPr>
          <a:xfrm>
            <a:off x="14493240" y="22786848"/>
            <a:ext cx="28803600" cy="1901952"/>
          </a:xfrm>
          <a:prstGeom prst="rect">
            <a:avLst/>
          </a:prstGeom>
          <a:solidFill>
            <a:srgbClr val="DDEC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TextBox 150"/>
          <p:cNvSpPr txBox="1"/>
          <p:nvPr/>
        </p:nvSpPr>
        <p:spPr>
          <a:xfrm>
            <a:off x="14813280" y="22878288"/>
            <a:ext cx="45720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latinLnBrk="0" ea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697889"/>
                </a:solidFill>
                <a:latin typeface="Arial"/>
              </a:rPr>
              <a:t>Acknowledgements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14813280" y="23335488"/>
            <a:ext cx="18836640" cy="30175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 latinLnBrk="0" ea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33445D"/>
                </a:solidFill>
                <a:latin typeface="Arial"/>
              </a:rPr>
              <a:t>Mentor: James Casaletto | NASA Space Life Sciences Training Program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14813280" y="23637239"/>
            <a:ext cx="18836640" cy="30175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 latinLnBrk="0" ea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33445D"/>
                </a:solidFill>
                <a:latin typeface="Arial"/>
              </a:rPr>
              <a:t>NASA OSDR, ARCHS4, and Reactome investigators and curation teams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35890200" y="23152608"/>
            <a:ext cx="7242048" cy="8229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 latinLnBrk="0" ea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082552"/>
                </a:solidFill>
                <a:latin typeface="Arial"/>
              </a:rPr>
              <a:t>jasontrinh@berkeley.edu
github.com/jasont314/nasa-mouse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40080" y="23865840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latinLnBrk="0" ea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697889"/>
                </a:solidFill>
                <a:latin typeface="Arial"/>
              </a:rPr>
              <a:t>www.nasa.gov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Cross-mission expiMap analysis recovers established tissue responses and identifies complementary pathway shifts in mouse spaceflight transcriptomes</dc:title>
  <dc:subject>Template-based cross-mission expiMap poster using NASA OSDR mouse RNA-seq</dc:subject>
  <dc:creator>Jason Trinh</dc:creator>
  <cp:keywords>spaceflight, expiMap, OSDR, ARCHS4, Reactome, transcriptomics, NASA</cp:keywords>
  <dc:description>Layout and NASA branding reference 00 Poster Session Student Template_Approved by Legal.pptx.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