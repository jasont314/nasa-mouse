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4617720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164592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National Aeronautics and 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Cross-mission expiMap analysis recovers established tissue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39136320" cy="7498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000" b="1" i="0">
                <a:solidFill>
                  <a:srgbClr val="111111"/>
                </a:solidFill>
                <a:latin typeface="Arial"/>
              </a:rPr>
              <a:t>and identifies complementary pathway shifts in mouse spaceflight transcriptomes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37490400" cy="6583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697889"/>
                </a:solidFill>
                <a:latin typeface="Arial"/>
              </a:rPr>
              <a:t>Jason Trinh / University of California, Berkeley | NASA Space Life Sciences Training Program, NASA Ames Research Center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0" y="713232"/>
            <a:ext cx="2788920" cy="23189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20040" y="4892040"/>
            <a:ext cx="13853160" cy="34564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5074920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093207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925312"/>
            <a:ext cx="12938760" cy="2834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Mission differences can obscure spaceflight responses shared across studies. We mapped NASA OSDR mouse bulk RNA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08776"/>
            <a:ext cx="12938760" cy="2834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sequencing samples to tissue-matched ARCHS4 references. Reactome-constrained expiMap models analyzed about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92240"/>
            <a:ext cx="12938760" cy="2834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2,000 highly variable genes. Flight-ground shifts were balanced across projects and evaluated with gene-set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775704"/>
            <a:ext cx="12938760" cy="2834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enrichment, project holdouts, three complete training runs, composition proxies, and member-gene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7059168"/>
            <a:ext cx="12938760" cy="2834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Literature review followed scoring. Retained programs were lower for thymic repair, skin maintenance, liver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7342632"/>
            <a:ext cx="12938760" cy="28346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50" b="0" i="0">
                <a:solidFill>
                  <a:srgbClr val="33445D"/>
                </a:solidFill>
                <a:latin typeface="Arial"/>
              </a:rPr>
              <a:t>adaptive immunity, and splenic adaptive and innate immunity. Spleen showed the strongest multi-pathway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8622792"/>
            <a:ext cx="13853160" cy="1394460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" y="8805672"/>
            <a:ext cx="1334109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8823960"/>
            <a:ext cx="13066776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INTRODUCTION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9710928"/>
            <a:ext cx="1284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PROJECT 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0104120"/>
            <a:ext cx="128473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71C3F"/>
                </a:solidFill>
                <a:latin typeface="Arial"/>
              </a:rPr>
              <a:t>Identify gene programs that shift consistently across spaceflight missions.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124712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THE CENTRAL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1686032"/>
            <a:ext cx="246888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71C3F"/>
                </a:solidFill>
                <a:latin typeface="Arial"/>
              </a:rPr>
              <a:t>Observed expression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11686032"/>
            <a:ext cx="2514600" cy="548640"/>
          </a:xfrm>
          <a:prstGeom prst="roundRect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3008" y="11704320"/>
            <a:ext cx="238658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Spaceflight biology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36792" y="11686032"/>
            <a:ext cx="2011680" cy="548640"/>
          </a:xfrm>
          <a:prstGeom prst="roundRect">
            <a:avLst/>
          </a:prstGeom>
          <a:solidFill>
            <a:srgbClr val="082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1704320"/>
            <a:ext cx="188366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Tissue biology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1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41663" y="11686032"/>
            <a:ext cx="2148840" cy="548640"/>
          </a:xfrm>
          <a:prstGeom prst="roundRect">
            <a:avLst/>
          </a:prstGeom>
          <a:solidFill>
            <a:srgbClr val="6978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05672" y="11704320"/>
            <a:ext cx="2020824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Animal variation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90503" y="11686032"/>
            <a:ext cx="34747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+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283695" y="11686032"/>
            <a:ext cx="2331720" cy="548640"/>
          </a:xfrm>
          <a:prstGeom prst="roundRect">
            <a:avLst/>
          </a:prstGeom>
          <a:solidFill>
            <a:srgbClr val="9A6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47703" y="11704320"/>
            <a:ext cx="2203703" cy="49377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FFFFF"/>
                </a:solidFill>
                <a:latin typeface="Arial"/>
              </a:rPr>
              <a:t>Study / protocol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12454128"/>
            <a:ext cx="1284732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Study identity and protocol can dominate an unconstrained expression representation. Tissue-matched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12746736"/>
            <a:ext cx="1284732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reference mapping, accession conditioning, and equal project weighting reduce this bias without claiming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13039344"/>
            <a:ext cx="12847320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33445D"/>
                </a:solidFill>
                <a:latin typeface="Arial"/>
              </a:rPr>
              <a:t>to remove all mission confounding.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14008608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FINAL ANALYSIS SCOPE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822960" y="14474952"/>
          <a:ext cx="11978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514600"/>
                <a:gridCol w="2148840"/>
                <a:gridCol w="2057400"/>
                <a:gridCol w="2423160"/>
              </a:tblGrid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Tissue</a:t>
                      </a:r>
                    </a:p>
                  </a:txBody>
                  <a:tcPr marL="182880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ARCHS4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OSDR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Projects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Programs</a:t>
                      </a:r>
                    </a:p>
                  </a:txBody>
                  <a:tcPr marL="64008" marR="54864" marT="27432" marB="27432">
                    <a:solidFill>
                      <a:srgbClr val="082552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6A4C93"/>
                          </a:solidFill>
                          <a:latin typeface="Arial"/>
                        </a:rPr>
                        <a:t>Thymus</a:t>
                      </a:r>
                    </a:p>
                  </a:txBody>
                  <a:tcPr marL="18288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1,362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C65D37"/>
                          </a:solidFill>
                          <a:latin typeface="Arial"/>
                        </a:rPr>
                        <a:t>Skin</a:t>
                      </a:r>
                    </a:p>
                  </a:txBody>
                  <a:tcPr marL="182880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2,593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13877C"/>
                          </a:solidFill>
                          <a:latin typeface="Arial"/>
                        </a:rPr>
                        <a:t>Liver</a:t>
                      </a:r>
                    </a:p>
                  </a:txBody>
                  <a:tcPr marL="182880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5,000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64008" marR="54864" marT="27432" marB="27432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 wrap="none" anchor="ctr"/>
                    <a:lstStyle/>
                    <a:p>
                      <a:pPr algn="l" latinLnBrk="0" eaLnBrk="0" hangingPunct="0"/>
                      <a:r>
                        <a:rPr sz="1650" b="1">
                          <a:solidFill>
                            <a:srgbClr val="A64D67"/>
                          </a:solidFill>
                          <a:latin typeface="Arial"/>
                        </a:rPr>
                        <a:t>Spleen</a:t>
                      </a:r>
                    </a:p>
                  </a:txBody>
                  <a:tcPr marL="182880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6,289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ctr" latinLnBrk="0" eaLnBrk="0" hangingPunct="0"/>
                      <a:r>
                        <a:rPr sz="1650" b="0">
                          <a:solidFill>
                            <a:srgbClr val="33445D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64008" marR="54864" marT="27432" marB="27432"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822960" y="18260568"/>
            <a:ext cx="12847320" cy="27432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OSDR counts are primary analysis samples. Spleen excludes one condition-strain-confounded project.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18882360"/>
            <a:ext cx="12847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9A6D1D"/>
                </a:solidFill>
                <a:latin typeface="Arial"/>
              </a:rPr>
              <a:t>ROBUSTNESS GATE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6112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ssGSEA + GSEA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84064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57216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Held-out projects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45168" y="1936699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0" y="1939442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6A4C93"/>
                </a:solidFill>
                <a:latin typeface="Arial"/>
              </a:rPr>
              <a:t>3 full trainings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22960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Composition proxies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57216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Member genes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345168" y="20189952"/>
            <a:ext cx="3877056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18320" y="20217384"/>
            <a:ext cx="3730752" cy="5760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8C6A"/>
                </a:solidFill>
                <a:latin typeface="Arial"/>
              </a:rPr>
              <a:t>Literature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21104352"/>
            <a:ext cx="128473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Complementary programs add a plausible perspective beyond the dominant phenotype in prior literature. De novo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21360384"/>
            <a:ext cx="128473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45D"/>
                </a:solidFill>
                <a:latin typeface="Arial"/>
              </a:rPr>
              <a:t>nodes were not retained in the final models.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493240" y="4892040"/>
            <a:ext cx="14401800" cy="73609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749272" y="507492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4886431" y="5093207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METHODS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859000" y="5870448"/>
            <a:ext cx="1367028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71C3F"/>
                </a:solidFill>
                <a:latin typeface="Arial"/>
              </a:rPr>
              <a:t>Pathway structure is wired into the decoder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179040" y="6345936"/>
            <a:ext cx="13030200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697889"/>
                </a:solidFill>
                <a:latin typeface="Arial"/>
              </a:rPr>
              <a:t>Train a tissue reference, then map flight and ground samples into the same annotated program space.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996159" y="6812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36DA2"/>
                </a:solidFill>
                <a:latin typeface="Arial"/>
              </a:rPr>
              <a:t>1  REFERENCE TRAINING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996159" y="7196328"/>
            <a:ext cx="3246120" cy="1005840"/>
          </a:xfrm>
          <a:prstGeom prst="roundRect">
            <a:avLst>
              <a:gd name="adj" fmla="val 6000"/>
            </a:avLst>
          </a:prstGeom>
          <a:solidFill>
            <a:srgbClr val="E9F3F8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800" b="1">
                <a:solidFill>
                  <a:srgbClr val="071C3F"/>
                </a:solidFill>
                <a:latin typeface="Arial"/>
              </a:rPr>
              <a:t>ARCHS4 reference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non-spaceflight tissue counts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18406872" y="7507224"/>
            <a:ext cx="50292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9019520" y="7040880"/>
            <a:ext cx="932688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266408" y="7168896"/>
            <a:ext cx="402336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071C3F"/>
                </a:solidFill>
                <a:latin typeface="Arial"/>
              </a:rPr>
              <a:t>expiMap tissue model</a:t>
            </a:r>
          </a:p>
        </p:txBody>
      </p:sp>
      <p:sp>
        <p:nvSpPr>
          <p:cNvPr id="66" name="Oval 65"/>
          <p:cNvSpPr/>
          <p:nvPr/>
        </p:nvSpPr>
        <p:spPr>
          <a:xfrm>
            <a:off x="19385280" y="7744967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385280" y="8129015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9385280" y="8513063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9385280" y="8897111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rapezoid 69"/>
          <p:cNvSpPr/>
          <p:nvPr/>
        </p:nvSpPr>
        <p:spPr>
          <a:xfrm rot="5400000">
            <a:off x="19869912" y="7626096"/>
            <a:ext cx="1353312" cy="1298448"/>
          </a:xfrm>
          <a:prstGeom prst="trapezoid">
            <a:avLst/>
          </a:prstGeom>
          <a:solidFill>
            <a:srgbClr val="DCE6F2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9824192" y="8083296"/>
            <a:ext cx="1444752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71C3F"/>
                </a:solidFill>
                <a:latin typeface="Arial"/>
              </a:rPr>
              <a:t>Encoder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9604735" y="7854695"/>
            <a:ext cx="301753" cy="420625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604735" y="8238743"/>
            <a:ext cx="301753" cy="36577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9604735" y="8275320"/>
            <a:ext cx="301753" cy="347471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9604735" y="8275320"/>
            <a:ext cx="301753" cy="731519"/>
          </a:xfrm>
          <a:prstGeom prst="line">
            <a:avLst/>
          </a:prstGeom>
          <a:ln w="1016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21186648" y="7799831"/>
            <a:ext cx="457200" cy="475489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/>
          <p:cNvSpPr/>
          <p:nvPr/>
        </p:nvSpPr>
        <p:spPr>
          <a:xfrm>
            <a:off x="21643848" y="7653527"/>
            <a:ext cx="292608" cy="292608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009608" y="7635240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6A4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2101048" y="7635240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6A4C93"/>
                </a:solidFill>
                <a:latin typeface="Arial"/>
              </a:rPr>
              <a:t>DNA repair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21186648" y="8238744"/>
            <a:ext cx="457200" cy="3657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21643848" y="8092440"/>
            <a:ext cx="292608" cy="292608"/>
          </a:xfrm>
          <a:prstGeom prst="ellipse">
            <a:avLst/>
          </a:prstGeom>
          <a:solidFill>
            <a:srgbClr val="A64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2009608" y="8074152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A64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2101048" y="8074152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A64D67"/>
                </a:solidFill>
                <a:latin typeface="Arial"/>
              </a:rPr>
              <a:t>T-cell signaling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1186648" y="8275320"/>
            <a:ext cx="457200" cy="402336"/>
          </a:xfrm>
          <a:prstGeom prst="line">
            <a:avLst/>
          </a:prstGeom>
          <a:ln w="11430">
            <a:solidFill>
              <a:srgbClr val="A9B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643848" y="8531352"/>
            <a:ext cx="292608" cy="292608"/>
          </a:xfrm>
          <a:prstGeom prst="ellipse">
            <a:avLst/>
          </a:prstGeom>
          <a:solidFill>
            <a:srgbClr val="C65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22009608" y="8513064"/>
            <a:ext cx="2029968" cy="329184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C65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2101048" y="8513064"/>
            <a:ext cx="1847088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C65D37"/>
                </a:solidFill>
                <a:latin typeface="Arial"/>
              </a:rPr>
              <a:t>Cell junctions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039576" y="7799831"/>
            <a:ext cx="3209544" cy="36576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039576" y="7799831"/>
            <a:ext cx="3209544" cy="731520"/>
          </a:xfrm>
          <a:prstGeom prst="line">
            <a:avLst/>
          </a:prstGeom>
          <a:ln w="15240">
            <a:solidFill>
              <a:srgbClr val="6A4C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24039576" y="8183879"/>
            <a:ext cx="3209544" cy="54865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24039576" y="8238744"/>
            <a:ext cx="3209544" cy="640080"/>
          </a:xfrm>
          <a:prstGeom prst="line">
            <a:avLst/>
          </a:prstGeom>
          <a:ln w="15240">
            <a:solidFill>
              <a:srgbClr val="A64D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24039576" y="8531351"/>
            <a:ext cx="3209544" cy="146305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24039576" y="8677656"/>
            <a:ext cx="3209544" cy="201168"/>
          </a:xfrm>
          <a:prstGeom prst="line">
            <a:avLst/>
          </a:prstGeom>
          <a:ln w="15240">
            <a:solidFill>
              <a:srgbClr val="C65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rapezoid 93"/>
          <p:cNvSpPr/>
          <p:nvPr/>
        </p:nvSpPr>
        <p:spPr>
          <a:xfrm rot="16200000">
            <a:off x="24533352" y="7626096"/>
            <a:ext cx="1353312" cy="1298448"/>
          </a:xfrm>
          <a:prstGeom prst="trapezoid">
            <a:avLst/>
          </a:prstGeom>
          <a:noFill/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4780239" y="8092440"/>
            <a:ext cx="859536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4734519" y="8083296"/>
            <a:ext cx="950976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71C3F"/>
                </a:solidFill>
                <a:latin typeface="Arial"/>
              </a:rPr>
              <a:t>Decoder</a:t>
            </a:r>
          </a:p>
        </p:txBody>
      </p:sp>
      <p:sp>
        <p:nvSpPr>
          <p:cNvPr id="97" name="Oval 96"/>
          <p:cNvSpPr/>
          <p:nvPr/>
        </p:nvSpPr>
        <p:spPr>
          <a:xfrm>
            <a:off x="27249120" y="7726679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7249120" y="8074152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7249120" y="8421624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7249120" y="8769096"/>
            <a:ext cx="219456" cy="219456"/>
          </a:xfrm>
          <a:prstGeom prst="ellipse">
            <a:avLst/>
          </a:prstGeom>
          <a:solidFill>
            <a:srgbClr val="A9B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24112727" y="7168896"/>
            <a:ext cx="3456432" cy="530352"/>
          </a:xfrm>
          <a:prstGeom prst="roundRect">
            <a:avLst/>
          </a:prstGeom>
          <a:solidFill>
            <a:srgbClr val="E9F4EE"/>
          </a:solidFill>
          <a:ln w="1397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4231600" y="7223760"/>
            <a:ext cx="3218688" cy="4023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78C6A"/>
                </a:solidFill>
                <a:latin typeface="Arial"/>
              </a:rPr>
              <a:t>Reactome mask selects pathway-gene edges</a:t>
            </a:r>
          </a:p>
        </p:txBody>
      </p:sp>
      <p:sp>
        <p:nvSpPr>
          <p:cNvPr id="103" name="Down Arrow 102"/>
          <p:cNvSpPr/>
          <p:nvPr/>
        </p:nvSpPr>
        <p:spPr>
          <a:xfrm>
            <a:off x="25045415" y="7726679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9220688" y="9052560"/>
            <a:ext cx="6035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genes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598128" y="9052560"/>
            <a:ext cx="24231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program scores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4368760" y="9052560"/>
            <a:ext cx="1682495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masked decoder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6609040" y="9052560"/>
            <a:ext cx="150876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output genes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996159" y="9601200"/>
            <a:ext cx="7406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97800"/>
                </a:solidFill>
                <a:latin typeface="Arial"/>
              </a:rPr>
              <a:t>2  QUERY MAPPING AND CROSS-MISSION COMPARISON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4996159" y="9966960"/>
            <a:ext cx="2926080" cy="987552"/>
          </a:xfrm>
          <a:prstGeom prst="roundRect">
            <a:avLst>
              <a:gd name="adj" fmla="val 6000"/>
            </a:avLst>
          </a:prstGeom>
          <a:solidFill>
            <a:srgbClr val="FAEFE7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750" b="1">
                <a:solidFill>
                  <a:srgbClr val="071C3F"/>
                </a:solidFill>
                <a:latin typeface="Arial"/>
              </a:rPr>
              <a:t>NASA OSDR query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FLT, GC, and accession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18041112" y="10277856"/>
            <a:ext cx="411480" cy="329184"/>
          </a:xfrm>
          <a:prstGeom prst="rightArrow">
            <a:avLst/>
          </a:prstGeom>
          <a:solidFill>
            <a:srgbClr val="D97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18562320" y="9966960"/>
            <a:ext cx="283464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Reference-query map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scArches adaptation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21515832" y="10277856"/>
            <a:ext cx="41148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22037040" y="9966960"/>
            <a:ext cx="269748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2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700" b="1">
                <a:solidFill>
                  <a:srgbClr val="071C3F"/>
                </a:solidFill>
                <a:latin typeface="Arial"/>
              </a:rPr>
              <a:t>Program scores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posterior mean per sample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24853392" y="10277856"/>
            <a:ext cx="365760" cy="329184"/>
          </a:xfrm>
          <a:prstGeom prst="rightArrow">
            <a:avLst/>
          </a:prstGeom>
          <a:solidFill>
            <a:srgbClr val="236D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25328880" y="9966960"/>
            <a:ext cx="3017520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36D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650" b="1">
                <a:solidFill>
                  <a:srgbClr val="071C3F"/>
                </a:solidFill>
                <a:latin typeface="Arial"/>
              </a:rPr>
              <a:t>Project-balanced shift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697889"/>
                </a:solidFill>
                <a:latin typeface="Arial"/>
              </a:rPr>
              <a:t>equal-weight FLT - GC mean</a:t>
            </a:r>
          </a:p>
        </p:txBody>
      </p:sp>
      <p:sp>
        <p:nvSpPr>
          <p:cNvPr id="116" name="Down Arrow 115"/>
          <p:cNvSpPr/>
          <p:nvPr/>
        </p:nvSpPr>
        <p:spPr>
          <a:xfrm>
            <a:off x="26673048" y="10991088"/>
            <a:ext cx="329184" cy="310896"/>
          </a:xfrm>
          <a:prstGeom prst="downArrow">
            <a:avLst/>
          </a:prstGeom>
          <a:solidFill>
            <a:srgbClr val="178C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23180040" y="11301984"/>
            <a:ext cx="5166360" cy="566928"/>
          </a:xfrm>
          <a:prstGeom prst="roundRect">
            <a:avLst>
              <a:gd name="adj" fmla="val 6000"/>
            </a:avLst>
          </a:prstGeom>
          <a:solidFill>
            <a:srgbClr val="EBF5EF"/>
          </a:solidFill>
          <a:ln w="17780">
            <a:solidFill>
              <a:srgbClr val="178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36576"/>
          <a:lstStyle/>
          <a:p>
            <a:pPr algn="ctr" latinLnBrk="0" eaLnBrk="0" hangingPunct="0">
              <a:spcAft>
                <a:spcPts val="200"/>
              </a:spcAft>
            </a:pPr>
            <a:r>
              <a:rPr sz="1550" b="1">
                <a:solidFill>
                  <a:srgbClr val="071C3F"/>
                </a:solidFill>
                <a:latin typeface="Arial"/>
              </a:rPr>
              <a:t>Post-score annotation</a:t>
            </a:r>
          </a:p>
          <a:p>
            <a:pPr algn="ctr" latinLnBrk="0" eaLnBrk="0" hangingPunct="0">
              <a:spcBef>
                <a:spcPts val="0"/>
              </a:spcBef>
              <a:spcAft>
                <a:spcPts val="0"/>
              </a:spcAft>
            </a:pPr>
            <a:r>
              <a:rPr sz="1350">
                <a:solidFill>
                  <a:srgbClr val="697889"/>
                </a:solidFill>
                <a:latin typeface="Arial"/>
              </a:rPr>
              <a:t>literature and mission-context role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041880" y="11430000"/>
            <a:ext cx="781812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97889"/>
                </a:solidFill>
                <a:latin typeface="Arial"/>
              </a:rPr>
              <a:t>~2,000 HVGs | 319-387 Reactome programs | 250-epoch query mapping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4493240" y="12527280"/>
            <a:ext cx="14401800" cy="1004011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4749272" y="12710160"/>
            <a:ext cx="13889736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886431" y="12728448"/>
            <a:ext cx="1361541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ALIGNED ANCHORS AND RETAINED PROGRAM SHIFTS</a:t>
            </a:r>
          </a:p>
        </p:txBody>
      </p:sp>
      <p:pic>
        <p:nvPicPr>
          <p:cNvPr id="122" name="Retained pathway shifts" descr="Literature-aligned anchors and retained expiMap pathway shifts for thymus, skin, liver, and spleen, with project effects and three-training ranges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0" y="13770356"/>
            <a:ext cx="13761720" cy="764540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15041880" y="21598128"/>
            <a:ext cx="133045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Filled markers show 13 retained programs. Open diamonds are literature-aligned context only, not retained findings;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5041880" y="21854160"/>
            <a:ext cx="13304520" cy="25603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1">
                <a:solidFill>
                  <a:srgbClr val="697889"/>
                </a:solidFill>
                <a:latin typeface="Arial"/>
              </a:rPr>
              <a:t>keratinization reversed in one of three trainings. Colored ranges span three complete trainings; axes are tissue specific.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9215080" y="4892040"/>
            <a:ext cx="14356080" cy="1214323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471111" y="507492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9608271" y="5093207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11111"/>
                </a:solidFill>
                <a:latin typeface="Arial"/>
              </a:rPr>
              <a:t>RESULTS: BIOLOGICAL INTERPRETATION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672280" y="5870448"/>
            <a:ext cx="1344168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36DA2"/>
                </a:solidFill>
                <a:latin typeface="Arial"/>
              </a:rPr>
              <a:t>Prior evidence, observed shifts, and hypotheses to test</a:t>
            </a:r>
          </a:p>
        </p:txBody>
      </p:sp>
      <p:pic>
        <p:nvPicPr>
          <p:cNvPr id="129" name="Tissue-state hypotheses" descr="Prior-literature phenotypes, observed lower expiMap program scores, and complementary hypotheses for thymus, skin, liver, and spleen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6671" y="6281928"/>
            <a:ext cx="11632896" cy="10259568"/>
          </a:xfrm>
          <a:prstGeom prst="rect">
            <a:avLst/>
          </a:prstGeom>
        </p:spPr>
      </p:pic>
      <p:sp>
        <p:nvSpPr>
          <p:cNvPr id="130" name="Rectangle 129"/>
          <p:cNvSpPr/>
          <p:nvPr/>
        </p:nvSpPr>
        <p:spPr>
          <a:xfrm>
            <a:off x="29215080" y="17309592"/>
            <a:ext cx="14356080" cy="3246120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9471111" y="17492472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9608271" y="17510760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11111"/>
                </a:solidFill>
                <a:latin typeface="Arial"/>
              </a:rPr>
              <a:t>CONCLUSIONS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718000" y="18306288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• Spleen was strongest: T cell receptor, neutrophil degranulation, and C‑type lectin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9718000" y="18617184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  receptor programs were lower across five projects and three trainings; all had GSEA FDR &lt;0.05.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9718000" y="19019520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• Skin and thymus emphasized lower tissue maintenance programs; liver showed lower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9718000" y="19330416"/>
            <a:ext cx="13350240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  adaptive immune signaling amid heterogeneous metabolism.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9718000" y="19659600"/>
            <a:ext cx="13350240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• Bulk latent scores are testable hypotheses, not causal or cell-resolved measures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9718000" y="19924776"/>
            <a:ext cx="13350240" cy="26517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33445D"/>
                </a:solidFill>
                <a:latin typeface="Arial"/>
              </a:rPr>
              <a:t>  of pathway activity.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9215080" y="20802600"/>
            <a:ext cx="14356080" cy="1764792"/>
          </a:xfrm>
          <a:prstGeom prst="rect">
            <a:avLst/>
          </a:prstGeom>
          <a:solidFill>
            <a:srgbClr val="DC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9471111" y="20985480"/>
            <a:ext cx="13844015" cy="658368"/>
          </a:xfrm>
          <a:prstGeom prst="rect">
            <a:avLst/>
          </a:prstGeom>
          <a:solidFill>
            <a:srgbClr val="FFFFFF"/>
          </a:solidFill>
          <a:ln w="13970">
            <a:solidFill>
              <a:srgbClr val="AEBC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9608271" y="21003768"/>
            <a:ext cx="13569695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11111"/>
                </a:solidFill>
                <a:latin typeface="Arial"/>
              </a:rPr>
              <a:t>REFERENCES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9690568" y="21744432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1 Gebre et al., NAR 2025 (OSDR). 2 Lotfollahi et al., Nat Cell Biol 2023 (expiMap).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9690568" y="21922740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3 Lachmann et al., Nat Commun 2018 (ARCHS4). 4 Milacic et al., NAR 2024 (Reactome).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9690568" y="22101048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5 Horie et al., Sci Rep 2019. 6 Cope et al., Commun Med 2024.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9690568" y="22279356"/>
            <a:ext cx="13405104" cy="1783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3445D"/>
                </a:solidFill>
                <a:latin typeface="Arial"/>
              </a:rPr>
              <a:t>7 Beheshti et al., Sci Rep 2019. 8 Gridley et al., J Appl Physiol 2009.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4493240" y="22786848"/>
            <a:ext cx="28803600" cy="1901952"/>
          </a:xfrm>
          <a:prstGeom prst="rect">
            <a:avLst/>
          </a:prstGeom>
          <a:solidFill>
            <a:srgbClr val="DDEC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4813280" y="228782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697889"/>
                </a:solidFill>
                <a:latin typeface="Arial"/>
              </a:rPr>
              <a:t>Acknowledgements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813280" y="23335488"/>
            <a:ext cx="1883664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Mentor: James Casaletto | NASA Space Life Sciences Training Program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4813280" y="23637239"/>
            <a:ext cx="18836640" cy="30175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33445D"/>
                </a:solidFill>
                <a:latin typeface="Arial"/>
              </a:rPr>
              <a:t>NASA OSDR, ARCHS4, and Reactome investigators and curation teams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890200" y="23152608"/>
            <a:ext cx="72420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82552"/>
                </a:solidFill>
                <a:latin typeface="Arial"/>
              </a:rPr>
              <a:t>jasontrinh@berkeley.edu
github.com/jasont314/nasa-mouse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40080" y="2386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latinLnBrk="0" ea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97889"/>
                </a:solidFill>
                <a:latin typeface="Arial"/>
              </a:rPr>
              <a:t>www.nasa.gov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Cross-mission expiMap analysis recovers established tissue responses and identifies complementary pathway shifts in mouse spaceflight transcriptomes</dc:title>
  <dc:subject>Template-based cross-mission expiMap poster using NASA OSDR mouse RNA-seq</dc:subject>
  <dc:creator>Jason Trinh</dc:creator>
  <cp:keywords>spaceflight, expiMap, OSDR, ARCHS4, Reactome, transcriptomics, NASA</cp:keywords>
  <dc:description>Layout and NASA branding reference 00 Poster Session Student Template_Approved by Legal.pptx.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