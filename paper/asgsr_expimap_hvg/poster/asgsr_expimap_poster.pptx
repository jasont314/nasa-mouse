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201168"/>
          </a:xfrm>
          <a:prstGeom prst="rect">
            <a:avLst/>
          </a:prstGeom>
          <a:solidFill>
            <a:srgbClr val="174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"/>
            <a:ext cx="10972800" cy="73152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0" y="201168"/>
            <a:ext cx="10972800" cy="73152"/>
          </a:xfrm>
          <a:prstGeom prst="rect">
            <a:avLst/>
          </a:prstGeom>
          <a:solidFill>
            <a:srgbClr val="C55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0" y="201168"/>
            <a:ext cx="10972800" cy="73152"/>
          </a:xfrm>
          <a:prstGeom prst="rect">
            <a:avLst/>
          </a:prstGeom>
          <a:solidFill>
            <a:srgbClr val="0E8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918400" y="201168"/>
            <a:ext cx="10972800" cy="73152"/>
          </a:xfrm>
          <a:prstGeom prst="rect">
            <a:avLst/>
          </a:prstGeom>
          <a:solidFill>
            <a:srgbClr val="A64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438912"/>
            <a:ext cx="2743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D6FA5"/>
                </a:solidFill>
                <a:latin typeface="Arial"/>
              </a:rPr>
              <a:t>ASGSR 2026  |  NASA OPEN SCIENCE DATA REPOSITORY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68680"/>
            <a:ext cx="4242816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182126"/>
                </a:solidFill>
                <a:latin typeface="Arial"/>
              </a:rPr>
              <a:t>Cross-mission expiMap analysis recovers established tissue responses
and identifies complementary pathway shifts in mouse spaceflight transcriptomes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862072"/>
            <a:ext cx="29626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2126"/>
                </a:solidFill>
                <a:latin typeface="Arial"/>
              </a:rPr>
              <a:t>Jason Trinh  |  NASA Space Life Sciences Training Program, NASA Ames Research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540960" y="2779776"/>
            <a:ext cx="12618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4B6B"/>
                </a:solidFill>
                <a:latin typeface="Arial"/>
              </a:rPr>
              <a:t>jasontrinh@berkeley.edu
github.com/jasont314/nasa-mouse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584448"/>
            <a:ext cx="42565320" cy="1152144"/>
          </a:xfrm>
          <a:prstGeom prst="rect">
            <a:avLst/>
          </a:prstGeom>
          <a:solidFill>
            <a:srgbClr val="E7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584448"/>
            <a:ext cx="219456" cy="1152144"/>
          </a:xfrm>
          <a:prstGeom prst="rect">
            <a:avLst/>
          </a:prstGeom>
          <a:solidFill>
            <a:srgbClr val="1D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749039"/>
            <a:ext cx="27889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74B6B"/>
                </a:solidFill>
                <a:latin typeface="Arial"/>
              </a:rPr>
              <a:t>TAKE-HOME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5072" y="3694176"/>
            <a:ext cx="3872484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82126"/>
                </a:solidFill>
                <a:latin typeface="Arial"/>
              </a:rPr>
              <a:t>Cross-mission pathway mapping recovered established tissue responses and prioritized complementary maintenance and immune hypotheses; spleen showed the strongest multi-method evidence.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164056" y="5138928"/>
            <a:ext cx="22860" cy="24469344"/>
          </a:xfrm>
          <a:prstGeom prst="rect">
            <a:avLst/>
          </a:prstGeom>
          <a:solidFill>
            <a:srgbClr val="CDD5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739592" y="5138928"/>
            <a:ext cx="22860" cy="24469344"/>
          </a:xfrm>
          <a:prstGeom prst="rect">
            <a:avLst/>
          </a:prstGeom>
          <a:solidFill>
            <a:srgbClr val="CDD5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138928"/>
            <a:ext cx="146304" cy="493776"/>
          </a:xfrm>
          <a:prstGeom prst="rect">
            <a:avLst/>
          </a:prstGeom>
          <a:solidFill>
            <a:srgbClr val="1D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120640"/>
            <a:ext cx="12938759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82126"/>
                </a:solidFill>
                <a:latin typeface="Arial"/>
              </a:rPr>
              <a:t>QUESTION &amp; APPROACH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5751576"/>
            <a:ext cx="13213080" cy="32004"/>
          </a:xfrm>
          <a:prstGeom prst="rect">
            <a:avLst/>
          </a:prstGeom>
          <a:solidFill>
            <a:srgbClr val="CDD5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25312"/>
            <a:ext cx="13213080" cy="1207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82126"/>
                </a:solidFill>
                <a:latin typeface="Arial"/>
              </a:rPr>
              <a:t>Can a tissue-matched, pathway-constrained reference distinguish recurring flight-associated programs from mission-specific variation?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7150608"/>
            <a:ext cx="132130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59676D"/>
                </a:solidFill>
                <a:latin typeface="Arial"/>
              </a:rPr>
              <a:t>Public mouse RNA-seq studies differ in mission, strain, sex, duration, hardware, collection endpoint, and sequencing protocol.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8065008"/>
            <a:ext cx="13213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4B6B"/>
                </a:solidFill>
                <a:latin typeface="Arial"/>
              </a:rPr>
              <a:t>REFERENCE-MAPPING WORKFLOW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8549640"/>
            <a:ext cx="6309360" cy="1298448"/>
          </a:xfrm>
          <a:prstGeom prst="roundRect">
            <a:avLst/>
          </a:prstGeom>
          <a:solidFill>
            <a:srgbClr val="E9F2F6"/>
          </a:solidFill>
          <a:ln w="19050">
            <a:solidFill>
              <a:srgbClr val="1D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182126"/>
                </a:solidFill>
                <a:latin typeface="Arial"/>
              </a:rPr>
              <a:t>ARCHS4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>
                <a:solidFill>
                  <a:srgbClr val="59676D"/>
                </a:solidFill>
                <a:latin typeface="Arial"/>
              </a:rPr>
              <a:t>tissue-matched non-spaceflight RNA-seq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87768" y="8549640"/>
            <a:ext cx="6583680" cy="1298448"/>
          </a:xfrm>
          <a:prstGeom prst="roundRect">
            <a:avLst/>
          </a:prstGeom>
          <a:solidFill>
            <a:srgbClr val="EAF4EF"/>
          </a:solidFill>
          <a:ln w="19050">
            <a:solidFill>
              <a:srgbClr val="087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182126"/>
                </a:solidFill>
                <a:latin typeface="Arial"/>
              </a:rPr>
              <a:t>Reactome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>
                <a:solidFill>
                  <a:srgbClr val="59676D"/>
                </a:solidFill>
                <a:latin typeface="Arial"/>
              </a:rPr>
              <a:t>current mouse gene-program mask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7036307" y="9930384"/>
            <a:ext cx="457200" cy="393192"/>
          </a:xfrm>
          <a:prstGeom prst="downArrow">
            <a:avLst/>
          </a:prstGeom>
          <a:solidFill>
            <a:srgbClr val="1D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755648" y="10369296"/>
            <a:ext cx="11018519" cy="1371600"/>
          </a:xfrm>
          <a:prstGeom prst="roundRect">
            <a:avLst/>
          </a:prstGeom>
          <a:solidFill>
            <a:srgbClr val="EEEAF5"/>
          </a:solidFill>
          <a:ln w="19050">
            <a:solidFill>
              <a:srgbClr val="6A4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182126"/>
                </a:solidFill>
                <a:latin typeface="Arial"/>
              </a:rPr>
              <a:t>expiMap reference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>
                <a:solidFill>
                  <a:srgbClr val="59676D"/>
                </a:solidFill>
                <a:latin typeface="Arial"/>
              </a:rPr>
              <a:t>negative binomial model | approximately 2,000 HVGs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7036307" y="11823192"/>
            <a:ext cx="457200" cy="393192"/>
          </a:xfrm>
          <a:prstGeom prst="downArrow">
            <a:avLst/>
          </a:prstGeom>
          <a:solidFill>
            <a:srgbClr val="1D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755648" y="12271248"/>
            <a:ext cx="11018519" cy="1371600"/>
          </a:xfrm>
          <a:prstGeom prst="roundRect">
            <a:avLst/>
          </a:prstGeom>
          <a:solidFill>
            <a:srgbClr val="F8EEE8"/>
          </a:solidFill>
          <a:ln w="19050">
            <a:solidFill>
              <a:srgbClr val="D96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182126"/>
                </a:solidFill>
                <a:latin typeface="Arial"/>
              </a:rPr>
              <a:t>NASA OSDR query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>
                <a:solidFill>
                  <a:srgbClr val="59676D"/>
                </a:solidFill>
                <a:latin typeface="Arial"/>
              </a:rPr>
              <a:t>flight and ground samples | accession conditioned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7036307" y="13725144"/>
            <a:ext cx="457200" cy="393192"/>
          </a:xfrm>
          <a:prstGeom prst="downArrow">
            <a:avLst/>
          </a:prstGeom>
          <a:solidFill>
            <a:srgbClr val="1D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755648" y="14173200"/>
            <a:ext cx="11018519" cy="1371600"/>
          </a:xfrm>
          <a:prstGeom prst="roundRect">
            <a:avLst/>
          </a:prstGeom>
          <a:solidFill>
            <a:srgbClr val="E7F1F6"/>
          </a:solidFill>
          <a:ln w="19050">
            <a:solidFill>
              <a:srgbClr val="1D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3152" bIns="54864"/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182126"/>
                </a:solidFill>
                <a:latin typeface="Arial"/>
              </a:rPr>
              <a:t>Project-balanced pathway shifts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50">
                <a:solidFill>
                  <a:srgbClr val="59676D"/>
                </a:solidFill>
                <a:latin typeface="Arial"/>
              </a:rPr>
              <a:t>decoder-oriented mean flight minus ground score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15910559"/>
            <a:ext cx="132130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4B6B"/>
                </a:solidFill>
                <a:latin typeface="Arial"/>
              </a:rPr>
              <a:t>PRIMARY MODEL SCOPE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58368" y="16413480"/>
          <a:ext cx="1266444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743200"/>
                <a:gridCol w="2331720"/>
                <a:gridCol w="2240280"/>
                <a:gridCol w="2468880"/>
              </a:tblGrid>
              <a:tr h="777240">
                <a:tc>
                  <a:txBody>
                    <a:bodyPr anchor="ctr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Tissue</a:t>
                      </a:r>
                    </a:p>
                  </a:txBody>
                  <a:tcPr marL="73152" marR="54864" marT="36576" marB="36576">
                    <a:solidFill>
                      <a:srgbClr val="174B6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ARCHS4</a:t>
                      </a:r>
                    </a:p>
                  </a:txBody>
                  <a:tcPr marL="73152" marR="54864" marT="36576" marB="36576">
                    <a:solidFill>
                      <a:srgbClr val="174B6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OSDR</a:t>
                      </a:r>
                    </a:p>
                  </a:txBody>
                  <a:tcPr marL="73152" marR="54864" marT="36576" marB="36576">
                    <a:solidFill>
                      <a:srgbClr val="174B6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Projects</a:t>
                      </a:r>
                    </a:p>
                  </a:txBody>
                  <a:tcPr marL="73152" marR="54864" marT="36576" marB="36576">
                    <a:solidFill>
                      <a:srgbClr val="174B6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Programs</a:t>
                      </a:r>
                    </a:p>
                  </a:txBody>
                  <a:tcPr marL="73152" marR="54864" marT="36576" marB="36576">
                    <a:solidFill>
                      <a:srgbClr val="174B6B"/>
                    </a:solidFill>
                  </a:tcPr>
                </a:tc>
              </a:tr>
              <a:tr h="777240">
                <a:tc>
                  <a:txBody>
                    <a:bodyPr anchor="ctr"/>
                    <a:lstStyle/>
                    <a:p>
                      <a:pPr algn="l"/>
                      <a:r>
                        <a:rPr sz="1650" b="1">
                          <a:solidFill>
                            <a:srgbClr val="6A4C93"/>
                          </a:solidFill>
                          <a:latin typeface="Arial"/>
                        </a:rPr>
                        <a:t>Thymus</a:t>
                      </a:r>
                    </a:p>
                  </a:txBody>
                  <a:tcPr marL="73152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182126"/>
                          </a:solidFill>
                          <a:latin typeface="Arial"/>
                        </a:rPr>
                        <a:t>1,362</a:t>
                      </a:r>
                    </a:p>
                  </a:txBody>
                  <a:tcPr marL="73152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182126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73152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18212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182126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73152" marR="54864" marT="36576" marB="36576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anchor="ctr"/>
                    <a:lstStyle/>
                    <a:p>
                      <a:pPr algn="l"/>
                      <a:r>
                        <a:rPr sz="1650" b="1">
                          <a:solidFill>
                            <a:srgbClr val="C55A35"/>
                          </a:solidFill>
                          <a:latin typeface="Arial"/>
                        </a:rPr>
                        <a:t>Skin</a:t>
                      </a:r>
                    </a:p>
                  </a:txBody>
                  <a:tcPr marL="73152" marR="54864" marT="36576" marB="36576">
                    <a:solidFill>
                      <a:srgbClr val="F1F4F5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182126"/>
                          </a:solidFill>
                          <a:latin typeface="Arial"/>
                        </a:rPr>
                        <a:t>2,593</a:t>
                      </a:r>
                    </a:p>
                  </a:txBody>
                  <a:tcPr marL="73152" marR="54864" marT="36576" marB="36576">
                    <a:solidFill>
                      <a:srgbClr val="F1F4F5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182126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73152" marR="54864" marT="36576" marB="36576">
                    <a:solidFill>
                      <a:srgbClr val="F1F4F5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18212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54864" marT="36576" marB="36576">
                    <a:solidFill>
                      <a:srgbClr val="F1F4F5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182126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73152" marR="54864" marT="36576" marB="36576">
                    <a:solidFill>
                      <a:srgbClr val="F1F4F5"/>
                    </a:solidFill>
                  </a:tcPr>
                </a:tc>
              </a:tr>
              <a:tr h="777240">
                <a:tc>
                  <a:txBody>
                    <a:bodyPr anchor="ctr"/>
                    <a:lstStyle/>
                    <a:p>
                      <a:pPr algn="l"/>
                      <a:r>
                        <a:rPr sz="1650" b="1">
                          <a:solidFill>
                            <a:srgbClr val="0E8177"/>
                          </a:solidFill>
                          <a:latin typeface="Arial"/>
                        </a:rPr>
                        <a:t>Liver</a:t>
                      </a:r>
                    </a:p>
                  </a:txBody>
                  <a:tcPr marL="73152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182126"/>
                          </a:solidFill>
                          <a:latin typeface="Arial"/>
                        </a:rPr>
                        <a:t>5,000</a:t>
                      </a:r>
                    </a:p>
                  </a:txBody>
                  <a:tcPr marL="73152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182126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73152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18212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182126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73152" marR="54864" marT="36576" marB="36576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anchor="ctr"/>
                    <a:lstStyle/>
                    <a:p>
                      <a:pPr algn="l"/>
                      <a:r>
                        <a:rPr sz="1650" b="1">
                          <a:solidFill>
                            <a:srgbClr val="A64D67"/>
                          </a:solidFill>
                          <a:latin typeface="Arial"/>
                        </a:rPr>
                        <a:t>Spleen</a:t>
                      </a:r>
                    </a:p>
                  </a:txBody>
                  <a:tcPr marL="73152" marR="54864" marT="36576" marB="36576">
                    <a:solidFill>
                      <a:srgbClr val="F1F4F5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182126"/>
                          </a:solidFill>
                          <a:latin typeface="Arial"/>
                        </a:rPr>
                        <a:t>6,289</a:t>
                      </a:r>
                    </a:p>
                  </a:txBody>
                  <a:tcPr marL="73152" marR="54864" marT="36576" marB="36576">
                    <a:solidFill>
                      <a:srgbClr val="F1F4F5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182126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54864" marT="36576" marB="36576">
                    <a:solidFill>
                      <a:srgbClr val="F1F4F5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18212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54864" marT="36576" marB="36576">
                    <a:solidFill>
                      <a:srgbClr val="F1F4F5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1650" b="0">
                          <a:solidFill>
                            <a:srgbClr val="182126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73152" marR="54864" marT="36576" marB="36576">
                    <a:solidFill>
                      <a:srgbClr val="F1F4F5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58368" y="20391120"/>
            <a:ext cx="1321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9676D"/>
                </a:solidFill>
                <a:latin typeface="Arial"/>
              </a:rPr>
              <a:t>OSDR counts are primary analysis samples; spleen excludes a condition-strain-confounded project.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21122640"/>
            <a:ext cx="132130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4B6B"/>
                </a:solidFill>
                <a:latin typeface="Arial"/>
              </a:rPr>
              <a:t>ROBUSTNESS GATE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21652992"/>
            <a:ext cx="4142232" cy="704088"/>
          </a:xfrm>
          <a:prstGeom prst="roundRect">
            <a:avLst/>
          </a:prstGeom>
          <a:solidFill>
            <a:srgbClr val="E7F1F6"/>
          </a:solidFill>
          <a:ln w="12700">
            <a:solidFill>
              <a:srgbClr val="1D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50" b="1">
                <a:solidFill>
                  <a:srgbClr val="174B6B"/>
                </a:solidFill>
                <a:latin typeface="Arial"/>
              </a:rPr>
              <a:t>ssGSEA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66360" y="21652992"/>
            <a:ext cx="4142232" cy="704088"/>
          </a:xfrm>
          <a:prstGeom prst="roundRect">
            <a:avLst/>
          </a:prstGeom>
          <a:solidFill>
            <a:srgbClr val="E7F1F6"/>
          </a:solidFill>
          <a:ln w="12700">
            <a:solidFill>
              <a:srgbClr val="1D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50" b="1">
                <a:solidFill>
                  <a:srgbClr val="174B6B"/>
                </a:solidFill>
                <a:latin typeface="Arial"/>
              </a:rPr>
              <a:t>Preranked GSEA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674352" y="21652992"/>
            <a:ext cx="4142232" cy="704088"/>
          </a:xfrm>
          <a:prstGeom prst="roundRect">
            <a:avLst/>
          </a:prstGeom>
          <a:solidFill>
            <a:srgbClr val="E7F1F6"/>
          </a:solidFill>
          <a:ln w="12700">
            <a:solidFill>
              <a:srgbClr val="1D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50" b="1">
                <a:solidFill>
                  <a:srgbClr val="174B6B"/>
                </a:solidFill>
                <a:latin typeface="Arial"/>
              </a:rPr>
              <a:t>Held-out projects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22549104"/>
            <a:ext cx="4142232" cy="704088"/>
          </a:xfrm>
          <a:prstGeom prst="roundRect">
            <a:avLst/>
          </a:prstGeom>
          <a:solidFill>
            <a:srgbClr val="EDF5F2"/>
          </a:solidFill>
          <a:ln w="12700">
            <a:solidFill>
              <a:srgbClr val="6A4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50" b="1">
                <a:solidFill>
                  <a:srgbClr val="174B6B"/>
                </a:solidFill>
                <a:latin typeface="Arial"/>
              </a:rPr>
              <a:t>3 full trainings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166360" y="22549104"/>
            <a:ext cx="4142232" cy="704088"/>
          </a:xfrm>
          <a:prstGeom prst="roundRect">
            <a:avLst/>
          </a:prstGeom>
          <a:solidFill>
            <a:srgbClr val="EDF5F2"/>
          </a:solidFill>
          <a:ln w="12700">
            <a:solidFill>
              <a:srgbClr val="087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50" b="1">
                <a:solidFill>
                  <a:srgbClr val="174B6B"/>
                </a:solidFill>
                <a:latin typeface="Arial"/>
              </a:rPr>
              <a:t>Composition proxies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74352" y="22549104"/>
            <a:ext cx="4142232" cy="704088"/>
          </a:xfrm>
          <a:prstGeom prst="roundRect">
            <a:avLst/>
          </a:prstGeom>
          <a:solidFill>
            <a:srgbClr val="EDF5F2"/>
          </a:solidFill>
          <a:ln w="12700">
            <a:solidFill>
              <a:srgbClr val="087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50" b="1">
                <a:solidFill>
                  <a:srgbClr val="174B6B"/>
                </a:solidFill>
                <a:latin typeface="Arial"/>
              </a:rPr>
              <a:t>Member genes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23527512"/>
            <a:ext cx="13213080" cy="1216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82126"/>
                </a:solidFill>
                <a:latin typeface="Arial"/>
              </a:rPr>
              <a:t>Pathways were interpreted after project direction, complete retraining, conventional enrichment, composition sensitivity, and member-gene review.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24871680"/>
            <a:ext cx="13213080" cy="1078992"/>
          </a:xfrm>
          <a:prstGeom prst="rect">
            <a:avLst/>
          </a:prstGeom>
          <a:solidFill>
            <a:srgbClr val="F1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25036272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74B6B"/>
                </a:solidFill>
                <a:latin typeface="Arial"/>
              </a:rPr>
              <a:t>TRAINING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87168" y="24963120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82126"/>
                </a:solidFill>
                <a:latin typeface="Arial"/>
              </a:rPr>
              <a:t>3 x 300 hidden units  |  reference &lt;=400 epochs  |  query 250 epochs  |  NVIDIA A100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26179272"/>
            <a:ext cx="132130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59676D"/>
                </a:solidFill>
                <a:latin typeface="Arial"/>
              </a:rPr>
              <a:t>Complementary programs are annotated Reactome nodes that extend prior literature; de novo nodes were not retained in the final models.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27614880"/>
            <a:ext cx="13213080" cy="1554480"/>
          </a:xfrm>
          <a:prstGeom prst="rect">
            <a:avLst/>
          </a:prstGeom>
          <a:solidFill>
            <a:srgbClr val="FFF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7824" y="27788616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D96725"/>
                </a:solidFill>
                <a:latin typeface="Arial"/>
              </a:rPr>
              <a:t>ANALYSIS SCOPE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" y="28200096"/>
            <a:ext cx="12774167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82126"/>
                </a:solidFill>
                <a:latin typeface="Arial"/>
              </a:rPr>
              <a:t>Kidney remained exploratory. Soleus, lung, and retina were not advanced to the primary biological narrative.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465808" y="5138928"/>
            <a:ext cx="146304" cy="493776"/>
          </a:xfrm>
          <a:prstGeom prst="rect">
            <a:avLst/>
          </a:prstGeom>
          <a:solidFill>
            <a:srgbClr val="1D6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4740128" y="5120640"/>
            <a:ext cx="13697711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82126"/>
                </a:solidFill>
                <a:latin typeface="Arial"/>
              </a:rPr>
              <a:t>PATHWAY SHIFTS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465808" y="5751576"/>
            <a:ext cx="13972032" cy="32004"/>
          </a:xfrm>
          <a:prstGeom prst="rect">
            <a:avLst/>
          </a:prstGeom>
          <a:solidFill>
            <a:srgbClr val="CDD5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465808" y="5925312"/>
            <a:ext cx="1397203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82126"/>
                </a:solidFill>
                <a:latin typeface="Arial"/>
              </a:rPr>
              <a:t>Retained decoder-oriented flight minus ground effects</a:t>
            </a:r>
          </a:p>
        </p:txBody>
      </p:sp>
      <p:pic>
        <p:nvPicPr>
          <p:cNvPr id="53" name="Retained pathway shifts" descr="Project-balanced expiMap pathway shifts for thymus, skin, liver, and spleen, with project effects and three-training rang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89067" y="6492240"/>
            <a:ext cx="13525512" cy="11740896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694408" y="18196560"/>
            <a:ext cx="13514832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59676D"/>
                </a:solidFill>
                <a:latin typeface="Arial"/>
              </a:rPr>
              <a:t>Open circles: OSDR projects. Colored ranges: three complete reference-query trainings. Axes are tissue specific.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465808" y="18973800"/>
            <a:ext cx="13972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4B6B"/>
                </a:solidFill>
                <a:latin typeface="Arial"/>
              </a:rPr>
              <a:t>EVIDENCE AT A GLANCE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4465808" y="21506688"/>
            <a:ext cx="13972032" cy="32004"/>
          </a:xfrm>
          <a:prstGeom prst="rect">
            <a:avLst/>
          </a:prstGeom>
          <a:solidFill>
            <a:srgbClr val="CDD5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4465808" y="19586448"/>
            <a:ext cx="146304" cy="1783080"/>
          </a:xfrm>
          <a:prstGeom prst="rect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776704" y="1952244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A4C93"/>
                </a:solidFill>
                <a:latin typeface="Arial"/>
              </a:rPr>
              <a:t>THYMUS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776704" y="19952208"/>
            <a:ext cx="1031443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182126"/>
                </a:solidFill>
                <a:latin typeface="Arial"/>
              </a:rPr>
              <a:t>Lower DNA repair and cytoskeletal scores; expiMap also suggests lower niche interaction, but GSEA does not.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328880" y="19568160"/>
            <a:ext cx="2944368" cy="1783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59676D"/>
                </a:solidFill>
                <a:latin typeface="Arial"/>
              </a:rPr>
              <a:t>5/5 projects
3/3 trainings
FDR &lt;0.001 / 0.154 / 1.000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4465808" y="23564088"/>
            <a:ext cx="13972032" cy="32004"/>
          </a:xfrm>
          <a:prstGeom prst="rect">
            <a:avLst/>
          </a:prstGeom>
          <a:solidFill>
            <a:srgbClr val="CDD5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465808" y="21643848"/>
            <a:ext cx="146304" cy="1783080"/>
          </a:xfrm>
          <a:prstGeom prst="rect">
            <a:avLst/>
          </a:prstGeom>
          <a:solidFill>
            <a:srgbClr val="C55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776704" y="2157984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55A35"/>
                </a:solidFill>
                <a:latin typeface="Arial"/>
              </a:rPr>
              <a:t>SKIN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776704" y="22009608"/>
            <a:ext cx="1031443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182126"/>
                </a:solidFill>
                <a:latin typeface="Arial"/>
              </a:rPr>
              <a:t>Lower regulation, repair, Hedgehog, sphingolipid, and junction scores.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5328880" y="21625560"/>
            <a:ext cx="2944368" cy="1783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59676D"/>
                </a:solidFill>
                <a:latin typeface="Arial"/>
              </a:rPr>
              <a:t>3/4 projects
3/3 trainings
3 of 5 FDR &lt;0.05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4465808" y="25621488"/>
            <a:ext cx="13972032" cy="32004"/>
          </a:xfrm>
          <a:prstGeom prst="rect">
            <a:avLst/>
          </a:prstGeom>
          <a:solidFill>
            <a:srgbClr val="CDD5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4465808" y="23701248"/>
            <a:ext cx="146304" cy="1783080"/>
          </a:xfrm>
          <a:prstGeom prst="rect">
            <a:avLst/>
          </a:prstGeom>
          <a:solidFill>
            <a:srgbClr val="0E8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776704" y="2363724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E8177"/>
                </a:solidFill>
                <a:latin typeface="Arial"/>
              </a:rPr>
              <a:t>LIVER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776704" y="24067008"/>
            <a:ext cx="1031443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182126"/>
                </a:solidFill>
                <a:latin typeface="Arial"/>
              </a:rPr>
              <a:t>Lower MHC class II antigen presentation and T-cell receptor scores amid mixed metabolism.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328880" y="23682960"/>
            <a:ext cx="2944368" cy="1783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59676D"/>
                </a:solidFill>
                <a:latin typeface="Arial"/>
              </a:rPr>
              <a:t>8/9 projects
3/3 trainings
FDR 0.121 / 0.051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4465808" y="27678888"/>
            <a:ext cx="13972032" cy="32004"/>
          </a:xfrm>
          <a:prstGeom prst="rect">
            <a:avLst/>
          </a:prstGeom>
          <a:solidFill>
            <a:srgbClr val="CDD5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4465808" y="25758648"/>
            <a:ext cx="146304" cy="1783080"/>
          </a:xfrm>
          <a:prstGeom prst="rect">
            <a:avLst/>
          </a:prstGeom>
          <a:solidFill>
            <a:srgbClr val="A64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4776704" y="2569464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A64D67"/>
                </a:solidFill>
                <a:latin typeface="Arial"/>
              </a:rPr>
              <a:t>SPLEEN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776704" y="26124408"/>
            <a:ext cx="1031443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182126"/>
                </a:solidFill>
                <a:latin typeface="Arial"/>
              </a:rPr>
              <a:t>Lower T-cell receptor, degranulation, and C-type lectin receptor programs.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5328880" y="25740360"/>
            <a:ext cx="2944368" cy="1783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59676D"/>
                </a:solidFill>
                <a:latin typeface="Arial"/>
              </a:rPr>
              <a:t>5/5 projects
3/3 trainings
all FDR &lt;0.05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465808" y="27934920"/>
            <a:ext cx="13972032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1">
                <a:solidFill>
                  <a:srgbClr val="59676D"/>
                </a:solidFill>
                <a:latin typeface="Arial"/>
              </a:rPr>
              <a:t>FDR values are from preranked GSEA. Directional robustness and FDR are complementary evidence, not interchangeable thresholds.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9050488" y="5138928"/>
            <a:ext cx="146304" cy="493776"/>
          </a:xfrm>
          <a:prstGeom prst="rect">
            <a:avLst/>
          </a:prstGeom>
          <a:solidFill>
            <a:srgbClr val="087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9324808" y="5120640"/>
            <a:ext cx="1389888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82126"/>
                </a:solidFill>
                <a:latin typeface="Arial"/>
              </a:rPr>
              <a:t>BIOLOGICAL INTERPRETATION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9050488" y="5751576"/>
            <a:ext cx="14173200" cy="32004"/>
          </a:xfrm>
          <a:prstGeom prst="rect">
            <a:avLst/>
          </a:prstGeom>
          <a:solidFill>
            <a:srgbClr val="CDD5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Tissue-state hypotheses" descr="Observed lower expiMap program scores and qualified tissue-state hypotheses for thymus, skin, liver, and spleen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53408" y="5897880"/>
            <a:ext cx="13167359" cy="1161288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29050488" y="17876520"/>
            <a:ext cx="1417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4B6B"/>
                </a:solidFill>
                <a:latin typeface="Arial"/>
              </a:rPr>
              <a:t>WHAT THIS ADDS TO PRIOR LITERATURE</a:t>
            </a:r>
          </a:p>
        </p:txBody>
      </p:sp>
      <p:sp>
        <p:nvSpPr>
          <p:cNvPr id="82" name="Oval 81"/>
          <p:cNvSpPr/>
          <p:nvPr/>
        </p:nvSpPr>
        <p:spPr>
          <a:xfrm>
            <a:off x="29050488" y="18580608"/>
            <a:ext cx="310896" cy="310896"/>
          </a:xfrm>
          <a:prstGeom prst="ellips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9525976" y="18470880"/>
            <a:ext cx="164592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A4C93"/>
                </a:solidFill>
                <a:latin typeface="Arial"/>
              </a:rPr>
              <a:t>Thymus: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0925008" y="18470880"/>
            <a:ext cx="122986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182126"/>
                </a:solidFill>
                <a:latin typeface="Arial"/>
              </a:rPr>
              <a:t>Repair and cytoskeletal reduction adds a possible niche-coordination layer to known involution.</a:t>
            </a:r>
          </a:p>
        </p:txBody>
      </p:sp>
      <p:sp>
        <p:nvSpPr>
          <p:cNvPr id="85" name="Oval 84"/>
          <p:cNvSpPr/>
          <p:nvPr/>
        </p:nvSpPr>
        <p:spPr>
          <a:xfrm>
            <a:off x="29050488" y="20061936"/>
            <a:ext cx="310896" cy="310896"/>
          </a:xfrm>
          <a:prstGeom prst="ellipse">
            <a:avLst/>
          </a:prstGeom>
          <a:solidFill>
            <a:srgbClr val="C55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9525976" y="19952208"/>
            <a:ext cx="164592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55A35"/>
                </a:solidFill>
                <a:latin typeface="Arial"/>
              </a:rPr>
              <a:t>Skin: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925008" y="19952208"/>
            <a:ext cx="122986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182126"/>
                </a:solidFill>
                <a:latin typeface="Arial"/>
              </a:rPr>
              <a:t>Multiple programs converge on lower tissue maintenance and barrier coordination.</a:t>
            </a:r>
          </a:p>
        </p:txBody>
      </p:sp>
      <p:sp>
        <p:nvSpPr>
          <p:cNvPr id="88" name="Oval 87"/>
          <p:cNvSpPr/>
          <p:nvPr/>
        </p:nvSpPr>
        <p:spPr>
          <a:xfrm>
            <a:off x="29050488" y="21543264"/>
            <a:ext cx="310896" cy="310896"/>
          </a:xfrm>
          <a:prstGeom prst="ellipse">
            <a:avLst/>
          </a:prstGeom>
          <a:solidFill>
            <a:srgbClr val="0E8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9525976" y="21433536"/>
            <a:ext cx="164592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E8177"/>
                </a:solidFill>
                <a:latin typeface="Arial"/>
              </a:rPr>
              <a:t>Liver: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925008" y="21433536"/>
            <a:ext cx="122986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182126"/>
                </a:solidFill>
                <a:latin typeface="Arial"/>
              </a:rPr>
              <a:t>A lower immune-communication axis complements the better-known metabolic response.</a:t>
            </a:r>
          </a:p>
        </p:txBody>
      </p:sp>
      <p:sp>
        <p:nvSpPr>
          <p:cNvPr id="91" name="Oval 90"/>
          <p:cNvSpPr/>
          <p:nvPr/>
        </p:nvSpPr>
        <p:spPr>
          <a:xfrm>
            <a:off x="29050488" y="23024592"/>
            <a:ext cx="310896" cy="310896"/>
          </a:xfrm>
          <a:prstGeom prst="ellipse">
            <a:avLst/>
          </a:prstGeom>
          <a:solidFill>
            <a:srgbClr val="A64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9525976" y="22914864"/>
            <a:ext cx="164592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A64D67"/>
                </a:solidFill>
                <a:latin typeface="Arial"/>
              </a:rPr>
              <a:t>Spleen: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0925008" y="22914864"/>
            <a:ext cx="122986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182126"/>
                </a:solidFill>
                <a:latin typeface="Arial"/>
              </a:rPr>
              <a:t>Strongest evidence: adaptive activation and innate sensing and effector transcription decrease together.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9050488" y="24579072"/>
            <a:ext cx="141732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4B6B"/>
                </a:solidFill>
                <a:latin typeface="Arial"/>
              </a:rPr>
              <a:t>INTERPRETATION AND NEXT TESTS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9050488" y="25100280"/>
            <a:ext cx="14173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50">
                <a:solidFill>
                  <a:srgbClr val="182126"/>
                </a:solidFill>
                <a:latin typeface="Arial"/>
              </a:rPr>
              <a:t>• Lower means a lower decoder-oriented latent score, not biochemical inhibition.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50">
                <a:solidFill>
                  <a:srgbClr val="182126"/>
                </a:solidFill>
                <a:latin typeface="Arial"/>
              </a:rPr>
              <a:t>• Bulk tissue cannot distinguish cell abundance from altered cell state.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650">
                <a:solidFill>
                  <a:srgbClr val="182126"/>
                </a:solidFill>
                <a:latin typeface="Arial"/>
              </a:rPr>
              <a:t>• Validate with independent single-cell, spatial, biochemical, and functional studies.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9050488" y="27688032"/>
            <a:ext cx="14173200" cy="1481328"/>
          </a:xfrm>
          <a:prstGeom prst="rect">
            <a:avLst/>
          </a:prstGeom>
          <a:solidFill>
            <a:srgbClr val="EA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9269944" y="27852624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087F6C"/>
                </a:solidFill>
                <a:latin typeface="Arial"/>
              </a:rPr>
              <a:t>CONCLUSION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9944" y="28227528"/>
            <a:ext cx="1373428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82126"/>
                </a:solidFill>
                <a:latin typeface="Arial"/>
              </a:rPr>
              <a:t>The cross-mission design narrows broad tissue phenotypes into testable pathway-level hypotheses without claiming causality or cell-type resolution.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8368" y="29763719"/>
            <a:ext cx="42565320" cy="32004"/>
          </a:xfrm>
          <a:prstGeom prst="rect">
            <a:avLst/>
          </a:prstGeom>
          <a:solidFill>
            <a:srgbClr val="174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58368" y="30010608"/>
            <a:ext cx="3657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4B6B"/>
                </a:solidFill>
                <a:latin typeface="Arial"/>
              </a:rPr>
              <a:t>SELECTED REFERENCES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" y="30376368"/>
            <a:ext cx="2834640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9676D"/>
                </a:solidFill>
                <a:latin typeface="Arial"/>
              </a:rPr>
              <a:t>1 Gebre et al., Nucleic Acids Res 2025 (OSDR).  2 Lotfollahi et al., Nat Cell Biol 2023 (expiMap).  3 Lotfollahi et al., Nat Biotechnol 2022 (scArches).  4 Lachmann et al., Nat Commun 2018 (ARCHS4).
5 Milacic et al., Nucleic Acids Res 2024 (Reactome).  6 Horie et al., Sci Rep 2019 (thymus).  7 Cope et al., Commun Med 2024 (skin).  8 Beheshti et al., Sci Rep 2019 (liver).  9 Gridley et al., J Appl Physiol 2009 (spleen).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9443680" y="30010608"/>
            <a:ext cx="6400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4B6B"/>
                </a:solidFill>
                <a:latin typeface="Arial"/>
              </a:rPr>
              <a:t>DATA, CODE, AND CONTACT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9443680" y="30376368"/>
            <a:ext cx="836676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82126"/>
                </a:solidFill>
                <a:latin typeface="Arial"/>
              </a:rPr>
              <a:t>NASA OSDR API | ARCHS4 | Reactome
github.com/jasont314/nasa-mouse
jasontrinh@berkeley.edu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7993320" y="30010608"/>
            <a:ext cx="5230368" cy="1847088"/>
          </a:xfrm>
          <a:prstGeom prst="rect">
            <a:avLst/>
          </a:prstGeom>
          <a:solidFill>
            <a:srgbClr val="174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8221920" y="302300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NASA/SLSTP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221920" y="30769560"/>
            <a:ext cx="47548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NASA Ames Research Center
Moffett Field, California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Cross-mission expiMap analysis recovers established tissue responses and identifies complementary pathway shifts in mouse spaceflight transcriptomes</dc:title>
  <dc:subject>Cross-mission expiMap analysis of NASA OSDR mouse transcriptomes</dc:subject>
  <dc:creator>Jason Trinh</dc:creator>
  <cp:keywords>spaceflight, expiMap, OSDR, ARCHS4, Reactome, transcriptomics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