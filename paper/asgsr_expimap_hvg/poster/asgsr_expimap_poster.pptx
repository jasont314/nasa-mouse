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2468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4617720"/>
          </a:xfrm>
          <a:prstGeom prst="rect">
            <a:avLst/>
          </a:prstGeom>
          <a:solidFill>
            <a:srgbClr val="DD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64592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97889"/>
                </a:solidFill>
                <a:latin typeface="Arial"/>
              </a:rPr>
              <a:t>National Aeronautics and Space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41248"/>
            <a:ext cx="3877056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111111"/>
                </a:solidFill>
                <a:latin typeface="Arial"/>
              </a:rPr>
              <a:t>Cross-mission expiMap analysis recovers established tissue responses
and identifies complementary pathway shifts in mouse spaceflight transcriptomes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37490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697889"/>
                </a:solidFill>
                <a:latin typeface="Arial"/>
              </a:rPr>
              <a:t>Jason Trinh / University of California, Berkeley | NASA Space Life Sciences Training Program, NASA Ames Research Center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6480" y="713232"/>
            <a:ext cx="2788920" cy="231899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0040" y="4892040"/>
            <a:ext cx="13853160" cy="345643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6072" y="5074920"/>
            <a:ext cx="1334109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5093207"/>
            <a:ext cx="130667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ABSTRACT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925312"/>
            <a:ext cx="12938760" cy="221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3445D"/>
                </a:solidFill>
                <a:latin typeface="Arial"/>
              </a:rPr>
              <a:t>Spaceflight affects multiple organs, but differences among missions can obscure responses that recur across studies. We asked whether pathway-constrained expiMap models could identify reproducible programs in NASA OSDR mouse bulk RNA-seq. Samples were mapped into tissue-matched ARCHS4 references using approximately 2,000 highly variable genes linked to current mouse Reactome pathways. Project-balanced flight-ground shifts were evaluated with enrichment, held-out projects, three complete trainings, composition proxies, and member-gene review. Retained patterns included lower repair and cytoskeletal programs in thymus, lower maintenance and barrier programs in skin, lower adaptive-immune programs in liver, and coordinated lower adaptive and innate immune programs in spleen, the strongest multi-pathway result.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8622792"/>
            <a:ext cx="13853160" cy="1394460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" y="8805672"/>
            <a:ext cx="1334109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8823960"/>
            <a:ext cx="130667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INTRODUCTION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9710928"/>
            <a:ext cx="1284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PROJECT 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0104120"/>
            <a:ext cx="12847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71C3F"/>
                </a:solidFill>
                <a:latin typeface="Arial"/>
              </a:rPr>
              <a:t>Identify gene programs that respond consistently to spaceflight across missions.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1247120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THE CENTRAL 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11686032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71C3F"/>
                </a:solidFill>
                <a:latin typeface="Arial"/>
              </a:rPr>
              <a:t>Observed expression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11686032"/>
            <a:ext cx="2514600" cy="548640"/>
          </a:xfrm>
          <a:prstGeom prst="roundRect">
            <a:avLst/>
          </a:prstGeom>
          <a:solidFill>
            <a:srgbClr val="D9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93008" y="11704320"/>
            <a:ext cx="238658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Spaceflight biology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1686032"/>
            <a:ext cx="3474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36792" y="11686032"/>
            <a:ext cx="2011680" cy="548640"/>
          </a:xfrm>
          <a:prstGeom prst="roundRect">
            <a:avLst/>
          </a:prstGeom>
          <a:solidFill>
            <a:srgbClr val="082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1704320"/>
            <a:ext cx="188366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Tissue biology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1" y="11686032"/>
            <a:ext cx="3474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41663" y="11686032"/>
            <a:ext cx="2148840" cy="548640"/>
          </a:xfrm>
          <a:prstGeom prst="roundRect">
            <a:avLst/>
          </a:prstGeom>
          <a:solidFill>
            <a:srgbClr val="697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05672" y="11704320"/>
            <a:ext cx="20208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Animal variation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90503" y="11686032"/>
            <a:ext cx="3474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83695" y="11686032"/>
            <a:ext cx="2331720" cy="548640"/>
          </a:xfrm>
          <a:prstGeom prst="roundRect">
            <a:avLst/>
          </a:prstGeom>
          <a:solidFill>
            <a:srgbClr val="9A6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47703" y="11704320"/>
            <a:ext cx="220370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Study / protocol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12454128"/>
            <a:ext cx="128473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3445D"/>
                </a:solidFill>
                <a:latin typeface="Arial"/>
              </a:rPr>
              <a:t>Study identity and protocol can dominate an unconstrained expression representation. Tissue-matched reference mapping, accession conditioning, and equal project weighting reduce this bias without claiming to remove all mission confounding.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14008608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FINAL ANALYSIS SCOPE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822960" y="14474952"/>
          <a:ext cx="11978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514600"/>
                <a:gridCol w="2148840"/>
                <a:gridCol w="2057400"/>
                <a:gridCol w="2423160"/>
              </a:tblGrid>
              <a:tr h="740664">
                <a:tc>
                  <a:txBody>
                    <a:bodyPr anchor="ctr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Tissue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ARCHS4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OSDR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Projects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Programs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</a:tr>
              <a:tr h="740664">
                <a:tc>
                  <a:txBody>
                    <a:bodyPr anchor="ctr"/>
                    <a:lstStyle/>
                    <a:p>
                      <a:pPr algn="l"/>
                      <a:r>
                        <a:rPr sz="1650" b="1">
                          <a:solidFill>
                            <a:srgbClr val="6A4C93"/>
                          </a:solidFill>
                          <a:latin typeface="Arial"/>
                        </a:rPr>
                        <a:t>Thymus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1,362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 anchor="ctr"/>
                    <a:lstStyle/>
                    <a:p>
                      <a:pPr algn="l"/>
                      <a:r>
                        <a:rPr sz="1650" b="1">
                          <a:solidFill>
                            <a:srgbClr val="C65D37"/>
                          </a:solidFill>
                          <a:latin typeface="Arial"/>
                        </a:rPr>
                        <a:t>Skin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2,593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</a:tr>
              <a:tr h="740664">
                <a:tc>
                  <a:txBody>
                    <a:bodyPr anchor="ctr"/>
                    <a:lstStyle/>
                    <a:p>
                      <a:pPr algn="l"/>
                      <a:r>
                        <a:rPr sz="1650" b="1">
                          <a:solidFill>
                            <a:srgbClr val="13877C"/>
                          </a:solidFill>
                          <a:latin typeface="Arial"/>
                        </a:rPr>
                        <a:t>Liver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5,000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 anchor="ctr"/>
                    <a:lstStyle/>
                    <a:p>
                      <a:pPr algn="l"/>
                      <a:r>
                        <a:rPr sz="1650" b="1">
                          <a:solidFill>
                            <a:srgbClr val="A64D67"/>
                          </a:solidFill>
                          <a:latin typeface="Arial"/>
                        </a:rPr>
                        <a:t>Spleen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6,289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822960" y="18260568"/>
            <a:ext cx="12847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697889"/>
                </a:solidFill>
                <a:latin typeface="Arial"/>
              </a:rPr>
              <a:t>OSDR counts are primary analysis samples. Spleen excludes one condition-strain-confounded project.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18882360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ROBUSTNESS GATE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19394424"/>
            <a:ext cx="373075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36DA2"/>
                </a:solidFill>
                <a:latin typeface="Arial"/>
              </a:rPr>
              <a:t>ssGSEA + GSEA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84064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57216" y="19394424"/>
            <a:ext cx="373075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36DA2"/>
                </a:solidFill>
                <a:latin typeface="Arial"/>
              </a:rPr>
              <a:t>Held-out projects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45168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A4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0" y="19394424"/>
            <a:ext cx="373075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6A4C93"/>
                </a:solidFill>
                <a:latin typeface="Arial"/>
              </a:rPr>
              <a:t>3 full trainings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20217384"/>
            <a:ext cx="373075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8C6A"/>
                </a:solidFill>
                <a:latin typeface="Arial"/>
              </a:rPr>
              <a:t>Composition proxies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84064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57216" y="20217384"/>
            <a:ext cx="373075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8C6A"/>
                </a:solidFill>
                <a:latin typeface="Arial"/>
              </a:rPr>
              <a:t>Member genes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45168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18320" y="20217384"/>
            <a:ext cx="373075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8C6A"/>
                </a:solidFill>
                <a:latin typeface="Arial"/>
              </a:rPr>
              <a:t>Literature review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1104352"/>
            <a:ext cx="12847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Complementary means an annotated Reactome program that adds a plausible perspective beyond the dominant phenotype in prior literature. De novo nodes were not retained in the final models.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493240" y="4892040"/>
            <a:ext cx="14401800" cy="736092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749272" y="5074920"/>
            <a:ext cx="1388973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886431" y="5093207"/>
            <a:ext cx="1361541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METHODS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859000" y="5870448"/>
            <a:ext cx="1367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71C3F"/>
                </a:solidFill>
                <a:latin typeface="Arial"/>
              </a:rPr>
              <a:t>Pathway structure is wired into the decoder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179040" y="6345936"/>
            <a:ext cx="130302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97889"/>
                </a:solidFill>
                <a:latin typeface="Arial"/>
              </a:rPr>
              <a:t>Train a tissue reference, then map flight and ground samples into the same annotated program space.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996159" y="68122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36DA2"/>
                </a:solidFill>
                <a:latin typeface="Arial"/>
              </a:rPr>
              <a:t>1  REFERENCE TRAINING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996159" y="7196328"/>
            <a:ext cx="3246120" cy="1005840"/>
          </a:xfrm>
          <a:prstGeom prst="roundRect">
            <a:avLst>
              <a:gd name="adj" fmla="val 6000"/>
            </a:avLst>
          </a:prstGeom>
          <a:solidFill>
            <a:srgbClr val="E9F3F8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71C3F"/>
                </a:solidFill>
                <a:latin typeface="Arial"/>
              </a:rPr>
              <a:t>ARCHS4 reference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tissue-matched non-spaceflight counts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18406872" y="7507224"/>
            <a:ext cx="502920" cy="329184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9019520" y="7040880"/>
            <a:ext cx="932688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266408" y="7168896"/>
            <a:ext cx="4023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071C3F"/>
                </a:solidFill>
                <a:latin typeface="Arial"/>
              </a:rPr>
              <a:t>Tissue expiMap reference</a:t>
            </a:r>
          </a:p>
        </p:txBody>
      </p:sp>
      <p:sp>
        <p:nvSpPr>
          <p:cNvPr id="57" name="Oval 56"/>
          <p:cNvSpPr/>
          <p:nvPr/>
        </p:nvSpPr>
        <p:spPr>
          <a:xfrm>
            <a:off x="19385280" y="7744967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9385280" y="8129015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9385280" y="8513063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9385280" y="8897111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rapezoid 60"/>
          <p:cNvSpPr/>
          <p:nvPr/>
        </p:nvSpPr>
        <p:spPr>
          <a:xfrm>
            <a:off x="20089368" y="7626096"/>
            <a:ext cx="1371600" cy="1298448"/>
          </a:xfrm>
          <a:prstGeom prst="trapezoid">
            <a:avLst/>
          </a:prstGeom>
          <a:solidFill>
            <a:srgbClr val="DCE6F2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272248" y="7863840"/>
            <a:ext cx="1005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71C3F"/>
                </a:solidFill>
                <a:latin typeface="Arial"/>
              </a:rPr>
              <a:t>dense
encoder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9604735" y="7854695"/>
            <a:ext cx="649225" cy="420625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9604735" y="8238743"/>
            <a:ext cx="649225" cy="36577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9604735" y="8275320"/>
            <a:ext cx="649225" cy="347471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9604735" y="8275320"/>
            <a:ext cx="649225" cy="731519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296376" y="7799831"/>
            <a:ext cx="585216" cy="475489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21881592" y="7653527"/>
            <a:ext cx="292608" cy="292608"/>
          </a:xfrm>
          <a:prstGeom prst="ellips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247352" y="7635240"/>
            <a:ext cx="2029968" cy="32918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6A4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2338792" y="7635240"/>
            <a:ext cx="18470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6A4C93"/>
                </a:solidFill>
                <a:latin typeface="Arial"/>
              </a:rPr>
              <a:t>DNA repair</a:t>
            </a:r>
          </a:p>
        </p:txBody>
      </p:sp>
      <p:cxnSp>
        <p:nvCxnSpPr>
          <p:cNvPr id="71" name="Connector 70"/>
          <p:cNvCxnSpPr/>
          <p:nvPr/>
        </p:nvCxnSpPr>
        <p:spPr>
          <a:xfrm flipV="1">
            <a:off x="21296376" y="8238744"/>
            <a:ext cx="585216" cy="36576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21881592" y="8092440"/>
            <a:ext cx="292608" cy="292608"/>
          </a:xfrm>
          <a:prstGeom prst="ellipse">
            <a:avLst/>
          </a:prstGeom>
          <a:solidFill>
            <a:srgbClr val="A64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247352" y="8074152"/>
            <a:ext cx="2029968" cy="32918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A64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338792" y="8074152"/>
            <a:ext cx="18470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A64D67"/>
                </a:solidFill>
                <a:latin typeface="Arial"/>
              </a:rPr>
              <a:t>T-cell signaling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1296376" y="8275320"/>
            <a:ext cx="585216" cy="402336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21881592" y="8531352"/>
            <a:ext cx="292608" cy="292608"/>
          </a:xfrm>
          <a:prstGeom prst="ellipse">
            <a:avLst/>
          </a:prstGeom>
          <a:solidFill>
            <a:srgbClr val="C65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22247352" y="8513064"/>
            <a:ext cx="2029968" cy="32918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C65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2338792" y="8513064"/>
            <a:ext cx="18470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65D37"/>
                </a:solidFill>
                <a:latin typeface="Arial"/>
              </a:rPr>
              <a:t>Cell junctions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4505920" y="7168896"/>
            <a:ext cx="3246120" cy="530352"/>
          </a:xfrm>
          <a:prstGeom prst="roundRect">
            <a:avLst/>
          </a:prstGeom>
          <a:solidFill>
            <a:srgbClr val="E9F4EE"/>
          </a:solidFill>
          <a:ln w="1397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4624792" y="7223760"/>
            <a:ext cx="300837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8C6A"/>
                </a:solidFill>
                <a:latin typeface="Arial"/>
              </a:rPr>
              <a:t>Reactome gene-program mask</a:t>
            </a:r>
          </a:p>
        </p:txBody>
      </p:sp>
      <p:sp>
        <p:nvSpPr>
          <p:cNvPr id="81" name="Down Arrow 80"/>
          <p:cNvSpPr/>
          <p:nvPr/>
        </p:nvSpPr>
        <p:spPr>
          <a:xfrm>
            <a:off x="25667208" y="7726679"/>
            <a:ext cx="329184" cy="310896"/>
          </a:xfrm>
          <a:prstGeom prst="downArrow">
            <a:avLst/>
          </a:prstGeom>
          <a:solidFill>
            <a:srgbClr val="178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7249120" y="7726679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7249120" y="8074152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7249120" y="8421624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7249120" y="8769096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24277320" y="7799831"/>
            <a:ext cx="2971800" cy="36576"/>
          </a:xfrm>
          <a:prstGeom prst="line">
            <a:avLst/>
          </a:prstGeom>
          <a:ln w="15240">
            <a:solidFill>
              <a:srgbClr val="6A4C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4277320" y="7799831"/>
            <a:ext cx="2971800" cy="731520"/>
          </a:xfrm>
          <a:prstGeom prst="line">
            <a:avLst/>
          </a:prstGeom>
          <a:ln w="15240">
            <a:solidFill>
              <a:srgbClr val="6A4C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4277320" y="8183879"/>
            <a:ext cx="2971800" cy="54865"/>
          </a:xfrm>
          <a:prstGeom prst="line">
            <a:avLst/>
          </a:prstGeom>
          <a:ln w="15240">
            <a:solidFill>
              <a:srgbClr val="A64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4277320" y="8238744"/>
            <a:ext cx="2971800" cy="640080"/>
          </a:xfrm>
          <a:prstGeom prst="line">
            <a:avLst/>
          </a:prstGeom>
          <a:ln w="15240">
            <a:solidFill>
              <a:srgbClr val="A64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4277320" y="8531351"/>
            <a:ext cx="2971800" cy="146305"/>
          </a:xfrm>
          <a:prstGeom prst="line">
            <a:avLst/>
          </a:prstGeom>
          <a:ln w="15240">
            <a:solidFill>
              <a:srgbClr val="C65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277320" y="8677656"/>
            <a:ext cx="2971800" cy="201168"/>
          </a:xfrm>
          <a:prstGeom prst="line">
            <a:avLst/>
          </a:prstGeom>
          <a:ln w="15240">
            <a:solidFill>
              <a:srgbClr val="C65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19220688" y="9052560"/>
            <a:ext cx="6035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genes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607272" y="90525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annotated latent program scores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4597360" y="905256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masked decoder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471880" y="905256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reconstructed genes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4996159" y="9601200"/>
            <a:ext cx="7406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97800"/>
                </a:solidFill>
                <a:latin typeface="Arial"/>
              </a:rPr>
              <a:t>2  QUERY MAPPING AND CROSS-MISSION COMPARISON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4996159" y="9966960"/>
            <a:ext cx="2926080" cy="987552"/>
          </a:xfrm>
          <a:prstGeom prst="roundRect">
            <a:avLst>
              <a:gd name="adj" fmla="val 6000"/>
            </a:avLst>
          </a:prstGeom>
          <a:solidFill>
            <a:srgbClr val="FAEFE7"/>
          </a:solidFill>
          <a:ln w="17780">
            <a:solidFill>
              <a:srgbClr val="D9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200"/>
              </a:spcAft>
            </a:pPr>
            <a:r>
              <a:rPr sz="1750" b="1">
                <a:solidFill>
                  <a:srgbClr val="071C3F"/>
                </a:solidFill>
                <a:latin typeface="Arial"/>
              </a:rPr>
              <a:t>NASA OSDR query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FLT and GC counts + accession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8041112" y="10277856"/>
            <a:ext cx="411480" cy="329184"/>
          </a:xfrm>
          <a:prstGeom prst="rightArrow">
            <a:avLst/>
          </a:prstGeom>
          <a:solidFill>
            <a:srgbClr val="D9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8562320" y="9966960"/>
            <a:ext cx="283464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71C3F"/>
                </a:solidFill>
                <a:latin typeface="Arial"/>
              </a:rPr>
              <a:t>Reference-query map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scArches adaptation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21515832" y="10277856"/>
            <a:ext cx="411480" cy="329184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22037040" y="9966960"/>
            <a:ext cx="269748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2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71C3F"/>
                </a:solidFill>
                <a:latin typeface="Arial"/>
              </a:rPr>
              <a:t>Program scores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posterior mean per sample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24853392" y="10277856"/>
            <a:ext cx="365760" cy="329184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25328880" y="9966960"/>
            <a:ext cx="301752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200"/>
              </a:spcAft>
            </a:pPr>
            <a:r>
              <a:rPr sz="1650" b="1">
                <a:solidFill>
                  <a:srgbClr val="071C3F"/>
                </a:solidFill>
                <a:latin typeface="Arial"/>
              </a:rPr>
              <a:t>Project-balanced shift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equal-weight mean FLT minus GC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5087600" y="11439144"/>
            <a:ext cx="13213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approximately 2,000 HVGs | 319-387 retained Reactome programs | negative-binomial reference | 250-epoch query map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4493240" y="12527280"/>
            <a:ext cx="14401800" cy="1004011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4749272" y="12710160"/>
            <a:ext cx="1388973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4886431" y="12728448"/>
            <a:ext cx="1361541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11111"/>
                </a:solidFill>
                <a:latin typeface="Arial"/>
              </a:rPr>
              <a:t>RESULTS: ALL 13 PRIMARY RETAINED PATHWAY SHIFTS</a:t>
            </a:r>
          </a:p>
        </p:txBody>
      </p:sp>
      <p:pic>
        <p:nvPicPr>
          <p:cNvPr id="108" name="Retained pathway shifts" descr="Project-balanced expiMap pathway shifts for thymus, skin, liver, and spleen, with project effects and three-training range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0" y="13770356"/>
            <a:ext cx="13761720" cy="76454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15041880" y="21598128"/>
            <a:ext cx="133045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97889"/>
                </a:solidFill>
                <a:latin typeface="Arial"/>
              </a:rPr>
              <a:t>All 13 primary retained programs are shown; three exploratory kidney programs remain in the paper. Open circles are OSDR projects; colored ranges span three complete reference-query trainings. All displayed shifts are lower in flight; axes are tissue specific.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9215080" y="4892040"/>
            <a:ext cx="14356080" cy="1214323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9471111" y="5074920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9608271" y="5093207"/>
            <a:ext cx="1356969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11111"/>
                </a:solidFill>
                <a:latin typeface="Arial"/>
              </a:rPr>
              <a:t>RESULTS: BIOLOGICAL INTERPRETATION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672280" y="5870448"/>
            <a:ext cx="1344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36DA2"/>
                </a:solidFill>
                <a:latin typeface="Arial"/>
              </a:rPr>
              <a:t>Final robustness-filtered tissue stories</a:t>
            </a:r>
          </a:p>
        </p:txBody>
      </p:sp>
      <p:pic>
        <p:nvPicPr>
          <p:cNvPr id="114" name="Tissue-state hypotheses" descr="Observed lower expiMap program scores and qualified tissue-state hypotheses for thymus, skin, liver, and spleen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76671" y="6281928"/>
            <a:ext cx="11632896" cy="10259568"/>
          </a:xfrm>
          <a:prstGeom prst="rect">
            <a:avLst/>
          </a:prstGeom>
        </p:spPr>
      </p:pic>
      <p:sp>
        <p:nvSpPr>
          <p:cNvPr id="115" name="Rectangle 114"/>
          <p:cNvSpPr/>
          <p:nvPr/>
        </p:nvSpPr>
        <p:spPr>
          <a:xfrm>
            <a:off x="29215080" y="17309592"/>
            <a:ext cx="14356080" cy="324612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9471111" y="17492472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9608271" y="17510760"/>
            <a:ext cx="1356969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CONCLUSIONS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9718000" y="18333720"/>
            <a:ext cx="1335024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>
                <a:solidFill>
                  <a:srgbClr val="33445D"/>
                </a:solidFill>
                <a:latin typeface="Arial"/>
              </a:rPr>
              <a:t>• Spleen was strongest: T-cell receptor, neutrophil degranulation, and C-type lectin receptor programs were lower across five projects and three trainings; all had GSEA FDR &lt;0.05.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>
                <a:solidFill>
                  <a:srgbClr val="33445D"/>
                </a:solidFill>
                <a:latin typeface="Arial"/>
              </a:rPr>
              <a:t>• Skin and thymus emphasized lower tissue-maintenance programs; liver added a lower adaptive-immune axis to heterogeneous metabolism.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>
                <a:solidFill>
                  <a:srgbClr val="33445D"/>
                </a:solidFill>
                <a:latin typeface="Arial"/>
              </a:rPr>
              <a:t>• Bulk latent scores are testable hypotheses, not causal or cell-type-resolved pathway activity.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9215080" y="20802600"/>
            <a:ext cx="14356080" cy="176479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9471111" y="20985480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9608271" y="21003768"/>
            <a:ext cx="1356969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REFERENCES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9690568" y="21744432"/>
            <a:ext cx="1340510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33445D"/>
                </a:solidFill>
                <a:latin typeface="Arial"/>
              </a:rPr>
              <a:t>1 Gebre et al., NAR 2025 (OSDR). 2 Lotfollahi et al., Nat Cell Biol 2023 (expiMap). 3 Lachmann et al., Nat Commun 2018 (ARCHS4). 4 Milacic et al., NAR 2024 (Reactome). 5 Horie et al., Sci Rep 2019. 6 Cope et al., Commun Med 2024. 7 Beheshti et al., Sci Rep 2019. 8 Gridley et al., J Appl Physiol 2009.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4493240" y="22786848"/>
            <a:ext cx="28803600" cy="1901952"/>
          </a:xfrm>
          <a:prstGeom prst="rect">
            <a:avLst/>
          </a:prstGeom>
          <a:solidFill>
            <a:srgbClr val="DD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4813280" y="228782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Acknowledgements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813280" y="23335488"/>
            <a:ext cx="1883664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3445D"/>
                </a:solidFill>
                <a:latin typeface="Arial"/>
              </a:rPr>
              <a:t>Mentor: James Casaletto | NASA Space Life Sciences Training Program | NASA OSDR, ARCHS4, and Reactome investigators and curation teams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90200" y="23152608"/>
            <a:ext cx="72420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82552"/>
                </a:solidFill>
                <a:latin typeface="Arial"/>
              </a:rPr>
              <a:t>jasontrinh@berkeley.edu
github.com/jasont314/nasa-mouse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0080" y="23865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97889"/>
                </a:solidFill>
                <a:latin typeface="Arial"/>
              </a:rPr>
              <a:t>www.nasa.gov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Cross-mission expiMap analysis recovers established tissue responses and identifies complementary pathway shifts in mouse spaceflight transcriptomes</dc:title>
  <dc:subject>Template-based cross-mission expiMap poster using NASA OSDR mouse RNA-seq</dc:subject>
  <dc:creator>Jason Trinh</dc:creator>
  <cp:keywords>spaceflight, expiMap, OSDR, ARCHS4, Reactome, transcriptomics, NASA</cp:keywords>
  <dc:description>Layout and NASA branding reference 00 Poster Session Student Template_Approved by Legal.pptx.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