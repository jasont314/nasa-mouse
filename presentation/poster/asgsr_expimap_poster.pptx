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2468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4617720"/>
          </a:xfrm>
          <a:prstGeom prst="rect">
            <a:avLst/>
          </a:prstGeom>
          <a:solidFill>
            <a:srgbClr val="DD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6459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97889"/>
                </a:solidFill>
                <a:latin typeface="Arial"/>
              </a:rPr>
              <a:t>National Aeronautics and Space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9136320" cy="749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111111"/>
                </a:solidFill>
                <a:latin typeface="Arial"/>
              </a:rPr>
              <a:t>Cross-Mission expiMap Analysis Recovers Established Tissue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39136320" cy="749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111111"/>
                </a:solidFill>
                <a:latin typeface="Arial"/>
              </a:rPr>
              <a:t>and Identifies Complementary Pathway Shifts in Mouse Spaceflight Transcriptomes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3749040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97889"/>
                </a:solidFill>
                <a:latin typeface="Arial"/>
              </a:rPr>
              <a:t>Jason Trinh / University of California, Berkeley | NASA Space Life Sciences Training Program, NASA Ames Research Center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0" y="713232"/>
            <a:ext cx="2788920" cy="23189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4892040"/>
            <a:ext cx="13853160" cy="3456432"/>
          </a:xfrm>
          <a:prstGeom prst="rect">
            <a:avLst/>
          </a:prstGeom>
          <a:solidFill>
            <a:srgbClr val="DC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5074920"/>
            <a:ext cx="13341096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AEB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093207"/>
            <a:ext cx="1306677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11111"/>
                </a:solidFill>
                <a:latin typeface="Arial"/>
              </a:rP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25312"/>
            <a:ext cx="1293876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3445D"/>
                </a:solidFill>
                <a:latin typeface="Arial"/>
              </a:rPr>
              <a:t>Spaceflight affects multiple organs, but mission differences can obscure recurring biological responses. We mapped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63056"/>
            <a:ext cx="1293876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3445D"/>
                </a:solidFill>
                <a:latin typeface="Arial"/>
              </a:rPr>
              <a:t>NASA OSDR mouse bulk RNA-sequencing samples into tissue-matched expiMap models trained on non-spaceflight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00800"/>
            <a:ext cx="1293876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3445D"/>
                </a:solidFill>
                <a:latin typeface="Arial"/>
              </a:rPr>
              <a:t>ARCHS4 data, using about 2,000 highly variable genes linked to mouse Reactome pathways. Project-balanced shifts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638544"/>
            <a:ext cx="1293876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3445D"/>
                </a:solidFill>
                <a:latin typeface="Arial"/>
              </a:rPr>
              <a:t>were evaluated with enrichment, held-out projects, three complete trainings, composition proxies, and member genes.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876288"/>
            <a:ext cx="1293876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3445D"/>
                </a:solidFill>
                <a:latin typeface="Arial"/>
              </a:rPr>
              <a:t>Four tissues produced reproducible patterns: lower thymic repair and cytoskeletal programs; lower skin regulatory,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7114032"/>
            <a:ext cx="1293876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3445D"/>
                </a:solidFill>
                <a:latin typeface="Arial"/>
              </a:rPr>
              <a:t>repair, barrier-lipid, and cell-junction programs; lower hepatic antigen-presentation and T-cell signaling; and lower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7351776"/>
            <a:ext cx="1293876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3445D"/>
                </a:solidFill>
                <a:latin typeface="Arial"/>
              </a:rPr>
              <a:t>splenic T-cell, neutrophil-degranulation, and C-type lectin-receptor programs; all three splenic programs had GSEA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7589520"/>
            <a:ext cx="1293876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33445D"/>
                </a:solidFill>
                <a:latin typeface="Arial"/>
              </a:rPr>
              <a:t>FDR &lt; 0.05. These results recover established responses and identify complementary tissue hypotheses to 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8622792"/>
            <a:ext cx="13853160" cy="4709160"/>
          </a:xfrm>
          <a:prstGeom prst="rect">
            <a:avLst/>
          </a:prstGeom>
          <a:solidFill>
            <a:srgbClr val="DC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" y="8805672"/>
            <a:ext cx="13341096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AEB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8823960"/>
            <a:ext cx="1306677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11111"/>
                </a:solidFill>
                <a:latin typeface="Arial"/>
              </a:rPr>
              <a:t>INTRODUCTION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9619488"/>
            <a:ext cx="1284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A6D1D"/>
                </a:solidFill>
                <a:latin typeface="Arial"/>
              </a:rPr>
              <a:t>PROJECT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10012680"/>
            <a:ext cx="128473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71C3F"/>
                </a:solidFill>
                <a:latin typeface="Arial"/>
              </a:rPr>
              <a:t>Identify reproducible tissue-specific gene programs across spaceflight missions.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0835640"/>
            <a:ext cx="1284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9A6D1D"/>
                </a:solidFill>
                <a:latin typeface="Arial"/>
              </a:rPr>
              <a:t>THE CENTRAL 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1274552"/>
            <a:ext cx="24688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71C3F"/>
                </a:solidFill>
                <a:latin typeface="Arial"/>
              </a:rPr>
              <a:t>Observed expression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11274552"/>
            <a:ext cx="2514600" cy="548640"/>
          </a:xfrm>
          <a:prstGeom prst="roundRect">
            <a:avLst/>
          </a:prstGeom>
          <a:solidFill>
            <a:srgbClr val="D9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11292840"/>
            <a:ext cx="238658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Spaceflight biology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11274552"/>
            <a:ext cx="347472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97889"/>
                </a:solidFill>
                <a:latin typeface="Arial"/>
              </a:rPr>
              <a:t>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36792" y="11274552"/>
            <a:ext cx="2011680" cy="548640"/>
          </a:xfrm>
          <a:prstGeom prst="roundRect">
            <a:avLst/>
          </a:prstGeom>
          <a:solidFill>
            <a:srgbClr val="08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1292840"/>
            <a:ext cx="188366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Tissue biology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1" y="11274552"/>
            <a:ext cx="347472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97889"/>
                </a:solidFill>
                <a:latin typeface="Arial"/>
              </a:rPr>
              <a:t>+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41663" y="11274552"/>
            <a:ext cx="2148840" cy="548640"/>
          </a:xfrm>
          <a:prstGeom prst="roundRect">
            <a:avLst/>
          </a:prstGeom>
          <a:solidFill>
            <a:srgbClr val="697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05672" y="11292840"/>
            <a:ext cx="2020824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Animal variation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90503" y="11274552"/>
            <a:ext cx="347472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97889"/>
                </a:solidFill>
                <a:latin typeface="Arial"/>
              </a:rPr>
              <a:t>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283695" y="11274552"/>
            <a:ext cx="2331720" cy="548640"/>
          </a:xfrm>
          <a:prstGeom prst="roundRect">
            <a:avLst/>
          </a:prstGeom>
          <a:solidFill>
            <a:srgbClr val="9A6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47703" y="11292840"/>
            <a:ext cx="2203703" cy="4937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Arial"/>
              </a:rPr>
              <a:t>Study / protocol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12024360"/>
            <a:ext cx="1284732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445D"/>
                </a:solidFill>
                <a:latin typeface="Arial"/>
              </a:rPr>
              <a:t>Study identity and protocol can dominate an unconstrained expression representation. Tissue-matched reference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12371832"/>
            <a:ext cx="1284732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445D"/>
                </a:solidFill>
                <a:latin typeface="Arial"/>
              </a:rPr>
              <a:t>mapping, accession conditioning, and equal project weighting reduce this bias without removing all confounding.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13606272"/>
            <a:ext cx="13853160" cy="8961120"/>
          </a:xfrm>
          <a:prstGeom prst="rect">
            <a:avLst/>
          </a:prstGeom>
          <a:solidFill>
            <a:srgbClr val="DC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6072" y="13789152"/>
            <a:ext cx="13341096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AEB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13807440"/>
            <a:ext cx="13066776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11111"/>
                </a:solidFill>
                <a:latin typeface="Arial"/>
              </a:rPr>
              <a:t>DATA AND REFERENCE MAPPING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14657832"/>
            <a:ext cx="1284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9A6D1D"/>
                </a:solidFill>
                <a:latin typeface="Arial"/>
              </a:rPr>
              <a:t>ANALYSIS SCOPE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822960" y="15023592"/>
          <a:ext cx="119786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514600"/>
                <a:gridCol w="2148840"/>
                <a:gridCol w="2057400"/>
                <a:gridCol w="2423160"/>
              </a:tblGrid>
              <a:tr h="502920">
                <a:tc>
                  <a:txBody>
                    <a:bodyPr wrap="none" anchor="ctr"/>
                    <a:lstStyle/>
                    <a:p>
                      <a:pPr algn="l" latinLnBrk="0" eaLnBrk="0" hangingPunct="0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Tissue</a:t>
                      </a:r>
                    </a:p>
                  </a:txBody>
                  <a:tcPr marL="594360" marR="54864" marT="27432" marB="27432">
                    <a:solidFill>
                      <a:srgbClr val="082552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ARCHS4</a:t>
                      </a:r>
                    </a:p>
                  </a:txBody>
                  <a:tcPr marL="64008" marR="54864" marT="27432" marB="27432">
                    <a:solidFill>
                      <a:srgbClr val="082552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OSDR</a:t>
                      </a:r>
                    </a:p>
                  </a:txBody>
                  <a:tcPr marL="64008" marR="54864" marT="27432" marB="27432">
                    <a:solidFill>
                      <a:srgbClr val="082552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Projects</a:t>
                      </a:r>
                    </a:p>
                  </a:txBody>
                  <a:tcPr marL="64008" marR="54864" marT="27432" marB="27432">
                    <a:solidFill>
                      <a:srgbClr val="082552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Programs</a:t>
                      </a:r>
                    </a:p>
                  </a:txBody>
                  <a:tcPr marL="64008" marR="54864" marT="27432" marB="27432">
                    <a:solidFill>
                      <a:srgbClr val="082552"/>
                    </a:solidFill>
                  </a:tcPr>
                </a:tc>
              </a:tr>
              <a:tr h="502920">
                <a:tc>
                  <a:txBody>
                    <a:bodyPr wrap="none" anchor="ctr"/>
                    <a:lstStyle/>
                    <a:p>
                      <a:pPr algn="l" latinLnBrk="0" eaLnBrk="0" hangingPunct="0"/>
                      <a:r>
                        <a:rPr sz="1450" b="1">
                          <a:solidFill>
                            <a:srgbClr val="6A4C93"/>
                          </a:solidFill>
                          <a:latin typeface="Arial"/>
                        </a:rPr>
                        <a:t>Thymus</a:t>
                      </a:r>
                    </a:p>
                  </a:txBody>
                  <a:tcPr marL="59436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1,362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 anchor="ctr"/>
                    <a:lstStyle/>
                    <a:p>
                      <a:pPr algn="l" latinLnBrk="0" eaLnBrk="0" hangingPunct="0"/>
                      <a:r>
                        <a:rPr sz="1450" b="1">
                          <a:solidFill>
                            <a:srgbClr val="C65D37"/>
                          </a:solidFill>
                          <a:latin typeface="Arial"/>
                        </a:rPr>
                        <a:t>Skin</a:t>
                      </a:r>
                    </a:p>
                  </a:txBody>
                  <a:tcPr marL="594360" marR="54864" marT="27432" marB="27432">
                    <a:solidFill>
                      <a:srgbClr val="EEF4F8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2,593</a:t>
                      </a:r>
                    </a:p>
                  </a:txBody>
                  <a:tcPr marL="64008" marR="54864" marT="27432" marB="27432">
                    <a:solidFill>
                      <a:srgbClr val="EEF4F8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64008" marR="54864" marT="27432" marB="27432">
                    <a:solidFill>
                      <a:srgbClr val="EEF4F8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54864" marT="27432" marB="27432">
                    <a:solidFill>
                      <a:srgbClr val="EEF4F8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64008" marR="54864" marT="27432" marB="27432">
                    <a:solidFill>
                      <a:srgbClr val="EEF4F8"/>
                    </a:solidFill>
                  </a:tcPr>
                </a:tc>
              </a:tr>
              <a:tr h="502920">
                <a:tc>
                  <a:txBody>
                    <a:bodyPr wrap="none" anchor="ctr"/>
                    <a:lstStyle/>
                    <a:p>
                      <a:pPr algn="l" latinLnBrk="0" eaLnBrk="0" hangingPunct="0"/>
                      <a:r>
                        <a:rPr sz="1450" b="1">
                          <a:solidFill>
                            <a:srgbClr val="13877C"/>
                          </a:solidFill>
                          <a:latin typeface="Arial"/>
                        </a:rPr>
                        <a:t>Liver</a:t>
                      </a:r>
                    </a:p>
                  </a:txBody>
                  <a:tcPr marL="594360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5,000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 anchor="ctr"/>
                    <a:lstStyle/>
                    <a:p>
                      <a:pPr algn="l" latinLnBrk="0" eaLnBrk="0" hangingPunct="0"/>
                      <a:r>
                        <a:rPr sz="1450" b="1">
                          <a:solidFill>
                            <a:srgbClr val="A64D67"/>
                          </a:solidFill>
                          <a:latin typeface="Arial"/>
                        </a:rPr>
                        <a:t>Spleen</a:t>
                      </a:r>
                    </a:p>
                  </a:txBody>
                  <a:tcPr marL="594360" marR="54864" marT="27432" marB="27432">
                    <a:solidFill>
                      <a:srgbClr val="EEF4F8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6,289</a:t>
                      </a:r>
                    </a:p>
                  </a:txBody>
                  <a:tcPr marL="64008" marR="54864" marT="27432" marB="27432">
                    <a:solidFill>
                      <a:srgbClr val="EEF4F8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64008" marR="54864" marT="27432" marB="27432">
                    <a:solidFill>
                      <a:srgbClr val="EEF4F8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54864" marT="27432" marB="27432">
                    <a:solidFill>
                      <a:srgbClr val="EEF4F8"/>
                    </a:solidFill>
                  </a:tcPr>
                </a:tc>
                <a:tc>
                  <a:txBody>
                    <a:bodyPr wrap="none" anchor="ctr"/>
                    <a:lstStyle/>
                    <a:p>
                      <a:pPr algn="ctr" latinLnBrk="0" eaLnBrk="0" hangingPunct="0"/>
                      <a:r>
                        <a:rPr sz="1450" b="0">
                          <a:solidFill>
                            <a:srgbClr val="33445D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64008" marR="54864" marT="27432" marB="27432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822960" y="17666208"/>
            <a:ext cx="1284732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697889"/>
                </a:solidFill>
                <a:latin typeface="Arial"/>
              </a:rPr>
              <a:t>Spleen excludes nine condition-strain-confounded OSD-288 samples from the primary analysis.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18178272"/>
            <a:ext cx="128473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9A6D1D"/>
                </a:solidFill>
                <a:latin typeface="Arial"/>
              </a:rPr>
              <a:t>METHODS: REFERENCE TRAINING AND QUERY MAPPING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18580608"/>
            <a:ext cx="12847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6DA2"/>
                </a:solidFill>
                <a:latin typeface="Arial"/>
              </a:rPr>
              <a:t>1  REFERENCE TRAINING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18909792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E9F3F8"/>
          </a:solidFill>
          <a:ln w="17780">
            <a:solidFill>
              <a:srgbClr val="23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bIns="36576"/>
          <a:lstStyle/>
          <a:p>
            <a:pPr algn="ctr" latinLnBrk="0" eaLnBrk="0" hangingPunct="0">
              <a:spcAft>
                <a:spcPts val="200"/>
              </a:spcAft>
            </a:pPr>
            <a:r>
              <a:rPr sz="1550" b="1">
                <a:solidFill>
                  <a:srgbClr val="071C3F"/>
                </a:solidFill>
                <a:latin typeface="Arial"/>
              </a:rPr>
              <a:t>ARCHS4 reference</a:t>
            </a:r>
          </a:p>
          <a:p>
            <a:pPr algn="ctr" latinLnBrk="0" eaLnBrk="0" hangingPunct="0"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697889"/>
                </a:solidFill>
                <a:latin typeface="Arial"/>
              </a:rPr>
              <a:t>non-spaceflight tissue counts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3730752" y="19202400"/>
            <a:ext cx="347472" cy="310896"/>
          </a:xfrm>
          <a:prstGeom prst="rightArrow">
            <a:avLst/>
          </a:prstGeom>
          <a:solidFill>
            <a:srgbClr val="236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206240" y="18836640"/>
            <a:ext cx="946404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400" y="18900648"/>
            <a:ext cx="91897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1C3F"/>
                </a:solidFill>
                <a:latin typeface="Arial"/>
              </a:rPr>
              <a:t>expiMap reference with Reactome-masked decoder</a:t>
            </a:r>
          </a:p>
        </p:txBody>
      </p:sp>
      <p:sp>
        <p:nvSpPr>
          <p:cNvPr id="51" name="Oval 50"/>
          <p:cNvSpPr/>
          <p:nvPr/>
        </p:nvSpPr>
        <p:spPr>
          <a:xfrm>
            <a:off x="4617720" y="19275552"/>
            <a:ext cx="146304" cy="146304"/>
          </a:xfrm>
          <a:prstGeom prst="ellipse">
            <a:avLst/>
          </a:prstGeom>
          <a:solidFill>
            <a:srgbClr val="A9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617720" y="19458432"/>
            <a:ext cx="146304" cy="146304"/>
          </a:xfrm>
          <a:prstGeom prst="ellipse">
            <a:avLst/>
          </a:prstGeom>
          <a:solidFill>
            <a:srgbClr val="A9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617720" y="19641312"/>
            <a:ext cx="146304" cy="146304"/>
          </a:xfrm>
          <a:prstGeom prst="ellipse">
            <a:avLst/>
          </a:prstGeom>
          <a:solidFill>
            <a:srgbClr val="A9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360920" y="19275552"/>
            <a:ext cx="173736" cy="173736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4764024" y="19348704"/>
            <a:ext cx="2596896" cy="9144"/>
          </a:xfrm>
          <a:prstGeom prst="line">
            <a:avLst/>
          </a:prstGeom>
          <a:ln w="6985">
            <a:solidFill>
              <a:srgbClr val="BCC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764024" y="19357848"/>
            <a:ext cx="2596896" cy="173736"/>
          </a:xfrm>
          <a:prstGeom prst="line">
            <a:avLst/>
          </a:prstGeom>
          <a:ln w="6985">
            <a:solidFill>
              <a:srgbClr val="BCC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764024" y="19357848"/>
            <a:ext cx="2596896" cy="356616"/>
          </a:xfrm>
          <a:prstGeom prst="line">
            <a:avLst/>
          </a:prstGeom>
          <a:ln w="6985">
            <a:solidFill>
              <a:srgbClr val="BCC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360920" y="19458432"/>
            <a:ext cx="173736" cy="173736"/>
          </a:xfrm>
          <a:prstGeom prst="ellipse">
            <a:avLst/>
          </a:prstGeom>
          <a:solidFill>
            <a:srgbClr val="A64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4764024" y="19348704"/>
            <a:ext cx="2596896" cy="192024"/>
          </a:xfrm>
          <a:prstGeom prst="line">
            <a:avLst/>
          </a:prstGeom>
          <a:ln w="6985">
            <a:solidFill>
              <a:srgbClr val="BCC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764024" y="19531584"/>
            <a:ext cx="2596896" cy="9144"/>
          </a:xfrm>
          <a:prstGeom prst="line">
            <a:avLst/>
          </a:prstGeom>
          <a:ln w="6985">
            <a:solidFill>
              <a:srgbClr val="BCC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764024" y="19540728"/>
            <a:ext cx="2596896" cy="173736"/>
          </a:xfrm>
          <a:prstGeom prst="line">
            <a:avLst/>
          </a:prstGeom>
          <a:ln w="6985">
            <a:solidFill>
              <a:srgbClr val="BCC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360920" y="19641312"/>
            <a:ext cx="173736" cy="173736"/>
          </a:xfrm>
          <a:prstGeom prst="ellipse">
            <a:avLst/>
          </a:prstGeom>
          <a:solidFill>
            <a:srgbClr val="C65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4764024" y="19348704"/>
            <a:ext cx="2596896" cy="374904"/>
          </a:xfrm>
          <a:prstGeom prst="line">
            <a:avLst/>
          </a:prstGeom>
          <a:ln w="6985">
            <a:solidFill>
              <a:srgbClr val="BCC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764024" y="19531584"/>
            <a:ext cx="2596896" cy="192024"/>
          </a:xfrm>
          <a:prstGeom prst="line">
            <a:avLst/>
          </a:prstGeom>
          <a:ln w="6985">
            <a:solidFill>
              <a:srgbClr val="BCC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764024" y="19714464"/>
            <a:ext cx="2596896" cy="9144"/>
          </a:xfrm>
          <a:prstGeom prst="line">
            <a:avLst/>
          </a:prstGeom>
          <a:ln w="6985">
            <a:solidFill>
              <a:srgbClr val="BCC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534656" y="19321272"/>
            <a:ext cx="4489704" cy="36576"/>
          </a:xfrm>
          <a:prstGeom prst="line">
            <a:avLst/>
          </a:prstGeom>
          <a:ln w="1079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534656" y="19357848"/>
            <a:ext cx="4489704" cy="292608"/>
          </a:xfrm>
          <a:prstGeom prst="line">
            <a:avLst/>
          </a:prstGeom>
          <a:ln w="1079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7534656" y="19485864"/>
            <a:ext cx="4489704" cy="54864"/>
          </a:xfrm>
          <a:prstGeom prst="line">
            <a:avLst/>
          </a:prstGeom>
          <a:ln w="10795">
            <a:solidFill>
              <a:srgbClr val="A64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534656" y="19540728"/>
            <a:ext cx="4489704" cy="274320"/>
          </a:xfrm>
          <a:prstGeom prst="line">
            <a:avLst/>
          </a:prstGeom>
          <a:ln w="10795">
            <a:solidFill>
              <a:srgbClr val="A64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534656" y="19650456"/>
            <a:ext cx="4489704" cy="73152"/>
          </a:xfrm>
          <a:prstGeom prst="line">
            <a:avLst/>
          </a:prstGeom>
          <a:ln w="10795">
            <a:solidFill>
              <a:srgbClr val="C65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534656" y="19723608"/>
            <a:ext cx="4489704" cy="91440"/>
          </a:xfrm>
          <a:prstGeom prst="line">
            <a:avLst/>
          </a:prstGeom>
          <a:ln w="10795">
            <a:solidFill>
              <a:srgbClr val="C65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rapezoid 71"/>
          <p:cNvSpPr/>
          <p:nvPr/>
        </p:nvSpPr>
        <p:spPr>
          <a:xfrm rot="16200000">
            <a:off x="9418320" y="19202400"/>
            <a:ext cx="868680" cy="612648"/>
          </a:xfrm>
          <a:prstGeom prst="trapezoid">
            <a:avLst/>
          </a:prstGeom>
          <a:noFill/>
          <a:ln w="13970">
            <a:solidFill>
              <a:srgbClr val="178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2024360" y="19248120"/>
            <a:ext cx="146304" cy="146304"/>
          </a:xfrm>
          <a:prstGeom prst="ellipse">
            <a:avLst/>
          </a:prstGeom>
          <a:solidFill>
            <a:srgbClr val="A9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2024360" y="19412712"/>
            <a:ext cx="146304" cy="146304"/>
          </a:xfrm>
          <a:prstGeom prst="ellipse">
            <a:avLst/>
          </a:prstGeom>
          <a:solidFill>
            <a:srgbClr val="A9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2024360" y="19577304"/>
            <a:ext cx="146304" cy="146304"/>
          </a:xfrm>
          <a:prstGeom prst="ellipse">
            <a:avLst/>
          </a:prstGeom>
          <a:solidFill>
            <a:srgbClr val="A9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2024360" y="19741896"/>
            <a:ext cx="146304" cy="146304"/>
          </a:xfrm>
          <a:prstGeom prst="ellipse">
            <a:avLst/>
          </a:prstGeom>
          <a:solidFill>
            <a:srgbClr val="A9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60" y="20116800"/>
            <a:ext cx="12847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97800"/>
                </a:solidFill>
                <a:latin typeface="Arial"/>
              </a:rPr>
              <a:t>2  QUERY MAPPING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2960" y="20427696"/>
            <a:ext cx="2971800" cy="841248"/>
          </a:xfrm>
          <a:prstGeom prst="roundRect">
            <a:avLst>
              <a:gd name="adj" fmla="val 6000"/>
            </a:avLst>
          </a:prstGeom>
          <a:solidFill>
            <a:srgbClr val="FAEFE7"/>
          </a:solidFill>
          <a:ln w="17780">
            <a:solidFill>
              <a:srgbClr val="D9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bIns="36576"/>
          <a:lstStyle/>
          <a:p>
            <a:pPr algn="ctr" latinLnBrk="0" eaLnBrk="0" hangingPunct="0">
              <a:spcAft>
                <a:spcPts val="200"/>
              </a:spcAft>
            </a:pPr>
            <a:r>
              <a:rPr sz="1500" b="1">
                <a:solidFill>
                  <a:srgbClr val="071C3F"/>
                </a:solidFill>
                <a:latin typeface="Arial"/>
              </a:rPr>
              <a:t>NASA OSDR query</a:t>
            </a:r>
          </a:p>
          <a:p>
            <a:pPr algn="ctr" latinLnBrk="0" eaLnBrk="0" hangingPunct="0"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697889"/>
                </a:solidFill>
                <a:latin typeface="Arial"/>
              </a:rPr>
              <a:t>FLT, GC, and accession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3931920" y="20692872"/>
            <a:ext cx="347472" cy="292608"/>
          </a:xfrm>
          <a:prstGeom prst="rightArrow">
            <a:avLst/>
          </a:prstGeom>
          <a:solidFill>
            <a:srgbClr val="D9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407408" y="20427696"/>
            <a:ext cx="3749039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9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bIns="36576"/>
          <a:lstStyle/>
          <a:p>
            <a:pPr algn="ctr" latinLnBrk="0" eaLnBrk="0" hangingPunct="0">
              <a:spcAft>
                <a:spcPts val="200"/>
              </a:spcAft>
            </a:pPr>
            <a:r>
              <a:rPr sz="1450" b="1">
                <a:solidFill>
                  <a:srgbClr val="071C3F"/>
                </a:solidFill>
                <a:latin typeface="Arial"/>
              </a:rPr>
              <a:t>scArches adaptation</a:t>
            </a:r>
          </a:p>
          <a:p>
            <a:pPr algn="ctr" latinLnBrk="0" eaLnBrk="0" hangingPunct="0"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697889"/>
                </a:solidFill>
                <a:latin typeface="Arial"/>
              </a:rPr>
              <a:t>map into the trained reference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8302752" y="20692872"/>
            <a:ext cx="347472" cy="292608"/>
          </a:xfrm>
          <a:prstGeom prst="rightArrow">
            <a:avLst/>
          </a:prstGeom>
          <a:solidFill>
            <a:srgbClr val="236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778240" y="20427696"/>
            <a:ext cx="4892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82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bIns="36576"/>
          <a:lstStyle/>
          <a:p>
            <a:pPr algn="ctr" latinLnBrk="0" eaLnBrk="0" hangingPunct="0">
              <a:spcAft>
                <a:spcPts val="200"/>
              </a:spcAft>
            </a:pPr>
            <a:r>
              <a:rPr sz="1450" b="1">
                <a:solidFill>
                  <a:srgbClr val="071C3F"/>
                </a:solidFill>
                <a:latin typeface="Arial"/>
              </a:rPr>
              <a:t>Mapped OSDR samples</a:t>
            </a:r>
          </a:p>
          <a:p>
            <a:pPr algn="ctr" latinLnBrk="0" eaLnBrk="0" hangingPunct="0">
              <a:spcBef>
                <a:spcPts val="0"/>
              </a:spcBef>
              <a:spcAft>
                <a:spcPts val="0"/>
              </a:spcAft>
            </a:pPr>
            <a:r>
              <a:rPr sz="1250">
                <a:solidFill>
                  <a:srgbClr val="697889"/>
                </a:solidFill>
                <a:latin typeface="Arial"/>
              </a:rPr>
              <a:t>posterior pathway scores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" y="21396960"/>
            <a:ext cx="1284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97889"/>
                </a:solidFill>
                <a:latin typeface="Arial"/>
              </a:rPr>
              <a:t>~2,000 tissue HVGs | 319-387 Reactome programs | accession retained as a query covariate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4493240" y="4892040"/>
            <a:ext cx="14401800" cy="7360920"/>
          </a:xfrm>
          <a:prstGeom prst="rect">
            <a:avLst/>
          </a:prstGeom>
          <a:solidFill>
            <a:srgbClr val="DC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4749272" y="5074920"/>
            <a:ext cx="13889736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AEB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886431" y="5093207"/>
            <a:ext cx="13615415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11111"/>
                </a:solidFill>
                <a:latin typeface="Arial"/>
              </a:rPr>
              <a:t>PROGRAM SCORES AND LITERATURE ANNOTATION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1579840" y="5916168"/>
            <a:ext cx="0" cy="5943600"/>
          </a:xfrm>
          <a:prstGeom prst="line">
            <a:avLst/>
          </a:prstGeom>
          <a:ln w="12700">
            <a:solidFill>
              <a:srgbClr val="AEBC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4859000" y="5870448"/>
            <a:ext cx="64465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36DA2"/>
                </a:solidFill>
                <a:latin typeface="Arial"/>
              </a:rPr>
              <a:t>PROGRAM-SCORE SUMMARY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4996159" y="6254496"/>
            <a:ext cx="27889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082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bIns="36576"/>
          <a:lstStyle/>
          <a:p>
            <a:pPr algn="ctr" latinLnBrk="0" eaLnBrk="0" hangingPunct="0">
              <a:spcAft>
                <a:spcPts val="200"/>
              </a:spcAft>
            </a:pPr>
            <a:r>
              <a:rPr sz="1350" b="1">
                <a:solidFill>
                  <a:srgbClr val="071C3F"/>
                </a:solidFill>
                <a:latin typeface="Arial"/>
              </a:rPr>
              <a:t>Posterior program score</a:t>
            </a:r>
          </a:p>
          <a:p>
            <a:pPr algn="ctr" latinLnBrk="0" eaLnBrk="0" hangingPunct="0"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697889"/>
                </a:solidFill>
                <a:latin typeface="Arial"/>
              </a:rPr>
              <a:t>one value per sample and pathway</a:t>
            </a:r>
          </a:p>
        </p:txBody>
      </p:sp>
      <p:sp>
        <p:nvSpPr>
          <p:cNvPr id="90" name="Right Arrow 89"/>
          <p:cNvSpPr/>
          <p:nvPr/>
        </p:nvSpPr>
        <p:spPr>
          <a:xfrm>
            <a:off x="17922240" y="6483096"/>
            <a:ext cx="384048" cy="292608"/>
          </a:xfrm>
          <a:prstGeom prst="rightArrow">
            <a:avLst/>
          </a:prstGeom>
          <a:solidFill>
            <a:srgbClr val="236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8443448" y="6254496"/>
            <a:ext cx="272491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3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bIns="36576"/>
          <a:lstStyle/>
          <a:p>
            <a:pPr algn="ctr" latinLnBrk="0" eaLnBrk="0" hangingPunct="0">
              <a:spcAft>
                <a:spcPts val="200"/>
              </a:spcAft>
            </a:pPr>
            <a:r>
              <a:rPr sz="1350" b="1">
                <a:solidFill>
                  <a:srgbClr val="071C3F"/>
                </a:solidFill>
                <a:latin typeface="Arial"/>
              </a:rPr>
              <a:t>Within-project shift</a:t>
            </a:r>
          </a:p>
          <a:p>
            <a:pPr algn="ctr" latinLnBrk="0" eaLnBrk="0" hangingPunct="0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697889"/>
                </a:solidFill>
                <a:latin typeface="Arial"/>
              </a:rPr>
              <a:t>mean FLT - mean GC</a:t>
            </a:r>
          </a:p>
        </p:txBody>
      </p:sp>
      <p:pic>
        <p:nvPicPr>
          <p:cNvPr id="92" name="Actual spleen project-shift heatmap" descr="Actual primary-seed mean flight-minus-ground latent-score shifts for three retained spleen pathways across five OSDR mission project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2151" y="7237383"/>
            <a:ext cx="6355080" cy="2962841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4950440" y="10424160"/>
            <a:ext cx="6263640" cy="24993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1">
                <a:solidFill>
                  <a:srgbClr val="697889"/>
                </a:solidFill>
                <a:latin typeface="Arial"/>
              </a:rPr>
              <a:t>Heatmap cells are actual seed-2020 project effects; OSD-288 was excluded before spleen means.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950440" y="10674096"/>
            <a:ext cx="6263640" cy="24993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1">
                <a:solidFill>
                  <a:srgbClr val="697889"/>
                </a:solidFill>
                <a:latin typeface="Arial"/>
              </a:rPr>
              <a:t>Tissue summaries weight projects equally. Retained programs were checked with held-out projects,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950440" y="10924032"/>
            <a:ext cx="6263640" cy="24993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1">
                <a:solidFill>
                  <a:srgbClr val="697889"/>
                </a:solidFill>
                <a:latin typeface="Arial"/>
              </a:rPr>
              <a:t>three full trainings, enrichment, member genes, and composition sensitivity.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1854160" y="5870448"/>
            <a:ext cx="667511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8C6A"/>
                </a:solidFill>
                <a:latin typeface="Arial"/>
              </a:rPr>
              <a:t>LLM-ASSISTED LITERATURE ANNOTATION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1854160" y="6254496"/>
            <a:ext cx="213359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3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bIns="36576"/>
          <a:lstStyle/>
          <a:p>
            <a:pPr algn="ctr" latinLnBrk="0" eaLnBrk="0" hangingPunct="0">
              <a:spcAft>
                <a:spcPts val="200"/>
              </a:spcAft>
            </a:pPr>
            <a:r>
              <a:rPr sz="1200" b="1">
                <a:solidFill>
                  <a:srgbClr val="071C3F"/>
                </a:solidFill>
                <a:latin typeface="Arial"/>
              </a:rPr>
              <a:t>Program + effect</a:t>
            </a:r>
          </a:p>
          <a:p>
            <a:pPr algn="ctr" latinLnBrk="0" eaLnBrk="0" hangingPunct="0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97889"/>
                </a:solidFill>
                <a:latin typeface="Arial"/>
              </a:rPr>
              <a:t>TCR: -0.216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4124920" y="6254496"/>
            <a:ext cx="213359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3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bIns="36576"/>
          <a:lstStyle/>
          <a:p>
            <a:pPr algn="ctr" latinLnBrk="0" eaLnBrk="0" hangingPunct="0">
              <a:spcAft>
                <a:spcPts val="200"/>
              </a:spcAft>
            </a:pPr>
            <a:r>
              <a:rPr sz="1200" b="1">
                <a:solidFill>
                  <a:srgbClr val="071C3F"/>
                </a:solidFill>
                <a:latin typeface="Arial"/>
              </a:rPr>
              <a:t>Mission context</a:t>
            </a:r>
          </a:p>
          <a:p>
            <a:pPr algn="ctr" latinLnBrk="0" eaLnBrk="0" hangingPunct="0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97889"/>
                </a:solidFill>
                <a:latin typeface="Arial"/>
              </a:rPr>
              <a:t>5 of 5 lower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6395680" y="6254496"/>
            <a:ext cx="2133599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178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bIns="36576"/>
          <a:lstStyle/>
          <a:p>
            <a:pPr algn="ctr" latinLnBrk="0" eaLnBrk="0" hangingPunct="0">
              <a:spcAft>
                <a:spcPts val="200"/>
              </a:spcAft>
            </a:pPr>
            <a:r>
              <a:rPr sz="1200" b="1">
                <a:solidFill>
                  <a:srgbClr val="071C3F"/>
                </a:solidFill>
                <a:latin typeface="Arial"/>
              </a:rPr>
              <a:t>Primary sources</a:t>
            </a:r>
          </a:p>
          <a:p>
            <a:pPr algn="ctr" latinLnBrk="0" eaLnBrk="0" hangingPunct="0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97889"/>
                </a:solidFill>
                <a:latin typeface="Arial"/>
              </a:rPr>
              <a:t>references 35-37</a:t>
            </a:r>
          </a:p>
        </p:txBody>
      </p:sp>
      <p:sp>
        <p:nvSpPr>
          <p:cNvPr id="100" name="Down Arrow 99"/>
          <p:cNvSpPr/>
          <p:nvPr/>
        </p:nvSpPr>
        <p:spPr>
          <a:xfrm>
            <a:off x="25027128" y="7031736"/>
            <a:ext cx="329184" cy="310896"/>
          </a:xfrm>
          <a:prstGeom prst="downArrow">
            <a:avLst/>
          </a:prstGeom>
          <a:solidFill>
            <a:srgbClr val="236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23052024" y="7251192"/>
            <a:ext cx="4571999" cy="1170432"/>
          </a:xfrm>
          <a:prstGeom prst="roundRect">
            <a:avLst/>
          </a:prstGeom>
          <a:solidFill>
            <a:srgbClr val="DCE6F2"/>
          </a:solidFill>
          <a:ln w="12700">
            <a:solidFill>
              <a:srgbClr val="23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22978872" y="7324344"/>
            <a:ext cx="4571999" cy="1170432"/>
          </a:xfrm>
          <a:prstGeom prst="roundRect">
            <a:avLst/>
          </a:prstGeom>
          <a:solidFill>
            <a:srgbClr val="E5EDF5"/>
          </a:solidFill>
          <a:ln w="12700">
            <a:solidFill>
              <a:srgbClr val="23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22905720" y="7397496"/>
            <a:ext cx="4571999" cy="11704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23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3070312" y="7488936"/>
            <a:ext cx="424281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71C3F"/>
                </a:solidFill>
                <a:latin typeface="Arial"/>
              </a:rPr>
              <a:t>OpenAI Codex (GPT-5)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3317200" y="7918704"/>
            <a:ext cx="228600" cy="228600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23655528" y="7918704"/>
            <a:ext cx="228600" cy="228600"/>
          </a:xfrm>
          <a:prstGeom prst="roundRect">
            <a:avLst/>
          </a:prstGeom>
          <a:solidFill>
            <a:srgbClr val="236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23993856" y="7918704"/>
            <a:ext cx="228600" cy="228600"/>
          </a:xfrm>
          <a:prstGeom prst="roundRect">
            <a:avLst/>
          </a:prstGeom>
          <a:solidFill>
            <a:srgbClr val="D9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24332184" y="7918704"/>
            <a:ext cx="228600" cy="228600"/>
          </a:xfrm>
          <a:prstGeom prst="roundRect">
            <a:avLst/>
          </a:prstGeom>
          <a:solidFill>
            <a:srgbClr val="17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25081992" y="7955280"/>
            <a:ext cx="640080" cy="64008"/>
          </a:xfrm>
          <a:prstGeom prst="line">
            <a:avLst/>
          </a:prstGeom>
          <a:ln w="5715">
            <a:solidFill>
              <a:srgbClr val="9FB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5081992" y="8019288"/>
            <a:ext cx="640080" cy="137160"/>
          </a:xfrm>
          <a:prstGeom prst="line">
            <a:avLst/>
          </a:prstGeom>
          <a:ln w="5715">
            <a:solidFill>
              <a:srgbClr val="9FB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25081992" y="8019288"/>
            <a:ext cx="640080" cy="338328"/>
          </a:xfrm>
          <a:prstGeom prst="line">
            <a:avLst/>
          </a:prstGeom>
          <a:ln w="5715">
            <a:solidFill>
              <a:srgbClr val="9FB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5081992" y="7955280"/>
            <a:ext cx="640080" cy="338328"/>
          </a:xfrm>
          <a:prstGeom prst="line">
            <a:avLst/>
          </a:prstGeom>
          <a:ln w="5715">
            <a:solidFill>
              <a:srgbClr val="9FB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5081992" y="8156448"/>
            <a:ext cx="640080" cy="137160"/>
          </a:xfrm>
          <a:prstGeom prst="line">
            <a:avLst/>
          </a:prstGeom>
          <a:ln w="5715">
            <a:solidFill>
              <a:srgbClr val="9FB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5081992" y="8293608"/>
            <a:ext cx="640080" cy="64008"/>
          </a:xfrm>
          <a:prstGeom prst="line">
            <a:avLst/>
          </a:prstGeom>
          <a:ln w="5715">
            <a:solidFill>
              <a:srgbClr val="9FB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5840944" y="7955280"/>
            <a:ext cx="649224" cy="91440"/>
          </a:xfrm>
          <a:prstGeom prst="line">
            <a:avLst/>
          </a:prstGeom>
          <a:ln w="5715">
            <a:solidFill>
              <a:srgbClr val="9FB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5840944" y="7955280"/>
            <a:ext cx="649224" cy="329184"/>
          </a:xfrm>
          <a:prstGeom prst="line">
            <a:avLst/>
          </a:prstGeom>
          <a:ln w="5715">
            <a:solidFill>
              <a:srgbClr val="9FB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25840944" y="8046720"/>
            <a:ext cx="649224" cy="109728"/>
          </a:xfrm>
          <a:prstGeom prst="line">
            <a:avLst/>
          </a:prstGeom>
          <a:ln w="5715">
            <a:solidFill>
              <a:srgbClr val="9FB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5840944" y="8156448"/>
            <a:ext cx="649224" cy="128016"/>
          </a:xfrm>
          <a:prstGeom prst="line">
            <a:avLst/>
          </a:prstGeom>
          <a:ln w="5715">
            <a:solidFill>
              <a:srgbClr val="9FB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25840944" y="8046720"/>
            <a:ext cx="649224" cy="310896"/>
          </a:xfrm>
          <a:prstGeom prst="line">
            <a:avLst/>
          </a:prstGeom>
          <a:ln w="5715">
            <a:solidFill>
              <a:srgbClr val="9FB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25840944" y="8284464"/>
            <a:ext cx="649224" cy="73152"/>
          </a:xfrm>
          <a:prstGeom prst="line">
            <a:avLst/>
          </a:prstGeom>
          <a:ln w="5715">
            <a:solidFill>
              <a:srgbClr val="9FB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24963120" y="7900416"/>
            <a:ext cx="237744" cy="237744"/>
          </a:xfrm>
          <a:prstGeom prst="ellipse">
            <a:avLst/>
          </a:prstGeom>
          <a:solidFill>
            <a:srgbClr val="236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4963120" y="8174736"/>
            <a:ext cx="237744" cy="237744"/>
          </a:xfrm>
          <a:prstGeom prst="ellipse">
            <a:avLst/>
          </a:prstGeom>
          <a:solidFill>
            <a:srgbClr val="236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5722072" y="7836408"/>
            <a:ext cx="237744" cy="237744"/>
          </a:xfrm>
          <a:prstGeom prst="ellipse">
            <a:avLst/>
          </a:prstGeom>
          <a:solidFill>
            <a:srgbClr val="236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25722072" y="8037575"/>
            <a:ext cx="237744" cy="237744"/>
          </a:xfrm>
          <a:prstGeom prst="ellipse">
            <a:avLst/>
          </a:prstGeom>
          <a:solidFill>
            <a:srgbClr val="236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5722072" y="8238744"/>
            <a:ext cx="237744" cy="237744"/>
          </a:xfrm>
          <a:prstGeom prst="ellipse">
            <a:avLst/>
          </a:prstGeom>
          <a:solidFill>
            <a:srgbClr val="236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6490168" y="7927848"/>
            <a:ext cx="237744" cy="237744"/>
          </a:xfrm>
          <a:prstGeom prst="ellipse">
            <a:avLst/>
          </a:prstGeom>
          <a:solidFill>
            <a:srgbClr val="236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6490168" y="8165592"/>
            <a:ext cx="237744" cy="237744"/>
          </a:xfrm>
          <a:prstGeom prst="ellipse">
            <a:avLst/>
          </a:prstGeom>
          <a:solidFill>
            <a:srgbClr val="236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3088600" y="8238744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97889"/>
                </a:solidFill>
                <a:latin typeface="Arial"/>
              </a:rPr>
              <a:t>LLM-assisted synthesis</a:t>
            </a:r>
          </a:p>
        </p:txBody>
      </p:sp>
      <p:sp>
        <p:nvSpPr>
          <p:cNvPr id="129" name="Down Arrow 128"/>
          <p:cNvSpPr/>
          <p:nvPr/>
        </p:nvSpPr>
        <p:spPr>
          <a:xfrm>
            <a:off x="25027128" y="8650224"/>
            <a:ext cx="329184" cy="310896"/>
          </a:xfrm>
          <a:prstGeom prst="downArrow">
            <a:avLst/>
          </a:prstGeom>
          <a:solidFill>
            <a:srgbClr val="17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22814280" y="8979408"/>
            <a:ext cx="4754879" cy="658368"/>
          </a:xfrm>
          <a:prstGeom prst="roundRect">
            <a:avLst>
              <a:gd name="adj" fmla="val 6000"/>
            </a:avLst>
          </a:prstGeom>
          <a:solidFill>
            <a:srgbClr val="EBF5EF"/>
          </a:solidFill>
          <a:ln w="17780">
            <a:solidFill>
              <a:srgbClr val="178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bIns="36576"/>
          <a:lstStyle/>
          <a:p>
            <a:pPr algn="ctr" latinLnBrk="0" eaLnBrk="0" hangingPunct="0">
              <a:spcAft>
                <a:spcPts val="200"/>
              </a:spcAft>
            </a:pPr>
            <a:r>
              <a:rPr sz="1350" b="1">
                <a:solidFill>
                  <a:srgbClr val="071C3F"/>
                </a:solidFill>
                <a:latin typeface="Arial"/>
              </a:rPr>
              <a:t>Source verification</a:t>
            </a:r>
          </a:p>
          <a:p>
            <a:pPr algn="ctr" latinLnBrk="0" eaLnBrk="0" hangingPunct="0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697889"/>
                </a:solidFill>
                <a:latin typeface="Arial"/>
              </a:rPr>
              <a:t>direction, citations, and tissue context checked</a:t>
            </a:r>
          </a:p>
        </p:txBody>
      </p:sp>
      <p:sp>
        <p:nvSpPr>
          <p:cNvPr id="131" name="Down Arrow 130"/>
          <p:cNvSpPr/>
          <p:nvPr/>
        </p:nvSpPr>
        <p:spPr>
          <a:xfrm>
            <a:off x="25027128" y="9692640"/>
            <a:ext cx="329184" cy="310896"/>
          </a:xfrm>
          <a:prstGeom prst="downArrow">
            <a:avLst/>
          </a:prstGeom>
          <a:solidFill>
            <a:srgbClr val="178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21854160" y="10058400"/>
            <a:ext cx="2133599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8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1927312" y="10131552"/>
            <a:ext cx="1987295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78C6A"/>
                </a:solidFill>
                <a:latin typeface="Arial"/>
              </a:rPr>
              <a:t>Literature aligned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1927312" y="10488168"/>
            <a:ext cx="198729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45D"/>
                </a:solidFill>
                <a:latin typeface="Arial"/>
              </a:rPr>
              <a:t>T-cell receptor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4124920" y="10058400"/>
            <a:ext cx="2133599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4198072" y="10131552"/>
            <a:ext cx="1987295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36DA2"/>
                </a:solidFill>
                <a:latin typeface="Arial"/>
              </a:rPr>
              <a:t>Complementary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4198072" y="10488168"/>
            <a:ext cx="198729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45D"/>
                </a:solidFill>
                <a:latin typeface="Arial"/>
              </a:rPr>
              <a:t>Neutrophil degranulation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6395680" y="10058400"/>
            <a:ext cx="2133599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6468832" y="10131552"/>
            <a:ext cx="1987295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800"/>
                </a:solidFill>
                <a:latin typeface="Arial"/>
              </a:rPr>
              <a:t>Context sensitive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6468832" y="10488168"/>
            <a:ext cx="1987295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445D"/>
                </a:solidFill>
                <a:latin typeface="Arial"/>
              </a:rPr>
              <a:t>Skin DNA repair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1854160" y="11100816"/>
            <a:ext cx="6675119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97889"/>
                </a:solidFill>
                <a:latin typeface="Arial"/>
              </a:rPr>
              <a:t>The LLM organized evidence; retained labels were not accepted without source-level review.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4493240" y="12527280"/>
            <a:ext cx="14401800" cy="10040112"/>
          </a:xfrm>
          <a:prstGeom prst="rect">
            <a:avLst/>
          </a:prstGeom>
          <a:solidFill>
            <a:srgbClr val="DC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4749272" y="12710160"/>
            <a:ext cx="13889736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AEB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4886431" y="12728448"/>
            <a:ext cx="13615415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Arial"/>
              </a:rPr>
              <a:t>RESULTS: RETAINED PROGRAM SHIFTS</a:t>
            </a:r>
          </a:p>
        </p:txBody>
      </p:sp>
      <p:pic>
        <p:nvPicPr>
          <p:cNvPr id="145" name="Retained pathway shifts" descr="Manuscript-retained expiMap pathway shifts for thymus, skin, liver, and spleen, with project effects and three-training ranges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0" y="13711384"/>
            <a:ext cx="13761720" cy="8311983"/>
          </a:xfrm>
          <a:prstGeom prst="rect">
            <a:avLst/>
          </a:prstGeom>
        </p:spPr>
      </p:pic>
      <p:sp>
        <p:nvSpPr>
          <p:cNvPr id="146" name="Rectangle 145"/>
          <p:cNvSpPr/>
          <p:nvPr/>
        </p:nvSpPr>
        <p:spPr>
          <a:xfrm>
            <a:off x="29215080" y="4892040"/>
            <a:ext cx="14356080" cy="12143232"/>
          </a:xfrm>
          <a:prstGeom prst="rect">
            <a:avLst/>
          </a:prstGeom>
          <a:solidFill>
            <a:srgbClr val="DC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9471111" y="5074920"/>
            <a:ext cx="13844015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AEB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9608271" y="5093207"/>
            <a:ext cx="13569695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11111"/>
                </a:solidFill>
                <a:latin typeface="Arial"/>
              </a:rPr>
              <a:t>RESULTS: BIOLOGICAL INTERPRETATION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9672280" y="5870448"/>
            <a:ext cx="1344168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36DA2"/>
                </a:solidFill>
                <a:latin typeface="Arial"/>
              </a:rPr>
              <a:t>Prior evidence, observed shifts, and hypotheses to test</a:t>
            </a:r>
          </a:p>
        </p:txBody>
      </p:sp>
      <p:pic>
        <p:nvPicPr>
          <p:cNvPr id="150" name="Tissue-state hypotheses" descr="Prior-literature phenotypes, observed lower expiMap program scores, and complementary hypotheses for thymus, skin, liver, and spleen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4177" y="6281928"/>
            <a:ext cx="12797884" cy="10497312"/>
          </a:xfrm>
          <a:prstGeom prst="rect">
            <a:avLst/>
          </a:prstGeom>
        </p:spPr>
      </p:pic>
      <p:sp>
        <p:nvSpPr>
          <p:cNvPr id="151" name="Rectangle 150"/>
          <p:cNvSpPr/>
          <p:nvPr/>
        </p:nvSpPr>
        <p:spPr>
          <a:xfrm>
            <a:off x="29215080" y="17309592"/>
            <a:ext cx="14356080" cy="3246120"/>
          </a:xfrm>
          <a:prstGeom prst="rect">
            <a:avLst/>
          </a:prstGeom>
          <a:solidFill>
            <a:srgbClr val="DC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9471111" y="17492472"/>
            <a:ext cx="13844015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AEB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9608271" y="17510760"/>
            <a:ext cx="13569695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11111"/>
                </a:solidFill>
                <a:latin typeface="Arial"/>
              </a:rPr>
              <a:t>CONCLUSIONS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9718000" y="18288000"/>
            <a:ext cx="13350240" cy="2423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445D"/>
                </a:solidFill>
                <a:latin typeface="Arial"/>
              </a:rPr>
              <a:t>• Spleen showed the strongest evidence: three immune programs were lower across five projects and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9718000" y="18530316"/>
            <a:ext cx="13350240" cy="2423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445D"/>
                </a:solidFill>
                <a:latin typeface="Arial"/>
              </a:rPr>
              <a:t>  three trainings, with GSEA FDR &lt; 0.05 for each.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9718000" y="18772632"/>
            <a:ext cx="13350240" cy="2423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445D"/>
                </a:solidFill>
                <a:latin typeface="Arial"/>
              </a:rPr>
              <a:t>• Thymus retained lower repair, cytoskeletal, and niche-interaction programs; skin retained lower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9718000" y="19014948"/>
            <a:ext cx="13350240" cy="2423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445D"/>
                </a:solidFill>
                <a:latin typeface="Arial"/>
              </a:rPr>
              <a:t>  regulatory, repair, regenerative, barrier-lipid, and cell-junction programs.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9718000" y="19257264"/>
            <a:ext cx="13350240" cy="2423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445D"/>
                </a:solidFill>
                <a:latin typeface="Arial"/>
              </a:rPr>
              <a:t>• Liver retained lower antigen-presentation and T-cell signaling; kidney showed a reproducible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9718000" y="19499580"/>
            <a:ext cx="13350240" cy="2423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445D"/>
                </a:solidFill>
                <a:latin typeface="Arial"/>
              </a:rPr>
              <a:t>  structural and growth-factor pattern but remains exploratory.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9718000" y="19741896"/>
            <a:ext cx="13350240" cy="2423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445D"/>
                </a:solidFill>
                <a:latin typeface="Arial"/>
              </a:rPr>
              <a:t>• These bulk latent shifts generate tissue-level hypotheses; they do not prove pathway inhibition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9718000" y="19984212"/>
            <a:ext cx="13350240" cy="2423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445D"/>
                </a:solidFill>
                <a:latin typeface="Arial"/>
              </a:rPr>
              <a:t>  or distinguish altered cell abundance from altered cell state.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9215080" y="20802600"/>
            <a:ext cx="14356080" cy="1764792"/>
          </a:xfrm>
          <a:prstGeom prst="rect">
            <a:avLst/>
          </a:prstGeom>
          <a:solidFill>
            <a:srgbClr val="DC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29471111" y="20985480"/>
            <a:ext cx="13844015" cy="658368"/>
          </a:xfrm>
          <a:prstGeom prst="rect">
            <a:avLst/>
          </a:prstGeom>
          <a:solidFill>
            <a:srgbClr val="FFFFFF"/>
          </a:solidFill>
          <a:ln w="13970">
            <a:solidFill>
              <a:srgbClr val="AEBC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608271" y="21003768"/>
            <a:ext cx="13569695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11111"/>
                </a:solidFill>
                <a:latin typeface="Arial"/>
              </a:rPr>
              <a:t>REFERENCES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9690568" y="21744432"/>
            <a:ext cx="13405104" cy="1783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D"/>
                </a:solidFill>
                <a:latin typeface="Arial"/>
              </a:rPr>
              <a:t>Selected sources; numbering follows the manuscript: [1] Gebre et al., NAR 2025; [2] Lotfollahi et al., Nat Cell Biol 2023.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9690568" y="21922740"/>
            <a:ext cx="13405104" cy="1783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D"/>
                </a:solidFill>
                <a:latin typeface="Arial"/>
              </a:rPr>
              <a:t>[4] Lachmann et al., Nat Commun 2018; [5] Milacic et al., NAR 2024; [6] Horie et al., Sci Rep 2019.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9690568" y="22101048"/>
            <a:ext cx="13405104" cy="1783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D"/>
                </a:solidFill>
                <a:latin typeface="Arial"/>
              </a:rPr>
              <a:t>[12] Cope et al., Commun Med 2024; [13] Park et al., Nat Commun 2024; [17] Beheshti et al., Sci Rep 2019.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9690568" y="22279356"/>
            <a:ext cx="13405104" cy="1783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3445D"/>
                </a:solidFill>
                <a:latin typeface="Arial"/>
              </a:rPr>
              <a:t>[35] Gridley et al., J Appl Physiol 2009. Complete citations and source tables accompany the manuscript.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4493240" y="22786848"/>
            <a:ext cx="28803600" cy="1901952"/>
          </a:xfrm>
          <a:prstGeom prst="rect">
            <a:avLst/>
          </a:prstGeom>
          <a:solidFill>
            <a:srgbClr val="DD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4813280" y="2287828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97889"/>
                </a:solidFill>
                <a:latin typeface="Arial"/>
              </a:rPr>
              <a:t>Acknowledgements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4813280" y="23335488"/>
            <a:ext cx="18836640" cy="3017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3445D"/>
                </a:solidFill>
                <a:latin typeface="Arial"/>
              </a:rPr>
              <a:t>Mentor: James Casaletto | NASA Space Life Sciences Training Program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813280" y="23637239"/>
            <a:ext cx="18836640" cy="3017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3445D"/>
                </a:solidFill>
                <a:latin typeface="Arial"/>
              </a:rPr>
              <a:t>NASA OSDR, ARCHS4, and Reactome investigators and curation teams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5890200" y="23152608"/>
            <a:ext cx="7242048" cy="822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82552"/>
                </a:solidFill>
                <a:latin typeface="Arial"/>
              </a:rPr>
              <a:t>jasontrinh@berkeley.edu
github.com/jasont314/nasa-mouse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40080" y="23865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latinLnBrk="0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97889"/>
                </a:solidFill>
                <a:latin typeface="Arial"/>
              </a:rPr>
              <a:t>www.nasa.gov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Cross-Mission expiMap Analysis Recovers Established Tissue Responses and Identifies Complementary Pathway Shifts in Mouse Spaceflight Transcriptomes</dc:title>
  <dc:subject>Template-based cross-mission expiMap poster using NASA OSDR mouse RNA-seq</dc:subject>
  <dc:creator>Jason Trinh</dc:creator>
  <cp:keywords>spaceflight, expiMap, OSDR, ARCHS4, Reactome, transcriptomics, NASA</cp:keywords>
  <dc:description>Layout and NASA branding reference 00 Poster Session Student Template_Approved by Legal.pptx.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