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59" r:id="rId4"/>
  </p:sldMasterIdLst>
  <p:notesMasterIdLst>
    <p:notesMasterId r:id="rId7"/>
  </p:notesMasterIdLst>
  <p:handoutMasterIdLst>
    <p:handoutMasterId r:id="rId8"/>
  </p:handoutMasterIdLst>
  <p:sldIdLst>
    <p:sldId id="287" r:id="rId5"/>
    <p:sldId id="289" r:id="rId6"/>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EBFE0"/>
    <a:srgbClr val="0311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7E6095-EDCC-4DCB-AAC0-188518B1781D}" v="1" dt="2026-06-23T20:42:39.6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892"/>
    <p:restoredTop sz="96327"/>
  </p:normalViewPr>
  <p:slideViewPr>
    <p:cSldViewPr snapToGrid="0">
      <p:cViewPr varScale="1">
        <p:scale>
          <a:sx n="81" d="100"/>
          <a:sy n="81" d="100"/>
        </p:scale>
        <p:origin x="946" y="72"/>
      </p:cViewPr>
      <p:guideLst/>
    </p:cSldViewPr>
  </p:slideViewPr>
  <p:notesTextViewPr>
    <p:cViewPr>
      <p:scale>
        <a:sx n="1" d="1"/>
        <a:sy n="1" d="1"/>
      </p:scale>
      <p:origin x="0" y="0"/>
    </p:cViewPr>
  </p:notesText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notesMaster" Target="notesMasters/notesMaster1.xml"/><Relationship Id="rId8" Type="http://schemas.openxmlformats.org/officeDocument/2006/relationships/handoutMaster" Target="handoutMasters/handout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5/10/relationships/revisionInfo" Target="revisionInfo.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92CBF8-18C8-31DD-F46C-61CCFF09E5D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39C4E16-CF32-DCE9-CFBA-3D18F258B50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0638C3-A19C-B94C-9B49-D7DD60AEF655}" type="datetimeFigureOut">
              <a:rPr lang="en-US" smtClean="0"/>
              <a:t>6/29/2026</a:t>
            </a:fld>
            <a:endParaRPr lang="en-US"/>
          </a:p>
        </p:txBody>
      </p:sp>
      <p:sp>
        <p:nvSpPr>
          <p:cNvPr id="4" name="Footer Placeholder 3">
            <a:extLst>
              <a:ext uri="{FF2B5EF4-FFF2-40B4-BE49-F238E27FC236}">
                <a16:creationId xmlns:a16="http://schemas.microsoft.com/office/drawing/2014/main" id="{B9986E82-0F97-5470-C173-872D3CB07D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DAEED87-86EF-9F01-82BC-41E7337896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865568-2AD1-0C41-AA57-6C66A988080E}" type="slidenum">
              <a:rPr lang="en-US" smtClean="0"/>
              <a:t>‹#›</a:t>
            </a:fld>
            <a:endParaRPr lang="en-US"/>
          </a:p>
        </p:txBody>
      </p:sp>
    </p:spTree>
    <p:extLst>
      <p:ext uri="{BB962C8B-B14F-4D97-AF65-F5344CB8AC3E}">
        <p14:creationId xmlns:p14="http://schemas.microsoft.com/office/powerpoint/2010/main" val="5365602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D0CC5D-FA5D-CB42-BCB4-643101262201}"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1039A1-DE79-214A-A305-FD85593430B7}" type="slidenum">
              <a:rPr lang="en-US" smtClean="0"/>
              <a:t>‹#›</a:t>
            </a:fld>
            <a:endParaRPr lang="en-US"/>
          </a:p>
        </p:txBody>
      </p:sp>
    </p:spTree>
    <p:extLst>
      <p:ext uri="{BB962C8B-B14F-4D97-AF65-F5344CB8AC3E}">
        <p14:creationId xmlns:p14="http://schemas.microsoft.com/office/powerpoint/2010/main" val="4016504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0:10</a:t>
            </a:r>
          </a:p>
          <a:p/>
          <a:p>
            <a:r>
              <a:t>This project uses machine learning to study mouse bulk RNA-seq from NASA spaceflight experiments. One model asks which pathways change. The other asks whether realistic synthetic samples can improve a tissue-specific comparison of flight and ground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0:30</a:t>
            </a:r>
          </a:p>
          <a:p/>
          <a:p>
            <a:r>
              <a:t>The project has two connected goals. First, identify which genes, pathways, and biological systems differ between flight and ground-control mice. Second, learn meaningful expression patterns and generate realistic profiles that can support that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0:35</a:t>
            </a:r>
          </a:p>
          <a:p/>
          <a:p>
            <a:r>
              <a:t>An autoencoder compresses thousands of gene measurements into a smaller set of features and then reconstructs the original profile. The output bars are close to, but not exactly the same as, the input bars. Samples with similar compressed profiles sit near one another. MOBER uses this compressed space to reduce study identity, while expiMap connects its features to known Reactome gene programs.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0:20</a:t>
            </a:r>
          </a:p>
          <a:p/>
          <a:p>
            <a:r>
              <a:t>This is EDL skeletal muscle from two OSDR studies. Color marks the study and shape marks flight or ground control. The two colors form separate UMAP clusters, while triangles and circles overlap within each cluster. Study identity is the strongest visible 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0:30</a:t>
            </a:r>
          </a:p>
          <a:p/>
          <a:p>
            <a:r>
              <a:t>Study differences can be larger than the biological effect. MOBER combines an autoencoder with a source discriminator that tries to identify the originating study. The encoder makes study labels harder to predict while still reconstructing the expression profiles. The animation starts with separated studies and moves them into a shared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0:25</a:t>
            </a:r>
          </a:p>
          <a:p/>
          <a:p>
            <a:r>
              <a:t>This UMAP compares the same two muscle studies before and after MOBER. Before correction, study identity dominates the layout. After MOBER, samples from the studies mix more closely, but flight and ground control still overlap. Removing visible study structure does not automatically reveal a strong spaceflight axis.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0:30</a:t>
            </a:r>
          </a:p>
          <a:p/>
          <a:p>
            <a:r>
              <a:t>GLARE and MOBER learn their latent structure from expression. expiMap instead connects each latent node to a known mouse Reactome pathway through a masked decoder. That lets us compare flight and ground control one named biological program at a time. The next slide shows how those program scores are summarized.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0:35</a:t>
            </a:r>
          </a:p>
          <a:p/>
          <a:p>
            <a:r>
              <a:t>The table is an illustrative example for one tissue, not a project result. Each sample receives one score per Reactome program. We compare the average flight and ground-control scores and subtract GC from FLT. The rows are ordered from higher red shifts to lower blue shifts. The heatmap at right shows the complete program-by-sample output that these comparisons summarize.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0:25</a:t>
            </a:r>
          </a:p>
          <a:p/>
          <a:p>
            <a:r>
              <a:t>The top heatmap shows the pathway scores alone. The lower heatmap shows the same scores after each pathway name was reviewed against spaceflight literature. Green agrees with prior work, blue adds a related or complementary interpretation, orange is uncertain, red conflicts, and gray has little effect. The score values do not change; the colors describe the evidence attached to each pathway.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0:45</a:t>
            </a:r>
          </a:p>
          <a:p/>
          <a:p>
            <a:r>
              <a:t>Thymus showed lower repair, cytoskeletal, and stromal-interaction programs. Skin showed lower chromatin regulation, repair, Hedgehog, sphingolipid, and cell-junction programs. Liver showed lower MHC class II and T-cell receptor scores. Spleen combined lower T-cell receptor, neutrophil-degranulation, and C-type lectin programs. Kidney showed higher ECM proteoglycan, WNT, and IGF-transport programs, suggesting structural and growth-factor remodeling.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0:20</a:t>
            </a:r>
          </a:p>
          <a:p/>
          <a:p>
            <a:r>
              <a:t>A generator learns patterns from measured RNA-seq and creates new numeric expression profiles for a chosen tissue and FLT or GC condition. These profiles are useful model outputs, but they are not new animals or independent biological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0:25</a:t>
            </a:r>
          </a:p>
          <a:p/>
          <a:p>
            <a:r>
              <a:t>The left animation shows diffusion for images: start with random noise and remove it step by step until an image appears. The right side applies the same idea to gene expression. The phrase data manifold on the slide means the region occupied by real expression profiles.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0:25</a:t>
            </a:r>
          </a:p>
          <a:p/>
          <a:p>
            <a:r>
              <a:t>A GAN trains two networks against each other. The generator makes expression profiles. The critic, which is similar to a discriminator, scores how much each profile resembles measured data. Tissue, FLT or GC, study, and sample material tell the generator what type of profile to make.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0:35</a:t>
            </a:r>
          </a:p>
          <a:p/>
          <a:p>
            <a:r>
              <a:t>We compared different ways to prepare the data, handle study differences, train the generator, and specify what it should make. Feature-space options included all shared genes, highly variable genes, Reactome genes, and a mouse mapping of the human L1000 landmark panel. The selected diffusion model uses the 974-gene L1000 mapping with TPM and ARCHS4-training MaxAbs scaling. It first learns broad mouse tissue patterns from ARCHS4, then adapts to OSDR.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0:35</a:t>
            </a:r>
          </a:p>
          <a:p/>
          <a:p>
            <a:r>
              <a:t>We compared WGAN-GP with diffusion. Correlation measures gene-expression agreement. Coverage F1 asks whether generated samples cover the same regions as measured samples. Real-versus-synthetic accuracy asks whether a prediction model can tell the two apart, where 0.5 is ideal. Distribution distance measures overall separation, so lower is better. Diffusion had better coverage, near-chance discrimination, and the smaller distance, so we used it for the biological analysis.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0:20</a:t>
            </a:r>
          </a:p>
          <a:p/>
          <a:p>
            <a:r>
              <a:t>The same 1,024 generated samples begin as noise, develop tissue structure by step 200, and reach their final expression profiles at step zero. PCA compresses the 974 gene values to two axes so the movement can be plotted.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0:20</a:t>
            </a:r>
          </a:p>
          <a:p/>
          <a:p>
            <a:r>
              <a:t>We first ask whether flight and ground-control profiles separate when all tissues and studies are viewed together. They overlap across the first two principal components, so there is no clear global condition axis. This motivates a closer look at the tissue and study structure.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0:25</a:t>
            </a:r>
          </a:p>
          <a:p/>
          <a:p>
            <a:r>
              <a:t>Recoloring the same profiles by tissue and study reveals much stronger structure. The left panel shows tissue and the right shows study. Circles are real samples and crosses are generated samples. We therefore compare flight and ground control within each tissue and account for study in the downstream analysis.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0:25</a:t>
            </a:r>
          </a:p>
          <a:p/>
          <a:p>
            <a:r>
              <a:t>We train the same tissue-specific classifier twice: once with real profiles and once with real plus synthetic profiles. Both versions are tested on the same real samples. This directly asks whether adding synthetic profiles improves flight-versus-ground-control prediction.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0:35</a:t>
            </a:r>
          </a:p>
          <a:p/>
          <a:p>
            <a:r>
              <a:t>Each line compares real-only training with real-plus-synthetic training for flight-versus-ground-control classification in one tissue analysis. All scores come from held-out real OSDR samples. Balanced accuracy averages flight sensitivity and ground-control specificity. Teal points identify the 18 analyses where balanced accuracy, AUROC, and average precision all held or improved both overall and after giving each study equal weight. Coral marks the nine mixed results where at least one measure declined.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0:25</a:t>
            </a:r>
          </a:p>
          <a:p/>
          <a:p>
            <a:r>
              <a:t>Both classifiers see the same 974 genes and are evaluated on the same real samples. Features important in both classifiers are reinforced. Features that become important only after adding synthetic samples are promoted.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0:30</a:t>
            </a:r>
          </a:p>
          <a:p/>
          <a:p>
            <a:r>
              <a:t>Each analysis asks which features support flight-versus-ground-control prediction. Individual-gene permutation and SHAP score one gene at a time. Grouped permutation and grouped SHAP score a Reactome pathway together. Consensus ranking compares real and generated gene rankings and tests compact panels.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0:30</a:t>
            </a:r>
          </a:p>
          <a:p/>
          <a:p>
            <a:r>
              <a:t>The individual-gene analysis retained 21 associations. The grouped analysis retained 10 Reactome pathways, and consensus ranking retained 49 gene associations in compact panels. Promoted means the feature became important after synthetic samples were added. Reinforced means it was important with and without synthetic samples.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0:35</a:t>
            </a:r>
          </a:p>
          <a:p/>
          <a:p>
            <a:r>
              <a:t>Thymus, skin, and spleen have retained candidates in every column. This agreement is why the biological interpretation focuses on these three tissues. The full analysis retains the single-method candidates for follow-up.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0:30</a:t>
            </a:r>
          </a:p>
          <a:p/>
          <a:p>
            <a:r>
              <a:t>The model comparison labels a candidate as promoted or reinforced. The literature review then fixes the candidate, tissue, and flight direction and asks whether prior work agrees, supports a related mechanism, is ambiguous, or offers no close match.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0:40</a:t>
            </a:r>
          </a:p>
          <a:p/>
          <a:p>
            <a:r>
              <a:t>Thymus has the clearest agreement. Fifteen individual genes, seven Reactome groups, and a 16-gene compact panel point toward lower mitotic activity in flight. This could reflect reduced proliferative renewal or a smaller fraction of cycling thymocytes. The expression data cannot distinguish those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0:40</a:t>
            </a:r>
          </a:p>
          <a:p/>
          <a:p>
            <a:r>
              <a:t>In skin, flight-higher PLSCR1 and two flight-higher necroptosis pathways suggest an interferon-linked regulated cell-death response. This is a complementary hypothesis because direct spaceflight evidence for skin necroptosis is limited. In spleen, flight-higher LOXL1, RAI14, PTPRK, and MYL9 suggest extracellular-matrix, adhesion, and cytoskeletal remodeling. This is also complementary because prior work supports the component mechanisms but not the same spleen-flight gene directions. The four genes did not form a significant shared Reactome pathway.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0:25</a:t>
            </a:r>
          </a:p>
          <a:p/>
          <a:p>
            <a:r>
              <a:t>The models summarize patterns in the RNA-seq data and narrow the list of tissues, pathways, and genes to examine. They do not establish mechanism. Wet-lab experiments must confirm the biological changes and distinguish gene regulation from shifts in cell composition.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0:10</a:t>
            </a:r>
          </a:p>
          <a:p/>
          <a:p>
            <a:r>
              <a:t>Acknowledge James Casaletto, SLSTP, NASA OSDR, ARCHS4, Reactome, ChatGPT, and Claude, then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 Id="rId13" Type="http://schemas.openxmlformats.org/officeDocument/2006/relationships/image" Target="../media/image37.png"/><Relationship Id="rId14" Type="http://schemas.openxmlformats.org/officeDocument/2006/relationships/image" Target="../media/image38.png"/><Relationship Id="rId15" Type="http://schemas.openxmlformats.org/officeDocument/2006/relationships/image" Target="../media/image39.png"/><Relationship Id="rId16" Type="http://schemas.openxmlformats.org/officeDocument/2006/relationships/image" Target="../media/image40.png"/><Relationship Id="rId17"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3.png"/><Relationship Id="rId14" Type="http://schemas.openxmlformats.org/officeDocument/2006/relationships/image" Target="../media/image54.png"/><Relationship Id="rId15" Type="http://schemas.openxmlformats.org/officeDocument/2006/relationships/image" Target="../media/image55.png"/><Relationship Id="rId16" Type="http://schemas.openxmlformats.org/officeDocument/2006/relationships/image" Target="../media/image56.png"/><Relationship Id="rId17" Type="http://schemas.openxmlformats.org/officeDocument/2006/relationships/image" Target="../media/image5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70.png"/><Relationship Id="rId15" Type="http://schemas.openxmlformats.org/officeDocument/2006/relationships/image" Target="../media/image71.png"/><Relationship Id="rId16" Type="http://schemas.openxmlformats.org/officeDocument/2006/relationships/image" Target="../media/image72.png"/><Relationship Id="rId17" Type="http://schemas.openxmlformats.org/officeDocument/2006/relationships/image" Target="../media/image7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rgbClr val="000000"/>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1403792-C452-45B8-A50E-5D7E7B3AF11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4277"/>
          <a:stretch/>
        </p:blipFill>
        <p:spPr>
          <a:xfrm>
            <a:off x="0" y="0"/>
            <a:ext cx="12192000" cy="6858000"/>
          </a:xfrm>
          <a:prstGeom prst="rect">
            <a:avLst/>
          </a:prstGeom>
        </p:spPr>
      </p:pic>
      <p:sp>
        <p:nvSpPr>
          <p:cNvPr id="3" name="Subtitle 2">
            <a:extLst>
              <a:ext uri="{FF2B5EF4-FFF2-40B4-BE49-F238E27FC236}">
                <a16:creationId xmlns:a16="http://schemas.microsoft.com/office/drawing/2014/main" id="{AE77D0F7-4A6B-4045-B534-3DB6A60EA85B}"/>
              </a:ext>
            </a:extLst>
          </p:cNvPr>
          <p:cNvSpPr>
            <a:spLocks noGrp="1"/>
          </p:cNvSpPr>
          <p:nvPr userDrawn="1">
            <p:ph type="subTitle" idx="1"/>
          </p:nvPr>
        </p:nvSpPr>
        <p:spPr>
          <a:xfrm>
            <a:off x="500101" y="3895025"/>
            <a:ext cx="4774425" cy="365125"/>
          </a:xfrm>
        </p:spPr>
        <p:txBody>
          <a:bodyPr wrap="square">
            <a:sp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Text Placeholder 27">
            <a:extLst>
              <a:ext uri="{FF2B5EF4-FFF2-40B4-BE49-F238E27FC236}">
                <a16:creationId xmlns:a16="http://schemas.microsoft.com/office/drawing/2014/main" id="{9EB2794A-5528-E000-6303-F23EDF3D2A62}"/>
              </a:ext>
            </a:extLst>
          </p:cNvPr>
          <p:cNvSpPr>
            <a:spLocks noGrp="1"/>
          </p:cNvSpPr>
          <p:nvPr>
            <p:ph type="body" sz="quarter" idx="14" hasCustomPrompt="1"/>
          </p:nvPr>
        </p:nvSpPr>
        <p:spPr>
          <a:xfrm>
            <a:off x="500102" y="1297175"/>
            <a:ext cx="4774425" cy="2374669"/>
          </a:xfrm>
        </p:spPr>
        <p:txBody>
          <a:bodyPr anchor="b"/>
          <a:lstStyle>
            <a:lvl1pPr marL="0" indent="0" algn="l">
              <a:buNone/>
              <a:defRPr sz="3600" b="1">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Title goes here</a:t>
            </a:r>
          </a:p>
        </p:txBody>
      </p:sp>
      <p:pic>
        <p:nvPicPr>
          <p:cNvPr id="4" name="Picture 3">
            <a:extLst>
              <a:ext uri="{FF2B5EF4-FFF2-40B4-BE49-F238E27FC236}">
                <a16:creationId xmlns:a16="http://schemas.microsoft.com/office/drawing/2014/main" id="{616713B4-5E0C-24BD-8049-E50B082A50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951262" y="398340"/>
            <a:ext cx="888827" cy="740690"/>
          </a:xfrm>
          <a:prstGeom prst="rect">
            <a:avLst/>
          </a:prstGeom>
        </p:spPr>
      </p:pic>
      <p:sp>
        <p:nvSpPr>
          <p:cNvPr id="5" name="TextBox 4">
            <a:extLst>
              <a:ext uri="{FF2B5EF4-FFF2-40B4-BE49-F238E27FC236}">
                <a16:creationId xmlns:a16="http://schemas.microsoft.com/office/drawing/2014/main" id="{B8688442-0230-1582-A41F-57E75101CEF7}"/>
              </a:ext>
            </a:extLst>
          </p:cNvPr>
          <p:cNvSpPr txBox="1"/>
          <p:nvPr userDrawn="1"/>
        </p:nvSpPr>
        <p:spPr>
          <a:xfrm>
            <a:off x="8654144" y="537854"/>
            <a:ext cx="1922620" cy="461665"/>
          </a:xfrm>
          <a:prstGeom prst="rect">
            <a:avLst/>
          </a:prstGeom>
          <a:noFill/>
        </p:spPr>
        <p:txBody>
          <a:bodyPr wrap="square" rtlCol="0">
            <a:spAutoFit/>
          </a:bodyPr>
          <a:lstStyle/>
          <a:p>
            <a:pPr algn="r"/>
            <a:r>
              <a:rPr lang="en-US" sz="1200" b="0" dirty="0">
                <a:solidFill>
                  <a:schemeClr val="bg1"/>
                </a:solidFill>
                <a:effectLst>
                  <a:outerShdw blurRad="159992" dist="49945" dir="2700000" algn="tl" rotWithShape="0">
                    <a:srgbClr val="000000"/>
                  </a:outerShdw>
                </a:effectLst>
                <a:latin typeface="Arial" panose="020B0604020202020204" pitchFamily="34" charset="0"/>
                <a:cs typeface="Arial" panose="020B0604020202020204" pitchFamily="34" charset="0"/>
              </a:rPr>
              <a:t>National Aeronautics and Space Administration</a:t>
            </a:r>
          </a:p>
        </p:txBody>
      </p:sp>
      <p:cxnSp>
        <p:nvCxnSpPr>
          <p:cNvPr id="6" name="Straight Connector 5">
            <a:extLst>
              <a:ext uri="{FF2B5EF4-FFF2-40B4-BE49-F238E27FC236}">
                <a16:creationId xmlns:a16="http://schemas.microsoft.com/office/drawing/2014/main" id="{B3B95B80-9B88-7F4C-049E-8C0069365EA9}"/>
              </a:ext>
            </a:extLst>
          </p:cNvPr>
          <p:cNvCxnSpPr/>
          <p:nvPr userDrawn="1"/>
        </p:nvCxnSpPr>
        <p:spPr>
          <a:xfrm>
            <a:off x="10764013" y="537853"/>
            <a:ext cx="0" cy="46166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descr="A black background with grey letters&#10;&#10;Description automatically generated">
            <a:extLst>
              <a:ext uri="{FF2B5EF4-FFF2-40B4-BE49-F238E27FC236}">
                <a16:creationId xmlns:a16="http://schemas.microsoft.com/office/drawing/2014/main" id="{9BA426D5-CE2B-D46C-E493-D02FFAA865B9}"/>
              </a:ext>
            </a:extLst>
          </p:cNvPr>
          <p:cNvPicPr>
            <a:picLocks noChangeAspect="1"/>
          </p:cNvPicPr>
          <p:nvPr userDrawn="1"/>
        </p:nvPicPr>
        <p:blipFill rotWithShape="1">
          <a:blip r:embed="rId4" cstate="screen">
            <a:alphaModFix amt="23000"/>
            <a:extLst>
              <a:ext uri="{28A0092B-C50C-407E-A947-70E740481C1C}">
                <a14:useLocalDpi xmlns:a14="http://schemas.microsoft.com/office/drawing/2010/main"/>
              </a:ext>
            </a:extLst>
          </a:blip>
          <a:srcRect/>
          <a:stretch/>
        </p:blipFill>
        <p:spPr>
          <a:xfrm>
            <a:off x="0" y="5168811"/>
            <a:ext cx="3884861" cy="1719470"/>
          </a:xfrm>
          <a:prstGeom prst="rect">
            <a:avLst/>
          </a:prstGeom>
        </p:spPr>
      </p:pic>
      <p:sp>
        <p:nvSpPr>
          <p:cNvPr id="7" name="TextBox 6">
            <a:extLst>
              <a:ext uri="{FF2B5EF4-FFF2-40B4-BE49-F238E27FC236}">
                <a16:creationId xmlns:a16="http://schemas.microsoft.com/office/drawing/2014/main" id="{B02A5107-22C8-EFF2-D258-3F67CDB1A001}"/>
              </a:ext>
            </a:extLst>
          </p:cNvPr>
          <p:cNvSpPr txBox="1"/>
          <p:nvPr userDrawn="1"/>
        </p:nvSpPr>
        <p:spPr>
          <a:xfrm>
            <a:off x="500101" y="6296266"/>
            <a:ext cx="3657600" cy="338554"/>
          </a:xfrm>
          <a:prstGeom prst="rect">
            <a:avLst/>
          </a:prstGeom>
          <a:noFill/>
        </p:spPr>
        <p:txBody>
          <a:bodyPr wrap="square" rtlCol="0">
            <a:spAutoFit/>
          </a:bodyPr>
          <a:lstStyle/>
          <a:p>
            <a:pPr algn="l"/>
            <a:r>
              <a:rPr lang="en-US" sz="1600" b="1" dirty="0">
                <a:solidFill>
                  <a:schemeClr val="bg2">
                    <a:lumMod val="75000"/>
                  </a:schemeClr>
                </a:solidFill>
                <a:latin typeface="Arial" panose="020B0604020202020204" pitchFamily="34" charset="0"/>
                <a:cs typeface="Arial" panose="020B0604020202020204" pitchFamily="34" charset="0"/>
              </a:rPr>
              <a:t>B</a:t>
            </a:r>
            <a:r>
              <a:rPr lang="en-US" sz="1600" b="0" dirty="0">
                <a:solidFill>
                  <a:schemeClr val="bg2">
                    <a:lumMod val="75000"/>
                  </a:schemeClr>
                </a:solidFill>
                <a:latin typeface="Arial" panose="020B0604020202020204" pitchFamily="34" charset="0"/>
                <a:cs typeface="Arial" panose="020B0604020202020204" pitchFamily="34" charset="0"/>
              </a:rPr>
              <a:t>iological &amp; </a:t>
            </a:r>
            <a:r>
              <a:rPr lang="en-US" sz="1600" b="1" dirty="0">
                <a:solidFill>
                  <a:schemeClr val="bg2">
                    <a:lumMod val="75000"/>
                  </a:schemeClr>
                </a:solidFill>
                <a:latin typeface="Arial" panose="020B0604020202020204" pitchFamily="34" charset="0"/>
                <a:cs typeface="Arial" panose="020B0604020202020204" pitchFamily="34" charset="0"/>
              </a:rPr>
              <a:t>P</a:t>
            </a:r>
            <a:r>
              <a:rPr lang="en-US" sz="1600" b="0" dirty="0">
                <a:solidFill>
                  <a:schemeClr val="bg2">
                    <a:lumMod val="75000"/>
                  </a:schemeClr>
                </a:solidFill>
                <a:latin typeface="Arial" panose="020B0604020202020204" pitchFamily="34" charset="0"/>
                <a:cs typeface="Arial" panose="020B0604020202020204" pitchFamily="34" charset="0"/>
              </a:rPr>
              <a:t>hysical </a:t>
            </a:r>
            <a:r>
              <a:rPr lang="en-US" sz="1600" b="1" dirty="0">
                <a:solidFill>
                  <a:schemeClr val="bg2">
                    <a:lumMod val="75000"/>
                  </a:schemeClr>
                </a:solidFill>
                <a:latin typeface="Arial" panose="020B0604020202020204" pitchFamily="34" charset="0"/>
                <a:cs typeface="Arial" panose="020B0604020202020204" pitchFamily="34" charset="0"/>
              </a:rPr>
              <a:t>S</a:t>
            </a:r>
            <a:r>
              <a:rPr lang="en-US" sz="1600" b="0" dirty="0">
                <a:solidFill>
                  <a:schemeClr val="bg2">
                    <a:lumMod val="75000"/>
                  </a:schemeClr>
                </a:solidFill>
                <a:latin typeface="Arial" panose="020B0604020202020204" pitchFamily="34" charset="0"/>
                <a:cs typeface="Arial" panose="020B0604020202020204" pitchFamily="34" charset="0"/>
              </a:rPr>
              <a:t>ciences</a:t>
            </a:r>
          </a:p>
        </p:txBody>
      </p:sp>
    </p:spTree>
    <p:extLst>
      <p:ext uri="{BB962C8B-B14F-4D97-AF65-F5344CB8AC3E}">
        <p14:creationId xmlns:p14="http://schemas.microsoft.com/office/powerpoint/2010/main" val="3390964837"/>
      </p:ext>
    </p:extLst>
  </p:cSld>
  <p:clrMapOvr>
    <a:masterClrMapping/>
  </p:clrMapOvr>
  <p:extLst>
    <p:ext uri="{DCECCB84-F9BA-43D5-87BE-67443E8EF086}">
      <p15:sldGuideLst xmlns:p15="http://schemas.microsoft.com/office/powerpoint/2012/main">
        <p15:guide id="1" orient="horz" pos="2160">
          <p15:clr>
            <a:srgbClr val="FBAE40"/>
          </p15:clr>
        </p15:guide>
        <p15:guide id="2" pos="4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E8CFB-2DE8-BA24-FFBC-66F77875D5EE}"/>
              </a:ext>
            </a:extLst>
          </p:cNvPr>
          <p:cNvSpPr>
            <a:spLocks noGrp="1"/>
          </p:cNvSpPr>
          <p:nvPr>
            <p:ph type="title" hasCustomPrompt="1"/>
          </p:nvPr>
        </p:nvSpPr>
        <p:spPr>
          <a:xfrm>
            <a:off x="914400" y="755930"/>
            <a:ext cx="10325100" cy="1325563"/>
          </a:xfrm>
        </p:spPr>
        <p:txBody>
          <a:bodyPr/>
          <a:lstStyle/>
          <a:p>
            <a:r>
              <a:rPr lang="en-US" dirty="0"/>
              <a:t>Agenda Title</a:t>
            </a:r>
          </a:p>
        </p:txBody>
      </p:sp>
      <p:sp>
        <p:nvSpPr>
          <p:cNvPr id="4" name="Footer Placeholder 3">
            <a:extLst>
              <a:ext uri="{FF2B5EF4-FFF2-40B4-BE49-F238E27FC236}">
                <a16:creationId xmlns:a16="http://schemas.microsoft.com/office/drawing/2014/main" id="{7E3B3E43-6742-FF22-D2F2-033E1364C113}"/>
              </a:ext>
            </a:extLst>
          </p:cNvPr>
          <p:cNvSpPr>
            <a:spLocks noGrp="1"/>
          </p:cNvSpPr>
          <p:nvPr>
            <p:ph type="ftr" sz="quarter" idx="11"/>
          </p:nvPr>
        </p:nvSpPr>
        <p:spPr/>
        <p:txBody>
          <a:bodyPr/>
          <a:lstStyle/>
          <a:p>
            <a:r>
              <a:rPr lang="en-US" dirty="0"/>
              <a:t>Biological &amp; Physical Sciences </a:t>
            </a:r>
          </a:p>
        </p:txBody>
      </p:sp>
      <p:sp>
        <p:nvSpPr>
          <p:cNvPr id="5" name="Slide Number Placeholder 4">
            <a:extLst>
              <a:ext uri="{FF2B5EF4-FFF2-40B4-BE49-F238E27FC236}">
                <a16:creationId xmlns:a16="http://schemas.microsoft.com/office/drawing/2014/main" id="{8E26FCE7-3724-2CFD-0646-F383DB2F0F58}"/>
              </a:ext>
            </a:extLst>
          </p:cNvPr>
          <p:cNvSpPr>
            <a:spLocks noGrp="1"/>
          </p:cNvSpPr>
          <p:nvPr>
            <p:ph type="sldNum" sz="quarter" idx="12"/>
          </p:nvPr>
        </p:nvSpPr>
        <p:spPr>
          <a:xfrm>
            <a:off x="11662148" y="100584"/>
            <a:ext cx="1059704" cy="261258"/>
          </a:xfrm>
        </p:spPr>
        <p:txBody>
          <a:bodyPr/>
          <a:lstStyle/>
          <a:p>
            <a:fld id="{E8618032-BA8D-3D4D-8253-A70208A85976}" type="slidenum">
              <a:rPr lang="en-US" smtClean="0"/>
              <a:pPr/>
              <a:t>‹#›</a:t>
            </a:fld>
            <a:endParaRPr lang="en-US" dirty="0"/>
          </a:p>
        </p:txBody>
      </p:sp>
      <p:sp>
        <p:nvSpPr>
          <p:cNvPr id="22" name="Text Placeholder 21">
            <a:extLst>
              <a:ext uri="{FF2B5EF4-FFF2-40B4-BE49-F238E27FC236}">
                <a16:creationId xmlns:a16="http://schemas.microsoft.com/office/drawing/2014/main" id="{B466CDE3-4631-5FA9-337A-DF847EAAD5B5}"/>
              </a:ext>
            </a:extLst>
          </p:cNvPr>
          <p:cNvSpPr>
            <a:spLocks noGrp="1"/>
          </p:cNvSpPr>
          <p:nvPr>
            <p:ph type="body" sz="quarter" idx="13" hasCustomPrompt="1"/>
          </p:nvPr>
        </p:nvSpPr>
        <p:spPr>
          <a:xfrm>
            <a:off x="1824652" y="2247900"/>
            <a:ext cx="3974845" cy="609600"/>
          </a:xfrm>
        </p:spPr>
        <p:txBody>
          <a:bodyPr anchor="ctr">
            <a:normAutofit/>
          </a:bodyPr>
          <a:lstStyle>
            <a:lvl1pPr marL="0" indent="0">
              <a:buNone/>
              <a:defRPr sz="2000"/>
            </a:lvl1pPr>
          </a:lstStyle>
          <a:p>
            <a:pPr lvl="0"/>
            <a:r>
              <a:rPr lang="en-US" dirty="0"/>
              <a:t>Click to add addenda item</a:t>
            </a:r>
          </a:p>
        </p:txBody>
      </p:sp>
      <p:sp>
        <p:nvSpPr>
          <p:cNvPr id="25" name="Text Placeholder 21">
            <a:extLst>
              <a:ext uri="{FF2B5EF4-FFF2-40B4-BE49-F238E27FC236}">
                <a16:creationId xmlns:a16="http://schemas.microsoft.com/office/drawing/2014/main" id="{2A51E4DB-9ABE-A139-7B46-5FC55133039B}"/>
              </a:ext>
            </a:extLst>
          </p:cNvPr>
          <p:cNvSpPr>
            <a:spLocks noGrp="1"/>
          </p:cNvSpPr>
          <p:nvPr>
            <p:ph type="body" sz="quarter" idx="16" hasCustomPrompt="1"/>
          </p:nvPr>
        </p:nvSpPr>
        <p:spPr>
          <a:xfrm>
            <a:off x="6934200" y="2247900"/>
            <a:ext cx="4343400" cy="609600"/>
          </a:xfrm>
        </p:spPr>
        <p:txBody>
          <a:bodyPr anchor="ctr">
            <a:normAutofit/>
          </a:bodyPr>
          <a:lstStyle>
            <a:lvl1pPr marL="0" indent="0">
              <a:buNone/>
              <a:defRPr sz="2000"/>
            </a:lvl1pPr>
          </a:lstStyle>
          <a:p>
            <a:pPr lvl="0"/>
            <a:r>
              <a:rPr lang="en-US" dirty="0"/>
              <a:t>Click to add addenda item</a:t>
            </a:r>
          </a:p>
        </p:txBody>
      </p:sp>
      <p:sp>
        <p:nvSpPr>
          <p:cNvPr id="29" name="Text Placeholder 28">
            <a:extLst>
              <a:ext uri="{FF2B5EF4-FFF2-40B4-BE49-F238E27FC236}">
                <a16:creationId xmlns:a16="http://schemas.microsoft.com/office/drawing/2014/main" id="{7B35BDAA-D931-DC03-6B00-6EDF027908BB}"/>
              </a:ext>
            </a:extLst>
          </p:cNvPr>
          <p:cNvSpPr>
            <a:spLocks noGrp="1"/>
          </p:cNvSpPr>
          <p:nvPr>
            <p:ph type="body" sz="quarter" idx="19" hasCustomPrompt="1"/>
          </p:nvPr>
        </p:nvSpPr>
        <p:spPr>
          <a:xfrm>
            <a:off x="914400" y="2209800"/>
            <a:ext cx="685800" cy="685800"/>
          </a:xfrm>
          <a:noFill/>
        </p:spPr>
        <p:txBody>
          <a:bodyPr anchor="ctr">
            <a:normAutofit/>
          </a:bodyPr>
          <a:lstStyle>
            <a:lvl1pPr marL="0" indent="0" algn="ctr">
              <a:buNone/>
              <a:defRPr sz="4000">
                <a:gradFill>
                  <a:gsLst>
                    <a:gs pos="86000">
                      <a:schemeClr val="accent3"/>
                    </a:gs>
                    <a:gs pos="47000">
                      <a:schemeClr val="accent2"/>
                    </a:gs>
                    <a:gs pos="0">
                      <a:schemeClr val="tx1"/>
                    </a:gs>
                  </a:gsLst>
                  <a:lin ang="3600000" scaled="0"/>
                </a:gradFill>
                <a:latin typeface="+mj-lt"/>
              </a:defRPr>
            </a:lvl1pPr>
          </a:lstStyle>
          <a:p>
            <a:pPr lvl="0"/>
            <a:r>
              <a:rPr lang="en-US" dirty="0"/>
              <a:t>#</a:t>
            </a:r>
          </a:p>
        </p:txBody>
      </p:sp>
      <p:sp>
        <p:nvSpPr>
          <p:cNvPr id="32" name="Text Placeholder 28">
            <a:extLst>
              <a:ext uri="{FF2B5EF4-FFF2-40B4-BE49-F238E27FC236}">
                <a16:creationId xmlns:a16="http://schemas.microsoft.com/office/drawing/2014/main" id="{EF503090-B911-7788-8B94-3F88CA4797F9}"/>
              </a:ext>
            </a:extLst>
          </p:cNvPr>
          <p:cNvSpPr>
            <a:spLocks noGrp="1"/>
          </p:cNvSpPr>
          <p:nvPr>
            <p:ph type="body" sz="quarter" idx="22" hasCustomPrompt="1"/>
          </p:nvPr>
        </p:nvSpPr>
        <p:spPr>
          <a:xfrm>
            <a:off x="6023949" y="2209800"/>
            <a:ext cx="685800" cy="685800"/>
          </a:xfrm>
          <a:noFill/>
        </p:spPr>
        <p:txBody>
          <a:bodyPr vert="horz" lIns="91440" tIns="45720" rIns="91440" bIns="45720" rtlCol="0" anchor="ctr">
            <a:normAutofit/>
          </a:bodyPr>
          <a:lstStyle>
            <a:lvl1pPr marL="0" indent="0" algn="r">
              <a:buNone/>
              <a:defRPr lang="en-US" sz="4000" dirty="0">
                <a:gradFill>
                  <a:gsLst>
                    <a:gs pos="82000">
                      <a:schemeClr val="accent3"/>
                    </a:gs>
                    <a:gs pos="45000">
                      <a:schemeClr val="accent2"/>
                    </a:gs>
                  </a:gsLst>
                  <a:lin ang="3600000" scaled="0"/>
                </a:gradFill>
                <a:latin typeface="+mj-lt"/>
              </a:defRPr>
            </a:lvl1pPr>
          </a:lstStyle>
          <a:p>
            <a:pPr marL="228600" lvl="0" indent="-228600" algn="ctr"/>
            <a:r>
              <a:rPr lang="en-US" dirty="0"/>
              <a:t>#</a:t>
            </a:r>
          </a:p>
        </p:txBody>
      </p:sp>
      <p:sp>
        <p:nvSpPr>
          <p:cNvPr id="35" name="Text Placeholder 21">
            <a:extLst>
              <a:ext uri="{FF2B5EF4-FFF2-40B4-BE49-F238E27FC236}">
                <a16:creationId xmlns:a16="http://schemas.microsoft.com/office/drawing/2014/main" id="{65D9DAC4-C562-9524-30AD-991D271FE6EF}"/>
              </a:ext>
            </a:extLst>
          </p:cNvPr>
          <p:cNvSpPr>
            <a:spLocks noGrp="1"/>
          </p:cNvSpPr>
          <p:nvPr>
            <p:ph type="body" sz="quarter" idx="23" hasCustomPrompt="1"/>
          </p:nvPr>
        </p:nvSpPr>
        <p:spPr>
          <a:xfrm>
            <a:off x="1824652" y="3627249"/>
            <a:ext cx="3974845" cy="609600"/>
          </a:xfrm>
        </p:spPr>
        <p:txBody>
          <a:bodyPr anchor="ctr">
            <a:normAutofit/>
          </a:bodyPr>
          <a:lstStyle>
            <a:lvl1pPr marL="0" indent="0">
              <a:buNone/>
              <a:defRPr sz="2000"/>
            </a:lvl1pPr>
          </a:lstStyle>
          <a:p>
            <a:pPr lvl="0"/>
            <a:r>
              <a:rPr lang="en-US" dirty="0"/>
              <a:t>Click to add addenda item</a:t>
            </a:r>
          </a:p>
        </p:txBody>
      </p:sp>
      <p:sp>
        <p:nvSpPr>
          <p:cNvPr id="36" name="Text Placeholder 21">
            <a:extLst>
              <a:ext uri="{FF2B5EF4-FFF2-40B4-BE49-F238E27FC236}">
                <a16:creationId xmlns:a16="http://schemas.microsoft.com/office/drawing/2014/main" id="{7E647AC1-0BB7-0678-1B8A-177F4146A75E}"/>
              </a:ext>
            </a:extLst>
          </p:cNvPr>
          <p:cNvSpPr>
            <a:spLocks noGrp="1"/>
          </p:cNvSpPr>
          <p:nvPr>
            <p:ph type="body" sz="quarter" idx="24" hasCustomPrompt="1"/>
          </p:nvPr>
        </p:nvSpPr>
        <p:spPr>
          <a:xfrm>
            <a:off x="6934200" y="3627249"/>
            <a:ext cx="4343400" cy="609600"/>
          </a:xfrm>
        </p:spPr>
        <p:txBody>
          <a:bodyPr anchor="ctr">
            <a:normAutofit/>
          </a:bodyPr>
          <a:lstStyle>
            <a:lvl1pPr marL="0" indent="0">
              <a:buNone/>
              <a:defRPr sz="2000"/>
            </a:lvl1pPr>
          </a:lstStyle>
          <a:p>
            <a:pPr lvl="0"/>
            <a:r>
              <a:rPr lang="en-US" dirty="0"/>
              <a:t>Click to add addenda item</a:t>
            </a:r>
          </a:p>
        </p:txBody>
      </p:sp>
      <p:sp>
        <p:nvSpPr>
          <p:cNvPr id="37" name="Text Placeholder 28">
            <a:extLst>
              <a:ext uri="{FF2B5EF4-FFF2-40B4-BE49-F238E27FC236}">
                <a16:creationId xmlns:a16="http://schemas.microsoft.com/office/drawing/2014/main" id="{B55453C0-7B23-AC50-10FE-E961216AD9CE}"/>
              </a:ext>
            </a:extLst>
          </p:cNvPr>
          <p:cNvSpPr>
            <a:spLocks noGrp="1"/>
          </p:cNvSpPr>
          <p:nvPr>
            <p:ph type="body" sz="quarter" idx="25" hasCustomPrompt="1"/>
          </p:nvPr>
        </p:nvSpPr>
        <p:spPr>
          <a:xfrm>
            <a:off x="914400" y="3589149"/>
            <a:ext cx="685800" cy="685800"/>
          </a:xfrm>
          <a:noFill/>
        </p:spPr>
        <p:txBody>
          <a:bodyPr vert="horz" lIns="91440" tIns="45720" rIns="91440" bIns="45720" rtlCol="0" anchor="ctr">
            <a:normAutofit/>
          </a:bodyPr>
          <a:lstStyle>
            <a:lvl1pPr marL="0" indent="0" algn="r">
              <a:buNone/>
              <a:defRPr lang="en-US" sz="4000" dirty="0">
                <a:gradFill>
                  <a:gsLst>
                    <a:gs pos="78000">
                      <a:schemeClr val="accent3"/>
                    </a:gs>
                    <a:gs pos="39000">
                      <a:schemeClr val="accent2"/>
                    </a:gs>
                    <a:gs pos="0">
                      <a:schemeClr val="tx1"/>
                    </a:gs>
                  </a:gsLst>
                  <a:lin ang="3600000" scaled="0"/>
                </a:gradFill>
                <a:latin typeface="+mj-lt"/>
              </a:defRPr>
            </a:lvl1pPr>
          </a:lstStyle>
          <a:p>
            <a:pPr marL="228600" lvl="0" indent="-228600" algn="ctr"/>
            <a:r>
              <a:rPr lang="en-US" dirty="0"/>
              <a:t>#</a:t>
            </a:r>
          </a:p>
        </p:txBody>
      </p:sp>
      <p:sp>
        <p:nvSpPr>
          <p:cNvPr id="38" name="Text Placeholder 28">
            <a:extLst>
              <a:ext uri="{FF2B5EF4-FFF2-40B4-BE49-F238E27FC236}">
                <a16:creationId xmlns:a16="http://schemas.microsoft.com/office/drawing/2014/main" id="{1A5B7077-E4C0-3DD2-DCA8-E8A197F1C95C}"/>
              </a:ext>
            </a:extLst>
          </p:cNvPr>
          <p:cNvSpPr>
            <a:spLocks noGrp="1"/>
          </p:cNvSpPr>
          <p:nvPr>
            <p:ph type="body" sz="quarter" idx="26" hasCustomPrompt="1"/>
          </p:nvPr>
        </p:nvSpPr>
        <p:spPr>
          <a:xfrm>
            <a:off x="6023949" y="3589149"/>
            <a:ext cx="685800" cy="685800"/>
          </a:xfrm>
          <a:noFill/>
        </p:spPr>
        <p:txBody>
          <a:bodyPr vert="horz" lIns="91440" tIns="45720" rIns="91440" bIns="45720" rtlCol="0" anchor="ctr">
            <a:normAutofit/>
          </a:bodyPr>
          <a:lstStyle>
            <a:lvl1pPr marL="0" indent="0" algn="r">
              <a:buNone/>
              <a:defRPr lang="en-US" sz="4000" dirty="0">
                <a:gradFill>
                  <a:gsLst>
                    <a:gs pos="77000">
                      <a:schemeClr val="accent3"/>
                    </a:gs>
                    <a:gs pos="45000">
                      <a:schemeClr val="accent2"/>
                    </a:gs>
                    <a:gs pos="0">
                      <a:schemeClr val="tx1"/>
                    </a:gs>
                  </a:gsLst>
                  <a:lin ang="3600000" scaled="0"/>
                </a:gradFill>
                <a:latin typeface="+mj-lt"/>
              </a:defRPr>
            </a:lvl1pPr>
          </a:lstStyle>
          <a:p>
            <a:pPr marL="228600" lvl="0" indent="-228600" algn="ctr"/>
            <a:r>
              <a:rPr lang="en-US" dirty="0"/>
              <a:t>#</a:t>
            </a:r>
          </a:p>
        </p:txBody>
      </p:sp>
      <p:sp>
        <p:nvSpPr>
          <p:cNvPr id="39" name="Text Placeholder 21">
            <a:extLst>
              <a:ext uri="{FF2B5EF4-FFF2-40B4-BE49-F238E27FC236}">
                <a16:creationId xmlns:a16="http://schemas.microsoft.com/office/drawing/2014/main" id="{B32EE1BF-44FE-201B-EF31-3ED8FF5BA7BC}"/>
              </a:ext>
            </a:extLst>
          </p:cNvPr>
          <p:cNvSpPr>
            <a:spLocks noGrp="1"/>
          </p:cNvSpPr>
          <p:nvPr>
            <p:ph type="body" sz="quarter" idx="27" hasCustomPrompt="1"/>
          </p:nvPr>
        </p:nvSpPr>
        <p:spPr>
          <a:xfrm>
            <a:off x="1824652" y="4913609"/>
            <a:ext cx="3974845" cy="609600"/>
          </a:xfrm>
        </p:spPr>
        <p:txBody>
          <a:bodyPr anchor="ctr">
            <a:normAutofit/>
          </a:bodyPr>
          <a:lstStyle>
            <a:lvl1pPr marL="0" indent="0">
              <a:buNone/>
              <a:defRPr sz="2000"/>
            </a:lvl1pPr>
          </a:lstStyle>
          <a:p>
            <a:pPr lvl="0"/>
            <a:r>
              <a:rPr lang="en-US" dirty="0"/>
              <a:t>Click to add addenda item</a:t>
            </a:r>
          </a:p>
        </p:txBody>
      </p:sp>
      <p:sp>
        <p:nvSpPr>
          <p:cNvPr id="40" name="Text Placeholder 21">
            <a:extLst>
              <a:ext uri="{FF2B5EF4-FFF2-40B4-BE49-F238E27FC236}">
                <a16:creationId xmlns:a16="http://schemas.microsoft.com/office/drawing/2014/main" id="{2F676D19-8F83-696C-ACFF-7F910A6C8105}"/>
              </a:ext>
            </a:extLst>
          </p:cNvPr>
          <p:cNvSpPr>
            <a:spLocks noGrp="1"/>
          </p:cNvSpPr>
          <p:nvPr>
            <p:ph type="body" sz="quarter" idx="28" hasCustomPrompt="1"/>
          </p:nvPr>
        </p:nvSpPr>
        <p:spPr>
          <a:xfrm>
            <a:off x="6934200" y="4913609"/>
            <a:ext cx="4343400" cy="609600"/>
          </a:xfrm>
        </p:spPr>
        <p:txBody>
          <a:bodyPr anchor="ctr">
            <a:normAutofit/>
          </a:bodyPr>
          <a:lstStyle>
            <a:lvl1pPr marL="0" indent="0">
              <a:buNone/>
              <a:defRPr sz="2000"/>
            </a:lvl1pPr>
          </a:lstStyle>
          <a:p>
            <a:pPr lvl="0"/>
            <a:r>
              <a:rPr lang="en-US" dirty="0"/>
              <a:t>Click to add addenda item</a:t>
            </a:r>
          </a:p>
        </p:txBody>
      </p:sp>
      <p:sp>
        <p:nvSpPr>
          <p:cNvPr id="41" name="Text Placeholder 28">
            <a:extLst>
              <a:ext uri="{FF2B5EF4-FFF2-40B4-BE49-F238E27FC236}">
                <a16:creationId xmlns:a16="http://schemas.microsoft.com/office/drawing/2014/main" id="{4936C6BE-C8B8-20C6-9C05-FD330B16C055}"/>
              </a:ext>
            </a:extLst>
          </p:cNvPr>
          <p:cNvSpPr>
            <a:spLocks noGrp="1"/>
          </p:cNvSpPr>
          <p:nvPr>
            <p:ph type="body" sz="quarter" idx="29" hasCustomPrompt="1"/>
          </p:nvPr>
        </p:nvSpPr>
        <p:spPr>
          <a:xfrm>
            <a:off x="914400" y="4875509"/>
            <a:ext cx="685800" cy="685800"/>
          </a:xfrm>
          <a:noFill/>
        </p:spPr>
        <p:txBody>
          <a:bodyPr vert="horz" lIns="91440" tIns="45720" rIns="91440" bIns="45720" rtlCol="0" anchor="ctr">
            <a:normAutofit/>
          </a:bodyPr>
          <a:lstStyle>
            <a:lvl1pPr marL="0" indent="0" algn="r">
              <a:buNone/>
              <a:defRPr lang="en-US" sz="4000" dirty="0">
                <a:gradFill>
                  <a:gsLst>
                    <a:gs pos="87000">
                      <a:schemeClr val="accent3"/>
                    </a:gs>
                    <a:gs pos="45000">
                      <a:schemeClr val="accent2"/>
                    </a:gs>
                    <a:gs pos="0">
                      <a:schemeClr val="tx1"/>
                    </a:gs>
                  </a:gsLst>
                  <a:lin ang="3600000" scaled="0"/>
                </a:gradFill>
                <a:latin typeface="+mj-lt"/>
              </a:defRPr>
            </a:lvl1pPr>
          </a:lstStyle>
          <a:p>
            <a:pPr marL="228600" lvl="0" indent="-228600" algn="ctr"/>
            <a:r>
              <a:rPr lang="en-US" dirty="0"/>
              <a:t>#</a:t>
            </a:r>
          </a:p>
        </p:txBody>
      </p:sp>
      <p:sp>
        <p:nvSpPr>
          <p:cNvPr id="42" name="Text Placeholder 28">
            <a:extLst>
              <a:ext uri="{FF2B5EF4-FFF2-40B4-BE49-F238E27FC236}">
                <a16:creationId xmlns:a16="http://schemas.microsoft.com/office/drawing/2014/main" id="{9DBD5D19-811F-095E-D5BA-1EE3AC8F9767}"/>
              </a:ext>
            </a:extLst>
          </p:cNvPr>
          <p:cNvSpPr>
            <a:spLocks noGrp="1"/>
          </p:cNvSpPr>
          <p:nvPr>
            <p:ph type="body" sz="quarter" idx="30" hasCustomPrompt="1"/>
          </p:nvPr>
        </p:nvSpPr>
        <p:spPr>
          <a:xfrm>
            <a:off x="6023949" y="4875509"/>
            <a:ext cx="685800" cy="685800"/>
          </a:xfrm>
          <a:noFill/>
        </p:spPr>
        <p:txBody>
          <a:bodyPr vert="horz" lIns="91440" tIns="45720" rIns="91440" bIns="45720" rtlCol="0" anchor="ctr">
            <a:normAutofit/>
          </a:bodyPr>
          <a:lstStyle>
            <a:lvl1pPr marL="0" indent="0" algn="r">
              <a:buNone/>
              <a:defRPr lang="en-US" sz="4000" dirty="0">
                <a:gradFill>
                  <a:gsLst>
                    <a:gs pos="72000">
                      <a:schemeClr val="accent3"/>
                    </a:gs>
                    <a:gs pos="45000">
                      <a:schemeClr val="accent2"/>
                    </a:gs>
                    <a:gs pos="4000">
                      <a:schemeClr val="tx1"/>
                    </a:gs>
                  </a:gsLst>
                  <a:lin ang="3600000" scaled="0"/>
                </a:gradFill>
                <a:latin typeface="+mj-lt"/>
              </a:defRPr>
            </a:lvl1pPr>
          </a:lstStyle>
          <a:p>
            <a:pPr marL="228600" lvl="0" indent="-228600" algn="ctr"/>
            <a:r>
              <a:rPr lang="en-US" dirty="0"/>
              <a:t>#</a:t>
            </a:r>
          </a:p>
        </p:txBody>
      </p:sp>
      <p:cxnSp>
        <p:nvCxnSpPr>
          <p:cNvPr id="44" name="Straight Connector 43">
            <a:extLst>
              <a:ext uri="{FF2B5EF4-FFF2-40B4-BE49-F238E27FC236}">
                <a16:creationId xmlns:a16="http://schemas.microsoft.com/office/drawing/2014/main" id="{42FAC8BE-D606-2853-844A-E2C15955DC7D}"/>
              </a:ext>
            </a:extLst>
          </p:cNvPr>
          <p:cNvCxnSpPr/>
          <p:nvPr userDrawn="1"/>
        </p:nvCxnSpPr>
        <p:spPr>
          <a:xfrm>
            <a:off x="838200" y="2190750"/>
            <a:ext cx="838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8BB1695-58EE-644B-7EE8-11F922C6661D}"/>
              </a:ext>
            </a:extLst>
          </p:cNvPr>
          <p:cNvCxnSpPr>
            <a:cxnSpLocks/>
          </p:cNvCxnSpPr>
          <p:nvPr userDrawn="1"/>
        </p:nvCxnSpPr>
        <p:spPr>
          <a:xfrm>
            <a:off x="1600200" y="2114550"/>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52F9823-AA54-9873-16F2-263321455B45}"/>
              </a:ext>
            </a:extLst>
          </p:cNvPr>
          <p:cNvCxnSpPr/>
          <p:nvPr userDrawn="1"/>
        </p:nvCxnSpPr>
        <p:spPr>
          <a:xfrm>
            <a:off x="838200" y="3590925"/>
            <a:ext cx="838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F1A9CBD-3464-B5A2-6E8D-EE3FD067EE09}"/>
              </a:ext>
            </a:extLst>
          </p:cNvPr>
          <p:cNvCxnSpPr>
            <a:cxnSpLocks/>
          </p:cNvCxnSpPr>
          <p:nvPr userDrawn="1"/>
        </p:nvCxnSpPr>
        <p:spPr>
          <a:xfrm>
            <a:off x="1600200" y="3514725"/>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EED8E47-E2B6-E0EF-495A-1545B3213F3D}"/>
              </a:ext>
            </a:extLst>
          </p:cNvPr>
          <p:cNvCxnSpPr/>
          <p:nvPr userDrawn="1"/>
        </p:nvCxnSpPr>
        <p:spPr>
          <a:xfrm>
            <a:off x="838200" y="4876800"/>
            <a:ext cx="838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1607ECD-AA81-BC83-3C78-B9336CCDEEF0}"/>
              </a:ext>
            </a:extLst>
          </p:cNvPr>
          <p:cNvCxnSpPr>
            <a:cxnSpLocks/>
          </p:cNvCxnSpPr>
          <p:nvPr userDrawn="1"/>
        </p:nvCxnSpPr>
        <p:spPr>
          <a:xfrm>
            <a:off x="1600200" y="4800600"/>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5E098EB-268C-67D8-9802-3DFD2843FEB8}"/>
              </a:ext>
            </a:extLst>
          </p:cNvPr>
          <p:cNvCxnSpPr/>
          <p:nvPr userDrawn="1"/>
        </p:nvCxnSpPr>
        <p:spPr>
          <a:xfrm>
            <a:off x="5943600" y="2190750"/>
            <a:ext cx="838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C41966B-39B9-FA80-34EE-34DB2BBC90AA}"/>
              </a:ext>
            </a:extLst>
          </p:cNvPr>
          <p:cNvCxnSpPr>
            <a:cxnSpLocks/>
          </p:cNvCxnSpPr>
          <p:nvPr userDrawn="1"/>
        </p:nvCxnSpPr>
        <p:spPr>
          <a:xfrm>
            <a:off x="6705600" y="2114550"/>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67F3916-0A34-3DFE-C40C-9CE5F118C59D}"/>
              </a:ext>
            </a:extLst>
          </p:cNvPr>
          <p:cNvCxnSpPr/>
          <p:nvPr userDrawn="1"/>
        </p:nvCxnSpPr>
        <p:spPr>
          <a:xfrm>
            <a:off x="5943600" y="3590925"/>
            <a:ext cx="838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0580B0B-C3BC-E6B2-4F7A-A8BC4CBEC5D4}"/>
              </a:ext>
            </a:extLst>
          </p:cNvPr>
          <p:cNvCxnSpPr>
            <a:cxnSpLocks/>
          </p:cNvCxnSpPr>
          <p:nvPr userDrawn="1"/>
        </p:nvCxnSpPr>
        <p:spPr>
          <a:xfrm>
            <a:off x="6705600" y="3514725"/>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204EA6A-A0F1-4A1F-D752-01EC9413BD08}"/>
              </a:ext>
            </a:extLst>
          </p:cNvPr>
          <p:cNvCxnSpPr/>
          <p:nvPr userDrawn="1"/>
        </p:nvCxnSpPr>
        <p:spPr>
          <a:xfrm>
            <a:off x="5943600" y="4876800"/>
            <a:ext cx="838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332F554-64FA-44EB-F6C0-65BB814F9D34}"/>
              </a:ext>
            </a:extLst>
          </p:cNvPr>
          <p:cNvCxnSpPr>
            <a:cxnSpLocks/>
          </p:cNvCxnSpPr>
          <p:nvPr userDrawn="1"/>
        </p:nvCxnSpPr>
        <p:spPr>
          <a:xfrm>
            <a:off x="6705600" y="4800600"/>
            <a:ext cx="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8533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89F04-8166-A3DC-744C-551C5EB8708A}"/>
              </a:ext>
            </a:extLst>
          </p:cNvPr>
          <p:cNvSpPr>
            <a:spLocks noGrp="1"/>
          </p:cNvSpPr>
          <p:nvPr>
            <p:ph type="title"/>
          </p:nvPr>
        </p:nvSpPr>
        <p:spPr>
          <a:xfrm>
            <a:off x="914400" y="758952"/>
            <a:ext cx="103251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B1A6FEB-A7E9-41A9-BE32-02FF741C9A2A}"/>
              </a:ext>
            </a:extLst>
          </p:cNvPr>
          <p:cNvSpPr>
            <a:spLocks noGrp="1"/>
          </p:cNvSpPr>
          <p:nvPr>
            <p:ph idx="1"/>
          </p:nvPr>
        </p:nvSpPr>
        <p:spPr>
          <a:xfrm>
            <a:off x="914400" y="2216430"/>
            <a:ext cx="103251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9422C68-F3F1-F728-F8AB-7545FFD238E1}"/>
              </a:ext>
            </a:extLst>
          </p:cNvPr>
          <p:cNvSpPr>
            <a:spLocks noGrp="1"/>
          </p:cNvSpPr>
          <p:nvPr>
            <p:ph type="ftr" sz="quarter" idx="11"/>
          </p:nvPr>
        </p:nvSpPr>
        <p:spPr/>
        <p:txBody>
          <a:bodyPr/>
          <a:lstStyle/>
          <a:p>
            <a:r>
              <a:rPr lang="en-US" dirty="0"/>
              <a:t>Biological &amp; Physical Sciences</a:t>
            </a:r>
          </a:p>
        </p:txBody>
      </p:sp>
      <p:sp>
        <p:nvSpPr>
          <p:cNvPr id="7" name="Slide Number Placeholder 5">
            <a:extLst>
              <a:ext uri="{FF2B5EF4-FFF2-40B4-BE49-F238E27FC236}">
                <a16:creationId xmlns:a16="http://schemas.microsoft.com/office/drawing/2014/main" id="{55FC8917-4CA3-53EC-49EA-1322608A3F2A}"/>
              </a:ext>
            </a:extLst>
          </p:cNvPr>
          <p:cNvSpPr>
            <a:spLocks noGrp="1"/>
          </p:cNvSpPr>
          <p:nvPr>
            <p:ph type="sldNum" sz="quarter" idx="4"/>
          </p:nvPr>
        </p:nvSpPr>
        <p:spPr>
          <a:xfrm>
            <a:off x="11662148" y="100584"/>
            <a:ext cx="1059704" cy="261258"/>
          </a:xfrm>
          <a:prstGeom prst="roundRect">
            <a:avLst>
              <a:gd name="adj" fmla="val 50000"/>
            </a:avLst>
          </a:prstGeom>
          <a:solidFill>
            <a:srgbClr val="002060"/>
          </a:solidFill>
        </p:spPr>
        <p:txBody>
          <a:bodyPr vert="horz" lIns="91440" tIns="45720" rIns="91440" bIns="45720" rtlCol="0" anchor="ctr"/>
          <a:lstStyle>
            <a:lvl1pPr algn="l">
              <a:defRPr sz="1100" b="1">
                <a:solidFill>
                  <a:schemeClr val="bg1"/>
                </a:solidFill>
              </a:defRPr>
            </a:lvl1pPr>
          </a:lstStyle>
          <a:p>
            <a:fld id="{E8618032-BA8D-3D4D-8253-A70208A85976}" type="slidenum">
              <a:rPr lang="en-US" smtClean="0"/>
              <a:pPr/>
              <a:t>‹#›</a:t>
            </a:fld>
            <a:endParaRPr lang="en-US" dirty="0"/>
          </a:p>
        </p:txBody>
      </p:sp>
    </p:spTree>
    <p:extLst>
      <p:ext uri="{BB962C8B-B14F-4D97-AF65-F5344CB8AC3E}">
        <p14:creationId xmlns:p14="http://schemas.microsoft.com/office/powerpoint/2010/main" val="576925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Dens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89F04-8166-A3DC-744C-551C5EB8708A}"/>
              </a:ext>
            </a:extLst>
          </p:cNvPr>
          <p:cNvSpPr>
            <a:spLocks noGrp="1"/>
          </p:cNvSpPr>
          <p:nvPr>
            <p:ph type="title"/>
          </p:nvPr>
        </p:nvSpPr>
        <p:spPr>
          <a:xfrm>
            <a:off x="914400" y="755930"/>
            <a:ext cx="103251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B1A6FEB-A7E9-41A9-BE32-02FF741C9A2A}"/>
              </a:ext>
            </a:extLst>
          </p:cNvPr>
          <p:cNvSpPr>
            <a:spLocks noGrp="1"/>
          </p:cNvSpPr>
          <p:nvPr>
            <p:ph idx="1"/>
          </p:nvPr>
        </p:nvSpPr>
        <p:spPr>
          <a:xfrm>
            <a:off x="914400" y="2216430"/>
            <a:ext cx="103251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9422C68-F3F1-F728-F8AB-7545FFD238E1}"/>
              </a:ext>
            </a:extLst>
          </p:cNvPr>
          <p:cNvSpPr>
            <a:spLocks noGrp="1"/>
          </p:cNvSpPr>
          <p:nvPr>
            <p:ph type="ftr" sz="quarter" idx="11"/>
          </p:nvPr>
        </p:nvSpPr>
        <p:spPr/>
        <p:txBody>
          <a:bodyPr/>
          <a:lstStyle/>
          <a:p>
            <a:r>
              <a:rPr lang="en-US" dirty="0"/>
              <a:t>Biological &amp; Physical Sciences</a:t>
            </a:r>
          </a:p>
        </p:txBody>
      </p:sp>
      <p:sp>
        <p:nvSpPr>
          <p:cNvPr id="6" name="Slide Number Placeholder 5">
            <a:extLst>
              <a:ext uri="{FF2B5EF4-FFF2-40B4-BE49-F238E27FC236}">
                <a16:creationId xmlns:a16="http://schemas.microsoft.com/office/drawing/2014/main" id="{6A5A23E4-0FD3-1AC3-FD06-43716C74AFB9}"/>
              </a:ext>
            </a:extLst>
          </p:cNvPr>
          <p:cNvSpPr txBox="1">
            <a:spLocks/>
          </p:cNvSpPr>
          <p:nvPr userDrawn="1"/>
        </p:nvSpPr>
        <p:spPr>
          <a:xfrm>
            <a:off x="11662148" y="100584"/>
            <a:ext cx="1059704" cy="261258"/>
          </a:xfrm>
          <a:prstGeom prst="roundRect">
            <a:avLst>
              <a:gd name="adj" fmla="val 50000"/>
            </a:avLst>
          </a:prstGeom>
          <a:solidFill>
            <a:srgbClr val="002060"/>
          </a:solidFill>
        </p:spPr>
        <p:txBody>
          <a:bodyPr vert="horz" lIns="91440" tIns="45720" rIns="91440" bIns="45720" rtlCol="0" anchor="ctr"/>
          <a:lstStyle>
            <a:defPPr>
              <a:defRPr lang="en-US"/>
            </a:defPPr>
            <a:lvl1pPr marL="0" algn="l" defTabSz="914400" rtl="0" eaLnBrk="1" latinLnBrk="0" hangingPunct="1">
              <a:defRPr sz="11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618032-BA8D-3D4D-8253-A70208A85976}" type="slidenum">
              <a:rPr lang="en-US" smtClean="0"/>
              <a:pPr/>
              <a:t>‹#›</a:t>
            </a:fld>
            <a:endParaRPr lang="en-US" dirty="0"/>
          </a:p>
        </p:txBody>
      </p:sp>
    </p:spTree>
    <p:extLst>
      <p:ext uri="{BB962C8B-B14F-4D97-AF65-F5344CB8AC3E}">
        <p14:creationId xmlns:p14="http://schemas.microsoft.com/office/powerpoint/2010/main" val="570077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1_Section Header - Biolog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93F2C-644C-9402-B8E1-8E0A86BA6087}"/>
              </a:ext>
            </a:extLst>
          </p:cNvPr>
          <p:cNvSpPr>
            <a:spLocks noGrp="1"/>
          </p:cNvSpPr>
          <p:nvPr>
            <p:ph type="title"/>
          </p:nvPr>
        </p:nvSpPr>
        <p:spPr>
          <a:xfrm>
            <a:off x="3847172" y="1672824"/>
            <a:ext cx="7616282" cy="2196649"/>
          </a:xfrm>
        </p:spPr>
        <p:txBody>
          <a:bodyPr vert="horz" lIns="91440" tIns="45720" rIns="91440" bIns="45720" rtlCol="0" anchor="b">
            <a:normAutofit/>
          </a:bodyPr>
          <a:lstStyle>
            <a:lvl1pPr algn="l">
              <a:defRPr lang="en-US" dirty="0">
                <a:solidFill>
                  <a:schemeClr val="bg1"/>
                </a:solidFill>
              </a:defRPr>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3AD101CB-2432-9C1F-28C9-0741354D3BA1}"/>
              </a:ext>
            </a:extLst>
          </p:cNvPr>
          <p:cNvSpPr>
            <a:spLocks noGrp="1"/>
          </p:cNvSpPr>
          <p:nvPr>
            <p:ph type="body" idx="1"/>
          </p:nvPr>
        </p:nvSpPr>
        <p:spPr>
          <a:xfrm>
            <a:off x="3847171" y="4039593"/>
            <a:ext cx="7616283" cy="1500187"/>
          </a:xfrm>
        </p:spPr>
        <p:txBody>
          <a:bodyPr vert="horz" lIns="91440" tIns="45720" rIns="91440" bIns="45720" rtlCol="0" anchor="t">
            <a:normAutofit/>
          </a:bodyPr>
          <a:lstStyle>
            <a:lvl1pPr algn="l">
              <a:defRPr lang="en-US" sz="2400" b="0">
                <a:solidFill>
                  <a:schemeClr val="bg1"/>
                </a:solidFill>
              </a:defRPr>
            </a:lvl1pPr>
          </a:lstStyle>
          <a:p>
            <a:pPr marL="0" lvl="0" indent="0">
              <a:buNone/>
            </a:pPr>
            <a:r>
              <a:rPr lang="en-US"/>
              <a:t>Click to edit Master text styles</a:t>
            </a:r>
          </a:p>
        </p:txBody>
      </p:sp>
      <p:sp>
        <p:nvSpPr>
          <p:cNvPr id="4" name="Slide Number Placeholder 5">
            <a:extLst>
              <a:ext uri="{FF2B5EF4-FFF2-40B4-BE49-F238E27FC236}">
                <a16:creationId xmlns:a16="http://schemas.microsoft.com/office/drawing/2014/main" id="{F6E6D588-E497-F70E-167F-4EDACDAF3709}"/>
              </a:ext>
            </a:extLst>
          </p:cNvPr>
          <p:cNvSpPr txBox="1">
            <a:spLocks/>
          </p:cNvSpPr>
          <p:nvPr userDrawn="1"/>
        </p:nvSpPr>
        <p:spPr>
          <a:xfrm>
            <a:off x="11662148" y="100584"/>
            <a:ext cx="1059704" cy="261258"/>
          </a:xfrm>
          <a:prstGeom prst="roundRect">
            <a:avLst>
              <a:gd name="adj" fmla="val 50000"/>
            </a:avLst>
          </a:prstGeom>
          <a:solidFill>
            <a:srgbClr val="002060"/>
          </a:solidFill>
        </p:spPr>
        <p:txBody>
          <a:bodyPr vert="horz" lIns="91440" tIns="45720" rIns="91440" bIns="45720" rtlCol="0" anchor="ctr"/>
          <a:lstStyle>
            <a:defPPr>
              <a:defRPr lang="en-US"/>
            </a:defPPr>
            <a:lvl1pPr marL="0" algn="l" defTabSz="914400" rtl="0" eaLnBrk="1" latinLnBrk="0" hangingPunct="1">
              <a:defRPr sz="11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618032-BA8D-3D4D-8253-A70208A85976}" type="slidenum">
              <a:rPr lang="en-US" smtClean="0"/>
              <a:pPr/>
              <a:t>‹#›</a:t>
            </a:fld>
            <a:endParaRPr lang="en-US" dirty="0"/>
          </a:p>
        </p:txBody>
      </p:sp>
      <p:pic>
        <p:nvPicPr>
          <p:cNvPr id="8" name="Picture 7" descr="A black background with grey letters&#10;&#10;Description automatically generated">
            <a:extLst>
              <a:ext uri="{FF2B5EF4-FFF2-40B4-BE49-F238E27FC236}">
                <a16:creationId xmlns:a16="http://schemas.microsoft.com/office/drawing/2014/main" id="{0383140C-6BE5-F602-5CA0-3D03E6996396}"/>
              </a:ext>
            </a:extLst>
          </p:cNvPr>
          <p:cNvPicPr>
            <a:picLocks noChangeAspect="1"/>
          </p:cNvPicPr>
          <p:nvPr userDrawn="1"/>
        </p:nvPicPr>
        <p:blipFill rotWithShape="1">
          <a:blip r:embed="rId3" cstate="screen">
            <a:alphaModFix amt="51000"/>
            <a:extLst>
              <a:ext uri="{28A0092B-C50C-407E-A947-70E740481C1C}">
                <a14:useLocalDpi xmlns:a14="http://schemas.microsoft.com/office/drawing/2010/main"/>
              </a:ext>
            </a:extLst>
          </a:blip>
          <a:srcRect/>
          <a:stretch/>
        </p:blipFill>
        <p:spPr>
          <a:xfrm>
            <a:off x="0" y="5168811"/>
            <a:ext cx="3884861" cy="1719470"/>
          </a:xfrm>
          <a:prstGeom prst="rect">
            <a:avLst/>
          </a:prstGeom>
        </p:spPr>
      </p:pic>
    </p:spTree>
    <p:extLst>
      <p:ext uri="{BB962C8B-B14F-4D97-AF65-F5344CB8AC3E}">
        <p14:creationId xmlns:p14="http://schemas.microsoft.com/office/powerpoint/2010/main" val="1454562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 Biolog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93F2C-644C-9402-B8E1-8E0A86BA6087}"/>
              </a:ext>
            </a:extLst>
          </p:cNvPr>
          <p:cNvSpPr>
            <a:spLocks noGrp="1"/>
          </p:cNvSpPr>
          <p:nvPr>
            <p:ph type="title"/>
          </p:nvPr>
        </p:nvSpPr>
        <p:spPr>
          <a:xfrm>
            <a:off x="3847172" y="1672824"/>
            <a:ext cx="7616282" cy="2196649"/>
          </a:xfrm>
        </p:spPr>
        <p:txBody>
          <a:bodyPr vert="horz" lIns="91440" tIns="45720" rIns="91440" bIns="45720" rtlCol="0" anchor="b">
            <a:normAutofit/>
          </a:bodyPr>
          <a:lstStyle>
            <a:lvl1pPr algn="l">
              <a:defRPr lang="en-US" dirty="0">
                <a:solidFill>
                  <a:schemeClr val="bg1"/>
                </a:solidFill>
              </a:defRPr>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3AD101CB-2432-9C1F-28C9-0741354D3BA1}"/>
              </a:ext>
            </a:extLst>
          </p:cNvPr>
          <p:cNvSpPr>
            <a:spLocks noGrp="1"/>
          </p:cNvSpPr>
          <p:nvPr>
            <p:ph type="body" idx="1"/>
          </p:nvPr>
        </p:nvSpPr>
        <p:spPr>
          <a:xfrm>
            <a:off x="3847171" y="4039593"/>
            <a:ext cx="7616283" cy="1500187"/>
          </a:xfrm>
        </p:spPr>
        <p:txBody>
          <a:bodyPr vert="horz" lIns="91440" tIns="45720" rIns="91440" bIns="45720" rtlCol="0" anchor="t">
            <a:normAutofit/>
          </a:bodyPr>
          <a:lstStyle>
            <a:lvl1pPr algn="l">
              <a:defRPr lang="en-US" sz="2400" b="0">
                <a:solidFill>
                  <a:schemeClr val="bg1"/>
                </a:solidFill>
              </a:defRPr>
            </a:lvl1pPr>
          </a:lstStyle>
          <a:p>
            <a:pPr marL="0" lvl="0" indent="0">
              <a:buNone/>
            </a:pPr>
            <a:r>
              <a:rPr lang="en-US"/>
              <a:t>Click to edit Master text styles</a:t>
            </a:r>
          </a:p>
        </p:txBody>
      </p:sp>
      <p:sp>
        <p:nvSpPr>
          <p:cNvPr id="4" name="Slide Number Placeholder 5">
            <a:extLst>
              <a:ext uri="{FF2B5EF4-FFF2-40B4-BE49-F238E27FC236}">
                <a16:creationId xmlns:a16="http://schemas.microsoft.com/office/drawing/2014/main" id="{F6E6D588-E497-F70E-167F-4EDACDAF3709}"/>
              </a:ext>
            </a:extLst>
          </p:cNvPr>
          <p:cNvSpPr txBox="1">
            <a:spLocks/>
          </p:cNvSpPr>
          <p:nvPr userDrawn="1"/>
        </p:nvSpPr>
        <p:spPr>
          <a:xfrm>
            <a:off x="11662148" y="100584"/>
            <a:ext cx="1059704" cy="261258"/>
          </a:xfrm>
          <a:prstGeom prst="roundRect">
            <a:avLst>
              <a:gd name="adj" fmla="val 50000"/>
            </a:avLst>
          </a:prstGeom>
          <a:solidFill>
            <a:srgbClr val="002060"/>
          </a:solidFill>
        </p:spPr>
        <p:txBody>
          <a:bodyPr vert="horz" lIns="91440" tIns="45720" rIns="91440" bIns="45720" rtlCol="0" anchor="ctr"/>
          <a:lstStyle>
            <a:defPPr>
              <a:defRPr lang="en-US"/>
            </a:defPPr>
            <a:lvl1pPr marL="0" algn="l" defTabSz="914400" rtl="0" eaLnBrk="1" latinLnBrk="0" hangingPunct="1">
              <a:defRPr sz="11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618032-BA8D-3D4D-8253-A70208A85976}" type="slidenum">
              <a:rPr lang="en-US" smtClean="0"/>
              <a:pPr/>
              <a:t>‹#›</a:t>
            </a:fld>
            <a:endParaRPr lang="en-US" dirty="0"/>
          </a:p>
        </p:txBody>
      </p:sp>
      <p:pic>
        <p:nvPicPr>
          <p:cNvPr id="8" name="Picture 7" descr="A black background with grey letters&#10;&#10;Description automatically generated">
            <a:extLst>
              <a:ext uri="{FF2B5EF4-FFF2-40B4-BE49-F238E27FC236}">
                <a16:creationId xmlns:a16="http://schemas.microsoft.com/office/drawing/2014/main" id="{0383140C-6BE5-F602-5CA0-3D03E6996396}"/>
              </a:ext>
            </a:extLst>
          </p:cNvPr>
          <p:cNvPicPr>
            <a:picLocks noChangeAspect="1"/>
          </p:cNvPicPr>
          <p:nvPr userDrawn="1"/>
        </p:nvPicPr>
        <p:blipFill rotWithShape="1">
          <a:blip r:embed="rId3" cstate="screen">
            <a:alphaModFix amt="51000"/>
            <a:extLst>
              <a:ext uri="{28A0092B-C50C-407E-A947-70E740481C1C}">
                <a14:useLocalDpi xmlns:a14="http://schemas.microsoft.com/office/drawing/2010/main"/>
              </a:ext>
            </a:extLst>
          </a:blip>
          <a:srcRect/>
          <a:stretch/>
        </p:blipFill>
        <p:spPr>
          <a:xfrm>
            <a:off x="0" y="5168811"/>
            <a:ext cx="3884861" cy="1719470"/>
          </a:xfrm>
          <a:prstGeom prst="rect">
            <a:avLst/>
          </a:prstGeom>
        </p:spPr>
      </p:pic>
    </p:spTree>
    <p:extLst>
      <p:ext uri="{BB962C8B-B14F-4D97-AF65-F5344CB8AC3E}">
        <p14:creationId xmlns:p14="http://schemas.microsoft.com/office/powerpoint/2010/main" val="428851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2_Section Header - Biolog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93F2C-644C-9402-B8E1-8E0A86BA6087}"/>
              </a:ext>
            </a:extLst>
          </p:cNvPr>
          <p:cNvSpPr>
            <a:spLocks noGrp="1"/>
          </p:cNvSpPr>
          <p:nvPr>
            <p:ph type="title"/>
          </p:nvPr>
        </p:nvSpPr>
        <p:spPr>
          <a:xfrm>
            <a:off x="3847172" y="1672824"/>
            <a:ext cx="7616282" cy="2196649"/>
          </a:xfrm>
        </p:spPr>
        <p:txBody>
          <a:bodyPr vert="horz" lIns="91440" tIns="45720" rIns="91440" bIns="45720" rtlCol="0" anchor="b">
            <a:normAutofit/>
          </a:bodyPr>
          <a:lstStyle>
            <a:lvl1pPr algn="l">
              <a:defRPr lang="en-US" dirty="0">
                <a:solidFill>
                  <a:schemeClr val="bg1"/>
                </a:solidFill>
              </a:defRPr>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3AD101CB-2432-9C1F-28C9-0741354D3BA1}"/>
              </a:ext>
            </a:extLst>
          </p:cNvPr>
          <p:cNvSpPr>
            <a:spLocks noGrp="1"/>
          </p:cNvSpPr>
          <p:nvPr>
            <p:ph type="body" idx="1"/>
          </p:nvPr>
        </p:nvSpPr>
        <p:spPr>
          <a:xfrm>
            <a:off x="3847171" y="4039593"/>
            <a:ext cx="7616283" cy="1500187"/>
          </a:xfrm>
        </p:spPr>
        <p:txBody>
          <a:bodyPr vert="horz" lIns="91440" tIns="45720" rIns="91440" bIns="45720" rtlCol="0" anchor="t">
            <a:normAutofit/>
          </a:bodyPr>
          <a:lstStyle>
            <a:lvl1pPr algn="l">
              <a:defRPr lang="en-US" sz="2400" b="0">
                <a:solidFill>
                  <a:schemeClr val="bg1"/>
                </a:solidFill>
              </a:defRPr>
            </a:lvl1pPr>
          </a:lstStyle>
          <a:p>
            <a:pPr marL="0" lvl="0" indent="0">
              <a:buNone/>
            </a:pPr>
            <a:r>
              <a:rPr lang="en-US"/>
              <a:t>Click to edit Master text styles</a:t>
            </a:r>
          </a:p>
        </p:txBody>
      </p:sp>
      <p:sp>
        <p:nvSpPr>
          <p:cNvPr id="4" name="Slide Number Placeholder 5">
            <a:extLst>
              <a:ext uri="{FF2B5EF4-FFF2-40B4-BE49-F238E27FC236}">
                <a16:creationId xmlns:a16="http://schemas.microsoft.com/office/drawing/2014/main" id="{F6E6D588-E497-F70E-167F-4EDACDAF3709}"/>
              </a:ext>
            </a:extLst>
          </p:cNvPr>
          <p:cNvSpPr txBox="1">
            <a:spLocks/>
          </p:cNvSpPr>
          <p:nvPr userDrawn="1"/>
        </p:nvSpPr>
        <p:spPr>
          <a:xfrm>
            <a:off x="11662148" y="100584"/>
            <a:ext cx="1059704" cy="261258"/>
          </a:xfrm>
          <a:prstGeom prst="roundRect">
            <a:avLst>
              <a:gd name="adj" fmla="val 50000"/>
            </a:avLst>
          </a:prstGeom>
          <a:solidFill>
            <a:srgbClr val="002060"/>
          </a:solidFill>
        </p:spPr>
        <p:txBody>
          <a:bodyPr vert="horz" lIns="91440" tIns="45720" rIns="91440" bIns="45720" rtlCol="0" anchor="ctr"/>
          <a:lstStyle>
            <a:defPPr>
              <a:defRPr lang="en-US"/>
            </a:defPPr>
            <a:lvl1pPr marL="0" algn="l" defTabSz="914400" rtl="0" eaLnBrk="1" latinLnBrk="0" hangingPunct="1">
              <a:defRPr sz="11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618032-BA8D-3D4D-8253-A70208A85976}" type="slidenum">
              <a:rPr lang="en-US" smtClean="0"/>
              <a:pPr/>
              <a:t>‹#›</a:t>
            </a:fld>
            <a:endParaRPr lang="en-US" dirty="0"/>
          </a:p>
        </p:txBody>
      </p:sp>
      <p:pic>
        <p:nvPicPr>
          <p:cNvPr id="8" name="Picture 7" descr="A black background with grey letters&#10;&#10;Description automatically generated">
            <a:extLst>
              <a:ext uri="{FF2B5EF4-FFF2-40B4-BE49-F238E27FC236}">
                <a16:creationId xmlns:a16="http://schemas.microsoft.com/office/drawing/2014/main" id="{0383140C-6BE5-F602-5CA0-3D03E6996396}"/>
              </a:ext>
            </a:extLst>
          </p:cNvPr>
          <p:cNvPicPr>
            <a:picLocks noChangeAspect="1"/>
          </p:cNvPicPr>
          <p:nvPr userDrawn="1"/>
        </p:nvPicPr>
        <p:blipFill rotWithShape="1">
          <a:blip r:embed="rId3" cstate="screen">
            <a:alphaModFix amt="37000"/>
            <a:extLst>
              <a:ext uri="{28A0092B-C50C-407E-A947-70E740481C1C}">
                <a14:useLocalDpi xmlns:a14="http://schemas.microsoft.com/office/drawing/2010/main"/>
              </a:ext>
            </a:extLst>
          </a:blip>
          <a:srcRect/>
          <a:stretch/>
        </p:blipFill>
        <p:spPr>
          <a:xfrm>
            <a:off x="0" y="5168811"/>
            <a:ext cx="3884861" cy="1719470"/>
          </a:xfrm>
          <a:prstGeom prst="rect">
            <a:avLst/>
          </a:prstGeom>
        </p:spPr>
      </p:pic>
    </p:spTree>
    <p:extLst>
      <p:ext uri="{BB962C8B-B14F-4D97-AF65-F5344CB8AC3E}">
        <p14:creationId xmlns:p14="http://schemas.microsoft.com/office/powerpoint/2010/main" val="1396639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077BF-0101-859C-6217-36F8D6AEFEBE}"/>
              </a:ext>
            </a:extLst>
          </p:cNvPr>
          <p:cNvSpPr>
            <a:spLocks noGrp="1"/>
          </p:cNvSpPr>
          <p:nvPr>
            <p:ph type="title"/>
          </p:nvPr>
        </p:nvSpPr>
        <p:spPr>
          <a:xfrm>
            <a:off x="914400" y="755930"/>
            <a:ext cx="10325100"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AC8C6-C4E6-E1A4-9BB3-02E2E29D455B}"/>
              </a:ext>
            </a:extLst>
          </p:cNvPr>
          <p:cNvSpPr>
            <a:spLocks noGrp="1"/>
          </p:cNvSpPr>
          <p:nvPr>
            <p:ph sz="half" idx="1"/>
          </p:nvPr>
        </p:nvSpPr>
        <p:spPr>
          <a:xfrm>
            <a:off x="914400" y="2270760"/>
            <a:ext cx="49149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605E9D-2162-ED5F-D5C4-2810CEA1639F}"/>
              </a:ext>
            </a:extLst>
          </p:cNvPr>
          <p:cNvSpPr>
            <a:spLocks noGrp="1"/>
          </p:cNvSpPr>
          <p:nvPr>
            <p:ph sz="half" idx="2"/>
          </p:nvPr>
        </p:nvSpPr>
        <p:spPr>
          <a:xfrm>
            <a:off x="6096000" y="226758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ECE6673-C7A0-C2BA-8CF4-61A98DC28D5B}"/>
              </a:ext>
            </a:extLst>
          </p:cNvPr>
          <p:cNvSpPr>
            <a:spLocks noGrp="1"/>
          </p:cNvSpPr>
          <p:nvPr>
            <p:ph type="ftr" sz="quarter" idx="11"/>
          </p:nvPr>
        </p:nvSpPr>
        <p:spPr/>
        <p:txBody>
          <a:bodyPr/>
          <a:lstStyle/>
          <a:p>
            <a:r>
              <a:rPr lang="en-US" dirty="0"/>
              <a:t>Biological &amp; Physical Sciences</a:t>
            </a:r>
          </a:p>
        </p:txBody>
      </p:sp>
      <p:sp>
        <p:nvSpPr>
          <p:cNvPr id="7" name="Slide Number Placeholder 6">
            <a:extLst>
              <a:ext uri="{FF2B5EF4-FFF2-40B4-BE49-F238E27FC236}">
                <a16:creationId xmlns:a16="http://schemas.microsoft.com/office/drawing/2014/main" id="{FA0287EE-B1C0-D41F-430F-AE7AA63CDCCC}"/>
              </a:ext>
            </a:extLst>
          </p:cNvPr>
          <p:cNvSpPr>
            <a:spLocks noGrp="1"/>
          </p:cNvSpPr>
          <p:nvPr>
            <p:ph type="sldNum" sz="quarter" idx="12"/>
          </p:nvPr>
        </p:nvSpPr>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2503818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_Picture Dark">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BC8566AA-00D7-499C-0F3E-2067A61875E1}"/>
              </a:ext>
            </a:extLst>
          </p:cNvPr>
          <p:cNvSpPr/>
          <p:nvPr userDrawn="1"/>
        </p:nvSpPr>
        <p:spPr>
          <a:xfrm>
            <a:off x="-22302" y="468351"/>
            <a:ext cx="7304048" cy="6400800"/>
          </a:xfrm>
          <a:custGeom>
            <a:avLst/>
            <a:gdLst>
              <a:gd name="connsiteX0" fmla="*/ 0 w 7304048"/>
              <a:gd name="connsiteY0" fmla="*/ 0 h 6400800"/>
              <a:gd name="connsiteX1" fmla="*/ 5832087 w 7304048"/>
              <a:gd name="connsiteY1" fmla="*/ 0 h 6400800"/>
              <a:gd name="connsiteX2" fmla="*/ 7304048 w 7304048"/>
              <a:gd name="connsiteY2" fmla="*/ 6400800 h 6400800"/>
              <a:gd name="connsiteX3" fmla="*/ 11151 w 7304048"/>
              <a:gd name="connsiteY3" fmla="*/ 6400800 h 6400800"/>
              <a:gd name="connsiteX4" fmla="*/ 11151 w 7304048"/>
              <a:gd name="connsiteY4" fmla="*/ 6300439 h 6400800"/>
              <a:gd name="connsiteX5" fmla="*/ 0 w 7304048"/>
              <a:gd name="connsiteY5" fmla="*/ 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4048" h="6400800">
                <a:moveTo>
                  <a:pt x="0" y="0"/>
                </a:moveTo>
                <a:lnTo>
                  <a:pt x="5832087" y="0"/>
                </a:lnTo>
                <a:lnTo>
                  <a:pt x="7304048" y="6400800"/>
                </a:lnTo>
                <a:lnTo>
                  <a:pt x="11151" y="6400800"/>
                </a:lnTo>
                <a:lnTo>
                  <a:pt x="11151" y="6300439"/>
                </a:lnTo>
                <a:lnTo>
                  <a:pt x="0" y="0"/>
                </a:lnTo>
                <a:close/>
              </a:path>
            </a:pathLst>
          </a:cu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1EF21C4-1197-17A3-5E0D-4F7593E8A95F}"/>
              </a:ext>
            </a:extLst>
          </p:cNvPr>
          <p:cNvSpPr>
            <a:spLocks noGrp="1"/>
          </p:cNvSpPr>
          <p:nvPr>
            <p:ph type="pic" sz="quarter" idx="13"/>
          </p:nvPr>
        </p:nvSpPr>
        <p:spPr>
          <a:xfrm>
            <a:off x="5817279" y="484554"/>
            <a:ext cx="6369555" cy="6373446"/>
          </a:xfrm>
          <a:custGeom>
            <a:avLst/>
            <a:gdLst>
              <a:gd name="connsiteX0" fmla="*/ 0 w 6400800"/>
              <a:gd name="connsiteY0" fmla="*/ 6200317 h 6200317"/>
              <a:gd name="connsiteX1" fmla="*/ 1550079 w 6400800"/>
              <a:gd name="connsiteY1" fmla="*/ 0 h 6200317"/>
              <a:gd name="connsiteX2" fmla="*/ 6400800 w 6400800"/>
              <a:gd name="connsiteY2" fmla="*/ 0 h 6200317"/>
              <a:gd name="connsiteX3" fmla="*/ 4850721 w 6400800"/>
              <a:gd name="connsiteY3" fmla="*/ 6200317 h 6200317"/>
              <a:gd name="connsiteX4" fmla="*/ 0 w 6400800"/>
              <a:gd name="connsiteY4" fmla="*/ 6200317 h 6200317"/>
              <a:gd name="connsiteX0" fmla="*/ 0 w 6400800"/>
              <a:gd name="connsiteY0" fmla="*/ 6200317 h 6200317"/>
              <a:gd name="connsiteX1" fmla="*/ 26079 w 6400800"/>
              <a:gd name="connsiteY1" fmla="*/ 0 h 6200317"/>
              <a:gd name="connsiteX2" fmla="*/ 6400800 w 6400800"/>
              <a:gd name="connsiteY2" fmla="*/ 0 h 6200317"/>
              <a:gd name="connsiteX3" fmla="*/ 4850721 w 6400800"/>
              <a:gd name="connsiteY3" fmla="*/ 6200317 h 6200317"/>
              <a:gd name="connsiteX4" fmla="*/ 0 w 6400800"/>
              <a:gd name="connsiteY4" fmla="*/ 6200317 h 6200317"/>
              <a:gd name="connsiteX0" fmla="*/ 1470212 w 6374721"/>
              <a:gd name="connsiteY0" fmla="*/ 6228026 h 6228026"/>
              <a:gd name="connsiteX1" fmla="*/ 0 w 6374721"/>
              <a:gd name="connsiteY1" fmla="*/ 0 h 6228026"/>
              <a:gd name="connsiteX2" fmla="*/ 6374721 w 6374721"/>
              <a:gd name="connsiteY2" fmla="*/ 0 h 6228026"/>
              <a:gd name="connsiteX3" fmla="*/ 4824642 w 6374721"/>
              <a:gd name="connsiteY3" fmla="*/ 6200317 h 6228026"/>
              <a:gd name="connsiteX4" fmla="*/ 1470212 w 6374721"/>
              <a:gd name="connsiteY4" fmla="*/ 6228026 h 6228026"/>
              <a:gd name="connsiteX0" fmla="*/ 1470212 w 6374721"/>
              <a:gd name="connsiteY0" fmla="*/ 6228026 h 6255735"/>
              <a:gd name="connsiteX1" fmla="*/ 0 w 6374721"/>
              <a:gd name="connsiteY1" fmla="*/ 0 h 6255735"/>
              <a:gd name="connsiteX2" fmla="*/ 6374721 w 6374721"/>
              <a:gd name="connsiteY2" fmla="*/ 0 h 6255735"/>
              <a:gd name="connsiteX3" fmla="*/ 6362496 w 6374721"/>
              <a:gd name="connsiteY3" fmla="*/ 6255735 h 6255735"/>
              <a:gd name="connsiteX4" fmla="*/ 1470212 w 6374721"/>
              <a:gd name="connsiteY4" fmla="*/ 6228026 h 6255735"/>
              <a:gd name="connsiteX0" fmla="*/ 1470212 w 6374721"/>
              <a:gd name="connsiteY0" fmla="*/ 6228026 h 6228026"/>
              <a:gd name="connsiteX1" fmla="*/ 0 w 6374721"/>
              <a:gd name="connsiteY1" fmla="*/ 0 h 6228026"/>
              <a:gd name="connsiteX2" fmla="*/ 6374721 w 6374721"/>
              <a:gd name="connsiteY2" fmla="*/ 0 h 6228026"/>
              <a:gd name="connsiteX3" fmla="*/ 6362496 w 6374721"/>
              <a:gd name="connsiteY3" fmla="*/ 6228026 h 6228026"/>
              <a:gd name="connsiteX4" fmla="*/ 1470212 w 6374721"/>
              <a:gd name="connsiteY4" fmla="*/ 6228026 h 6228026"/>
              <a:gd name="connsiteX0" fmla="*/ 1470212 w 6374721"/>
              <a:gd name="connsiteY0" fmla="*/ 6228026 h 6228026"/>
              <a:gd name="connsiteX1" fmla="*/ 0 w 6374721"/>
              <a:gd name="connsiteY1" fmla="*/ 0 h 6228026"/>
              <a:gd name="connsiteX2" fmla="*/ 6374721 w 6374721"/>
              <a:gd name="connsiteY2" fmla="*/ 0 h 6228026"/>
              <a:gd name="connsiteX3" fmla="*/ 6362496 w 6374721"/>
              <a:gd name="connsiteY3" fmla="*/ 6228026 h 6228026"/>
              <a:gd name="connsiteX4" fmla="*/ 1470212 w 6374721"/>
              <a:gd name="connsiteY4" fmla="*/ 6228026 h 6228026"/>
              <a:gd name="connsiteX0" fmla="*/ 1465046 w 6374721"/>
              <a:gd name="connsiteY0" fmla="*/ 6207361 h 6228026"/>
              <a:gd name="connsiteX1" fmla="*/ 0 w 6374721"/>
              <a:gd name="connsiteY1" fmla="*/ 0 h 6228026"/>
              <a:gd name="connsiteX2" fmla="*/ 6374721 w 6374721"/>
              <a:gd name="connsiteY2" fmla="*/ 0 h 6228026"/>
              <a:gd name="connsiteX3" fmla="*/ 6362496 w 6374721"/>
              <a:gd name="connsiteY3" fmla="*/ 6228026 h 6228026"/>
              <a:gd name="connsiteX4" fmla="*/ 1465046 w 6374721"/>
              <a:gd name="connsiteY4" fmla="*/ 6207361 h 6228026"/>
              <a:gd name="connsiteX0" fmla="*/ 1465046 w 6374721"/>
              <a:gd name="connsiteY0" fmla="*/ 6207361 h 6207361"/>
              <a:gd name="connsiteX1" fmla="*/ 0 w 6374721"/>
              <a:gd name="connsiteY1" fmla="*/ 0 h 6207361"/>
              <a:gd name="connsiteX2" fmla="*/ 6374721 w 6374721"/>
              <a:gd name="connsiteY2" fmla="*/ 0 h 6207361"/>
              <a:gd name="connsiteX3" fmla="*/ 6367662 w 6374721"/>
              <a:gd name="connsiteY3" fmla="*/ 6207361 h 6207361"/>
              <a:gd name="connsiteX4" fmla="*/ 1465046 w 6374721"/>
              <a:gd name="connsiteY4" fmla="*/ 6207361 h 6207361"/>
              <a:gd name="connsiteX0" fmla="*/ 1465046 w 6374721"/>
              <a:gd name="connsiteY0" fmla="*/ 6207361 h 6207361"/>
              <a:gd name="connsiteX1" fmla="*/ 0 w 6374721"/>
              <a:gd name="connsiteY1" fmla="*/ 5166 h 6207361"/>
              <a:gd name="connsiteX2" fmla="*/ 6374721 w 6374721"/>
              <a:gd name="connsiteY2" fmla="*/ 0 h 6207361"/>
              <a:gd name="connsiteX3" fmla="*/ 6367662 w 6374721"/>
              <a:gd name="connsiteY3" fmla="*/ 6207361 h 6207361"/>
              <a:gd name="connsiteX4" fmla="*/ 1465046 w 6374721"/>
              <a:gd name="connsiteY4" fmla="*/ 6207361 h 6207361"/>
              <a:gd name="connsiteX0" fmla="*/ 1465046 w 6369555"/>
              <a:gd name="connsiteY0" fmla="*/ 6202195 h 6202195"/>
              <a:gd name="connsiteX1" fmla="*/ 0 w 6369555"/>
              <a:gd name="connsiteY1" fmla="*/ 0 h 6202195"/>
              <a:gd name="connsiteX2" fmla="*/ 6369555 w 6369555"/>
              <a:gd name="connsiteY2" fmla="*/ 0 h 6202195"/>
              <a:gd name="connsiteX3" fmla="*/ 6367662 w 6369555"/>
              <a:gd name="connsiteY3" fmla="*/ 6202195 h 6202195"/>
              <a:gd name="connsiteX4" fmla="*/ 1465046 w 6369555"/>
              <a:gd name="connsiteY4" fmla="*/ 6202195 h 620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9555" h="6202195">
                <a:moveTo>
                  <a:pt x="1465046" y="6202195"/>
                </a:moveTo>
                <a:lnTo>
                  <a:pt x="0" y="0"/>
                </a:lnTo>
                <a:lnTo>
                  <a:pt x="6369555" y="0"/>
                </a:lnTo>
                <a:lnTo>
                  <a:pt x="6367662" y="6202195"/>
                </a:lnTo>
                <a:lnTo>
                  <a:pt x="1465046" y="6202195"/>
                </a:lnTo>
                <a:close/>
              </a:path>
            </a:pathLst>
          </a:custGeom>
        </p:spPr>
        <p:txBody>
          <a:bodyPr/>
          <a:lstStyle/>
          <a:p>
            <a:r>
              <a:rPr lang="en-US"/>
              <a:t>Click icon to add picture</a:t>
            </a:r>
          </a:p>
        </p:txBody>
      </p:sp>
      <p:sp>
        <p:nvSpPr>
          <p:cNvPr id="2" name="Title 1">
            <a:extLst>
              <a:ext uri="{FF2B5EF4-FFF2-40B4-BE49-F238E27FC236}">
                <a16:creationId xmlns:a16="http://schemas.microsoft.com/office/drawing/2014/main" id="{547077BF-0101-859C-6217-36F8D6AEFEBE}"/>
              </a:ext>
            </a:extLst>
          </p:cNvPr>
          <p:cNvSpPr>
            <a:spLocks noGrp="1"/>
          </p:cNvSpPr>
          <p:nvPr>
            <p:ph type="title"/>
          </p:nvPr>
        </p:nvSpPr>
        <p:spPr>
          <a:xfrm>
            <a:off x="914400" y="758952"/>
            <a:ext cx="5162550" cy="1325563"/>
          </a:xfrm>
        </p:spPr>
        <p:txBody>
          <a:bodyPr/>
          <a:lstStyle>
            <a:lvl1pPr>
              <a:defRPr>
                <a:solidFill>
                  <a:schemeClr val="bg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6ECE6673-C7A0-C2BA-8CF4-61A98DC28D5B}"/>
              </a:ext>
            </a:extLst>
          </p:cNvPr>
          <p:cNvSpPr>
            <a:spLocks noGrp="1"/>
          </p:cNvSpPr>
          <p:nvPr>
            <p:ph type="ftr" sz="quarter" idx="11"/>
          </p:nvPr>
        </p:nvSpPr>
        <p:spPr/>
        <p:txBody>
          <a:bodyPr/>
          <a:lstStyle/>
          <a:p>
            <a:r>
              <a:rPr lang="en-US" dirty="0"/>
              <a:t>Biological &amp; Physical Sciences</a:t>
            </a:r>
          </a:p>
        </p:txBody>
      </p:sp>
      <p:sp>
        <p:nvSpPr>
          <p:cNvPr id="7" name="Slide Number Placeholder 6">
            <a:extLst>
              <a:ext uri="{FF2B5EF4-FFF2-40B4-BE49-F238E27FC236}">
                <a16:creationId xmlns:a16="http://schemas.microsoft.com/office/drawing/2014/main" id="{FA0287EE-B1C0-D41F-430F-AE7AA63CDCCC}"/>
              </a:ext>
            </a:extLst>
          </p:cNvPr>
          <p:cNvSpPr>
            <a:spLocks noGrp="1"/>
          </p:cNvSpPr>
          <p:nvPr>
            <p:ph type="sldNum" sz="quarter" idx="12"/>
          </p:nvPr>
        </p:nvSpPr>
        <p:spPr/>
        <p:txBody>
          <a:bodyPr/>
          <a:lstStyle/>
          <a:p>
            <a:fld id="{E8618032-BA8D-3D4D-8253-A70208A85976}" type="slidenum">
              <a:rPr lang="en-US" smtClean="0"/>
              <a:t>‹#›</a:t>
            </a:fld>
            <a:endParaRPr lang="en-US"/>
          </a:p>
        </p:txBody>
      </p:sp>
      <p:sp>
        <p:nvSpPr>
          <p:cNvPr id="12" name="Text Placeholder 11">
            <a:extLst>
              <a:ext uri="{FF2B5EF4-FFF2-40B4-BE49-F238E27FC236}">
                <a16:creationId xmlns:a16="http://schemas.microsoft.com/office/drawing/2014/main" id="{4074B9DF-7720-D18B-E48B-4C9CA784C7A3}"/>
              </a:ext>
            </a:extLst>
          </p:cNvPr>
          <p:cNvSpPr>
            <a:spLocks noGrp="1"/>
          </p:cNvSpPr>
          <p:nvPr>
            <p:ph type="body" sz="quarter" idx="14"/>
          </p:nvPr>
        </p:nvSpPr>
        <p:spPr>
          <a:xfrm>
            <a:off x="914400" y="2208252"/>
            <a:ext cx="5181600" cy="3962400"/>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9553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_Picture Ligh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1EF21C4-1197-17A3-5E0D-4F7593E8A95F}"/>
              </a:ext>
            </a:extLst>
          </p:cNvPr>
          <p:cNvSpPr>
            <a:spLocks noGrp="1"/>
          </p:cNvSpPr>
          <p:nvPr>
            <p:ph type="pic" sz="quarter" idx="13"/>
          </p:nvPr>
        </p:nvSpPr>
        <p:spPr>
          <a:xfrm>
            <a:off x="5573487" y="482551"/>
            <a:ext cx="6613348" cy="6375449"/>
          </a:xfrm>
          <a:custGeom>
            <a:avLst/>
            <a:gdLst>
              <a:gd name="connsiteX0" fmla="*/ 0 w 6400800"/>
              <a:gd name="connsiteY0" fmla="*/ 6200317 h 6200317"/>
              <a:gd name="connsiteX1" fmla="*/ 1550079 w 6400800"/>
              <a:gd name="connsiteY1" fmla="*/ 0 h 6200317"/>
              <a:gd name="connsiteX2" fmla="*/ 6400800 w 6400800"/>
              <a:gd name="connsiteY2" fmla="*/ 0 h 6200317"/>
              <a:gd name="connsiteX3" fmla="*/ 4850721 w 6400800"/>
              <a:gd name="connsiteY3" fmla="*/ 6200317 h 6200317"/>
              <a:gd name="connsiteX4" fmla="*/ 0 w 6400800"/>
              <a:gd name="connsiteY4" fmla="*/ 6200317 h 6200317"/>
              <a:gd name="connsiteX0" fmla="*/ 0 w 6400800"/>
              <a:gd name="connsiteY0" fmla="*/ 6200317 h 6200317"/>
              <a:gd name="connsiteX1" fmla="*/ 26079 w 6400800"/>
              <a:gd name="connsiteY1" fmla="*/ 0 h 6200317"/>
              <a:gd name="connsiteX2" fmla="*/ 6400800 w 6400800"/>
              <a:gd name="connsiteY2" fmla="*/ 0 h 6200317"/>
              <a:gd name="connsiteX3" fmla="*/ 4850721 w 6400800"/>
              <a:gd name="connsiteY3" fmla="*/ 6200317 h 6200317"/>
              <a:gd name="connsiteX4" fmla="*/ 0 w 6400800"/>
              <a:gd name="connsiteY4" fmla="*/ 6200317 h 6200317"/>
              <a:gd name="connsiteX0" fmla="*/ 1470212 w 6374721"/>
              <a:gd name="connsiteY0" fmla="*/ 6228026 h 6228026"/>
              <a:gd name="connsiteX1" fmla="*/ 0 w 6374721"/>
              <a:gd name="connsiteY1" fmla="*/ 0 h 6228026"/>
              <a:gd name="connsiteX2" fmla="*/ 6374721 w 6374721"/>
              <a:gd name="connsiteY2" fmla="*/ 0 h 6228026"/>
              <a:gd name="connsiteX3" fmla="*/ 4824642 w 6374721"/>
              <a:gd name="connsiteY3" fmla="*/ 6200317 h 6228026"/>
              <a:gd name="connsiteX4" fmla="*/ 1470212 w 6374721"/>
              <a:gd name="connsiteY4" fmla="*/ 6228026 h 6228026"/>
              <a:gd name="connsiteX0" fmla="*/ 1470212 w 6374721"/>
              <a:gd name="connsiteY0" fmla="*/ 6228026 h 6255735"/>
              <a:gd name="connsiteX1" fmla="*/ 0 w 6374721"/>
              <a:gd name="connsiteY1" fmla="*/ 0 h 6255735"/>
              <a:gd name="connsiteX2" fmla="*/ 6374721 w 6374721"/>
              <a:gd name="connsiteY2" fmla="*/ 0 h 6255735"/>
              <a:gd name="connsiteX3" fmla="*/ 6362496 w 6374721"/>
              <a:gd name="connsiteY3" fmla="*/ 6255735 h 6255735"/>
              <a:gd name="connsiteX4" fmla="*/ 1470212 w 6374721"/>
              <a:gd name="connsiteY4" fmla="*/ 6228026 h 6255735"/>
              <a:gd name="connsiteX0" fmla="*/ 1470212 w 6374721"/>
              <a:gd name="connsiteY0" fmla="*/ 6228026 h 6228026"/>
              <a:gd name="connsiteX1" fmla="*/ 0 w 6374721"/>
              <a:gd name="connsiteY1" fmla="*/ 0 h 6228026"/>
              <a:gd name="connsiteX2" fmla="*/ 6374721 w 6374721"/>
              <a:gd name="connsiteY2" fmla="*/ 0 h 6228026"/>
              <a:gd name="connsiteX3" fmla="*/ 6362496 w 6374721"/>
              <a:gd name="connsiteY3" fmla="*/ 6228026 h 6228026"/>
              <a:gd name="connsiteX4" fmla="*/ 1470212 w 6374721"/>
              <a:gd name="connsiteY4" fmla="*/ 6228026 h 6228026"/>
              <a:gd name="connsiteX0" fmla="*/ 1470212 w 6374721"/>
              <a:gd name="connsiteY0" fmla="*/ 6228026 h 6228026"/>
              <a:gd name="connsiteX1" fmla="*/ 0 w 6374721"/>
              <a:gd name="connsiteY1" fmla="*/ 0 h 6228026"/>
              <a:gd name="connsiteX2" fmla="*/ 6374721 w 6374721"/>
              <a:gd name="connsiteY2" fmla="*/ 0 h 6228026"/>
              <a:gd name="connsiteX3" fmla="*/ 6362496 w 6374721"/>
              <a:gd name="connsiteY3" fmla="*/ 6228026 h 6228026"/>
              <a:gd name="connsiteX4" fmla="*/ 1470212 w 6374721"/>
              <a:gd name="connsiteY4" fmla="*/ 6228026 h 6228026"/>
              <a:gd name="connsiteX0" fmla="*/ 1465046 w 6374721"/>
              <a:gd name="connsiteY0" fmla="*/ 6207361 h 6228026"/>
              <a:gd name="connsiteX1" fmla="*/ 0 w 6374721"/>
              <a:gd name="connsiteY1" fmla="*/ 0 h 6228026"/>
              <a:gd name="connsiteX2" fmla="*/ 6374721 w 6374721"/>
              <a:gd name="connsiteY2" fmla="*/ 0 h 6228026"/>
              <a:gd name="connsiteX3" fmla="*/ 6362496 w 6374721"/>
              <a:gd name="connsiteY3" fmla="*/ 6228026 h 6228026"/>
              <a:gd name="connsiteX4" fmla="*/ 1465046 w 6374721"/>
              <a:gd name="connsiteY4" fmla="*/ 6207361 h 6228026"/>
              <a:gd name="connsiteX0" fmla="*/ 1465046 w 6374721"/>
              <a:gd name="connsiteY0" fmla="*/ 6207361 h 6207361"/>
              <a:gd name="connsiteX1" fmla="*/ 0 w 6374721"/>
              <a:gd name="connsiteY1" fmla="*/ 0 h 6207361"/>
              <a:gd name="connsiteX2" fmla="*/ 6374721 w 6374721"/>
              <a:gd name="connsiteY2" fmla="*/ 0 h 6207361"/>
              <a:gd name="connsiteX3" fmla="*/ 6367662 w 6374721"/>
              <a:gd name="connsiteY3" fmla="*/ 6207361 h 6207361"/>
              <a:gd name="connsiteX4" fmla="*/ 1465046 w 6374721"/>
              <a:gd name="connsiteY4" fmla="*/ 6207361 h 6207361"/>
              <a:gd name="connsiteX0" fmla="*/ 1465046 w 6374721"/>
              <a:gd name="connsiteY0" fmla="*/ 6207361 h 6207361"/>
              <a:gd name="connsiteX1" fmla="*/ 0 w 6374721"/>
              <a:gd name="connsiteY1" fmla="*/ 5166 h 6207361"/>
              <a:gd name="connsiteX2" fmla="*/ 6374721 w 6374721"/>
              <a:gd name="connsiteY2" fmla="*/ 0 h 6207361"/>
              <a:gd name="connsiteX3" fmla="*/ 6367662 w 6374721"/>
              <a:gd name="connsiteY3" fmla="*/ 6207361 h 6207361"/>
              <a:gd name="connsiteX4" fmla="*/ 1465046 w 6374721"/>
              <a:gd name="connsiteY4" fmla="*/ 6207361 h 6207361"/>
              <a:gd name="connsiteX0" fmla="*/ 1465046 w 6369555"/>
              <a:gd name="connsiteY0" fmla="*/ 6202195 h 6202195"/>
              <a:gd name="connsiteX1" fmla="*/ 0 w 6369555"/>
              <a:gd name="connsiteY1" fmla="*/ 0 h 6202195"/>
              <a:gd name="connsiteX2" fmla="*/ 6369555 w 6369555"/>
              <a:gd name="connsiteY2" fmla="*/ 0 h 6202195"/>
              <a:gd name="connsiteX3" fmla="*/ 6367662 w 6369555"/>
              <a:gd name="connsiteY3" fmla="*/ 6202195 h 6202195"/>
              <a:gd name="connsiteX4" fmla="*/ 1465046 w 6369555"/>
              <a:gd name="connsiteY4" fmla="*/ 6202195 h 620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9555" h="6202195">
                <a:moveTo>
                  <a:pt x="1465046" y="6202195"/>
                </a:moveTo>
                <a:lnTo>
                  <a:pt x="0" y="0"/>
                </a:lnTo>
                <a:lnTo>
                  <a:pt x="6369555" y="0"/>
                </a:lnTo>
                <a:lnTo>
                  <a:pt x="6367662" y="6202195"/>
                </a:lnTo>
                <a:lnTo>
                  <a:pt x="1465046" y="6202195"/>
                </a:lnTo>
                <a:close/>
              </a:path>
            </a:pathLst>
          </a:custGeom>
        </p:spPr>
        <p:txBody>
          <a:bodyPr/>
          <a:lstStyle/>
          <a:p>
            <a:r>
              <a:rPr lang="en-US"/>
              <a:t>Click icon to add picture</a:t>
            </a:r>
          </a:p>
        </p:txBody>
      </p:sp>
      <p:sp>
        <p:nvSpPr>
          <p:cNvPr id="2" name="Title 1">
            <a:extLst>
              <a:ext uri="{FF2B5EF4-FFF2-40B4-BE49-F238E27FC236}">
                <a16:creationId xmlns:a16="http://schemas.microsoft.com/office/drawing/2014/main" id="{547077BF-0101-859C-6217-36F8D6AEFEBE}"/>
              </a:ext>
            </a:extLst>
          </p:cNvPr>
          <p:cNvSpPr>
            <a:spLocks noGrp="1"/>
          </p:cNvSpPr>
          <p:nvPr>
            <p:ph type="title"/>
          </p:nvPr>
        </p:nvSpPr>
        <p:spPr>
          <a:xfrm>
            <a:off x="914400" y="758952"/>
            <a:ext cx="5162550" cy="1325563"/>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6ECE6673-C7A0-C2BA-8CF4-61A98DC28D5B}"/>
              </a:ext>
            </a:extLst>
          </p:cNvPr>
          <p:cNvSpPr>
            <a:spLocks noGrp="1"/>
          </p:cNvSpPr>
          <p:nvPr>
            <p:ph type="ftr" sz="quarter" idx="11"/>
          </p:nvPr>
        </p:nvSpPr>
        <p:spPr/>
        <p:txBody>
          <a:bodyPr/>
          <a:lstStyle/>
          <a:p>
            <a:r>
              <a:rPr lang="en-US" dirty="0"/>
              <a:t>Biological &amp; Physical Sciences </a:t>
            </a:r>
          </a:p>
        </p:txBody>
      </p:sp>
      <p:sp>
        <p:nvSpPr>
          <p:cNvPr id="7" name="Slide Number Placeholder 6">
            <a:extLst>
              <a:ext uri="{FF2B5EF4-FFF2-40B4-BE49-F238E27FC236}">
                <a16:creationId xmlns:a16="http://schemas.microsoft.com/office/drawing/2014/main" id="{FA0287EE-B1C0-D41F-430F-AE7AA63CDCCC}"/>
              </a:ext>
            </a:extLst>
          </p:cNvPr>
          <p:cNvSpPr>
            <a:spLocks noGrp="1"/>
          </p:cNvSpPr>
          <p:nvPr>
            <p:ph type="sldNum" sz="quarter" idx="12"/>
          </p:nvPr>
        </p:nvSpPr>
        <p:spPr/>
        <p:txBody>
          <a:bodyPr/>
          <a:lstStyle/>
          <a:p>
            <a:fld id="{E8618032-BA8D-3D4D-8253-A70208A85976}" type="slidenum">
              <a:rPr lang="en-US" smtClean="0"/>
              <a:t>‹#›</a:t>
            </a:fld>
            <a:endParaRPr lang="en-US"/>
          </a:p>
        </p:txBody>
      </p:sp>
      <p:sp>
        <p:nvSpPr>
          <p:cNvPr id="12" name="Text Placeholder 11">
            <a:extLst>
              <a:ext uri="{FF2B5EF4-FFF2-40B4-BE49-F238E27FC236}">
                <a16:creationId xmlns:a16="http://schemas.microsoft.com/office/drawing/2014/main" id="{4074B9DF-7720-D18B-E48B-4C9CA784C7A3}"/>
              </a:ext>
            </a:extLst>
          </p:cNvPr>
          <p:cNvSpPr>
            <a:spLocks noGrp="1"/>
          </p:cNvSpPr>
          <p:nvPr>
            <p:ph type="body" sz="quarter" idx="14"/>
          </p:nvPr>
        </p:nvSpPr>
        <p:spPr>
          <a:xfrm>
            <a:off x="914400" y="2203704"/>
            <a:ext cx="5181600" cy="3962400"/>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99648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_Picture w/Frame">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D04EC17A-0229-9D9E-4F3E-BBAF3C9EC60A}"/>
              </a:ext>
            </a:extLst>
          </p:cNvPr>
          <p:cNvSpPr/>
          <p:nvPr userDrawn="1"/>
        </p:nvSpPr>
        <p:spPr>
          <a:xfrm>
            <a:off x="6324600" y="750848"/>
            <a:ext cx="5562600" cy="5715000"/>
          </a:xfrm>
          <a:prstGeom prst="roundRect">
            <a:avLst>
              <a:gd name="adj" fmla="val 6243"/>
            </a:avLst>
          </a:prstGeom>
          <a:gradFill>
            <a:gsLst>
              <a:gs pos="0">
                <a:schemeClr val="tx1"/>
              </a:gs>
              <a:gs pos="97000">
                <a:schemeClr val="accent3"/>
              </a:gs>
              <a:gs pos="47000">
                <a:schemeClr val="accent2"/>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7077BF-0101-859C-6217-36F8D6AEFEBE}"/>
              </a:ext>
            </a:extLst>
          </p:cNvPr>
          <p:cNvSpPr>
            <a:spLocks noGrp="1"/>
          </p:cNvSpPr>
          <p:nvPr>
            <p:ph type="title"/>
          </p:nvPr>
        </p:nvSpPr>
        <p:spPr>
          <a:xfrm>
            <a:off x="914400" y="758952"/>
            <a:ext cx="5162550" cy="1325563"/>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6ECE6673-C7A0-C2BA-8CF4-61A98DC28D5B}"/>
              </a:ext>
            </a:extLst>
          </p:cNvPr>
          <p:cNvSpPr>
            <a:spLocks noGrp="1"/>
          </p:cNvSpPr>
          <p:nvPr>
            <p:ph type="ftr" sz="quarter" idx="11"/>
          </p:nvPr>
        </p:nvSpPr>
        <p:spPr/>
        <p:txBody>
          <a:bodyPr/>
          <a:lstStyle/>
          <a:p>
            <a:r>
              <a:rPr lang="en-US" dirty="0"/>
              <a:t>Biological &amp; Physical Sciences </a:t>
            </a:r>
          </a:p>
        </p:txBody>
      </p:sp>
      <p:sp>
        <p:nvSpPr>
          <p:cNvPr id="7" name="Slide Number Placeholder 6">
            <a:extLst>
              <a:ext uri="{FF2B5EF4-FFF2-40B4-BE49-F238E27FC236}">
                <a16:creationId xmlns:a16="http://schemas.microsoft.com/office/drawing/2014/main" id="{FA0287EE-B1C0-D41F-430F-AE7AA63CDCCC}"/>
              </a:ext>
            </a:extLst>
          </p:cNvPr>
          <p:cNvSpPr>
            <a:spLocks noGrp="1"/>
          </p:cNvSpPr>
          <p:nvPr>
            <p:ph type="sldNum" sz="quarter" idx="12"/>
          </p:nvPr>
        </p:nvSpPr>
        <p:spPr/>
        <p:txBody>
          <a:bodyPr/>
          <a:lstStyle/>
          <a:p>
            <a:fld id="{E8618032-BA8D-3D4D-8253-A70208A85976}" type="slidenum">
              <a:rPr lang="en-US" smtClean="0"/>
              <a:t>‹#›</a:t>
            </a:fld>
            <a:endParaRPr lang="en-US"/>
          </a:p>
        </p:txBody>
      </p:sp>
      <p:sp>
        <p:nvSpPr>
          <p:cNvPr id="12" name="Text Placeholder 11">
            <a:extLst>
              <a:ext uri="{FF2B5EF4-FFF2-40B4-BE49-F238E27FC236}">
                <a16:creationId xmlns:a16="http://schemas.microsoft.com/office/drawing/2014/main" id="{4074B9DF-7720-D18B-E48B-4C9CA784C7A3}"/>
              </a:ext>
            </a:extLst>
          </p:cNvPr>
          <p:cNvSpPr>
            <a:spLocks noGrp="1"/>
          </p:cNvSpPr>
          <p:nvPr>
            <p:ph type="body" sz="quarter" idx="14"/>
          </p:nvPr>
        </p:nvSpPr>
        <p:spPr>
          <a:xfrm>
            <a:off x="914400" y="2203704"/>
            <a:ext cx="5181600" cy="3962400"/>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093D01D-E4EE-57C8-4839-A436BF0AE87B}"/>
              </a:ext>
            </a:extLst>
          </p:cNvPr>
          <p:cNvSpPr>
            <a:spLocks noGrp="1"/>
          </p:cNvSpPr>
          <p:nvPr>
            <p:ph type="pic" sz="quarter" idx="15"/>
          </p:nvPr>
        </p:nvSpPr>
        <p:spPr>
          <a:xfrm>
            <a:off x="6477000" y="903248"/>
            <a:ext cx="5257800" cy="5410200"/>
          </a:xfrm>
          <a:prstGeom prst="roundRect">
            <a:avLst>
              <a:gd name="adj" fmla="val 6063"/>
            </a:avLst>
          </a:prstGeom>
        </p:spPr>
        <p:txBody>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1552919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ext _2 Pictures w/Frame">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D04EC17A-0229-9D9E-4F3E-BBAF3C9EC60A}"/>
              </a:ext>
            </a:extLst>
          </p:cNvPr>
          <p:cNvSpPr/>
          <p:nvPr userDrawn="1"/>
        </p:nvSpPr>
        <p:spPr>
          <a:xfrm>
            <a:off x="6781800" y="731195"/>
            <a:ext cx="5029200" cy="2873829"/>
          </a:xfrm>
          <a:prstGeom prst="roundRect">
            <a:avLst>
              <a:gd name="adj" fmla="val 6243"/>
            </a:avLst>
          </a:prstGeom>
          <a:gradFill>
            <a:gsLst>
              <a:gs pos="0">
                <a:schemeClr val="tx1"/>
              </a:gs>
              <a:gs pos="97000">
                <a:schemeClr val="accent3"/>
              </a:gs>
              <a:gs pos="46000">
                <a:schemeClr val="accent2"/>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7077BF-0101-859C-6217-36F8D6AEFEBE}"/>
              </a:ext>
            </a:extLst>
          </p:cNvPr>
          <p:cNvSpPr>
            <a:spLocks noGrp="1"/>
          </p:cNvSpPr>
          <p:nvPr>
            <p:ph type="title"/>
          </p:nvPr>
        </p:nvSpPr>
        <p:spPr>
          <a:xfrm>
            <a:off x="914400" y="758952"/>
            <a:ext cx="5695950" cy="1325563"/>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6ECE6673-C7A0-C2BA-8CF4-61A98DC28D5B}"/>
              </a:ext>
            </a:extLst>
          </p:cNvPr>
          <p:cNvSpPr>
            <a:spLocks noGrp="1"/>
          </p:cNvSpPr>
          <p:nvPr>
            <p:ph type="ftr" sz="quarter" idx="11"/>
          </p:nvPr>
        </p:nvSpPr>
        <p:spPr/>
        <p:txBody>
          <a:bodyPr/>
          <a:lstStyle/>
          <a:p>
            <a:r>
              <a:rPr lang="en-US" dirty="0"/>
              <a:t>Biological &amp; Physical Sciences</a:t>
            </a:r>
          </a:p>
        </p:txBody>
      </p:sp>
      <p:sp>
        <p:nvSpPr>
          <p:cNvPr id="7" name="Slide Number Placeholder 6">
            <a:extLst>
              <a:ext uri="{FF2B5EF4-FFF2-40B4-BE49-F238E27FC236}">
                <a16:creationId xmlns:a16="http://schemas.microsoft.com/office/drawing/2014/main" id="{FA0287EE-B1C0-D41F-430F-AE7AA63CDCCC}"/>
              </a:ext>
            </a:extLst>
          </p:cNvPr>
          <p:cNvSpPr>
            <a:spLocks noGrp="1"/>
          </p:cNvSpPr>
          <p:nvPr>
            <p:ph type="sldNum" sz="quarter" idx="12"/>
          </p:nvPr>
        </p:nvSpPr>
        <p:spPr/>
        <p:txBody>
          <a:bodyPr/>
          <a:lstStyle/>
          <a:p>
            <a:fld id="{E8618032-BA8D-3D4D-8253-A70208A85976}" type="slidenum">
              <a:rPr lang="en-US" smtClean="0"/>
              <a:t>‹#›</a:t>
            </a:fld>
            <a:endParaRPr lang="en-US"/>
          </a:p>
        </p:txBody>
      </p:sp>
      <p:sp>
        <p:nvSpPr>
          <p:cNvPr id="12" name="Text Placeholder 11">
            <a:extLst>
              <a:ext uri="{FF2B5EF4-FFF2-40B4-BE49-F238E27FC236}">
                <a16:creationId xmlns:a16="http://schemas.microsoft.com/office/drawing/2014/main" id="{4074B9DF-7720-D18B-E48B-4C9CA784C7A3}"/>
              </a:ext>
            </a:extLst>
          </p:cNvPr>
          <p:cNvSpPr>
            <a:spLocks noGrp="1"/>
          </p:cNvSpPr>
          <p:nvPr>
            <p:ph type="body" sz="quarter" idx="14"/>
          </p:nvPr>
        </p:nvSpPr>
        <p:spPr>
          <a:xfrm>
            <a:off x="914400" y="2212848"/>
            <a:ext cx="5562600" cy="3962400"/>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6093D01D-E4EE-57C8-4839-A436BF0AE87B}"/>
              </a:ext>
            </a:extLst>
          </p:cNvPr>
          <p:cNvSpPr>
            <a:spLocks noGrp="1"/>
          </p:cNvSpPr>
          <p:nvPr>
            <p:ph type="pic" sz="quarter" idx="15"/>
          </p:nvPr>
        </p:nvSpPr>
        <p:spPr>
          <a:xfrm>
            <a:off x="6934200" y="883595"/>
            <a:ext cx="4741817" cy="2586446"/>
          </a:xfrm>
          <a:prstGeom prst="roundRect">
            <a:avLst>
              <a:gd name="adj" fmla="val 2938"/>
            </a:avLst>
          </a:prstGeom>
        </p:spPr>
        <p:txBody>
          <a:bodyPr/>
          <a:lstStyle>
            <a:lvl1pPr>
              <a:defRPr>
                <a:solidFill>
                  <a:schemeClr val="bg1"/>
                </a:solidFill>
              </a:defRPr>
            </a:lvl1pPr>
          </a:lstStyle>
          <a:p>
            <a:r>
              <a:rPr lang="en-US"/>
              <a:t>Click icon to add picture</a:t>
            </a:r>
            <a:endParaRPr lang="en-US" dirty="0"/>
          </a:p>
        </p:txBody>
      </p:sp>
      <p:sp>
        <p:nvSpPr>
          <p:cNvPr id="10" name="Rounded Rectangle 9">
            <a:extLst>
              <a:ext uri="{FF2B5EF4-FFF2-40B4-BE49-F238E27FC236}">
                <a16:creationId xmlns:a16="http://schemas.microsoft.com/office/drawing/2014/main" id="{932B8DAB-353A-63A7-57E3-BC8771DAFC86}"/>
              </a:ext>
            </a:extLst>
          </p:cNvPr>
          <p:cNvSpPr/>
          <p:nvPr userDrawn="1"/>
        </p:nvSpPr>
        <p:spPr>
          <a:xfrm>
            <a:off x="6781800" y="3702995"/>
            <a:ext cx="5029200" cy="2873829"/>
          </a:xfrm>
          <a:prstGeom prst="roundRect">
            <a:avLst>
              <a:gd name="adj" fmla="val 6243"/>
            </a:avLst>
          </a:prstGeom>
          <a:gradFill>
            <a:gsLst>
              <a:gs pos="0">
                <a:schemeClr val="tx1"/>
              </a:gs>
              <a:gs pos="97000">
                <a:schemeClr val="accent3"/>
              </a:gs>
              <a:gs pos="47000">
                <a:schemeClr val="accent2"/>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3">
            <a:extLst>
              <a:ext uri="{FF2B5EF4-FFF2-40B4-BE49-F238E27FC236}">
                <a16:creationId xmlns:a16="http://schemas.microsoft.com/office/drawing/2014/main" id="{7FD29A79-FC30-5176-80E7-A66A49211302}"/>
              </a:ext>
            </a:extLst>
          </p:cNvPr>
          <p:cNvSpPr>
            <a:spLocks noGrp="1"/>
          </p:cNvSpPr>
          <p:nvPr>
            <p:ph type="pic" sz="quarter" idx="16"/>
          </p:nvPr>
        </p:nvSpPr>
        <p:spPr>
          <a:xfrm>
            <a:off x="6934200" y="3855395"/>
            <a:ext cx="4741817" cy="2586446"/>
          </a:xfrm>
          <a:prstGeom prst="roundRect">
            <a:avLst>
              <a:gd name="adj" fmla="val 2938"/>
            </a:avLst>
          </a:prstGeom>
        </p:spPr>
        <p:txBody>
          <a:bodyPr/>
          <a:lstStyle>
            <a:lvl1pPr>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4281176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077BF-0101-859C-6217-36F8D6AEFEBE}"/>
              </a:ext>
            </a:extLst>
          </p:cNvPr>
          <p:cNvSpPr>
            <a:spLocks noGrp="1"/>
          </p:cNvSpPr>
          <p:nvPr>
            <p:ph type="title"/>
          </p:nvPr>
        </p:nvSpPr>
        <p:spPr>
          <a:xfrm>
            <a:off x="914400" y="758952"/>
            <a:ext cx="5619750" cy="1325563"/>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6ECE6673-C7A0-C2BA-8CF4-61A98DC28D5B}"/>
              </a:ext>
            </a:extLst>
          </p:cNvPr>
          <p:cNvSpPr>
            <a:spLocks noGrp="1"/>
          </p:cNvSpPr>
          <p:nvPr>
            <p:ph type="ftr" sz="quarter" idx="11"/>
          </p:nvPr>
        </p:nvSpPr>
        <p:spPr/>
        <p:txBody>
          <a:bodyPr/>
          <a:lstStyle/>
          <a:p>
            <a:r>
              <a:rPr lang="en-US" dirty="0"/>
              <a:t>Biological &amp; Physical Sciences</a:t>
            </a:r>
          </a:p>
        </p:txBody>
      </p:sp>
      <p:sp>
        <p:nvSpPr>
          <p:cNvPr id="7" name="Slide Number Placeholder 6">
            <a:extLst>
              <a:ext uri="{FF2B5EF4-FFF2-40B4-BE49-F238E27FC236}">
                <a16:creationId xmlns:a16="http://schemas.microsoft.com/office/drawing/2014/main" id="{FA0287EE-B1C0-D41F-430F-AE7AA63CDCCC}"/>
              </a:ext>
            </a:extLst>
          </p:cNvPr>
          <p:cNvSpPr>
            <a:spLocks noGrp="1"/>
          </p:cNvSpPr>
          <p:nvPr>
            <p:ph type="sldNum" sz="quarter" idx="12"/>
          </p:nvPr>
        </p:nvSpPr>
        <p:spPr/>
        <p:txBody>
          <a:bodyPr/>
          <a:lstStyle/>
          <a:p>
            <a:fld id="{E8618032-BA8D-3D4D-8253-A70208A85976}" type="slidenum">
              <a:rPr lang="en-US" smtClean="0"/>
              <a:t>‹#›</a:t>
            </a:fld>
            <a:endParaRPr lang="en-US"/>
          </a:p>
        </p:txBody>
      </p:sp>
      <p:sp>
        <p:nvSpPr>
          <p:cNvPr id="12" name="Text Placeholder 11">
            <a:extLst>
              <a:ext uri="{FF2B5EF4-FFF2-40B4-BE49-F238E27FC236}">
                <a16:creationId xmlns:a16="http://schemas.microsoft.com/office/drawing/2014/main" id="{4074B9DF-7720-D18B-E48B-4C9CA784C7A3}"/>
              </a:ext>
            </a:extLst>
          </p:cNvPr>
          <p:cNvSpPr>
            <a:spLocks noGrp="1"/>
          </p:cNvSpPr>
          <p:nvPr>
            <p:ph type="body" sz="quarter" idx="14"/>
          </p:nvPr>
        </p:nvSpPr>
        <p:spPr>
          <a:xfrm>
            <a:off x="914400" y="2203704"/>
            <a:ext cx="5181600" cy="3962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hart Placeholder 8">
            <a:extLst>
              <a:ext uri="{FF2B5EF4-FFF2-40B4-BE49-F238E27FC236}">
                <a16:creationId xmlns:a16="http://schemas.microsoft.com/office/drawing/2014/main" id="{61C1296F-E730-081D-E6F9-31BBE4D43254}"/>
              </a:ext>
            </a:extLst>
          </p:cNvPr>
          <p:cNvSpPr>
            <a:spLocks noGrp="1"/>
          </p:cNvSpPr>
          <p:nvPr>
            <p:ph type="chart" sz="quarter" idx="15"/>
          </p:nvPr>
        </p:nvSpPr>
        <p:spPr>
          <a:xfrm>
            <a:off x="6324600" y="758952"/>
            <a:ext cx="5486400" cy="5486400"/>
          </a:xfrm>
        </p:spPr>
        <p:txBody>
          <a:bodyPr/>
          <a:lstStyle>
            <a:lvl1pPr>
              <a:defRPr>
                <a:solidFill>
                  <a:schemeClr val="tx1"/>
                </a:solidFill>
              </a:defRPr>
            </a:lvl1pPr>
          </a:lstStyle>
          <a:p>
            <a:r>
              <a:rPr lang="en-US"/>
              <a:t>Click icon to add chart</a:t>
            </a:r>
            <a:endParaRPr lang="en-US" dirty="0"/>
          </a:p>
        </p:txBody>
      </p:sp>
    </p:spTree>
    <p:extLst>
      <p:ext uri="{BB962C8B-B14F-4D97-AF65-F5344CB8AC3E}">
        <p14:creationId xmlns:p14="http://schemas.microsoft.com/office/powerpoint/2010/main" val="35781612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 by side 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077BF-0101-859C-6217-36F8D6AEFEBE}"/>
              </a:ext>
            </a:extLst>
          </p:cNvPr>
          <p:cNvSpPr>
            <a:spLocks noGrp="1"/>
          </p:cNvSpPr>
          <p:nvPr>
            <p:ph type="title"/>
          </p:nvPr>
        </p:nvSpPr>
        <p:spPr>
          <a:xfrm>
            <a:off x="914400" y="758952"/>
            <a:ext cx="10877550" cy="1325563"/>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6ECE6673-C7A0-C2BA-8CF4-61A98DC28D5B}"/>
              </a:ext>
            </a:extLst>
          </p:cNvPr>
          <p:cNvSpPr>
            <a:spLocks noGrp="1"/>
          </p:cNvSpPr>
          <p:nvPr>
            <p:ph type="ftr" sz="quarter" idx="11"/>
          </p:nvPr>
        </p:nvSpPr>
        <p:spPr/>
        <p:txBody>
          <a:bodyPr/>
          <a:lstStyle/>
          <a:p>
            <a:r>
              <a:rPr lang="en-US" dirty="0"/>
              <a:t>Biological &amp; Physical Sciences</a:t>
            </a:r>
          </a:p>
        </p:txBody>
      </p:sp>
      <p:sp>
        <p:nvSpPr>
          <p:cNvPr id="7" name="Slide Number Placeholder 6">
            <a:extLst>
              <a:ext uri="{FF2B5EF4-FFF2-40B4-BE49-F238E27FC236}">
                <a16:creationId xmlns:a16="http://schemas.microsoft.com/office/drawing/2014/main" id="{FA0287EE-B1C0-D41F-430F-AE7AA63CDCCC}"/>
              </a:ext>
            </a:extLst>
          </p:cNvPr>
          <p:cNvSpPr>
            <a:spLocks noGrp="1"/>
          </p:cNvSpPr>
          <p:nvPr>
            <p:ph type="sldNum" sz="quarter" idx="12"/>
          </p:nvPr>
        </p:nvSpPr>
        <p:spPr/>
        <p:txBody>
          <a:bodyPr/>
          <a:lstStyle/>
          <a:p>
            <a:fld id="{E8618032-BA8D-3D4D-8253-A70208A85976}" type="slidenum">
              <a:rPr lang="en-US" smtClean="0"/>
              <a:t>‹#›</a:t>
            </a:fld>
            <a:endParaRPr lang="en-US"/>
          </a:p>
        </p:txBody>
      </p:sp>
      <p:sp>
        <p:nvSpPr>
          <p:cNvPr id="9" name="Chart Placeholder 8">
            <a:extLst>
              <a:ext uri="{FF2B5EF4-FFF2-40B4-BE49-F238E27FC236}">
                <a16:creationId xmlns:a16="http://schemas.microsoft.com/office/drawing/2014/main" id="{61C1296F-E730-081D-E6F9-31BBE4D43254}"/>
              </a:ext>
            </a:extLst>
          </p:cNvPr>
          <p:cNvSpPr>
            <a:spLocks noGrp="1"/>
          </p:cNvSpPr>
          <p:nvPr>
            <p:ph type="chart" sz="quarter" idx="15"/>
          </p:nvPr>
        </p:nvSpPr>
        <p:spPr>
          <a:xfrm>
            <a:off x="6400800" y="2924869"/>
            <a:ext cx="5334000" cy="3505200"/>
          </a:xfrm>
        </p:spPr>
        <p:txBody>
          <a:bodyPr/>
          <a:lstStyle>
            <a:lvl1pPr>
              <a:defRPr>
                <a:solidFill>
                  <a:schemeClr val="tx1"/>
                </a:solidFill>
              </a:defRPr>
            </a:lvl1pPr>
          </a:lstStyle>
          <a:p>
            <a:r>
              <a:rPr lang="en-US"/>
              <a:t>Click icon to add chart</a:t>
            </a:r>
            <a:endParaRPr lang="en-US" dirty="0"/>
          </a:p>
        </p:txBody>
      </p:sp>
      <p:sp>
        <p:nvSpPr>
          <p:cNvPr id="3" name="Chart Placeholder 8">
            <a:extLst>
              <a:ext uri="{FF2B5EF4-FFF2-40B4-BE49-F238E27FC236}">
                <a16:creationId xmlns:a16="http://schemas.microsoft.com/office/drawing/2014/main" id="{47C9A64A-95DE-326D-AD27-2A9C89FC288F}"/>
              </a:ext>
            </a:extLst>
          </p:cNvPr>
          <p:cNvSpPr>
            <a:spLocks noGrp="1"/>
          </p:cNvSpPr>
          <p:nvPr>
            <p:ph type="chart" sz="quarter" idx="16"/>
          </p:nvPr>
        </p:nvSpPr>
        <p:spPr>
          <a:xfrm>
            <a:off x="914400" y="2924869"/>
            <a:ext cx="5334000" cy="3505200"/>
          </a:xfrm>
        </p:spPr>
        <p:txBody>
          <a:bodyPr/>
          <a:lstStyle>
            <a:lvl1pPr>
              <a:defRPr>
                <a:solidFill>
                  <a:schemeClr val="tx1"/>
                </a:solidFill>
              </a:defRPr>
            </a:lvl1pPr>
          </a:lstStyle>
          <a:p>
            <a:r>
              <a:rPr lang="en-US"/>
              <a:t>Click icon to add chart</a:t>
            </a:r>
            <a:endParaRPr lang="en-US" dirty="0"/>
          </a:p>
        </p:txBody>
      </p:sp>
      <p:sp>
        <p:nvSpPr>
          <p:cNvPr id="10" name="Text Placeholder 2">
            <a:extLst>
              <a:ext uri="{FF2B5EF4-FFF2-40B4-BE49-F238E27FC236}">
                <a16:creationId xmlns:a16="http://schemas.microsoft.com/office/drawing/2014/main" id="{BFD2497A-A32F-79B8-FD8B-B8AB6127058F}"/>
              </a:ext>
            </a:extLst>
          </p:cNvPr>
          <p:cNvSpPr>
            <a:spLocks noGrp="1"/>
          </p:cNvSpPr>
          <p:nvPr>
            <p:ph type="body" idx="1"/>
          </p:nvPr>
        </p:nvSpPr>
        <p:spPr>
          <a:xfrm>
            <a:off x="914400" y="2203704"/>
            <a:ext cx="10972800" cy="5953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9457809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ide by side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077BF-0101-859C-6217-36F8D6AEFEBE}"/>
              </a:ext>
            </a:extLst>
          </p:cNvPr>
          <p:cNvSpPr>
            <a:spLocks noGrp="1"/>
          </p:cNvSpPr>
          <p:nvPr>
            <p:ph type="title"/>
          </p:nvPr>
        </p:nvSpPr>
        <p:spPr>
          <a:xfrm>
            <a:off x="914400" y="758952"/>
            <a:ext cx="10877550" cy="1325563"/>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6ECE6673-C7A0-C2BA-8CF4-61A98DC28D5B}"/>
              </a:ext>
            </a:extLst>
          </p:cNvPr>
          <p:cNvSpPr>
            <a:spLocks noGrp="1"/>
          </p:cNvSpPr>
          <p:nvPr>
            <p:ph type="ftr" sz="quarter" idx="11"/>
          </p:nvPr>
        </p:nvSpPr>
        <p:spPr/>
        <p:txBody>
          <a:bodyPr/>
          <a:lstStyle/>
          <a:p>
            <a:r>
              <a:rPr lang="en-US" dirty="0"/>
              <a:t>Biological &amp; Physical Sciences</a:t>
            </a:r>
          </a:p>
        </p:txBody>
      </p:sp>
      <p:sp>
        <p:nvSpPr>
          <p:cNvPr id="7" name="Slide Number Placeholder 6">
            <a:extLst>
              <a:ext uri="{FF2B5EF4-FFF2-40B4-BE49-F238E27FC236}">
                <a16:creationId xmlns:a16="http://schemas.microsoft.com/office/drawing/2014/main" id="{FA0287EE-B1C0-D41F-430F-AE7AA63CDCCC}"/>
              </a:ext>
            </a:extLst>
          </p:cNvPr>
          <p:cNvSpPr>
            <a:spLocks noGrp="1"/>
          </p:cNvSpPr>
          <p:nvPr>
            <p:ph type="sldNum" sz="quarter" idx="12"/>
          </p:nvPr>
        </p:nvSpPr>
        <p:spPr/>
        <p:txBody>
          <a:bodyPr/>
          <a:lstStyle/>
          <a:p>
            <a:fld id="{E8618032-BA8D-3D4D-8253-A70208A85976}" type="slidenum">
              <a:rPr lang="en-US" smtClean="0"/>
              <a:t>‹#›</a:t>
            </a:fld>
            <a:endParaRPr lang="en-US"/>
          </a:p>
        </p:txBody>
      </p:sp>
      <p:sp>
        <p:nvSpPr>
          <p:cNvPr id="10" name="Text Placeholder 2">
            <a:extLst>
              <a:ext uri="{FF2B5EF4-FFF2-40B4-BE49-F238E27FC236}">
                <a16:creationId xmlns:a16="http://schemas.microsoft.com/office/drawing/2014/main" id="{BFD2497A-A32F-79B8-FD8B-B8AB6127058F}"/>
              </a:ext>
            </a:extLst>
          </p:cNvPr>
          <p:cNvSpPr>
            <a:spLocks noGrp="1"/>
          </p:cNvSpPr>
          <p:nvPr>
            <p:ph type="body" idx="1"/>
          </p:nvPr>
        </p:nvSpPr>
        <p:spPr>
          <a:xfrm>
            <a:off x="914400" y="2203704"/>
            <a:ext cx="10972800" cy="595312"/>
          </a:xfrm>
        </p:spPr>
        <p:txBody>
          <a:bodyPr anchor="t"/>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Picture Placeholder 7">
            <a:extLst>
              <a:ext uri="{FF2B5EF4-FFF2-40B4-BE49-F238E27FC236}">
                <a16:creationId xmlns:a16="http://schemas.microsoft.com/office/drawing/2014/main" id="{A5E00329-735F-25A4-8DAC-E98E4105FA19}"/>
              </a:ext>
            </a:extLst>
          </p:cNvPr>
          <p:cNvSpPr>
            <a:spLocks noGrp="1"/>
          </p:cNvSpPr>
          <p:nvPr>
            <p:ph type="pic" sz="quarter" idx="17"/>
          </p:nvPr>
        </p:nvSpPr>
        <p:spPr>
          <a:xfrm>
            <a:off x="914400" y="2912640"/>
            <a:ext cx="5334000" cy="3505200"/>
          </a:xfrm>
        </p:spPr>
        <p:txBody>
          <a:bodyPr/>
          <a:lstStyle/>
          <a:p>
            <a:r>
              <a:rPr lang="en-US"/>
              <a:t>Click icon to add picture</a:t>
            </a:r>
          </a:p>
        </p:txBody>
      </p:sp>
      <p:sp>
        <p:nvSpPr>
          <p:cNvPr id="11" name="Picture Placeholder 7">
            <a:extLst>
              <a:ext uri="{FF2B5EF4-FFF2-40B4-BE49-F238E27FC236}">
                <a16:creationId xmlns:a16="http://schemas.microsoft.com/office/drawing/2014/main" id="{5D11F4B7-132E-FFAB-C5E1-A1A1DA78032E}"/>
              </a:ext>
            </a:extLst>
          </p:cNvPr>
          <p:cNvSpPr>
            <a:spLocks noGrp="1"/>
          </p:cNvSpPr>
          <p:nvPr>
            <p:ph type="pic" sz="quarter" idx="18"/>
          </p:nvPr>
        </p:nvSpPr>
        <p:spPr>
          <a:xfrm>
            <a:off x="6400800" y="2912640"/>
            <a:ext cx="5334000" cy="3505200"/>
          </a:xfrm>
        </p:spPr>
        <p:txBody>
          <a:bodyPr/>
          <a:lstStyle/>
          <a:p>
            <a:r>
              <a:rPr lang="en-US"/>
              <a:t>Click icon to add picture</a:t>
            </a:r>
          </a:p>
        </p:txBody>
      </p:sp>
    </p:spTree>
    <p:extLst>
      <p:ext uri="{BB962C8B-B14F-4D97-AF65-F5344CB8AC3E}">
        <p14:creationId xmlns:p14="http://schemas.microsoft.com/office/powerpoint/2010/main" val="35244866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call outs">
    <p:bg>
      <p:bgRef idx="1001">
        <a:schemeClr val="bg1"/>
      </p:bgRef>
    </p:bg>
    <p:spTree>
      <p:nvGrpSpPr>
        <p:cNvPr id="1" name=""/>
        <p:cNvGrpSpPr/>
        <p:nvPr/>
      </p:nvGrpSpPr>
      <p:grpSpPr>
        <a:xfrm>
          <a:off x="0" y="0"/>
          <a:ext cx="0" cy="0"/>
          <a:chOff x="0" y="0"/>
          <a:chExt cx="0" cy="0"/>
        </a:xfrm>
      </p:grpSpPr>
      <p:sp>
        <p:nvSpPr>
          <p:cNvPr id="15" name="Text Placeholder 11">
            <a:extLst>
              <a:ext uri="{FF2B5EF4-FFF2-40B4-BE49-F238E27FC236}">
                <a16:creationId xmlns:a16="http://schemas.microsoft.com/office/drawing/2014/main" id="{3465C986-E3D2-97E7-9111-0299F9C3B1D2}"/>
              </a:ext>
            </a:extLst>
          </p:cNvPr>
          <p:cNvSpPr>
            <a:spLocks noGrp="1"/>
          </p:cNvSpPr>
          <p:nvPr>
            <p:ph type="body" sz="quarter" idx="15" hasCustomPrompt="1"/>
          </p:nvPr>
        </p:nvSpPr>
        <p:spPr>
          <a:xfrm>
            <a:off x="951767" y="3135104"/>
            <a:ext cx="2326657" cy="768223"/>
          </a:xfrm>
        </p:spPr>
        <p:txBody>
          <a:bodyPr lIns="91440" tIns="0" anchor="b">
            <a:noAutofit/>
          </a:bodyPr>
          <a:lstStyle>
            <a:lvl1pPr marL="0" indent="0" algn="ctr">
              <a:buNone/>
              <a:defRPr sz="2000" b="0" cap="all" spc="0"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40" name="Rectangle 39">
            <a:extLst>
              <a:ext uri="{FF2B5EF4-FFF2-40B4-BE49-F238E27FC236}">
                <a16:creationId xmlns:a16="http://schemas.microsoft.com/office/drawing/2014/main" id="{4CD86E3A-6D68-1F05-DE18-246FA7A4406A}"/>
              </a:ext>
              <a:ext uri="{C183D7F6-B498-43B3-948B-1728B52AA6E4}">
                <adec:decorative xmlns:adec="http://schemas.microsoft.com/office/drawing/2017/decorative" val="1"/>
              </a:ext>
            </a:extLst>
          </p:cNvPr>
          <p:cNvSpPr/>
          <p:nvPr userDrawn="1"/>
        </p:nvSpPr>
        <p:spPr>
          <a:xfrm>
            <a:off x="928190" y="4011416"/>
            <a:ext cx="2373810" cy="110198"/>
          </a:xfrm>
          <a:prstGeom prst="rect">
            <a:avLst/>
          </a:prstGeom>
          <a:gradFill>
            <a:gsLst>
              <a:gs pos="0">
                <a:schemeClr val="tx1"/>
              </a:gs>
              <a:gs pos="97000">
                <a:schemeClr val="accent3"/>
              </a:gs>
              <a:gs pos="48000">
                <a:schemeClr val="accent2"/>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0" name="Text Placeholder 11">
            <a:extLst>
              <a:ext uri="{FF2B5EF4-FFF2-40B4-BE49-F238E27FC236}">
                <a16:creationId xmlns:a16="http://schemas.microsoft.com/office/drawing/2014/main" id="{6C169315-0602-4C85-86EE-5C3554AAA92A}"/>
              </a:ext>
            </a:extLst>
          </p:cNvPr>
          <p:cNvSpPr>
            <a:spLocks noGrp="1"/>
          </p:cNvSpPr>
          <p:nvPr>
            <p:ph type="body" sz="quarter" idx="20" hasCustomPrompt="1"/>
          </p:nvPr>
        </p:nvSpPr>
        <p:spPr>
          <a:xfrm>
            <a:off x="948564" y="4248614"/>
            <a:ext cx="2333063" cy="1676185"/>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cxnSp>
        <p:nvCxnSpPr>
          <p:cNvPr id="45" name="Straight Arrow Connector 44">
            <a:extLst>
              <a:ext uri="{FF2B5EF4-FFF2-40B4-BE49-F238E27FC236}">
                <a16:creationId xmlns:a16="http://schemas.microsoft.com/office/drawing/2014/main" id="{9CFE922A-6A5A-4DA8-1E44-D80852772091}"/>
              </a:ext>
              <a:ext uri="{C183D7F6-B498-43B3-948B-1728B52AA6E4}">
                <adec:decorative xmlns:adec="http://schemas.microsoft.com/office/drawing/2017/decorative" val="1"/>
              </a:ext>
            </a:extLst>
          </p:cNvPr>
          <p:cNvCxnSpPr>
            <a:cxnSpLocks/>
          </p:cNvCxnSpPr>
          <p:nvPr userDrawn="1"/>
        </p:nvCxnSpPr>
        <p:spPr>
          <a:xfrm>
            <a:off x="1201554" y="6203726"/>
            <a:ext cx="1827083" cy="0"/>
          </a:xfrm>
          <a:prstGeom prst="straightConnector1">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 Placeholder 11">
            <a:extLst>
              <a:ext uri="{FF2B5EF4-FFF2-40B4-BE49-F238E27FC236}">
                <a16:creationId xmlns:a16="http://schemas.microsoft.com/office/drawing/2014/main" id="{3D56C31D-5FDB-2235-FFF8-2AB6E04C9B1C}"/>
              </a:ext>
            </a:extLst>
          </p:cNvPr>
          <p:cNvSpPr>
            <a:spLocks noGrp="1"/>
          </p:cNvSpPr>
          <p:nvPr>
            <p:ph type="body" sz="quarter" idx="16" hasCustomPrompt="1"/>
          </p:nvPr>
        </p:nvSpPr>
        <p:spPr>
          <a:xfrm>
            <a:off x="3657600" y="3135104"/>
            <a:ext cx="2326657" cy="768223"/>
          </a:xfrm>
        </p:spPr>
        <p:txBody>
          <a:bodyPr lIns="91440" tIns="0" anchor="b">
            <a:noAutofit/>
          </a:bodyPr>
          <a:lstStyle>
            <a:lvl1pPr marL="0" indent="0" algn="ctr">
              <a:buNone/>
              <a:defRPr sz="2000" b="0" cap="all" spc="0"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21" name="Text Placeholder 11">
            <a:extLst>
              <a:ext uri="{FF2B5EF4-FFF2-40B4-BE49-F238E27FC236}">
                <a16:creationId xmlns:a16="http://schemas.microsoft.com/office/drawing/2014/main" id="{B16A2860-4464-B092-801E-255A6B7DF3E4}"/>
              </a:ext>
            </a:extLst>
          </p:cNvPr>
          <p:cNvSpPr>
            <a:spLocks noGrp="1"/>
          </p:cNvSpPr>
          <p:nvPr>
            <p:ph type="body" sz="quarter" idx="21" hasCustomPrompt="1"/>
          </p:nvPr>
        </p:nvSpPr>
        <p:spPr>
          <a:xfrm>
            <a:off x="3640500" y="4248614"/>
            <a:ext cx="2360857" cy="1676185"/>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cxnSp>
        <p:nvCxnSpPr>
          <p:cNvPr id="46" name="Straight Arrow Connector 45">
            <a:extLst>
              <a:ext uri="{FF2B5EF4-FFF2-40B4-BE49-F238E27FC236}">
                <a16:creationId xmlns:a16="http://schemas.microsoft.com/office/drawing/2014/main" id="{76330766-86D4-F436-F65D-07EF389BF5F5}"/>
              </a:ext>
              <a:ext uri="{C183D7F6-B498-43B3-948B-1728B52AA6E4}">
                <adec:decorative xmlns:adec="http://schemas.microsoft.com/office/drawing/2017/decorative" val="1"/>
              </a:ext>
            </a:extLst>
          </p:cNvPr>
          <p:cNvCxnSpPr>
            <a:cxnSpLocks/>
          </p:cNvCxnSpPr>
          <p:nvPr userDrawn="1"/>
        </p:nvCxnSpPr>
        <p:spPr>
          <a:xfrm>
            <a:off x="3902735" y="6203726"/>
            <a:ext cx="1836387" cy="0"/>
          </a:xfrm>
          <a:prstGeom prst="straightConnector1">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 Placeholder 11">
            <a:extLst>
              <a:ext uri="{FF2B5EF4-FFF2-40B4-BE49-F238E27FC236}">
                <a16:creationId xmlns:a16="http://schemas.microsoft.com/office/drawing/2014/main" id="{A540E06E-3F2B-A3DC-320A-8C968AC4350E}"/>
              </a:ext>
            </a:extLst>
          </p:cNvPr>
          <p:cNvSpPr>
            <a:spLocks noGrp="1"/>
          </p:cNvSpPr>
          <p:nvPr>
            <p:ph type="body" sz="quarter" idx="17" hasCustomPrompt="1"/>
          </p:nvPr>
        </p:nvSpPr>
        <p:spPr>
          <a:xfrm>
            <a:off x="6435141" y="3135104"/>
            <a:ext cx="2326657" cy="768223"/>
          </a:xfrm>
        </p:spPr>
        <p:txBody>
          <a:bodyPr lIns="91440" tIns="0" anchor="b">
            <a:noAutofit/>
          </a:bodyPr>
          <a:lstStyle>
            <a:lvl1pPr marL="0" indent="0" algn="ctr">
              <a:buNone/>
              <a:defRPr sz="2000" b="0" cap="all" spc="0"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22" name="Text Placeholder 11">
            <a:extLst>
              <a:ext uri="{FF2B5EF4-FFF2-40B4-BE49-F238E27FC236}">
                <a16:creationId xmlns:a16="http://schemas.microsoft.com/office/drawing/2014/main" id="{51307C43-6072-93E9-BF1D-64D42AE2A524}"/>
              </a:ext>
            </a:extLst>
          </p:cNvPr>
          <p:cNvSpPr>
            <a:spLocks noGrp="1"/>
          </p:cNvSpPr>
          <p:nvPr>
            <p:ph type="body" sz="quarter" idx="22" hasCustomPrompt="1"/>
          </p:nvPr>
        </p:nvSpPr>
        <p:spPr>
          <a:xfrm>
            <a:off x="6419643" y="4248614"/>
            <a:ext cx="2357653" cy="1676185"/>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cxnSp>
        <p:nvCxnSpPr>
          <p:cNvPr id="47" name="Straight Arrow Connector 46">
            <a:extLst>
              <a:ext uri="{FF2B5EF4-FFF2-40B4-BE49-F238E27FC236}">
                <a16:creationId xmlns:a16="http://schemas.microsoft.com/office/drawing/2014/main" id="{EF51B736-1CC5-842A-AFEB-68B18931713C}"/>
              </a:ext>
              <a:ext uri="{C183D7F6-B498-43B3-948B-1728B52AA6E4}">
                <adec:decorative xmlns:adec="http://schemas.microsoft.com/office/drawing/2017/decorative" val="1"/>
              </a:ext>
            </a:extLst>
          </p:cNvPr>
          <p:cNvCxnSpPr>
            <a:cxnSpLocks/>
          </p:cNvCxnSpPr>
          <p:nvPr userDrawn="1"/>
        </p:nvCxnSpPr>
        <p:spPr>
          <a:xfrm>
            <a:off x="6684650" y="6203726"/>
            <a:ext cx="1827639" cy="0"/>
          </a:xfrm>
          <a:prstGeom prst="straightConnector1">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Text Placeholder 11">
            <a:extLst>
              <a:ext uri="{FF2B5EF4-FFF2-40B4-BE49-F238E27FC236}">
                <a16:creationId xmlns:a16="http://schemas.microsoft.com/office/drawing/2014/main" id="{716EA8F4-B9C4-991F-0EBC-D79877AD4680}"/>
              </a:ext>
            </a:extLst>
          </p:cNvPr>
          <p:cNvSpPr>
            <a:spLocks noGrp="1"/>
          </p:cNvSpPr>
          <p:nvPr>
            <p:ph type="body" sz="quarter" idx="18" hasCustomPrompt="1"/>
          </p:nvPr>
        </p:nvSpPr>
        <p:spPr>
          <a:xfrm>
            <a:off x="9161699" y="3135104"/>
            <a:ext cx="2326657" cy="768223"/>
          </a:xfrm>
        </p:spPr>
        <p:txBody>
          <a:bodyPr lIns="91440" tIns="0" anchor="b">
            <a:noAutofit/>
          </a:bodyPr>
          <a:lstStyle>
            <a:lvl1pPr marL="0" indent="0" algn="ctr">
              <a:buNone/>
              <a:defRPr sz="2000" b="0" cap="all" spc="0"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Subtitle</a:t>
            </a:r>
          </a:p>
        </p:txBody>
      </p:sp>
      <p:sp>
        <p:nvSpPr>
          <p:cNvPr id="23" name="Text Placeholder 11">
            <a:extLst>
              <a:ext uri="{FF2B5EF4-FFF2-40B4-BE49-F238E27FC236}">
                <a16:creationId xmlns:a16="http://schemas.microsoft.com/office/drawing/2014/main" id="{5A57C80F-4C30-26E1-B38B-3D7238EC9A49}"/>
              </a:ext>
            </a:extLst>
          </p:cNvPr>
          <p:cNvSpPr>
            <a:spLocks noGrp="1"/>
          </p:cNvSpPr>
          <p:nvPr>
            <p:ph type="body" sz="quarter" idx="23" hasCustomPrompt="1"/>
          </p:nvPr>
        </p:nvSpPr>
        <p:spPr>
          <a:xfrm>
            <a:off x="9140053" y="4248614"/>
            <a:ext cx="2369948" cy="1676185"/>
          </a:xfrm>
        </p:spPr>
        <p:txBody>
          <a:bodyPr lIns="91440" tIns="0">
            <a:noAutofit/>
          </a:bodyPr>
          <a:lstStyle>
            <a:lvl1pPr marL="0" indent="0">
              <a:buNone/>
              <a:defRPr sz="1200" cap="none" baseline="0">
                <a:solidFill>
                  <a:schemeClr val="tx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cxnSp>
        <p:nvCxnSpPr>
          <p:cNvPr id="48" name="Straight Arrow Connector 47">
            <a:extLst>
              <a:ext uri="{FF2B5EF4-FFF2-40B4-BE49-F238E27FC236}">
                <a16:creationId xmlns:a16="http://schemas.microsoft.com/office/drawing/2014/main" id="{A771B152-C165-EE9A-CF25-69B01D93984C}"/>
              </a:ext>
              <a:ext uri="{C183D7F6-B498-43B3-948B-1728B52AA6E4}">
                <adec:decorative xmlns:adec="http://schemas.microsoft.com/office/drawing/2017/decorative" val="1"/>
              </a:ext>
            </a:extLst>
          </p:cNvPr>
          <p:cNvCxnSpPr>
            <a:cxnSpLocks/>
          </p:cNvCxnSpPr>
          <p:nvPr userDrawn="1"/>
        </p:nvCxnSpPr>
        <p:spPr>
          <a:xfrm>
            <a:off x="9410840" y="6203726"/>
            <a:ext cx="1828375" cy="0"/>
          </a:xfrm>
          <a:prstGeom prst="straightConnector1">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 name="Rectangle 7">
            <a:extLst>
              <a:ext uri="{FF2B5EF4-FFF2-40B4-BE49-F238E27FC236}">
                <a16:creationId xmlns:a16="http://schemas.microsoft.com/office/drawing/2014/main" id="{3A788A64-F282-9CE1-4232-9EE355589DE3}"/>
              </a:ext>
              <a:ext uri="{C183D7F6-B498-43B3-948B-1728B52AA6E4}">
                <adec:decorative xmlns:adec="http://schemas.microsoft.com/office/drawing/2017/decorative" val="1"/>
              </a:ext>
            </a:extLst>
          </p:cNvPr>
          <p:cNvSpPr/>
          <p:nvPr userDrawn="1"/>
        </p:nvSpPr>
        <p:spPr>
          <a:xfrm>
            <a:off x="3634023" y="4011416"/>
            <a:ext cx="2373810" cy="110198"/>
          </a:xfrm>
          <a:prstGeom prst="rect">
            <a:avLst/>
          </a:prstGeom>
          <a:gradFill>
            <a:gsLst>
              <a:gs pos="0">
                <a:schemeClr val="tx1"/>
              </a:gs>
              <a:gs pos="97000">
                <a:schemeClr val="accent3"/>
              </a:gs>
              <a:gs pos="48000">
                <a:schemeClr val="accent2"/>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bg1">
                  <a:lumMod val="95000"/>
                </a:schemeClr>
              </a:solidFill>
            </a:endParaRPr>
          </a:p>
        </p:txBody>
      </p:sp>
      <p:sp>
        <p:nvSpPr>
          <p:cNvPr id="9" name="Rectangle 8">
            <a:extLst>
              <a:ext uri="{FF2B5EF4-FFF2-40B4-BE49-F238E27FC236}">
                <a16:creationId xmlns:a16="http://schemas.microsoft.com/office/drawing/2014/main" id="{10782DED-E3BA-FB36-43E4-81DBB440C37C}"/>
              </a:ext>
              <a:ext uri="{C183D7F6-B498-43B3-948B-1728B52AA6E4}">
                <adec:decorative xmlns:adec="http://schemas.microsoft.com/office/drawing/2017/decorative" val="1"/>
              </a:ext>
            </a:extLst>
          </p:cNvPr>
          <p:cNvSpPr/>
          <p:nvPr userDrawn="1"/>
        </p:nvSpPr>
        <p:spPr>
          <a:xfrm>
            <a:off x="6411564" y="4011416"/>
            <a:ext cx="2373810" cy="110198"/>
          </a:xfrm>
          <a:prstGeom prst="rect">
            <a:avLst/>
          </a:prstGeom>
          <a:gradFill>
            <a:gsLst>
              <a:gs pos="0">
                <a:schemeClr val="tx1"/>
              </a:gs>
              <a:gs pos="97000">
                <a:schemeClr val="accent3"/>
              </a:gs>
              <a:gs pos="48000">
                <a:schemeClr val="accent2"/>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bg1">
                  <a:lumMod val="95000"/>
                </a:schemeClr>
              </a:solidFill>
            </a:endParaRPr>
          </a:p>
        </p:txBody>
      </p:sp>
      <p:sp>
        <p:nvSpPr>
          <p:cNvPr id="10" name="Rectangle 9">
            <a:extLst>
              <a:ext uri="{FF2B5EF4-FFF2-40B4-BE49-F238E27FC236}">
                <a16:creationId xmlns:a16="http://schemas.microsoft.com/office/drawing/2014/main" id="{00D478D9-E1B0-6465-A4AE-A5FCFD483B88}"/>
              </a:ext>
              <a:ext uri="{C183D7F6-B498-43B3-948B-1728B52AA6E4}">
                <adec:decorative xmlns:adec="http://schemas.microsoft.com/office/drawing/2017/decorative" val="1"/>
              </a:ext>
            </a:extLst>
          </p:cNvPr>
          <p:cNvSpPr/>
          <p:nvPr userDrawn="1"/>
        </p:nvSpPr>
        <p:spPr>
          <a:xfrm>
            <a:off x="9138122" y="4011416"/>
            <a:ext cx="2373810" cy="110198"/>
          </a:xfrm>
          <a:prstGeom prst="rect">
            <a:avLst/>
          </a:prstGeom>
          <a:gradFill>
            <a:gsLst>
              <a:gs pos="0">
                <a:schemeClr val="tx1"/>
              </a:gs>
              <a:gs pos="97000">
                <a:schemeClr val="accent3"/>
              </a:gs>
              <a:gs pos="48000">
                <a:schemeClr val="accent2"/>
              </a:gs>
            </a:gsLst>
            <a:lin ang="216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bg1">
                  <a:lumMod val="95000"/>
                </a:schemeClr>
              </a:solidFill>
            </a:endParaRPr>
          </a:p>
        </p:txBody>
      </p:sp>
      <p:sp>
        <p:nvSpPr>
          <p:cNvPr id="37" name="Title 1">
            <a:extLst>
              <a:ext uri="{FF2B5EF4-FFF2-40B4-BE49-F238E27FC236}">
                <a16:creationId xmlns:a16="http://schemas.microsoft.com/office/drawing/2014/main" id="{B7E68036-CDBD-FEF5-260D-DF24C6FF3906}"/>
              </a:ext>
            </a:extLst>
          </p:cNvPr>
          <p:cNvSpPr>
            <a:spLocks noGrp="1"/>
          </p:cNvSpPr>
          <p:nvPr>
            <p:ph type="title"/>
          </p:nvPr>
        </p:nvSpPr>
        <p:spPr>
          <a:xfrm>
            <a:off x="914400" y="758952"/>
            <a:ext cx="10515600" cy="1325563"/>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44EA6892-F10F-164E-5109-ED84CE738A8B}"/>
              </a:ext>
            </a:extLst>
          </p:cNvPr>
          <p:cNvSpPr>
            <a:spLocks noGrp="1"/>
          </p:cNvSpPr>
          <p:nvPr>
            <p:ph type="ftr" sz="quarter" idx="11"/>
          </p:nvPr>
        </p:nvSpPr>
        <p:spPr>
          <a:xfrm>
            <a:off x="343963" y="121602"/>
            <a:ext cx="4114800" cy="217173"/>
          </a:xfrm>
        </p:spPr>
        <p:txBody>
          <a:bodyPr/>
          <a:lstStyle/>
          <a:p>
            <a:r>
              <a:rPr lang="en-US" dirty="0"/>
              <a:t>Biological &amp; Physical Sciences</a:t>
            </a:r>
          </a:p>
        </p:txBody>
      </p:sp>
      <p:sp>
        <p:nvSpPr>
          <p:cNvPr id="7" name="Slide Number Placeholder 6">
            <a:extLst>
              <a:ext uri="{FF2B5EF4-FFF2-40B4-BE49-F238E27FC236}">
                <a16:creationId xmlns:a16="http://schemas.microsoft.com/office/drawing/2014/main" id="{828D13AE-FD08-9C1F-6E91-5682E73EC069}"/>
              </a:ext>
            </a:extLst>
          </p:cNvPr>
          <p:cNvSpPr>
            <a:spLocks noGrp="1"/>
          </p:cNvSpPr>
          <p:nvPr>
            <p:ph type="sldNum" sz="quarter" idx="12"/>
          </p:nvPr>
        </p:nvSpPr>
        <p:spPr>
          <a:xfrm>
            <a:off x="11662148" y="99559"/>
            <a:ext cx="1059704" cy="261258"/>
          </a:xfrm>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119315888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 circle callou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89F04-8166-A3DC-744C-551C5EB8708A}"/>
              </a:ext>
            </a:extLst>
          </p:cNvPr>
          <p:cNvSpPr>
            <a:spLocks noGrp="1"/>
          </p:cNvSpPr>
          <p:nvPr>
            <p:ph type="title"/>
          </p:nvPr>
        </p:nvSpPr>
        <p:spPr>
          <a:xfrm>
            <a:off x="914400" y="755930"/>
            <a:ext cx="10325100" cy="1325563"/>
          </a:xfrm>
        </p:spPr>
        <p:txBody>
          <a:bodyPr/>
          <a:lstStyle/>
          <a:p>
            <a:r>
              <a:rPr lang="en-US"/>
              <a:t>Click to edit Master title style</a:t>
            </a:r>
          </a:p>
        </p:txBody>
      </p:sp>
      <p:grpSp>
        <p:nvGrpSpPr>
          <p:cNvPr id="6" name="그룹 1281">
            <a:extLst>
              <a:ext uri="{FF2B5EF4-FFF2-40B4-BE49-F238E27FC236}">
                <a16:creationId xmlns:a16="http://schemas.microsoft.com/office/drawing/2014/main" id="{65B4D3AB-B0EE-820C-F332-86B9B4FF4D7D}"/>
              </a:ext>
            </a:extLst>
          </p:cNvPr>
          <p:cNvGrpSpPr/>
          <p:nvPr userDrawn="1"/>
        </p:nvGrpSpPr>
        <p:grpSpPr>
          <a:xfrm>
            <a:off x="1143000" y="2505297"/>
            <a:ext cx="10056459" cy="2238357"/>
            <a:chOff x="1073086" y="2710034"/>
            <a:chExt cx="10056459" cy="2238357"/>
          </a:xfrm>
        </p:grpSpPr>
        <p:sp>
          <p:nvSpPr>
            <p:cNvPr id="8" name="Oval 6">
              <a:extLst>
                <a:ext uri="{FF2B5EF4-FFF2-40B4-BE49-F238E27FC236}">
                  <a16:creationId xmlns:a16="http://schemas.microsoft.com/office/drawing/2014/main" id="{1F23A632-C958-B035-7D29-4E36C3A8D927}"/>
                </a:ext>
              </a:extLst>
            </p:cNvPr>
            <p:cNvSpPr/>
            <p:nvPr/>
          </p:nvSpPr>
          <p:spPr>
            <a:xfrm rot="7200000" flipH="1">
              <a:off x="3914385" y="3078946"/>
              <a:ext cx="864000" cy="1564691"/>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accent5"/>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9" name="Oval 6">
              <a:extLst>
                <a:ext uri="{FF2B5EF4-FFF2-40B4-BE49-F238E27FC236}">
                  <a16:creationId xmlns:a16="http://schemas.microsoft.com/office/drawing/2014/main" id="{918FE6A1-233A-7F39-8799-6BFEF9149E32}"/>
                </a:ext>
              </a:extLst>
            </p:cNvPr>
            <p:cNvSpPr/>
            <p:nvPr/>
          </p:nvSpPr>
          <p:spPr>
            <a:xfrm rot="7200000" flipH="1">
              <a:off x="7460429" y="3078946"/>
              <a:ext cx="864000" cy="1564691"/>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accent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Oval 6">
              <a:extLst>
                <a:ext uri="{FF2B5EF4-FFF2-40B4-BE49-F238E27FC236}">
                  <a16:creationId xmlns:a16="http://schemas.microsoft.com/office/drawing/2014/main" id="{7E0B8266-3454-DEDE-28C4-30473AD029FF}"/>
                </a:ext>
              </a:extLst>
            </p:cNvPr>
            <p:cNvSpPr/>
            <p:nvPr/>
          </p:nvSpPr>
          <p:spPr>
            <a:xfrm rot="14400000">
              <a:off x="2141363" y="3078946"/>
              <a:ext cx="864000" cy="1564691"/>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accent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Oval 5">
              <a:extLst>
                <a:ext uri="{FF2B5EF4-FFF2-40B4-BE49-F238E27FC236}">
                  <a16:creationId xmlns:a16="http://schemas.microsoft.com/office/drawing/2014/main" id="{3229B04E-61C5-C43D-3D60-E218AEF16C01}"/>
                </a:ext>
              </a:extLst>
            </p:cNvPr>
            <p:cNvSpPr/>
            <p:nvPr/>
          </p:nvSpPr>
          <p:spPr>
            <a:xfrm>
              <a:off x="1073086" y="3714353"/>
              <a:ext cx="1234037" cy="1234038"/>
            </a:xfrm>
            <a:prstGeom prst="ellipse">
              <a:avLst/>
            </a:prstGeom>
            <a:solidFill>
              <a:schemeClr val="accent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12" name="타원 1286">
              <a:extLst>
                <a:ext uri="{FF2B5EF4-FFF2-40B4-BE49-F238E27FC236}">
                  <a16:creationId xmlns:a16="http://schemas.microsoft.com/office/drawing/2014/main" id="{2EA6EF24-8749-8BEF-326C-C125ACB2C20A}"/>
                </a:ext>
              </a:extLst>
            </p:cNvPr>
            <p:cNvSpPr/>
            <p:nvPr/>
          </p:nvSpPr>
          <p:spPr>
            <a:xfrm>
              <a:off x="1137335" y="3805137"/>
              <a:ext cx="1105538" cy="1052470"/>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800">
                <a:solidFill>
                  <a:schemeClr val="tx1">
                    <a:lumMod val="65000"/>
                    <a:lumOff val="35000"/>
                  </a:schemeClr>
                </a:solidFill>
              </a:endParaRPr>
            </a:p>
          </p:txBody>
        </p:sp>
        <p:sp>
          <p:nvSpPr>
            <p:cNvPr id="13" name="Oval 15">
              <a:extLst>
                <a:ext uri="{FF2B5EF4-FFF2-40B4-BE49-F238E27FC236}">
                  <a16:creationId xmlns:a16="http://schemas.microsoft.com/office/drawing/2014/main" id="{454E25E1-F59A-FADC-CD3F-CA7A84CCA1E2}"/>
                </a:ext>
              </a:extLst>
            </p:cNvPr>
            <p:cNvSpPr/>
            <p:nvPr/>
          </p:nvSpPr>
          <p:spPr>
            <a:xfrm>
              <a:off x="2837570" y="2710034"/>
              <a:ext cx="1234037" cy="1234038"/>
            </a:xfrm>
            <a:prstGeom prst="ellipse">
              <a:avLst/>
            </a:prstGeom>
            <a:solidFill>
              <a:schemeClr val="accent5"/>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4" name="Oval 6">
              <a:extLst>
                <a:ext uri="{FF2B5EF4-FFF2-40B4-BE49-F238E27FC236}">
                  <a16:creationId xmlns:a16="http://schemas.microsoft.com/office/drawing/2014/main" id="{FDA8283F-32E9-CA15-A705-995234E96ECB}"/>
                </a:ext>
              </a:extLst>
            </p:cNvPr>
            <p:cNvSpPr/>
            <p:nvPr/>
          </p:nvSpPr>
          <p:spPr>
            <a:xfrm rot="14400000">
              <a:off x="9209572" y="3041001"/>
              <a:ext cx="864000" cy="1564691"/>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5" name="Oval 6">
              <a:extLst>
                <a:ext uri="{FF2B5EF4-FFF2-40B4-BE49-F238E27FC236}">
                  <a16:creationId xmlns:a16="http://schemas.microsoft.com/office/drawing/2014/main" id="{6613845B-FD2D-2942-2DAB-3AB4C444161F}"/>
                </a:ext>
              </a:extLst>
            </p:cNvPr>
            <p:cNvSpPr/>
            <p:nvPr/>
          </p:nvSpPr>
          <p:spPr>
            <a:xfrm rot="14400000">
              <a:off x="5687407" y="3078946"/>
              <a:ext cx="864000" cy="1564691"/>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6" name="Oval 5">
              <a:extLst>
                <a:ext uri="{FF2B5EF4-FFF2-40B4-BE49-F238E27FC236}">
                  <a16:creationId xmlns:a16="http://schemas.microsoft.com/office/drawing/2014/main" id="{D2062A16-1962-16F4-8023-92D9AE84B52E}"/>
                </a:ext>
              </a:extLst>
            </p:cNvPr>
            <p:cNvSpPr/>
            <p:nvPr/>
          </p:nvSpPr>
          <p:spPr>
            <a:xfrm>
              <a:off x="4602054" y="3714353"/>
              <a:ext cx="1234037" cy="1234038"/>
            </a:xfrm>
            <a:prstGeom prst="ellipse">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7" name="Oval 15">
              <a:extLst>
                <a:ext uri="{FF2B5EF4-FFF2-40B4-BE49-F238E27FC236}">
                  <a16:creationId xmlns:a16="http://schemas.microsoft.com/office/drawing/2014/main" id="{0ABE85E6-8EEE-628D-159D-8DE52BB344E7}"/>
                </a:ext>
              </a:extLst>
            </p:cNvPr>
            <p:cNvSpPr/>
            <p:nvPr/>
          </p:nvSpPr>
          <p:spPr>
            <a:xfrm>
              <a:off x="6366538" y="2710034"/>
              <a:ext cx="1234037" cy="1234038"/>
            </a:xfrm>
            <a:prstGeom prst="ellipse">
              <a:avLst/>
            </a:prstGeom>
            <a:solidFill>
              <a:schemeClr val="accent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18" name="Oval 18">
              <a:extLst>
                <a:ext uri="{FF2B5EF4-FFF2-40B4-BE49-F238E27FC236}">
                  <a16:creationId xmlns:a16="http://schemas.microsoft.com/office/drawing/2014/main" id="{8B1831B6-1987-F685-D305-1DFA4F6D16E4}"/>
                </a:ext>
              </a:extLst>
            </p:cNvPr>
            <p:cNvSpPr/>
            <p:nvPr/>
          </p:nvSpPr>
          <p:spPr>
            <a:xfrm>
              <a:off x="8131022" y="3714353"/>
              <a:ext cx="1234037" cy="1234038"/>
            </a:xfrm>
            <a:prstGeom prst="ellipse">
              <a:avLst/>
            </a:prstGeom>
            <a:solidFill>
              <a:schemeClr val="accent2"/>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19" name="Oval 21">
              <a:extLst>
                <a:ext uri="{FF2B5EF4-FFF2-40B4-BE49-F238E27FC236}">
                  <a16:creationId xmlns:a16="http://schemas.microsoft.com/office/drawing/2014/main" id="{753C5383-B157-55FB-8CE2-7456440E869D}"/>
                </a:ext>
              </a:extLst>
            </p:cNvPr>
            <p:cNvSpPr/>
            <p:nvPr/>
          </p:nvSpPr>
          <p:spPr>
            <a:xfrm>
              <a:off x="9895508" y="2710034"/>
              <a:ext cx="1234037" cy="1234038"/>
            </a:xfrm>
            <a:prstGeom prst="ellipse">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1" name="타원 1295">
              <a:extLst>
                <a:ext uri="{FF2B5EF4-FFF2-40B4-BE49-F238E27FC236}">
                  <a16:creationId xmlns:a16="http://schemas.microsoft.com/office/drawing/2014/main" id="{BB2B1159-F287-F4D0-972D-AEB57CCA3AC0}"/>
                </a:ext>
              </a:extLst>
            </p:cNvPr>
            <p:cNvSpPr/>
            <p:nvPr/>
          </p:nvSpPr>
          <p:spPr>
            <a:xfrm>
              <a:off x="2901819" y="2800818"/>
              <a:ext cx="1105538" cy="1052470"/>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800">
                <a:solidFill>
                  <a:schemeClr val="accent5"/>
                </a:solidFill>
              </a:endParaRPr>
            </a:p>
          </p:txBody>
        </p:sp>
        <p:sp>
          <p:nvSpPr>
            <p:cNvPr id="22" name="타원 1296">
              <a:extLst>
                <a:ext uri="{FF2B5EF4-FFF2-40B4-BE49-F238E27FC236}">
                  <a16:creationId xmlns:a16="http://schemas.microsoft.com/office/drawing/2014/main" id="{3D44CC5B-C0AF-D2C2-BE76-D065ED9D3A38}"/>
                </a:ext>
              </a:extLst>
            </p:cNvPr>
            <p:cNvSpPr/>
            <p:nvPr/>
          </p:nvSpPr>
          <p:spPr>
            <a:xfrm>
              <a:off x="6430787" y="2800818"/>
              <a:ext cx="1105538" cy="1052470"/>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800">
                <a:solidFill>
                  <a:schemeClr val="tx1">
                    <a:lumMod val="65000"/>
                    <a:lumOff val="35000"/>
                  </a:schemeClr>
                </a:solidFill>
              </a:endParaRPr>
            </a:p>
          </p:txBody>
        </p:sp>
        <p:sp>
          <p:nvSpPr>
            <p:cNvPr id="23" name="타원 1297">
              <a:extLst>
                <a:ext uri="{FF2B5EF4-FFF2-40B4-BE49-F238E27FC236}">
                  <a16:creationId xmlns:a16="http://schemas.microsoft.com/office/drawing/2014/main" id="{8E47600E-B996-E6EC-B833-93E90D5A2297}"/>
                </a:ext>
              </a:extLst>
            </p:cNvPr>
            <p:cNvSpPr/>
            <p:nvPr/>
          </p:nvSpPr>
          <p:spPr>
            <a:xfrm>
              <a:off x="9955227" y="2800818"/>
              <a:ext cx="1105538" cy="1052470"/>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800">
                <a:solidFill>
                  <a:schemeClr val="tx1">
                    <a:lumMod val="65000"/>
                    <a:lumOff val="35000"/>
                  </a:schemeClr>
                </a:solidFill>
              </a:endParaRPr>
            </a:p>
          </p:txBody>
        </p:sp>
        <p:sp>
          <p:nvSpPr>
            <p:cNvPr id="24" name="타원 1298">
              <a:extLst>
                <a:ext uri="{FF2B5EF4-FFF2-40B4-BE49-F238E27FC236}">
                  <a16:creationId xmlns:a16="http://schemas.microsoft.com/office/drawing/2014/main" id="{047F897C-36C1-5E05-CC89-EBDFB90F4035}"/>
                </a:ext>
              </a:extLst>
            </p:cNvPr>
            <p:cNvSpPr/>
            <p:nvPr/>
          </p:nvSpPr>
          <p:spPr>
            <a:xfrm>
              <a:off x="8195271" y="3805137"/>
              <a:ext cx="1105538" cy="1052470"/>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800">
                <a:solidFill>
                  <a:schemeClr val="tx1">
                    <a:lumMod val="65000"/>
                    <a:lumOff val="35000"/>
                  </a:schemeClr>
                </a:solidFill>
              </a:endParaRPr>
            </a:p>
          </p:txBody>
        </p:sp>
        <p:sp>
          <p:nvSpPr>
            <p:cNvPr id="25" name="타원 1299">
              <a:extLst>
                <a:ext uri="{FF2B5EF4-FFF2-40B4-BE49-F238E27FC236}">
                  <a16:creationId xmlns:a16="http://schemas.microsoft.com/office/drawing/2014/main" id="{54EBFDB8-3C81-B0D3-B25E-E3CC580BDD36}"/>
                </a:ext>
              </a:extLst>
            </p:cNvPr>
            <p:cNvSpPr/>
            <p:nvPr/>
          </p:nvSpPr>
          <p:spPr>
            <a:xfrm>
              <a:off x="4666303" y="3805137"/>
              <a:ext cx="1105538" cy="1052470"/>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800">
                <a:solidFill>
                  <a:schemeClr val="tx1">
                    <a:lumMod val="65000"/>
                    <a:lumOff val="35000"/>
                  </a:schemeClr>
                </a:solidFill>
              </a:endParaRPr>
            </a:p>
          </p:txBody>
        </p:sp>
      </p:grpSp>
      <p:sp>
        <p:nvSpPr>
          <p:cNvPr id="32" name="Text Placeholder 31">
            <a:extLst>
              <a:ext uri="{FF2B5EF4-FFF2-40B4-BE49-F238E27FC236}">
                <a16:creationId xmlns:a16="http://schemas.microsoft.com/office/drawing/2014/main" id="{17B16F72-40BA-E998-2257-D54EE6CEBAEE}"/>
              </a:ext>
            </a:extLst>
          </p:cNvPr>
          <p:cNvSpPr>
            <a:spLocks noGrp="1"/>
          </p:cNvSpPr>
          <p:nvPr>
            <p:ph type="body" sz="quarter" idx="12" hasCustomPrompt="1"/>
          </p:nvPr>
        </p:nvSpPr>
        <p:spPr>
          <a:xfrm>
            <a:off x="1143000" y="3648297"/>
            <a:ext cx="1143000" cy="990600"/>
          </a:xfrm>
        </p:spPr>
        <p:txBody>
          <a:bodyPr anchor="ctr">
            <a:normAutofit/>
          </a:bodyPr>
          <a:lstStyle>
            <a:lvl1pPr marL="0" indent="0" algn="ctr">
              <a:lnSpc>
                <a:spcPct val="85000"/>
              </a:lnSpc>
              <a:spcBef>
                <a:spcPts val="0"/>
              </a:spcBef>
              <a:buNone/>
              <a:defRPr sz="1600" b="1"/>
            </a:lvl1pPr>
          </a:lstStyle>
          <a:p>
            <a:pPr lvl="0"/>
            <a:r>
              <a:rPr lang="en-US" dirty="0"/>
              <a:t>Text</a:t>
            </a:r>
          </a:p>
        </p:txBody>
      </p:sp>
      <p:sp>
        <p:nvSpPr>
          <p:cNvPr id="33" name="Text Placeholder 31">
            <a:extLst>
              <a:ext uri="{FF2B5EF4-FFF2-40B4-BE49-F238E27FC236}">
                <a16:creationId xmlns:a16="http://schemas.microsoft.com/office/drawing/2014/main" id="{AAB8F30F-2FFC-20DD-A8F6-71024DC03C1C}"/>
              </a:ext>
            </a:extLst>
          </p:cNvPr>
          <p:cNvSpPr>
            <a:spLocks noGrp="1"/>
          </p:cNvSpPr>
          <p:nvPr>
            <p:ph type="body" sz="quarter" idx="13" hasCustomPrompt="1"/>
          </p:nvPr>
        </p:nvSpPr>
        <p:spPr>
          <a:xfrm>
            <a:off x="2971800" y="2657697"/>
            <a:ext cx="1143000" cy="990600"/>
          </a:xfrm>
        </p:spPr>
        <p:txBody>
          <a:bodyPr anchor="ctr">
            <a:normAutofit/>
          </a:bodyPr>
          <a:lstStyle>
            <a:lvl1pPr marL="0" indent="0" algn="ctr">
              <a:lnSpc>
                <a:spcPct val="85000"/>
              </a:lnSpc>
              <a:spcBef>
                <a:spcPts val="0"/>
              </a:spcBef>
              <a:buNone/>
              <a:defRPr sz="1600" b="1"/>
            </a:lvl1pPr>
          </a:lstStyle>
          <a:p>
            <a:pPr lvl="0"/>
            <a:r>
              <a:rPr lang="en-US" dirty="0"/>
              <a:t>Text</a:t>
            </a:r>
          </a:p>
        </p:txBody>
      </p:sp>
      <p:sp>
        <p:nvSpPr>
          <p:cNvPr id="34" name="Text Placeholder 31">
            <a:extLst>
              <a:ext uri="{FF2B5EF4-FFF2-40B4-BE49-F238E27FC236}">
                <a16:creationId xmlns:a16="http://schemas.microsoft.com/office/drawing/2014/main" id="{9BFAAFBE-22E7-798D-C75E-C8E828921180}"/>
              </a:ext>
            </a:extLst>
          </p:cNvPr>
          <p:cNvSpPr>
            <a:spLocks noGrp="1"/>
          </p:cNvSpPr>
          <p:nvPr>
            <p:ph type="body" sz="quarter" idx="14" hasCustomPrompt="1"/>
          </p:nvPr>
        </p:nvSpPr>
        <p:spPr>
          <a:xfrm>
            <a:off x="4724400" y="3648297"/>
            <a:ext cx="1143000" cy="990600"/>
          </a:xfrm>
        </p:spPr>
        <p:txBody>
          <a:bodyPr anchor="ctr">
            <a:normAutofit/>
          </a:bodyPr>
          <a:lstStyle>
            <a:lvl1pPr marL="0" indent="0" algn="ctr">
              <a:lnSpc>
                <a:spcPct val="85000"/>
              </a:lnSpc>
              <a:spcBef>
                <a:spcPts val="0"/>
              </a:spcBef>
              <a:buNone/>
              <a:defRPr sz="1600" b="1">
                <a:solidFill>
                  <a:schemeClr val="bg2">
                    <a:lumMod val="50000"/>
                  </a:schemeClr>
                </a:solidFill>
              </a:defRPr>
            </a:lvl1pPr>
          </a:lstStyle>
          <a:p>
            <a:pPr lvl="0"/>
            <a:r>
              <a:rPr lang="en-US" dirty="0"/>
              <a:t>Text</a:t>
            </a:r>
          </a:p>
        </p:txBody>
      </p:sp>
      <p:sp>
        <p:nvSpPr>
          <p:cNvPr id="35" name="Text Placeholder 31">
            <a:extLst>
              <a:ext uri="{FF2B5EF4-FFF2-40B4-BE49-F238E27FC236}">
                <a16:creationId xmlns:a16="http://schemas.microsoft.com/office/drawing/2014/main" id="{AB5386A6-EBCF-BE3F-9C99-5AC05501DAA9}"/>
              </a:ext>
            </a:extLst>
          </p:cNvPr>
          <p:cNvSpPr>
            <a:spLocks noGrp="1"/>
          </p:cNvSpPr>
          <p:nvPr>
            <p:ph type="body" sz="quarter" idx="15" hasCustomPrompt="1"/>
          </p:nvPr>
        </p:nvSpPr>
        <p:spPr>
          <a:xfrm>
            <a:off x="6477000" y="2657697"/>
            <a:ext cx="1143000" cy="990600"/>
          </a:xfrm>
        </p:spPr>
        <p:txBody>
          <a:bodyPr anchor="ctr">
            <a:normAutofit/>
          </a:bodyPr>
          <a:lstStyle>
            <a:lvl1pPr marL="0" indent="0" algn="ctr">
              <a:lnSpc>
                <a:spcPct val="85000"/>
              </a:lnSpc>
              <a:spcBef>
                <a:spcPts val="0"/>
              </a:spcBef>
              <a:buNone/>
              <a:defRPr sz="1600" b="1">
                <a:solidFill>
                  <a:schemeClr val="accent3">
                    <a:lumMod val="75000"/>
                  </a:schemeClr>
                </a:solidFill>
              </a:defRPr>
            </a:lvl1pPr>
          </a:lstStyle>
          <a:p>
            <a:pPr lvl="0"/>
            <a:r>
              <a:rPr lang="en-US" dirty="0"/>
              <a:t>Text</a:t>
            </a:r>
          </a:p>
        </p:txBody>
      </p:sp>
      <p:sp>
        <p:nvSpPr>
          <p:cNvPr id="36" name="Text Placeholder 31">
            <a:extLst>
              <a:ext uri="{FF2B5EF4-FFF2-40B4-BE49-F238E27FC236}">
                <a16:creationId xmlns:a16="http://schemas.microsoft.com/office/drawing/2014/main" id="{8FF922E3-5C68-F6E3-0485-A0E67CC88D80}"/>
              </a:ext>
            </a:extLst>
          </p:cNvPr>
          <p:cNvSpPr>
            <a:spLocks noGrp="1"/>
          </p:cNvSpPr>
          <p:nvPr>
            <p:ph type="body" sz="quarter" idx="16" hasCustomPrompt="1"/>
          </p:nvPr>
        </p:nvSpPr>
        <p:spPr>
          <a:xfrm>
            <a:off x="8229600" y="3648297"/>
            <a:ext cx="1143000" cy="990600"/>
          </a:xfrm>
        </p:spPr>
        <p:txBody>
          <a:bodyPr anchor="ctr">
            <a:normAutofit/>
          </a:bodyPr>
          <a:lstStyle>
            <a:lvl1pPr marL="0" indent="0" algn="ctr">
              <a:lnSpc>
                <a:spcPct val="85000"/>
              </a:lnSpc>
              <a:spcBef>
                <a:spcPts val="0"/>
              </a:spcBef>
              <a:buNone/>
              <a:defRPr sz="1600" b="1">
                <a:solidFill>
                  <a:schemeClr val="accent5"/>
                </a:solidFill>
              </a:defRPr>
            </a:lvl1pPr>
          </a:lstStyle>
          <a:p>
            <a:pPr lvl="0"/>
            <a:r>
              <a:rPr lang="en-US" dirty="0"/>
              <a:t>Text</a:t>
            </a:r>
          </a:p>
        </p:txBody>
      </p:sp>
      <p:sp>
        <p:nvSpPr>
          <p:cNvPr id="37" name="Text Placeholder 31">
            <a:extLst>
              <a:ext uri="{FF2B5EF4-FFF2-40B4-BE49-F238E27FC236}">
                <a16:creationId xmlns:a16="http://schemas.microsoft.com/office/drawing/2014/main" id="{C910256D-A8C2-E46B-A929-3267D33AA46D}"/>
              </a:ext>
            </a:extLst>
          </p:cNvPr>
          <p:cNvSpPr>
            <a:spLocks noGrp="1"/>
          </p:cNvSpPr>
          <p:nvPr>
            <p:ph type="body" sz="quarter" idx="17" hasCustomPrompt="1"/>
          </p:nvPr>
        </p:nvSpPr>
        <p:spPr>
          <a:xfrm>
            <a:off x="9982200" y="2657697"/>
            <a:ext cx="1143000" cy="990600"/>
          </a:xfrm>
        </p:spPr>
        <p:txBody>
          <a:bodyPr anchor="ctr">
            <a:normAutofit/>
          </a:bodyPr>
          <a:lstStyle>
            <a:lvl1pPr marL="0" indent="0" algn="ctr">
              <a:lnSpc>
                <a:spcPct val="85000"/>
              </a:lnSpc>
              <a:spcBef>
                <a:spcPts val="0"/>
              </a:spcBef>
              <a:buNone/>
              <a:defRPr sz="1600" b="1">
                <a:solidFill>
                  <a:schemeClr val="tx1"/>
                </a:solidFill>
              </a:defRPr>
            </a:lvl1pPr>
          </a:lstStyle>
          <a:p>
            <a:pPr lvl="0"/>
            <a:r>
              <a:rPr lang="en-US" dirty="0"/>
              <a:t>Text</a:t>
            </a:r>
          </a:p>
        </p:txBody>
      </p:sp>
      <p:sp>
        <p:nvSpPr>
          <p:cNvPr id="39" name="Text Placeholder 38">
            <a:extLst>
              <a:ext uri="{FF2B5EF4-FFF2-40B4-BE49-F238E27FC236}">
                <a16:creationId xmlns:a16="http://schemas.microsoft.com/office/drawing/2014/main" id="{0C26EF43-A591-ACB9-95D5-D2A6C44F70EB}"/>
              </a:ext>
            </a:extLst>
          </p:cNvPr>
          <p:cNvSpPr>
            <a:spLocks noGrp="1"/>
          </p:cNvSpPr>
          <p:nvPr>
            <p:ph type="body" sz="quarter" idx="18" hasCustomPrompt="1"/>
          </p:nvPr>
        </p:nvSpPr>
        <p:spPr>
          <a:xfrm>
            <a:off x="914400" y="4867497"/>
            <a:ext cx="1524000" cy="1676400"/>
          </a:xfrm>
        </p:spPr>
        <p:txBody>
          <a:bodyPr>
            <a:noAutofit/>
          </a:bodyPr>
          <a:lstStyle>
            <a:lvl1pPr marL="0" indent="-91440" algn="ctr">
              <a:lnSpc>
                <a:spcPct val="85000"/>
              </a:lnSpc>
              <a:spcBef>
                <a:spcPts val="0"/>
              </a:spcBef>
              <a:spcAft>
                <a:spcPts val="600"/>
              </a:spcAft>
              <a:buFont typeface="Arial" panose="020B0604020202020204" pitchFamily="34" charset="0"/>
              <a:buChar char="•"/>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here to add text </a:t>
            </a:r>
          </a:p>
        </p:txBody>
      </p:sp>
      <p:sp>
        <p:nvSpPr>
          <p:cNvPr id="42" name="Text Placeholder 38">
            <a:extLst>
              <a:ext uri="{FF2B5EF4-FFF2-40B4-BE49-F238E27FC236}">
                <a16:creationId xmlns:a16="http://schemas.microsoft.com/office/drawing/2014/main" id="{F2B1CEAB-5243-EF63-89D5-ADA49AA64D68}"/>
              </a:ext>
            </a:extLst>
          </p:cNvPr>
          <p:cNvSpPr>
            <a:spLocks noGrp="1"/>
          </p:cNvSpPr>
          <p:nvPr>
            <p:ph type="body" sz="quarter" idx="19" hasCustomPrompt="1"/>
          </p:nvPr>
        </p:nvSpPr>
        <p:spPr>
          <a:xfrm>
            <a:off x="2590800" y="3876897"/>
            <a:ext cx="1828800" cy="1828800"/>
          </a:xfrm>
        </p:spPr>
        <p:txBody>
          <a:bodyPr>
            <a:noAutofit/>
          </a:bodyPr>
          <a:lstStyle>
            <a:lvl1pPr marL="0" indent="-91440" algn="ctr">
              <a:lnSpc>
                <a:spcPct val="85000"/>
              </a:lnSpc>
              <a:spcBef>
                <a:spcPts val="0"/>
              </a:spcBef>
              <a:spcAft>
                <a:spcPts val="600"/>
              </a:spcAft>
              <a:buFont typeface="Arial" panose="020B0604020202020204" pitchFamily="34" charset="0"/>
              <a:buChar char="•"/>
              <a:defRPr sz="1400">
                <a:solidFill>
                  <a:schemeClr val="accent5"/>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here to add text </a:t>
            </a:r>
          </a:p>
        </p:txBody>
      </p:sp>
      <p:sp>
        <p:nvSpPr>
          <p:cNvPr id="43" name="Text Placeholder 38">
            <a:extLst>
              <a:ext uri="{FF2B5EF4-FFF2-40B4-BE49-F238E27FC236}">
                <a16:creationId xmlns:a16="http://schemas.microsoft.com/office/drawing/2014/main" id="{CDEDCD72-ECA0-F2D7-EC03-81843D0246E4}"/>
              </a:ext>
            </a:extLst>
          </p:cNvPr>
          <p:cNvSpPr>
            <a:spLocks noGrp="1"/>
          </p:cNvSpPr>
          <p:nvPr>
            <p:ph type="body" sz="quarter" idx="20" hasCustomPrompt="1"/>
          </p:nvPr>
        </p:nvSpPr>
        <p:spPr>
          <a:xfrm>
            <a:off x="4495800" y="4867497"/>
            <a:ext cx="1524000" cy="1676400"/>
          </a:xfrm>
        </p:spPr>
        <p:txBody>
          <a:bodyPr>
            <a:noAutofit/>
          </a:bodyPr>
          <a:lstStyle>
            <a:lvl1pPr marL="0" indent="-91440" algn="ctr">
              <a:lnSpc>
                <a:spcPct val="85000"/>
              </a:lnSpc>
              <a:spcBef>
                <a:spcPts val="0"/>
              </a:spcBef>
              <a:spcAft>
                <a:spcPts val="600"/>
              </a:spcAft>
              <a:buFont typeface="Arial" panose="020B0604020202020204" pitchFamily="34" charset="0"/>
              <a:buChar char="•"/>
              <a:defRPr sz="1400">
                <a:solidFill>
                  <a:schemeClr val="bg2">
                    <a:lumMod val="50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here to add text </a:t>
            </a:r>
          </a:p>
        </p:txBody>
      </p:sp>
      <p:sp>
        <p:nvSpPr>
          <p:cNvPr id="44" name="Text Placeholder 38">
            <a:extLst>
              <a:ext uri="{FF2B5EF4-FFF2-40B4-BE49-F238E27FC236}">
                <a16:creationId xmlns:a16="http://schemas.microsoft.com/office/drawing/2014/main" id="{2E0ED554-E380-3678-D783-DD39A1074860}"/>
              </a:ext>
            </a:extLst>
          </p:cNvPr>
          <p:cNvSpPr>
            <a:spLocks noGrp="1"/>
          </p:cNvSpPr>
          <p:nvPr>
            <p:ph type="body" sz="quarter" idx="21" hasCustomPrompt="1"/>
          </p:nvPr>
        </p:nvSpPr>
        <p:spPr>
          <a:xfrm>
            <a:off x="6172200" y="3876897"/>
            <a:ext cx="1828800" cy="1828800"/>
          </a:xfrm>
        </p:spPr>
        <p:txBody>
          <a:bodyPr>
            <a:noAutofit/>
          </a:bodyPr>
          <a:lstStyle>
            <a:lvl1pPr marL="0" indent="-91440" algn="ctr">
              <a:lnSpc>
                <a:spcPct val="85000"/>
              </a:lnSpc>
              <a:spcBef>
                <a:spcPts val="0"/>
              </a:spcBef>
              <a:spcAft>
                <a:spcPts val="600"/>
              </a:spcAft>
              <a:buFont typeface="Arial" panose="020B0604020202020204" pitchFamily="34" charset="0"/>
              <a:buChar char="•"/>
              <a:defRPr sz="1400">
                <a:solidFill>
                  <a:schemeClr val="accent3">
                    <a:lumMod val="7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here to add text </a:t>
            </a:r>
          </a:p>
        </p:txBody>
      </p:sp>
      <p:sp>
        <p:nvSpPr>
          <p:cNvPr id="45" name="Text Placeholder 38">
            <a:extLst>
              <a:ext uri="{FF2B5EF4-FFF2-40B4-BE49-F238E27FC236}">
                <a16:creationId xmlns:a16="http://schemas.microsoft.com/office/drawing/2014/main" id="{2DF7B12C-4A5F-2508-FCE7-35F125B54AD1}"/>
              </a:ext>
            </a:extLst>
          </p:cNvPr>
          <p:cNvSpPr>
            <a:spLocks noGrp="1"/>
          </p:cNvSpPr>
          <p:nvPr>
            <p:ph type="body" sz="quarter" idx="22" hasCustomPrompt="1"/>
          </p:nvPr>
        </p:nvSpPr>
        <p:spPr>
          <a:xfrm>
            <a:off x="9677400" y="3876897"/>
            <a:ext cx="1828800" cy="1828800"/>
          </a:xfrm>
        </p:spPr>
        <p:txBody>
          <a:bodyPr>
            <a:noAutofit/>
          </a:bodyPr>
          <a:lstStyle>
            <a:lvl1pPr marL="0" indent="-91440" algn="ctr">
              <a:lnSpc>
                <a:spcPct val="85000"/>
              </a:lnSpc>
              <a:spcBef>
                <a:spcPts val="0"/>
              </a:spcBef>
              <a:spcAft>
                <a:spcPts val="600"/>
              </a:spcAft>
              <a:buFont typeface="Arial" panose="020B0604020202020204" pitchFamily="34" charset="0"/>
              <a:buChar char="•"/>
              <a:defRPr sz="1400">
                <a:solidFill>
                  <a:schemeClr val="tx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here to add text </a:t>
            </a:r>
          </a:p>
        </p:txBody>
      </p:sp>
      <p:sp>
        <p:nvSpPr>
          <p:cNvPr id="46" name="Text Placeholder 38">
            <a:extLst>
              <a:ext uri="{FF2B5EF4-FFF2-40B4-BE49-F238E27FC236}">
                <a16:creationId xmlns:a16="http://schemas.microsoft.com/office/drawing/2014/main" id="{93AFFB44-33B2-D0D0-24B9-36F37009010E}"/>
              </a:ext>
            </a:extLst>
          </p:cNvPr>
          <p:cNvSpPr>
            <a:spLocks noGrp="1"/>
          </p:cNvSpPr>
          <p:nvPr>
            <p:ph type="body" sz="quarter" idx="23" hasCustomPrompt="1"/>
          </p:nvPr>
        </p:nvSpPr>
        <p:spPr>
          <a:xfrm>
            <a:off x="8077200" y="4867497"/>
            <a:ext cx="1524000" cy="1676400"/>
          </a:xfrm>
        </p:spPr>
        <p:txBody>
          <a:bodyPr>
            <a:noAutofit/>
          </a:bodyPr>
          <a:lstStyle>
            <a:lvl1pPr marL="0" indent="-91440" algn="ctr">
              <a:lnSpc>
                <a:spcPct val="85000"/>
              </a:lnSpc>
              <a:spcBef>
                <a:spcPts val="0"/>
              </a:spcBef>
              <a:spcAft>
                <a:spcPts val="600"/>
              </a:spcAft>
              <a:buFont typeface="Arial" panose="020B0604020202020204" pitchFamily="34" charset="0"/>
              <a:buChar char="•"/>
              <a:defRPr sz="1400">
                <a:solidFill>
                  <a:schemeClr val="accent5"/>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here to add text </a:t>
            </a:r>
          </a:p>
        </p:txBody>
      </p:sp>
      <p:sp>
        <p:nvSpPr>
          <p:cNvPr id="20" name="Footer Placeholder 5">
            <a:extLst>
              <a:ext uri="{FF2B5EF4-FFF2-40B4-BE49-F238E27FC236}">
                <a16:creationId xmlns:a16="http://schemas.microsoft.com/office/drawing/2014/main" id="{BE884C74-6A18-2B76-2CF5-D95B28456242}"/>
              </a:ext>
            </a:extLst>
          </p:cNvPr>
          <p:cNvSpPr>
            <a:spLocks noGrp="1"/>
          </p:cNvSpPr>
          <p:nvPr>
            <p:ph type="ftr" sz="quarter" idx="11"/>
          </p:nvPr>
        </p:nvSpPr>
        <p:spPr>
          <a:xfrm>
            <a:off x="343963" y="121602"/>
            <a:ext cx="4114800" cy="217173"/>
          </a:xfrm>
        </p:spPr>
        <p:txBody>
          <a:bodyPr/>
          <a:lstStyle/>
          <a:p>
            <a:r>
              <a:rPr lang="en-US" dirty="0"/>
              <a:t>Biological &amp; Physical Sciences</a:t>
            </a:r>
          </a:p>
        </p:txBody>
      </p:sp>
      <p:sp>
        <p:nvSpPr>
          <p:cNvPr id="26" name="Slide Number Placeholder 6">
            <a:extLst>
              <a:ext uri="{FF2B5EF4-FFF2-40B4-BE49-F238E27FC236}">
                <a16:creationId xmlns:a16="http://schemas.microsoft.com/office/drawing/2014/main" id="{229FCC9D-96AD-BA9E-BD6E-2A25D0A52792}"/>
              </a:ext>
            </a:extLst>
          </p:cNvPr>
          <p:cNvSpPr>
            <a:spLocks noGrp="1"/>
          </p:cNvSpPr>
          <p:nvPr>
            <p:ph type="sldNum" sz="quarter" idx="24"/>
          </p:nvPr>
        </p:nvSpPr>
        <p:spPr>
          <a:xfrm>
            <a:off x="11662148" y="99559"/>
            <a:ext cx="1059704" cy="261258"/>
          </a:xfrm>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8270191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ored callouts">
    <p:bg>
      <p:bgRef idx="1001">
        <a:schemeClr val="bg1"/>
      </p:bgRef>
    </p:bg>
    <p:spTree>
      <p:nvGrpSpPr>
        <p:cNvPr id="1" name=""/>
        <p:cNvGrpSpPr/>
        <p:nvPr/>
      </p:nvGrpSpPr>
      <p:grpSpPr>
        <a:xfrm>
          <a:off x="0" y="0"/>
          <a:ext cx="0" cy="0"/>
          <a:chOff x="0" y="0"/>
          <a:chExt cx="0" cy="0"/>
        </a:xfrm>
      </p:grpSpPr>
      <p:sp>
        <p:nvSpPr>
          <p:cNvPr id="40" name="Rounded Rectangle 39">
            <a:extLst>
              <a:ext uri="{FF2B5EF4-FFF2-40B4-BE49-F238E27FC236}">
                <a16:creationId xmlns:a16="http://schemas.microsoft.com/office/drawing/2014/main" id="{4CD86E3A-6D68-1F05-DE18-246FA7A4406A}"/>
              </a:ext>
              <a:ext uri="{C183D7F6-B498-43B3-948B-1728B52AA6E4}">
                <adec:decorative xmlns:adec="http://schemas.microsoft.com/office/drawing/2017/decorative" val="1"/>
              </a:ext>
            </a:extLst>
          </p:cNvPr>
          <p:cNvSpPr/>
          <p:nvPr userDrawn="1"/>
        </p:nvSpPr>
        <p:spPr>
          <a:xfrm>
            <a:off x="876300" y="2990688"/>
            <a:ext cx="2992166" cy="3352800"/>
          </a:xfrm>
          <a:prstGeom prst="roundRect">
            <a:avLst>
              <a:gd name="adj" fmla="val 775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0" name="Text Placeholder 11">
            <a:extLst>
              <a:ext uri="{FF2B5EF4-FFF2-40B4-BE49-F238E27FC236}">
                <a16:creationId xmlns:a16="http://schemas.microsoft.com/office/drawing/2014/main" id="{6C169315-0602-4C85-86EE-5C3554AAA92A}"/>
              </a:ext>
            </a:extLst>
          </p:cNvPr>
          <p:cNvSpPr>
            <a:spLocks noGrp="1"/>
          </p:cNvSpPr>
          <p:nvPr>
            <p:ph type="body" sz="quarter" idx="20" hasCustomPrompt="1"/>
          </p:nvPr>
        </p:nvSpPr>
        <p:spPr>
          <a:xfrm>
            <a:off x="1052277" y="3295488"/>
            <a:ext cx="2590800" cy="2819400"/>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6" name="Text Placeholder 2">
            <a:extLst>
              <a:ext uri="{FF2B5EF4-FFF2-40B4-BE49-F238E27FC236}">
                <a16:creationId xmlns:a16="http://schemas.microsoft.com/office/drawing/2014/main" id="{9ADD9A5C-AE9A-C65B-4505-483DE9A243E7}"/>
              </a:ext>
            </a:extLst>
          </p:cNvPr>
          <p:cNvSpPr>
            <a:spLocks noGrp="1"/>
          </p:cNvSpPr>
          <p:nvPr>
            <p:ph type="body" idx="1"/>
          </p:nvPr>
        </p:nvSpPr>
        <p:spPr>
          <a:xfrm>
            <a:off x="914400" y="2203704"/>
            <a:ext cx="10543151" cy="550647"/>
          </a:xfrm>
        </p:spPr>
        <p:txBody>
          <a:bodyPr anchor="t"/>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itle 1">
            <a:extLst>
              <a:ext uri="{FF2B5EF4-FFF2-40B4-BE49-F238E27FC236}">
                <a16:creationId xmlns:a16="http://schemas.microsoft.com/office/drawing/2014/main" id="{B7E68036-CDBD-FEF5-260D-DF24C6FF3906}"/>
              </a:ext>
            </a:extLst>
          </p:cNvPr>
          <p:cNvSpPr>
            <a:spLocks noGrp="1"/>
          </p:cNvSpPr>
          <p:nvPr>
            <p:ph type="title"/>
          </p:nvPr>
        </p:nvSpPr>
        <p:spPr>
          <a:xfrm>
            <a:off x="914400" y="758952"/>
            <a:ext cx="10515600" cy="1325563"/>
          </a:xfrm>
        </p:spPr>
        <p:txBody>
          <a:bodyPr/>
          <a:lstStyle/>
          <a:p>
            <a:r>
              <a:rPr lang="en-US"/>
              <a:t>Click to edit Master title style</a:t>
            </a:r>
          </a:p>
        </p:txBody>
      </p:sp>
      <p:sp>
        <p:nvSpPr>
          <p:cNvPr id="11" name="Rounded Rectangle 10">
            <a:extLst>
              <a:ext uri="{FF2B5EF4-FFF2-40B4-BE49-F238E27FC236}">
                <a16:creationId xmlns:a16="http://schemas.microsoft.com/office/drawing/2014/main" id="{0EAAA4E6-9CD8-0530-BD07-8498A1C997DF}"/>
              </a:ext>
              <a:ext uri="{C183D7F6-B498-43B3-948B-1728B52AA6E4}">
                <adec:decorative xmlns:adec="http://schemas.microsoft.com/office/drawing/2017/decorative" val="1"/>
              </a:ext>
            </a:extLst>
          </p:cNvPr>
          <p:cNvSpPr/>
          <p:nvPr userDrawn="1"/>
        </p:nvSpPr>
        <p:spPr>
          <a:xfrm>
            <a:off x="4743450" y="2990688"/>
            <a:ext cx="2992166" cy="3352800"/>
          </a:xfrm>
          <a:prstGeom prst="roundRect">
            <a:avLst>
              <a:gd name="adj" fmla="val 775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2" name="Text Placeholder 11">
            <a:extLst>
              <a:ext uri="{FF2B5EF4-FFF2-40B4-BE49-F238E27FC236}">
                <a16:creationId xmlns:a16="http://schemas.microsoft.com/office/drawing/2014/main" id="{37A0B597-CF95-913E-7A66-71D440047E4D}"/>
              </a:ext>
            </a:extLst>
          </p:cNvPr>
          <p:cNvSpPr>
            <a:spLocks noGrp="1"/>
          </p:cNvSpPr>
          <p:nvPr>
            <p:ph type="body" sz="quarter" idx="39" hasCustomPrompt="1"/>
          </p:nvPr>
        </p:nvSpPr>
        <p:spPr>
          <a:xfrm>
            <a:off x="4938477" y="3295488"/>
            <a:ext cx="2590800" cy="2819400"/>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14" name="Rounded Rectangle 13">
            <a:extLst>
              <a:ext uri="{FF2B5EF4-FFF2-40B4-BE49-F238E27FC236}">
                <a16:creationId xmlns:a16="http://schemas.microsoft.com/office/drawing/2014/main" id="{E32725BC-06A4-BA3F-329D-CCFE76B565FA}"/>
              </a:ext>
              <a:ext uri="{C183D7F6-B498-43B3-948B-1728B52AA6E4}">
                <adec:decorative xmlns:adec="http://schemas.microsoft.com/office/drawing/2017/decorative" val="1"/>
              </a:ext>
            </a:extLst>
          </p:cNvPr>
          <p:cNvSpPr/>
          <p:nvPr userDrawn="1"/>
        </p:nvSpPr>
        <p:spPr>
          <a:xfrm>
            <a:off x="8610600" y="2990688"/>
            <a:ext cx="2992166" cy="3352800"/>
          </a:xfrm>
          <a:prstGeom prst="roundRect">
            <a:avLst>
              <a:gd name="adj" fmla="val 7754"/>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19" name="Text Placeholder 11">
            <a:extLst>
              <a:ext uri="{FF2B5EF4-FFF2-40B4-BE49-F238E27FC236}">
                <a16:creationId xmlns:a16="http://schemas.microsoft.com/office/drawing/2014/main" id="{455977AF-C60A-DDAC-F6C7-12C2309ECC7A}"/>
              </a:ext>
            </a:extLst>
          </p:cNvPr>
          <p:cNvSpPr>
            <a:spLocks noGrp="1"/>
          </p:cNvSpPr>
          <p:nvPr>
            <p:ph type="body" sz="quarter" idx="40" hasCustomPrompt="1"/>
          </p:nvPr>
        </p:nvSpPr>
        <p:spPr>
          <a:xfrm>
            <a:off x="8786577" y="3295488"/>
            <a:ext cx="2590800" cy="2819400"/>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6" name="Footer Placeholder 5">
            <a:extLst>
              <a:ext uri="{FF2B5EF4-FFF2-40B4-BE49-F238E27FC236}">
                <a16:creationId xmlns:a16="http://schemas.microsoft.com/office/drawing/2014/main" id="{1AC09864-2A01-120D-B0A0-3D47650A2281}"/>
              </a:ext>
            </a:extLst>
          </p:cNvPr>
          <p:cNvSpPr txBox="1">
            <a:spLocks/>
          </p:cNvSpPr>
          <p:nvPr userDrawn="1"/>
        </p:nvSpPr>
        <p:spPr>
          <a:xfrm>
            <a:off x="343963" y="121602"/>
            <a:ext cx="4114800" cy="21717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bg1">
                    <a:alpha val="75167"/>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Biological &amp; Physical Sciences</a:t>
            </a:r>
          </a:p>
        </p:txBody>
      </p:sp>
      <p:sp>
        <p:nvSpPr>
          <p:cNvPr id="7" name="Slide Number Placeholder 6">
            <a:extLst>
              <a:ext uri="{FF2B5EF4-FFF2-40B4-BE49-F238E27FC236}">
                <a16:creationId xmlns:a16="http://schemas.microsoft.com/office/drawing/2014/main" id="{63F24C74-96B8-1AEE-DED0-3FD6D128AAF5}"/>
              </a:ext>
            </a:extLst>
          </p:cNvPr>
          <p:cNvSpPr txBox="1">
            <a:spLocks/>
          </p:cNvSpPr>
          <p:nvPr userDrawn="1"/>
        </p:nvSpPr>
        <p:spPr>
          <a:xfrm>
            <a:off x="11662148" y="99559"/>
            <a:ext cx="1059704" cy="261258"/>
          </a:xfrm>
          <a:prstGeom prst="roundRect">
            <a:avLst>
              <a:gd name="adj" fmla="val 50000"/>
            </a:avLst>
          </a:prstGeom>
          <a:solidFill>
            <a:srgbClr val="002060"/>
          </a:solidFill>
        </p:spPr>
        <p:txBody>
          <a:bodyPr vert="horz" lIns="91440" tIns="45720" rIns="91440" bIns="45720" rtlCol="0" anchor="ctr"/>
          <a:lstStyle>
            <a:defPPr>
              <a:defRPr lang="en-US"/>
            </a:defPPr>
            <a:lvl1pPr marL="0" algn="l" defTabSz="914400" rtl="0" eaLnBrk="1" latinLnBrk="0" hangingPunct="1">
              <a:defRPr sz="11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618032-BA8D-3D4D-8253-A70208A85976}" type="slidenum">
              <a:rPr lang="en-US" smtClean="0"/>
              <a:pPr/>
              <a:t>‹#›</a:t>
            </a:fld>
            <a:endParaRPr lang="en-US"/>
          </a:p>
        </p:txBody>
      </p:sp>
    </p:spTree>
    <p:extLst>
      <p:ext uri="{BB962C8B-B14F-4D97-AF65-F5344CB8AC3E}">
        <p14:creationId xmlns:p14="http://schemas.microsoft.com/office/powerpoint/2010/main" val="3668835841"/>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3 colored callouts">
    <p:bg>
      <p:bgRef idx="1001">
        <a:schemeClr val="bg1"/>
      </p:bgRef>
    </p:bg>
    <p:spTree>
      <p:nvGrpSpPr>
        <p:cNvPr id="1" name=""/>
        <p:cNvGrpSpPr/>
        <p:nvPr/>
      </p:nvGrpSpPr>
      <p:grpSpPr>
        <a:xfrm>
          <a:off x="0" y="0"/>
          <a:ext cx="0" cy="0"/>
          <a:chOff x="0" y="0"/>
          <a:chExt cx="0" cy="0"/>
        </a:xfrm>
      </p:grpSpPr>
      <p:sp>
        <p:nvSpPr>
          <p:cNvPr id="40" name="Rounded Rectangle 39">
            <a:extLst>
              <a:ext uri="{FF2B5EF4-FFF2-40B4-BE49-F238E27FC236}">
                <a16:creationId xmlns:a16="http://schemas.microsoft.com/office/drawing/2014/main" id="{4CD86E3A-6D68-1F05-DE18-246FA7A4406A}"/>
              </a:ext>
              <a:ext uri="{C183D7F6-B498-43B3-948B-1728B52AA6E4}">
                <adec:decorative xmlns:adec="http://schemas.microsoft.com/office/drawing/2017/decorative" val="1"/>
              </a:ext>
            </a:extLst>
          </p:cNvPr>
          <p:cNvSpPr/>
          <p:nvPr userDrawn="1"/>
        </p:nvSpPr>
        <p:spPr>
          <a:xfrm>
            <a:off x="937827" y="2990688"/>
            <a:ext cx="2040528" cy="3201390"/>
          </a:xfrm>
          <a:prstGeom prst="roundRect">
            <a:avLst>
              <a:gd name="adj" fmla="val 775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0" name="Text Placeholder 11">
            <a:extLst>
              <a:ext uri="{FF2B5EF4-FFF2-40B4-BE49-F238E27FC236}">
                <a16:creationId xmlns:a16="http://schemas.microsoft.com/office/drawing/2014/main" id="{6C169315-0602-4C85-86EE-5C3554AAA92A}"/>
              </a:ext>
            </a:extLst>
          </p:cNvPr>
          <p:cNvSpPr>
            <a:spLocks noGrp="1"/>
          </p:cNvSpPr>
          <p:nvPr>
            <p:ph type="body" sz="quarter" idx="20" hasCustomPrompt="1"/>
          </p:nvPr>
        </p:nvSpPr>
        <p:spPr>
          <a:xfrm>
            <a:off x="1076578" y="3295488"/>
            <a:ext cx="1766814" cy="2692078"/>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6" name="Text Placeholder 2">
            <a:extLst>
              <a:ext uri="{FF2B5EF4-FFF2-40B4-BE49-F238E27FC236}">
                <a16:creationId xmlns:a16="http://schemas.microsoft.com/office/drawing/2014/main" id="{9ADD9A5C-AE9A-C65B-4505-483DE9A243E7}"/>
              </a:ext>
            </a:extLst>
          </p:cNvPr>
          <p:cNvSpPr>
            <a:spLocks noGrp="1"/>
          </p:cNvSpPr>
          <p:nvPr>
            <p:ph type="body" idx="1"/>
          </p:nvPr>
        </p:nvSpPr>
        <p:spPr>
          <a:xfrm>
            <a:off x="914400" y="2203704"/>
            <a:ext cx="10543151" cy="550647"/>
          </a:xfrm>
        </p:spPr>
        <p:txBody>
          <a:bodyPr anchor="t"/>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itle 1">
            <a:extLst>
              <a:ext uri="{FF2B5EF4-FFF2-40B4-BE49-F238E27FC236}">
                <a16:creationId xmlns:a16="http://schemas.microsoft.com/office/drawing/2014/main" id="{B7E68036-CDBD-FEF5-260D-DF24C6FF3906}"/>
              </a:ext>
            </a:extLst>
          </p:cNvPr>
          <p:cNvSpPr>
            <a:spLocks noGrp="1"/>
          </p:cNvSpPr>
          <p:nvPr>
            <p:ph type="title"/>
          </p:nvPr>
        </p:nvSpPr>
        <p:spPr>
          <a:xfrm>
            <a:off x="914400" y="758952"/>
            <a:ext cx="10515600" cy="1325563"/>
          </a:xfrm>
        </p:spPr>
        <p:txBody>
          <a:bodyPr/>
          <a:lstStyle/>
          <a:p>
            <a:r>
              <a:rPr lang="en-US"/>
              <a:t>Click to edit Master title style</a:t>
            </a:r>
          </a:p>
        </p:txBody>
      </p:sp>
      <p:sp>
        <p:nvSpPr>
          <p:cNvPr id="11" name="Rounded Rectangle 10">
            <a:extLst>
              <a:ext uri="{FF2B5EF4-FFF2-40B4-BE49-F238E27FC236}">
                <a16:creationId xmlns:a16="http://schemas.microsoft.com/office/drawing/2014/main" id="{0EAAA4E6-9CD8-0530-BD07-8498A1C997DF}"/>
              </a:ext>
              <a:ext uri="{C183D7F6-B498-43B3-948B-1728B52AA6E4}">
                <adec:decorative xmlns:adec="http://schemas.microsoft.com/office/drawing/2017/decorative" val="1"/>
              </a:ext>
            </a:extLst>
          </p:cNvPr>
          <p:cNvSpPr/>
          <p:nvPr userDrawn="1"/>
        </p:nvSpPr>
        <p:spPr>
          <a:xfrm>
            <a:off x="3056593" y="2990688"/>
            <a:ext cx="2040528" cy="3201390"/>
          </a:xfrm>
          <a:prstGeom prst="roundRect">
            <a:avLst>
              <a:gd name="adj" fmla="val 775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2" name="Text Placeholder 11">
            <a:extLst>
              <a:ext uri="{FF2B5EF4-FFF2-40B4-BE49-F238E27FC236}">
                <a16:creationId xmlns:a16="http://schemas.microsoft.com/office/drawing/2014/main" id="{37A0B597-CF95-913E-7A66-71D440047E4D}"/>
              </a:ext>
            </a:extLst>
          </p:cNvPr>
          <p:cNvSpPr>
            <a:spLocks noGrp="1"/>
          </p:cNvSpPr>
          <p:nvPr>
            <p:ph type="body" sz="quarter" idx="39" hasCustomPrompt="1"/>
          </p:nvPr>
        </p:nvSpPr>
        <p:spPr>
          <a:xfrm>
            <a:off x="3191556" y="3295488"/>
            <a:ext cx="1766814" cy="2692078"/>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14" name="Rounded Rectangle 13">
            <a:extLst>
              <a:ext uri="{FF2B5EF4-FFF2-40B4-BE49-F238E27FC236}">
                <a16:creationId xmlns:a16="http://schemas.microsoft.com/office/drawing/2014/main" id="{E32725BC-06A4-BA3F-329D-CCFE76B565FA}"/>
              </a:ext>
              <a:ext uri="{C183D7F6-B498-43B3-948B-1728B52AA6E4}">
                <adec:decorative xmlns:adec="http://schemas.microsoft.com/office/drawing/2017/decorative" val="1"/>
              </a:ext>
            </a:extLst>
          </p:cNvPr>
          <p:cNvSpPr/>
          <p:nvPr userDrawn="1"/>
        </p:nvSpPr>
        <p:spPr>
          <a:xfrm>
            <a:off x="5173465" y="2990688"/>
            <a:ext cx="2040528" cy="3201390"/>
          </a:xfrm>
          <a:prstGeom prst="roundRect">
            <a:avLst>
              <a:gd name="adj" fmla="val 7754"/>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19" name="Text Placeholder 11">
            <a:extLst>
              <a:ext uri="{FF2B5EF4-FFF2-40B4-BE49-F238E27FC236}">
                <a16:creationId xmlns:a16="http://schemas.microsoft.com/office/drawing/2014/main" id="{455977AF-C60A-DDAC-F6C7-12C2309ECC7A}"/>
              </a:ext>
            </a:extLst>
          </p:cNvPr>
          <p:cNvSpPr>
            <a:spLocks noGrp="1"/>
          </p:cNvSpPr>
          <p:nvPr>
            <p:ph type="body" sz="quarter" idx="40" hasCustomPrompt="1"/>
          </p:nvPr>
        </p:nvSpPr>
        <p:spPr>
          <a:xfrm>
            <a:off x="5310322" y="3295488"/>
            <a:ext cx="1766814" cy="2692078"/>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6" name="Footer Placeholder 5">
            <a:extLst>
              <a:ext uri="{FF2B5EF4-FFF2-40B4-BE49-F238E27FC236}">
                <a16:creationId xmlns:a16="http://schemas.microsoft.com/office/drawing/2014/main" id="{1AC09864-2A01-120D-B0A0-3D47650A2281}"/>
              </a:ext>
            </a:extLst>
          </p:cNvPr>
          <p:cNvSpPr txBox="1">
            <a:spLocks/>
          </p:cNvSpPr>
          <p:nvPr userDrawn="1"/>
        </p:nvSpPr>
        <p:spPr>
          <a:xfrm>
            <a:off x="343963" y="121602"/>
            <a:ext cx="4114800" cy="21717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bg1">
                    <a:alpha val="75167"/>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Biological &amp; Physical Sciences </a:t>
            </a:r>
          </a:p>
        </p:txBody>
      </p:sp>
      <p:sp>
        <p:nvSpPr>
          <p:cNvPr id="7" name="Slide Number Placeholder 6">
            <a:extLst>
              <a:ext uri="{FF2B5EF4-FFF2-40B4-BE49-F238E27FC236}">
                <a16:creationId xmlns:a16="http://schemas.microsoft.com/office/drawing/2014/main" id="{63F24C74-96B8-1AEE-DED0-3FD6D128AAF5}"/>
              </a:ext>
            </a:extLst>
          </p:cNvPr>
          <p:cNvSpPr txBox="1">
            <a:spLocks/>
          </p:cNvSpPr>
          <p:nvPr userDrawn="1"/>
        </p:nvSpPr>
        <p:spPr>
          <a:xfrm>
            <a:off x="11662148" y="99559"/>
            <a:ext cx="1059704" cy="261258"/>
          </a:xfrm>
          <a:prstGeom prst="roundRect">
            <a:avLst>
              <a:gd name="adj" fmla="val 50000"/>
            </a:avLst>
          </a:prstGeom>
          <a:solidFill>
            <a:srgbClr val="002060"/>
          </a:solidFill>
        </p:spPr>
        <p:txBody>
          <a:bodyPr vert="horz" lIns="91440" tIns="45720" rIns="91440" bIns="45720" rtlCol="0" anchor="ctr"/>
          <a:lstStyle>
            <a:defPPr>
              <a:defRPr lang="en-US"/>
            </a:defPPr>
            <a:lvl1pPr marL="0" algn="l" defTabSz="914400" rtl="0" eaLnBrk="1" latinLnBrk="0" hangingPunct="1">
              <a:defRPr sz="11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618032-BA8D-3D4D-8253-A70208A85976}" type="slidenum">
              <a:rPr lang="en-US" smtClean="0"/>
              <a:pPr/>
              <a:t>‹#›</a:t>
            </a:fld>
            <a:endParaRPr lang="en-US"/>
          </a:p>
        </p:txBody>
      </p:sp>
      <p:sp>
        <p:nvSpPr>
          <p:cNvPr id="3" name="Rounded Rectangle 2">
            <a:extLst>
              <a:ext uri="{FF2B5EF4-FFF2-40B4-BE49-F238E27FC236}">
                <a16:creationId xmlns:a16="http://schemas.microsoft.com/office/drawing/2014/main" id="{0432080B-6328-C238-809D-F9FE08C793E4}"/>
              </a:ext>
              <a:ext uri="{C183D7F6-B498-43B3-948B-1728B52AA6E4}">
                <adec:decorative xmlns:adec="http://schemas.microsoft.com/office/drawing/2017/decorative" val="1"/>
              </a:ext>
            </a:extLst>
          </p:cNvPr>
          <p:cNvSpPr/>
          <p:nvPr userDrawn="1"/>
        </p:nvSpPr>
        <p:spPr>
          <a:xfrm>
            <a:off x="7290337" y="3026141"/>
            <a:ext cx="2040528" cy="3201390"/>
          </a:xfrm>
          <a:prstGeom prst="roundRect">
            <a:avLst>
              <a:gd name="adj" fmla="val 775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4" name="Text Placeholder 11">
            <a:extLst>
              <a:ext uri="{FF2B5EF4-FFF2-40B4-BE49-F238E27FC236}">
                <a16:creationId xmlns:a16="http://schemas.microsoft.com/office/drawing/2014/main" id="{A3BA1372-7071-371E-C28F-CBE6820DA6FE}"/>
              </a:ext>
            </a:extLst>
          </p:cNvPr>
          <p:cNvSpPr>
            <a:spLocks noGrp="1"/>
          </p:cNvSpPr>
          <p:nvPr>
            <p:ph type="body" sz="quarter" idx="41" hasCustomPrompt="1"/>
          </p:nvPr>
        </p:nvSpPr>
        <p:spPr>
          <a:xfrm>
            <a:off x="7427194" y="3330941"/>
            <a:ext cx="1766814" cy="2692078"/>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8" name="Rounded Rectangle 7">
            <a:extLst>
              <a:ext uri="{FF2B5EF4-FFF2-40B4-BE49-F238E27FC236}">
                <a16:creationId xmlns:a16="http://schemas.microsoft.com/office/drawing/2014/main" id="{8711E0B1-10A5-78B2-3136-3CD932F231FC}"/>
              </a:ext>
              <a:ext uri="{C183D7F6-B498-43B3-948B-1728B52AA6E4}">
                <adec:decorative xmlns:adec="http://schemas.microsoft.com/office/drawing/2017/decorative" val="1"/>
              </a:ext>
            </a:extLst>
          </p:cNvPr>
          <p:cNvSpPr/>
          <p:nvPr userDrawn="1"/>
        </p:nvSpPr>
        <p:spPr>
          <a:xfrm>
            <a:off x="9407209" y="2990688"/>
            <a:ext cx="2040528" cy="3201390"/>
          </a:xfrm>
          <a:prstGeom prst="roundRect">
            <a:avLst>
              <a:gd name="adj" fmla="val 775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9" name="Text Placeholder 11">
            <a:extLst>
              <a:ext uri="{FF2B5EF4-FFF2-40B4-BE49-F238E27FC236}">
                <a16:creationId xmlns:a16="http://schemas.microsoft.com/office/drawing/2014/main" id="{9ACE081D-D73A-A411-BCD4-2DCBE78B8CE8}"/>
              </a:ext>
            </a:extLst>
          </p:cNvPr>
          <p:cNvSpPr>
            <a:spLocks noGrp="1"/>
          </p:cNvSpPr>
          <p:nvPr>
            <p:ph type="body" sz="quarter" idx="42" hasCustomPrompt="1"/>
          </p:nvPr>
        </p:nvSpPr>
        <p:spPr>
          <a:xfrm>
            <a:off x="9544066" y="3295488"/>
            <a:ext cx="1766814" cy="2692078"/>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128466609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3 colored callouts">
    <p:bg>
      <p:bgRef idx="1001">
        <a:schemeClr val="bg1"/>
      </p:bgRef>
    </p:bg>
    <p:spTree>
      <p:nvGrpSpPr>
        <p:cNvPr id="1" name=""/>
        <p:cNvGrpSpPr/>
        <p:nvPr/>
      </p:nvGrpSpPr>
      <p:grpSpPr>
        <a:xfrm>
          <a:off x="0" y="0"/>
          <a:ext cx="0" cy="0"/>
          <a:chOff x="0" y="0"/>
          <a:chExt cx="0" cy="0"/>
        </a:xfrm>
      </p:grpSpPr>
      <p:sp>
        <p:nvSpPr>
          <p:cNvPr id="40" name="Rounded Rectangle 39">
            <a:extLst>
              <a:ext uri="{FF2B5EF4-FFF2-40B4-BE49-F238E27FC236}">
                <a16:creationId xmlns:a16="http://schemas.microsoft.com/office/drawing/2014/main" id="{4CD86E3A-6D68-1F05-DE18-246FA7A4406A}"/>
              </a:ext>
              <a:ext uri="{C183D7F6-B498-43B3-948B-1728B52AA6E4}">
                <adec:decorative xmlns:adec="http://schemas.microsoft.com/office/drawing/2017/decorative" val="1"/>
              </a:ext>
            </a:extLst>
          </p:cNvPr>
          <p:cNvSpPr/>
          <p:nvPr userDrawn="1"/>
        </p:nvSpPr>
        <p:spPr>
          <a:xfrm>
            <a:off x="2695161" y="2990688"/>
            <a:ext cx="2992166" cy="3352800"/>
          </a:xfrm>
          <a:prstGeom prst="roundRect">
            <a:avLst>
              <a:gd name="adj" fmla="val 7754"/>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endParaRPr>
          </a:p>
        </p:txBody>
      </p:sp>
      <p:sp>
        <p:nvSpPr>
          <p:cNvPr id="20" name="Text Placeholder 11">
            <a:extLst>
              <a:ext uri="{FF2B5EF4-FFF2-40B4-BE49-F238E27FC236}">
                <a16:creationId xmlns:a16="http://schemas.microsoft.com/office/drawing/2014/main" id="{6C169315-0602-4C85-86EE-5C3554AAA92A}"/>
              </a:ext>
            </a:extLst>
          </p:cNvPr>
          <p:cNvSpPr>
            <a:spLocks noGrp="1"/>
          </p:cNvSpPr>
          <p:nvPr>
            <p:ph type="body" sz="quarter" idx="20" hasCustomPrompt="1"/>
          </p:nvPr>
        </p:nvSpPr>
        <p:spPr>
          <a:xfrm>
            <a:off x="2871138" y="3295488"/>
            <a:ext cx="2590800" cy="2819400"/>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36" name="Text Placeholder 2">
            <a:extLst>
              <a:ext uri="{FF2B5EF4-FFF2-40B4-BE49-F238E27FC236}">
                <a16:creationId xmlns:a16="http://schemas.microsoft.com/office/drawing/2014/main" id="{9ADD9A5C-AE9A-C65B-4505-483DE9A243E7}"/>
              </a:ext>
            </a:extLst>
          </p:cNvPr>
          <p:cNvSpPr>
            <a:spLocks noGrp="1"/>
          </p:cNvSpPr>
          <p:nvPr>
            <p:ph type="body" idx="1"/>
          </p:nvPr>
        </p:nvSpPr>
        <p:spPr>
          <a:xfrm>
            <a:off x="914400" y="2203704"/>
            <a:ext cx="10543151" cy="550647"/>
          </a:xfrm>
        </p:spPr>
        <p:txBody>
          <a:bodyPr anchor="t"/>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itle 1">
            <a:extLst>
              <a:ext uri="{FF2B5EF4-FFF2-40B4-BE49-F238E27FC236}">
                <a16:creationId xmlns:a16="http://schemas.microsoft.com/office/drawing/2014/main" id="{B7E68036-CDBD-FEF5-260D-DF24C6FF3906}"/>
              </a:ext>
            </a:extLst>
          </p:cNvPr>
          <p:cNvSpPr>
            <a:spLocks noGrp="1"/>
          </p:cNvSpPr>
          <p:nvPr>
            <p:ph type="title"/>
          </p:nvPr>
        </p:nvSpPr>
        <p:spPr>
          <a:xfrm>
            <a:off x="914400" y="758952"/>
            <a:ext cx="10515600" cy="1325563"/>
          </a:xfrm>
        </p:spPr>
        <p:txBody>
          <a:bodyPr/>
          <a:lstStyle/>
          <a:p>
            <a:r>
              <a:rPr lang="en-US"/>
              <a:t>Click to edit Master title style</a:t>
            </a:r>
          </a:p>
        </p:txBody>
      </p:sp>
      <p:sp>
        <p:nvSpPr>
          <p:cNvPr id="11" name="Rounded Rectangle 10">
            <a:extLst>
              <a:ext uri="{FF2B5EF4-FFF2-40B4-BE49-F238E27FC236}">
                <a16:creationId xmlns:a16="http://schemas.microsoft.com/office/drawing/2014/main" id="{0EAAA4E6-9CD8-0530-BD07-8498A1C997DF}"/>
              </a:ext>
              <a:ext uri="{C183D7F6-B498-43B3-948B-1728B52AA6E4}">
                <adec:decorative xmlns:adec="http://schemas.microsoft.com/office/drawing/2017/decorative" val="1"/>
              </a:ext>
            </a:extLst>
          </p:cNvPr>
          <p:cNvSpPr/>
          <p:nvPr userDrawn="1"/>
        </p:nvSpPr>
        <p:spPr>
          <a:xfrm>
            <a:off x="6562311" y="2990688"/>
            <a:ext cx="2992166" cy="3352800"/>
          </a:xfrm>
          <a:prstGeom prst="roundRect">
            <a:avLst>
              <a:gd name="adj" fmla="val 775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2" name="Text Placeholder 11">
            <a:extLst>
              <a:ext uri="{FF2B5EF4-FFF2-40B4-BE49-F238E27FC236}">
                <a16:creationId xmlns:a16="http://schemas.microsoft.com/office/drawing/2014/main" id="{37A0B597-CF95-913E-7A66-71D440047E4D}"/>
              </a:ext>
            </a:extLst>
          </p:cNvPr>
          <p:cNvSpPr>
            <a:spLocks noGrp="1"/>
          </p:cNvSpPr>
          <p:nvPr>
            <p:ph type="body" sz="quarter" idx="39" hasCustomPrompt="1"/>
          </p:nvPr>
        </p:nvSpPr>
        <p:spPr>
          <a:xfrm>
            <a:off x="6757338" y="3295488"/>
            <a:ext cx="2590800" cy="2819400"/>
          </a:xfrm>
        </p:spPr>
        <p:txBody>
          <a:bodyPr lIns="91440" tIns="0" anchor="ctr">
            <a:noAutofit/>
          </a:bodyPr>
          <a:lstStyle>
            <a:lvl1pPr marL="0" indent="0" algn="ctr">
              <a:buNone/>
              <a:defRPr sz="1800" cap="none" baseline="0">
                <a:solidFill>
                  <a:schemeClr val="bg1"/>
                </a:solidFill>
                <a:latin typeface="+mn-lt"/>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en-US" dirty="0"/>
              <a:t>Click to add text</a:t>
            </a:r>
          </a:p>
        </p:txBody>
      </p:sp>
      <p:sp>
        <p:nvSpPr>
          <p:cNvPr id="6" name="Footer Placeholder 5">
            <a:extLst>
              <a:ext uri="{FF2B5EF4-FFF2-40B4-BE49-F238E27FC236}">
                <a16:creationId xmlns:a16="http://schemas.microsoft.com/office/drawing/2014/main" id="{1AC09864-2A01-120D-B0A0-3D47650A2281}"/>
              </a:ext>
            </a:extLst>
          </p:cNvPr>
          <p:cNvSpPr txBox="1">
            <a:spLocks/>
          </p:cNvSpPr>
          <p:nvPr userDrawn="1"/>
        </p:nvSpPr>
        <p:spPr>
          <a:xfrm>
            <a:off x="343963" y="121602"/>
            <a:ext cx="4114800" cy="21717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bg1">
                    <a:alpha val="75167"/>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Biological &amp; Physical Sciences</a:t>
            </a:r>
          </a:p>
        </p:txBody>
      </p:sp>
      <p:sp>
        <p:nvSpPr>
          <p:cNvPr id="7" name="Slide Number Placeholder 6">
            <a:extLst>
              <a:ext uri="{FF2B5EF4-FFF2-40B4-BE49-F238E27FC236}">
                <a16:creationId xmlns:a16="http://schemas.microsoft.com/office/drawing/2014/main" id="{63F24C74-96B8-1AEE-DED0-3FD6D128AAF5}"/>
              </a:ext>
            </a:extLst>
          </p:cNvPr>
          <p:cNvSpPr txBox="1">
            <a:spLocks/>
          </p:cNvSpPr>
          <p:nvPr userDrawn="1"/>
        </p:nvSpPr>
        <p:spPr>
          <a:xfrm>
            <a:off x="11662148" y="99559"/>
            <a:ext cx="1059704" cy="261258"/>
          </a:xfrm>
          <a:prstGeom prst="roundRect">
            <a:avLst>
              <a:gd name="adj" fmla="val 50000"/>
            </a:avLst>
          </a:prstGeom>
          <a:solidFill>
            <a:srgbClr val="002060"/>
          </a:solidFill>
        </p:spPr>
        <p:txBody>
          <a:bodyPr vert="horz" lIns="91440" tIns="45720" rIns="91440" bIns="45720" rtlCol="0" anchor="ctr"/>
          <a:lstStyle>
            <a:defPPr>
              <a:defRPr lang="en-US"/>
            </a:defPPr>
            <a:lvl1pPr marL="0" algn="l" defTabSz="914400" rtl="0" eaLnBrk="1" latinLnBrk="0" hangingPunct="1">
              <a:defRPr sz="11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8618032-BA8D-3D4D-8253-A70208A85976}" type="slidenum">
              <a:rPr lang="en-US" smtClean="0"/>
              <a:pPr/>
              <a:t>‹#›</a:t>
            </a:fld>
            <a:endParaRPr lang="en-US"/>
          </a:p>
        </p:txBody>
      </p:sp>
    </p:spTree>
    <p:extLst>
      <p:ext uri="{BB962C8B-B14F-4D97-AF65-F5344CB8AC3E}">
        <p14:creationId xmlns:p14="http://schemas.microsoft.com/office/powerpoint/2010/main" val="346881197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9C14A-6496-6376-2B3E-AD74A612CDF4}"/>
              </a:ext>
            </a:extLst>
          </p:cNvPr>
          <p:cNvSpPr>
            <a:spLocks noGrp="1"/>
          </p:cNvSpPr>
          <p:nvPr>
            <p:ph type="title"/>
          </p:nvPr>
        </p:nvSpPr>
        <p:spPr>
          <a:xfrm>
            <a:off x="914400" y="758952"/>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21821F-FB3A-F9EE-D0DE-E887A37D654C}"/>
              </a:ext>
            </a:extLst>
          </p:cNvPr>
          <p:cNvSpPr>
            <a:spLocks noGrp="1"/>
          </p:cNvSpPr>
          <p:nvPr>
            <p:ph type="body" idx="1"/>
          </p:nvPr>
        </p:nvSpPr>
        <p:spPr>
          <a:xfrm>
            <a:off x="914400" y="2203704"/>
            <a:ext cx="498316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7C9A69-852A-95D0-640F-0A9AD66D09FE}"/>
              </a:ext>
            </a:extLst>
          </p:cNvPr>
          <p:cNvSpPr>
            <a:spLocks noGrp="1"/>
          </p:cNvSpPr>
          <p:nvPr>
            <p:ph sz="half" idx="2"/>
          </p:nvPr>
        </p:nvSpPr>
        <p:spPr>
          <a:xfrm>
            <a:off x="914400" y="3173412"/>
            <a:ext cx="4983162" cy="34950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5212BA-716C-43F7-C564-5796945A1860}"/>
              </a:ext>
            </a:extLst>
          </p:cNvPr>
          <p:cNvSpPr>
            <a:spLocks noGrp="1"/>
          </p:cNvSpPr>
          <p:nvPr>
            <p:ph type="body" sz="quarter" idx="3"/>
          </p:nvPr>
        </p:nvSpPr>
        <p:spPr>
          <a:xfrm>
            <a:off x="6273105" y="220370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DF0997-D7AA-3B69-46B5-3C52DC86C8DE}"/>
              </a:ext>
            </a:extLst>
          </p:cNvPr>
          <p:cNvSpPr>
            <a:spLocks noGrp="1"/>
          </p:cNvSpPr>
          <p:nvPr>
            <p:ph sz="quarter" idx="4"/>
          </p:nvPr>
        </p:nvSpPr>
        <p:spPr>
          <a:xfrm>
            <a:off x="6273105" y="3173412"/>
            <a:ext cx="5183188" cy="34950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D455EE4-619A-8EFD-2C75-330D157D9EDB}"/>
              </a:ext>
            </a:extLst>
          </p:cNvPr>
          <p:cNvSpPr>
            <a:spLocks noGrp="1"/>
          </p:cNvSpPr>
          <p:nvPr>
            <p:ph type="ftr" sz="quarter" idx="11"/>
          </p:nvPr>
        </p:nvSpPr>
        <p:spPr/>
        <p:txBody>
          <a:bodyPr/>
          <a:lstStyle/>
          <a:p>
            <a:r>
              <a:rPr lang="en-US" dirty="0"/>
              <a:t>Biological &amp; Physical Sciences</a:t>
            </a:r>
          </a:p>
        </p:txBody>
      </p:sp>
      <p:sp>
        <p:nvSpPr>
          <p:cNvPr id="9" name="Slide Number Placeholder 8">
            <a:extLst>
              <a:ext uri="{FF2B5EF4-FFF2-40B4-BE49-F238E27FC236}">
                <a16:creationId xmlns:a16="http://schemas.microsoft.com/office/drawing/2014/main" id="{C218C5AC-C080-2EB1-1F82-F057A282D7EF}"/>
              </a:ext>
            </a:extLst>
          </p:cNvPr>
          <p:cNvSpPr>
            <a:spLocks noGrp="1"/>
          </p:cNvSpPr>
          <p:nvPr>
            <p:ph type="sldNum" sz="quarter" idx="12"/>
          </p:nvPr>
        </p:nvSpPr>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5403575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7BEB-3F95-F7BD-8C6B-C9CDE17AD06E}"/>
              </a:ext>
            </a:extLst>
          </p:cNvPr>
          <p:cNvSpPr>
            <a:spLocks noGrp="1"/>
          </p:cNvSpPr>
          <p:nvPr>
            <p:ph type="title"/>
          </p:nvPr>
        </p:nvSpPr>
        <p:spPr>
          <a:xfrm>
            <a:off x="914400" y="755930"/>
            <a:ext cx="10325100" cy="1325563"/>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27D41258-C225-30B8-4068-2B71A0ED381A}"/>
              </a:ext>
            </a:extLst>
          </p:cNvPr>
          <p:cNvSpPr>
            <a:spLocks noGrp="1"/>
          </p:cNvSpPr>
          <p:nvPr>
            <p:ph type="ftr" sz="quarter" idx="11"/>
          </p:nvPr>
        </p:nvSpPr>
        <p:spPr/>
        <p:txBody>
          <a:bodyPr/>
          <a:lstStyle/>
          <a:p>
            <a:r>
              <a:rPr lang="en-US" dirty="0"/>
              <a:t>Biological &amp; Physical Sciences</a:t>
            </a:r>
          </a:p>
        </p:txBody>
      </p:sp>
      <p:sp>
        <p:nvSpPr>
          <p:cNvPr id="5" name="Slide Number Placeholder 4">
            <a:extLst>
              <a:ext uri="{FF2B5EF4-FFF2-40B4-BE49-F238E27FC236}">
                <a16:creationId xmlns:a16="http://schemas.microsoft.com/office/drawing/2014/main" id="{C1FA1CED-BEE1-ACF5-8AEE-094C9B16F7D7}"/>
              </a:ext>
            </a:extLst>
          </p:cNvPr>
          <p:cNvSpPr>
            <a:spLocks noGrp="1"/>
          </p:cNvSpPr>
          <p:nvPr>
            <p:ph type="sldNum" sz="quarter" idx="12"/>
          </p:nvPr>
        </p:nvSpPr>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6495091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7BEB-3F95-F7BD-8C6B-C9CDE17AD06E}"/>
              </a:ext>
            </a:extLst>
          </p:cNvPr>
          <p:cNvSpPr>
            <a:spLocks noGrp="1"/>
          </p:cNvSpPr>
          <p:nvPr>
            <p:ph type="title" hasCustomPrompt="1"/>
          </p:nvPr>
        </p:nvSpPr>
        <p:spPr>
          <a:xfrm>
            <a:off x="914400" y="755930"/>
            <a:ext cx="10325100" cy="1325563"/>
          </a:xfrm>
        </p:spPr>
        <p:txBody>
          <a:bodyPr/>
          <a:lstStyle/>
          <a:p>
            <a:r>
              <a:rPr lang="en-US" dirty="0"/>
              <a:t>Icon Sets</a:t>
            </a:r>
          </a:p>
        </p:txBody>
      </p:sp>
      <p:sp>
        <p:nvSpPr>
          <p:cNvPr id="4" name="Footer Placeholder 3">
            <a:extLst>
              <a:ext uri="{FF2B5EF4-FFF2-40B4-BE49-F238E27FC236}">
                <a16:creationId xmlns:a16="http://schemas.microsoft.com/office/drawing/2014/main" id="{27D41258-C225-30B8-4068-2B71A0ED381A}"/>
              </a:ext>
            </a:extLst>
          </p:cNvPr>
          <p:cNvSpPr>
            <a:spLocks noGrp="1"/>
          </p:cNvSpPr>
          <p:nvPr>
            <p:ph type="ftr" sz="quarter" idx="11"/>
          </p:nvPr>
        </p:nvSpPr>
        <p:spPr/>
        <p:txBody>
          <a:bodyPr/>
          <a:lstStyle/>
          <a:p>
            <a:r>
              <a:rPr lang="en-US" dirty="0"/>
              <a:t>Biological &amp; Physical Sciences</a:t>
            </a:r>
          </a:p>
        </p:txBody>
      </p:sp>
      <p:sp>
        <p:nvSpPr>
          <p:cNvPr id="5" name="Slide Number Placeholder 4">
            <a:extLst>
              <a:ext uri="{FF2B5EF4-FFF2-40B4-BE49-F238E27FC236}">
                <a16:creationId xmlns:a16="http://schemas.microsoft.com/office/drawing/2014/main" id="{C1FA1CED-BEE1-ACF5-8AEE-094C9B16F7D7}"/>
              </a:ext>
            </a:extLst>
          </p:cNvPr>
          <p:cNvSpPr>
            <a:spLocks noGrp="1"/>
          </p:cNvSpPr>
          <p:nvPr>
            <p:ph type="sldNum" sz="quarter" idx="12"/>
          </p:nvPr>
        </p:nvSpPr>
        <p:spPr/>
        <p:txBody>
          <a:bodyPr/>
          <a:lstStyle/>
          <a:p>
            <a:fld id="{E8618032-BA8D-3D4D-8253-A70208A85976}" type="slidenum">
              <a:rPr lang="en-US" smtClean="0"/>
              <a:t>‹#›</a:t>
            </a:fld>
            <a:endParaRPr lang="en-US"/>
          </a:p>
        </p:txBody>
      </p:sp>
      <p:grpSp>
        <p:nvGrpSpPr>
          <p:cNvPr id="16" name="Group 15">
            <a:extLst>
              <a:ext uri="{FF2B5EF4-FFF2-40B4-BE49-F238E27FC236}">
                <a16:creationId xmlns:a16="http://schemas.microsoft.com/office/drawing/2014/main" id="{DF2DBF73-78F1-5E34-BB47-F8D4315E883F}"/>
              </a:ext>
            </a:extLst>
          </p:cNvPr>
          <p:cNvGrpSpPr/>
          <p:nvPr userDrawn="1"/>
        </p:nvGrpSpPr>
        <p:grpSpPr>
          <a:xfrm>
            <a:off x="620138" y="1752600"/>
            <a:ext cx="1149675" cy="1160621"/>
            <a:chOff x="620138" y="1752600"/>
            <a:chExt cx="1149675" cy="1160621"/>
          </a:xfrm>
        </p:grpSpPr>
        <p:pic>
          <p:nvPicPr>
            <p:cNvPr id="21" name="Picture 20">
              <a:extLst>
                <a:ext uri="{FF2B5EF4-FFF2-40B4-BE49-F238E27FC236}">
                  <a16:creationId xmlns:a16="http://schemas.microsoft.com/office/drawing/2014/main" id="{084DCB50-DA15-0746-CC36-3D6CE4CCBCE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26198" y="1752600"/>
              <a:ext cx="937550" cy="937550"/>
            </a:xfrm>
            <a:prstGeom prst="rect">
              <a:avLst/>
            </a:prstGeom>
          </p:spPr>
        </p:pic>
        <p:sp>
          <p:nvSpPr>
            <p:cNvPr id="6" name="TextBox 5">
              <a:extLst>
                <a:ext uri="{FF2B5EF4-FFF2-40B4-BE49-F238E27FC236}">
                  <a16:creationId xmlns:a16="http://schemas.microsoft.com/office/drawing/2014/main" id="{4C756196-4ADF-DF0C-EBDC-F9F2C81AC2F4}"/>
                </a:ext>
              </a:extLst>
            </p:cNvPr>
            <p:cNvSpPr txBox="1"/>
            <p:nvPr userDrawn="1"/>
          </p:nvSpPr>
          <p:spPr>
            <a:xfrm>
              <a:off x="620138" y="2667000"/>
              <a:ext cx="1149675" cy="246221"/>
            </a:xfrm>
            <a:prstGeom prst="rect">
              <a:avLst/>
            </a:prstGeom>
            <a:noFill/>
          </p:spPr>
          <p:txBody>
            <a:bodyPr wrap="none" rtlCol="0">
              <a:spAutoFit/>
            </a:bodyPr>
            <a:lstStyle/>
            <a:p>
              <a:pPr algn="ctr"/>
              <a:r>
                <a:rPr lang="en-US" sz="1000" dirty="0"/>
                <a:t>Physical Science</a:t>
              </a:r>
            </a:p>
          </p:txBody>
        </p:sp>
      </p:grpSp>
      <p:grpSp>
        <p:nvGrpSpPr>
          <p:cNvPr id="18" name="Group 17">
            <a:extLst>
              <a:ext uri="{FF2B5EF4-FFF2-40B4-BE49-F238E27FC236}">
                <a16:creationId xmlns:a16="http://schemas.microsoft.com/office/drawing/2014/main" id="{511910B8-EFDC-F4BD-D871-01250E169D33}"/>
              </a:ext>
            </a:extLst>
          </p:cNvPr>
          <p:cNvGrpSpPr/>
          <p:nvPr userDrawn="1"/>
        </p:nvGrpSpPr>
        <p:grpSpPr>
          <a:xfrm>
            <a:off x="2119913" y="1752600"/>
            <a:ext cx="937550" cy="1160621"/>
            <a:chOff x="2276156" y="1752600"/>
            <a:chExt cx="937550" cy="1160621"/>
          </a:xfrm>
        </p:grpSpPr>
        <p:pic>
          <p:nvPicPr>
            <p:cNvPr id="19" name="Picture 18" descr="A white symbol on a brown circle&#10;&#10;Description automatically generated">
              <a:extLst>
                <a:ext uri="{FF2B5EF4-FFF2-40B4-BE49-F238E27FC236}">
                  <a16:creationId xmlns:a16="http://schemas.microsoft.com/office/drawing/2014/main" id="{FE1E2990-A33D-309A-9F68-08D9A1E0E4D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276156" y="1752600"/>
              <a:ext cx="937550" cy="937550"/>
            </a:xfrm>
            <a:prstGeom prst="rect">
              <a:avLst/>
            </a:prstGeom>
          </p:spPr>
        </p:pic>
        <p:sp>
          <p:nvSpPr>
            <p:cNvPr id="8" name="TextBox 7">
              <a:extLst>
                <a:ext uri="{FF2B5EF4-FFF2-40B4-BE49-F238E27FC236}">
                  <a16:creationId xmlns:a16="http://schemas.microsoft.com/office/drawing/2014/main" id="{D490AC53-46B8-9208-4DAB-7EBDD1243E80}"/>
                </a:ext>
              </a:extLst>
            </p:cNvPr>
            <p:cNvSpPr txBox="1"/>
            <p:nvPr userDrawn="1"/>
          </p:nvSpPr>
          <p:spPr>
            <a:xfrm>
              <a:off x="2390507" y="2667000"/>
              <a:ext cx="708848" cy="246221"/>
            </a:xfrm>
            <a:prstGeom prst="rect">
              <a:avLst/>
            </a:prstGeom>
            <a:noFill/>
          </p:spPr>
          <p:txBody>
            <a:bodyPr wrap="none" rtlCol="0">
              <a:spAutoFit/>
            </a:bodyPr>
            <a:lstStyle/>
            <a:p>
              <a:pPr algn="ctr"/>
              <a:r>
                <a:rPr lang="en-US" sz="1000" dirty="0"/>
                <a:t>Quantum</a:t>
              </a:r>
            </a:p>
          </p:txBody>
        </p:sp>
      </p:grpSp>
      <p:grpSp>
        <p:nvGrpSpPr>
          <p:cNvPr id="20" name="Group 19">
            <a:extLst>
              <a:ext uri="{FF2B5EF4-FFF2-40B4-BE49-F238E27FC236}">
                <a16:creationId xmlns:a16="http://schemas.microsoft.com/office/drawing/2014/main" id="{63D160AB-747D-0C84-DB2C-12A72938449E}"/>
              </a:ext>
            </a:extLst>
          </p:cNvPr>
          <p:cNvGrpSpPr/>
          <p:nvPr userDrawn="1"/>
        </p:nvGrpSpPr>
        <p:grpSpPr>
          <a:xfrm>
            <a:off x="3500407" y="1752600"/>
            <a:ext cx="937550" cy="1160621"/>
            <a:chOff x="3328048" y="1752600"/>
            <a:chExt cx="937550" cy="1160621"/>
          </a:xfrm>
        </p:grpSpPr>
        <p:pic>
          <p:nvPicPr>
            <p:cNvPr id="35" name="Picture 34">
              <a:extLst>
                <a:ext uri="{FF2B5EF4-FFF2-40B4-BE49-F238E27FC236}">
                  <a16:creationId xmlns:a16="http://schemas.microsoft.com/office/drawing/2014/main" id="{9F58E307-692E-76E5-915A-6BE8C8A6C34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328048" y="1752600"/>
              <a:ext cx="937550" cy="937550"/>
            </a:xfrm>
            <a:prstGeom prst="rect">
              <a:avLst/>
            </a:prstGeom>
          </p:spPr>
        </p:pic>
        <p:sp>
          <p:nvSpPr>
            <p:cNvPr id="10" name="TextBox 9">
              <a:extLst>
                <a:ext uri="{FF2B5EF4-FFF2-40B4-BE49-F238E27FC236}">
                  <a16:creationId xmlns:a16="http://schemas.microsoft.com/office/drawing/2014/main" id="{9F976D59-973C-B3ED-21A7-6E1BF17E1F28}"/>
                </a:ext>
              </a:extLst>
            </p:cNvPr>
            <p:cNvSpPr txBox="1"/>
            <p:nvPr userDrawn="1"/>
          </p:nvSpPr>
          <p:spPr>
            <a:xfrm>
              <a:off x="3565830" y="2667000"/>
              <a:ext cx="461986" cy="246221"/>
            </a:xfrm>
            <a:prstGeom prst="rect">
              <a:avLst/>
            </a:prstGeom>
            <a:noFill/>
          </p:spPr>
          <p:txBody>
            <a:bodyPr wrap="none" rtlCol="0">
              <a:spAutoFit/>
            </a:bodyPr>
            <a:lstStyle/>
            <a:p>
              <a:pPr algn="ctr"/>
              <a:r>
                <a:rPr lang="en-US" sz="1000" dirty="0"/>
                <a:t>Fluid</a:t>
              </a:r>
            </a:p>
          </p:txBody>
        </p:sp>
      </p:grpSp>
      <p:grpSp>
        <p:nvGrpSpPr>
          <p:cNvPr id="22" name="Group 21">
            <a:extLst>
              <a:ext uri="{FF2B5EF4-FFF2-40B4-BE49-F238E27FC236}">
                <a16:creationId xmlns:a16="http://schemas.microsoft.com/office/drawing/2014/main" id="{DFEA1BB1-12A4-2E2E-1955-F3A8B5472743}"/>
              </a:ext>
            </a:extLst>
          </p:cNvPr>
          <p:cNvGrpSpPr/>
          <p:nvPr userDrawn="1"/>
        </p:nvGrpSpPr>
        <p:grpSpPr>
          <a:xfrm>
            <a:off x="4889029" y="1752600"/>
            <a:ext cx="937550" cy="1160621"/>
            <a:chOff x="4379940" y="1752600"/>
            <a:chExt cx="937550" cy="1160621"/>
          </a:xfrm>
        </p:grpSpPr>
        <p:pic>
          <p:nvPicPr>
            <p:cNvPr id="34" name="Picture 33">
              <a:extLst>
                <a:ext uri="{FF2B5EF4-FFF2-40B4-BE49-F238E27FC236}">
                  <a16:creationId xmlns:a16="http://schemas.microsoft.com/office/drawing/2014/main" id="{0E9DBB58-6406-2088-AE7D-CD856A1E7AC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379940" y="1752600"/>
              <a:ext cx="937550" cy="937550"/>
            </a:xfrm>
            <a:prstGeom prst="rect">
              <a:avLst/>
            </a:prstGeom>
          </p:spPr>
        </p:pic>
        <p:sp>
          <p:nvSpPr>
            <p:cNvPr id="12" name="TextBox 11">
              <a:extLst>
                <a:ext uri="{FF2B5EF4-FFF2-40B4-BE49-F238E27FC236}">
                  <a16:creationId xmlns:a16="http://schemas.microsoft.com/office/drawing/2014/main" id="{8D472200-79FE-9C5A-93BA-31F52D3EE86F}"/>
                </a:ext>
              </a:extLst>
            </p:cNvPr>
            <p:cNvSpPr txBox="1"/>
            <p:nvPr userDrawn="1"/>
          </p:nvSpPr>
          <p:spPr>
            <a:xfrm>
              <a:off x="4483070" y="2667000"/>
              <a:ext cx="731290" cy="246221"/>
            </a:xfrm>
            <a:prstGeom prst="rect">
              <a:avLst/>
            </a:prstGeom>
            <a:noFill/>
          </p:spPr>
          <p:txBody>
            <a:bodyPr wrap="none" rtlCol="0">
              <a:spAutoFit/>
            </a:bodyPr>
            <a:lstStyle/>
            <a:p>
              <a:pPr algn="ctr"/>
              <a:r>
                <a:rPr lang="en-US" sz="1000" dirty="0"/>
                <a:t>Complete</a:t>
              </a:r>
            </a:p>
          </p:txBody>
        </p:sp>
      </p:grpSp>
      <p:grpSp>
        <p:nvGrpSpPr>
          <p:cNvPr id="23" name="Group 22">
            <a:extLst>
              <a:ext uri="{FF2B5EF4-FFF2-40B4-BE49-F238E27FC236}">
                <a16:creationId xmlns:a16="http://schemas.microsoft.com/office/drawing/2014/main" id="{2BC30226-E85A-EAB4-EA3A-2F8AF418AC7A}"/>
              </a:ext>
            </a:extLst>
          </p:cNvPr>
          <p:cNvGrpSpPr/>
          <p:nvPr userDrawn="1"/>
        </p:nvGrpSpPr>
        <p:grpSpPr>
          <a:xfrm>
            <a:off x="6247355" y="1752600"/>
            <a:ext cx="937550" cy="1160621"/>
            <a:chOff x="5431831" y="1752600"/>
            <a:chExt cx="937550" cy="1160621"/>
          </a:xfrm>
        </p:grpSpPr>
        <p:pic>
          <p:nvPicPr>
            <p:cNvPr id="39" name="Picture 38">
              <a:extLst>
                <a:ext uri="{FF2B5EF4-FFF2-40B4-BE49-F238E27FC236}">
                  <a16:creationId xmlns:a16="http://schemas.microsoft.com/office/drawing/2014/main" id="{829FB4C8-0924-DD30-1DEA-0B2E407C2C96}"/>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14" name="TextBox 13">
              <a:extLst>
                <a:ext uri="{FF2B5EF4-FFF2-40B4-BE49-F238E27FC236}">
                  <a16:creationId xmlns:a16="http://schemas.microsoft.com/office/drawing/2014/main" id="{2E9D3CBF-9626-9176-B486-F34F15BE4A9E}"/>
                </a:ext>
              </a:extLst>
            </p:cNvPr>
            <p:cNvSpPr txBox="1"/>
            <p:nvPr userDrawn="1"/>
          </p:nvSpPr>
          <p:spPr>
            <a:xfrm>
              <a:off x="5530953" y="2667000"/>
              <a:ext cx="739306" cy="246221"/>
            </a:xfrm>
            <a:prstGeom prst="rect">
              <a:avLst/>
            </a:prstGeom>
            <a:noFill/>
          </p:spPr>
          <p:txBody>
            <a:bodyPr wrap="none" rtlCol="0">
              <a:spAutoFit/>
            </a:bodyPr>
            <a:lstStyle/>
            <a:p>
              <a:pPr algn="ctr"/>
              <a:r>
                <a:rPr lang="en-US" sz="1000" dirty="0"/>
                <a:t>Molecular</a:t>
              </a:r>
            </a:p>
          </p:txBody>
        </p:sp>
      </p:grpSp>
      <p:grpSp>
        <p:nvGrpSpPr>
          <p:cNvPr id="24" name="Group 23">
            <a:extLst>
              <a:ext uri="{FF2B5EF4-FFF2-40B4-BE49-F238E27FC236}">
                <a16:creationId xmlns:a16="http://schemas.microsoft.com/office/drawing/2014/main" id="{F5EC613B-9512-31BF-730B-49C7B41C44C6}"/>
              </a:ext>
            </a:extLst>
          </p:cNvPr>
          <p:cNvGrpSpPr/>
          <p:nvPr userDrawn="1"/>
        </p:nvGrpSpPr>
        <p:grpSpPr>
          <a:xfrm>
            <a:off x="7661269" y="1752600"/>
            <a:ext cx="937550" cy="1160621"/>
            <a:chOff x="5431831" y="1752600"/>
            <a:chExt cx="937550" cy="1160621"/>
          </a:xfrm>
        </p:grpSpPr>
        <p:pic>
          <p:nvPicPr>
            <p:cNvPr id="25" name="Picture 24">
              <a:extLst>
                <a:ext uri="{FF2B5EF4-FFF2-40B4-BE49-F238E27FC236}">
                  <a16:creationId xmlns:a16="http://schemas.microsoft.com/office/drawing/2014/main" id="{3EA005A4-9DA7-B0C3-08EE-98CB0CE9BA4A}"/>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26" name="TextBox 25">
              <a:extLst>
                <a:ext uri="{FF2B5EF4-FFF2-40B4-BE49-F238E27FC236}">
                  <a16:creationId xmlns:a16="http://schemas.microsoft.com/office/drawing/2014/main" id="{B5FE336D-FA97-22C9-55DC-079F3A53A069}"/>
                </a:ext>
              </a:extLst>
            </p:cNvPr>
            <p:cNvSpPr txBox="1"/>
            <p:nvPr userDrawn="1"/>
          </p:nvSpPr>
          <p:spPr>
            <a:xfrm>
              <a:off x="5607097" y="2667000"/>
              <a:ext cx="587020" cy="246221"/>
            </a:xfrm>
            <a:prstGeom prst="rect">
              <a:avLst/>
            </a:prstGeom>
            <a:noFill/>
          </p:spPr>
          <p:txBody>
            <a:bodyPr wrap="none" rtlCol="0">
              <a:spAutoFit/>
            </a:bodyPr>
            <a:lstStyle/>
            <a:p>
              <a:pPr algn="ctr"/>
              <a:r>
                <a:rPr lang="en-US" sz="1000" dirty="0"/>
                <a:t>Budget</a:t>
              </a:r>
            </a:p>
          </p:txBody>
        </p:sp>
      </p:grpSp>
      <p:grpSp>
        <p:nvGrpSpPr>
          <p:cNvPr id="27" name="Group 26">
            <a:extLst>
              <a:ext uri="{FF2B5EF4-FFF2-40B4-BE49-F238E27FC236}">
                <a16:creationId xmlns:a16="http://schemas.microsoft.com/office/drawing/2014/main" id="{56DF185E-4874-C556-B523-55B66CA67CA6}"/>
              </a:ext>
            </a:extLst>
          </p:cNvPr>
          <p:cNvGrpSpPr/>
          <p:nvPr userDrawn="1"/>
        </p:nvGrpSpPr>
        <p:grpSpPr>
          <a:xfrm>
            <a:off x="9037083" y="1752600"/>
            <a:ext cx="937550" cy="1160621"/>
            <a:chOff x="5431831" y="1752600"/>
            <a:chExt cx="937550" cy="1160621"/>
          </a:xfrm>
        </p:grpSpPr>
        <p:pic>
          <p:nvPicPr>
            <p:cNvPr id="40" name="Picture 39">
              <a:extLst>
                <a:ext uri="{FF2B5EF4-FFF2-40B4-BE49-F238E27FC236}">
                  <a16:creationId xmlns:a16="http://schemas.microsoft.com/office/drawing/2014/main" id="{63CE37AC-3781-BB31-177C-5CE7E2287CED}"/>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41" name="TextBox 40">
              <a:extLst>
                <a:ext uri="{FF2B5EF4-FFF2-40B4-BE49-F238E27FC236}">
                  <a16:creationId xmlns:a16="http://schemas.microsoft.com/office/drawing/2014/main" id="{C38C9462-D61D-BDFC-9D8E-41D0C89DE06F}"/>
                </a:ext>
              </a:extLst>
            </p:cNvPr>
            <p:cNvSpPr txBox="1"/>
            <p:nvPr userDrawn="1"/>
          </p:nvSpPr>
          <p:spPr>
            <a:xfrm>
              <a:off x="5684843" y="2667000"/>
              <a:ext cx="431529" cy="246221"/>
            </a:xfrm>
            <a:prstGeom prst="rect">
              <a:avLst/>
            </a:prstGeom>
            <a:noFill/>
          </p:spPr>
          <p:txBody>
            <a:bodyPr wrap="none" rtlCol="0">
              <a:spAutoFit/>
            </a:bodyPr>
            <a:lstStyle/>
            <a:p>
              <a:pPr algn="ctr"/>
              <a:r>
                <a:rPr lang="en-US" sz="1000" dirty="0"/>
                <a:t>Idea</a:t>
              </a:r>
            </a:p>
          </p:txBody>
        </p:sp>
      </p:grpSp>
      <p:grpSp>
        <p:nvGrpSpPr>
          <p:cNvPr id="42" name="Group 41">
            <a:extLst>
              <a:ext uri="{FF2B5EF4-FFF2-40B4-BE49-F238E27FC236}">
                <a16:creationId xmlns:a16="http://schemas.microsoft.com/office/drawing/2014/main" id="{5CD12664-0486-A848-58F4-C28C560C54DC}"/>
              </a:ext>
            </a:extLst>
          </p:cNvPr>
          <p:cNvGrpSpPr/>
          <p:nvPr userDrawn="1"/>
        </p:nvGrpSpPr>
        <p:grpSpPr>
          <a:xfrm>
            <a:off x="10412895" y="1752600"/>
            <a:ext cx="937550" cy="1160621"/>
            <a:chOff x="5431831" y="1752600"/>
            <a:chExt cx="937550" cy="1160621"/>
          </a:xfrm>
        </p:grpSpPr>
        <p:pic>
          <p:nvPicPr>
            <p:cNvPr id="43" name="Picture 42">
              <a:extLst>
                <a:ext uri="{FF2B5EF4-FFF2-40B4-BE49-F238E27FC236}">
                  <a16:creationId xmlns:a16="http://schemas.microsoft.com/office/drawing/2014/main" id="{C49D6AE0-9F7E-5646-BBF2-3EB286B932C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44" name="TextBox 43">
              <a:extLst>
                <a:ext uri="{FF2B5EF4-FFF2-40B4-BE49-F238E27FC236}">
                  <a16:creationId xmlns:a16="http://schemas.microsoft.com/office/drawing/2014/main" id="{91436932-7489-215B-A927-D94234ABE44F}"/>
                </a:ext>
              </a:extLst>
            </p:cNvPr>
            <p:cNvSpPr txBox="1"/>
            <p:nvPr userDrawn="1"/>
          </p:nvSpPr>
          <p:spPr>
            <a:xfrm>
              <a:off x="5485271" y="2667000"/>
              <a:ext cx="830677" cy="246221"/>
            </a:xfrm>
            <a:prstGeom prst="rect">
              <a:avLst/>
            </a:prstGeom>
            <a:noFill/>
          </p:spPr>
          <p:txBody>
            <a:bodyPr wrap="none" rtlCol="0">
              <a:spAutoFit/>
            </a:bodyPr>
            <a:lstStyle/>
            <a:p>
              <a:pPr algn="ctr"/>
              <a:r>
                <a:rPr lang="en-US" sz="1000" dirty="0"/>
                <a:t>Experiment</a:t>
              </a:r>
            </a:p>
          </p:txBody>
        </p:sp>
      </p:grpSp>
      <p:grpSp>
        <p:nvGrpSpPr>
          <p:cNvPr id="45" name="Group 44">
            <a:extLst>
              <a:ext uri="{FF2B5EF4-FFF2-40B4-BE49-F238E27FC236}">
                <a16:creationId xmlns:a16="http://schemas.microsoft.com/office/drawing/2014/main" id="{2B0F299A-3739-E2C2-ADAB-FEB8CB19AA01}"/>
              </a:ext>
            </a:extLst>
          </p:cNvPr>
          <p:cNvGrpSpPr/>
          <p:nvPr userDrawn="1"/>
        </p:nvGrpSpPr>
        <p:grpSpPr>
          <a:xfrm>
            <a:off x="709105" y="3246863"/>
            <a:ext cx="971741" cy="1160621"/>
            <a:chOff x="709103" y="1752600"/>
            <a:chExt cx="971741" cy="1160621"/>
          </a:xfrm>
        </p:grpSpPr>
        <p:pic>
          <p:nvPicPr>
            <p:cNvPr id="46" name="Picture 45">
              <a:extLst>
                <a:ext uri="{FF2B5EF4-FFF2-40B4-BE49-F238E27FC236}">
                  <a16:creationId xmlns:a16="http://schemas.microsoft.com/office/drawing/2014/main" id="{D7CD17CB-B72B-50B2-32D5-1580EF583820}"/>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726198" y="1752600"/>
              <a:ext cx="937550" cy="937550"/>
            </a:xfrm>
            <a:prstGeom prst="rect">
              <a:avLst/>
            </a:prstGeom>
          </p:spPr>
        </p:pic>
        <p:sp>
          <p:nvSpPr>
            <p:cNvPr id="47" name="TextBox 46">
              <a:extLst>
                <a:ext uri="{FF2B5EF4-FFF2-40B4-BE49-F238E27FC236}">
                  <a16:creationId xmlns:a16="http://schemas.microsoft.com/office/drawing/2014/main" id="{ABBBB447-9DD9-51D6-7E1F-53FCEA69C8AE}"/>
                </a:ext>
              </a:extLst>
            </p:cNvPr>
            <p:cNvSpPr txBox="1"/>
            <p:nvPr userDrawn="1"/>
          </p:nvSpPr>
          <p:spPr>
            <a:xfrm>
              <a:off x="709103" y="2667000"/>
              <a:ext cx="971741" cy="246221"/>
            </a:xfrm>
            <a:prstGeom prst="rect">
              <a:avLst/>
            </a:prstGeom>
            <a:noFill/>
          </p:spPr>
          <p:txBody>
            <a:bodyPr wrap="none" rtlCol="0">
              <a:spAutoFit/>
            </a:bodyPr>
            <a:lstStyle/>
            <a:p>
              <a:pPr algn="ctr"/>
              <a:r>
                <a:rPr lang="en-US" sz="1000" dirty="0"/>
                <a:t>Attention/Risk</a:t>
              </a:r>
            </a:p>
          </p:txBody>
        </p:sp>
      </p:grpSp>
      <p:grpSp>
        <p:nvGrpSpPr>
          <p:cNvPr id="48" name="Group 47">
            <a:extLst>
              <a:ext uri="{FF2B5EF4-FFF2-40B4-BE49-F238E27FC236}">
                <a16:creationId xmlns:a16="http://schemas.microsoft.com/office/drawing/2014/main" id="{145483EF-BC35-2B72-DF14-F98491F5A878}"/>
              </a:ext>
            </a:extLst>
          </p:cNvPr>
          <p:cNvGrpSpPr/>
          <p:nvPr userDrawn="1"/>
        </p:nvGrpSpPr>
        <p:grpSpPr>
          <a:xfrm>
            <a:off x="2119913" y="3246863"/>
            <a:ext cx="937550" cy="1160621"/>
            <a:chOff x="2276156" y="1752600"/>
            <a:chExt cx="937550" cy="1160621"/>
          </a:xfrm>
        </p:grpSpPr>
        <p:pic>
          <p:nvPicPr>
            <p:cNvPr id="49" name="Picture 48">
              <a:extLst>
                <a:ext uri="{FF2B5EF4-FFF2-40B4-BE49-F238E27FC236}">
                  <a16:creationId xmlns:a16="http://schemas.microsoft.com/office/drawing/2014/main" id="{DC1CB1A3-CB6A-3F6F-D4C8-D0A375257F59}"/>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2276156" y="1752600"/>
              <a:ext cx="937550" cy="937550"/>
            </a:xfrm>
            <a:prstGeom prst="rect">
              <a:avLst/>
            </a:prstGeom>
          </p:spPr>
        </p:pic>
        <p:sp>
          <p:nvSpPr>
            <p:cNvPr id="50" name="TextBox 49">
              <a:extLst>
                <a:ext uri="{FF2B5EF4-FFF2-40B4-BE49-F238E27FC236}">
                  <a16:creationId xmlns:a16="http://schemas.microsoft.com/office/drawing/2014/main" id="{864AB0F9-D4AB-42DC-85C6-261EF3905EB7}"/>
                </a:ext>
              </a:extLst>
            </p:cNvPr>
            <p:cNvSpPr txBox="1"/>
            <p:nvPr userDrawn="1"/>
          </p:nvSpPr>
          <p:spPr>
            <a:xfrm>
              <a:off x="2368868" y="2667000"/>
              <a:ext cx="752129" cy="246221"/>
            </a:xfrm>
            <a:prstGeom prst="rect">
              <a:avLst/>
            </a:prstGeom>
            <a:noFill/>
          </p:spPr>
          <p:txBody>
            <a:bodyPr wrap="none" rtlCol="0">
              <a:spAutoFit/>
            </a:bodyPr>
            <a:lstStyle/>
            <a:p>
              <a:pPr algn="ctr"/>
              <a:r>
                <a:rPr lang="en-US" sz="1000" dirty="0"/>
                <a:t>List/To-do</a:t>
              </a:r>
            </a:p>
          </p:txBody>
        </p:sp>
      </p:grpSp>
      <p:grpSp>
        <p:nvGrpSpPr>
          <p:cNvPr id="51" name="Group 50">
            <a:extLst>
              <a:ext uri="{FF2B5EF4-FFF2-40B4-BE49-F238E27FC236}">
                <a16:creationId xmlns:a16="http://schemas.microsoft.com/office/drawing/2014/main" id="{91D7BD37-7B62-B0BE-B34B-FE7378F9CBAE}"/>
              </a:ext>
            </a:extLst>
          </p:cNvPr>
          <p:cNvGrpSpPr/>
          <p:nvPr userDrawn="1"/>
        </p:nvGrpSpPr>
        <p:grpSpPr>
          <a:xfrm>
            <a:off x="3376712" y="3246863"/>
            <a:ext cx="1184941" cy="1160621"/>
            <a:chOff x="3204355" y="1752600"/>
            <a:chExt cx="1184941" cy="1160621"/>
          </a:xfrm>
        </p:grpSpPr>
        <p:pic>
          <p:nvPicPr>
            <p:cNvPr id="52" name="Picture 51">
              <a:extLst>
                <a:ext uri="{FF2B5EF4-FFF2-40B4-BE49-F238E27FC236}">
                  <a16:creationId xmlns:a16="http://schemas.microsoft.com/office/drawing/2014/main" id="{E016F2B6-B7E8-1132-2642-EA957F1761C7}"/>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3328048" y="1752600"/>
              <a:ext cx="937550" cy="937550"/>
            </a:xfrm>
            <a:prstGeom prst="rect">
              <a:avLst/>
            </a:prstGeom>
          </p:spPr>
        </p:pic>
        <p:sp>
          <p:nvSpPr>
            <p:cNvPr id="53" name="TextBox 52">
              <a:extLst>
                <a:ext uri="{FF2B5EF4-FFF2-40B4-BE49-F238E27FC236}">
                  <a16:creationId xmlns:a16="http://schemas.microsoft.com/office/drawing/2014/main" id="{FE880E60-8A4E-251D-C573-98A48CAF06AC}"/>
                </a:ext>
              </a:extLst>
            </p:cNvPr>
            <p:cNvSpPr txBox="1"/>
            <p:nvPr userDrawn="1"/>
          </p:nvSpPr>
          <p:spPr>
            <a:xfrm>
              <a:off x="3204355" y="2667000"/>
              <a:ext cx="1184941" cy="246221"/>
            </a:xfrm>
            <a:prstGeom prst="rect">
              <a:avLst/>
            </a:prstGeom>
            <a:noFill/>
          </p:spPr>
          <p:txBody>
            <a:bodyPr wrap="none" rtlCol="0">
              <a:spAutoFit/>
            </a:bodyPr>
            <a:lstStyle/>
            <a:p>
              <a:pPr algn="ctr"/>
              <a:r>
                <a:rPr lang="en-US" sz="1000" dirty="0"/>
                <a:t>Report/Document</a:t>
              </a:r>
            </a:p>
          </p:txBody>
        </p:sp>
      </p:grpSp>
      <p:grpSp>
        <p:nvGrpSpPr>
          <p:cNvPr id="54" name="Group 53">
            <a:extLst>
              <a:ext uri="{FF2B5EF4-FFF2-40B4-BE49-F238E27FC236}">
                <a16:creationId xmlns:a16="http://schemas.microsoft.com/office/drawing/2014/main" id="{A6033F2C-0684-B356-46F6-D9BF89D9EBB8}"/>
              </a:ext>
            </a:extLst>
          </p:cNvPr>
          <p:cNvGrpSpPr/>
          <p:nvPr userDrawn="1"/>
        </p:nvGrpSpPr>
        <p:grpSpPr>
          <a:xfrm>
            <a:off x="6247355" y="3246863"/>
            <a:ext cx="937550" cy="1160621"/>
            <a:chOff x="4379940" y="1752600"/>
            <a:chExt cx="937550" cy="1160621"/>
          </a:xfrm>
        </p:grpSpPr>
        <p:pic>
          <p:nvPicPr>
            <p:cNvPr id="55" name="Picture 54">
              <a:extLst>
                <a:ext uri="{FF2B5EF4-FFF2-40B4-BE49-F238E27FC236}">
                  <a16:creationId xmlns:a16="http://schemas.microsoft.com/office/drawing/2014/main" id="{39BAD218-B5C9-34D3-5AF3-0CBB52EE323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4379940" y="1752600"/>
              <a:ext cx="937550" cy="937550"/>
            </a:xfrm>
            <a:prstGeom prst="rect">
              <a:avLst/>
            </a:prstGeom>
          </p:spPr>
        </p:pic>
        <p:sp>
          <p:nvSpPr>
            <p:cNvPr id="56" name="TextBox 55">
              <a:extLst>
                <a:ext uri="{FF2B5EF4-FFF2-40B4-BE49-F238E27FC236}">
                  <a16:creationId xmlns:a16="http://schemas.microsoft.com/office/drawing/2014/main" id="{9E81308E-5F10-C3B2-DBCC-5B1B946E1E11}"/>
                </a:ext>
              </a:extLst>
            </p:cNvPr>
            <p:cNvSpPr txBox="1"/>
            <p:nvPr userDrawn="1"/>
          </p:nvSpPr>
          <p:spPr>
            <a:xfrm>
              <a:off x="4429371" y="2667000"/>
              <a:ext cx="838691" cy="246221"/>
            </a:xfrm>
            <a:prstGeom prst="rect">
              <a:avLst/>
            </a:prstGeom>
            <a:noFill/>
          </p:spPr>
          <p:txBody>
            <a:bodyPr wrap="none" rtlCol="0">
              <a:spAutoFit/>
            </a:bodyPr>
            <a:lstStyle/>
            <a:p>
              <a:pPr algn="ctr"/>
              <a:r>
                <a:rPr lang="en-US" sz="1000" dirty="0"/>
                <a:t>Microscope</a:t>
              </a:r>
            </a:p>
          </p:txBody>
        </p:sp>
      </p:grpSp>
      <p:grpSp>
        <p:nvGrpSpPr>
          <p:cNvPr id="57" name="Group 56">
            <a:extLst>
              <a:ext uri="{FF2B5EF4-FFF2-40B4-BE49-F238E27FC236}">
                <a16:creationId xmlns:a16="http://schemas.microsoft.com/office/drawing/2014/main" id="{BCB13DA3-C4EA-FA14-E54A-64A7393C4797}"/>
              </a:ext>
            </a:extLst>
          </p:cNvPr>
          <p:cNvGrpSpPr/>
          <p:nvPr userDrawn="1"/>
        </p:nvGrpSpPr>
        <p:grpSpPr>
          <a:xfrm>
            <a:off x="10412895" y="3246863"/>
            <a:ext cx="937550" cy="1160621"/>
            <a:chOff x="5431831" y="1752600"/>
            <a:chExt cx="937550" cy="1160621"/>
          </a:xfrm>
        </p:grpSpPr>
        <p:pic>
          <p:nvPicPr>
            <p:cNvPr id="58" name="Picture 57">
              <a:extLst>
                <a:ext uri="{FF2B5EF4-FFF2-40B4-BE49-F238E27FC236}">
                  <a16:creationId xmlns:a16="http://schemas.microsoft.com/office/drawing/2014/main" id="{2E0CFCFC-C544-673F-AC06-758A8EEB54E3}"/>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59" name="TextBox 58">
              <a:extLst>
                <a:ext uri="{FF2B5EF4-FFF2-40B4-BE49-F238E27FC236}">
                  <a16:creationId xmlns:a16="http://schemas.microsoft.com/office/drawing/2014/main" id="{761C5F85-20F7-D144-95A9-0CE5C5D9B15C}"/>
                </a:ext>
              </a:extLst>
            </p:cNvPr>
            <p:cNvSpPr txBox="1"/>
            <p:nvPr userDrawn="1"/>
          </p:nvSpPr>
          <p:spPr>
            <a:xfrm>
              <a:off x="5485270" y="2667000"/>
              <a:ext cx="830676" cy="246221"/>
            </a:xfrm>
            <a:prstGeom prst="rect">
              <a:avLst/>
            </a:prstGeom>
            <a:noFill/>
          </p:spPr>
          <p:txBody>
            <a:bodyPr wrap="none" rtlCol="0">
              <a:spAutoFit/>
            </a:bodyPr>
            <a:lstStyle/>
            <a:p>
              <a:pPr algn="ctr"/>
              <a:r>
                <a:rPr lang="en-US" sz="1000" dirty="0"/>
                <a:t>Experiment</a:t>
              </a:r>
            </a:p>
          </p:txBody>
        </p:sp>
      </p:grpSp>
      <p:grpSp>
        <p:nvGrpSpPr>
          <p:cNvPr id="60" name="Group 59">
            <a:extLst>
              <a:ext uri="{FF2B5EF4-FFF2-40B4-BE49-F238E27FC236}">
                <a16:creationId xmlns:a16="http://schemas.microsoft.com/office/drawing/2014/main" id="{6B523C45-1411-FFA2-CDD6-030F8673413B}"/>
              </a:ext>
            </a:extLst>
          </p:cNvPr>
          <p:cNvGrpSpPr/>
          <p:nvPr userDrawn="1"/>
        </p:nvGrpSpPr>
        <p:grpSpPr>
          <a:xfrm>
            <a:off x="7661269" y="3246863"/>
            <a:ext cx="937550" cy="1160621"/>
            <a:chOff x="5431831" y="1752600"/>
            <a:chExt cx="937550" cy="1160621"/>
          </a:xfrm>
        </p:grpSpPr>
        <p:pic>
          <p:nvPicPr>
            <p:cNvPr id="61" name="Picture 60">
              <a:extLst>
                <a:ext uri="{FF2B5EF4-FFF2-40B4-BE49-F238E27FC236}">
                  <a16:creationId xmlns:a16="http://schemas.microsoft.com/office/drawing/2014/main" id="{CBAEB1D6-A0DB-C3DE-CEFD-60B96E056668}"/>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62" name="TextBox 61">
              <a:extLst>
                <a:ext uri="{FF2B5EF4-FFF2-40B4-BE49-F238E27FC236}">
                  <a16:creationId xmlns:a16="http://schemas.microsoft.com/office/drawing/2014/main" id="{1DB68FE0-405B-2CB1-9B49-0529846D28AF}"/>
                </a:ext>
              </a:extLst>
            </p:cNvPr>
            <p:cNvSpPr txBox="1"/>
            <p:nvPr userDrawn="1"/>
          </p:nvSpPr>
          <p:spPr>
            <a:xfrm>
              <a:off x="5627937" y="2667000"/>
              <a:ext cx="545342" cy="246221"/>
            </a:xfrm>
            <a:prstGeom prst="rect">
              <a:avLst/>
            </a:prstGeom>
            <a:noFill/>
          </p:spPr>
          <p:txBody>
            <a:bodyPr wrap="none" rtlCol="0">
              <a:spAutoFit/>
            </a:bodyPr>
            <a:lstStyle/>
            <a:p>
              <a:pPr algn="ctr"/>
              <a:r>
                <a:rPr lang="en-US" sz="1000" dirty="0"/>
                <a:t>Space</a:t>
              </a:r>
            </a:p>
          </p:txBody>
        </p:sp>
      </p:grpSp>
      <p:grpSp>
        <p:nvGrpSpPr>
          <p:cNvPr id="66" name="Group 65">
            <a:extLst>
              <a:ext uri="{FF2B5EF4-FFF2-40B4-BE49-F238E27FC236}">
                <a16:creationId xmlns:a16="http://schemas.microsoft.com/office/drawing/2014/main" id="{9C8573B0-C3E9-BD4A-12C6-2C05FEB654FB}"/>
              </a:ext>
            </a:extLst>
          </p:cNvPr>
          <p:cNvGrpSpPr/>
          <p:nvPr userDrawn="1"/>
        </p:nvGrpSpPr>
        <p:grpSpPr>
          <a:xfrm>
            <a:off x="4800600" y="3246863"/>
            <a:ext cx="1114409" cy="1160621"/>
            <a:chOff x="5343407" y="1752600"/>
            <a:chExt cx="1114409" cy="1160621"/>
          </a:xfrm>
        </p:grpSpPr>
        <p:pic>
          <p:nvPicPr>
            <p:cNvPr id="67" name="Picture 66">
              <a:extLst>
                <a:ext uri="{FF2B5EF4-FFF2-40B4-BE49-F238E27FC236}">
                  <a16:creationId xmlns:a16="http://schemas.microsoft.com/office/drawing/2014/main" id="{E7FB7A2A-2D14-1105-B15D-4F4C04A6FF74}"/>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68" name="TextBox 67">
              <a:extLst>
                <a:ext uri="{FF2B5EF4-FFF2-40B4-BE49-F238E27FC236}">
                  <a16:creationId xmlns:a16="http://schemas.microsoft.com/office/drawing/2014/main" id="{4CA22A94-509E-32C8-87A6-C41E8B1B2DEA}"/>
                </a:ext>
              </a:extLst>
            </p:cNvPr>
            <p:cNvSpPr txBox="1"/>
            <p:nvPr userDrawn="1"/>
          </p:nvSpPr>
          <p:spPr>
            <a:xfrm>
              <a:off x="5343407" y="2667000"/>
              <a:ext cx="1114409" cy="246221"/>
            </a:xfrm>
            <a:prstGeom prst="rect">
              <a:avLst/>
            </a:prstGeom>
            <a:noFill/>
          </p:spPr>
          <p:txBody>
            <a:bodyPr wrap="none" rtlCol="0">
              <a:spAutoFit/>
            </a:bodyPr>
            <a:lstStyle/>
            <a:p>
              <a:pPr algn="ctr"/>
              <a:r>
                <a:rPr lang="en-US" sz="1000" dirty="0"/>
                <a:t>Report/Analytics</a:t>
              </a:r>
            </a:p>
          </p:txBody>
        </p:sp>
      </p:grpSp>
      <p:grpSp>
        <p:nvGrpSpPr>
          <p:cNvPr id="69" name="Group 68">
            <a:extLst>
              <a:ext uri="{FF2B5EF4-FFF2-40B4-BE49-F238E27FC236}">
                <a16:creationId xmlns:a16="http://schemas.microsoft.com/office/drawing/2014/main" id="{846D9EA6-D0B5-18CC-6C05-63F3908918A0}"/>
              </a:ext>
            </a:extLst>
          </p:cNvPr>
          <p:cNvGrpSpPr/>
          <p:nvPr userDrawn="1"/>
        </p:nvGrpSpPr>
        <p:grpSpPr>
          <a:xfrm>
            <a:off x="9037083" y="3246863"/>
            <a:ext cx="937550" cy="1160621"/>
            <a:chOff x="5431831" y="1752600"/>
            <a:chExt cx="937550" cy="1160621"/>
          </a:xfrm>
        </p:grpSpPr>
        <p:pic>
          <p:nvPicPr>
            <p:cNvPr id="70" name="Picture 69">
              <a:extLst>
                <a:ext uri="{FF2B5EF4-FFF2-40B4-BE49-F238E27FC236}">
                  <a16:creationId xmlns:a16="http://schemas.microsoft.com/office/drawing/2014/main" id="{56CADE8A-6EC7-51D0-0CFE-1124AA9C6C51}"/>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71" name="TextBox 70">
              <a:extLst>
                <a:ext uri="{FF2B5EF4-FFF2-40B4-BE49-F238E27FC236}">
                  <a16:creationId xmlns:a16="http://schemas.microsoft.com/office/drawing/2014/main" id="{9702BEAC-3F80-2061-C091-2E2DE37438D1}"/>
                </a:ext>
              </a:extLst>
            </p:cNvPr>
            <p:cNvSpPr txBox="1"/>
            <p:nvPr userDrawn="1"/>
          </p:nvSpPr>
          <p:spPr>
            <a:xfrm>
              <a:off x="5599081" y="2667000"/>
              <a:ext cx="603050" cy="246221"/>
            </a:xfrm>
            <a:prstGeom prst="rect">
              <a:avLst/>
            </a:prstGeom>
            <a:noFill/>
          </p:spPr>
          <p:txBody>
            <a:bodyPr wrap="none" rtlCol="0">
              <a:spAutoFit/>
            </a:bodyPr>
            <a:lstStyle/>
            <a:p>
              <a:pPr algn="ctr"/>
              <a:r>
                <a:rPr lang="en-US" sz="1000" dirty="0"/>
                <a:t>Biology</a:t>
              </a:r>
            </a:p>
          </p:txBody>
        </p:sp>
      </p:grpSp>
    </p:spTree>
    <p:extLst>
      <p:ext uri="{BB962C8B-B14F-4D97-AF65-F5344CB8AC3E}">
        <p14:creationId xmlns:p14="http://schemas.microsoft.com/office/powerpoint/2010/main" val="32413068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7BEB-3F95-F7BD-8C6B-C9CDE17AD06E}"/>
              </a:ext>
            </a:extLst>
          </p:cNvPr>
          <p:cNvSpPr>
            <a:spLocks noGrp="1"/>
          </p:cNvSpPr>
          <p:nvPr>
            <p:ph type="title" hasCustomPrompt="1"/>
          </p:nvPr>
        </p:nvSpPr>
        <p:spPr>
          <a:xfrm>
            <a:off x="914400" y="755930"/>
            <a:ext cx="10325100" cy="1325563"/>
          </a:xfrm>
        </p:spPr>
        <p:txBody>
          <a:bodyPr/>
          <a:lstStyle/>
          <a:p>
            <a:r>
              <a:rPr lang="en-US" dirty="0"/>
              <a:t>Icon Sets</a:t>
            </a:r>
          </a:p>
        </p:txBody>
      </p:sp>
      <p:sp>
        <p:nvSpPr>
          <p:cNvPr id="4" name="Footer Placeholder 3">
            <a:extLst>
              <a:ext uri="{FF2B5EF4-FFF2-40B4-BE49-F238E27FC236}">
                <a16:creationId xmlns:a16="http://schemas.microsoft.com/office/drawing/2014/main" id="{27D41258-C225-30B8-4068-2B71A0ED381A}"/>
              </a:ext>
            </a:extLst>
          </p:cNvPr>
          <p:cNvSpPr>
            <a:spLocks noGrp="1"/>
          </p:cNvSpPr>
          <p:nvPr>
            <p:ph type="ftr" sz="quarter" idx="11"/>
          </p:nvPr>
        </p:nvSpPr>
        <p:spPr/>
        <p:txBody>
          <a:bodyPr/>
          <a:lstStyle/>
          <a:p>
            <a:r>
              <a:rPr lang="en-US" dirty="0"/>
              <a:t>Biological &amp; Physical Sciences</a:t>
            </a:r>
          </a:p>
        </p:txBody>
      </p:sp>
      <p:sp>
        <p:nvSpPr>
          <p:cNvPr id="5" name="Slide Number Placeholder 4">
            <a:extLst>
              <a:ext uri="{FF2B5EF4-FFF2-40B4-BE49-F238E27FC236}">
                <a16:creationId xmlns:a16="http://schemas.microsoft.com/office/drawing/2014/main" id="{C1FA1CED-BEE1-ACF5-8AEE-094C9B16F7D7}"/>
              </a:ext>
            </a:extLst>
          </p:cNvPr>
          <p:cNvSpPr>
            <a:spLocks noGrp="1"/>
          </p:cNvSpPr>
          <p:nvPr>
            <p:ph type="sldNum" sz="quarter" idx="12"/>
          </p:nvPr>
        </p:nvSpPr>
        <p:spPr/>
        <p:txBody>
          <a:bodyPr/>
          <a:lstStyle/>
          <a:p>
            <a:fld id="{E8618032-BA8D-3D4D-8253-A70208A85976}" type="slidenum">
              <a:rPr lang="en-US" smtClean="0"/>
              <a:t>‹#›</a:t>
            </a:fld>
            <a:endParaRPr lang="en-US"/>
          </a:p>
        </p:txBody>
      </p:sp>
      <p:grpSp>
        <p:nvGrpSpPr>
          <p:cNvPr id="16" name="Group 15">
            <a:extLst>
              <a:ext uri="{FF2B5EF4-FFF2-40B4-BE49-F238E27FC236}">
                <a16:creationId xmlns:a16="http://schemas.microsoft.com/office/drawing/2014/main" id="{DF2DBF73-78F1-5E34-BB47-F8D4315E883F}"/>
              </a:ext>
            </a:extLst>
          </p:cNvPr>
          <p:cNvGrpSpPr/>
          <p:nvPr userDrawn="1"/>
        </p:nvGrpSpPr>
        <p:grpSpPr>
          <a:xfrm>
            <a:off x="620138" y="1752600"/>
            <a:ext cx="1149675" cy="1160621"/>
            <a:chOff x="620138" y="1752600"/>
            <a:chExt cx="1149675" cy="1160621"/>
          </a:xfrm>
        </p:grpSpPr>
        <p:pic>
          <p:nvPicPr>
            <p:cNvPr id="21" name="Picture 20">
              <a:extLst>
                <a:ext uri="{FF2B5EF4-FFF2-40B4-BE49-F238E27FC236}">
                  <a16:creationId xmlns:a16="http://schemas.microsoft.com/office/drawing/2014/main" id="{084DCB50-DA15-0746-CC36-3D6CE4CCBCE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26198" y="1752600"/>
              <a:ext cx="937550" cy="937550"/>
            </a:xfrm>
            <a:prstGeom prst="rect">
              <a:avLst/>
            </a:prstGeom>
          </p:spPr>
        </p:pic>
        <p:sp>
          <p:nvSpPr>
            <p:cNvPr id="6" name="TextBox 5">
              <a:extLst>
                <a:ext uri="{FF2B5EF4-FFF2-40B4-BE49-F238E27FC236}">
                  <a16:creationId xmlns:a16="http://schemas.microsoft.com/office/drawing/2014/main" id="{4C756196-4ADF-DF0C-EBDC-F9F2C81AC2F4}"/>
                </a:ext>
              </a:extLst>
            </p:cNvPr>
            <p:cNvSpPr txBox="1"/>
            <p:nvPr userDrawn="1"/>
          </p:nvSpPr>
          <p:spPr>
            <a:xfrm>
              <a:off x="620138" y="2667000"/>
              <a:ext cx="1149675" cy="246221"/>
            </a:xfrm>
            <a:prstGeom prst="rect">
              <a:avLst/>
            </a:prstGeom>
            <a:noFill/>
          </p:spPr>
          <p:txBody>
            <a:bodyPr wrap="none" rtlCol="0">
              <a:spAutoFit/>
            </a:bodyPr>
            <a:lstStyle/>
            <a:p>
              <a:pPr algn="ctr"/>
              <a:r>
                <a:rPr lang="en-US" sz="1000" dirty="0"/>
                <a:t>Physical Science</a:t>
              </a:r>
            </a:p>
          </p:txBody>
        </p:sp>
      </p:grpSp>
      <p:grpSp>
        <p:nvGrpSpPr>
          <p:cNvPr id="18" name="Group 17">
            <a:extLst>
              <a:ext uri="{FF2B5EF4-FFF2-40B4-BE49-F238E27FC236}">
                <a16:creationId xmlns:a16="http://schemas.microsoft.com/office/drawing/2014/main" id="{511910B8-EFDC-F4BD-D871-01250E169D33}"/>
              </a:ext>
            </a:extLst>
          </p:cNvPr>
          <p:cNvGrpSpPr/>
          <p:nvPr userDrawn="1"/>
        </p:nvGrpSpPr>
        <p:grpSpPr>
          <a:xfrm>
            <a:off x="2119913" y="1752600"/>
            <a:ext cx="937550" cy="1160621"/>
            <a:chOff x="2276156" y="1752600"/>
            <a:chExt cx="937550" cy="1160621"/>
          </a:xfrm>
        </p:grpSpPr>
        <p:pic>
          <p:nvPicPr>
            <p:cNvPr id="19" name="Picture 18">
              <a:extLst>
                <a:ext uri="{FF2B5EF4-FFF2-40B4-BE49-F238E27FC236}">
                  <a16:creationId xmlns:a16="http://schemas.microsoft.com/office/drawing/2014/main" id="{FE1E2990-A33D-309A-9F68-08D9A1E0E4D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276156" y="1752600"/>
              <a:ext cx="937550" cy="937550"/>
            </a:xfrm>
            <a:prstGeom prst="rect">
              <a:avLst/>
            </a:prstGeom>
          </p:spPr>
        </p:pic>
        <p:sp>
          <p:nvSpPr>
            <p:cNvPr id="8" name="TextBox 7">
              <a:extLst>
                <a:ext uri="{FF2B5EF4-FFF2-40B4-BE49-F238E27FC236}">
                  <a16:creationId xmlns:a16="http://schemas.microsoft.com/office/drawing/2014/main" id="{D490AC53-46B8-9208-4DAB-7EBDD1243E80}"/>
                </a:ext>
              </a:extLst>
            </p:cNvPr>
            <p:cNvSpPr txBox="1"/>
            <p:nvPr userDrawn="1"/>
          </p:nvSpPr>
          <p:spPr>
            <a:xfrm>
              <a:off x="2390507" y="2667000"/>
              <a:ext cx="708848" cy="246221"/>
            </a:xfrm>
            <a:prstGeom prst="rect">
              <a:avLst/>
            </a:prstGeom>
            <a:noFill/>
          </p:spPr>
          <p:txBody>
            <a:bodyPr wrap="none" rtlCol="0">
              <a:spAutoFit/>
            </a:bodyPr>
            <a:lstStyle/>
            <a:p>
              <a:pPr algn="ctr"/>
              <a:r>
                <a:rPr lang="en-US" sz="1000" dirty="0"/>
                <a:t>Quantum</a:t>
              </a:r>
            </a:p>
          </p:txBody>
        </p:sp>
      </p:grpSp>
      <p:grpSp>
        <p:nvGrpSpPr>
          <p:cNvPr id="20" name="Group 19">
            <a:extLst>
              <a:ext uri="{FF2B5EF4-FFF2-40B4-BE49-F238E27FC236}">
                <a16:creationId xmlns:a16="http://schemas.microsoft.com/office/drawing/2014/main" id="{63D160AB-747D-0C84-DB2C-12A72938449E}"/>
              </a:ext>
            </a:extLst>
          </p:cNvPr>
          <p:cNvGrpSpPr/>
          <p:nvPr userDrawn="1"/>
        </p:nvGrpSpPr>
        <p:grpSpPr>
          <a:xfrm>
            <a:off x="3500407" y="1752600"/>
            <a:ext cx="937550" cy="1160621"/>
            <a:chOff x="3328048" y="1752600"/>
            <a:chExt cx="937550" cy="1160621"/>
          </a:xfrm>
        </p:grpSpPr>
        <p:pic>
          <p:nvPicPr>
            <p:cNvPr id="35" name="Picture 34">
              <a:extLst>
                <a:ext uri="{FF2B5EF4-FFF2-40B4-BE49-F238E27FC236}">
                  <a16:creationId xmlns:a16="http://schemas.microsoft.com/office/drawing/2014/main" id="{9F58E307-692E-76E5-915A-6BE8C8A6C34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328048" y="1752600"/>
              <a:ext cx="937550" cy="937550"/>
            </a:xfrm>
            <a:prstGeom prst="rect">
              <a:avLst/>
            </a:prstGeom>
          </p:spPr>
        </p:pic>
        <p:sp>
          <p:nvSpPr>
            <p:cNvPr id="10" name="TextBox 9">
              <a:extLst>
                <a:ext uri="{FF2B5EF4-FFF2-40B4-BE49-F238E27FC236}">
                  <a16:creationId xmlns:a16="http://schemas.microsoft.com/office/drawing/2014/main" id="{9F976D59-973C-B3ED-21A7-6E1BF17E1F28}"/>
                </a:ext>
              </a:extLst>
            </p:cNvPr>
            <p:cNvSpPr txBox="1"/>
            <p:nvPr userDrawn="1"/>
          </p:nvSpPr>
          <p:spPr>
            <a:xfrm>
              <a:off x="3565830" y="2667000"/>
              <a:ext cx="461986" cy="246221"/>
            </a:xfrm>
            <a:prstGeom prst="rect">
              <a:avLst/>
            </a:prstGeom>
            <a:noFill/>
          </p:spPr>
          <p:txBody>
            <a:bodyPr wrap="none" rtlCol="0">
              <a:spAutoFit/>
            </a:bodyPr>
            <a:lstStyle/>
            <a:p>
              <a:pPr algn="ctr"/>
              <a:r>
                <a:rPr lang="en-US" sz="1000" dirty="0"/>
                <a:t>Fluid</a:t>
              </a:r>
            </a:p>
          </p:txBody>
        </p:sp>
      </p:grpSp>
      <p:grpSp>
        <p:nvGrpSpPr>
          <p:cNvPr id="22" name="Group 21">
            <a:extLst>
              <a:ext uri="{FF2B5EF4-FFF2-40B4-BE49-F238E27FC236}">
                <a16:creationId xmlns:a16="http://schemas.microsoft.com/office/drawing/2014/main" id="{DFEA1BB1-12A4-2E2E-1955-F3A8B5472743}"/>
              </a:ext>
            </a:extLst>
          </p:cNvPr>
          <p:cNvGrpSpPr/>
          <p:nvPr userDrawn="1"/>
        </p:nvGrpSpPr>
        <p:grpSpPr>
          <a:xfrm>
            <a:off x="4889029" y="1752600"/>
            <a:ext cx="937550" cy="1160621"/>
            <a:chOff x="4379940" y="1752600"/>
            <a:chExt cx="937550" cy="1160621"/>
          </a:xfrm>
        </p:grpSpPr>
        <p:pic>
          <p:nvPicPr>
            <p:cNvPr id="34" name="Picture 33">
              <a:extLst>
                <a:ext uri="{FF2B5EF4-FFF2-40B4-BE49-F238E27FC236}">
                  <a16:creationId xmlns:a16="http://schemas.microsoft.com/office/drawing/2014/main" id="{0E9DBB58-6406-2088-AE7D-CD856A1E7AC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379940" y="1752600"/>
              <a:ext cx="937550" cy="937550"/>
            </a:xfrm>
            <a:prstGeom prst="rect">
              <a:avLst/>
            </a:prstGeom>
          </p:spPr>
        </p:pic>
        <p:sp>
          <p:nvSpPr>
            <p:cNvPr id="12" name="TextBox 11">
              <a:extLst>
                <a:ext uri="{FF2B5EF4-FFF2-40B4-BE49-F238E27FC236}">
                  <a16:creationId xmlns:a16="http://schemas.microsoft.com/office/drawing/2014/main" id="{8D472200-79FE-9C5A-93BA-31F52D3EE86F}"/>
                </a:ext>
              </a:extLst>
            </p:cNvPr>
            <p:cNvSpPr txBox="1"/>
            <p:nvPr userDrawn="1"/>
          </p:nvSpPr>
          <p:spPr>
            <a:xfrm>
              <a:off x="4483070" y="2667000"/>
              <a:ext cx="731290" cy="246221"/>
            </a:xfrm>
            <a:prstGeom prst="rect">
              <a:avLst/>
            </a:prstGeom>
            <a:noFill/>
          </p:spPr>
          <p:txBody>
            <a:bodyPr wrap="none" rtlCol="0">
              <a:spAutoFit/>
            </a:bodyPr>
            <a:lstStyle/>
            <a:p>
              <a:pPr algn="ctr"/>
              <a:r>
                <a:rPr lang="en-US" sz="1000" dirty="0"/>
                <a:t>Complete</a:t>
              </a:r>
            </a:p>
          </p:txBody>
        </p:sp>
      </p:grpSp>
      <p:grpSp>
        <p:nvGrpSpPr>
          <p:cNvPr id="23" name="Group 22">
            <a:extLst>
              <a:ext uri="{FF2B5EF4-FFF2-40B4-BE49-F238E27FC236}">
                <a16:creationId xmlns:a16="http://schemas.microsoft.com/office/drawing/2014/main" id="{2BC30226-E85A-EAB4-EA3A-2F8AF418AC7A}"/>
              </a:ext>
            </a:extLst>
          </p:cNvPr>
          <p:cNvGrpSpPr/>
          <p:nvPr userDrawn="1"/>
        </p:nvGrpSpPr>
        <p:grpSpPr>
          <a:xfrm>
            <a:off x="6247355" y="1752600"/>
            <a:ext cx="937550" cy="1160621"/>
            <a:chOff x="5431831" y="1752600"/>
            <a:chExt cx="937550" cy="1160621"/>
          </a:xfrm>
        </p:grpSpPr>
        <p:pic>
          <p:nvPicPr>
            <p:cNvPr id="39" name="Picture 38">
              <a:extLst>
                <a:ext uri="{FF2B5EF4-FFF2-40B4-BE49-F238E27FC236}">
                  <a16:creationId xmlns:a16="http://schemas.microsoft.com/office/drawing/2014/main" id="{829FB4C8-0924-DD30-1DEA-0B2E407C2C96}"/>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14" name="TextBox 13">
              <a:extLst>
                <a:ext uri="{FF2B5EF4-FFF2-40B4-BE49-F238E27FC236}">
                  <a16:creationId xmlns:a16="http://schemas.microsoft.com/office/drawing/2014/main" id="{2E9D3CBF-9626-9176-B486-F34F15BE4A9E}"/>
                </a:ext>
              </a:extLst>
            </p:cNvPr>
            <p:cNvSpPr txBox="1"/>
            <p:nvPr userDrawn="1"/>
          </p:nvSpPr>
          <p:spPr>
            <a:xfrm>
              <a:off x="5530953" y="2667000"/>
              <a:ext cx="739306" cy="246221"/>
            </a:xfrm>
            <a:prstGeom prst="rect">
              <a:avLst/>
            </a:prstGeom>
            <a:noFill/>
          </p:spPr>
          <p:txBody>
            <a:bodyPr wrap="none" rtlCol="0">
              <a:spAutoFit/>
            </a:bodyPr>
            <a:lstStyle/>
            <a:p>
              <a:pPr algn="ctr"/>
              <a:r>
                <a:rPr lang="en-US" sz="1000" dirty="0"/>
                <a:t>Molecular</a:t>
              </a:r>
            </a:p>
          </p:txBody>
        </p:sp>
      </p:grpSp>
      <p:grpSp>
        <p:nvGrpSpPr>
          <p:cNvPr id="24" name="Group 23">
            <a:extLst>
              <a:ext uri="{FF2B5EF4-FFF2-40B4-BE49-F238E27FC236}">
                <a16:creationId xmlns:a16="http://schemas.microsoft.com/office/drawing/2014/main" id="{F5EC613B-9512-31BF-730B-49C7B41C44C6}"/>
              </a:ext>
            </a:extLst>
          </p:cNvPr>
          <p:cNvGrpSpPr/>
          <p:nvPr userDrawn="1"/>
        </p:nvGrpSpPr>
        <p:grpSpPr>
          <a:xfrm>
            <a:off x="7661269" y="1752600"/>
            <a:ext cx="937550" cy="1160621"/>
            <a:chOff x="5431831" y="1752600"/>
            <a:chExt cx="937550" cy="1160621"/>
          </a:xfrm>
        </p:grpSpPr>
        <p:pic>
          <p:nvPicPr>
            <p:cNvPr id="25" name="Picture 24">
              <a:extLst>
                <a:ext uri="{FF2B5EF4-FFF2-40B4-BE49-F238E27FC236}">
                  <a16:creationId xmlns:a16="http://schemas.microsoft.com/office/drawing/2014/main" id="{3EA005A4-9DA7-B0C3-08EE-98CB0CE9BA4A}"/>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26" name="TextBox 25">
              <a:extLst>
                <a:ext uri="{FF2B5EF4-FFF2-40B4-BE49-F238E27FC236}">
                  <a16:creationId xmlns:a16="http://schemas.microsoft.com/office/drawing/2014/main" id="{B5FE336D-FA97-22C9-55DC-079F3A53A069}"/>
                </a:ext>
              </a:extLst>
            </p:cNvPr>
            <p:cNvSpPr txBox="1"/>
            <p:nvPr userDrawn="1"/>
          </p:nvSpPr>
          <p:spPr>
            <a:xfrm>
              <a:off x="5607097" y="2667000"/>
              <a:ext cx="587020" cy="246221"/>
            </a:xfrm>
            <a:prstGeom prst="rect">
              <a:avLst/>
            </a:prstGeom>
            <a:noFill/>
          </p:spPr>
          <p:txBody>
            <a:bodyPr wrap="none" rtlCol="0">
              <a:spAutoFit/>
            </a:bodyPr>
            <a:lstStyle/>
            <a:p>
              <a:pPr algn="ctr"/>
              <a:r>
                <a:rPr lang="en-US" sz="1000" dirty="0"/>
                <a:t>Budget</a:t>
              </a:r>
            </a:p>
          </p:txBody>
        </p:sp>
      </p:grpSp>
      <p:grpSp>
        <p:nvGrpSpPr>
          <p:cNvPr id="27" name="Group 26">
            <a:extLst>
              <a:ext uri="{FF2B5EF4-FFF2-40B4-BE49-F238E27FC236}">
                <a16:creationId xmlns:a16="http://schemas.microsoft.com/office/drawing/2014/main" id="{56DF185E-4874-C556-B523-55B66CA67CA6}"/>
              </a:ext>
            </a:extLst>
          </p:cNvPr>
          <p:cNvGrpSpPr/>
          <p:nvPr userDrawn="1"/>
        </p:nvGrpSpPr>
        <p:grpSpPr>
          <a:xfrm>
            <a:off x="9037083" y="1752600"/>
            <a:ext cx="937550" cy="1160621"/>
            <a:chOff x="5431831" y="1752600"/>
            <a:chExt cx="937550" cy="1160621"/>
          </a:xfrm>
        </p:grpSpPr>
        <p:pic>
          <p:nvPicPr>
            <p:cNvPr id="40" name="Picture 39">
              <a:extLst>
                <a:ext uri="{FF2B5EF4-FFF2-40B4-BE49-F238E27FC236}">
                  <a16:creationId xmlns:a16="http://schemas.microsoft.com/office/drawing/2014/main" id="{63CE37AC-3781-BB31-177C-5CE7E2287CED}"/>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41" name="TextBox 40">
              <a:extLst>
                <a:ext uri="{FF2B5EF4-FFF2-40B4-BE49-F238E27FC236}">
                  <a16:creationId xmlns:a16="http://schemas.microsoft.com/office/drawing/2014/main" id="{C38C9462-D61D-BDFC-9D8E-41D0C89DE06F}"/>
                </a:ext>
              </a:extLst>
            </p:cNvPr>
            <p:cNvSpPr txBox="1"/>
            <p:nvPr userDrawn="1"/>
          </p:nvSpPr>
          <p:spPr>
            <a:xfrm>
              <a:off x="5684843" y="2667000"/>
              <a:ext cx="431529" cy="246221"/>
            </a:xfrm>
            <a:prstGeom prst="rect">
              <a:avLst/>
            </a:prstGeom>
            <a:noFill/>
          </p:spPr>
          <p:txBody>
            <a:bodyPr wrap="none" rtlCol="0">
              <a:spAutoFit/>
            </a:bodyPr>
            <a:lstStyle/>
            <a:p>
              <a:pPr algn="ctr"/>
              <a:r>
                <a:rPr lang="en-US" sz="1000" dirty="0"/>
                <a:t>Idea</a:t>
              </a:r>
            </a:p>
          </p:txBody>
        </p:sp>
      </p:grpSp>
      <p:grpSp>
        <p:nvGrpSpPr>
          <p:cNvPr id="42" name="Group 41">
            <a:extLst>
              <a:ext uri="{FF2B5EF4-FFF2-40B4-BE49-F238E27FC236}">
                <a16:creationId xmlns:a16="http://schemas.microsoft.com/office/drawing/2014/main" id="{5CD12664-0486-A848-58F4-C28C560C54DC}"/>
              </a:ext>
            </a:extLst>
          </p:cNvPr>
          <p:cNvGrpSpPr/>
          <p:nvPr userDrawn="1"/>
        </p:nvGrpSpPr>
        <p:grpSpPr>
          <a:xfrm>
            <a:off x="10412895" y="1752600"/>
            <a:ext cx="937550" cy="1160621"/>
            <a:chOff x="5431831" y="1752600"/>
            <a:chExt cx="937550" cy="1160621"/>
          </a:xfrm>
        </p:grpSpPr>
        <p:pic>
          <p:nvPicPr>
            <p:cNvPr id="43" name="Picture 42">
              <a:extLst>
                <a:ext uri="{FF2B5EF4-FFF2-40B4-BE49-F238E27FC236}">
                  <a16:creationId xmlns:a16="http://schemas.microsoft.com/office/drawing/2014/main" id="{C49D6AE0-9F7E-5646-BBF2-3EB286B932C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44" name="TextBox 43">
              <a:extLst>
                <a:ext uri="{FF2B5EF4-FFF2-40B4-BE49-F238E27FC236}">
                  <a16:creationId xmlns:a16="http://schemas.microsoft.com/office/drawing/2014/main" id="{91436932-7489-215B-A927-D94234ABE44F}"/>
                </a:ext>
              </a:extLst>
            </p:cNvPr>
            <p:cNvSpPr txBox="1"/>
            <p:nvPr userDrawn="1"/>
          </p:nvSpPr>
          <p:spPr>
            <a:xfrm>
              <a:off x="5485271" y="2667000"/>
              <a:ext cx="830677" cy="246221"/>
            </a:xfrm>
            <a:prstGeom prst="rect">
              <a:avLst/>
            </a:prstGeom>
            <a:noFill/>
          </p:spPr>
          <p:txBody>
            <a:bodyPr wrap="none" rtlCol="0">
              <a:spAutoFit/>
            </a:bodyPr>
            <a:lstStyle/>
            <a:p>
              <a:pPr algn="ctr"/>
              <a:r>
                <a:rPr lang="en-US" sz="1000" dirty="0"/>
                <a:t>Experiment</a:t>
              </a:r>
            </a:p>
          </p:txBody>
        </p:sp>
      </p:grpSp>
      <p:grpSp>
        <p:nvGrpSpPr>
          <p:cNvPr id="45" name="Group 44">
            <a:extLst>
              <a:ext uri="{FF2B5EF4-FFF2-40B4-BE49-F238E27FC236}">
                <a16:creationId xmlns:a16="http://schemas.microsoft.com/office/drawing/2014/main" id="{2B0F299A-3739-E2C2-ADAB-FEB8CB19AA01}"/>
              </a:ext>
            </a:extLst>
          </p:cNvPr>
          <p:cNvGrpSpPr/>
          <p:nvPr userDrawn="1"/>
        </p:nvGrpSpPr>
        <p:grpSpPr>
          <a:xfrm>
            <a:off x="709105" y="3246863"/>
            <a:ext cx="971741" cy="1160621"/>
            <a:chOff x="709103" y="1752600"/>
            <a:chExt cx="971741" cy="1160621"/>
          </a:xfrm>
        </p:grpSpPr>
        <p:pic>
          <p:nvPicPr>
            <p:cNvPr id="46" name="Picture 45">
              <a:extLst>
                <a:ext uri="{FF2B5EF4-FFF2-40B4-BE49-F238E27FC236}">
                  <a16:creationId xmlns:a16="http://schemas.microsoft.com/office/drawing/2014/main" id="{D7CD17CB-B72B-50B2-32D5-1580EF583820}"/>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726198" y="1752600"/>
              <a:ext cx="937550" cy="937550"/>
            </a:xfrm>
            <a:prstGeom prst="rect">
              <a:avLst/>
            </a:prstGeom>
          </p:spPr>
        </p:pic>
        <p:sp>
          <p:nvSpPr>
            <p:cNvPr id="47" name="TextBox 46">
              <a:extLst>
                <a:ext uri="{FF2B5EF4-FFF2-40B4-BE49-F238E27FC236}">
                  <a16:creationId xmlns:a16="http://schemas.microsoft.com/office/drawing/2014/main" id="{ABBBB447-9DD9-51D6-7E1F-53FCEA69C8AE}"/>
                </a:ext>
              </a:extLst>
            </p:cNvPr>
            <p:cNvSpPr txBox="1"/>
            <p:nvPr userDrawn="1"/>
          </p:nvSpPr>
          <p:spPr>
            <a:xfrm>
              <a:off x="709103" y="2667000"/>
              <a:ext cx="971741" cy="246221"/>
            </a:xfrm>
            <a:prstGeom prst="rect">
              <a:avLst/>
            </a:prstGeom>
            <a:noFill/>
          </p:spPr>
          <p:txBody>
            <a:bodyPr wrap="none" rtlCol="0">
              <a:spAutoFit/>
            </a:bodyPr>
            <a:lstStyle/>
            <a:p>
              <a:pPr algn="ctr"/>
              <a:r>
                <a:rPr lang="en-US" sz="1000" dirty="0"/>
                <a:t>Attention/Risk</a:t>
              </a:r>
            </a:p>
          </p:txBody>
        </p:sp>
      </p:grpSp>
      <p:grpSp>
        <p:nvGrpSpPr>
          <p:cNvPr id="48" name="Group 47">
            <a:extLst>
              <a:ext uri="{FF2B5EF4-FFF2-40B4-BE49-F238E27FC236}">
                <a16:creationId xmlns:a16="http://schemas.microsoft.com/office/drawing/2014/main" id="{145483EF-BC35-2B72-DF14-F98491F5A878}"/>
              </a:ext>
            </a:extLst>
          </p:cNvPr>
          <p:cNvGrpSpPr/>
          <p:nvPr userDrawn="1"/>
        </p:nvGrpSpPr>
        <p:grpSpPr>
          <a:xfrm>
            <a:off x="2119913" y="3246863"/>
            <a:ext cx="937550" cy="1160621"/>
            <a:chOff x="2276156" y="1752600"/>
            <a:chExt cx="937550" cy="1160621"/>
          </a:xfrm>
        </p:grpSpPr>
        <p:pic>
          <p:nvPicPr>
            <p:cNvPr id="49" name="Picture 48">
              <a:extLst>
                <a:ext uri="{FF2B5EF4-FFF2-40B4-BE49-F238E27FC236}">
                  <a16:creationId xmlns:a16="http://schemas.microsoft.com/office/drawing/2014/main" id="{DC1CB1A3-CB6A-3F6F-D4C8-D0A375257F59}"/>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2276156" y="1752600"/>
              <a:ext cx="937550" cy="937550"/>
            </a:xfrm>
            <a:prstGeom prst="rect">
              <a:avLst/>
            </a:prstGeom>
          </p:spPr>
        </p:pic>
        <p:sp>
          <p:nvSpPr>
            <p:cNvPr id="50" name="TextBox 49">
              <a:extLst>
                <a:ext uri="{FF2B5EF4-FFF2-40B4-BE49-F238E27FC236}">
                  <a16:creationId xmlns:a16="http://schemas.microsoft.com/office/drawing/2014/main" id="{864AB0F9-D4AB-42DC-85C6-261EF3905EB7}"/>
                </a:ext>
              </a:extLst>
            </p:cNvPr>
            <p:cNvSpPr txBox="1"/>
            <p:nvPr userDrawn="1"/>
          </p:nvSpPr>
          <p:spPr>
            <a:xfrm>
              <a:off x="2368868" y="2667000"/>
              <a:ext cx="752129" cy="246221"/>
            </a:xfrm>
            <a:prstGeom prst="rect">
              <a:avLst/>
            </a:prstGeom>
            <a:noFill/>
          </p:spPr>
          <p:txBody>
            <a:bodyPr wrap="none" rtlCol="0">
              <a:spAutoFit/>
            </a:bodyPr>
            <a:lstStyle/>
            <a:p>
              <a:pPr algn="ctr"/>
              <a:r>
                <a:rPr lang="en-US" sz="1000" dirty="0"/>
                <a:t>List/To-do</a:t>
              </a:r>
            </a:p>
          </p:txBody>
        </p:sp>
      </p:grpSp>
      <p:grpSp>
        <p:nvGrpSpPr>
          <p:cNvPr id="51" name="Group 50">
            <a:extLst>
              <a:ext uri="{FF2B5EF4-FFF2-40B4-BE49-F238E27FC236}">
                <a16:creationId xmlns:a16="http://schemas.microsoft.com/office/drawing/2014/main" id="{91D7BD37-7B62-B0BE-B34B-FE7378F9CBAE}"/>
              </a:ext>
            </a:extLst>
          </p:cNvPr>
          <p:cNvGrpSpPr/>
          <p:nvPr userDrawn="1"/>
        </p:nvGrpSpPr>
        <p:grpSpPr>
          <a:xfrm>
            <a:off x="3376712" y="3246863"/>
            <a:ext cx="1184941" cy="1160621"/>
            <a:chOff x="3204355" y="1752600"/>
            <a:chExt cx="1184941" cy="1160621"/>
          </a:xfrm>
        </p:grpSpPr>
        <p:pic>
          <p:nvPicPr>
            <p:cNvPr id="52" name="Picture 51">
              <a:extLst>
                <a:ext uri="{FF2B5EF4-FFF2-40B4-BE49-F238E27FC236}">
                  <a16:creationId xmlns:a16="http://schemas.microsoft.com/office/drawing/2014/main" id="{E016F2B6-B7E8-1132-2642-EA957F1761C7}"/>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3328048" y="1752600"/>
              <a:ext cx="937550" cy="937550"/>
            </a:xfrm>
            <a:prstGeom prst="rect">
              <a:avLst/>
            </a:prstGeom>
          </p:spPr>
        </p:pic>
        <p:sp>
          <p:nvSpPr>
            <p:cNvPr id="53" name="TextBox 52">
              <a:extLst>
                <a:ext uri="{FF2B5EF4-FFF2-40B4-BE49-F238E27FC236}">
                  <a16:creationId xmlns:a16="http://schemas.microsoft.com/office/drawing/2014/main" id="{FE880E60-8A4E-251D-C573-98A48CAF06AC}"/>
                </a:ext>
              </a:extLst>
            </p:cNvPr>
            <p:cNvSpPr txBox="1"/>
            <p:nvPr userDrawn="1"/>
          </p:nvSpPr>
          <p:spPr>
            <a:xfrm>
              <a:off x="3204355" y="2667000"/>
              <a:ext cx="1184941" cy="246221"/>
            </a:xfrm>
            <a:prstGeom prst="rect">
              <a:avLst/>
            </a:prstGeom>
            <a:noFill/>
          </p:spPr>
          <p:txBody>
            <a:bodyPr wrap="none" rtlCol="0">
              <a:spAutoFit/>
            </a:bodyPr>
            <a:lstStyle/>
            <a:p>
              <a:pPr algn="ctr"/>
              <a:r>
                <a:rPr lang="en-US" sz="1000" dirty="0"/>
                <a:t>Report/Document</a:t>
              </a:r>
            </a:p>
          </p:txBody>
        </p:sp>
      </p:grpSp>
      <p:grpSp>
        <p:nvGrpSpPr>
          <p:cNvPr id="54" name="Group 53">
            <a:extLst>
              <a:ext uri="{FF2B5EF4-FFF2-40B4-BE49-F238E27FC236}">
                <a16:creationId xmlns:a16="http://schemas.microsoft.com/office/drawing/2014/main" id="{A6033F2C-0684-B356-46F6-D9BF89D9EBB8}"/>
              </a:ext>
            </a:extLst>
          </p:cNvPr>
          <p:cNvGrpSpPr/>
          <p:nvPr userDrawn="1"/>
        </p:nvGrpSpPr>
        <p:grpSpPr>
          <a:xfrm>
            <a:off x="6247355" y="3246863"/>
            <a:ext cx="937550" cy="1160621"/>
            <a:chOff x="4379940" y="1752600"/>
            <a:chExt cx="937550" cy="1160621"/>
          </a:xfrm>
        </p:grpSpPr>
        <p:pic>
          <p:nvPicPr>
            <p:cNvPr id="55" name="Picture 54">
              <a:extLst>
                <a:ext uri="{FF2B5EF4-FFF2-40B4-BE49-F238E27FC236}">
                  <a16:creationId xmlns:a16="http://schemas.microsoft.com/office/drawing/2014/main" id="{39BAD218-B5C9-34D3-5AF3-0CBB52EE323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4379940" y="1752600"/>
              <a:ext cx="937550" cy="937550"/>
            </a:xfrm>
            <a:prstGeom prst="rect">
              <a:avLst/>
            </a:prstGeom>
          </p:spPr>
        </p:pic>
        <p:sp>
          <p:nvSpPr>
            <p:cNvPr id="56" name="TextBox 55">
              <a:extLst>
                <a:ext uri="{FF2B5EF4-FFF2-40B4-BE49-F238E27FC236}">
                  <a16:creationId xmlns:a16="http://schemas.microsoft.com/office/drawing/2014/main" id="{9E81308E-5F10-C3B2-DBCC-5B1B946E1E11}"/>
                </a:ext>
              </a:extLst>
            </p:cNvPr>
            <p:cNvSpPr txBox="1"/>
            <p:nvPr userDrawn="1"/>
          </p:nvSpPr>
          <p:spPr>
            <a:xfrm>
              <a:off x="4429371" y="2667000"/>
              <a:ext cx="838691" cy="246221"/>
            </a:xfrm>
            <a:prstGeom prst="rect">
              <a:avLst/>
            </a:prstGeom>
            <a:noFill/>
          </p:spPr>
          <p:txBody>
            <a:bodyPr wrap="none" rtlCol="0">
              <a:spAutoFit/>
            </a:bodyPr>
            <a:lstStyle/>
            <a:p>
              <a:pPr algn="ctr"/>
              <a:r>
                <a:rPr lang="en-US" sz="1000" dirty="0"/>
                <a:t>Microscope</a:t>
              </a:r>
            </a:p>
          </p:txBody>
        </p:sp>
      </p:grpSp>
      <p:grpSp>
        <p:nvGrpSpPr>
          <p:cNvPr id="57" name="Group 56">
            <a:extLst>
              <a:ext uri="{FF2B5EF4-FFF2-40B4-BE49-F238E27FC236}">
                <a16:creationId xmlns:a16="http://schemas.microsoft.com/office/drawing/2014/main" id="{BCB13DA3-C4EA-FA14-E54A-64A7393C4797}"/>
              </a:ext>
            </a:extLst>
          </p:cNvPr>
          <p:cNvGrpSpPr/>
          <p:nvPr userDrawn="1"/>
        </p:nvGrpSpPr>
        <p:grpSpPr>
          <a:xfrm>
            <a:off x="10412895" y="3246863"/>
            <a:ext cx="937550" cy="1160621"/>
            <a:chOff x="5431831" y="1752600"/>
            <a:chExt cx="937550" cy="1160621"/>
          </a:xfrm>
        </p:grpSpPr>
        <p:pic>
          <p:nvPicPr>
            <p:cNvPr id="58" name="Picture 57">
              <a:extLst>
                <a:ext uri="{FF2B5EF4-FFF2-40B4-BE49-F238E27FC236}">
                  <a16:creationId xmlns:a16="http://schemas.microsoft.com/office/drawing/2014/main" id="{2E0CFCFC-C544-673F-AC06-758A8EEB54E3}"/>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59" name="TextBox 58">
              <a:extLst>
                <a:ext uri="{FF2B5EF4-FFF2-40B4-BE49-F238E27FC236}">
                  <a16:creationId xmlns:a16="http://schemas.microsoft.com/office/drawing/2014/main" id="{761C5F85-20F7-D144-95A9-0CE5C5D9B15C}"/>
                </a:ext>
              </a:extLst>
            </p:cNvPr>
            <p:cNvSpPr txBox="1"/>
            <p:nvPr userDrawn="1"/>
          </p:nvSpPr>
          <p:spPr>
            <a:xfrm>
              <a:off x="5485270" y="2667000"/>
              <a:ext cx="830676" cy="246221"/>
            </a:xfrm>
            <a:prstGeom prst="rect">
              <a:avLst/>
            </a:prstGeom>
            <a:noFill/>
          </p:spPr>
          <p:txBody>
            <a:bodyPr wrap="none" rtlCol="0">
              <a:spAutoFit/>
            </a:bodyPr>
            <a:lstStyle/>
            <a:p>
              <a:pPr algn="ctr"/>
              <a:r>
                <a:rPr lang="en-US" sz="1000" dirty="0"/>
                <a:t>Experiment</a:t>
              </a:r>
            </a:p>
          </p:txBody>
        </p:sp>
      </p:grpSp>
      <p:grpSp>
        <p:nvGrpSpPr>
          <p:cNvPr id="60" name="Group 59">
            <a:extLst>
              <a:ext uri="{FF2B5EF4-FFF2-40B4-BE49-F238E27FC236}">
                <a16:creationId xmlns:a16="http://schemas.microsoft.com/office/drawing/2014/main" id="{6B523C45-1411-FFA2-CDD6-030F8673413B}"/>
              </a:ext>
            </a:extLst>
          </p:cNvPr>
          <p:cNvGrpSpPr/>
          <p:nvPr userDrawn="1"/>
        </p:nvGrpSpPr>
        <p:grpSpPr>
          <a:xfrm>
            <a:off x="7661269" y="3246863"/>
            <a:ext cx="937550" cy="1160621"/>
            <a:chOff x="5431831" y="1752600"/>
            <a:chExt cx="937550" cy="1160621"/>
          </a:xfrm>
        </p:grpSpPr>
        <p:pic>
          <p:nvPicPr>
            <p:cNvPr id="61" name="Picture 60">
              <a:extLst>
                <a:ext uri="{FF2B5EF4-FFF2-40B4-BE49-F238E27FC236}">
                  <a16:creationId xmlns:a16="http://schemas.microsoft.com/office/drawing/2014/main" id="{CBAEB1D6-A0DB-C3DE-CEFD-60B96E056668}"/>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62" name="TextBox 61">
              <a:extLst>
                <a:ext uri="{FF2B5EF4-FFF2-40B4-BE49-F238E27FC236}">
                  <a16:creationId xmlns:a16="http://schemas.microsoft.com/office/drawing/2014/main" id="{1DB68FE0-405B-2CB1-9B49-0529846D28AF}"/>
                </a:ext>
              </a:extLst>
            </p:cNvPr>
            <p:cNvSpPr txBox="1"/>
            <p:nvPr userDrawn="1"/>
          </p:nvSpPr>
          <p:spPr>
            <a:xfrm>
              <a:off x="5627937" y="2667000"/>
              <a:ext cx="545342" cy="246221"/>
            </a:xfrm>
            <a:prstGeom prst="rect">
              <a:avLst/>
            </a:prstGeom>
            <a:noFill/>
          </p:spPr>
          <p:txBody>
            <a:bodyPr wrap="none" rtlCol="0">
              <a:spAutoFit/>
            </a:bodyPr>
            <a:lstStyle/>
            <a:p>
              <a:pPr algn="ctr"/>
              <a:r>
                <a:rPr lang="en-US" sz="1000" dirty="0"/>
                <a:t>Space</a:t>
              </a:r>
            </a:p>
          </p:txBody>
        </p:sp>
      </p:grpSp>
      <p:grpSp>
        <p:nvGrpSpPr>
          <p:cNvPr id="66" name="Group 65">
            <a:extLst>
              <a:ext uri="{FF2B5EF4-FFF2-40B4-BE49-F238E27FC236}">
                <a16:creationId xmlns:a16="http://schemas.microsoft.com/office/drawing/2014/main" id="{9C8573B0-C3E9-BD4A-12C6-2C05FEB654FB}"/>
              </a:ext>
            </a:extLst>
          </p:cNvPr>
          <p:cNvGrpSpPr/>
          <p:nvPr userDrawn="1"/>
        </p:nvGrpSpPr>
        <p:grpSpPr>
          <a:xfrm>
            <a:off x="4800600" y="3246863"/>
            <a:ext cx="1114409" cy="1160621"/>
            <a:chOff x="5343407" y="1752600"/>
            <a:chExt cx="1114409" cy="1160621"/>
          </a:xfrm>
        </p:grpSpPr>
        <p:pic>
          <p:nvPicPr>
            <p:cNvPr id="67" name="Picture 66">
              <a:extLst>
                <a:ext uri="{FF2B5EF4-FFF2-40B4-BE49-F238E27FC236}">
                  <a16:creationId xmlns:a16="http://schemas.microsoft.com/office/drawing/2014/main" id="{E7FB7A2A-2D14-1105-B15D-4F4C04A6FF74}"/>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68" name="TextBox 67">
              <a:extLst>
                <a:ext uri="{FF2B5EF4-FFF2-40B4-BE49-F238E27FC236}">
                  <a16:creationId xmlns:a16="http://schemas.microsoft.com/office/drawing/2014/main" id="{4CA22A94-509E-32C8-87A6-C41E8B1B2DEA}"/>
                </a:ext>
              </a:extLst>
            </p:cNvPr>
            <p:cNvSpPr txBox="1"/>
            <p:nvPr userDrawn="1"/>
          </p:nvSpPr>
          <p:spPr>
            <a:xfrm>
              <a:off x="5343407" y="2667000"/>
              <a:ext cx="1114409" cy="246221"/>
            </a:xfrm>
            <a:prstGeom prst="rect">
              <a:avLst/>
            </a:prstGeom>
            <a:noFill/>
          </p:spPr>
          <p:txBody>
            <a:bodyPr wrap="none" rtlCol="0">
              <a:spAutoFit/>
            </a:bodyPr>
            <a:lstStyle/>
            <a:p>
              <a:pPr algn="ctr"/>
              <a:r>
                <a:rPr lang="en-US" sz="1000" dirty="0"/>
                <a:t>Report/Analytics</a:t>
              </a:r>
            </a:p>
          </p:txBody>
        </p:sp>
      </p:grpSp>
      <p:grpSp>
        <p:nvGrpSpPr>
          <p:cNvPr id="69" name="Group 68">
            <a:extLst>
              <a:ext uri="{FF2B5EF4-FFF2-40B4-BE49-F238E27FC236}">
                <a16:creationId xmlns:a16="http://schemas.microsoft.com/office/drawing/2014/main" id="{846D9EA6-D0B5-18CC-6C05-63F3908918A0}"/>
              </a:ext>
            </a:extLst>
          </p:cNvPr>
          <p:cNvGrpSpPr/>
          <p:nvPr userDrawn="1"/>
        </p:nvGrpSpPr>
        <p:grpSpPr>
          <a:xfrm>
            <a:off x="9037083" y="3246863"/>
            <a:ext cx="937550" cy="1160621"/>
            <a:chOff x="5431831" y="1752600"/>
            <a:chExt cx="937550" cy="1160621"/>
          </a:xfrm>
        </p:grpSpPr>
        <p:pic>
          <p:nvPicPr>
            <p:cNvPr id="70" name="Picture 69">
              <a:extLst>
                <a:ext uri="{FF2B5EF4-FFF2-40B4-BE49-F238E27FC236}">
                  <a16:creationId xmlns:a16="http://schemas.microsoft.com/office/drawing/2014/main" id="{56CADE8A-6EC7-51D0-0CFE-1124AA9C6C51}"/>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71" name="TextBox 70">
              <a:extLst>
                <a:ext uri="{FF2B5EF4-FFF2-40B4-BE49-F238E27FC236}">
                  <a16:creationId xmlns:a16="http://schemas.microsoft.com/office/drawing/2014/main" id="{9702BEAC-3F80-2061-C091-2E2DE37438D1}"/>
                </a:ext>
              </a:extLst>
            </p:cNvPr>
            <p:cNvSpPr txBox="1"/>
            <p:nvPr userDrawn="1"/>
          </p:nvSpPr>
          <p:spPr>
            <a:xfrm>
              <a:off x="5599081" y="2667000"/>
              <a:ext cx="603050" cy="246221"/>
            </a:xfrm>
            <a:prstGeom prst="rect">
              <a:avLst/>
            </a:prstGeom>
            <a:noFill/>
          </p:spPr>
          <p:txBody>
            <a:bodyPr wrap="none" rtlCol="0">
              <a:spAutoFit/>
            </a:bodyPr>
            <a:lstStyle/>
            <a:p>
              <a:pPr algn="ctr"/>
              <a:r>
                <a:rPr lang="en-US" sz="1000" dirty="0"/>
                <a:t>Biology</a:t>
              </a:r>
            </a:p>
          </p:txBody>
        </p:sp>
      </p:grpSp>
    </p:spTree>
    <p:extLst>
      <p:ext uri="{BB962C8B-B14F-4D97-AF65-F5344CB8AC3E}">
        <p14:creationId xmlns:p14="http://schemas.microsoft.com/office/powerpoint/2010/main" val="18885217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7BEB-3F95-F7BD-8C6B-C9CDE17AD06E}"/>
              </a:ext>
            </a:extLst>
          </p:cNvPr>
          <p:cNvSpPr>
            <a:spLocks noGrp="1"/>
          </p:cNvSpPr>
          <p:nvPr>
            <p:ph type="title" hasCustomPrompt="1"/>
          </p:nvPr>
        </p:nvSpPr>
        <p:spPr>
          <a:xfrm>
            <a:off x="914400" y="755930"/>
            <a:ext cx="10325100" cy="1325563"/>
          </a:xfrm>
        </p:spPr>
        <p:txBody>
          <a:bodyPr/>
          <a:lstStyle/>
          <a:p>
            <a:r>
              <a:rPr lang="en-US" dirty="0"/>
              <a:t>Icon Sets</a:t>
            </a:r>
          </a:p>
        </p:txBody>
      </p:sp>
      <p:sp>
        <p:nvSpPr>
          <p:cNvPr id="4" name="Footer Placeholder 3">
            <a:extLst>
              <a:ext uri="{FF2B5EF4-FFF2-40B4-BE49-F238E27FC236}">
                <a16:creationId xmlns:a16="http://schemas.microsoft.com/office/drawing/2014/main" id="{27D41258-C225-30B8-4068-2B71A0ED381A}"/>
              </a:ext>
            </a:extLst>
          </p:cNvPr>
          <p:cNvSpPr>
            <a:spLocks noGrp="1"/>
          </p:cNvSpPr>
          <p:nvPr>
            <p:ph type="ftr" sz="quarter" idx="11"/>
          </p:nvPr>
        </p:nvSpPr>
        <p:spPr/>
        <p:txBody>
          <a:bodyPr/>
          <a:lstStyle/>
          <a:p>
            <a:r>
              <a:rPr lang="en-US" dirty="0"/>
              <a:t>Biological &amp; Physical Sciences</a:t>
            </a:r>
          </a:p>
        </p:txBody>
      </p:sp>
      <p:sp>
        <p:nvSpPr>
          <p:cNvPr id="5" name="Slide Number Placeholder 4">
            <a:extLst>
              <a:ext uri="{FF2B5EF4-FFF2-40B4-BE49-F238E27FC236}">
                <a16:creationId xmlns:a16="http://schemas.microsoft.com/office/drawing/2014/main" id="{C1FA1CED-BEE1-ACF5-8AEE-094C9B16F7D7}"/>
              </a:ext>
            </a:extLst>
          </p:cNvPr>
          <p:cNvSpPr>
            <a:spLocks noGrp="1"/>
          </p:cNvSpPr>
          <p:nvPr>
            <p:ph type="sldNum" sz="quarter" idx="12"/>
          </p:nvPr>
        </p:nvSpPr>
        <p:spPr/>
        <p:txBody>
          <a:bodyPr/>
          <a:lstStyle/>
          <a:p>
            <a:fld id="{E8618032-BA8D-3D4D-8253-A70208A85976}" type="slidenum">
              <a:rPr lang="en-US" smtClean="0"/>
              <a:t>‹#›</a:t>
            </a:fld>
            <a:endParaRPr lang="en-US"/>
          </a:p>
        </p:txBody>
      </p:sp>
      <p:grpSp>
        <p:nvGrpSpPr>
          <p:cNvPr id="16" name="Group 15">
            <a:extLst>
              <a:ext uri="{FF2B5EF4-FFF2-40B4-BE49-F238E27FC236}">
                <a16:creationId xmlns:a16="http://schemas.microsoft.com/office/drawing/2014/main" id="{DF2DBF73-78F1-5E34-BB47-F8D4315E883F}"/>
              </a:ext>
            </a:extLst>
          </p:cNvPr>
          <p:cNvGrpSpPr/>
          <p:nvPr userDrawn="1"/>
        </p:nvGrpSpPr>
        <p:grpSpPr>
          <a:xfrm>
            <a:off x="620138" y="1752600"/>
            <a:ext cx="1149675" cy="1160621"/>
            <a:chOff x="620138" y="1752600"/>
            <a:chExt cx="1149675" cy="1160621"/>
          </a:xfrm>
        </p:grpSpPr>
        <p:pic>
          <p:nvPicPr>
            <p:cNvPr id="21" name="Picture 20">
              <a:extLst>
                <a:ext uri="{FF2B5EF4-FFF2-40B4-BE49-F238E27FC236}">
                  <a16:creationId xmlns:a16="http://schemas.microsoft.com/office/drawing/2014/main" id="{084DCB50-DA15-0746-CC36-3D6CE4CCBCE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26198" y="1752600"/>
              <a:ext cx="937550" cy="937550"/>
            </a:xfrm>
            <a:prstGeom prst="rect">
              <a:avLst/>
            </a:prstGeom>
          </p:spPr>
        </p:pic>
        <p:sp>
          <p:nvSpPr>
            <p:cNvPr id="6" name="TextBox 5">
              <a:extLst>
                <a:ext uri="{FF2B5EF4-FFF2-40B4-BE49-F238E27FC236}">
                  <a16:creationId xmlns:a16="http://schemas.microsoft.com/office/drawing/2014/main" id="{4C756196-4ADF-DF0C-EBDC-F9F2C81AC2F4}"/>
                </a:ext>
              </a:extLst>
            </p:cNvPr>
            <p:cNvSpPr txBox="1"/>
            <p:nvPr userDrawn="1"/>
          </p:nvSpPr>
          <p:spPr>
            <a:xfrm>
              <a:off x="620138" y="2667000"/>
              <a:ext cx="1149675" cy="246221"/>
            </a:xfrm>
            <a:prstGeom prst="rect">
              <a:avLst/>
            </a:prstGeom>
            <a:noFill/>
          </p:spPr>
          <p:txBody>
            <a:bodyPr wrap="none" rtlCol="0">
              <a:spAutoFit/>
            </a:bodyPr>
            <a:lstStyle/>
            <a:p>
              <a:pPr algn="ctr"/>
              <a:r>
                <a:rPr lang="en-US" sz="1000" dirty="0"/>
                <a:t>Physical Science</a:t>
              </a:r>
            </a:p>
          </p:txBody>
        </p:sp>
      </p:grpSp>
      <p:grpSp>
        <p:nvGrpSpPr>
          <p:cNvPr id="18" name="Group 17">
            <a:extLst>
              <a:ext uri="{FF2B5EF4-FFF2-40B4-BE49-F238E27FC236}">
                <a16:creationId xmlns:a16="http://schemas.microsoft.com/office/drawing/2014/main" id="{511910B8-EFDC-F4BD-D871-01250E169D33}"/>
              </a:ext>
            </a:extLst>
          </p:cNvPr>
          <p:cNvGrpSpPr/>
          <p:nvPr userDrawn="1"/>
        </p:nvGrpSpPr>
        <p:grpSpPr>
          <a:xfrm>
            <a:off x="2119913" y="1752600"/>
            <a:ext cx="937550" cy="1160621"/>
            <a:chOff x="2276156" y="1752600"/>
            <a:chExt cx="937550" cy="1160621"/>
          </a:xfrm>
        </p:grpSpPr>
        <p:pic>
          <p:nvPicPr>
            <p:cNvPr id="19" name="Picture 18">
              <a:extLst>
                <a:ext uri="{FF2B5EF4-FFF2-40B4-BE49-F238E27FC236}">
                  <a16:creationId xmlns:a16="http://schemas.microsoft.com/office/drawing/2014/main" id="{FE1E2990-A33D-309A-9F68-08D9A1E0E4D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276156" y="1752600"/>
              <a:ext cx="937550" cy="937550"/>
            </a:xfrm>
            <a:prstGeom prst="rect">
              <a:avLst/>
            </a:prstGeom>
          </p:spPr>
        </p:pic>
        <p:sp>
          <p:nvSpPr>
            <p:cNvPr id="8" name="TextBox 7">
              <a:extLst>
                <a:ext uri="{FF2B5EF4-FFF2-40B4-BE49-F238E27FC236}">
                  <a16:creationId xmlns:a16="http://schemas.microsoft.com/office/drawing/2014/main" id="{D490AC53-46B8-9208-4DAB-7EBDD1243E80}"/>
                </a:ext>
              </a:extLst>
            </p:cNvPr>
            <p:cNvSpPr txBox="1"/>
            <p:nvPr userDrawn="1"/>
          </p:nvSpPr>
          <p:spPr>
            <a:xfrm>
              <a:off x="2390507" y="2667000"/>
              <a:ext cx="708848" cy="246221"/>
            </a:xfrm>
            <a:prstGeom prst="rect">
              <a:avLst/>
            </a:prstGeom>
            <a:noFill/>
          </p:spPr>
          <p:txBody>
            <a:bodyPr wrap="none" rtlCol="0">
              <a:spAutoFit/>
            </a:bodyPr>
            <a:lstStyle/>
            <a:p>
              <a:pPr algn="ctr"/>
              <a:r>
                <a:rPr lang="en-US" sz="1000" dirty="0"/>
                <a:t>Quantum</a:t>
              </a:r>
            </a:p>
          </p:txBody>
        </p:sp>
      </p:grpSp>
      <p:grpSp>
        <p:nvGrpSpPr>
          <p:cNvPr id="20" name="Group 19">
            <a:extLst>
              <a:ext uri="{FF2B5EF4-FFF2-40B4-BE49-F238E27FC236}">
                <a16:creationId xmlns:a16="http://schemas.microsoft.com/office/drawing/2014/main" id="{63D160AB-747D-0C84-DB2C-12A72938449E}"/>
              </a:ext>
            </a:extLst>
          </p:cNvPr>
          <p:cNvGrpSpPr/>
          <p:nvPr userDrawn="1"/>
        </p:nvGrpSpPr>
        <p:grpSpPr>
          <a:xfrm>
            <a:off x="3500407" y="1752600"/>
            <a:ext cx="937550" cy="1160621"/>
            <a:chOff x="3328048" y="1752600"/>
            <a:chExt cx="937550" cy="1160621"/>
          </a:xfrm>
        </p:grpSpPr>
        <p:pic>
          <p:nvPicPr>
            <p:cNvPr id="35" name="Picture 34">
              <a:extLst>
                <a:ext uri="{FF2B5EF4-FFF2-40B4-BE49-F238E27FC236}">
                  <a16:creationId xmlns:a16="http://schemas.microsoft.com/office/drawing/2014/main" id="{9F58E307-692E-76E5-915A-6BE8C8A6C34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328048" y="1752600"/>
              <a:ext cx="937550" cy="937550"/>
            </a:xfrm>
            <a:prstGeom prst="rect">
              <a:avLst/>
            </a:prstGeom>
          </p:spPr>
        </p:pic>
        <p:sp>
          <p:nvSpPr>
            <p:cNvPr id="10" name="TextBox 9">
              <a:extLst>
                <a:ext uri="{FF2B5EF4-FFF2-40B4-BE49-F238E27FC236}">
                  <a16:creationId xmlns:a16="http://schemas.microsoft.com/office/drawing/2014/main" id="{9F976D59-973C-B3ED-21A7-6E1BF17E1F28}"/>
                </a:ext>
              </a:extLst>
            </p:cNvPr>
            <p:cNvSpPr txBox="1"/>
            <p:nvPr userDrawn="1"/>
          </p:nvSpPr>
          <p:spPr>
            <a:xfrm>
              <a:off x="3565830" y="2667000"/>
              <a:ext cx="461986" cy="246221"/>
            </a:xfrm>
            <a:prstGeom prst="rect">
              <a:avLst/>
            </a:prstGeom>
            <a:noFill/>
          </p:spPr>
          <p:txBody>
            <a:bodyPr wrap="none" rtlCol="0">
              <a:spAutoFit/>
            </a:bodyPr>
            <a:lstStyle/>
            <a:p>
              <a:pPr algn="ctr"/>
              <a:r>
                <a:rPr lang="en-US" sz="1000" dirty="0"/>
                <a:t>Fluid</a:t>
              </a:r>
            </a:p>
          </p:txBody>
        </p:sp>
      </p:grpSp>
      <p:grpSp>
        <p:nvGrpSpPr>
          <p:cNvPr id="22" name="Group 21">
            <a:extLst>
              <a:ext uri="{FF2B5EF4-FFF2-40B4-BE49-F238E27FC236}">
                <a16:creationId xmlns:a16="http://schemas.microsoft.com/office/drawing/2014/main" id="{DFEA1BB1-12A4-2E2E-1955-F3A8B5472743}"/>
              </a:ext>
            </a:extLst>
          </p:cNvPr>
          <p:cNvGrpSpPr/>
          <p:nvPr userDrawn="1"/>
        </p:nvGrpSpPr>
        <p:grpSpPr>
          <a:xfrm>
            <a:off x="4889029" y="1752600"/>
            <a:ext cx="937550" cy="1160621"/>
            <a:chOff x="4379940" y="1752600"/>
            <a:chExt cx="937550" cy="1160621"/>
          </a:xfrm>
        </p:grpSpPr>
        <p:pic>
          <p:nvPicPr>
            <p:cNvPr id="34" name="Picture 33">
              <a:extLst>
                <a:ext uri="{FF2B5EF4-FFF2-40B4-BE49-F238E27FC236}">
                  <a16:creationId xmlns:a16="http://schemas.microsoft.com/office/drawing/2014/main" id="{0E9DBB58-6406-2088-AE7D-CD856A1E7AC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379940" y="1752600"/>
              <a:ext cx="937550" cy="937550"/>
            </a:xfrm>
            <a:prstGeom prst="rect">
              <a:avLst/>
            </a:prstGeom>
          </p:spPr>
        </p:pic>
        <p:sp>
          <p:nvSpPr>
            <p:cNvPr id="12" name="TextBox 11">
              <a:extLst>
                <a:ext uri="{FF2B5EF4-FFF2-40B4-BE49-F238E27FC236}">
                  <a16:creationId xmlns:a16="http://schemas.microsoft.com/office/drawing/2014/main" id="{8D472200-79FE-9C5A-93BA-31F52D3EE86F}"/>
                </a:ext>
              </a:extLst>
            </p:cNvPr>
            <p:cNvSpPr txBox="1"/>
            <p:nvPr userDrawn="1"/>
          </p:nvSpPr>
          <p:spPr>
            <a:xfrm>
              <a:off x="4483070" y="2667000"/>
              <a:ext cx="731290" cy="246221"/>
            </a:xfrm>
            <a:prstGeom prst="rect">
              <a:avLst/>
            </a:prstGeom>
            <a:noFill/>
          </p:spPr>
          <p:txBody>
            <a:bodyPr wrap="none" rtlCol="0">
              <a:spAutoFit/>
            </a:bodyPr>
            <a:lstStyle/>
            <a:p>
              <a:pPr algn="ctr"/>
              <a:r>
                <a:rPr lang="en-US" sz="1000" dirty="0"/>
                <a:t>Complete</a:t>
              </a:r>
            </a:p>
          </p:txBody>
        </p:sp>
      </p:grpSp>
      <p:grpSp>
        <p:nvGrpSpPr>
          <p:cNvPr id="23" name="Group 22">
            <a:extLst>
              <a:ext uri="{FF2B5EF4-FFF2-40B4-BE49-F238E27FC236}">
                <a16:creationId xmlns:a16="http://schemas.microsoft.com/office/drawing/2014/main" id="{2BC30226-E85A-EAB4-EA3A-2F8AF418AC7A}"/>
              </a:ext>
            </a:extLst>
          </p:cNvPr>
          <p:cNvGrpSpPr/>
          <p:nvPr userDrawn="1"/>
        </p:nvGrpSpPr>
        <p:grpSpPr>
          <a:xfrm>
            <a:off x="6247355" y="1752600"/>
            <a:ext cx="937550" cy="1160621"/>
            <a:chOff x="5431831" y="1752600"/>
            <a:chExt cx="937550" cy="1160621"/>
          </a:xfrm>
        </p:grpSpPr>
        <p:pic>
          <p:nvPicPr>
            <p:cNvPr id="39" name="Picture 38">
              <a:extLst>
                <a:ext uri="{FF2B5EF4-FFF2-40B4-BE49-F238E27FC236}">
                  <a16:creationId xmlns:a16="http://schemas.microsoft.com/office/drawing/2014/main" id="{829FB4C8-0924-DD30-1DEA-0B2E407C2C96}"/>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14" name="TextBox 13">
              <a:extLst>
                <a:ext uri="{FF2B5EF4-FFF2-40B4-BE49-F238E27FC236}">
                  <a16:creationId xmlns:a16="http://schemas.microsoft.com/office/drawing/2014/main" id="{2E9D3CBF-9626-9176-B486-F34F15BE4A9E}"/>
                </a:ext>
              </a:extLst>
            </p:cNvPr>
            <p:cNvSpPr txBox="1"/>
            <p:nvPr userDrawn="1"/>
          </p:nvSpPr>
          <p:spPr>
            <a:xfrm>
              <a:off x="5530953" y="2667000"/>
              <a:ext cx="739306" cy="246221"/>
            </a:xfrm>
            <a:prstGeom prst="rect">
              <a:avLst/>
            </a:prstGeom>
            <a:noFill/>
          </p:spPr>
          <p:txBody>
            <a:bodyPr wrap="none" rtlCol="0">
              <a:spAutoFit/>
            </a:bodyPr>
            <a:lstStyle/>
            <a:p>
              <a:pPr algn="ctr"/>
              <a:r>
                <a:rPr lang="en-US" sz="1000" dirty="0"/>
                <a:t>Molecular</a:t>
              </a:r>
            </a:p>
          </p:txBody>
        </p:sp>
      </p:grpSp>
      <p:grpSp>
        <p:nvGrpSpPr>
          <p:cNvPr id="24" name="Group 23">
            <a:extLst>
              <a:ext uri="{FF2B5EF4-FFF2-40B4-BE49-F238E27FC236}">
                <a16:creationId xmlns:a16="http://schemas.microsoft.com/office/drawing/2014/main" id="{F5EC613B-9512-31BF-730B-49C7B41C44C6}"/>
              </a:ext>
            </a:extLst>
          </p:cNvPr>
          <p:cNvGrpSpPr/>
          <p:nvPr userDrawn="1"/>
        </p:nvGrpSpPr>
        <p:grpSpPr>
          <a:xfrm>
            <a:off x="7661269" y="1752600"/>
            <a:ext cx="937550" cy="1160621"/>
            <a:chOff x="5431831" y="1752600"/>
            <a:chExt cx="937550" cy="1160621"/>
          </a:xfrm>
        </p:grpSpPr>
        <p:pic>
          <p:nvPicPr>
            <p:cNvPr id="25" name="Picture 24">
              <a:extLst>
                <a:ext uri="{FF2B5EF4-FFF2-40B4-BE49-F238E27FC236}">
                  <a16:creationId xmlns:a16="http://schemas.microsoft.com/office/drawing/2014/main" id="{3EA005A4-9DA7-B0C3-08EE-98CB0CE9BA4A}"/>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26" name="TextBox 25">
              <a:extLst>
                <a:ext uri="{FF2B5EF4-FFF2-40B4-BE49-F238E27FC236}">
                  <a16:creationId xmlns:a16="http://schemas.microsoft.com/office/drawing/2014/main" id="{B5FE336D-FA97-22C9-55DC-079F3A53A069}"/>
                </a:ext>
              </a:extLst>
            </p:cNvPr>
            <p:cNvSpPr txBox="1"/>
            <p:nvPr userDrawn="1"/>
          </p:nvSpPr>
          <p:spPr>
            <a:xfrm>
              <a:off x="5607097" y="2667000"/>
              <a:ext cx="587020" cy="246221"/>
            </a:xfrm>
            <a:prstGeom prst="rect">
              <a:avLst/>
            </a:prstGeom>
            <a:noFill/>
          </p:spPr>
          <p:txBody>
            <a:bodyPr wrap="none" rtlCol="0">
              <a:spAutoFit/>
            </a:bodyPr>
            <a:lstStyle/>
            <a:p>
              <a:pPr algn="ctr"/>
              <a:r>
                <a:rPr lang="en-US" sz="1000" dirty="0"/>
                <a:t>Budget</a:t>
              </a:r>
            </a:p>
          </p:txBody>
        </p:sp>
      </p:grpSp>
      <p:grpSp>
        <p:nvGrpSpPr>
          <p:cNvPr id="27" name="Group 26">
            <a:extLst>
              <a:ext uri="{FF2B5EF4-FFF2-40B4-BE49-F238E27FC236}">
                <a16:creationId xmlns:a16="http://schemas.microsoft.com/office/drawing/2014/main" id="{56DF185E-4874-C556-B523-55B66CA67CA6}"/>
              </a:ext>
            </a:extLst>
          </p:cNvPr>
          <p:cNvGrpSpPr/>
          <p:nvPr userDrawn="1"/>
        </p:nvGrpSpPr>
        <p:grpSpPr>
          <a:xfrm>
            <a:off x="9037083" y="1752600"/>
            <a:ext cx="937550" cy="1160621"/>
            <a:chOff x="5431831" y="1752600"/>
            <a:chExt cx="937550" cy="1160621"/>
          </a:xfrm>
        </p:grpSpPr>
        <p:pic>
          <p:nvPicPr>
            <p:cNvPr id="40" name="Picture 39">
              <a:extLst>
                <a:ext uri="{FF2B5EF4-FFF2-40B4-BE49-F238E27FC236}">
                  <a16:creationId xmlns:a16="http://schemas.microsoft.com/office/drawing/2014/main" id="{63CE37AC-3781-BB31-177C-5CE7E2287CED}"/>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41" name="TextBox 40">
              <a:extLst>
                <a:ext uri="{FF2B5EF4-FFF2-40B4-BE49-F238E27FC236}">
                  <a16:creationId xmlns:a16="http://schemas.microsoft.com/office/drawing/2014/main" id="{C38C9462-D61D-BDFC-9D8E-41D0C89DE06F}"/>
                </a:ext>
              </a:extLst>
            </p:cNvPr>
            <p:cNvSpPr txBox="1"/>
            <p:nvPr userDrawn="1"/>
          </p:nvSpPr>
          <p:spPr>
            <a:xfrm>
              <a:off x="5684843" y="2667000"/>
              <a:ext cx="431529" cy="246221"/>
            </a:xfrm>
            <a:prstGeom prst="rect">
              <a:avLst/>
            </a:prstGeom>
            <a:noFill/>
          </p:spPr>
          <p:txBody>
            <a:bodyPr wrap="none" rtlCol="0">
              <a:spAutoFit/>
            </a:bodyPr>
            <a:lstStyle/>
            <a:p>
              <a:pPr algn="ctr"/>
              <a:r>
                <a:rPr lang="en-US" sz="1000" dirty="0"/>
                <a:t>Idea</a:t>
              </a:r>
            </a:p>
          </p:txBody>
        </p:sp>
      </p:grpSp>
      <p:grpSp>
        <p:nvGrpSpPr>
          <p:cNvPr id="42" name="Group 41">
            <a:extLst>
              <a:ext uri="{FF2B5EF4-FFF2-40B4-BE49-F238E27FC236}">
                <a16:creationId xmlns:a16="http://schemas.microsoft.com/office/drawing/2014/main" id="{5CD12664-0486-A848-58F4-C28C560C54DC}"/>
              </a:ext>
            </a:extLst>
          </p:cNvPr>
          <p:cNvGrpSpPr/>
          <p:nvPr userDrawn="1"/>
        </p:nvGrpSpPr>
        <p:grpSpPr>
          <a:xfrm>
            <a:off x="10412895" y="1752600"/>
            <a:ext cx="937550" cy="1160621"/>
            <a:chOff x="5431831" y="1752600"/>
            <a:chExt cx="937550" cy="1160621"/>
          </a:xfrm>
        </p:grpSpPr>
        <p:pic>
          <p:nvPicPr>
            <p:cNvPr id="43" name="Picture 42">
              <a:extLst>
                <a:ext uri="{FF2B5EF4-FFF2-40B4-BE49-F238E27FC236}">
                  <a16:creationId xmlns:a16="http://schemas.microsoft.com/office/drawing/2014/main" id="{C49D6AE0-9F7E-5646-BBF2-3EB286B932C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44" name="TextBox 43">
              <a:extLst>
                <a:ext uri="{FF2B5EF4-FFF2-40B4-BE49-F238E27FC236}">
                  <a16:creationId xmlns:a16="http://schemas.microsoft.com/office/drawing/2014/main" id="{91436932-7489-215B-A927-D94234ABE44F}"/>
                </a:ext>
              </a:extLst>
            </p:cNvPr>
            <p:cNvSpPr txBox="1"/>
            <p:nvPr userDrawn="1"/>
          </p:nvSpPr>
          <p:spPr>
            <a:xfrm>
              <a:off x="5485271" y="2667000"/>
              <a:ext cx="830677" cy="246221"/>
            </a:xfrm>
            <a:prstGeom prst="rect">
              <a:avLst/>
            </a:prstGeom>
            <a:noFill/>
          </p:spPr>
          <p:txBody>
            <a:bodyPr wrap="none" rtlCol="0">
              <a:spAutoFit/>
            </a:bodyPr>
            <a:lstStyle/>
            <a:p>
              <a:pPr algn="ctr"/>
              <a:r>
                <a:rPr lang="en-US" sz="1000" dirty="0"/>
                <a:t>Experiment</a:t>
              </a:r>
            </a:p>
          </p:txBody>
        </p:sp>
      </p:grpSp>
      <p:grpSp>
        <p:nvGrpSpPr>
          <p:cNvPr id="45" name="Group 44">
            <a:extLst>
              <a:ext uri="{FF2B5EF4-FFF2-40B4-BE49-F238E27FC236}">
                <a16:creationId xmlns:a16="http://schemas.microsoft.com/office/drawing/2014/main" id="{2B0F299A-3739-E2C2-ADAB-FEB8CB19AA01}"/>
              </a:ext>
            </a:extLst>
          </p:cNvPr>
          <p:cNvGrpSpPr/>
          <p:nvPr userDrawn="1"/>
        </p:nvGrpSpPr>
        <p:grpSpPr>
          <a:xfrm>
            <a:off x="709105" y="3246863"/>
            <a:ext cx="971741" cy="1160621"/>
            <a:chOff x="709103" y="1752600"/>
            <a:chExt cx="971741" cy="1160621"/>
          </a:xfrm>
        </p:grpSpPr>
        <p:pic>
          <p:nvPicPr>
            <p:cNvPr id="46" name="Picture 45">
              <a:extLst>
                <a:ext uri="{FF2B5EF4-FFF2-40B4-BE49-F238E27FC236}">
                  <a16:creationId xmlns:a16="http://schemas.microsoft.com/office/drawing/2014/main" id="{D7CD17CB-B72B-50B2-32D5-1580EF583820}"/>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726198" y="1752600"/>
              <a:ext cx="937550" cy="937550"/>
            </a:xfrm>
            <a:prstGeom prst="rect">
              <a:avLst/>
            </a:prstGeom>
          </p:spPr>
        </p:pic>
        <p:sp>
          <p:nvSpPr>
            <p:cNvPr id="47" name="TextBox 46">
              <a:extLst>
                <a:ext uri="{FF2B5EF4-FFF2-40B4-BE49-F238E27FC236}">
                  <a16:creationId xmlns:a16="http://schemas.microsoft.com/office/drawing/2014/main" id="{ABBBB447-9DD9-51D6-7E1F-53FCEA69C8AE}"/>
                </a:ext>
              </a:extLst>
            </p:cNvPr>
            <p:cNvSpPr txBox="1"/>
            <p:nvPr userDrawn="1"/>
          </p:nvSpPr>
          <p:spPr>
            <a:xfrm>
              <a:off x="709103" y="2667000"/>
              <a:ext cx="971741" cy="246221"/>
            </a:xfrm>
            <a:prstGeom prst="rect">
              <a:avLst/>
            </a:prstGeom>
            <a:noFill/>
          </p:spPr>
          <p:txBody>
            <a:bodyPr wrap="none" rtlCol="0">
              <a:spAutoFit/>
            </a:bodyPr>
            <a:lstStyle/>
            <a:p>
              <a:pPr algn="ctr"/>
              <a:r>
                <a:rPr lang="en-US" sz="1000" dirty="0"/>
                <a:t>Attention/Risk</a:t>
              </a:r>
            </a:p>
          </p:txBody>
        </p:sp>
      </p:grpSp>
      <p:grpSp>
        <p:nvGrpSpPr>
          <p:cNvPr id="48" name="Group 47">
            <a:extLst>
              <a:ext uri="{FF2B5EF4-FFF2-40B4-BE49-F238E27FC236}">
                <a16:creationId xmlns:a16="http://schemas.microsoft.com/office/drawing/2014/main" id="{145483EF-BC35-2B72-DF14-F98491F5A878}"/>
              </a:ext>
            </a:extLst>
          </p:cNvPr>
          <p:cNvGrpSpPr/>
          <p:nvPr userDrawn="1"/>
        </p:nvGrpSpPr>
        <p:grpSpPr>
          <a:xfrm>
            <a:off x="2119913" y="3246863"/>
            <a:ext cx="937550" cy="1160621"/>
            <a:chOff x="2276156" y="1752600"/>
            <a:chExt cx="937550" cy="1160621"/>
          </a:xfrm>
        </p:grpSpPr>
        <p:pic>
          <p:nvPicPr>
            <p:cNvPr id="49" name="Picture 48">
              <a:extLst>
                <a:ext uri="{FF2B5EF4-FFF2-40B4-BE49-F238E27FC236}">
                  <a16:creationId xmlns:a16="http://schemas.microsoft.com/office/drawing/2014/main" id="{DC1CB1A3-CB6A-3F6F-D4C8-D0A375257F59}"/>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2276156" y="1752600"/>
              <a:ext cx="937550" cy="937550"/>
            </a:xfrm>
            <a:prstGeom prst="rect">
              <a:avLst/>
            </a:prstGeom>
          </p:spPr>
        </p:pic>
        <p:sp>
          <p:nvSpPr>
            <p:cNvPr id="50" name="TextBox 49">
              <a:extLst>
                <a:ext uri="{FF2B5EF4-FFF2-40B4-BE49-F238E27FC236}">
                  <a16:creationId xmlns:a16="http://schemas.microsoft.com/office/drawing/2014/main" id="{864AB0F9-D4AB-42DC-85C6-261EF3905EB7}"/>
                </a:ext>
              </a:extLst>
            </p:cNvPr>
            <p:cNvSpPr txBox="1"/>
            <p:nvPr userDrawn="1"/>
          </p:nvSpPr>
          <p:spPr>
            <a:xfrm>
              <a:off x="2368868" y="2667000"/>
              <a:ext cx="752129" cy="246221"/>
            </a:xfrm>
            <a:prstGeom prst="rect">
              <a:avLst/>
            </a:prstGeom>
            <a:noFill/>
          </p:spPr>
          <p:txBody>
            <a:bodyPr wrap="none" rtlCol="0">
              <a:spAutoFit/>
            </a:bodyPr>
            <a:lstStyle/>
            <a:p>
              <a:pPr algn="ctr"/>
              <a:r>
                <a:rPr lang="en-US" sz="1000" dirty="0"/>
                <a:t>List/To-do</a:t>
              </a:r>
            </a:p>
          </p:txBody>
        </p:sp>
      </p:grpSp>
      <p:grpSp>
        <p:nvGrpSpPr>
          <p:cNvPr id="51" name="Group 50">
            <a:extLst>
              <a:ext uri="{FF2B5EF4-FFF2-40B4-BE49-F238E27FC236}">
                <a16:creationId xmlns:a16="http://schemas.microsoft.com/office/drawing/2014/main" id="{91D7BD37-7B62-B0BE-B34B-FE7378F9CBAE}"/>
              </a:ext>
            </a:extLst>
          </p:cNvPr>
          <p:cNvGrpSpPr/>
          <p:nvPr userDrawn="1"/>
        </p:nvGrpSpPr>
        <p:grpSpPr>
          <a:xfrm>
            <a:off x="3376712" y="3246863"/>
            <a:ext cx="1184941" cy="1160621"/>
            <a:chOff x="3204355" y="1752600"/>
            <a:chExt cx="1184941" cy="1160621"/>
          </a:xfrm>
        </p:grpSpPr>
        <p:pic>
          <p:nvPicPr>
            <p:cNvPr id="52" name="Picture 51">
              <a:extLst>
                <a:ext uri="{FF2B5EF4-FFF2-40B4-BE49-F238E27FC236}">
                  <a16:creationId xmlns:a16="http://schemas.microsoft.com/office/drawing/2014/main" id="{E016F2B6-B7E8-1132-2642-EA957F1761C7}"/>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3328048" y="1752600"/>
              <a:ext cx="937550" cy="937550"/>
            </a:xfrm>
            <a:prstGeom prst="rect">
              <a:avLst/>
            </a:prstGeom>
          </p:spPr>
        </p:pic>
        <p:sp>
          <p:nvSpPr>
            <p:cNvPr id="53" name="TextBox 52">
              <a:extLst>
                <a:ext uri="{FF2B5EF4-FFF2-40B4-BE49-F238E27FC236}">
                  <a16:creationId xmlns:a16="http://schemas.microsoft.com/office/drawing/2014/main" id="{FE880E60-8A4E-251D-C573-98A48CAF06AC}"/>
                </a:ext>
              </a:extLst>
            </p:cNvPr>
            <p:cNvSpPr txBox="1"/>
            <p:nvPr userDrawn="1"/>
          </p:nvSpPr>
          <p:spPr>
            <a:xfrm>
              <a:off x="3204355" y="2667000"/>
              <a:ext cx="1184941" cy="246221"/>
            </a:xfrm>
            <a:prstGeom prst="rect">
              <a:avLst/>
            </a:prstGeom>
            <a:noFill/>
          </p:spPr>
          <p:txBody>
            <a:bodyPr wrap="none" rtlCol="0">
              <a:spAutoFit/>
            </a:bodyPr>
            <a:lstStyle/>
            <a:p>
              <a:pPr algn="ctr"/>
              <a:r>
                <a:rPr lang="en-US" sz="1000" dirty="0"/>
                <a:t>Report/Document</a:t>
              </a:r>
            </a:p>
          </p:txBody>
        </p:sp>
      </p:grpSp>
      <p:grpSp>
        <p:nvGrpSpPr>
          <p:cNvPr id="54" name="Group 53">
            <a:extLst>
              <a:ext uri="{FF2B5EF4-FFF2-40B4-BE49-F238E27FC236}">
                <a16:creationId xmlns:a16="http://schemas.microsoft.com/office/drawing/2014/main" id="{A6033F2C-0684-B356-46F6-D9BF89D9EBB8}"/>
              </a:ext>
            </a:extLst>
          </p:cNvPr>
          <p:cNvGrpSpPr/>
          <p:nvPr userDrawn="1"/>
        </p:nvGrpSpPr>
        <p:grpSpPr>
          <a:xfrm>
            <a:off x="6247355" y="3246863"/>
            <a:ext cx="937550" cy="1160621"/>
            <a:chOff x="4379940" y="1752600"/>
            <a:chExt cx="937550" cy="1160621"/>
          </a:xfrm>
        </p:grpSpPr>
        <p:pic>
          <p:nvPicPr>
            <p:cNvPr id="55" name="Picture 54">
              <a:extLst>
                <a:ext uri="{FF2B5EF4-FFF2-40B4-BE49-F238E27FC236}">
                  <a16:creationId xmlns:a16="http://schemas.microsoft.com/office/drawing/2014/main" id="{39BAD218-B5C9-34D3-5AF3-0CBB52EE323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4379940" y="1752600"/>
              <a:ext cx="937550" cy="937550"/>
            </a:xfrm>
            <a:prstGeom prst="rect">
              <a:avLst/>
            </a:prstGeom>
          </p:spPr>
        </p:pic>
        <p:sp>
          <p:nvSpPr>
            <p:cNvPr id="56" name="TextBox 55">
              <a:extLst>
                <a:ext uri="{FF2B5EF4-FFF2-40B4-BE49-F238E27FC236}">
                  <a16:creationId xmlns:a16="http://schemas.microsoft.com/office/drawing/2014/main" id="{9E81308E-5F10-C3B2-DBCC-5B1B946E1E11}"/>
                </a:ext>
              </a:extLst>
            </p:cNvPr>
            <p:cNvSpPr txBox="1"/>
            <p:nvPr userDrawn="1"/>
          </p:nvSpPr>
          <p:spPr>
            <a:xfrm>
              <a:off x="4429371" y="2667000"/>
              <a:ext cx="838691" cy="246221"/>
            </a:xfrm>
            <a:prstGeom prst="rect">
              <a:avLst/>
            </a:prstGeom>
            <a:noFill/>
          </p:spPr>
          <p:txBody>
            <a:bodyPr wrap="none" rtlCol="0">
              <a:spAutoFit/>
            </a:bodyPr>
            <a:lstStyle/>
            <a:p>
              <a:pPr algn="ctr"/>
              <a:r>
                <a:rPr lang="en-US" sz="1000" dirty="0"/>
                <a:t>Microscope</a:t>
              </a:r>
            </a:p>
          </p:txBody>
        </p:sp>
      </p:grpSp>
      <p:grpSp>
        <p:nvGrpSpPr>
          <p:cNvPr id="57" name="Group 56">
            <a:extLst>
              <a:ext uri="{FF2B5EF4-FFF2-40B4-BE49-F238E27FC236}">
                <a16:creationId xmlns:a16="http://schemas.microsoft.com/office/drawing/2014/main" id="{BCB13DA3-C4EA-FA14-E54A-64A7393C4797}"/>
              </a:ext>
            </a:extLst>
          </p:cNvPr>
          <p:cNvGrpSpPr/>
          <p:nvPr userDrawn="1"/>
        </p:nvGrpSpPr>
        <p:grpSpPr>
          <a:xfrm>
            <a:off x="10412895" y="3246863"/>
            <a:ext cx="937550" cy="1160621"/>
            <a:chOff x="5431831" y="1752600"/>
            <a:chExt cx="937550" cy="1160621"/>
          </a:xfrm>
        </p:grpSpPr>
        <p:pic>
          <p:nvPicPr>
            <p:cNvPr id="58" name="Picture 57">
              <a:extLst>
                <a:ext uri="{FF2B5EF4-FFF2-40B4-BE49-F238E27FC236}">
                  <a16:creationId xmlns:a16="http://schemas.microsoft.com/office/drawing/2014/main" id="{2E0CFCFC-C544-673F-AC06-758A8EEB54E3}"/>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59" name="TextBox 58">
              <a:extLst>
                <a:ext uri="{FF2B5EF4-FFF2-40B4-BE49-F238E27FC236}">
                  <a16:creationId xmlns:a16="http://schemas.microsoft.com/office/drawing/2014/main" id="{761C5F85-20F7-D144-95A9-0CE5C5D9B15C}"/>
                </a:ext>
              </a:extLst>
            </p:cNvPr>
            <p:cNvSpPr txBox="1"/>
            <p:nvPr userDrawn="1"/>
          </p:nvSpPr>
          <p:spPr>
            <a:xfrm>
              <a:off x="5485270" y="2667000"/>
              <a:ext cx="830676" cy="246221"/>
            </a:xfrm>
            <a:prstGeom prst="rect">
              <a:avLst/>
            </a:prstGeom>
            <a:noFill/>
          </p:spPr>
          <p:txBody>
            <a:bodyPr wrap="none" rtlCol="0">
              <a:spAutoFit/>
            </a:bodyPr>
            <a:lstStyle/>
            <a:p>
              <a:pPr algn="ctr"/>
              <a:r>
                <a:rPr lang="en-US" sz="1000" dirty="0"/>
                <a:t>Experiment</a:t>
              </a:r>
            </a:p>
          </p:txBody>
        </p:sp>
      </p:grpSp>
      <p:grpSp>
        <p:nvGrpSpPr>
          <p:cNvPr id="60" name="Group 59">
            <a:extLst>
              <a:ext uri="{FF2B5EF4-FFF2-40B4-BE49-F238E27FC236}">
                <a16:creationId xmlns:a16="http://schemas.microsoft.com/office/drawing/2014/main" id="{6B523C45-1411-FFA2-CDD6-030F8673413B}"/>
              </a:ext>
            </a:extLst>
          </p:cNvPr>
          <p:cNvGrpSpPr/>
          <p:nvPr userDrawn="1"/>
        </p:nvGrpSpPr>
        <p:grpSpPr>
          <a:xfrm>
            <a:off x="7661269" y="3246863"/>
            <a:ext cx="937550" cy="1160621"/>
            <a:chOff x="5431831" y="1752600"/>
            <a:chExt cx="937550" cy="1160621"/>
          </a:xfrm>
        </p:grpSpPr>
        <p:pic>
          <p:nvPicPr>
            <p:cNvPr id="61" name="Picture 60">
              <a:extLst>
                <a:ext uri="{FF2B5EF4-FFF2-40B4-BE49-F238E27FC236}">
                  <a16:creationId xmlns:a16="http://schemas.microsoft.com/office/drawing/2014/main" id="{CBAEB1D6-A0DB-C3DE-CEFD-60B96E056668}"/>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62" name="TextBox 61">
              <a:extLst>
                <a:ext uri="{FF2B5EF4-FFF2-40B4-BE49-F238E27FC236}">
                  <a16:creationId xmlns:a16="http://schemas.microsoft.com/office/drawing/2014/main" id="{1DB68FE0-405B-2CB1-9B49-0529846D28AF}"/>
                </a:ext>
              </a:extLst>
            </p:cNvPr>
            <p:cNvSpPr txBox="1"/>
            <p:nvPr userDrawn="1"/>
          </p:nvSpPr>
          <p:spPr>
            <a:xfrm>
              <a:off x="5627937" y="2667000"/>
              <a:ext cx="545342" cy="246221"/>
            </a:xfrm>
            <a:prstGeom prst="rect">
              <a:avLst/>
            </a:prstGeom>
            <a:noFill/>
          </p:spPr>
          <p:txBody>
            <a:bodyPr wrap="none" rtlCol="0">
              <a:spAutoFit/>
            </a:bodyPr>
            <a:lstStyle/>
            <a:p>
              <a:pPr algn="ctr"/>
              <a:r>
                <a:rPr lang="en-US" sz="1000" dirty="0"/>
                <a:t>Space</a:t>
              </a:r>
            </a:p>
          </p:txBody>
        </p:sp>
      </p:grpSp>
      <p:grpSp>
        <p:nvGrpSpPr>
          <p:cNvPr id="66" name="Group 65">
            <a:extLst>
              <a:ext uri="{FF2B5EF4-FFF2-40B4-BE49-F238E27FC236}">
                <a16:creationId xmlns:a16="http://schemas.microsoft.com/office/drawing/2014/main" id="{9C8573B0-C3E9-BD4A-12C6-2C05FEB654FB}"/>
              </a:ext>
            </a:extLst>
          </p:cNvPr>
          <p:cNvGrpSpPr/>
          <p:nvPr userDrawn="1"/>
        </p:nvGrpSpPr>
        <p:grpSpPr>
          <a:xfrm>
            <a:off x="4800600" y="3246863"/>
            <a:ext cx="1114409" cy="1160621"/>
            <a:chOff x="5343407" y="1752600"/>
            <a:chExt cx="1114409" cy="1160621"/>
          </a:xfrm>
        </p:grpSpPr>
        <p:pic>
          <p:nvPicPr>
            <p:cNvPr id="67" name="Picture 66">
              <a:extLst>
                <a:ext uri="{FF2B5EF4-FFF2-40B4-BE49-F238E27FC236}">
                  <a16:creationId xmlns:a16="http://schemas.microsoft.com/office/drawing/2014/main" id="{E7FB7A2A-2D14-1105-B15D-4F4C04A6FF74}"/>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68" name="TextBox 67">
              <a:extLst>
                <a:ext uri="{FF2B5EF4-FFF2-40B4-BE49-F238E27FC236}">
                  <a16:creationId xmlns:a16="http://schemas.microsoft.com/office/drawing/2014/main" id="{4CA22A94-509E-32C8-87A6-C41E8B1B2DEA}"/>
                </a:ext>
              </a:extLst>
            </p:cNvPr>
            <p:cNvSpPr txBox="1"/>
            <p:nvPr userDrawn="1"/>
          </p:nvSpPr>
          <p:spPr>
            <a:xfrm>
              <a:off x="5343407" y="2667000"/>
              <a:ext cx="1114409" cy="246221"/>
            </a:xfrm>
            <a:prstGeom prst="rect">
              <a:avLst/>
            </a:prstGeom>
            <a:noFill/>
          </p:spPr>
          <p:txBody>
            <a:bodyPr wrap="none" rtlCol="0">
              <a:spAutoFit/>
            </a:bodyPr>
            <a:lstStyle/>
            <a:p>
              <a:pPr algn="ctr"/>
              <a:r>
                <a:rPr lang="en-US" sz="1000" dirty="0"/>
                <a:t>Report/Analytics</a:t>
              </a:r>
            </a:p>
          </p:txBody>
        </p:sp>
      </p:grpSp>
      <p:grpSp>
        <p:nvGrpSpPr>
          <p:cNvPr id="69" name="Group 68">
            <a:extLst>
              <a:ext uri="{FF2B5EF4-FFF2-40B4-BE49-F238E27FC236}">
                <a16:creationId xmlns:a16="http://schemas.microsoft.com/office/drawing/2014/main" id="{846D9EA6-D0B5-18CC-6C05-63F3908918A0}"/>
              </a:ext>
            </a:extLst>
          </p:cNvPr>
          <p:cNvGrpSpPr/>
          <p:nvPr userDrawn="1"/>
        </p:nvGrpSpPr>
        <p:grpSpPr>
          <a:xfrm>
            <a:off x="9037083" y="3246863"/>
            <a:ext cx="937550" cy="1160621"/>
            <a:chOff x="5431831" y="1752600"/>
            <a:chExt cx="937550" cy="1160621"/>
          </a:xfrm>
        </p:grpSpPr>
        <p:pic>
          <p:nvPicPr>
            <p:cNvPr id="70" name="Picture 69">
              <a:extLst>
                <a:ext uri="{FF2B5EF4-FFF2-40B4-BE49-F238E27FC236}">
                  <a16:creationId xmlns:a16="http://schemas.microsoft.com/office/drawing/2014/main" id="{56CADE8A-6EC7-51D0-0CFE-1124AA9C6C51}"/>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71" name="TextBox 70">
              <a:extLst>
                <a:ext uri="{FF2B5EF4-FFF2-40B4-BE49-F238E27FC236}">
                  <a16:creationId xmlns:a16="http://schemas.microsoft.com/office/drawing/2014/main" id="{9702BEAC-3F80-2061-C091-2E2DE37438D1}"/>
                </a:ext>
              </a:extLst>
            </p:cNvPr>
            <p:cNvSpPr txBox="1"/>
            <p:nvPr userDrawn="1"/>
          </p:nvSpPr>
          <p:spPr>
            <a:xfrm>
              <a:off x="5599081" y="2667000"/>
              <a:ext cx="603050" cy="246221"/>
            </a:xfrm>
            <a:prstGeom prst="rect">
              <a:avLst/>
            </a:prstGeom>
            <a:noFill/>
          </p:spPr>
          <p:txBody>
            <a:bodyPr wrap="none" rtlCol="0">
              <a:spAutoFit/>
            </a:bodyPr>
            <a:lstStyle/>
            <a:p>
              <a:pPr algn="ctr"/>
              <a:r>
                <a:rPr lang="en-US" sz="1000" dirty="0"/>
                <a:t>Biology</a:t>
              </a:r>
            </a:p>
          </p:txBody>
        </p:sp>
      </p:grpSp>
    </p:spTree>
    <p:extLst>
      <p:ext uri="{BB962C8B-B14F-4D97-AF65-F5344CB8AC3E}">
        <p14:creationId xmlns:p14="http://schemas.microsoft.com/office/powerpoint/2010/main" val="38306055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7BEB-3F95-F7BD-8C6B-C9CDE17AD06E}"/>
              </a:ext>
            </a:extLst>
          </p:cNvPr>
          <p:cNvSpPr>
            <a:spLocks noGrp="1"/>
          </p:cNvSpPr>
          <p:nvPr>
            <p:ph type="title" hasCustomPrompt="1"/>
          </p:nvPr>
        </p:nvSpPr>
        <p:spPr>
          <a:xfrm>
            <a:off x="914400" y="755930"/>
            <a:ext cx="10325100" cy="1325563"/>
          </a:xfrm>
        </p:spPr>
        <p:txBody>
          <a:bodyPr/>
          <a:lstStyle/>
          <a:p>
            <a:r>
              <a:rPr lang="en-US" dirty="0"/>
              <a:t>Icon Sets</a:t>
            </a:r>
          </a:p>
        </p:txBody>
      </p:sp>
      <p:sp>
        <p:nvSpPr>
          <p:cNvPr id="4" name="Footer Placeholder 3">
            <a:extLst>
              <a:ext uri="{FF2B5EF4-FFF2-40B4-BE49-F238E27FC236}">
                <a16:creationId xmlns:a16="http://schemas.microsoft.com/office/drawing/2014/main" id="{27D41258-C225-30B8-4068-2B71A0ED381A}"/>
              </a:ext>
            </a:extLst>
          </p:cNvPr>
          <p:cNvSpPr>
            <a:spLocks noGrp="1"/>
          </p:cNvSpPr>
          <p:nvPr>
            <p:ph type="ftr" sz="quarter" idx="11"/>
          </p:nvPr>
        </p:nvSpPr>
        <p:spPr/>
        <p:txBody>
          <a:bodyPr/>
          <a:lstStyle/>
          <a:p>
            <a:r>
              <a:rPr lang="en-US" dirty="0"/>
              <a:t>Biological &amp; Physical Sciences</a:t>
            </a:r>
          </a:p>
        </p:txBody>
      </p:sp>
      <p:sp>
        <p:nvSpPr>
          <p:cNvPr id="5" name="Slide Number Placeholder 4">
            <a:extLst>
              <a:ext uri="{FF2B5EF4-FFF2-40B4-BE49-F238E27FC236}">
                <a16:creationId xmlns:a16="http://schemas.microsoft.com/office/drawing/2014/main" id="{C1FA1CED-BEE1-ACF5-8AEE-094C9B16F7D7}"/>
              </a:ext>
            </a:extLst>
          </p:cNvPr>
          <p:cNvSpPr>
            <a:spLocks noGrp="1"/>
          </p:cNvSpPr>
          <p:nvPr>
            <p:ph type="sldNum" sz="quarter" idx="12"/>
          </p:nvPr>
        </p:nvSpPr>
        <p:spPr/>
        <p:txBody>
          <a:bodyPr/>
          <a:lstStyle/>
          <a:p>
            <a:fld id="{E8618032-BA8D-3D4D-8253-A70208A85976}" type="slidenum">
              <a:rPr lang="en-US" smtClean="0"/>
              <a:t>‹#›</a:t>
            </a:fld>
            <a:endParaRPr lang="en-US"/>
          </a:p>
        </p:txBody>
      </p:sp>
      <p:grpSp>
        <p:nvGrpSpPr>
          <p:cNvPr id="16" name="Group 15">
            <a:extLst>
              <a:ext uri="{FF2B5EF4-FFF2-40B4-BE49-F238E27FC236}">
                <a16:creationId xmlns:a16="http://schemas.microsoft.com/office/drawing/2014/main" id="{DF2DBF73-78F1-5E34-BB47-F8D4315E883F}"/>
              </a:ext>
            </a:extLst>
          </p:cNvPr>
          <p:cNvGrpSpPr/>
          <p:nvPr userDrawn="1"/>
        </p:nvGrpSpPr>
        <p:grpSpPr>
          <a:xfrm>
            <a:off x="620138" y="1752600"/>
            <a:ext cx="1149675" cy="1160621"/>
            <a:chOff x="620138" y="1752600"/>
            <a:chExt cx="1149675" cy="1160621"/>
          </a:xfrm>
        </p:grpSpPr>
        <p:pic>
          <p:nvPicPr>
            <p:cNvPr id="21" name="Picture 20">
              <a:extLst>
                <a:ext uri="{FF2B5EF4-FFF2-40B4-BE49-F238E27FC236}">
                  <a16:creationId xmlns:a16="http://schemas.microsoft.com/office/drawing/2014/main" id="{084DCB50-DA15-0746-CC36-3D6CE4CCBCE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26198" y="1752600"/>
              <a:ext cx="937550" cy="937550"/>
            </a:xfrm>
            <a:prstGeom prst="rect">
              <a:avLst/>
            </a:prstGeom>
          </p:spPr>
        </p:pic>
        <p:sp>
          <p:nvSpPr>
            <p:cNvPr id="6" name="TextBox 5">
              <a:extLst>
                <a:ext uri="{FF2B5EF4-FFF2-40B4-BE49-F238E27FC236}">
                  <a16:creationId xmlns:a16="http://schemas.microsoft.com/office/drawing/2014/main" id="{4C756196-4ADF-DF0C-EBDC-F9F2C81AC2F4}"/>
                </a:ext>
              </a:extLst>
            </p:cNvPr>
            <p:cNvSpPr txBox="1"/>
            <p:nvPr userDrawn="1"/>
          </p:nvSpPr>
          <p:spPr>
            <a:xfrm>
              <a:off x="620138" y="2667000"/>
              <a:ext cx="1149675" cy="246221"/>
            </a:xfrm>
            <a:prstGeom prst="rect">
              <a:avLst/>
            </a:prstGeom>
            <a:noFill/>
          </p:spPr>
          <p:txBody>
            <a:bodyPr wrap="none" rtlCol="0">
              <a:spAutoFit/>
            </a:bodyPr>
            <a:lstStyle/>
            <a:p>
              <a:pPr algn="ctr"/>
              <a:r>
                <a:rPr lang="en-US" sz="1000" dirty="0"/>
                <a:t>Physical Science</a:t>
              </a:r>
            </a:p>
          </p:txBody>
        </p:sp>
      </p:grpSp>
      <p:grpSp>
        <p:nvGrpSpPr>
          <p:cNvPr id="18" name="Group 17">
            <a:extLst>
              <a:ext uri="{FF2B5EF4-FFF2-40B4-BE49-F238E27FC236}">
                <a16:creationId xmlns:a16="http://schemas.microsoft.com/office/drawing/2014/main" id="{511910B8-EFDC-F4BD-D871-01250E169D33}"/>
              </a:ext>
            </a:extLst>
          </p:cNvPr>
          <p:cNvGrpSpPr/>
          <p:nvPr userDrawn="1"/>
        </p:nvGrpSpPr>
        <p:grpSpPr>
          <a:xfrm>
            <a:off x="2119913" y="1752600"/>
            <a:ext cx="937550" cy="1160621"/>
            <a:chOff x="2276156" y="1752600"/>
            <a:chExt cx="937550" cy="1160621"/>
          </a:xfrm>
        </p:grpSpPr>
        <p:pic>
          <p:nvPicPr>
            <p:cNvPr id="19" name="Picture 18">
              <a:extLst>
                <a:ext uri="{FF2B5EF4-FFF2-40B4-BE49-F238E27FC236}">
                  <a16:creationId xmlns:a16="http://schemas.microsoft.com/office/drawing/2014/main" id="{FE1E2990-A33D-309A-9F68-08D9A1E0E4D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276156" y="1752600"/>
              <a:ext cx="937550" cy="937550"/>
            </a:xfrm>
            <a:prstGeom prst="rect">
              <a:avLst/>
            </a:prstGeom>
          </p:spPr>
        </p:pic>
        <p:sp>
          <p:nvSpPr>
            <p:cNvPr id="8" name="TextBox 7">
              <a:extLst>
                <a:ext uri="{FF2B5EF4-FFF2-40B4-BE49-F238E27FC236}">
                  <a16:creationId xmlns:a16="http://schemas.microsoft.com/office/drawing/2014/main" id="{D490AC53-46B8-9208-4DAB-7EBDD1243E80}"/>
                </a:ext>
              </a:extLst>
            </p:cNvPr>
            <p:cNvSpPr txBox="1"/>
            <p:nvPr userDrawn="1"/>
          </p:nvSpPr>
          <p:spPr>
            <a:xfrm>
              <a:off x="2390507" y="2667000"/>
              <a:ext cx="708848" cy="246221"/>
            </a:xfrm>
            <a:prstGeom prst="rect">
              <a:avLst/>
            </a:prstGeom>
            <a:noFill/>
          </p:spPr>
          <p:txBody>
            <a:bodyPr wrap="none" rtlCol="0">
              <a:spAutoFit/>
            </a:bodyPr>
            <a:lstStyle/>
            <a:p>
              <a:pPr algn="ctr"/>
              <a:r>
                <a:rPr lang="en-US" sz="1000" dirty="0"/>
                <a:t>Quantum</a:t>
              </a:r>
            </a:p>
          </p:txBody>
        </p:sp>
      </p:grpSp>
      <p:grpSp>
        <p:nvGrpSpPr>
          <p:cNvPr id="20" name="Group 19">
            <a:extLst>
              <a:ext uri="{FF2B5EF4-FFF2-40B4-BE49-F238E27FC236}">
                <a16:creationId xmlns:a16="http://schemas.microsoft.com/office/drawing/2014/main" id="{63D160AB-747D-0C84-DB2C-12A72938449E}"/>
              </a:ext>
            </a:extLst>
          </p:cNvPr>
          <p:cNvGrpSpPr/>
          <p:nvPr userDrawn="1"/>
        </p:nvGrpSpPr>
        <p:grpSpPr>
          <a:xfrm>
            <a:off x="3500407" y="1752600"/>
            <a:ext cx="937550" cy="1160621"/>
            <a:chOff x="3328048" y="1752600"/>
            <a:chExt cx="937550" cy="1160621"/>
          </a:xfrm>
        </p:grpSpPr>
        <p:pic>
          <p:nvPicPr>
            <p:cNvPr id="35" name="Picture 34">
              <a:extLst>
                <a:ext uri="{FF2B5EF4-FFF2-40B4-BE49-F238E27FC236}">
                  <a16:creationId xmlns:a16="http://schemas.microsoft.com/office/drawing/2014/main" id="{9F58E307-692E-76E5-915A-6BE8C8A6C34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328048" y="1752600"/>
              <a:ext cx="937550" cy="937550"/>
            </a:xfrm>
            <a:prstGeom prst="rect">
              <a:avLst/>
            </a:prstGeom>
          </p:spPr>
        </p:pic>
        <p:sp>
          <p:nvSpPr>
            <p:cNvPr id="10" name="TextBox 9">
              <a:extLst>
                <a:ext uri="{FF2B5EF4-FFF2-40B4-BE49-F238E27FC236}">
                  <a16:creationId xmlns:a16="http://schemas.microsoft.com/office/drawing/2014/main" id="{9F976D59-973C-B3ED-21A7-6E1BF17E1F28}"/>
                </a:ext>
              </a:extLst>
            </p:cNvPr>
            <p:cNvSpPr txBox="1"/>
            <p:nvPr userDrawn="1"/>
          </p:nvSpPr>
          <p:spPr>
            <a:xfrm>
              <a:off x="3565830" y="2667000"/>
              <a:ext cx="461986" cy="246221"/>
            </a:xfrm>
            <a:prstGeom prst="rect">
              <a:avLst/>
            </a:prstGeom>
            <a:noFill/>
          </p:spPr>
          <p:txBody>
            <a:bodyPr wrap="none" rtlCol="0">
              <a:spAutoFit/>
            </a:bodyPr>
            <a:lstStyle/>
            <a:p>
              <a:pPr algn="ctr"/>
              <a:r>
                <a:rPr lang="en-US" sz="1000" dirty="0"/>
                <a:t>Fluid</a:t>
              </a:r>
            </a:p>
          </p:txBody>
        </p:sp>
      </p:grpSp>
      <p:grpSp>
        <p:nvGrpSpPr>
          <p:cNvPr id="22" name="Group 21">
            <a:extLst>
              <a:ext uri="{FF2B5EF4-FFF2-40B4-BE49-F238E27FC236}">
                <a16:creationId xmlns:a16="http://schemas.microsoft.com/office/drawing/2014/main" id="{DFEA1BB1-12A4-2E2E-1955-F3A8B5472743}"/>
              </a:ext>
            </a:extLst>
          </p:cNvPr>
          <p:cNvGrpSpPr/>
          <p:nvPr userDrawn="1"/>
        </p:nvGrpSpPr>
        <p:grpSpPr>
          <a:xfrm>
            <a:off x="4889029" y="1752600"/>
            <a:ext cx="937550" cy="1160621"/>
            <a:chOff x="4379940" y="1752600"/>
            <a:chExt cx="937550" cy="1160621"/>
          </a:xfrm>
        </p:grpSpPr>
        <p:pic>
          <p:nvPicPr>
            <p:cNvPr id="34" name="Picture 33">
              <a:extLst>
                <a:ext uri="{FF2B5EF4-FFF2-40B4-BE49-F238E27FC236}">
                  <a16:creationId xmlns:a16="http://schemas.microsoft.com/office/drawing/2014/main" id="{0E9DBB58-6406-2088-AE7D-CD856A1E7ACD}"/>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4379940" y="1752600"/>
              <a:ext cx="937550" cy="937550"/>
            </a:xfrm>
            <a:prstGeom prst="rect">
              <a:avLst/>
            </a:prstGeom>
          </p:spPr>
        </p:pic>
        <p:sp>
          <p:nvSpPr>
            <p:cNvPr id="12" name="TextBox 11">
              <a:extLst>
                <a:ext uri="{FF2B5EF4-FFF2-40B4-BE49-F238E27FC236}">
                  <a16:creationId xmlns:a16="http://schemas.microsoft.com/office/drawing/2014/main" id="{8D472200-79FE-9C5A-93BA-31F52D3EE86F}"/>
                </a:ext>
              </a:extLst>
            </p:cNvPr>
            <p:cNvSpPr txBox="1"/>
            <p:nvPr userDrawn="1"/>
          </p:nvSpPr>
          <p:spPr>
            <a:xfrm>
              <a:off x="4483070" y="2667000"/>
              <a:ext cx="731290" cy="246221"/>
            </a:xfrm>
            <a:prstGeom prst="rect">
              <a:avLst/>
            </a:prstGeom>
            <a:noFill/>
          </p:spPr>
          <p:txBody>
            <a:bodyPr wrap="none" rtlCol="0">
              <a:spAutoFit/>
            </a:bodyPr>
            <a:lstStyle/>
            <a:p>
              <a:pPr algn="ctr"/>
              <a:r>
                <a:rPr lang="en-US" sz="1000" dirty="0"/>
                <a:t>Complete</a:t>
              </a:r>
            </a:p>
          </p:txBody>
        </p:sp>
      </p:grpSp>
      <p:grpSp>
        <p:nvGrpSpPr>
          <p:cNvPr id="23" name="Group 22">
            <a:extLst>
              <a:ext uri="{FF2B5EF4-FFF2-40B4-BE49-F238E27FC236}">
                <a16:creationId xmlns:a16="http://schemas.microsoft.com/office/drawing/2014/main" id="{2BC30226-E85A-EAB4-EA3A-2F8AF418AC7A}"/>
              </a:ext>
            </a:extLst>
          </p:cNvPr>
          <p:cNvGrpSpPr/>
          <p:nvPr userDrawn="1"/>
        </p:nvGrpSpPr>
        <p:grpSpPr>
          <a:xfrm>
            <a:off x="6247355" y="1752600"/>
            <a:ext cx="937550" cy="1160621"/>
            <a:chOff x="5431831" y="1752600"/>
            <a:chExt cx="937550" cy="1160621"/>
          </a:xfrm>
        </p:grpSpPr>
        <p:pic>
          <p:nvPicPr>
            <p:cNvPr id="39" name="Picture 38">
              <a:extLst>
                <a:ext uri="{FF2B5EF4-FFF2-40B4-BE49-F238E27FC236}">
                  <a16:creationId xmlns:a16="http://schemas.microsoft.com/office/drawing/2014/main" id="{829FB4C8-0924-DD30-1DEA-0B2E407C2C96}"/>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14" name="TextBox 13">
              <a:extLst>
                <a:ext uri="{FF2B5EF4-FFF2-40B4-BE49-F238E27FC236}">
                  <a16:creationId xmlns:a16="http://schemas.microsoft.com/office/drawing/2014/main" id="{2E9D3CBF-9626-9176-B486-F34F15BE4A9E}"/>
                </a:ext>
              </a:extLst>
            </p:cNvPr>
            <p:cNvSpPr txBox="1"/>
            <p:nvPr userDrawn="1"/>
          </p:nvSpPr>
          <p:spPr>
            <a:xfrm>
              <a:off x="5530953" y="2667000"/>
              <a:ext cx="739306" cy="246221"/>
            </a:xfrm>
            <a:prstGeom prst="rect">
              <a:avLst/>
            </a:prstGeom>
            <a:noFill/>
          </p:spPr>
          <p:txBody>
            <a:bodyPr wrap="none" rtlCol="0">
              <a:spAutoFit/>
            </a:bodyPr>
            <a:lstStyle/>
            <a:p>
              <a:pPr algn="ctr"/>
              <a:r>
                <a:rPr lang="en-US" sz="1000" dirty="0"/>
                <a:t>Molecular</a:t>
              </a:r>
            </a:p>
          </p:txBody>
        </p:sp>
      </p:grpSp>
      <p:grpSp>
        <p:nvGrpSpPr>
          <p:cNvPr id="24" name="Group 23">
            <a:extLst>
              <a:ext uri="{FF2B5EF4-FFF2-40B4-BE49-F238E27FC236}">
                <a16:creationId xmlns:a16="http://schemas.microsoft.com/office/drawing/2014/main" id="{F5EC613B-9512-31BF-730B-49C7B41C44C6}"/>
              </a:ext>
            </a:extLst>
          </p:cNvPr>
          <p:cNvGrpSpPr/>
          <p:nvPr userDrawn="1"/>
        </p:nvGrpSpPr>
        <p:grpSpPr>
          <a:xfrm>
            <a:off x="7661269" y="1752600"/>
            <a:ext cx="937550" cy="1160621"/>
            <a:chOff x="5431831" y="1752600"/>
            <a:chExt cx="937550" cy="1160621"/>
          </a:xfrm>
        </p:grpSpPr>
        <p:pic>
          <p:nvPicPr>
            <p:cNvPr id="25" name="Picture 24">
              <a:extLst>
                <a:ext uri="{FF2B5EF4-FFF2-40B4-BE49-F238E27FC236}">
                  <a16:creationId xmlns:a16="http://schemas.microsoft.com/office/drawing/2014/main" id="{3EA005A4-9DA7-B0C3-08EE-98CB0CE9BA4A}"/>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26" name="TextBox 25">
              <a:extLst>
                <a:ext uri="{FF2B5EF4-FFF2-40B4-BE49-F238E27FC236}">
                  <a16:creationId xmlns:a16="http://schemas.microsoft.com/office/drawing/2014/main" id="{B5FE336D-FA97-22C9-55DC-079F3A53A069}"/>
                </a:ext>
              </a:extLst>
            </p:cNvPr>
            <p:cNvSpPr txBox="1"/>
            <p:nvPr userDrawn="1"/>
          </p:nvSpPr>
          <p:spPr>
            <a:xfrm>
              <a:off x="5607097" y="2667000"/>
              <a:ext cx="587020" cy="246221"/>
            </a:xfrm>
            <a:prstGeom prst="rect">
              <a:avLst/>
            </a:prstGeom>
            <a:noFill/>
          </p:spPr>
          <p:txBody>
            <a:bodyPr wrap="none" rtlCol="0">
              <a:spAutoFit/>
            </a:bodyPr>
            <a:lstStyle/>
            <a:p>
              <a:pPr algn="ctr"/>
              <a:r>
                <a:rPr lang="en-US" sz="1000" dirty="0"/>
                <a:t>Budget</a:t>
              </a:r>
            </a:p>
          </p:txBody>
        </p:sp>
      </p:grpSp>
      <p:grpSp>
        <p:nvGrpSpPr>
          <p:cNvPr id="27" name="Group 26">
            <a:extLst>
              <a:ext uri="{FF2B5EF4-FFF2-40B4-BE49-F238E27FC236}">
                <a16:creationId xmlns:a16="http://schemas.microsoft.com/office/drawing/2014/main" id="{56DF185E-4874-C556-B523-55B66CA67CA6}"/>
              </a:ext>
            </a:extLst>
          </p:cNvPr>
          <p:cNvGrpSpPr/>
          <p:nvPr userDrawn="1"/>
        </p:nvGrpSpPr>
        <p:grpSpPr>
          <a:xfrm>
            <a:off x="9037083" y="1752600"/>
            <a:ext cx="937550" cy="1160621"/>
            <a:chOff x="5431831" y="1752600"/>
            <a:chExt cx="937550" cy="1160621"/>
          </a:xfrm>
        </p:grpSpPr>
        <p:pic>
          <p:nvPicPr>
            <p:cNvPr id="40" name="Picture 39">
              <a:extLst>
                <a:ext uri="{FF2B5EF4-FFF2-40B4-BE49-F238E27FC236}">
                  <a16:creationId xmlns:a16="http://schemas.microsoft.com/office/drawing/2014/main" id="{63CE37AC-3781-BB31-177C-5CE7E2287CED}"/>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41" name="TextBox 40">
              <a:extLst>
                <a:ext uri="{FF2B5EF4-FFF2-40B4-BE49-F238E27FC236}">
                  <a16:creationId xmlns:a16="http://schemas.microsoft.com/office/drawing/2014/main" id="{C38C9462-D61D-BDFC-9D8E-41D0C89DE06F}"/>
                </a:ext>
              </a:extLst>
            </p:cNvPr>
            <p:cNvSpPr txBox="1"/>
            <p:nvPr userDrawn="1"/>
          </p:nvSpPr>
          <p:spPr>
            <a:xfrm>
              <a:off x="5684843" y="2667000"/>
              <a:ext cx="431529" cy="246221"/>
            </a:xfrm>
            <a:prstGeom prst="rect">
              <a:avLst/>
            </a:prstGeom>
            <a:noFill/>
          </p:spPr>
          <p:txBody>
            <a:bodyPr wrap="none" rtlCol="0">
              <a:spAutoFit/>
            </a:bodyPr>
            <a:lstStyle/>
            <a:p>
              <a:pPr algn="ctr"/>
              <a:r>
                <a:rPr lang="en-US" sz="1000" dirty="0"/>
                <a:t>Idea</a:t>
              </a:r>
            </a:p>
          </p:txBody>
        </p:sp>
      </p:grpSp>
      <p:grpSp>
        <p:nvGrpSpPr>
          <p:cNvPr id="42" name="Group 41">
            <a:extLst>
              <a:ext uri="{FF2B5EF4-FFF2-40B4-BE49-F238E27FC236}">
                <a16:creationId xmlns:a16="http://schemas.microsoft.com/office/drawing/2014/main" id="{5CD12664-0486-A848-58F4-C28C560C54DC}"/>
              </a:ext>
            </a:extLst>
          </p:cNvPr>
          <p:cNvGrpSpPr/>
          <p:nvPr userDrawn="1"/>
        </p:nvGrpSpPr>
        <p:grpSpPr>
          <a:xfrm>
            <a:off x="10412895" y="1752600"/>
            <a:ext cx="937550" cy="1160621"/>
            <a:chOff x="5431831" y="1752600"/>
            <a:chExt cx="937550" cy="1160621"/>
          </a:xfrm>
        </p:grpSpPr>
        <p:pic>
          <p:nvPicPr>
            <p:cNvPr id="43" name="Picture 42">
              <a:extLst>
                <a:ext uri="{FF2B5EF4-FFF2-40B4-BE49-F238E27FC236}">
                  <a16:creationId xmlns:a16="http://schemas.microsoft.com/office/drawing/2014/main" id="{C49D6AE0-9F7E-5646-BBF2-3EB286B932C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44" name="TextBox 43">
              <a:extLst>
                <a:ext uri="{FF2B5EF4-FFF2-40B4-BE49-F238E27FC236}">
                  <a16:creationId xmlns:a16="http://schemas.microsoft.com/office/drawing/2014/main" id="{91436932-7489-215B-A927-D94234ABE44F}"/>
                </a:ext>
              </a:extLst>
            </p:cNvPr>
            <p:cNvSpPr txBox="1"/>
            <p:nvPr userDrawn="1"/>
          </p:nvSpPr>
          <p:spPr>
            <a:xfrm>
              <a:off x="5485271" y="2667000"/>
              <a:ext cx="830677" cy="246221"/>
            </a:xfrm>
            <a:prstGeom prst="rect">
              <a:avLst/>
            </a:prstGeom>
            <a:noFill/>
          </p:spPr>
          <p:txBody>
            <a:bodyPr wrap="none" rtlCol="0">
              <a:spAutoFit/>
            </a:bodyPr>
            <a:lstStyle/>
            <a:p>
              <a:pPr algn="ctr"/>
              <a:r>
                <a:rPr lang="en-US" sz="1000" dirty="0"/>
                <a:t>Experiment</a:t>
              </a:r>
            </a:p>
          </p:txBody>
        </p:sp>
      </p:grpSp>
      <p:grpSp>
        <p:nvGrpSpPr>
          <p:cNvPr id="45" name="Group 44">
            <a:extLst>
              <a:ext uri="{FF2B5EF4-FFF2-40B4-BE49-F238E27FC236}">
                <a16:creationId xmlns:a16="http://schemas.microsoft.com/office/drawing/2014/main" id="{2B0F299A-3739-E2C2-ADAB-FEB8CB19AA01}"/>
              </a:ext>
            </a:extLst>
          </p:cNvPr>
          <p:cNvGrpSpPr/>
          <p:nvPr userDrawn="1"/>
        </p:nvGrpSpPr>
        <p:grpSpPr>
          <a:xfrm>
            <a:off x="709105" y="3246863"/>
            <a:ext cx="971741" cy="1160621"/>
            <a:chOff x="709103" y="1752600"/>
            <a:chExt cx="971741" cy="1160621"/>
          </a:xfrm>
        </p:grpSpPr>
        <p:pic>
          <p:nvPicPr>
            <p:cNvPr id="46" name="Picture 45">
              <a:extLst>
                <a:ext uri="{FF2B5EF4-FFF2-40B4-BE49-F238E27FC236}">
                  <a16:creationId xmlns:a16="http://schemas.microsoft.com/office/drawing/2014/main" id="{D7CD17CB-B72B-50B2-32D5-1580EF583820}"/>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726198" y="1752600"/>
              <a:ext cx="937550" cy="937550"/>
            </a:xfrm>
            <a:prstGeom prst="rect">
              <a:avLst/>
            </a:prstGeom>
          </p:spPr>
        </p:pic>
        <p:sp>
          <p:nvSpPr>
            <p:cNvPr id="47" name="TextBox 46">
              <a:extLst>
                <a:ext uri="{FF2B5EF4-FFF2-40B4-BE49-F238E27FC236}">
                  <a16:creationId xmlns:a16="http://schemas.microsoft.com/office/drawing/2014/main" id="{ABBBB447-9DD9-51D6-7E1F-53FCEA69C8AE}"/>
                </a:ext>
              </a:extLst>
            </p:cNvPr>
            <p:cNvSpPr txBox="1"/>
            <p:nvPr userDrawn="1"/>
          </p:nvSpPr>
          <p:spPr>
            <a:xfrm>
              <a:off x="709103" y="2667000"/>
              <a:ext cx="971741" cy="246221"/>
            </a:xfrm>
            <a:prstGeom prst="rect">
              <a:avLst/>
            </a:prstGeom>
            <a:noFill/>
          </p:spPr>
          <p:txBody>
            <a:bodyPr wrap="none" rtlCol="0">
              <a:spAutoFit/>
            </a:bodyPr>
            <a:lstStyle/>
            <a:p>
              <a:pPr algn="ctr"/>
              <a:r>
                <a:rPr lang="en-US" sz="1000" dirty="0"/>
                <a:t>Attention/Risk</a:t>
              </a:r>
            </a:p>
          </p:txBody>
        </p:sp>
      </p:grpSp>
      <p:grpSp>
        <p:nvGrpSpPr>
          <p:cNvPr id="48" name="Group 47">
            <a:extLst>
              <a:ext uri="{FF2B5EF4-FFF2-40B4-BE49-F238E27FC236}">
                <a16:creationId xmlns:a16="http://schemas.microsoft.com/office/drawing/2014/main" id="{145483EF-BC35-2B72-DF14-F98491F5A878}"/>
              </a:ext>
            </a:extLst>
          </p:cNvPr>
          <p:cNvGrpSpPr/>
          <p:nvPr userDrawn="1"/>
        </p:nvGrpSpPr>
        <p:grpSpPr>
          <a:xfrm>
            <a:off x="2119913" y="3246863"/>
            <a:ext cx="937550" cy="1160621"/>
            <a:chOff x="2276156" y="1752600"/>
            <a:chExt cx="937550" cy="1160621"/>
          </a:xfrm>
        </p:grpSpPr>
        <p:pic>
          <p:nvPicPr>
            <p:cNvPr id="49" name="Picture 48">
              <a:extLst>
                <a:ext uri="{FF2B5EF4-FFF2-40B4-BE49-F238E27FC236}">
                  <a16:creationId xmlns:a16="http://schemas.microsoft.com/office/drawing/2014/main" id="{DC1CB1A3-CB6A-3F6F-D4C8-D0A375257F59}"/>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2276156" y="1752600"/>
              <a:ext cx="937550" cy="937550"/>
            </a:xfrm>
            <a:prstGeom prst="rect">
              <a:avLst/>
            </a:prstGeom>
          </p:spPr>
        </p:pic>
        <p:sp>
          <p:nvSpPr>
            <p:cNvPr id="50" name="TextBox 49">
              <a:extLst>
                <a:ext uri="{FF2B5EF4-FFF2-40B4-BE49-F238E27FC236}">
                  <a16:creationId xmlns:a16="http://schemas.microsoft.com/office/drawing/2014/main" id="{864AB0F9-D4AB-42DC-85C6-261EF3905EB7}"/>
                </a:ext>
              </a:extLst>
            </p:cNvPr>
            <p:cNvSpPr txBox="1"/>
            <p:nvPr userDrawn="1"/>
          </p:nvSpPr>
          <p:spPr>
            <a:xfrm>
              <a:off x="2368868" y="2667000"/>
              <a:ext cx="752129" cy="246221"/>
            </a:xfrm>
            <a:prstGeom prst="rect">
              <a:avLst/>
            </a:prstGeom>
            <a:noFill/>
          </p:spPr>
          <p:txBody>
            <a:bodyPr wrap="none" rtlCol="0">
              <a:spAutoFit/>
            </a:bodyPr>
            <a:lstStyle/>
            <a:p>
              <a:pPr algn="ctr"/>
              <a:r>
                <a:rPr lang="en-US" sz="1000" dirty="0"/>
                <a:t>List/To-do</a:t>
              </a:r>
            </a:p>
          </p:txBody>
        </p:sp>
      </p:grpSp>
      <p:grpSp>
        <p:nvGrpSpPr>
          <p:cNvPr id="51" name="Group 50">
            <a:extLst>
              <a:ext uri="{FF2B5EF4-FFF2-40B4-BE49-F238E27FC236}">
                <a16:creationId xmlns:a16="http://schemas.microsoft.com/office/drawing/2014/main" id="{91D7BD37-7B62-B0BE-B34B-FE7378F9CBAE}"/>
              </a:ext>
            </a:extLst>
          </p:cNvPr>
          <p:cNvGrpSpPr/>
          <p:nvPr userDrawn="1"/>
        </p:nvGrpSpPr>
        <p:grpSpPr>
          <a:xfrm>
            <a:off x="3376712" y="3246863"/>
            <a:ext cx="1184941" cy="1160621"/>
            <a:chOff x="3204355" y="1752600"/>
            <a:chExt cx="1184941" cy="1160621"/>
          </a:xfrm>
        </p:grpSpPr>
        <p:pic>
          <p:nvPicPr>
            <p:cNvPr id="52" name="Picture 51">
              <a:extLst>
                <a:ext uri="{FF2B5EF4-FFF2-40B4-BE49-F238E27FC236}">
                  <a16:creationId xmlns:a16="http://schemas.microsoft.com/office/drawing/2014/main" id="{E016F2B6-B7E8-1132-2642-EA957F1761C7}"/>
                </a:ext>
              </a:extLst>
            </p:cNvPr>
            <p:cNvPicPr>
              <a:picLocks noChangeAspect="1"/>
            </p:cNvPicPr>
            <p:nvPr userDrawn="1"/>
          </p:nvPicPr>
          <p:blipFill>
            <a:blip r:embed="rId12" cstate="print">
              <a:extLst>
                <a:ext uri="{28A0092B-C50C-407E-A947-70E740481C1C}">
                  <a14:useLocalDpi xmlns:a14="http://schemas.microsoft.com/office/drawing/2010/main"/>
                </a:ext>
              </a:extLst>
            </a:blip>
            <a:srcRect/>
            <a:stretch/>
          </p:blipFill>
          <p:spPr>
            <a:xfrm>
              <a:off x="3328048" y="1752600"/>
              <a:ext cx="937550" cy="937550"/>
            </a:xfrm>
            <a:prstGeom prst="rect">
              <a:avLst/>
            </a:prstGeom>
          </p:spPr>
        </p:pic>
        <p:sp>
          <p:nvSpPr>
            <p:cNvPr id="53" name="TextBox 52">
              <a:extLst>
                <a:ext uri="{FF2B5EF4-FFF2-40B4-BE49-F238E27FC236}">
                  <a16:creationId xmlns:a16="http://schemas.microsoft.com/office/drawing/2014/main" id="{FE880E60-8A4E-251D-C573-98A48CAF06AC}"/>
                </a:ext>
              </a:extLst>
            </p:cNvPr>
            <p:cNvSpPr txBox="1"/>
            <p:nvPr userDrawn="1"/>
          </p:nvSpPr>
          <p:spPr>
            <a:xfrm>
              <a:off x="3204355" y="2667000"/>
              <a:ext cx="1184941" cy="246221"/>
            </a:xfrm>
            <a:prstGeom prst="rect">
              <a:avLst/>
            </a:prstGeom>
            <a:noFill/>
          </p:spPr>
          <p:txBody>
            <a:bodyPr wrap="none" rtlCol="0">
              <a:spAutoFit/>
            </a:bodyPr>
            <a:lstStyle/>
            <a:p>
              <a:pPr algn="ctr"/>
              <a:r>
                <a:rPr lang="en-US" sz="1000" dirty="0"/>
                <a:t>Report/Document</a:t>
              </a:r>
            </a:p>
          </p:txBody>
        </p:sp>
      </p:grpSp>
      <p:grpSp>
        <p:nvGrpSpPr>
          <p:cNvPr id="54" name="Group 53">
            <a:extLst>
              <a:ext uri="{FF2B5EF4-FFF2-40B4-BE49-F238E27FC236}">
                <a16:creationId xmlns:a16="http://schemas.microsoft.com/office/drawing/2014/main" id="{A6033F2C-0684-B356-46F6-D9BF89D9EBB8}"/>
              </a:ext>
            </a:extLst>
          </p:cNvPr>
          <p:cNvGrpSpPr/>
          <p:nvPr userDrawn="1"/>
        </p:nvGrpSpPr>
        <p:grpSpPr>
          <a:xfrm>
            <a:off x="6247355" y="3246863"/>
            <a:ext cx="937550" cy="1160621"/>
            <a:chOff x="4379940" y="1752600"/>
            <a:chExt cx="937550" cy="1160621"/>
          </a:xfrm>
        </p:grpSpPr>
        <p:pic>
          <p:nvPicPr>
            <p:cNvPr id="55" name="Picture 54">
              <a:extLst>
                <a:ext uri="{FF2B5EF4-FFF2-40B4-BE49-F238E27FC236}">
                  <a16:creationId xmlns:a16="http://schemas.microsoft.com/office/drawing/2014/main" id="{39BAD218-B5C9-34D3-5AF3-0CBB52EE323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4379940" y="1752600"/>
              <a:ext cx="937550" cy="937550"/>
            </a:xfrm>
            <a:prstGeom prst="rect">
              <a:avLst/>
            </a:prstGeom>
          </p:spPr>
        </p:pic>
        <p:sp>
          <p:nvSpPr>
            <p:cNvPr id="56" name="TextBox 55">
              <a:extLst>
                <a:ext uri="{FF2B5EF4-FFF2-40B4-BE49-F238E27FC236}">
                  <a16:creationId xmlns:a16="http://schemas.microsoft.com/office/drawing/2014/main" id="{9E81308E-5F10-C3B2-DBCC-5B1B946E1E11}"/>
                </a:ext>
              </a:extLst>
            </p:cNvPr>
            <p:cNvSpPr txBox="1"/>
            <p:nvPr userDrawn="1"/>
          </p:nvSpPr>
          <p:spPr>
            <a:xfrm>
              <a:off x="4429371" y="2667000"/>
              <a:ext cx="838691" cy="246221"/>
            </a:xfrm>
            <a:prstGeom prst="rect">
              <a:avLst/>
            </a:prstGeom>
            <a:noFill/>
          </p:spPr>
          <p:txBody>
            <a:bodyPr wrap="none" rtlCol="0">
              <a:spAutoFit/>
            </a:bodyPr>
            <a:lstStyle/>
            <a:p>
              <a:pPr algn="ctr"/>
              <a:r>
                <a:rPr lang="en-US" sz="1000" dirty="0"/>
                <a:t>Microscope</a:t>
              </a:r>
            </a:p>
          </p:txBody>
        </p:sp>
      </p:grpSp>
      <p:grpSp>
        <p:nvGrpSpPr>
          <p:cNvPr id="57" name="Group 56">
            <a:extLst>
              <a:ext uri="{FF2B5EF4-FFF2-40B4-BE49-F238E27FC236}">
                <a16:creationId xmlns:a16="http://schemas.microsoft.com/office/drawing/2014/main" id="{BCB13DA3-C4EA-FA14-E54A-64A7393C4797}"/>
              </a:ext>
            </a:extLst>
          </p:cNvPr>
          <p:cNvGrpSpPr/>
          <p:nvPr userDrawn="1"/>
        </p:nvGrpSpPr>
        <p:grpSpPr>
          <a:xfrm>
            <a:off x="10412895" y="3246863"/>
            <a:ext cx="937550" cy="1160621"/>
            <a:chOff x="5431831" y="1752600"/>
            <a:chExt cx="937550" cy="1160621"/>
          </a:xfrm>
        </p:grpSpPr>
        <p:pic>
          <p:nvPicPr>
            <p:cNvPr id="58" name="Picture 57">
              <a:extLst>
                <a:ext uri="{FF2B5EF4-FFF2-40B4-BE49-F238E27FC236}">
                  <a16:creationId xmlns:a16="http://schemas.microsoft.com/office/drawing/2014/main" id="{2E0CFCFC-C544-673F-AC06-758A8EEB54E3}"/>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59" name="TextBox 58">
              <a:extLst>
                <a:ext uri="{FF2B5EF4-FFF2-40B4-BE49-F238E27FC236}">
                  <a16:creationId xmlns:a16="http://schemas.microsoft.com/office/drawing/2014/main" id="{761C5F85-20F7-D144-95A9-0CE5C5D9B15C}"/>
                </a:ext>
              </a:extLst>
            </p:cNvPr>
            <p:cNvSpPr txBox="1"/>
            <p:nvPr userDrawn="1"/>
          </p:nvSpPr>
          <p:spPr>
            <a:xfrm>
              <a:off x="5485270" y="2667000"/>
              <a:ext cx="830676" cy="246221"/>
            </a:xfrm>
            <a:prstGeom prst="rect">
              <a:avLst/>
            </a:prstGeom>
            <a:noFill/>
          </p:spPr>
          <p:txBody>
            <a:bodyPr wrap="none" rtlCol="0">
              <a:spAutoFit/>
            </a:bodyPr>
            <a:lstStyle/>
            <a:p>
              <a:pPr algn="ctr"/>
              <a:r>
                <a:rPr lang="en-US" sz="1000" dirty="0"/>
                <a:t>Experiment</a:t>
              </a:r>
            </a:p>
          </p:txBody>
        </p:sp>
      </p:grpSp>
      <p:grpSp>
        <p:nvGrpSpPr>
          <p:cNvPr id="60" name="Group 59">
            <a:extLst>
              <a:ext uri="{FF2B5EF4-FFF2-40B4-BE49-F238E27FC236}">
                <a16:creationId xmlns:a16="http://schemas.microsoft.com/office/drawing/2014/main" id="{6B523C45-1411-FFA2-CDD6-030F8673413B}"/>
              </a:ext>
            </a:extLst>
          </p:cNvPr>
          <p:cNvGrpSpPr/>
          <p:nvPr userDrawn="1"/>
        </p:nvGrpSpPr>
        <p:grpSpPr>
          <a:xfrm>
            <a:off x="7661269" y="3246863"/>
            <a:ext cx="937550" cy="1160621"/>
            <a:chOff x="5431831" y="1752600"/>
            <a:chExt cx="937550" cy="1160621"/>
          </a:xfrm>
        </p:grpSpPr>
        <p:pic>
          <p:nvPicPr>
            <p:cNvPr id="61" name="Picture 60">
              <a:extLst>
                <a:ext uri="{FF2B5EF4-FFF2-40B4-BE49-F238E27FC236}">
                  <a16:creationId xmlns:a16="http://schemas.microsoft.com/office/drawing/2014/main" id="{CBAEB1D6-A0DB-C3DE-CEFD-60B96E056668}"/>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62" name="TextBox 61">
              <a:extLst>
                <a:ext uri="{FF2B5EF4-FFF2-40B4-BE49-F238E27FC236}">
                  <a16:creationId xmlns:a16="http://schemas.microsoft.com/office/drawing/2014/main" id="{1DB68FE0-405B-2CB1-9B49-0529846D28AF}"/>
                </a:ext>
              </a:extLst>
            </p:cNvPr>
            <p:cNvSpPr txBox="1"/>
            <p:nvPr userDrawn="1"/>
          </p:nvSpPr>
          <p:spPr>
            <a:xfrm>
              <a:off x="5627937" y="2667000"/>
              <a:ext cx="545342" cy="246221"/>
            </a:xfrm>
            <a:prstGeom prst="rect">
              <a:avLst/>
            </a:prstGeom>
            <a:noFill/>
          </p:spPr>
          <p:txBody>
            <a:bodyPr wrap="none" rtlCol="0">
              <a:spAutoFit/>
            </a:bodyPr>
            <a:lstStyle/>
            <a:p>
              <a:pPr algn="ctr"/>
              <a:r>
                <a:rPr lang="en-US" sz="1000" dirty="0"/>
                <a:t>Space</a:t>
              </a:r>
            </a:p>
          </p:txBody>
        </p:sp>
      </p:grpSp>
      <p:grpSp>
        <p:nvGrpSpPr>
          <p:cNvPr id="66" name="Group 65">
            <a:extLst>
              <a:ext uri="{FF2B5EF4-FFF2-40B4-BE49-F238E27FC236}">
                <a16:creationId xmlns:a16="http://schemas.microsoft.com/office/drawing/2014/main" id="{9C8573B0-C3E9-BD4A-12C6-2C05FEB654FB}"/>
              </a:ext>
            </a:extLst>
          </p:cNvPr>
          <p:cNvGrpSpPr/>
          <p:nvPr userDrawn="1"/>
        </p:nvGrpSpPr>
        <p:grpSpPr>
          <a:xfrm>
            <a:off x="4800600" y="3246863"/>
            <a:ext cx="1114409" cy="1160621"/>
            <a:chOff x="5343407" y="1752600"/>
            <a:chExt cx="1114409" cy="1160621"/>
          </a:xfrm>
        </p:grpSpPr>
        <p:pic>
          <p:nvPicPr>
            <p:cNvPr id="67" name="Picture 66">
              <a:extLst>
                <a:ext uri="{FF2B5EF4-FFF2-40B4-BE49-F238E27FC236}">
                  <a16:creationId xmlns:a16="http://schemas.microsoft.com/office/drawing/2014/main" id="{E7FB7A2A-2D14-1105-B15D-4F4C04A6FF74}"/>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68" name="TextBox 67">
              <a:extLst>
                <a:ext uri="{FF2B5EF4-FFF2-40B4-BE49-F238E27FC236}">
                  <a16:creationId xmlns:a16="http://schemas.microsoft.com/office/drawing/2014/main" id="{4CA22A94-509E-32C8-87A6-C41E8B1B2DEA}"/>
                </a:ext>
              </a:extLst>
            </p:cNvPr>
            <p:cNvSpPr txBox="1"/>
            <p:nvPr userDrawn="1"/>
          </p:nvSpPr>
          <p:spPr>
            <a:xfrm>
              <a:off x="5343407" y="2667000"/>
              <a:ext cx="1114409" cy="246221"/>
            </a:xfrm>
            <a:prstGeom prst="rect">
              <a:avLst/>
            </a:prstGeom>
            <a:noFill/>
          </p:spPr>
          <p:txBody>
            <a:bodyPr wrap="none" rtlCol="0">
              <a:spAutoFit/>
            </a:bodyPr>
            <a:lstStyle/>
            <a:p>
              <a:pPr algn="ctr"/>
              <a:r>
                <a:rPr lang="en-US" sz="1000" dirty="0"/>
                <a:t>Report/Analytics</a:t>
              </a:r>
            </a:p>
          </p:txBody>
        </p:sp>
      </p:grpSp>
      <p:grpSp>
        <p:nvGrpSpPr>
          <p:cNvPr id="69" name="Group 68">
            <a:extLst>
              <a:ext uri="{FF2B5EF4-FFF2-40B4-BE49-F238E27FC236}">
                <a16:creationId xmlns:a16="http://schemas.microsoft.com/office/drawing/2014/main" id="{846D9EA6-D0B5-18CC-6C05-63F3908918A0}"/>
              </a:ext>
            </a:extLst>
          </p:cNvPr>
          <p:cNvGrpSpPr/>
          <p:nvPr userDrawn="1"/>
        </p:nvGrpSpPr>
        <p:grpSpPr>
          <a:xfrm>
            <a:off x="9037083" y="3246863"/>
            <a:ext cx="937550" cy="1160621"/>
            <a:chOff x="5431831" y="1752600"/>
            <a:chExt cx="937550" cy="1160621"/>
          </a:xfrm>
        </p:grpSpPr>
        <p:pic>
          <p:nvPicPr>
            <p:cNvPr id="70" name="Picture 69">
              <a:extLst>
                <a:ext uri="{FF2B5EF4-FFF2-40B4-BE49-F238E27FC236}">
                  <a16:creationId xmlns:a16="http://schemas.microsoft.com/office/drawing/2014/main" id="{56CADE8A-6EC7-51D0-0CFE-1124AA9C6C51}"/>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5431831" y="1752600"/>
              <a:ext cx="937550" cy="937550"/>
            </a:xfrm>
            <a:prstGeom prst="rect">
              <a:avLst/>
            </a:prstGeom>
          </p:spPr>
        </p:pic>
        <p:sp>
          <p:nvSpPr>
            <p:cNvPr id="71" name="TextBox 70">
              <a:extLst>
                <a:ext uri="{FF2B5EF4-FFF2-40B4-BE49-F238E27FC236}">
                  <a16:creationId xmlns:a16="http://schemas.microsoft.com/office/drawing/2014/main" id="{9702BEAC-3F80-2061-C091-2E2DE37438D1}"/>
                </a:ext>
              </a:extLst>
            </p:cNvPr>
            <p:cNvSpPr txBox="1"/>
            <p:nvPr userDrawn="1"/>
          </p:nvSpPr>
          <p:spPr>
            <a:xfrm>
              <a:off x="5599081" y="2667000"/>
              <a:ext cx="603050" cy="246221"/>
            </a:xfrm>
            <a:prstGeom prst="rect">
              <a:avLst/>
            </a:prstGeom>
            <a:noFill/>
          </p:spPr>
          <p:txBody>
            <a:bodyPr wrap="none" rtlCol="0">
              <a:spAutoFit/>
            </a:bodyPr>
            <a:lstStyle/>
            <a:p>
              <a:pPr algn="ctr"/>
              <a:r>
                <a:rPr lang="en-US" sz="1000" dirty="0"/>
                <a:t>Biology</a:t>
              </a:r>
            </a:p>
          </p:txBody>
        </p:sp>
      </p:grpSp>
    </p:spTree>
    <p:extLst>
      <p:ext uri="{BB962C8B-B14F-4D97-AF65-F5344CB8AC3E}">
        <p14:creationId xmlns:p14="http://schemas.microsoft.com/office/powerpoint/2010/main" val="27975668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8259536-D612-272A-D0AD-1D0145988D36}"/>
              </a:ext>
            </a:extLst>
          </p:cNvPr>
          <p:cNvSpPr>
            <a:spLocks noGrp="1"/>
          </p:cNvSpPr>
          <p:nvPr>
            <p:ph type="ftr" sz="quarter" idx="11"/>
          </p:nvPr>
        </p:nvSpPr>
        <p:spPr/>
        <p:txBody>
          <a:bodyPr/>
          <a:lstStyle/>
          <a:p>
            <a:r>
              <a:rPr lang="en-US" dirty="0"/>
              <a:t>Biological &amp; Physical Sciences</a:t>
            </a:r>
          </a:p>
        </p:txBody>
      </p:sp>
      <p:sp>
        <p:nvSpPr>
          <p:cNvPr id="4" name="Slide Number Placeholder 3">
            <a:extLst>
              <a:ext uri="{FF2B5EF4-FFF2-40B4-BE49-F238E27FC236}">
                <a16:creationId xmlns:a16="http://schemas.microsoft.com/office/drawing/2014/main" id="{571A510F-03EC-A6BB-D8AE-182AFD52C8B2}"/>
              </a:ext>
            </a:extLst>
          </p:cNvPr>
          <p:cNvSpPr>
            <a:spLocks noGrp="1"/>
          </p:cNvSpPr>
          <p:nvPr>
            <p:ph type="sldNum" sz="quarter" idx="12"/>
          </p:nvPr>
        </p:nvSpPr>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16057798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E54A3-AB3C-35BD-6098-13B595E84A94}"/>
              </a:ext>
            </a:extLst>
          </p:cNvPr>
          <p:cNvSpPr>
            <a:spLocks noGrp="1"/>
          </p:cNvSpPr>
          <p:nvPr>
            <p:ph type="title"/>
          </p:nvPr>
        </p:nvSpPr>
        <p:spPr>
          <a:xfrm>
            <a:off x="914400" y="758952"/>
            <a:ext cx="3932237"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1C3EF45-FFD0-8EC1-3E51-7B4572F3A59A}"/>
              </a:ext>
            </a:extLst>
          </p:cNvPr>
          <p:cNvSpPr>
            <a:spLocks noGrp="1"/>
          </p:cNvSpPr>
          <p:nvPr>
            <p:ph idx="1"/>
          </p:nvPr>
        </p:nvSpPr>
        <p:spPr>
          <a:xfrm>
            <a:off x="5105400" y="1103971"/>
            <a:ext cx="6556748" cy="52110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A3246F-34BC-6307-9619-06751D531DA2}"/>
              </a:ext>
            </a:extLst>
          </p:cNvPr>
          <p:cNvSpPr>
            <a:spLocks noGrp="1"/>
          </p:cNvSpPr>
          <p:nvPr>
            <p:ph type="body" sz="half" idx="2"/>
          </p:nvPr>
        </p:nvSpPr>
        <p:spPr>
          <a:xfrm>
            <a:off x="914399" y="2503449"/>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8FDF21F7-6214-7E6B-A5E6-69AAAA30330A}"/>
              </a:ext>
            </a:extLst>
          </p:cNvPr>
          <p:cNvSpPr>
            <a:spLocks noGrp="1"/>
          </p:cNvSpPr>
          <p:nvPr>
            <p:ph type="ftr" sz="quarter" idx="11"/>
          </p:nvPr>
        </p:nvSpPr>
        <p:spPr/>
        <p:txBody>
          <a:bodyPr/>
          <a:lstStyle/>
          <a:p>
            <a:r>
              <a:rPr lang="en-US" dirty="0"/>
              <a:t>Biological &amp; Physical Sciences</a:t>
            </a:r>
          </a:p>
        </p:txBody>
      </p:sp>
      <p:sp>
        <p:nvSpPr>
          <p:cNvPr id="7" name="Slide Number Placeholder 6">
            <a:extLst>
              <a:ext uri="{FF2B5EF4-FFF2-40B4-BE49-F238E27FC236}">
                <a16:creationId xmlns:a16="http://schemas.microsoft.com/office/drawing/2014/main" id="{B5A02BA3-BB8A-AC85-A750-93E59432E3A8}"/>
              </a:ext>
            </a:extLst>
          </p:cNvPr>
          <p:cNvSpPr>
            <a:spLocks noGrp="1"/>
          </p:cNvSpPr>
          <p:nvPr>
            <p:ph type="sldNum" sz="quarter" idx="12"/>
          </p:nvPr>
        </p:nvSpPr>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19155047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9C9C3-CF27-8B06-2E66-2BB1FCAD726F}"/>
              </a:ext>
            </a:extLst>
          </p:cNvPr>
          <p:cNvSpPr>
            <a:spLocks noGrp="1"/>
          </p:cNvSpPr>
          <p:nvPr>
            <p:ph type="title"/>
          </p:nvPr>
        </p:nvSpPr>
        <p:spPr>
          <a:xfrm>
            <a:off x="914400" y="758952"/>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8B7967-4936-AE6D-0BBD-BCE482FF4262}"/>
              </a:ext>
            </a:extLst>
          </p:cNvPr>
          <p:cNvSpPr>
            <a:spLocks noGrp="1"/>
          </p:cNvSpPr>
          <p:nvPr>
            <p:ph type="pic" idx="1"/>
          </p:nvPr>
        </p:nvSpPr>
        <p:spPr>
          <a:xfrm>
            <a:off x="5102352" y="1106424"/>
            <a:ext cx="6518834" cy="523537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391E6CC-1128-78C6-3309-EDCFE3E4C724}"/>
              </a:ext>
            </a:extLst>
          </p:cNvPr>
          <p:cNvSpPr>
            <a:spLocks noGrp="1"/>
          </p:cNvSpPr>
          <p:nvPr>
            <p:ph type="body" sz="half" idx="2"/>
          </p:nvPr>
        </p:nvSpPr>
        <p:spPr>
          <a:xfrm>
            <a:off x="914400" y="2505456"/>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B6FB39B1-5B40-FE1F-3045-DD90E2A822AB}"/>
              </a:ext>
            </a:extLst>
          </p:cNvPr>
          <p:cNvSpPr>
            <a:spLocks noGrp="1"/>
          </p:cNvSpPr>
          <p:nvPr>
            <p:ph type="ftr" sz="quarter" idx="11"/>
          </p:nvPr>
        </p:nvSpPr>
        <p:spPr/>
        <p:txBody>
          <a:bodyPr/>
          <a:lstStyle/>
          <a:p>
            <a:r>
              <a:rPr lang="en-US" dirty="0"/>
              <a:t>Biological &amp; Physical Sciences </a:t>
            </a:r>
          </a:p>
        </p:txBody>
      </p:sp>
      <p:sp>
        <p:nvSpPr>
          <p:cNvPr id="7" name="Slide Number Placeholder 6">
            <a:extLst>
              <a:ext uri="{FF2B5EF4-FFF2-40B4-BE49-F238E27FC236}">
                <a16:creationId xmlns:a16="http://schemas.microsoft.com/office/drawing/2014/main" id="{6177EE0B-14D8-097A-37A8-4FBF55301754}"/>
              </a:ext>
            </a:extLst>
          </p:cNvPr>
          <p:cNvSpPr>
            <a:spLocks noGrp="1"/>
          </p:cNvSpPr>
          <p:nvPr>
            <p:ph type="sldNum" sz="quarter" idx="12"/>
          </p:nvPr>
        </p:nvSpPr>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39127374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7E2-6845-38D7-8C84-05645DB92747}"/>
              </a:ext>
            </a:extLst>
          </p:cNvPr>
          <p:cNvSpPr>
            <a:spLocks noGrp="1"/>
          </p:cNvSpPr>
          <p:nvPr>
            <p:ph type="title"/>
          </p:nvPr>
        </p:nvSpPr>
        <p:spPr>
          <a:xfrm>
            <a:off x="914400" y="755930"/>
            <a:ext cx="10325100" cy="1325563"/>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A47FDE4B-421A-55A0-7AEA-42BC2BDCD38C}"/>
              </a:ext>
            </a:extLst>
          </p:cNvPr>
          <p:cNvSpPr>
            <a:spLocks noGrp="1"/>
          </p:cNvSpPr>
          <p:nvPr>
            <p:ph type="ftr" sz="quarter" idx="11"/>
          </p:nvPr>
        </p:nvSpPr>
        <p:spPr/>
        <p:txBody>
          <a:bodyPr/>
          <a:lstStyle/>
          <a:p>
            <a:r>
              <a:rPr lang="en-US" dirty="0"/>
              <a:t>Biological &amp; Physical Sciences</a:t>
            </a:r>
          </a:p>
        </p:txBody>
      </p:sp>
      <p:sp>
        <p:nvSpPr>
          <p:cNvPr id="6" name="Slide Number Placeholder 5">
            <a:extLst>
              <a:ext uri="{FF2B5EF4-FFF2-40B4-BE49-F238E27FC236}">
                <a16:creationId xmlns:a16="http://schemas.microsoft.com/office/drawing/2014/main" id="{CBB340CA-3171-FB84-4A04-1522D74B5D1F}"/>
              </a:ext>
            </a:extLst>
          </p:cNvPr>
          <p:cNvSpPr>
            <a:spLocks noGrp="1"/>
          </p:cNvSpPr>
          <p:nvPr>
            <p:ph type="sldNum" sz="quarter" idx="12"/>
          </p:nvPr>
        </p:nvSpPr>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148911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5B7E2-6845-38D7-8C84-05645DB92747}"/>
              </a:ext>
            </a:extLst>
          </p:cNvPr>
          <p:cNvSpPr>
            <a:spLocks noGrp="1"/>
          </p:cNvSpPr>
          <p:nvPr>
            <p:ph type="title"/>
          </p:nvPr>
        </p:nvSpPr>
        <p:spPr>
          <a:xfrm>
            <a:off x="914400" y="755930"/>
            <a:ext cx="10325100" cy="1325563"/>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A47FDE4B-421A-55A0-7AEA-42BC2BDCD38C}"/>
              </a:ext>
            </a:extLst>
          </p:cNvPr>
          <p:cNvSpPr>
            <a:spLocks noGrp="1"/>
          </p:cNvSpPr>
          <p:nvPr>
            <p:ph type="ftr" sz="quarter" idx="11"/>
          </p:nvPr>
        </p:nvSpPr>
        <p:spPr/>
        <p:txBody>
          <a:bodyPr/>
          <a:lstStyle/>
          <a:p>
            <a:r>
              <a:rPr lang="en-US" dirty="0"/>
              <a:t>Biological &amp; Physical Sciences</a:t>
            </a:r>
          </a:p>
        </p:txBody>
      </p:sp>
      <p:sp>
        <p:nvSpPr>
          <p:cNvPr id="6" name="Slide Number Placeholder 5">
            <a:extLst>
              <a:ext uri="{FF2B5EF4-FFF2-40B4-BE49-F238E27FC236}">
                <a16:creationId xmlns:a16="http://schemas.microsoft.com/office/drawing/2014/main" id="{CBB340CA-3171-FB84-4A04-1522D74B5D1F}"/>
              </a:ext>
            </a:extLst>
          </p:cNvPr>
          <p:cNvSpPr>
            <a:spLocks noGrp="1"/>
          </p:cNvSpPr>
          <p:nvPr>
            <p:ph type="sldNum" sz="quarter" idx="12"/>
          </p:nvPr>
        </p:nvSpPr>
        <p:spPr/>
        <p:txBody>
          <a:bodyPr/>
          <a:lstStyle/>
          <a:p>
            <a:fld id="{E8618032-BA8D-3D4D-8253-A70208A85976}" type="slidenum">
              <a:rPr lang="en-US" smtClean="0"/>
              <a:t>‹#›</a:t>
            </a:fld>
            <a:endParaRPr lang="en-US"/>
          </a:p>
        </p:txBody>
      </p:sp>
    </p:spTree>
    <p:extLst>
      <p:ext uri="{BB962C8B-B14F-4D97-AF65-F5344CB8AC3E}">
        <p14:creationId xmlns:p14="http://schemas.microsoft.com/office/powerpoint/2010/main" val="22430717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theme" Target="../theme/theme1.xml"/><Relationship Id="rId33" Type="http://schemas.openxmlformats.org/officeDocument/2006/relationships/image" Target="../media/image1.jpeg"/><Relationship Id="rId3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D4BF88">
                <a:alpha val="75162"/>
              </a:srgbClr>
            </a:gs>
            <a:gs pos="39000">
              <a:schemeClr val="bg1"/>
            </a:gs>
          </a:gsLst>
          <a:lin ang="81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F53D41-B3D9-0856-DEBB-57C725BD4CCF}"/>
              </a:ext>
            </a:extLst>
          </p:cNvPr>
          <p:cNvSpPr>
            <a:spLocks noGrp="1"/>
          </p:cNvSpPr>
          <p:nvPr>
            <p:ph type="title"/>
          </p:nvPr>
        </p:nvSpPr>
        <p:spPr>
          <a:xfrm>
            <a:off x="933450" y="755930"/>
            <a:ext cx="103251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B7F6990-E15B-701E-55A2-00590A07CB4F}"/>
              </a:ext>
            </a:extLst>
          </p:cNvPr>
          <p:cNvSpPr>
            <a:spLocks noGrp="1"/>
          </p:cNvSpPr>
          <p:nvPr>
            <p:ph type="body" idx="1"/>
          </p:nvPr>
        </p:nvSpPr>
        <p:spPr>
          <a:xfrm>
            <a:off x="933450" y="2216430"/>
            <a:ext cx="103251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3C0E2C12-EE6A-20CB-09F3-55836BC3394C}"/>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0" y="-47324"/>
            <a:ext cx="12192000" cy="529216"/>
          </a:xfrm>
          <a:prstGeom prst="rect">
            <a:avLst/>
          </a:prstGeom>
        </p:spPr>
      </p:pic>
      <p:pic>
        <p:nvPicPr>
          <p:cNvPr id="8" name="Picture 7" descr="A black background with grey letters&#10;&#10;Description automatically generated">
            <a:extLst>
              <a:ext uri="{FF2B5EF4-FFF2-40B4-BE49-F238E27FC236}">
                <a16:creationId xmlns:a16="http://schemas.microsoft.com/office/drawing/2014/main" id="{119BBE9E-4D69-14CD-9511-13BB4AA55DFA}"/>
              </a:ext>
            </a:extLst>
          </p:cNvPr>
          <p:cNvPicPr>
            <a:picLocks noChangeAspect="1"/>
          </p:cNvPicPr>
          <p:nvPr userDrawn="1"/>
        </p:nvPicPr>
        <p:blipFill rotWithShape="1">
          <a:blip r:embed="rId34" cstate="screen">
            <a:alphaModFix amt="23000"/>
            <a:extLst>
              <a:ext uri="{28A0092B-C50C-407E-A947-70E740481C1C}">
                <a14:useLocalDpi xmlns:a14="http://schemas.microsoft.com/office/drawing/2010/main"/>
              </a:ext>
            </a:extLst>
          </a:blip>
          <a:srcRect/>
          <a:stretch/>
        </p:blipFill>
        <p:spPr>
          <a:xfrm>
            <a:off x="0" y="-50077"/>
            <a:ext cx="1201897" cy="531969"/>
          </a:xfrm>
          <a:prstGeom prst="rect">
            <a:avLst/>
          </a:prstGeom>
        </p:spPr>
      </p:pic>
      <p:sp>
        <p:nvSpPr>
          <p:cNvPr id="6" name="Slide Number Placeholder 5">
            <a:extLst>
              <a:ext uri="{FF2B5EF4-FFF2-40B4-BE49-F238E27FC236}">
                <a16:creationId xmlns:a16="http://schemas.microsoft.com/office/drawing/2014/main" id="{37322777-339B-9F56-577C-65AD89F9C7A5}"/>
              </a:ext>
            </a:extLst>
          </p:cNvPr>
          <p:cNvSpPr>
            <a:spLocks noGrp="1"/>
          </p:cNvSpPr>
          <p:nvPr>
            <p:ph type="sldNum" sz="quarter" idx="4"/>
          </p:nvPr>
        </p:nvSpPr>
        <p:spPr>
          <a:xfrm>
            <a:off x="11662148" y="99559"/>
            <a:ext cx="1059704" cy="261258"/>
          </a:xfrm>
          <a:prstGeom prst="roundRect">
            <a:avLst>
              <a:gd name="adj" fmla="val 50000"/>
            </a:avLst>
          </a:prstGeom>
          <a:solidFill>
            <a:srgbClr val="002060"/>
          </a:solidFill>
        </p:spPr>
        <p:txBody>
          <a:bodyPr vert="horz" lIns="91440" tIns="45720" rIns="91440" bIns="45720" rtlCol="0" anchor="ctr"/>
          <a:lstStyle>
            <a:lvl1pPr algn="l">
              <a:defRPr sz="1100" b="1">
                <a:solidFill>
                  <a:schemeClr val="bg1"/>
                </a:solidFill>
              </a:defRPr>
            </a:lvl1pPr>
          </a:lstStyle>
          <a:p>
            <a:fld id="{E8618032-BA8D-3D4D-8253-A70208A85976}" type="slidenum">
              <a:rPr lang="en-US" smtClean="0"/>
              <a:pPr/>
              <a:t>‹#›</a:t>
            </a:fld>
            <a:endParaRPr lang="en-US" dirty="0"/>
          </a:p>
        </p:txBody>
      </p:sp>
      <p:sp>
        <p:nvSpPr>
          <p:cNvPr id="5" name="Footer Placeholder 4">
            <a:extLst>
              <a:ext uri="{FF2B5EF4-FFF2-40B4-BE49-F238E27FC236}">
                <a16:creationId xmlns:a16="http://schemas.microsoft.com/office/drawing/2014/main" id="{D5538D45-6410-BA73-9765-65C75CDC4742}"/>
              </a:ext>
            </a:extLst>
          </p:cNvPr>
          <p:cNvSpPr>
            <a:spLocks noGrp="1"/>
          </p:cNvSpPr>
          <p:nvPr>
            <p:ph type="ftr" sz="quarter" idx="3"/>
          </p:nvPr>
        </p:nvSpPr>
        <p:spPr>
          <a:xfrm>
            <a:off x="343963" y="121602"/>
            <a:ext cx="4114800" cy="217173"/>
          </a:xfrm>
          <a:prstGeom prst="rect">
            <a:avLst/>
          </a:prstGeom>
        </p:spPr>
        <p:txBody>
          <a:bodyPr vert="horz" lIns="91440" tIns="45720" rIns="91440" bIns="45720" rtlCol="0" anchor="ctr"/>
          <a:lstStyle>
            <a:lvl1pPr algn="l">
              <a:defRPr sz="900">
                <a:solidFill>
                  <a:schemeClr val="bg1">
                    <a:alpha val="75167"/>
                  </a:schemeClr>
                </a:solidFill>
              </a:defRPr>
            </a:lvl1pPr>
          </a:lstStyle>
          <a:p>
            <a:r>
              <a:rPr lang="en-US" dirty="0"/>
              <a:t>Biological &amp; Physical Sciences</a:t>
            </a:r>
          </a:p>
        </p:txBody>
      </p:sp>
    </p:spTree>
    <p:extLst>
      <p:ext uri="{BB962C8B-B14F-4D97-AF65-F5344CB8AC3E}">
        <p14:creationId xmlns:p14="http://schemas.microsoft.com/office/powerpoint/2010/main" val="889173761"/>
      </p:ext>
    </p:extLst>
  </p:cSld>
  <p:clrMap bg1="lt1" tx1="dk1" bg2="lt2" tx2="dk2" accent1="accent1" accent2="accent2" accent3="accent3" accent4="accent4" accent5="accent5" accent6="accent6" hlink="hlink" folHlink="folHlink"/>
  <p:sldLayoutIdLst>
    <p:sldLayoutId id="2147483688" r:id="rId1"/>
    <p:sldLayoutId id="2147483680" r:id="rId2"/>
    <p:sldLayoutId id="2147483661" r:id="rId3"/>
    <p:sldLayoutId id="2147483682" r:id="rId4"/>
    <p:sldLayoutId id="2147483691" r:id="rId5"/>
    <p:sldLayoutId id="2147483662" r:id="rId6"/>
    <p:sldLayoutId id="2147483692" r:id="rId7"/>
    <p:sldLayoutId id="2147483663" r:id="rId8"/>
    <p:sldLayoutId id="2147483674" r:id="rId9"/>
    <p:sldLayoutId id="2147483675" r:id="rId10"/>
    <p:sldLayoutId id="2147483676" r:id="rId11"/>
    <p:sldLayoutId id="2147483681" r:id="rId12"/>
    <p:sldLayoutId id="2147483677" r:id="rId13"/>
    <p:sldLayoutId id="2147483678" r:id="rId14"/>
    <p:sldLayoutId id="2147483683" r:id="rId15"/>
    <p:sldLayoutId id="2147483672" r:id="rId16"/>
    <p:sldLayoutId id="2147483679" r:id="rId17"/>
    <p:sldLayoutId id="2147483673" r:id="rId18"/>
    <p:sldLayoutId id="2147483690" r:id="rId19"/>
    <p:sldLayoutId id="2147483689" r:id="rId20"/>
    <p:sldLayoutId id="2147483664" r:id="rId21"/>
    <p:sldLayoutId id="2147483665" r:id="rId22"/>
    <p:sldLayoutId id="2147483684" r:id="rId23"/>
    <p:sldLayoutId id="2147483685" r:id="rId24"/>
    <p:sldLayoutId id="2147483686" r:id="rId25"/>
    <p:sldLayoutId id="2147483687" r:id="rId26"/>
    <p:sldLayoutId id="2147483666" r:id="rId27"/>
    <p:sldLayoutId id="2147483667" r:id="rId28"/>
    <p:sldLayoutId id="2147483668" r:id="rId29"/>
    <p:sldLayoutId id="2147483669" r:id="rId30"/>
    <p:sldLayoutId id="2147483658" r:id="rId31"/>
  </p:sldLayoutIdLst>
  <p:hf hdr="0"/>
  <p:txStyles>
    <p:title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6.jpg"/><Relationship Id="rId3" Type="http://schemas.openxmlformats.org/officeDocument/2006/relationships/image" Target="../media/image77.jpg"/><Relationship Id="rId4" Type="http://schemas.openxmlformats.org/officeDocument/2006/relationships/image" Target="../media/image78.jpg"/><Relationship Id="rId5" Type="http://schemas.openxmlformats.org/officeDocument/2006/relationships/image" Target="../media/image79.jpg"/><Relationship Id="rId6" Type="http://schemas.openxmlformats.org/officeDocument/2006/relationships/image" Target="../media/image80.gif"/><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1.jpg"/><Relationship Id="rId3" Type="http://schemas.openxmlformats.org/officeDocument/2006/relationships/image" Target="../media/image82.jpg"/><Relationship Id="rId4" Type="http://schemas.openxmlformats.org/officeDocument/2006/relationships/image" Target="../media/image83.jpg"/><Relationship Id="rId5" Type="http://schemas.openxmlformats.org/officeDocument/2006/relationships/image" Target="../media/image84.jp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5.jpg"/><Relationship Id="rId3" Type="http://schemas.openxmlformats.org/officeDocument/2006/relationships/image" Target="../media/image86.jpg"/><Relationship Id="rId4" Type="http://schemas.openxmlformats.org/officeDocument/2006/relationships/image" Target="../media/image87.jpg"/><Relationship Id="rId5" Type="http://schemas.openxmlformats.org/officeDocument/2006/relationships/image" Target="../media/image88.jp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gif"/><Relationship Id="rId7" Type="http://schemas.openxmlformats.org/officeDocument/2006/relationships/image" Target="../media/image97.gif"/><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8.jpg"/><Relationship Id="rId3" Type="http://schemas.openxmlformats.org/officeDocument/2006/relationships/image" Target="../media/image99.jpg"/><Relationship Id="rId4" Type="http://schemas.openxmlformats.org/officeDocument/2006/relationships/image" Target="../media/image100.jpg"/><Relationship Id="rId5" Type="http://schemas.openxmlformats.org/officeDocument/2006/relationships/image" Target="../media/image101.jpg"/><Relationship Id="rId6" Type="http://schemas.openxmlformats.org/officeDocument/2006/relationships/image" Target="../media/image102.gif"/><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5D3E717-6970-91B9-68BB-B9CE473EC22E}"/>
              </a:ext>
            </a:extLst>
          </p:cNvPr>
          <p:cNvSpPr>
            <a:spLocks noGrp="1"/>
          </p:cNvSpPr>
          <p:nvPr>
            <p:ph type="subTitle" idx="1"/>
          </p:nvPr>
        </p:nvSpPr>
        <p:spPr>
          <a:xfrm>
            <a:off x="500101" y="3895025"/>
            <a:ext cx="4774425" cy="1429109"/>
          </a:xfrm>
        </p:spPr>
        <p:txBody>
          <a:bodyPr vert="horz" wrap="square" lIns="91440" tIns="45720" rIns="91440" bIns="45720" rtlCol="0" anchor="t">
            <a:spAutoFit/>
          </a:bodyPr>
          <a:lstStyle/>
          <a:p>
            <a:pPr>
              <a:lnSpc>
                <a:spcPct val="100000"/>
              </a:lnSpc>
              <a:spcBef>
                <a:spcPts val="0"/>
              </a:spcBef>
              <a:spcAft>
                <a:spcPts val="200"/>
              </a:spcAft>
            </a:pPr>
            <a:r>
              <a:rPr sz="2100" b="1">
                <a:solidFill>
                  <a:srgbClr val="FFFFFF"/>
                </a:solidFill>
                <a:latin typeface="Arial"/>
              </a:rPr>
              <a:t>Jason Trinh</a:t>
            </a:r>
          </a:p>
          <a:p>
            <a:pPr>
              <a:lnSpc>
                <a:spcPct val="100000"/>
              </a:lnSpc>
              <a:spcBef>
                <a:spcPts val="0"/>
              </a:spcBef>
              <a:spcAft>
                <a:spcPts val="200"/>
              </a:spcAft>
            </a:pPr>
            <a:r>
              <a:rPr sz="1400" b="0">
                <a:solidFill>
                  <a:srgbClr val="FFFFFF"/>
                </a:solidFill>
                <a:latin typeface="Arial"/>
              </a:rPr>
              <a:t>EECS | UC Berkeley</a:t>
            </a:r>
          </a:p>
          <a:p>
            <a:pPr>
              <a:lnSpc>
                <a:spcPct val="100000"/>
              </a:lnSpc>
              <a:spcBef>
                <a:spcPts val="0"/>
              </a:spcBef>
              <a:spcAft>
                <a:spcPts val="200"/>
              </a:spcAft>
            </a:pPr>
            <a:r>
              <a:rPr sz="600" b="0">
                <a:solidFill>
                  <a:srgbClr val="FFFFFF"/>
                </a:solidFill>
                <a:latin typeface="Arial"/>
              </a:rPr>
              <a:t/>
            </a:r>
          </a:p>
          <a:p>
            <a:pPr>
              <a:lnSpc>
                <a:spcPct val="100000"/>
              </a:lnSpc>
              <a:spcBef>
                <a:spcPts val="0"/>
              </a:spcBef>
              <a:spcAft>
                <a:spcPts val="200"/>
              </a:spcAft>
            </a:pPr>
            <a:r>
              <a:rPr sz="1300" b="0">
                <a:solidFill>
                  <a:srgbClr val="FFFFFF"/>
                </a:solidFill>
                <a:latin typeface="Arial"/>
              </a:rPr>
              <a:t>Mentor: James Casaletto | August 2026</a:t>
            </a:r>
          </a:p>
        </p:txBody>
      </p:sp>
      <p:sp>
        <p:nvSpPr>
          <p:cNvPr id="3" name="Text Placeholder 2">
            <a:extLst>
              <a:ext uri="{FF2B5EF4-FFF2-40B4-BE49-F238E27FC236}">
                <a16:creationId xmlns:a16="http://schemas.microsoft.com/office/drawing/2014/main" id="{35AAB492-0D30-3AB0-9C9C-3B7725AA34C8}"/>
              </a:ext>
            </a:extLst>
          </p:cNvPr>
          <p:cNvSpPr>
            <a:spLocks noGrp="1"/>
          </p:cNvSpPr>
          <p:nvPr>
            <p:ph type="body" sz="quarter" idx="14"/>
          </p:nvPr>
        </p:nvSpPr>
        <p:spPr/>
        <p:txBody>
          <a:bodyPr wrap="square" anchor="b"/>
          <a:lstStyle/>
          <a:p>
            <a:pPr>
              <a:lnSpc>
                <a:spcPct val="100000"/>
              </a:lnSpc>
              <a:spcBef>
                <a:spcPts val="0"/>
              </a:spcBef>
              <a:spcAft>
                <a:spcPts val="0"/>
              </a:spcAft>
            </a:pPr>
            <a:r>
              <a:rPr sz="2900" b="1">
                <a:solidFill>
                  <a:srgbClr val="FFFFFF"/>
                </a:solidFill>
                <a:latin typeface="Arial"/>
              </a:rPr>
              <a:t>Interpretable and generative models
for mouse spaceflight</a:t>
            </a:r>
          </a:p>
        </p:txBody>
      </p:sp>
    </p:spTree>
    <p:extLst>
      <p:ext uri="{BB962C8B-B14F-4D97-AF65-F5344CB8AC3E}">
        <p14:creationId xmlns:p14="http://schemas.microsoft.com/office/powerpoint/2010/main" val="406897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5CCDA23-9C9B-2E3C-0808-97FA24C09308}"/>
              </a:ext>
            </a:extLst>
          </p:cNvPr>
          <p:cNvSpPr>
            <a:spLocks noGrp="1"/>
          </p:cNvSpPr>
          <p:nvPr>
            <p:ph type="title"/>
          </p:nvPr>
        </p:nvSpPr>
        <p:spPr/>
        <p:txBody>
          <a:bodyPr/>
          <a:lstStyle/>
          <a:p/>
        </p:txBody>
      </p:sp>
      <p:sp>
        <p:nvSpPr>
          <p:cNvPr id="18" name="Content Placeholder 17">
            <a:extLst>
              <a:ext uri="{FF2B5EF4-FFF2-40B4-BE49-F238E27FC236}">
                <a16:creationId xmlns:a16="http://schemas.microsoft.com/office/drawing/2014/main" id="{EDF69EC4-28BB-B6B3-FB3D-0B6A7B68EADE}"/>
              </a:ext>
            </a:extLst>
          </p:cNvPr>
          <p:cNvSpPr>
            <a:spLocks noGrp="1"/>
          </p:cNvSpPr>
          <p:nvPr>
            <p:ph idx="1"/>
          </p:nvPr>
        </p:nvSpPr>
        <p:spPr/>
        <p:txBody>
          <a:bodyPr/>
          <a:lstStyle/>
          <a:p/>
        </p:txBody>
      </p:sp>
      <p:sp>
        <p:nvSpPr>
          <p:cNvPr id="3" name="Footer Placeholder 2">
            <a:extLst>
              <a:ext uri="{FF2B5EF4-FFF2-40B4-BE49-F238E27FC236}">
                <a16:creationId xmlns:a16="http://schemas.microsoft.com/office/drawing/2014/main" id="{CA6AED0D-F1B8-689C-34E4-C8599A320EAC}"/>
              </a:ext>
            </a:extLst>
          </p:cNvPr>
          <p:cNvSpPr>
            <a:spLocks noGrp="1"/>
          </p:cNvSpPr>
          <p:nvPr>
            <p:ph type="ftr" sz="quarter" idx="11"/>
          </p:nvPr>
        </p:nvSpPr>
        <p:spPr/>
        <p:txBody>
          <a:bodyPr/>
          <a:lstStyle/>
          <a:p/>
        </p:txBody>
      </p:sp>
      <p:sp>
        <p:nvSpPr>
          <p:cNvPr id="4" name="Slide Number Placeholder 3">
            <a:extLst>
              <a:ext uri="{FF2B5EF4-FFF2-40B4-BE49-F238E27FC236}">
                <a16:creationId xmlns:a16="http://schemas.microsoft.com/office/drawing/2014/main" id="{3BCE25FE-C8CB-2ADC-D1BB-2BE7BB0DB777}"/>
              </a:ext>
            </a:extLst>
          </p:cNvPr>
          <p:cNvSpPr>
            <a:spLocks noGrp="1"/>
          </p:cNvSpPr>
          <p:nvPr>
            <p:ph type="sldNum" sz="quarter" idx="4294967295"/>
          </p:nvPr>
        </p:nvSpPr>
        <p:spPr>
          <a:xfrm>
            <a:off x="11131550" y="100013"/>
            <a:ext cx="1060450" cy="261937"/>
          </a:xfrm>
        </p:spPr>
        <p:txBody>
          <a:bodyPr/>
          <a:lstStyle/>
          <a:p>
            <a:pPr>
              <a:lnSpc>
                <a:spcPct val="100000"/>
              </a:lnSpc>
              <a:spcBef>
                <a:spcPts val="0"/>
              </a:spcBef>
              <a:spcAft>
                <a:spcPts val="0"/>
              </a:spcAft>
            </a:pPr>
            <a:r>
              <a:rPr>
                <a:latin typeface="Arial"/>
              </a:rPr>
              <a:t>2</a:t>
            </a:r>
          </a:p>
        </p:txBody>
      </p:sp>
      <p:pic>
        <p:nvPicPr>
          <p:cNvPr id="19" name="Original midpoint presentation slide 2: project objective and two project goals" descr="Original midpoint presentation slide 2: project objective and two project goals"/>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2938554529"/>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NEURAL NETWORKS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Autoencoders compress thousands of genes into a few features</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The encoder summarizes a gene profile; the decoder learns enough structure to reconstruct it.</a:t>
            </a:r>
          </a:p>
        </p:txBody>
      </p:sp>
      <p:sp>
        <p:nvSpPr>
          <p:cNvPr id="7" name="TextBox 6"/>
          <p:cNvSpPr txBox="1"/>
          <p:nvPr/>
        </p:nvSpPr>
        <p:spPr>
          <a:xfrm>
            <a:off x="530352" y="1874519"/>
            <a:ext cx="1316736" cy="219456"/>
          </a:xfrm>
          <a:prstGeom prst="rect">
            <a:avLst/>
          </a:prstGeom>
          <a:noFill/>
        </p:spPr>
        <p:txBody>
          <a:bodyPr wrap="square" lIns="0" rIns="0" tIns="0" bIns="0" anchor="t">
            <a:spAutoFit/>
          </a:bodyPr>
          <a:lstStyle/>
          <a:p>
            <a:pPr algn="l">
              <a:lnSpc>
                <a:spcPct val="100000"/>
              </a:lnSpc>
              <a:spcBef>
                <a:spcPts val="0"/>
              </a:spcBef>
              <a:spcAft>
                <a:spcPts val="0"/>
              </a:spcAft>
            </a:pPr>
            <a:r>
              <a:rPr sz="1019" b="1" i="0">
                <a:solidFill>
                  <a:srgbClr val="2D6496"/>
                </a:solidFill>
                <a:latin typeface="Arial"/>
              </a:rPr>
              <a:t>AUTOENCODER</a:t>
            </a:r>
          </a:p>
        </p:txBody>
      </p:sp>
      <p:sp>
        <p:nvSpPr>
          <p:cNvPr id="8" name="Rectangle 7"/>
          <p:cNvSpPr/>
          <p:nvPr/>
        </p:nvSpPr>
        <p:spPr>
          <a:xfrm>
            <a:off x="457200" y="2157984"/>
            <a:ext cx="6748272" cy="3547872"/>
          </a:xfrm>
          <a:prstGeom prst="rect">
            <a:avLst/>
          </a:prstGeom>
          <a:solidFill>
            <a:srgbClr val="F7F9FA"/>
          </a:solidFill>
          <a:ln w="10160">
            <a:solidFill>
              <a:srgbClr val="D9E1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2468879" y="2432304"/>
            <a:ext cx="1097280" cy="2560320"/>
          </a:xfrm>
          <a:custGeom>
            <a:avLst/>
            <a:gdLst/>
            <a:ahLst/>
            <a:cxnLst/>
            <a:rect l="l" t="t" r="r" b="b"/>
            <a:pathLst>
              <a:path w="120" h="280">
                <a:moveTo>
                  <a:pt x="0" y="0"/>
                </a:moveTo>
                <a:lnTo>
                  <a:pt x="120" y="25"/>
                </a:lnTo>
                <a:lnTo>
                  <a:pt x="120" y="255"/>
                </a:lnTo>
                <a:lnTo>
                  <a:pt x="0" y="280"/>
                </a:lnTo>
                <a:close/>
              </a:path>
            </a:pathLst>
          </a:custGeom>
          <a:solidFill>
            <a:srgbClr val="EAF1F5"/>
          </a:solidFill>
          <a:ln w="12700">
            <a:solidFill>
              <a:srgbClr val="B8CC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4654296" y="2432304"/>
            <a:ext cx="1097280" cy="2560320"/>
          </a:xfrm>
          <a:custGeom>
            <a:avLst/>
            <a:gdLst/>
            <a:ahLst/>
            <a:cxnLst/>
            <a:rect l="l" t="t" r="r" b="b"/>
            <a:pathLst>
              <a:path w="120" h="280">
                <a:moveTo>
                  <a:pt x="0" y="25"/>
                </a:moveTo>
                <a:lnTo>
                  <a:pt x="120" y="0"/>
                </a:lnTo>
                <a:lnTo>
                  <a:pt x="120" y="280"/>
                </a:lnTo>
                <a:lnTo>
                  <a:pt x="0" y="255"/>
                </a:lnTo>
                <a:close/>
              </a:path>
            </a:pathLst>
          </a:custGeom>
          <a:solidFill>
            <a:srgbClr val="E8F3F1"/>
          </a:solidFill>
          <a:ln w="12700">
            <a:solidFill>
              <a:srgbClr val="B6D3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88136" y="3785615"/>
            <a:ext cx="100584" cy="530352"/>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61872" y="3337559"/>
            <a:ext cx="100584" cy="978408"/>
          </a:xfrm>
          <a:prstGeom prst="rect">
            <a:avLst/>
          </a:prstGeom>
          <a:solidFill>
            <a:srgbClr val="8FB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35607" y="3648456"/>
            <a:ext cx="100584" cy="667512"/>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09344" y="3108959"/>
            <a:ext cx="100584" cy="1207008"/>
          </a:xfrm>
          <a:prstGeom prst="rect">
            <a:avLst/>
          </a:prstGeom>
          <a:solidFill>
            <a:srgbClr val="8FB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83080" y="3493008"/>
            <a:ext cx="100584" cy="82296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956815" y="3895344"/>
            <a:ext cx="100584" cy="420624"/>
          </a:xfrm>
          <a:prstGeom prst="rect">
            <a:avLst/>
          </a:prstGeom>
          <a:solidFill>
            <a:srgbClr val="8FB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4984" y="4315968"/>
            <a:ext cx="1097280" cy="16459"/>
          </a:xfrm>
          <a:prstGeom prst="rect">
            <a:avLst/>
          </a:prstGeom>
          <a:solidFill>
            <a:srgbClr val="AAB8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4535424"/>
            <a:ext cx="1225296" cy="256032"/>
          </a:xfrm>
          <a:prstGeom prst="rect">
            <a:avLst/>
          </a:prstGeom>
          <a:noFill/>
        </p:spPr>
        <p:txBody>
          <a:bodyPr wrap="square" lIns="0" rIns="0" tIns="0" bIns="0" anchor="t">
            <a:spAutoFit/>
          </a:bodyPr>
          <a:lstStyle/>
          <a:p>
            <a:pPr algn="ctr">
              <a:lnSpc>
                <a:spcPct val="100000"/>
              </a:lnSpc>
              <a:spcBef>
                <a:spcPts val="0"/>
              </a:spcBef>
              <a:spcAft>
                <a:spcPts val="0"/>
              </a:spcAft>
            </a:pPr>
            <a:r>
              <a:rPr sz="1080" b="1" i="0">
                <a:solidFill>
                  <a:srgbClr val="59697A"/>
                </a:solidFill>
                <a:latin typeface="Arial"/>
              </a:rPr>
              <a:t>gene profile</a:t>
            </a:r>
          </a:p>
        </p:txBody>
      </p:sp>
      <p:sp>
        <p:nvSpPr>
          <p:cNvPr id="19" name="Right Arrow 18"/>
          <p:cNvSpPr/>
          <p:nvPr/>
        </p:nvSpPr>
        <p:spPr>
          <a:xfrm>
            <a:off x="2203703" y="3529584"/>
            <a:ext cx="310896" cy="228600"/>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2724912" y="2816352"/>
            <a:ext cx="457200" cy="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24912" y="2816352"/>
            <a:ext cx="457200" cy="92354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24912" y="2816352"/>
            <a:ext cx="457200" cy="1847088"/>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724912" y="2816352"/>
            <a:ext cx="457200" cy="46177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724912" y="3278124"/>
            <a:ext cx="457200" cy="46177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724912" y="3278124"/>
            <a:ext cx="457200" cy="1385316"/>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24912" y="2816352"/>
            <a:ext cx="457200" cy="92354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724912" y="3739896"/>
            <a:ext cx="457200" cy="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724912" y="3739896"/>
            <a:ext cx="457200" cy="92354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724912" y="2816352"/>
            <a:ext cx="457200" cy="1385316"/>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724912" y="3739896"/>
            <a:ext cx="457200" cy="46177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724912" y="4201668"/>
            <a:ext cx="457200" cy="46177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724912" y="2816352"/>
            <a:ext cx="457200" cy="1847088"/>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724912" y="3739896"/>
            <a:ext cx="457200" cy="92354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724912" y="4663440"/>
            <a:ext cx="457200" cy="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82112" y="2816352"/>
            <a:ext cx="960120" cy="42062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182112" y="2816352"/>
            <a:ext cx="960120" cy="82296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182112" y="2816352"/>
            <a:ext cx="960120" cy="1225296"/>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182112" y="3236976"/>
            <a:ext cx="960120" cy="50292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182112" y="3639312"/>
            <a:ext cx="960120" cy="10058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182112" y="3739896"/>
            <a:ext cx="960120" cy="30175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182112" y="3236976"/>
            <a:ext cx="960120" cy="142646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182112" y="3639312"/>
            <a:ext cx="960120" cy="1024128"/>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82112" y="4041648"/>
            <a:ext cx="960120" cy="62179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42232" y="2816352"/>
            <a:ext cx="896112" cy="42062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142232" y="3236976"/>
            <a:ext cx="896112" cy="50292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142232" y="3236976"/>
            <a:ext cx="896112" cy="142646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142232" y="2816352"/>
            <a:ext cx="896112" cy="82296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142232" y="3639312"/>
            <a:ext cx="896112" cy="10058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142232" y="3639312"/>
            <a:ext cx="896112" cy="1024128"/>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142232" y="2816352"/>
            <a:ext cx="896112" cy="1225296"/>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142232" y="3739896"/>
            <a:ext cx="896112" cy="30175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142232" y="4041648"/>
            <a:ext cx="896112" cy="62179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038344" y="2816352"/>
            <a:ext cx="457200" cy="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038344" y="2816352"/>
            <a:ext cx="457200" cy="46177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038344" y="2816352"/>
            <a:ext cx="457200" cy="92354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038344" y="2816352"/>
            <a:ext cx="457200" cy="1385316"/>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038344" y="2816352"/>
            <a:ext cx="457200" cy="1847088"/>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038344" y="2816352"/>
            <a:ext cx="457200" cy="92354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038344" y="3278124"/>
            <a:ext cx="457200" cy="46177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038344" y="3739896"/>
            <a:ext cx="457200" cy="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038344" y="3739896"/>
            <a:ext cx="457200" cy="46177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038344" y="3739896"/>
            <a:ext cx="457200" cy="92354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038344" y="2816352"/>
            <a:ext cx="457200" cy="1847088"/>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038344" y="3278124"/>
            <a:ext cx="457200" cy="1385316"/>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038344" y="3739896"/>
            <a:ext cx="457200" cy="923544"/>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038344" y="4201668"/>
            <a:ext cx="457200" cy="461772"/>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038344" y="4663440"/>
            <a:ext cx="457200" cy="0"/>
          </a:xfrm>
          <a:prstGeom prst="line">
            <a:avLst/>
          </a:prstGeom>
          <a:ln w="8255">
            <a:solidFill>
              <a:srgbClr val="C5D1D8"/>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2651760" y="2743200"/>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651760" y="3204972"/>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651760" y="3666744"/>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651760" y="4128516"/>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651760" y="4590288"/>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108960" y="2743200"/>
            <a:ext cx="146304" cy="146304"/>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108960" y="3666744"/>
            <a:ext cx="146304" cy="146304"/>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108960" y="4590288"/>
            <a:ext cx="146304" cy="146304"/>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496312" y="4892040"/>
            <a:ext cx="96012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D6496"/>
                </a:solidFill>
                <a:latin typeface="Arial"/>
              </a:rPr>
              <a:t>encoder</a:t>
            </a:r>
          </a:p>
        </p:txBody>
      </p:sp>
      <p:sp>
        <p:nvSpPr>
          <p:cNvPr id="77" name="Oval 76"/>
          <p:cNvSpPr/>
          <p:nvPr/>
        </p:nvSpPr>
        <p:spPr>
          <a:xfrm>
            <a:off x="4050792" y="3145536"/>
            <a:ext cx="182880" cy="182880"/>
          </a:xfrm>
          <a:prstGeom prst="ellipse">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050792" y="3547872"/>
            <a:ext cx="182880" cy="182880"/>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050792" y="3950208"/>
            <a:ext cx="182880" cy="182880"/>
          </a:xfrm>
          <a:prstGeom prst="ellipse">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712463" y="4462272"/>
            <a:ext cx="859536" cy="438912"/>
          </a:xfrm>
          <a:prstGeom prst="rect">
            <a:avLst/>
          </a:prstGeom>
          <a:noFill/>
        </p:spPr>
        <p:txBody>
          <a:bodyPr wrap="square" lIns="0" rIns="0" tIns="0" bIns="0" anchor="t">
            <a:spAutoFit/>
          </a:bodyPr>
          <a:lstStyle/>
          <a:p>
            <a:pPr algn="ctr">
              <a:lnSpc>
                <a:spcPct val="100000"/>
              </a:lnSpc>
              <a:spcBef>
                <a:spcPts val="0"/>
              </a:spcBef>
              <a:spcAft>
                <a:spcPts val="0"/>
              </a:spcAft>
            </a:pPr>
            <a:r>
              <a:rPr sz="980" b="1" i="0">
                <a:solidFill>
                  <a:srgbClr val="D37B00"/>
                </a:solidFill>
                <a:latin typeface="Arial"/>
              </a:rPr>
              <a:t>compressed
features</a:t>
            </a:r>
          </a:p>
        </p:txBody>
      </p:sp>
      <p:sp>
        <p:nvSpPr>
          <p:cNvPr id="81" name="Oval 80"/>
          <p:cNvSpPr/>
          <p:nvPr/>
        </p:nvSpPr>
        <p:spPr>
          <a:xfrm>
            <a:off x="4965192" y="2743200"/>
            <a:ext cx="146304" cy="146304"/>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965192" y="3666744"/>
            <a:ext cx="146304" cy="146304"/>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965192" y="4590288"/>
            <a:ext cx="146304" cy="146304"/>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5422392" y="2743200"/>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422392" y="3204972"/>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422392" y="3666744"/>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5422392" y="4128516"/>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5422392" y="4590288"/>
            <a:ext cx="146304" cy="146304"/>
          </a:xfrm>
          <a:prstGeom prst="ellipse">
            <a:avLst/>
          </a:prstGeom>
          <a:solidFill>
            <a:srgbClr val="6D9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800600" y="4892040"/>
            <a:ext cx="96012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D6496"/>
                </a:solidFill>
                <a:latin typeface="Arial"/>
              </a:rPr>
              <a:t>decoder</a:t>
            </a:r>
          </a:p>
        </p:txBody>
      </p:sp>
      <p:sp>
        <p:nvSpPr>
          <p:cNvPr id="90" name="Right Arrow 89"/>
          <p:cNvSpPr/>
          <p:nvPr/>
        </p:nvSpPr>
        <p:spPr>
          <a:xfrm>
            <a:off x="5824728" y="3529584"/>
            <a:ext cx="274320" cy="228600"/>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099048" y="3803904"/>
            <a:ext cx="59436" cy="51206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199632" y="3374135"/>
            <a:ext cx="59436" cy="941832"/>
          </a:xfrm>
          <a:prstGeom prst="rect">
            <a:avLst/>
          </a:prstGeom>
          <a:solidFill>
            <a:srgbClr val="8FB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6300216" y="3621024"/>
            <a:ext cx="59436" cy="69494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400800" y="3145535"/>
            <a:ext cx="59436" cy="1170432"/>
          </a:xfrm>
          <a:prstGeom prst="rect">
            <a:avLst/>
          </a:prstGeom>
          <a:solidFill>
            <a:srgbClr val="8FB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6501384" y="3529584"/>
            <a:ext cx="59436" cy="78638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601968" y="3867911"/>
            <a:ext cx="59436" cy="448056"/>
          </a:xfrm>
          <a:prstGeom prst="rect">
            <a:avLst/>
          </a:prstGeom>
          <a:solidFill>
            <a:srgbClr val="8FB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044183" y="4315968"/>
            <a:ext cx="658368" cy="16459"/>
          </a:xfrm>
          <a:prstGeom prst="rect">
            <a:avLst/>
          </a:prstGeom>
          <a:solidFill>
            <a:srgbClr val="AAB8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879592" y="4498848"/>
            <a:ext cx="987552" cy="438912"/>
          </a:xfrm>
          <a:prstGeom prst="rect">
            <a:avLst/>
          </a:prstGeom>
          <a:noFill/>
        </p:spPr>
        <p:txBody>
          <a:bodyPr wrap="square" lIns="0" rIns="0" tIns="0" bIns="0" anchor="t">
            <a:spAutoFit/>
          </a:bodyPr>
          <a:lstStyle/>
          <a:p>
            <a:pPr algn="ctr">
              <a:lnSpc>
                <a:spcPct val="100000"/>
              </a:lnSpc>
              <a:spcBef>
                <a:spcPts val="0"/>
              </a:spcBef>
              <a:spcAft>
                <a:spcPts val="0"/>
              </a:spcAft>
            </a:pPr>
            <a:r>
              <a:rPr sz="950" b="1" i="0">
                <a:solidFill>
                  <a:srgbClr val="59697A"/>
                </a:solidFill>
                <a:latin typeface="Arial"/>
              </a:rPr>
              <a:t>output profile
(reconstruction)</a:t>
            </a:r>
          </a:p>
        </p:txBody>
      </p:sp>
      <p:sp>
        <p:nvSpPr>
          <p:cNvPr id="99" name="TextBox 98"/>
          <p:cNvSpPr txBox="1"/>
          <p:nvPr/>
        </p:nvSpPr>
        <p:spPr>
          <a:xfrm>
            <a:off x="7589520" y="1874519"/>
            <a:ext cx="1627632" cy="219456"/>
          </a:xfrm>
          <a:prstGeom prst="rect">
            <a:avLst/>
          </a:prstGeom>
          <a:noFill/>
        </p:spPr>
        <p:txBody>
          <a:bodyPr wrap="square" lIns="0" rIns="0" tIns="0" bIns="0" anchor="t">
            <a:spAutoFit/>
          </a:bodyPr>
          <a:lstStyle/>
          <a:p>
            <a:pPr algn="l">
              <a:lnSpc>
                <a:spcPct val="100000"/>
              </a:lnSpc>
              <a:spcBef>
                <a:spcPts val="0"/>
              </a:spcBef>
              <a:spcAft>
                <a:spcPts val="0"/>
              </a:spcAft>
            </a:pPr>
            <a:r>
              <a:rPr sz="1019" b="1" i="0">
                <a:solidFill>
                  <a:srgbClr val="178681"/>
                </a:solidFill>
                <a:latin typeface="Arial"/>
              </a:rPr>
              <a:t>COMPRESSED SPACE</a:t>
            </a:r>
          </a:p>
        </p:txBody>
      </p:sp>
      <p:sp>
        <p:nvSpPr>
          <p:cNvPr id="100" name="Rectangle 99"/>
          <p:cNvSpPr/>
          <p:nvPr/>
        </p:nvSpPr>
        <p:spPr>
          <a:xfrm>
            <a:off x="7516368" y="2157984"/>
            <a:ext cx="4187952" cy="3547872"/>
          </a:xfrm>
          <a:prstGeom prst="rect">
            <a:avLst/>
          </a:prstGeom>
          <a:solidFill>
            <a:srgbClr val="E8F3F1"/>
          </a:solidFill>
          <a:ln w="10160">
            <a:solidFill>
              <a:srgbClr val="C9D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973568" y="5074920"/>
            <a:ext cx="3136392" cy="16459"/>
          </a:xfrm>
          <a:prstGeom prst="rect">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973568" y="2615184"/>
            <a:ext cx="16459" cy="2478024"/>
          </a:xfrm>
          <a:prstGeom prst="rect">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357616" y="4169663"/>
            <a:ext cx="118872" cy="118872"/>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604504" y="4087368"/>
            <a:ext cx="118872" cy="118872"/>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714232" y="4279392"/>
            <a:ext cx="118872" cy="118872"/>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476488" y="4398264"/>
            <a:ext cx="118872" cy="118872"/>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8549640" y="4251959"/>
            <a:ext cx="118872" cy="118872"/>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400032" y="3282696"/>
            <a:ext cx="118872" cy="118872"/>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646920" y="3200400"/>
            <a:ext cx="118872" cy="118872"/>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756648" y="3392424"/>
            <a:ext cx="118872" cy="118872"/>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518904" y="3511296"/>
            <a:ext cx="118872" cy="118872"/>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9592056" y="3364992"/>
            <a:ext cx="118872" cy="118872"/>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10323576" y="4306824"/>
            <a:ext cx="118872" cy="118872"/>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0570464" y="4224528"/>
            <a:ext cx="118872" cy="118872"/>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0680192" y="4416552"/>
            <a:ext cx="118872" cy="118872"/>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0442448" y="4535424"/>
            <a:ext cx="118872" cy="118872"/>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0515600" y="4389120"/>
            <a:ext cx="118872" cy="118872"/>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818120" y="5266944"/>
            <a:ext cx="3566160" cy="219456"/>
          </a:xfrm>
          <a:prstGeom prst="rect">
            <a:avLst/>
          </a:prstGeom>
          <a:noFill/>
        </p:spPr>
        <p:txBody>
          <a:bodyPr wrap="square" lIns="0" rIns="0" tIns="0" bIns="0" anchor="t">
            <a:spAutoFit/>
          </a:bodyPr>
          <a:lstStyle/>
          <a:p>
            <a:pPr algn="ctr">
              <a:lnSpc>
                <a:spcPct val="100000"/>
              </a:lnSpc>
              <a:spcBef>
                <a:spcPts val="0"/>
              </a:spcBef>
              <a:spcAft>
                <a:spcPts val="0"/>
              </a:spcAft>
            </a:pPr>
            <a:r>
              <a:rPr sz="1050" b="0" i="0">
                <a:solidFill>
                  <a:srgbClr val="59697A"/>
                </a:solidFill>
                <a:latin typeface="Arial"/>
              </a:rPr>
              <a:t>profiles with similar expression occupy nearby regions</a:t>
            </a:r>
          </a:p>
        </p:txBody>
      </p:sp>
      <p:sp>
        <p:nvSpPr>
          <p:cNvPr id="119" name="TextBox 118"/>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Concept adapted from the midpoint presentation. expiMap: Lotfollahi et al., Nature Cell Biology (2023).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THE COMPLICATION</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Study identity dominates the expression structure</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In EDL muscle, the two studies separate while FLT and GC overlap within each study.</a:t>
            </a:r>
          </a:p>
        </p:txBody>
      </p:sp>
      <p:pic>
        <p:nvPicPr>
          <p:cNvPr id="7" name="UMAP of EDL profiles colored by OSDR study and shaped by FLT or GC condition" descr="UMAP of EDL profiles colored by OSDR study and shaped by FLT or GC condition"/>
          <p:cNvPicPr>
            <a:picLocks noChangeAspect="1"/>
          </p:cNvPicPr>
          <p:nvPr/>
        </p:nvPicPr>
        <p:blipFill>
          <a:blip r:embed="rId2"/>
          <a:stretch>
            <a:fillRect/>
          </a:stretch>
        </p:blipFill>
        <p:spPr>
          <a:xfrm>
            <a:off x="2082314" y="1664208"/>
            <a:ext cx="8042610" cy="4709160"/>
          </a:xfrm>
          <a:prstGeom prst="rect">
            <a:avLst/>
          </a:prstGeom>
        </p:spPr>
      </p:pic>
      <p:sp>
        <p:nvSpPr>
          <p:cNvPr id="8" name="TextBox 7"/>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Midpoint slide 7; EDL profiles from OSD-665 and OSD-99.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Midpoint slide 8 tile 1" descr="Original midpoint slide 8, quadrant 1"/>
          <p:cNvPicPr>
            <a:picLocks noChangeAspect="1"/>
          </p:cNvPicPr>
          <p:nvPr/>
        </p:nvPicPr>
        <p:blipFill>
          <a:blip r:embed="rId2"/>
          <a:stretch>
            <a:fillRect/>
          </a:stretch>
        </p:blipFill>
        <p:spPr>
          <a:xfrm>
            <a:off x="0" y="0"/>
            <a:ext cx="6095999" cy="3429000"/>
          </a:xfrm>
          <a:prstGeom prst="rect">
            <a:avLst/>
          </a:prstGeom>
        </p:spPr>
      </p:pic>
      <p:pic>
        <p:nvPicPr>
          <p:cNvPr id="5" name="Midpoint slide 8 tile 2" descr="Original midpoint slide 8, quadrant 2"/>
          <p:cNvPicPr>
            <a:picLocks noChangeAspect="1"/>
          </p:cNvPicPr>
          <p:nvPr/>
        </p:nvPicPr>
        <p:blipFill>
          <a:blip r:embed="rId3"/>
          <a:stretch>
            <a:fillRect/>
          </a:stretch>
        </p:blipFill>
        <p:spPr>
          <a:xfrm>
            <a:off x="6083299" y="0"/>
            <a:ext cx="6108699" cy="3429000"/>
          </a:xfrm>
          <a:prstGeom prst="rect">
            <a:avLst/>
          </a:prstGeom>
        </p:spPr>
      </p:pic>
      <p:pic>
        <p:nvPicPr>
          <p:cNvPr id="6" name="Midpoint slide 8 tile 3" descr="Original midpoint slide 8, quadrant 3"/>
          <p:cNvPicPr>
            <a:picLocks noChangeAspect="1"/>
          </p:cNvPicPr>
          <p:nvPr/>
        </p:nvPicPr>
        <p:blipFill>
          <a:blip r:embed="rId4"/>
          <a:stretch>
            <a:fillRect/>
          </a:stretch>
        </p:blipFill>
        <p:spPr>
          <a:xfrm>
            <a:off x="0" y="3416300"/>
            <a:ext cx="6095999" cy="3441700"/>
          </a:xfrm>
          <a:prstGeom prst="rect">
            <a:avLst/>
          </a:prstGeom>
        </p:spPr>
      </p:pic>
      <p:pic>
        <p:nvPicPr>
          <p:cNvPr id="7" name="Midpoint slide 8 tile 4" descr="Original midpoint slide 8, quadrant 4"/>
          <p:cNvPicPr>
            <a:picLocks noChangeAspect="1"/>
          </p:cNvPicPr>
          <p:nvPr/>
        </p:nvPicPr>
        <p:blipFill>
          <a:blip r:embed="rId5"/>
          <a:stretch>
            <a:fillRect/>
          </a:stretch>
        </p:blipFill>
        <p:spPr>
          <a:xfrm>
            <a:off x="6083299" y="3416300"/>
            <a:ext cx="6108699" cy="3441700"/>
          </a:xfrm>
          <a:prstGeom prst="rect">
            <a:avLst/>
          </a:prstGeom>
        </p:spPr>
      </p:pic>
      <p:pic>
        <p:nvPicPr>
          <p:cNvPr id="8" name="anim_mober.gif" descr="Animated MOBER example aligning three study distributions"/>
          <p:cNvPicPr>
            <a:picLocks noChangeAspect="1"/>
          </p:cNvPicPr>
          <p:nvPr/>
        </p:nvPicPr>
        <p:blipFill>
          <a:blip r:embed="rId6"/>
          <a:stretch>
            <a:fillRect/>
          </a:stretch>
        </p:blipFill>
        <p:spPr>
          <a:xfrm>
            <a:off x="6424929" y="2460625"/>
            <a:ext cx="4993639" cy="4079875"/>
          </a:xfrm>
          <a:prstGeom prst="rect">
            <a:avLst/>
          </a:prstGeom>
        </p:spPr>
      </p:pic>
      <p:sp>
        <p:nvSpPr>
          <p:cNvPr id="9" name="Rounded Rectangle 8"/>
          <p:cNvSpPr/>
          <p:nvPr/>
        </p:nvSpPr>
        <p:spPr>
          <a:xfrm>
            <a:off x="11466576" y="91440"/>
            <a:ext cx="475488" cy="274320"/>
          </a:xfrm>
          <a:prstGeom prst="roundRect">
            <a:avLst/>
          </a:prstGeom>
          <a:solidFill>
            <a:srgbClr val="0827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66576" y="123444"/>
            <a:ext cx="475488" cy="192024"/>
          </a:xfrm>
          <a:prstGeom prst="rect">
            <a:avLst/>
          </a:prstGeom>
          <a:noFill/>
        </p:spPr>
        <p:txBody>
          <a:bodyPr wrap="square" lIns="0" rIns="0" tIns="0" bIns="0" anchor="ctr">
            <a:spAutoFit/>
          </a:bodyPr>
          <a:lstStyle/>
          <a:p>
            <a:pPr algn="ctr">
              <a:lnSpc>
                <a:spcPct val="100000"/>
              </a:lnSpc>
              <a:spcBef>
                <a:spcPts val="0"/>
              </a:spcBef>
              <a:spcAft>
                <a:spcPts val="0"/>
              </a:spcAft>
            </a:pPr>
            <a:r>
              <a:rPr sz="1150" b="1" i="0">
                <a:solidFill>
                  <a:srgbClr val="FFFFFF"/>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Midpoint slide 9 tile 1" descr="Original midpoint slide 9, quadrant 1"/>
          <p:cNvPicPr>
            <a:picLocks noChangeAspect="1"/>
          </p:cNvPicPr>
          <p:nvPr/>
        </p:nvPicPr>
        <p:blipFill>
          <a:blip r:embed="rId2"/>
          <a:stretch>
            <a:fillRect/>
          </a:stretch>
        </p:blipFill>
        <p:spPr>
          <a:xfrm>
            <a:off x="0" y="0"/>
            <a:ext cx="6095999" cy="3429000"/>
          </a:xfrm>
          <a:prstGeom prst="rect">
            <a:avLst/>
          </a:prstGeom>
        </p:spPr>
      </p:pic>
      <p:pic>
        <p:nvPicPr>
          <p:cNvPr id="5" name="Midpoint slide 9 tile 2" descr="Original midpoint slide 9, quadrant 2"/>
          <p:cNvPicPr>
            <a:picLocks noChangeAspect="1"/>
          </p:cNvPicPr>
          <p:nvPr/>
        </p:nvPicPr>
        <p:blipFill>
          <a:blip r:embed="rId3"/>
          <a:stretch>
            <a:fillRect/>
          </a:stretch>
        </p:blipFill>
        <p:spPr>
          <a:xfrm>
            <a:off x="6083299" y="0"/>
            <a:ext cx="6108699" cy="3429000"/>
          </a:xfrm>
          <a:prstGeom prst="rect">
            <a:avLst/>
          </a:prstGeom>
        </p:spPr>
      </p:pic>
      <p:pic>
        <p:nvPicPr>
          <p:cNvPr id="6" name="Midpoint slide 9 tile 3" descr="Original midpoint slide 9, quadrant 3"/>
          <p:cNvPicPr>
            <a:picLocks noChangeAspect="1"/>
          </p:cNvPicPr>
          <p:nvPr/>
        </p:nvPicPr>
        <p:blipFill>
          <a:blip r:embed="rId4"/>
          <a:stretch>
            <a:fillRect/>
          </a:stretch>
        </p:blipFill>
        <p:spPr>
          <a:xfrm>
            <a:off x="0" y="3416300"/>
            <a:ext cx="6095999" cy="3441700"/>
          </a:xfrm>
          <a:prstGeom prst="rect">
            <a:avLst/>
          </a:prstGeom>
        </p:spPr>
      </p:pic>
      <p:pic>
        <p:nvPicPr>
          <p:cNvPr id="7" name="Midpoint slide 9 tile 4" descr="Original midpoint slide 9, quadrant 4"/>
          <p:cNvPicPr>
            <a:picLocks noChangeAspect="1"/>
          </p:cNvPicPr>
          <p:nvPr/>
        </p:nvPicPr>
        <p:blipFill>
          <a:blip r:embed="rId5"/>
          <a:stretch>
            <a:fillRect/>
          </a:stretch>
        </p:blipFill>
        <p:spPr>
          <a:xfrm>
            <a:off x="6083299" y="3416300"/>
            <a:ext cx="6108699" cy="3441700"/>
          </a:xfrm>
          <a:prstGeom prst="rect">
            <a:avLst/>
          </a:prstGeom>
        </p:spPr>
      </p:pic>
      <p:sp>
        <p:nvSpPr>
          <p:cNvPr id="8" name="Rounded Rectangle 7"/>
          <p:cNvSpPr/>
          <p:nvPr/>
        </p:nvSpPr>
        <p:spPr>
          <a:xfrm>
            <a:off x="11466576" y="91440"/>
            <a:ext cx="475488" cy="274320"/>
          </a:xfrm>
          <a:prstGeom prst="roundRect">
            <a:avLst/>
          </a:prstGeom>
          <a:solidFill>
            <a:srgbClr val="0827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66576" y="123444"/>
            <a:ext cx="475488" cy="192024"/>
          </a:xfrm>
          <a:prstGeom prst="rect">
            <a:avLst/>
          </a:prstGeom>
          <a:noFill/>
        </p:spPr>
        <p:txBody>
          <a:bodyPr wrap="square" lIns="0" rIns="0" tIns="0" bIns="0" anchor="ctr">
            <a:spAutoFit/>
          </a:bodyPr>
          <a:lstStyle/>
          <a:p>
            <a:pPr algn="ctr">
              <a:lnSpc>
                <a:spcPct val="100000"/>
              </a:lnSpc>
              <a:spcBef>
                <a:spcPts val="0"/>
              </a:spcBef>
              <a:spcAft>
                <a:spcPts val="0"/>
              </a:spcAft>
            </a:pPr>
            <a:r>
              <a:rPr sz="1150" b="1" i="0">
                <a:solidFill>
                  <a:srgbClr val="FFFFFF"/>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Midpoint slide 10 tile 1" descr="Original midpoint slide 10, quadrant 1"/>
          <p:cNvPicPr>
            <a:picLocks noChangeAspect="1"/>
          </p:cNvPicPr>
          <p:nvPr/>
        </p:nvPicPr>
        <p:blipFill>
          <a:blip r:embed="rId2"/>
          <a:stretch>
            <a:fillRect/>
          </a:stretch>
        </p:blipFill>
        <p:spPr>
          <a:xfrm>
            <a:off x="0" y="0"/>
            <a:ext cx="6095999" cy="3429000"/>
          </a:xfrm>
          <a:prstGeom prst="rect">
            <a:avLst/>
          </a:prstGeom>
        </p:spPr>
      </p:pic>
      <p:pic>
        <p:nvPicPr>
          <p:cNvPr id="5" name="Midpoint slide 10 tile 2" descr="Original midpoint slide 10, quadrant 2"/>
          <p:cNvPicPr>
            <a:picLocks noChangeAspect="1"/>
          </p:cNvPicPr>
          <p:nvPr/>
        </p:nvPicPr>
        <p:blipFill>
          <a:blip r:embed="rId3"/>
          <a:stretch>
            <a:fillRect/>
          </a:stretch>
        </p:blipFill>
        <p:spPr>
          <a:xfrm>
            <a:off x="6083299" y="0"/>
            <a:ext cx="6108699" cy="3429000"/>
          </a:xfrm>
          <a:prstGeom prst="rect">
            <a:avLst/>
          </a:prstGeom>
        </p:spPr>
      </p:pic>
      <p:pic>
        <p:nvPicPr>
          <p:cNvPr id="6" name="Midpoint slide 10 tile 3" descr="Original midpoint slide 10, quadrant 3"/>
          <p:cNvPicPr>
            <a:picLocks noChangeAspect="1"/>
          </p:cNvPicPr>
          <p:nvPr/>
        </p:nvPicPr>
        <p:blipFill>
          <a:blip r:embed="rId4"/>
          <a:stretch>
            <a:fillRect/>
          </a:stretch>
        </p:blipFill>
        <p:spPr>
          <a:xfrm>
            <a:off x="0" y="3416300"/>
            <a:ext cx="6095999" cy="3441700"/>
          </a:xfrm>
          <a:prstGeom prst="rect">
            <a:avLst/>
          </a:prstGeom>
        </p:spPr>
      </p:pic>
      <p:pic>
        <p:nvPicPr>
          <p:cNvPr id="7" name="Midpoint slide 10 tile 4" descr="Original midpoint slide 10, quadrant 4"/>
          <p:cNvPicPr>
            <a:picLocks noChangeAspect="1"/>
          </p:cNvPicPr>
          <p:nvPr/>
        </p:nvPicPr>
        <p:blipFill>
          <a:blip r:embed="rId5"/>
          <a:stretch>
            <a:fillRect/>
          </a:stretch>
        </p:blipFill>
        <p:spPr>
          <a:xfrm>
            <a:off x="6083299" y="3416300"/>
            <a:ext cx="6108699" cy="3441700"/>
          </a:xfrm>
          <a:prstGeom prst="rect">
            <a:avLst/>
          </a:prstGeom>
        </p:spPr>
      </p:pic>
      <p:sp>
        <p:nvSpPr>
          <p:cNvPr id="8" name="Rounded Rectangle 7"/>
          <p:cNvSpPr/>
          <p:nvPr/>
        </p:nvSpPr>
        <p:spPr>
          <a:xfrm>
            <a:off x="11466576" y="91440"/>
            <a:ext cx="475488" cy="274320"/>
          </a:xfrm>
          <a:prstGeom prst="roundRect">
            <a:avLst/>
          </a:prstGeom>
          <a:solidFill>
            <a:srgbClr val="0827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66576" y="123444"/>
            <a:ext cx="475488" cy="192024"/>
          </a:xfrm>
          <a:prstGeom prst="rect">
            <a:avLst/>
          </a:prstGeom>
          <a:noFill/>
        </p:spPr>
        <p:txBody>
          <a:bodyPr wrap="square" lIns="0" rIns="0" tIns="0" bIns="0" anchor="ctr">
            <a:spAutoFit/>
          </a:bodyPr>
          <a:lstStyle/>
          <a:p>
            <a:pPr algn="ctr">
              <a:lnSpc>
                <a:spcPct val="100000"/>
              </a:lnSpc>
              <a:spcBef>
                <a:spcPts val="0"/>
              </a:spcBef>
              <a:spcAft>
                <a:spcPts val="0"/>
              </a:spcAft>
            </a:pPr>
            <a:r>
              <a:rPr sz="1150" b="1" i="0">
                <a:solidFill>
                  <a:srgbClr val="FFFFFF"/>
                </a:solidFill>
                <a:latin typeface="Arial"/>
              </a:rPr>
              <a:t>7</a:t>
            </a:r>
          </a:p>
        </p:txBody>
      </p:sp>
      <p:sp>
        <p:nvSpPr>
          <p:cNvPr id="10" name="Rectangle 9"/>
          <p:cNvSpPr/>
          <p:nvPr/>
        </p:nvSpPr>
        <p:spPr>
          <a:xfrm>
            <a:off x="4828032" y="1956816"/>
            <a:ext cx="7360920" cy="4901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577840" y="2432304"/>
            <a:ext cx="5742432" cy="3163824"/>
          </a:xfrm>
          <a:prstGeom prst="roundRect">
            <a:avLst/>
          </a:prstGeom>
          <a:solidFill>
            <a:srgbClr val="F2F5F7"/>
          </a:solidFill>
          <a:ln w="10160">
            <a:solidFill>
              <a:srgbClr val="E4E9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16168" y="2679192"/>
            <a:ext cx="4160520" cy="265176"/>
          </a:xfrm>
          <a:prstGeom prst="rect">
            <a:avLst/>
          </a:prstGeom>
          <a:noFill/>
        </p:spPr>
        <p:txBody>
          <a:bodyPr wrap="square" lIns="0" rIns="0" tIns="0" bIns="0" anchor="t">
            <a:spAutoFit/>
          </a:bodyPr>
          <a:lstStyle/>
          <a:p>
            <a:pPr algn="l">
              <a:lnSpc>
                <a:spcPct val="100000"/>
              </a:lnSpc>
              <a:spcBef>
                <a:spcPts val="0"/>
              </a:spcBef>
              <a:spcAft>
                <a:spcPts val="0"/>
              </a:spcAft>
            </a:pPr>
            <a:r>
              <a:rPr sz="1500" b="1" i="0">
                <a:solidFill>
                  <a:srgbClr val="082B55"/>
                </a:solidFill>
                <a:latin typeface="Arial"/>
              </a:rPr>
              <a:t>WHY IT'S INTERPRETABLE</a:t>
            </a:r>
          </a:p>
        </p:txBody>
      </p:sp>
      <p:sp>
        <p:nvSpPr>
          <p:cNvPr id="13" name="Oval 12"/>
          <p:cNvSpPr/>
          <p:nvPr/>
        </p:nvSpPr>
        <p:spPr>
          <a:xfrm>
            <a:off x="5934456" y="3227832"/>
            <a:ext cx="91440" cy="91440"/>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17336" y="3136392"/>
            <a:ext cx="4773168" cy="694944"/>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63746"/>
                </a:solidFill>
                <a:latin typeface="Arial"/>
              </a:rPr>
              <a:t>Each latent node is one Reactome program (~1,140).</a:t>
            </a:r>
          </a:p>
        </p:txBody>
      </p:sp>
      <p:sp>
        <p:nvSpPr>
          <p:cNvPr id="15" name="Oval 14"/>
          <p:cNvSpPr/>
          <p:nvPr/>
        </p:nvSpPr>
        <p:spPr>
          <a:xfrm>
            <a:off x="5934456" y="3922776"/>
            <a:ext cx="91440" cy="91440"/>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17336" y="3831336"/>
            <a:ext cx="4773168" cy="694944"/>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63746"/>
                </a:solidFill>
                <a:latin typeface="Arial"/>
              </a:rPr>
              <a:t>A soft mask lets a stray gene help only when the data support it.</a:t>
            </a:r>
          </a:p>
        </p:txBody>
      </p:sp>
      <p:sp>
        <p:nvSpPr>
          <p:cNvPr id="17" name="Oval 16"/>
          <p:cNvSpPr/>
          <p:nvPr/>
        </p:nvSpPr>
        <p:spPr>
          <a:xfrm>
            <a:off x="5934456" y="4617720"/>
            <a:ext cx="91440" cy="91440"/>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17336" y="4526280"/>
            <a:ext cx="4773168" cy="694944"/>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63746"/>
                </a:solidFill>
                <a:latin typeface="Arial"/>
              </a:rPr>
              <a:t>Compare FLT and GC one program at a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EXPIMAP SCORES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Program scores summarize pathway changes within one tissue</a:t>
            </a:r>
          </a:p>
        </p:txBody>
      </p:sp>
      <p:sp>
        <p:nvSpPr>
          <p:cNvPr id="6" name="Rectangle 5"/>
          <p:cNvSpPr/>
          <p:nvPr/>
        </p:nvSpPr>
        <p:spPr>
          <a:xfrm>
            <a:off x="429768" y="1865376"/>
            <a:ext cx="7360920" cy="4160520"/>
          </a:xfrm>
          <a:prstGeom prst="rect">
            <a:avLst/>
          </a:prstGeom>
          <a:solidFill>
            <a:srgbClr val="F7F9FA"/>
          </a:solidFill>
          <a:ln w="10160">
            <a:solidFill>
              <a:srgbClr val="DD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63240" y="2258568"/>
            <a:ext cx="1005840" cy="237744"/>
          </a:xfrm>
          <a:prstGeom prst="rect">
            <a:avLst/>
          </a:prstGeom>
          <a:noFill/>
        </p:spPr>
        <p:txBody>
          <a:bodyPr wrap="square" lIns="0" rIns="0" tIns="0" bIns="0" anchor="t">
            <a:spAutoFit/>
          </a:bodyPr>
          <a:lstStyle/>
          <a:p>
            <a:pPr algn="ctr">
              <a:lnSpc>
                <a:spcPct val="100000"/>
              </a:lnSpc>
              <a:spcBef>
                <a:spcPts val="0"/>
              </a:spcBef>
              <a:spcAft>
                <a:spcPts val="0"/>
              </a:spcAft>
            </a:pPr>
            <a:r>
              <a:rPr sz="980" b="1" i="0">
                <a:solidFill>
                  <a:srgbClr val="263746"/>
                </a:solidFill>
                <a:latin typeface="Arial"/>
              </a:rPr>
              <a:t>FLT score</a:t>
            </a:r>
          </a:p>
        </p:txBody>
      </p:sp>
      <p:sp>
        <p:nvSpPr>
          <p:cNvPr id="8" name="TextBox 7"/>
          <p:cNvSpPr txBox="1"/>
          <p:nvPr/>
        </p:nvSpPr>
        <p:spPr>
          <a:xfrm>
            <a:off x="4709160" y="2258568"/>
            <a:ext cx="1005840" cy="237744"/>
          </a:xfrm>
          <a:prstGeom prst="rect">
            <a:avLst/>
          </a:prstGeom>
          <a:noFill/>
        </p:spPr>
        <p:txBody>
          <a:bodyPr wrap="square" lIns="0" rIns="0" tIns="0" bIns="0" anchor="t">
            <a:spAutoFit/>
          </a:bodyPr>
          <a:lstStyle/>
          <a:p>
            <a:pPr algn="ctr">
              <a:lnSpc>
                <a:spcPct val="100000"/>
              </a:lnSpc>
              <a:spcBef>
                <a:spcPts val="0"/>
              </a:spcBef>
              <a:spcAft>
                <a:spcPts val="0"/>
              </a:spcAft>
            </a:pPr>
            <a:r>
              <a:rPr sz="980" b="1" i="0">
                <a:solidFill>
                  <a:srgbClr val="263746"/>
                </a:solidFill>
                <a:latin typeface="Arial"/>
              </a:rPr>
              <a:t>GC score</a:t>
            </a:r>
          </a:p>
        </p:txBody>
      </p:sp>
      <p:sp>
        <p:nvSpPr>
          <p:cNvPr id="9" name="TextBox 8"/>
          <p:cNvSpPr txBox="1"/>
          <p:nvPr/>
        </p:nvSpPr>
        <p:spPr>
          <a:xfrm>
            <a:off x="6355080" y="2258568"/>
            <a:ext cx="1005840" cy="237744"/>
          </a:xfrm>
          <a:prstGeom prst="rect">
            <a:avLst/>
          </a:prstGeom>
          <a:noFill/>
        </p:spPr>
        <p:txBody>
          <a:bodyPr wrap="square" lIns="0" rIns="0" tIns="0" bIns="0" anchor="t">
            <a:spAutoFit/>
          </a:bodyPr>
          <a:lstStyle/>
          <a:p>
            <a:pPr algn="ctr">
              <a:lnSpc>
                <a:spcPct val="100000"/>
              </a:lnSpc>
              <a:spcBef>
                <a:spcPts val="0"/>
              </a:spcBef>
              <a:spcAft>
                <a:spcPts val="0"/>
              </a:spcAft>
            </a:pPr>
            <a:r>
              <a:rPr sz="980" b="1" i="0">
                <a:solidFill>
                  <a:srgbClr val="263746"/>
                </a:solidFill>
                <a:latin typeface="Arial"/>
              </a:rPr>
              <a:t>FLT - GC</a:t>
            </a:r>
          </a:p>
        </p:txBody>
      </p:sp>
      <p:sp>
        <p:nvSpPr>
          <p:cNvPr id="10" name="TextBox 9"/>
          <p:cNvSpPr txBox="1"/>
          <p:nvPr/>
        </p:nvSpPr>
        <p:spPr>
          <a:xfrm>
            <a:off x="4261104" y="2258568"/>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8A969E"/>
                </a:solidFill>
                <a:latin typeface="Arial"/>
              </a:rPr>
              <a:t>-</a:t>
            </a:r>
          </a:p>
        </p:txBody>
      </p:sp>
      <p:sp>
        <p:nvSpPr>
          <p:cNvPr id="11" name="TextBox 10"/>
          <p:cNvSpPr txBox="1"/>
          <p:nvPr/>
        </p:nvSpPr>
        <p:spPr>
          <a:xfrm>
            <a:off x="5907024" y="2258568"/>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8A969E"/>
                </a:solidFill>
                <a:latin typeface="Arial"/>
              </a:rPr>
              <a:t>=</a:t>
            </a:r>
          </a:p>
        </p:txBody>
      </p:sp>
      <p:sp>
        <p:nvSpPr>
          <p:cNvPr id="12" name="Rectangle 11"/>
          <p:cNvSpPr/>
          <p:nvPr/>
        </p:nvSpPr>
        <p:spPr>
          <a:xfrm>
            <a:off x="704088" y="2660903"/>
            <a:ext cx="54864" cy="43891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606040"/>
            <a:ext cx="1920240" cy="438912"/>
          </a:xfrm>
          <a:prstGeom prst="rect">
            <a:avLst/>
          </a:prstGeom>
          <a:noFill/>
        </p:spPr>
        <p:txBody>
          <a:bodyPr wrap="square" lIns="0" rIns="0" tIns="0" bIns="0" anchor="ctr">
            <a:spAutoFit/>
          </a:bodyPr>
          <a:lstStyle/>
          <a:p>
            <a:pPr algn="l">
              <a:lnSpc>
                <a:spcPct val="100000"/>
              </a:lnSpc>
              <a:spcBef>
                <a:spcPts val="0"/>
              </a:spcBef>
              <a:spcAft>
                <a:spcPts val="0"/>
              </a:spcAft>
            </a:pPr>
            <a:r>
              <a:rPr sz="1040" b="1" i="0">
                <a:solidFill>
                  <a:srgbClr val="263746"/>
                </a:solidFill>
                <a:latin typeface="Arial"/>
              </a:rPr>
              <a:t>Extracellular matrix</a:t>
            </a:r>
          </a:p>
        </p:txBody>
      </p:sp>
      <p:sp>
        <p:nvSpPr>
          <p:cNvPr id="14" name="Rectangle 13"/>
          <p:cNvSpPr/>
          <p:nvPr/>
        </p:nvSpPr>
        <p:spPr>
          <a:xfrm>
            <a:off x="3063240" y="2587752"/>
            <a:ext cx="1005840" cy="438912"/>
          </a:xfrm>
          <a:prstGeom prst="rect">
            <a:avLst/>
          </a:prstGeom>
          <a:solidFill>
            <a:srgbClr val="D1514C"/>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63240" y="2670048"/>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FFFFFF"/>
                </a:solidFill>
                <a:latin typeface="Arial"/>
              </a:rPr>
              <a:t>+0.47</a:t>
            </a:r>
          </a:p>
        </p:txBody>
      </p:sp>
      <p:sp>
        <p:nvSpPr>
          <p:cNvPr id="16" name="Rectangle 15"/>
          <p:cNvSpPr/>
          <p:nvPr/>
        </p:nvSpPr>
        <p:spPr>
          <a:xfrm>
            <a:off x="4709160" y="2587752"/>
            <a:ext cx="1005840" cy="438912"/>
          </a:xfrm>
          <a:prstGeom prst="rect">
            <a:avLst/>
          </a:prstGeom>
          <a:solidFill>
            <a:srgbClr val="F7E2E1"/>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2670048"/>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+0.08</a:t>
            </a:r>
          </a:p>
        </p:txBody>
      </p:sp>
      <p:sp>
        <p:nvSpPr>
          <p:cNvPr id="18" name="Rectangle 17"/>
          <p:cNvSpPr/>
          <p:nvPr/>
        </p:nvSpPr>
        <p:spPr>
          <a:xfrm>
            <a:off x="6355080" y="2587752"/>
            <a:ext cx="1005840" cy="438912"/>
          </a:xfrm>
          <a:prstGeom prst="rect">
            <a:avLst/>
          </a:prstGeom>
          <a:solidFill>
            <a:srgbClr val="D96F6B"/>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670048"/>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FFFFFF"/>
                </a:solidFill>
                <a:latin typeface="Arial"/>
              </a:rPr>
              <a:t>+0.39</a:t>
            </a:r>
          </a:p>
        </p:txBody>
      </p:sp>
      <p:sp>
        <p:nvSpPr>
          <p:cNvPr id="20" name="TextBox 19"/>
          <p:cNvSpPr txBox="1"/>
          <p:nvPr/>
        </p:nvSpPr>
        <p:spPr>
          <a:xfrm>
            <a:off x="4261104" y="2651760"/>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8A969E"/>
                </a:solidFill>
                <a:latin typeface="Arial"/>
              </a:rPr>
              <a:t>-</a:t>
            </a:r>
          </a:p>
        </p:txBody>
      </p:sp>
      <p:sp>
        <p:nvSpPr>
          <p:cNvPr id="21" name="TextBox 20"/>
          <p:cNvSpPr txBox="1"/>
          <p:nvPr/>
        </p:nvSpPr>
        <p:spPr>
          <a:xfrm>
            <a:off x="5907024" y="2651760"/>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8A969E"/>
                </a:solidFill>
                <a:latin typeface="Arial"/>
              </a:rPr>
              <a:t>=</a:t>
            </a:r>
          </a:p>
        </p:txBody>
      </p:sp>
      <p:sp>
        <p:nvSpPr>
          <p:cNvPr id="22" name="Rectangle 21"/>
          <p:cNvSpPr/>
          <p:nvPr/>
        </p:nvSpPr>
        <p:spPr>
          <a:xfrm>
            <a:off x="704088" y="3081527"/>
            <a:ext cx="6812280" cy="10972"/>
          </a:xfrm>
          <a:prstGeom prst="rect">
            <a:avLst/>
          </a:prstGeom>
          <a:solidFill>
            <a:srgbClr val="E1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04088" y="3236975"/>
            <a:ext cx="54864" cy="43891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3182112"/>
            <a:ext cx="1920240" cy="438912"/>
          </a:xfrm>
          <a:prstGeom prst="rect">
            <a:avLst/>
          </a:prstGeom>
          <a:noFill/>
        </p:spPr>
        <p:txBody>
          <a:bodyPr wrap="square" lIns="0" rIns="0" tIns="0" bIns="0" anchor="ctr">
            <a:spAutoFit/>
          </a:bodyPr>
          <a:lstStyle/>
          <a:p>
            <a:pPr algn="l">
              <a:lnSpc>
                <a:spcPct val="100000"/>
              </a:lnSpc>
              <a:spcBef>
                <a:spcPts val="0"/>
              </a:spcBef>
              <a:spcAft>
                <a:spcPts val="0"/>
              </a:spcAft>
            </a:pPr>
            <a:r>
              <a:rPr sz="1040" b="1" i="0">
                <a:solidFill>
                  <a:srgbClr val="263746"/>
                </a:solidFill>
                <a:latin typeface="Arial"/>
              </a:rPr>
              <a:t>Cell-cycle control</a:t>
            </a:r>
          </a:p>
        </p:txBody>
      </p:sp>
      <p:sp>
        <p:nvSpPr>
          <p:cNvPr id="25" name="Rectangle 24"/>
          <p:cNvSpPr/>
          <p:nvPr/>
        </p:nvSpPr>
        <p:spPr>
          <a:xfrm>
            <a:off x="3063240" y="3163824"/>
            <a:ext cx="1005840" cy="438912"/>
          </a:xfrm>
          <a:prstGeom prst="rect">
            <a:avLst/>
          </a:prstGeom>
          <a:solidFill>
            <a:srgbClr val="D66460"/>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63240" y="3246120"/>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FFFFFF"/>
                </a:solidFill>
                <a:latin typeface="Arial"/>
              </a:rPr>
              <a:t>+0.42</a:t>
            </a:r>
          </a:p>
        </p:txBody>
      </p:sp>
      <p:sp>
        <p:nvSpPr>
          <p:cNvPr id="27" name="Rectangle 26"/>
          <p:cNvSpPr/>
          <p:nvPr/>
        </p:nvSpPr>
        <p:spPr>
          <a:xfrm>
            <a:off x="4709160" y="3163824"/>
            <a:ext cx="1005840" cy="438912"/>
          </a:xfrm>
          <a:prstGeom prst="rect">
            <a:avLst/>
          </a:prstGeom>
          <a:solidFill>
            <a:srgbClr val="F5DAD9"/>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60" y="3246120"/>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+0.10</a:t>
            </a:r>
          </a:p>
        </p:txBody>
      </p:sp>
      <p:sp>
        <p:nvSpPr>
          <p:cNvPr id="29" name="Rectangle 28"/>
          <p:cNvSpPr/>
          <p:nvPr/>
        </p:nvSpPr>
        <p:spPr>
          <a:xfrm>
            <a:off x="6355080" y="3163824"/>
            <a:ext cx="1005840" cy="438912"/>
          </a:xfrm>
          <a:prstGeom prst="rect">
            <a:avLst/>
          </a:prstGeom>
          <a:solidFill>
            <a:srgbClr val="DF8885"/>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3246120"/>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+0.32</a:t>
            </a:r>
          </a:p>
        </p:txBody>
      </p:sp>
      <p:sp>
        <p:nvSpPr>
          <p:cNvPr id="31" name="TextBox 30"/>
          <p:cNvSpPr txBox="1"/>
          <p:nvPr/>
        </p:nvSpPr>
        <p:spPr>
          <a:xfrm>
            <a:off x="4261104" y="3227832"/>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8A969E"/>
                </a:solidFill>
                <a:latin typeface="Arial"/>
              </a:rPr>
              <a:t>-</a:t>
            </a:r>
          </a:p>
        </p:txBody>
      </p:sp>
      <p:sp>
        <p:nvSpPr>
          <p:cNvPr id="32" name="TextBox 31"/>
          <p:cNvSpPr txBox="1"/>
          <p:nvPr/>
        </p:nvSpPr>
        <p:spPr>
          <a:xfrm>
            <a:off x="5907024" y="3227832"/>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8A969E"/>
                </a:solidFill>
                <a:latin typeface="Arial"/>
              </a:rPr>
              <a:t>=</a:t>
            </a:r>
          </a:p>
        </p:txBody>
      </p:sp>
      <p:sp>
        <p:nvSpPr>
          <p:cNvPr id="33" name="Rectangle 32"/>
          <p:cNvSpPr/>
          <p:nvPr/>
        </p:nvSpPr>
        <p:spPr>
          <a:xfrm>
            <a:off x="704088" y="3657600"/>
            <a:ext cx="6812280" cy="10972"/>
          </a:xfrm>
          <a:prstGeom prst="rect">
            <a:avLst/>
          </a:prstGeom>
          <a:solidFill>
            <a:srgbClr val="E1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04088" y="3813048"/>
            <a:ext cx="54864" cy="43891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 y="3758184"/>
            <a:ext cx="1920240" cy="438912"/>
          </a:xfrm>
          <a:prstGeom prst="rect">
            <a:avLst/>
          </a:prstGeom>
          <a:noFill/>
        </p:spPr>
        <p:txBody>
          <a:bodyPr wrap="square" lIns="0" rIns="0" tIns="0" bIns="0" anchor="ctr">
            <a:spAutoFit/>
          </a:bodyPr>
          <a:lstStyle/>
          <a:p>
            <a:pPr algn="l">
              <a:lnSpc>
                <a:spcPct val="100000"/>
              </a:lnSpc>
              <a:spcBef>
                <a:spcPts val="0"/>
              </a:spcBef>
              <a:spcAft>
                <a:spcPts val="0"/>
              </a:spcAft>
            </a:pPr>
            <a:r>
              <a:rPr sz="1040" b="1" i="0">
                <a:solidFill>
                  <a:srgbClr val="263746"/>
                </a:solidFill>
                <a:latin typeface="Arial"/>
              </a:rPr>
              <a:t>Immune signaling</a:t>
            </a:r>
          </a:p>
        </p:txBody>
      </p:sp>
      <p:sp>
        <p:nvSpPr>
          <p:cNvPr id="36" name="Rectangle 35"/>
          <p:cNvSpPr/>
          <p:nvPr/>
        </p:nvSpPr>
        <p:spPr>
          <a:xfrm>
            <a:off x="3063240" y="3739896"/>
            <a:ext cx="1005840" cy="438912"/>
          </a:xfrm>
          <a:prstGeom prst="rect">
            <a:avLst/>
          </a:prstGeom>
          <a:solidFill>
            <a:srgbClr val="F0C8C7"/>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63240" y="3822191"/>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+0.15</a:t>
            </a:r>
          </a:p>
        </p:txBody>
      </p:sp>
      <p:sp>
        <p:nvSpPr>
          <p:cNvPr id="38" name="Rectangle 37"/>
          <p:cNvSpPr/>
          <p:nvPr/>
        </p:nvSpPr>
        <p:spPr>
          <a:xfrm>
            <a:off x="4709160" y="3739896"/>
            <a:ext cx="1005840" cy="438912"/>
          </a:xfrm>
          <a:prstGeom prst="rect">
            <a:avLst/>
          </a:prstGeom>
          <a:solidFill>
            <a:srgbClr val="F2CECD"/>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09160" y="3822191"/>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+0.13</a:t>
            </a:r>
          </a:p>
        </p:txBody>
      </p:sp>
      <p:sp>
        <p:nvSpPr>
          <p:cNvPr id="40" name="Rectangle 39"/>
          <p:cNvSpPr/>
          <p:nvPr/>
        </p:nvSpPr>
        <p:spPr>
          <a:xfrm>
            <a:off x="6355080" y="3739896"/>
            <a:ext cx="1005840" cy="438912"/>
          </a:xfrm>
          <a:prstGeom prst="rect">
            <a:avLst/>
          </a:prstGeom>
          <a:solidFill>
            <a:srgbClr val="FDF8F8"/>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822191"/>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+0.02</a:t>
            </a:r>
          </a:p>
        </p:txBody>
      </p:sp>
      <p:sp>
        <p:nvSpPr>
          <p:cNvPr id="42" name="TextBox 41"/>
          <p:cNvSpPr txBox="1"/>
          <p:nvPr/>
        </p:nvSpPr>
        <p:spPr>
          <a:xfrm>
            <a:off x="4261104" y="3803904"/>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8A969E"/>
                </a:solidFill>
                <a:latin typeface="Arial"/>
              </a:rPr>
              <a:t>-</a:t>
            </a:r>
          </a:p>
        </p:txBody>
      </p:sp>
      <p:sp>
        <p:nvSpPr>
          <p:cNvPr id="43" name="TextBox 42"/>
          <p:cNvSpPr txBox="1"/>
          <p:nvPr/>
        </p:nvSpPr>
        <p:spPr>
          <a:xfrm>
            <a:off x="5907024" y="3803904"/>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8A969E"/>
                </a:solidFill>
                <a:latin typeface="Arial"/>
              </a:rPr>
              <a:t>=</a:t>
            </a:r>
          </a:p>
        </p:txBody>
      </p:sp>
      <p:sp>
        <p:nvSpPr>
          <p:cNvPr id="44" name="Rectangle 43"/>
          <p:cNvSpPr/>
          <p:nvPr/>
        </p:nvSpPr>
        <p:spPr>
          <a:xfrm>
            <a:off x="704088" y="4233672"/>
            <a:ext cx="6812280" cy="10972"/>
          </a:xfrm>
          <a:prstGeom prst="rect">
            <a:avLst/>
          </a:prstGeom>
          <a:solidFill>
            <a:srgbClr val="E1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04088" y="4389120"/>
            <a:ext cx="54864" cy="43891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2688" y="4334256"/>
            <a:ext cx="1920240" cy="438912"/>
          </a:xfrm>
          <a:prstGeom prst="rect">
            <a:avLst/>
          </a:prstGeom>
          <a:noFill/>
        </p:spPr>
        <p:txBody>
          <a:bodyPr wrap="square" lIns="0" rIns="0" tIns="0" bIns="0" anchor="ctr">
            <a:spAutoFit/>
          </a:bodyPr>
          <a:lstStyle/>
          <a:p>
            <a:pPr algn="l">
              <a:lnSpc>
                <a:spcPct val="100000"/>
              </a:lnSpc>
              <a:spcBef>
                <a:spcPts val="0"/>
              </a:spcBef>
              <a:spcAft>
                <a:spcPts val="0"/>
              </a:spcAft>
            </a:pPr>
            <a:r>
              <a:rPr sz="1040" b="1" i="0">
                <a:solidFill>
                  <a:srgbClr val="263746"/>
                </a:solidFill>
                <a:latin typeface="Arial"/>
              </a:rPr>
              <a:t>Oxidative metabolism</a:t>
            </a:r>
          </a:p>
        </p:txBody>
      </p:sp>
      <p:sp>
        <p:nvSpPr>
          <p:cNvPr id="47" name="Rectangle 46"/>
          <p:cNvSpPr/>
          <p:nvPr/>
        </p:nvSpPr>
        <p:spPr>
          <a:xfrm>
            <a:off x="3063240" y="4315968"/>
            <a:ext cx="1005840" cy="438912"/>
          </a:xfrm>
          <a:prstGeom prst="rect">
            <a:avLst/>
          </a:prstGeom>
          <a:solidFill>
            <a:srgbClr val="E9EFF4"/>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63240" y="4398264"/>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-0.06</a:t>
            </a:r>
          </a:p>
        </p:txBody>
      </p:sp>
      <p:sp>
        <p:nvSpPr>
          <p:cNvPr id="49" name="Rectangle 48"/>
          <p:cNvSpPr/>
          <p:nvPr/>
        </p:nvSpPr>
        <p:spPr>
          <a:xfrm>
            <a:off x="4709160" y="4315968"/>
            <a:ext cx="1005840" cy="438912"/>
          </a:xfrm>
          <a:prstGeom prst="rect">
            <a:avLst/>
          </a:prstGeom>
          <a:solidFill>
            <a:srgbClr val="F4F7FA"/>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09160" y="4398264"/>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-0.03</a:t>
            </a:r>
          </a:p>
        </p:txBody>
      </p:sp>
      <p:sp>
        <p:nvSpPr>
          <p:cNvPr id="51" name="Rectangle 50"/>
          <p:cNvSpPr/>
          <p:nvPr/>
        </p:nvSpPr>
        <p:spPr>
          <a:xfrm>
            <a:off x="6355080" y="4315968"/>
            <a:ext cx="1005840" cy="438912"/>
          </a:xfrm>
          <a:prstGeom prst="rect">
            <a:avLst/>
          </a:prstGeom>
          <a:solidFill>
            <a:srgbClr val="F4F7FA"/>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55080" y="4398264"/>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-0.03</a:t>
            </a:r>
          </a:p>
        </p:txBody>
      </p:sp>
      <p:sp>
        <p:nvSpPr>
          <p:cNvPr id="53" name="TextBox 52"/>
          <p:cNvSpPr txBox="1"/>
          <p:nvPr/>
        </p:nvSpPr>
        <p:spPr>
          <a:xfrm>
            <a:off x="4261104" y="4379976"/>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8A969E"/>
                </a:solidFill>
                <a:latin typeface="Arial"/>
              </a:rPr>
              <a:t>-</a:t>
            </a:r>
          </a:p>
        </p:txBody>
      </p:sp>
      <p:sp>
        <p:nvSpPr>
          <p:cNvPr id="54" name="TextBox 53"/>
          <p:cNvSpPr txBox="1"/>
          <p:nvPr/>
        </p:nvSpPr>
        <p:spPr>
          <a:xfrm>
            <a:off x="5907024" y="4379976"/>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8A969E"/>
                </a:solidFill>
                <a:latin typeface="Arial"/>
              </a:rPr>
              <a:t>=</a:t>
            </a:r>
          </a:p>
        </p:txBody>
      </p:sp>
      <p:sp>
        <p:nvSpPr>
          <p:cNvPr id="55" name="Rectangle 54"/>
          <p:cNvSpPr/>
          <p:nvPr/>
        </p:nvSpPr>
        <p:spPr>
          <a:xfrm>
            <a:off x="704088" y="4809744"/>
            <a:ext cx="6812280" cy="10972"/>
          </a:xfrm>
          <a:prstGeom prst="rect">
            <a:avLst/>
          </a:prstGeom>
          <a:solidFill>
            <a:srgbClr val="E1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04088" y="4965192"/>
            <a:ext cx="54864" cy="43891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2688" y="4910328"/>
            <a:ext cx="1920240" cy="438912"/>
          </a:xfrm>
          <a:prstGeom prst="rect">
            <a:avLst/>
          </a:prstGeom>
          <a:noFill/>
        </p:spPr>
        <p:txBody>
          <a:bodyPr wrap="square" lIns="0" rIns="0" tIns="0" bIns="0" anchor="ctr">
            <a:spAutoFit/>
          </a:bodyPr>
          <a:lstStyle/>
          <a:p>
            <a:pPr algn="l">
              <a:lnSpc>
                <a:spcPct val="100000"/>
              </a:lnSpc>
              <a:spcBef>
                <a:spcPts val="0"/>
              </a:spcBef>
              <a:spcAft>
                <a:spcPts val="0"/>
              </a:spcAft>
            </a:pPr>
            <a:r>
              <a:rPr sz="1040" b="1" i="0">
                <a:solidFill>
                  <a:srgbClr val="263746"/>
                </a:solidFill>
                <a:latin typeface="Arial"/>
              </a:rPr>
              <a:t>DNA repair</a:t>
            </a:r>
          </a:p>
        </p:txBody>
      </p:sp>
      <p:sp>
        <p:nvSpPr>
          <p:cNvPr id="58" name="Rectangle 57"/>
          <p:cNvSpPr/>
          <p:nvPr/>
        </p:nvSpPr>
        <p:spPr>
          <a:xfrm>
            <a:off x="3063240" y="4892040"/>
            <a:ext cx="1005840" cy="438912"/>
          </a:xfrm>
          <a:prstGeom prst="rect">
            <a:avLst/>
          </a:prstGeom>
          <a:solidFill>
            <a:srgbClr val="D8E2EC"/>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63240" y="4974336"/>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63746"/>
                </a:solidFill>
                <a:latin typeface="Arial"/>
              </a:rPr>
              <a:t>-0.10</a:t>
            </a:r>
          </a:p>
        </p:txBody>
      </p:sp>
      <p:sp>
        <p:nvSpPr>
          <p:cNvPr id="60" name="Rectangle 59"/>
          <p:cNvSpPr/>
          <p:nvPr/>
        </p:nvSpPr>
        <p:spPr>
          <a:xfrm>
            <a:off x="4709160" y="4892040"/>
            <a:ext cx="1005840" cy="438912"/>
          </a:xfrm>
          <a:prstGeom prst="rect">
            <a:avLst/>
          </a:prstGeom>
          <a:solidFill>
            <a:srgbClr val="DD807D"/>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09160" y="4974336"/>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FFFFFF"/>
                </a:solidFill>
                <a:latin typeface="Arial"/>
              </a:rPr>
              <a:t>+0.34</a:t>
            </a:r>
          </a:p>
        </p:txBody>
      </p:sp>
      <p:sp>
        <p:nvSpPr>
          <p:cNvPr id="62" name="Rectangle 61"/>
          <p:cNvSpPr/>
          <p:nvPr/>
        </p:nvSpPr>
        <p:spPr>
          <a:xfrm>
            <a:off x="6355080" y="4892040"/>
            <a:ext cx="1005840" cy="438912"/>
          </a:xfrm>
          <a:prstGeom prst="rect">
            <a:avLst/>
          </a:prstGeom>
          <a:solidFill>
            <a:srgbClr val="5682AB"/>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55080" y="4974336"/>
            <a:ext cx="1005840" cy="219456"/>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FFFFFF"/>
                </a:solidFill>
                <a:latin typeface="Arial"/>
              </a:rPr>
              <a:t>-0.44</a:t>
            </a:r>
          </a:p>
        </p:txBody>
      </p:sp>
      <p:sp>
        <p:nvSpPr>
          <p:cNvPr id="64" name="TextBox 63"/>
          <p:cNvSpPr txBox="1"/>
          <p:nvPr/>
        </p:nvSpPr>
        <p:spPr>
          <a:xfrm>
            <a:off x="4261104" y="4956048"/>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8A969E"/>
                </a:solidFill>
                <a:latin typeface="Arial"/>
              </a:rPr>
              <a:t>-</a:t>
            </a:r>
          </a:p>
        </p:txBody>
      </p:sp>
      <p:sp>
        <p:nvSpPr>
          <p:cNvPr id="65" name="TextBox 64"/>
          <p:cNvSpPr txBox="1"/>
          <p:nvPr/>
        </p:nvSpPr>
        <p:spPr>
          <a:xfrm>
            <a:off x="5907024" y="4956048"/>
            <a:ext cx="201168" cy="237744"/>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8A969E"/>
                </a:solidFill>
                <a:latin typeface="Arial"/>
              </a:rPr>
              <a:t>=</a:t>
            </a:r>
          </a:p>
        </p:txBody>
      </p:sp>
      <p:sp>
        <p:nvSpPr>
          <p:cNvPr id="66" name="Rectangle 65"/>
          <p:cNvSpPr/>
          <p:nvPr/>
        </p:nvSpPr>
        <p:spPr>
          <a:xfrm>
            <a:off x="1298448" y="5650992"/>
            <a:ext cx="228600" cy="164592"/>
          </a:xfrm>
          <a:prstGeom prst="rect">
            <a:avLst/>
          </a:prstGeom>
          <a:solidFill>
            <a:srgbClr val="2D6496"/>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81912" y="5623560"/>
            <a:ext cx="960120" cy="210312"/>
          </a:xfrm>
          <a:prstGeom prst="rect">
            <a:avLst/>
          </a:prstGeom>
          <a:noFill/>
        </p:spPr>
        <p:txBody>
          <a:bodyPr wrap="square" lIns="0" rIns="0" tIns="0" bIns="0" anchor="t">
            <a:spAutoFit/>
          </a:bodyPr>
          <a:lstStyle/>
          <a:p>
            <a:pPr algn="l">
              <a:lnSpc>
                <a:spcPct val="100000"/>
              </a:lnSpc>
              <a:spcBef>
                <a:spcPts val="0"/>
              </a:spcBef>
              <a:spcAft>
                <a:spcPts val="0"/>
              </a:spcAft>
            </a:pPr>
            <a:r>
              <a:rPr sz="880" b="0" i="0">
                <a:solidFill>
                  <a:srgbClr val="59697A"/>
                </a:solidFill>
                <a:latin typeface="Arial"/>
              </a:rPr>
              <a:t>lower</a:t>
            </a:r>
          </a:p>
        </p:txBody>
      </p:sp>
      <p:sp>
        <p:nvSpPr>
          <p:cNvPr id="68" name="Rectangle 67"/>
          <p:cNvSpPr/>
          <p:nvPr/>
        </p:nvSpPr>
        <p:spPr>
          <a:xfrm>
            <a:off x="3273552" y="5650992"/>
            <a:ext cx="228600" cy="164592"/>
          </a:xfrm>
          <a:prstGeom prst="rect">
            <a:avLst/>
          </a:prstGeom>
          <a:solidFill>
            <a:srgbClr val="FFFEFE"/>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57016" y="5623560"/>
            <a:ext cx="960120" cy="210312"/>
          </a:xfrm>
          <a:prstGeom prst="rect">
            <a:avLst/>
          </a:prstGeom>
          <a:noFill/>
        </p:spPr>
        <p:txBody>
          <a:bodyPr wrap="square" lIns="0" rIns="0" tIns="0" bIns="0" anchor="t">
            <a:spAutoFit/>
          </a:bodyPr>
          <a:lstStyle/>
          <a:p>
            <a:pPr algn="l">
              <a:lnSpc>
                <a:spcPct val="100000"/>
              </a:lnSpc>
              <a:spcBef>
                <a:spcPts val="0"/>
              </a:spcBef>
              <a:spcAft>
                <a:spcPts val="0"/>
              </a:spcAft>
            </a:pPr>
            <a:r>
              <a:rPr sz="880" b="0" i="0">
                <a:solidFill>
                  <a:srgbClr val="59697A"/>
                </a:solidFill>
                <a:latin typeface="Arial"/>
              </a:rPr>
              <a:t>little change</a:t>
            </a:r>
          </a:p>
        </p:txBody>
      </p:sp>
      <p:sp>
        <p:nvSpPr>
          <p:cNvPr id="70" name="Rectangle 69"/>
          <p:cNvSpPr/>
          <p:nvPr/>
        </p:nvSpPr>
        <p:spPr>
          <a:xfrm>
            <a:off x="5248656" y="5650992"/>
            <a:ext cx="228600" cy="164592"/>
          </a:xfrm>
          <a:prstGeom prst="rect">
            <a:avLst/>
          </a:prstGeom>
          <a:solidFill>
            <a:srgbClr val="C9342F"/>
          </a:solidFill>
          <a:ln w="7620">
            <a:solidFill>
              <a:srgbClr val="D5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532120" y="5623560"/>
            <a:ext cx="960120" cy="210312"/>
          </a:xfrm>
          <a:prstGeom prst="rect">
            <a:avLst/>
          </a:prstGeom>
          <a:noFill/>
        </p:spPr>
        <p:txBody>
          <a:bodyPr wrap="square" lIns="0" rIns="0" tIns="0" bIns="0" anchor="t">
            <a:spAutoFit/>
          </a:bodyPr>
          <a:lstStyle/>
          <a:p>
            <a:pPr algn="l">
              <a:lnSpc>
                <a:spcPct val="100000"/>
              </a:lnSpc>
              <a:spcBef>
                <a:spcPts val="0"/>
              </a:spcBef>
              <a:spcAft>
                <a:spcPts val="0"/>
              </a:spcAft>
            </a:pPr>
            <a:r>
              <a:rPr sz="880" b="0" i="0">
                <a:solidFill>
                  <a:srgbClr val="59697A"/>
                </a:solidFill>
                <a:latin typeface="Arial"/>
              </a:rPr>
              <a:t>higher</a:t>
            </a:r>
          </a:p>
        </p:txBody>
      </p:sp>
      <p:sp>
        <p:nvSpPr>
          <p:cNvPr id="72" name="Rectangle 71"/>
          <p:cNvSpPr/>
          <p:nvPr/>
        </p:nvSpPr>
        <p:spPr>
          <a:xfrm>
            <a:off x="8065008" y="1865376"/>
            <a:ext cx="3685032" cy="4160520"/>
          </a:xfrm>
          <a:prstGeom prst="rect">
            <a:avLst/>
          </a:prstGeom>
          <a:solidFill>
            <a:srgbClr val="F7F9FA"/>
          </a:solidFill>
          <a:ln w="10160">
            <a:solidFill>
              <a:srgbClr val="DD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339327" y="2039112"/>
            <a:ext cx="3127248" cy="228600"/>
          </a:xfrm>
          <a:prstGeom prst="rect">
            <a:avLst/>
          </a:prstGeom>
          <a:noFill/>
        </p:spPr>
        <p:txBody>
          <a:bodyPr wrap="square" lIns="0" rIns="0" tIns="0" bIns="0" anchor="t">
            <a:spAutoFit/>
          </a:bodyPr>
          <a:lstStyle/>
          <a:p>
            <a:pPr algn="ctr">
              <a:lnSpc>
                <a:spcPct val="100000"/>
              </a:lnSpc>
              <a:spcBef>
                <a:spcPts val="0"/>
              </a:spcBef>
              <a:spcAft>
                <a:spcPts val="0"/>
              </a:spcAft>
            </a:pPr>
            <a:r>
              <a:rPr sz="1019" b="1" i="0">
                <a:solidFill>
                  <a:srgbClr val="2D6496"/>
                </a:solidFill>
                <a:latin typeface="Arial"/>
              </a:rPr>
              <a:t>OUTPUT · PROGRAMS × SAMPLES</a:t>
            </a:r>
          </a:p>
        </p:txBody>
      </p:sp>
      <p:pic>
        <p:nvPicPr>
          <p:cNvPr id="74" name="Thymus expiMap output heatmap with Reactome programs as rows and samples as columns" descr="Thymus expiMap output heatmap with Reactome programs as rows and samples as columns"/>
          <p:cNvPicPr>
            <a:picLocks noChangeAspect="1"/>
          </p:cNvPicPr>
          <p:nvPr/>
        </p:nvPicPr>
        <p:blipFill>
          <a:blip r:embed="rId2"/>
          <a:stretch>
            <a:fillRect/>
          </a:stretch>
        </p:blipFill>
        <p:spPr>
          <a:xfrm>
            <a:off x="9274286" y="2286000"/>
            <a:ext cx="1257330" cy="3602736"/>
          </a:xfrm>
          <a:prstGeom prst="rect">
            <a:avLst/>
          </a:prstGeom>
        </p:spPr>
      </p:pic>
      <p:sp>
        <p:nvSpPr>
          <p:cNvPr id="75" name="TextBox 74"/>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Example values, ordered from higher to lower FLT - GC. Literature review appears next.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EXPIMAP INTERPRETATION</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Each program, reviewed against prior literature</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The pathway scores stay fixed; the pathway-name colors summarize the literature comparison.</a:t>
            </a:r>
          </a:p>
        </p:txBody>
      </p:sp>
      <p:sp>
        <p:nvSpPr>
          <p:cNvPr id="7" name="TextBox 6"/>
          <p:cNvSpPr txBox="1"/>
          <p:nvPr/>
        </p:nvSpPr>
        <p:spPr>
          <a:xfrm>
            <a:off x="438912" y="1810512"/>
            <a:ext cx="2057400" cy="219456"/>
          </a:xfrm>
          <a:prstGeom prst="rect">
            <a:avLst/>
          </a:prstGeom>
          <a:noFill/>
        </p:spPr>
        <p:txBody>
          <a:bodyPr wrap="square" lIns="0" rIns="0" tIns="0" bIns="0" anchor="t">
            <a:spAutoFit/>
          </a:bodyPr>
          <a:lstStyle/>
          <a:p>
            <a:pPr algn="l">
              <a:lnSpc>
                <a:spcPct val="100000"/>
              </a:lnSpc>
              <a:spcBef>
                <a:spcPts val="0"/>
              </a:spcBef>
              <a:spcAft>
                <a:spcPts val="0"/>
              </a:spcAft>
            </a:pPr>
            <a:r>
              <a:rPr sz="1030" b="1" i="0">
                <a:solidFill>
                  <a:srgbClr val="2D6496"/>
                </a:solidFill>
                <a:latin typeface="Arial"/>
              </a:rPr>
              <a:t>1  PATHWAY SCORES</a:t>
            </a:r>
          </a:p>
        </p:txBody>
      </p:sp>
      <p:pic>
        <p:nvPicPr>
          <p:cNvPr id="8" name="Thymus expiMap pathway score heatmap before literature annotation" descr="Thymus expiMap pathway score heatmap before literature annotation"/>
          <p:cNvPicPr>
            <a:picLocks noChangeAspect="1"/>
          </p:cNvPicPr>
          <p:nvPr/>
        </p:nvPicPr>
        <p:blipFill>
          <a:blip r:embed="rId2"/>
          <a:stretch>
            <a:fillRect/>
          </a:stretch>
        </p:blipFill>
        <p:spPr>
          <a:xfrm>
            <a:off x="379475" y="2039112"/>
            <a:ext cx="11356848" cy="1234440"/>
          </a:xfrm>
          <a:prstGeom prst="rect">
            <a:avLst/>
          </a:prstGeom>
        </p:spPr>
      </p:pic>
      <p:sp>
        <p:nvSpPr>
          <p:cNvPr id="9" name="TextBox 8"/>
          <p:cNvSpPr txBox="1"/>
          <p:nvPr/>
        </p:nvSpPr>
        <p:spPr>
          <a:xfrm>
            <a:off x="438912" y="3447288"/>
            <a:ext cx="2240280" cy="219456"/>
          </a:xfrm>
          <a:prstGeom prst="rect">
            <a:avLst/>
          </a:prstGeom>
          <a:noFill/>
        </p:spPr>
        <p:txBody>
          <a:bodyPr wrap="square" lIns="0" rIns="0" tIns="0" bIns="0" anchor="t">
            <a:spAutoFit/>
          </a:bodyPr>
          <a:lstStyle/>
          <a:p>
            <a:pPr algn="l">
              <a:lnSpc>
                <a:spcPct val="100000"/>
              </a:lnSpc>
              <a:spcBef>
                <a:spcPts val="0"/>
              </a:spcBef>
              <a:spcAft>
                <a:spcPts val="0"/>
              </a:spcAft>
            </a:pPr>
            <a:r>
              <a:rPr sz="1030" b="1" i="0">
                <a:solidFill>
                  <a:srgbClr val="178681"/>
                </a:solidFill>
                <a:latin typeface="Arial"/>
              </a:rPr>
              <a:t>2  LITERATURE LABELS</a:t>
            </a:r>
          </a:p>
        </p:txBody>
      </p:sp>
      <p:pic>
        <p:nvPicPr>
          <p:cNvPr id="10" name="The same thymus pathway score heatmap with literature-colored pathway names" descr="The same thymus pathway score heatmap with literature-colored pathway names"/>
          <p:cNvPicPr>
            <a:picLocks noChangeAspect="1"/>
          </p:cNvPicPr>
          <p:nvPr/>
        </p:nvPicPr>
        <p:blipFill>
          <a:blip r:embed="rId3"/>
          <a:stretch>
            <a:fillRect/>
          </a:stretch>
        </p:blipFill>
        <p:spPr>
          <a:xfrm>
            <a:off x="379475" y="3675887"/>
            <a:ext cx="11356848" cy="1234440"/>
          </a:xfrm>
          <a:prstGeom prst="rect">
            <a:avLst/>
          </a:prstGeom>
        </p:spPr>
      </p:pic>
      <p:sp>
        <p:nvSpPr>
          <p:cNvPr id="11" name="Rectangle 10"/>
          <p:cNvSpPr/>
          <p:nvPr/>
        </p:nvSpPr>
        <p:spPr>
          <a:xfrm>
            <a:off x="941832" y="5239512"/>
            <a:ext cx="228600" cy="182880"/>
          </a:xfrm>
          <a:prstGeom prst="rect">
            <a:avLst/>
          </a:prstGeom>
          <a:solidFill>
            <a:srgbClr val="34A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61872" y="5202936"/>
            <a:ext cx="1618488" cy="256032"/>
          </a:xfrm>
          <a:prstGeom prst="rect">
            <a:avLst/>
          </a:prstGeom>
          <a:noFill/>
        </p:spPr>
        <p:txBody>
          <a:bodyPr wrap="square" lIns="0" rIns="0" tIns="0" bIns="0" anchor="t">
            <a:spAutoFit/>
          </a:bodyPr>
          <a:lstStyle/>
          <a:p>
            <a:pPr algn="l">
              <a:lnSpc>
                <a:spcPct val="100000"/>
              </a:lnSpc>
              <a:spcBef>
                <a:spcPts val="0"/>
              </a:spcBef>
              <a:spcAft>
                <a:spcPts val="0"/>
              </a:spcAft>
            </a:pPr>
            <a:r>
              <a:rPr sz="1030" b="1" i="0">
                <a:solidFill>
                  <a:srgbClr val="263746"/>
                </a:solidFill>
                <a:latin typeface="Arial"/>
              </a:rPr>
              <a:t>Aligned</a:t>
            </a:r>
          </a:p>
        </p:txBody>
      </p:sp>
      <p:sp>
        <p:nvSpPr>
          <p:cNvPr id="13" name="Rectangle 12"/>
          <p:cNvSpPr/>
          <p:nvPr/>
        </p:nvSpPr>
        <p:spPr>
          <a:xfrm>
            <a:off x="3026663" y="5239512"/>
            <a:ext cx="228600" cy="182880"/>
          </a:xfrm>
          <a:prstGeom prst="rect">
            <a:avLst/>
          </a:prstGeom>
          <a:solidFill>
            <a:srgbClr val="327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46703" y="5202936"/>
            <a:ext cx="1618488" cy="256032"/>
          </a:xfrm>
          <a:prstGeom prst="rect">
            <a:avLst/>
          </a:prstGeom>
          <a:noFill/>
        </p:spPr>
        <p:txBody>
          <a:bodyPr wrap="square" lIns="0" rIns="0" tIns="0" bIns="0" anchor="t">
            <a:spAutoFit/>
          </a:bodyPr>
          <a:lstStyle/>
          <a:p>
            <a:pPr algn="l">
              <a:lnSpc>
                <a:spcPct val="100000"/>
              </a:lnSpc>
              <a:spcBef>
                <a:spcPts val="0"/>
              </a:spcBef>
              <a:spcAft>
                <a:spcPts val="0"/>
              </a:spcAft>
            </a:pPr>
            <a:r>
              <a:rPr sz="1030" b="1" i="0">
                <a:solidFill>
                  <a:srgbClr val="263746"/>
                </a:solidFill>
                <a:latin typeface="Arial"/>
              </a:rPr>
              <a:t>Complementary</a:t>
            </a:r>
          </a:p>
        </p:txBody>
      </p:sp>
      <p:sp>
        <p:nvSpPr>
          <p:cNvPr id="15" name="Rectangle 14"/>
          <p:cNvSpPr/>
          <p:nvPr/>
        </p:nvSpPr>
        <p:spPr>
          <a:xfrm>
            <a:off x="5111496" y="5239512"/>
            <a:ext cx="228600" cy="182880"/>
          </a:xfrm>
          <a:prstGeom prst="rect">
            <a:avLst/>
          </a:prstGeom>
          <a:solidFill>
            <a:srgbClr val="E68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31536" y="5202936"/>
            <a:ext cx="1618488" cy="256032"/>
          </a:xfrm>
          <a:prstGeom prst="rect">
            <a:avLst/>
          </a:prstGeom>
          <a:noFill/>
        </p:spPr>
        <p:txBody>
          <a:bodyPr wrap="square" lIns="0" rIns="0" tIns="0" bIns="0" anchor="t">
            <a:spAutoFit/>
          </a:bodyPr>
          <a:lstStyle/>
          <a:p>
            <a:pPr algn="l">
              <a:lnSpc>
                <a:spcPct val="100000"/>
              </a:lnSpc>
              <a:spcBef>
                <a:spcPts val="0"/>
              </a:spcBef>
              <a:spcAft>
                <a:spcPts val="0"/>
              </a:spcAft>
            </a:pPr>
            <a:r>
              <a:rPr sz="1030" b="1" i="0">
                <a:solidFill>
                  <a:srgbClr val="263746"/>
                </a:solidFill>
                <a:latin typeface="Arial"/>
              </a:rPr>
              <a:t>Uncertain</a:t>
            </a:r>
          </a:p>
        </p:txBody>
      </p:sp>
      <p:sp>
        <p:nvSpPr>
          <p:cNvPr id="17" name="Rectangle 16"/>
          <p:cNvSpPr/>
          <p:nvPr/>
        </p:nvSpPr>
        <p:spPr>
          <a:xfrm>
            <a:off x="7196328" y="5239512"/>
            <a:ext cx="228600" cy="182880"/>
          </a:xfrm>
          <a:prstGeom prst="rect">
            <a:avLst/>
          </a:prstGeom>
          <a:solidFill>
            <a:srgbClr val="C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16368" y="5202936"/>
            <a:ext cx="1618488" cy="256032"/>
          </a:xfrm>
          <a:prstGeom prst="rect">
            <a:avLst/>
          </a:prstGeom>
          <a:noFill/>
        </p:spPr>
        <p:txBody>
          <a:bodyPr wrap="square" lIns="0" rIns="0" tIns="0" bIns="0" anchor="t">
            <a:spAutoFit/>
          </a:bodyPr>
          <a:lstStyle/>
          <a:p>
            <a:pPr algn="l">
              <a:lnSpc>
                <a:spcPct val="100000"/>
              </a:lnSpc>
              <a:spcBef>
                <a:spcPts val="0"/>
              </a:spcBef>
              <a:spcAft>
                <a:spcPts val="0"/>
              </a:spcAft>
            </a:pPr>
            <a:r>
              <a:rPr sz="1030" b="1" i="0">
                <a:solidFill>
                  <a:srgbClr val="263746"/>
                </a:solidFill>
                <a:latin typeface="Arial"/>
              </a:rPr>
              <a:t>Conflicting</a:t>
            </a:r>
          </a:p>
        </p:txBody>
      </p:sp>
      <p:sp>
        <p:nvSpPr>
          <p:cNvPr id="19" name="Rectangle 18"/>
          <p:cNvSpPr/>
          <p:nvPr/>
        </p:nvSpPr>
        <p:spPr>
          <a:xfrm>
            <a:off x="9281159" y="5239512"/>
            <a:ext cx="228600" cy="182880"/>
          </a:xfrm>
          <a:prstGeom prst="rect">
            <a:avLst/>
          </a:prstGeom>
          <a:solidFill>
            <a:srgbClr val="96A1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199" y="5202936"/>
            <a:ext cx="1618488" cy="256032"/>
          </a:xfrm>
          <a:prstGeom prst="rect">
            <a:avLst/>
          </a:prstGeom>
          <a:noFill/>
        </p:spPr>
        <p:txBody>
          <a:bodyPr wrap="square" lIns="0" rIns="0" tIns="0" bIns="0" anchor="t">
            <a:spAutoFit/>
          </a:bodyPr>
          <a:lstStyle/>
          <a:p>
            <a:pPr algn="l">
              <a:lnSpc>
                <a:spcPct val="100000"/>
              </a:lnSpc>
              <a:spcBef>
                <a:spcPts val="0"/>
              </a:spcBef>
              <a:spcAft>
                <a:spcPts val="0"/>
              </a:spcAft>
            </a:pPr>
            <a:r>
              <a:rPr sz="1030" b="1" i="0">
                <a:solidFill>
                  <a:srgbClr val="263746"/>
                </a:solidFill>
                <a:latin typeface="Arial"/>
              </a:rPr>
              <a:t>Low effect</a:t>
            </a:r>
          </a:p>
        </p:txBody>
      </p:sp>
      <p:sp>
        <p:nvSpPr>
          <p:cNvPr id="21" name="TextBox 20"/>
          <p:cNvSpPr txBox="1"/>
          <p:nvPr/>
        </p:nvSpPr>
        <p:spPr>
          <a:xfrm>
            <a:off x="932688" y="5669280"/>
            <a:ext cx="10332720" cy="274320"/>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59697A"/>
                </a:solidFill>
                <a:latin typeface="Arial"/>
              </a:rPr>
              <a:t>Name color records the literature assessment; heatmap color records the program score.</a:t>
            </a:r>
          </a:p>
        </p:txBody>
      </p:sp>
      <p:sp>
        <p:nvSpPr>
          <p:cNvPr id="22" name="TextBox 21"/>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Heatmaps reproduced from midpoint slides 11 and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EXPIMAP RESULTS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Five tissues showed recurring pathway patterns</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FLT and GC were compared within each study before the study-level changes were combined.</a:t>
            </a:r>
          </a:p>
        </p:txBody>
      </p:sp>
      <p:sp>
        <p:nvSpPr>
          <p:cNvPr id="7" name="Rectangle 6"/>
          <p:cNvSpPr/>
          <p:nvPr/>
        </p:nvSpPr>
        <p:spPr>
          <a:xfrm>
            <a:off x="438912" y="1828800"/>
            <a:ext cx="11320272" cy="731520"/>
          </a:xfrm>
          <a:prstGeom prst="rect">
            <a:avLst/>
          </a:prstGeom>
          <a:solidFill>
            <a:srgbClr val="F1EDF7"/>
          </a:solidFill>
          <a:ln w="10160">
            <a:solidFill>
              <a:srgbClr val="F1E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828800"/>
            <a:ext cx="68580" cy="731520"/>
          </a:xfrm>
          <a:prstGeom prst="rect">
            <a:avLst/>
          </a:prstGeom>
          <a:solidFill>
            <a:srgbClr val="806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929384"/>
            <a:ext cx="1298448" cy="256032"/>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8063A6"/>
                </a:solidFill>
                <a:latin typeface="Arial"/>
              </a:rPr>
              <a:t>Thymus</a:t>
            </a:r>
          </a:p>
        </p:txBody>
      </p:sp>
      <p:sp>
        <p:nvSpPr>
          <p:cNvPr id="10" name="TextBox 9"/>
          <p:cNvSpPr txBox="1"/>
          <p:nvPr/>
        </p:nvSpPr>
        <p:spPr>
          <a:xfrm>
            <a:off x="694944" y="2258568"/>
            <a:ext cx="1444752" cy="16459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59697A"/>
                </a:solidFill>
                <a:latin typeface="Arial"/>
              </a:rPr>
              <a:t>117 samples | 5 projects</a:t>
            </a:r>
          </a:p>
        </p:txBody>
      </p:sp>
      <p:sp>
        <p:nvSpPr>
          <p:cNvPr id="11" name="TextBox 10"/>
          <p:cNvSpPr txBox="1"/>
          <p:nvPr/>
        </p:nvSpPr>
        <p:spPr>
          <a:xfrm>
            <a:off x="2322576" y="1920240"/>
            <a:ext cx="1225296" cy="182880"/>
          </a:xfrm>
          <a:prstGeom prst="rect">
            <a:avLst/>
          </a:prstGeom>
          <a:noFill/>
        </p:spPr>
        <p:txBody>
          <a:bodyPr wrap="square" lIns="0" rIns="0" tIns="0" bIns="0" anchor="t">
            <a:spAutoFit/>
          </a:bodyPr>
          <a:lstStyle/>
          <a:p>
            <a:pPr algn="l">
              <a:lnSpc>
                <a:spcPct val="100000"/>
              </a:lnSpc>
              <a:spcBef>
                <a:spcPts val="0"/>
              </a:spcBef>
              <a:spcAft>
                <a:spcPts val="0"/>
              </a:spcAft>
            </a:pPr>
            <a:r>
              <a:rPr sz="860" b="1" i="0">
                <a:solidFill>
                  <a:srgbClr val="2D6496"/>
                </a:solidFill>
                <a:latin typeface="Arial"/>
              </a:rPr>
              <a:t>LOWER IN FLIGHT</a:t>
            </a:r>
          </a:p>
        </p:txBody>
      </p:sp>
      <p:sp>
        <p:nvSpPr>
          <p:cNvPr id="12" name="TextBox 11"/>
          <p:cNvSpPr txBox="1"/>
          <p:nvPr/>
        </p:nvSpPr>
        <p:spPr>
          <a:xfrm>
            <a:off x="2322576" y="2130552"/>
            <a:ext cx="3941063" cy="310896"/>
          </a:xfrm>
          <a:prstGeom prst="rect">
            <a:avLst/>
          </a:prstGeom>
          <a:noFill/>
        </p:spPr>
        <p:txBody>
          <a:bodyPr wrap="square" lIns="0" rIns="0" tIns="0" bIns="0" anchor="ctr">
            <a:spAutoFit/>
          </a:bodyPr>
          <a:lstStyle/>
          <a:p>
            <a:pPr algn="l">
              <a:lnSpc>
                <a:spcPct val="100000"/>
              </a:lnSpc>
              <a:spcBef>
                <a:spcPts val="0"/>
              </a:spcBef>
              <a:spcAft>
                <a:spcPts val="0"/>
              </a:spcAft>
            </a:pPr>
            <a:r>
              <a:rPr sz="1120" b="1" i="0">
                <a:solidFill>
                  <a:srgbClr val="263746"/>
                </a:solidFill>
                <a:latin typeface="Arial"/>
              </a:rPr>
              <a:t>DNA repair; RHOA cytoskeletal cycle; lymphoid-stromal interactions</a:t>
            </a:r>
          </a:p>
        </p:txBody>
      </p:sp>
      <p:sp>
        <p:nvSpPr>
          <p:cNvPr id="13" name="Rectangle 12"/>
          <p:cNvSpPr/>
          <p:nvPr/>
        </p:nvSpPr>
        <p:spPr>
          <a:xfrm>
            <a:off x="6419088" y="1920240"/>
            <a:ext cx="10972" cy="530352"/>
          </a:xfrm>
          <a:prstGeom prst="rect">
            <a:avLst/>
          </a:prstGeom>
          <a:solidFill>
            <a:srgbClr val="D3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920240"/>
            <a:ext cx="4736592" cy="530352"/>
          </a:xfrm>
          <a:prstGeom prst="rect">
            <a:avLst/>
          </a:prstGeom>
          <a:noFill/>
        </p:spPr>
        <p:txBody>
          <a:bodyPr wrap="square" lIns="0" rIns="0" tIns="0" bIns="0" anchor="ctr">
            <a:spAutoFit/>
          </a:bodyPr>
          <a:lstStyle/>
          <a:p>
            <a:pPr algn="l">
              <a:lnSpc>
                <a:spcPct val="100000"/>
              </a:lnSpc>
              <a:spcBef>
                <a:spcPts val="0"/>
              </a:spcBef>
              <a:spcAft>
                <a:spcPts val="0"/>
              </a:spcAft>
            </a:pPr>
            <a:r>
              <a:rPr sz="1170" b="0" i="0">
                <a:solidFill>
                  <a:srgbClr val="082B55"/>
                </a:solidFill>
                <a:latin typeface="Arial"/>
              </a:rPr>
              <a:t>Known involution may also involve lower repair, motility, and niche coordination.</a:t>
            </a:r>
          </a:p>
        </p:txBody>
      </p:sp>
      <p:sp>
        <p:nvSpPr>
          <p:cNvPr id="15" name="Rectangle 14"/>
          <p:cNvSpPr/>
          <p:nvPr/>
        </p:nvSpPr>
        <p:spPr>
          <a:xfrm>
            <a:off x="438912" y="2651760"/>
            <a:ext cx="11320272" cy="731520"/>
          </a:xfrm>
          <a:prstGeom prst="rect">
            <a:avLst/>
          </a:prstGeom>
          <a:solidFill>
            <a:srgbClr val="F8F1E2"/>
          </a:solidFill>
          <a:ln w="10160">
            <a:solidFill>
              <a:srgbClr val="F8F1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 y="2651760"/>
            <a:ext cx="68580" cy="731520"/>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752344"/>
            <a:ext cx="1298448" cy="256032"/>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D37B00"/>
                </a:solidFill>
                <a:latin typeface="Arial"/>
              </a:rPr>
              <a:t>Skin</a:t>
            </a:r>
          </a:p>
        </p:txBody>
      </p:sp>
      <p:sp>
        <p:nvSpPr>
          <p:cNvPr id="18" name="TextBox 17"/>
          <p:cNvSpPr txBox="1"/>
          <p:nvPr/>
        </p:nvSpPr>
        <p:spPr>
          <a:xfrm>
            <a:off x="694944" y="3081528"/>
            <a:ext cx="1444752" cy="16459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59697A"/>
                </a:solidFill>
                <a:latin typeface="Arial"/>
              </a:rPr>
              <a:t>151 samples | 4 projects</a:t>
            </a:r>
          </a:p>
        </p:txBody>
      </p:sp>
      <p:sp>
        <p:nvSpPr>
          <p:cNvPr id="19" name="TextBox 18"/>
          <p:cNvSpPr txBox="1"/>
          <p:nvPr/>
        </p:nvSpPr>
        <p:spPr>
          <a:xfrm>
            <a:off x="2322576" y="2743200"/>
            <a:ext cx="1225296" cy="182880"/>
          </a:xfrm>
          <a:prstGeom prst="rect">
            <a:avLst/>
          </a:prstGeom>
          <a:noFill/>
        </p:spPr>
        <p:txBody>
          <a:bodyPr wrap="square" lIns="0" rIns="0" tIns="0" bIns="0" anchor="t">
            <a:spAutoFit/>
          </a:bodyPr>
          <a:lstStyle/>
          <a:p>
            <a:pPr algn="l">
              <a:lnSpc>
                <a:spcPct val="100000"/>
              </a:lnSpc>
              <a:spcBef>
                <a:spcPts val="0"/>
              </a:spcBef>
              <a:spcAft>
                <a:spcPts val="0"/>
              </a:spcAft>
            </a:pPr>
            <a:r>
              <a:rPr sz="860" b="1" i="0">
                <a:solidFill>
                  <a:srgbClr val="2D6496"/>
                </a:solidFill>
                <a:latin typeface="Arial"/>
              </a:rPr>
              <a:t>LOWER IN FLIGHT</a:t>
            </a:r>
          </a:p>
        </p:txBody>
      </p:sp>
      <p:sp>
        <p:nvSpPr>
          <p:cNvPr id="20" name="TextBox 19"/>
          <p:cNvSpPr txBox="1"/>
          <p:nvPr/>
        </p:nvSpPr>
        <p:spPr>
          <a:xfrm>
            <a:off x="2322576" y="2953512"/>
            <a:ext cx="3941063" cy="310896"/>
          </a:xfrm>
          <a:prstGeom prst="rect">
            <a:avLst/>
          </a:prstGeom>
          <a:noFill/>
        </p:spPr>
        <p:txBody>
          <a:bodyPr wrap="square" lIns="0" rIns="0" tIns="0" bIns="0" anchor="ctr">
            <a:spAutoFit/>
          </a:bodyPr>
          <a:lstStyle/>
          <a:p>
            <a:pPr algn="l">
              <a:lnSpc>
                <a:spcPct val="100000"/>
              </a:lnSpc>
              <a:spcBef>
                <a:spcPts val="0"/>
              </a:spcBef>
              <a:spcAft>
                <a:spcPts val="0"/>
              </a:spcAft>
            </a:pPr>
            <a:r>
              <a:rPr sz="1120" b="1" i="0">
                <a:solidFill>
                  <a:srgbClr val="263746"/>
                </a:solidFill>
                <a:latin typeface="Arial"/>
              </a:rPr>
              <a:t>Chromatin regulation; DNA repair; Hedgehog; sphingolipids; cell junctions</a:t>
            </a:r>
          </a:p>
        </p:txBody>
      </p:sp>
      <p:sp>
        <p:nvSpPr>
          <p:cNvPr id="21" name="Rectangle 20"/>
          <p:cNvSpPr/>
          <p:nvPr/>
        </p:nvSpPr>
        <p:spPr>
          <a:xfrm>
            <a:off x="6419088" y="2743200"/>
            <a:ext cx="10972" cy="530352"/>
          </a:xfrm>
          <a:prstGeom prst="rect">
            <a:avLst/>
          </a:prstGeom>
          <a:solidFill>
            <a:srgbClr val="D3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2743200"/>
            <a:ext cx="4736592" cy="530352"/>
          </a:xfrm>
          <a:prstGeom prst="rect">
            <a:avLst/>
          </a:prstGeom>
          <a:noFill/>
        </p:spPr>
        <p:txBody>
          <a:bodyPr wrap="square" lIns="0" rIns="0" tIns="0" bIns="0" anchor="ctr">
            <a:spAutoFit/>
          </a:bodyPr>
          <a:lstStyle/>
          <a:p>
            <a:pPr algn="l">
              <a:lnSpc>
                <a:spcPct val="100000"/>
              </a:lnSpc>
              <a:spcBef>
                <a:spcPts val="0"/>
              </a:spcBef>
              <a:spcAft>
                <a:spcPts val="0"/>
              </a:spcAft>
            </a:pPr>
            <a:r>
              <a:rPr sz="1170" b="0" i="0">
                <a:solidFill>
                  <a:srgbClr val="082B55"/>
                </a:solidFill>
                <a:latin typeface="Arial"/>
              </a:rPr>
              <a:t>Barrier injury may include a broader loss of tissue maintenance and coordination.</a:t>
            </a:r>
          </a:p>
        </p:txBody>
      </p:sp>
      <p:sp>
        <p:nvSpPr>
          <p:cNvPr id="23" name="Rectangle 22"/>
          <p:cNvSpPr/>
          <p:nvPr/>
        </p:nvSpPr>
        <p:spPr>
          <a:xfrm>
            <a:off x="438912" y="3474720"/>
            <a:ext cx="11320272" cy="731520"/>
          </a:xfrm>
          <a:prstGeom prst="rect">
            <a:avLst/>
          </a:prstGeom>
          <a:solidFill>
            <a:srgbClr val="E8F3F1"/>
          </a:solidFill>
          <a:ln w="10160">
            <a:solidFill>
              <a:srgbClr val="E8F3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 y="3474720"/>
            <a:ext cx="68580" cy="73152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3575303"/>
            <a:ext cx="1298448" cy="256032"/>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178681"/>
                </a:solidFill>
                <a:latin typeface="Arial"/>
              </a:rPr>
              <a:t>Liver</a:t>
            </a:r>
          </a:p>
        </p:txBody>
      </p:sp>
      <p:sp>
        <p:nvSpPr>
          <p:cNvPr id="26" name="TextBox 25"/>
          <p:cNvSpPr txBox="1"/>
          <p:nvPr/>
        </p:nvSpPr>
        <p:spPr>
          <a:xfrm>
            <a:off x="694944" y="3904487"/>
            <a:ext cx="1444752" cy="16459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59697A"/>
                </a:solidFill>
                <a:latin typeface="Arial"/>
              </a:rPr>
              <a:t>197 samples | 9 projects</a:t>
            </a:r>
          </a:p>
        </p:txBody>
      </p:sp>
      <p:sp>
        <p:nvSpPr>
          <p:cNvPr id="27" name="TextBox 26"/>
          <p:cNvSpPr txBox="1"/>
          <p:nvPr/>
        </p:nvSpPr>
        <p:spPr>
          <a:xfrm>
            <a:off x="2322576" y="3566160"/>
            <a:ext cx="1225296" cy="182880"/>
          </a:xfrm>
          <a:prstGeom prst="rect">
            <a:avLst/>
          </a:prstGeom>
          <a:noFill/>
        </p:spPr>
        <p:txBody>
          <a:bodyPr wrap="square" lIns="0" rIns="0" tIns="0" bIns="0" anchor="t">
            <a:spAutoFit/>
          </a:bodyPr>
          <a:lstStyle/>
          <a:p>
            <a:pPr algn="l">
              <a:lnSpc>
                <a:spcPct val="100000"/>
              </a:lnSpc>
              <a:spcBef>
                <a:spcPts val="0"/>
              </a:spcBef>
              <a:spcAft>
                <a:spcPts val="0"/>
              </a:spcAft>
            </a:pPr>
            <a:r>
              <a:rPr sz="860" b="1" i="0">
                <a:solidFill>
                  <a:srgbClr val="2D6496"/>
                </a:solidFill>
                <a:latin typeface="Arial"/>
              </a:rPr>
              <a:t>LOWER IN FLIGHT</a:t>
            </a:r>
          </a:p>
        </p:txBody>
      </p:sp>
      <p:sp>
        <p:nvSpPr>
          <p:cNvPr id="28" name="TextBox 27"/>
          <p:cNvSpPr txBox="1"/>
          <p:nvPr/>
        </p:nvSpPr>
        <p:spPr>
          <a:xfrm>
            <a:off x="2322576" y="3776472"/>
            <a:ext cx="3941063" cy="310896"/>
          </a:xfrm>
          <a:prstGeom prst="rect">
            <a:avLst/>
          </a:prstGeom>
          <a:noFill/>
        </p:spPr>
        <p:txBody>
          <a:bodyPr wrap="square" lIns="0" rIns="0" tIns="0" bIns="0" anchor="ctr">
            <a:spAutoFit/>
          </a:bodyPr>
          <a:lstStyle/>
          <a:p>
            <a:pPr algn="l">
              <a:lnSpc>
                <a:spcPct val="100000"/>
              </a:lnSpc>
              <a:spcBef>
                <a:spcPts val="0"/>
              </a:spcBef>
              <a:spcAft>
                <a:spcPts val="0"/>
              </a:spcAft>
            </a:pPr>
            <a:r>
              <a:rPr sz="1120" b="1" i="0">
                <a:solidFill>
                  <a:srgbClr val="263746"/>
                </a:solidFill>
                <a:latin typeface="Arial"/>
              </a:rPr>
              <a:t>MHC class II antigen presentation; T-cell receptor signaling</a:t>
            </a:r>
          </a:p>
        </p:txBody>
      </p:sp>
      <p:sp>
        <p:nvSpPr>
          <p:cNvPr id="29" name="Rectangle 28"/>
          <p:cNvSpPr/>
          <p:nvPr/>
        </p:nvSpPr>
        <p:spPr>
          <a:xfrm>
            <a:off x="6419088" y="3566160"/>
            <a:ext cx="10972" cy="530352"/>
          </a:xfrm>
          <a:prstGeom prst="rect">
            <a:avLst/>
          </a:prstGeom>
          <a:solidFill>
            <a:srgbClr val="D3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3566160"/>
            <a:ext cx="4736592" cy="530352"/>
          </a:xfrm>
          <a:prstGeom prst="rect">
            <a:avLst/>
          </a:prstGeom>
          <a:noFill/>
        </p:spPr>
        <p:txBody>
          <a:bodyPr wrap="square" lIns="0" rIns="0" tIns="0" bIns="0" anchor="ctr">
            <a:spAutoFit/>
          </a:bodyPr>
          <a:lstStyle/>
          <a:p>
            <a:pPr algn="l">
              <a:lnSpc>
                <a:spcPct val="100000"/>
              </a:lnSpc>
              <a:spcBef>
                <a:spcPts val="0"/>
              </a:spcBef>
              <a:spcAft>
                <a:spcPts val="0"/>
              </a:spcAft>
            </a:pPr>
            <a:r>
              <a:rPr sz="1170" b="0" i="0">
                <a:solidFill>
                  <a:srgbClr val="082B55"/>
                </a:solidFill>
                <a:latin typeface="Arial"/>
              </a:rPr>
              <a:t>Metabolic heterogeneity coexisted with lower adaptive immune communication.</a:t>
            </a:r>
          </a:p>
        </p:txBody>
      </p:sp>
      <p:sp>
        <p:nvSpPr>
          <p:cNvPr id="31" name="Rectangle 30"/>
          <p:cNvSpPr/>
          <p:nvPr/>
        </p:nvSpPr>
        <p:spPr>
          <a:xfrm>
            <a:off x="438912" y="4297680"/>
            <a:ext cx="11320272" cy="731520"/>
          </a:xfrm>
          <a:prstGeom prst="rect">
            <a:avLst/>
          </a:prstGeom>
          <a:solidFill>
            <a:srgbClr val="F8ECE9"/>
          </a:solidFill>
          <a:ln w="10160">
            <a:solidFill>
              <a:srgbClr val="F8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8912" y="4297680"/>
            <a:ext cx="68580" cy="731520"/>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 y="4398264"/>
            <a:ext cx="1298448" cy="256032"/>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D96552"/>
                </a:solidFill>
                <a:latin typeface="Arial"/>
              </a:rPr>
              <a:t>Spleen</a:t>
            </a:r>
          </a:p>
        </p:txBody>
      </p:sp>
      <p:sp>
        <p:nvSpPr>
          <p:cNvPr id="34" name="TextBox 33"/>
          <p:cNvSpPr txBox="1"/>
          <p:nvPr/>
        </p:nvSpPr>
        <p:spPr>
          <a:xfrm>
            <a:off x="694944" y="4727448"/>
            <a:ext cx="1444752" cy="16459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59697A"/>
                </a:solidFill>
                <a:latin typeface="Arial"/>
              </a:rPr>
              <a:t>100 samples | 5 projects</a:t>
            </a:r>
          </a:p>
        </p:txBody>
      </p:sp>
      <p:sp>
        <p:nvSpPr>
          <p:cNvPr id="35" name="TextBox 34"/>
          <p:cNvSpPr txBox="1"/>
          <p:nvPr/>
        </p:nvSpPr>
        <p:spPr>
          <a:xfrm>
            <a:off x="2322576" y="4389120"/>
            <a:ext cx="1225296" cy="182880"/>
          </a:xfrm>
          <a:prstGeom prst="rect">
            <a:avLst/>
          </a:prstGeom>
          <a:noFill/>
        </p:spPr>
        <p:txBody>
          <a:bodyPr wrap="square" lIns="0" rIns="0" tIns="0" bIns="0" anchor="t">
            <a:spAutoFit/>
          </a:bodyPr>
          <a:lstStyle/>
          <a:p>
            <a:pPr algn="l">
              <a:lnSpc>
                <a:spcPct val="100000"/>
              </a:lnSpc>
              <a:spcBef>
                <a:spcPts val="0"/>
              </a:spcBef>
              <a:spcAft>
                <a:spcPts val="0"/>
              </a:spcAft>
            </a:pPr>
            <a:r>
              <a:rPr sz="860" b="1" i="0">
                <a:solidFill>
                  <a:srgbClr val="2D6496"/>
                </a:solidFill>
                <a:latin typeface="Arial"/>
              </a:rPr>
              <a:t>LOWER IN FLIGHT</a:t>
            </a:r>
          </a:p>
        </p:txBody>
      </p:sp>
      <p:sp>
        <p:nvSpPr>
          <p:cNvPr id="36" name="TextBox 35"/>
          <p:cNvSpPr txBox="1"/>
          <p:nvPr/>
        </p:nvSpPr>
        <p:spPr>
          <a:xfrm>
            <a:off x="2322576" y="4599432"/>
            <a:ext cx="3941063" cy="310896"/>
          </a:xfrm>
          <a:prstGeom prst="rect">
            <a:avLst/>
          </a:prstGeom>
          <a:noFill/>
        </p:spPr>
        <p:txBody>
          <a:bodyPr wrap="square" lIns="0" rIns="0" tIns="0" bIns="0" anchor="ctr">
            <a:spAutoFit/>
          </a:bodyPr>
          <a:lstStyle/>
          <a:p>
            <a:pPr algn="l">
              <a:lnSpc>
                <a:spcPct val="100000"/>
              </a:lnSpc>
              <a:spcBef>
                <a:spcPts val="0"/>
              </a:spcBef>
              <a:spcAft>
                <a:spcPts val="0"/>
              </a:spcAft>
            </a:pPr>
            <a:r>
              <a:rPr sz="1120" b="1" i="0">
                <a:solidFill>
                  <a:srgbClr val="263746"/>
                </a:solidFill>
                <a:latin typeface="Arial"/>
              </a:rPr>
              <a:t>T-cell receptor signaling; neutrophil degranulation; C-type lectin signaling</a:t>
            </a:r>
          </a:p>
        </p:txBody>
      </p:sp>
      <p:sp>
        <p:nvSpPr>
          <p:cNvPr id="37" name="Rectangle 36"/>
          <p:cNvSpPr/>
          <p:nvPr/>
        </p:nvSpPr>
        <p:spPr>
          <a:xfrm>
            <a:off x="6419088" y="4389120"/>
            <a:ext cx="10972" cy="530352"/>
          </a:xfrm>
          <a:prstGeom prst="rect">
            <a:avLst/>
          </a:prstGeom>
          <a:solidFill>
            <a:srgbClr val="D3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0" y="4389120"/>
            <a:ext cx="4736592" cy="530352"/>
          </a:xfrm>
          <a:prstGeom prst="rect">
            <a:avLst/>
          </a:prstGeom>
          <a:noFill/>
        </p:spPr>
        <p:txBody>
          <a:bodyPr wrap="square" lIns="0" rIns="0" tIns="0" bIns="0" anchor="ctr">
            <a:spAutoFit/>
          </a:bodyPr>
          <a:lstStyle/>
          <a:p>
            <a:pPr algn="l">
              <a:lnSpc>
                <a:spcPct val="100000"/>
              </a:lnSpc>
              <a:spcBef>
                <a:spcPts val="0"/>
              </a:spcBef>
              <a:spcAft>
                <a:spcPts val="0"/>
              </a:spcAft>
            </a:pPr>
            <a:r>
              <a:rPr sz="1170" b="0" i="0">
                <a:solidFill>
                  <a:srgbClr val="082B55"/>
                </a:solidFill>
                <a:latin typeface="Arial"/>
              </a:rPr>
              <a:t>The most consistent multi-pathway result joined adaptive and innate immune changes.</a:t>
            </a:r>
          </a:p>
        </p:txBody>
      </p:sp>
      <p:sp>
        <p:nvSpPr>
          <p:cNvPr id="39" name="Rectangle 38"/>
          <p:cNvSpPr/>
          <p:nvPr/>
        </p:nvSpPr>
        <p:spPr>
          <a:xfrm>
            <a:off x="438912" y="5120640"/>
            <a:ext cx="11320272" cy="731520"/>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8912" y="5120640"/>
            <a:ext cx="68580" cy="73152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944" y="5221224"/>
            <a:ext cx="1298448" cy="256032"/>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2D6496"/>
                </a:solidFill>
                <a:latin typeface="Arial"/>
              </a:rPr>
              <a:t>Kidney</a:t>
            </a:r>
          </a:p>
        </p:txBody>
      </p:sp>
      <p:sp>
        <p:nvSpPr>
          <p:cNvPr id="42" name="TextBox 41"/>
          <p:cNvSpPr txBox="1"/>
          <p:nvPr/>
        </p:nvSpPr>
        <p:spPr>
          <a:xfrm>
            <a:off x="694944" y="5550407"/>
            <a:ext cx="1444752" cy="164592"/>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59697A"/>
                </a:solidFill>
                <a:latin typeface="Arial"/>
              </a:rPr>
              <a:t>135 samples | 6 projects</a:t>
            </a:r>
          </a:p>
        </p:txBody>
      </p:sp>
      <p:sp>
        <p:nvSpPr>
          <p:cNvPr id="43" name="TextBox 42"/>
          <p:cNvSpPr txBox="1"/>
          <p:nvPr/>
        </p:nvSpPr>
        <p:spPr>
          <a:xfrm>
            <a:off x="2322576" y="5212079"/>
            <a:ext cx="1225296" cy="182880"/>
          </a:xfrm>
          <a:prstGeom prst="rect">
            <a:avLst/>
          </a:prstGeom>
          <a:noFill/>
        </p:spPr>
        <p:txBody>
          <a:bodyPr wrap="square" lIns="0" rIns="0" tIns="0" bIns="0" anchor="t">
            <a:spAutoFit/>
          </a:bodyPr>
          <a:lstStyle/>
          <a:p>
            <a:pPr algn="l">
              <a:lnSpc>
                <a:spcPct val="100000"/>
              </a:lnSpc>
              <a:spcBef>
                <a:spcPts val="0"/>
              </a:spcBef>
              <a:spcAft>
                <a:spcPts val="0"/>
              </a:spcAft>
            </a:pPr>
            <a:r>
              <a:rPr sz="860" b="1" i="0">
                <a:solidFill>
                  <a:srgbClr val="D96552"/>
                </a:solidFill>
                <a:latin typeface="Arial"/>
              </a:rPr>
              <a:t>HIGHER IN FLIGHT</a:t>
            </a:r>
          </a:p>
        </p:txBody>
      </p:sp>
      <p:sp>
        <p:nvSpPr>
          <p:cNvPr id="44" name="TextBox 43"/>
          <p:cNvSpPr txBox="1"/>
          <p:nvPr/>
        </p:nvSpPr>
        <p:spPr>
          <a:xfrm>
            <a:off x="2322576" y="5422392"/>
            <a:ext cx="3941063" cy="310896"/>
          </a:xfrm>
          <a:prstGeom prst="rect">
            <a:avLst/>
          </a:prstGeom>
          <a:noFill/>
        </p:spPr>
        <p:txBody>
          <a:bodyPr wrap="square" lIns="0" rIns="0" tIns="0" bIns="0" anchor="ctr">
            <a:spAutoFit/>
          </a:bodyPr>
          <a:lstStyle/>
          <a:p>
            <a:pPr algn="l">
              <a:lnSpc>
                <a:spcPct val="100000"/>
              </a:lnSpc>
              <a:spcBef>
                <a:spcPts val="0"/>
              </a:spcBef>
              <a:spcAft>
                <a:spcPts val="0"/>
              </a:spcAft>
            </a:pPr>
            <a:r>
              <a:rPr sz="1120" b="1" i="0">
                <a:solidFill>
                  <a:srgbClr val="263746"/>
                </a:solidFill>
                <a:latin typeface="Arial"/>
              </a:rPr>
              <a:t>ECM proteoglycans; WNT signaling; IGF transport and uptake</a:t>
            </a:r>
          </a:p>
        </p:txBody>
      </p:sp>
      <p:sp>
        <p:nvSpPr>
          <p:cNvPr id="45" name="Rectangle 44"/>
          <p:cNvSpPr/>
          <p:nvPr/>
        </p:nvSpPr>
        <p:spPr>
          <a:xfrm>
            <a:off x="6419088" y="5212079"/>
            <a:ext cx="10972" cy="530352"/>
          </a:xfrm>
          <a:prstGeom prst="rect">
            <a:avLst/>
          </a:prstGeom>
          <a:solidFill>
            <a:srgbClr val="D3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75120" y="5212079"/>
            <a:ext cx="4736592" cy="530352"/>
          </a:xfrm>
          <a:prstGeom prst="rect">
            <a:avLst/>
          </a:prstGeom>
          <a:noFill/>
        </p:spPr>
        <p:txBody>
          <a:bodyPr wrap="square" lIns="0" rIns="0" tIns="0" bIns="0" anchor="ctr">
            <a:spAutoFit/>
          </a:bodyPr>
          <a:lstStyle/>
          <a:p>
            <a:pPr algn="l">
              <a:lnSpc>
                <a:spcPct val="100000"/>
              </a:lnSpc>
              <a:spcBef>
                <a:spcPts val="0"/>
              </a:spcBef>
              <a:spcAft>
                <a:spcPts val="0"/>
              </a:spcAft>
            </a:pPr>
            <a:r>
              <a:rPr sz="1170" b="0" i="0">
                <a:solidFill>
                  <a:srgbClr val="082B55"/>
                </a:solidFill>
                <a:latin typeface="Arial"/>
              </a:rPr>
              <a:t>Matrix and growth-factor programs rose together, suggesting a renal remodeling response.</a:t>
            </a:r>
          </a:p>
        </p:txBody>
      </p:sp>
      <p:sp>
        <p:nvSpPr>
          <p:cNvPr id="47" name="TextBox 46"/>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Source: expiMap manuscript Figures 3, 4, and 6. Program-score direction does not by itself prove biochemical activation or inhibition.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BACKGROUND</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What is synthetic transcriptomics?</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A generator learns patterns in measured RNA-seq data, then samples new expression vectors under chosen conditions.</a:t>
            </a:r>
          </a:p>
        </p:txBody>
      </p:sp>
      <p:sp>
        <p:nvSpPr>
          <p:cNvPr id="7" name="TextBox 6"/>
          <p:cNvSpPr txBox="1"/>
          <p:nvPr/>
        </p:nvSpPr>
        <p:spPr>
          <a:xfrm>
            <a:off x="457200" y="1920240"/>
            <a:ext cx="384048" cy="22860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2D6496"/>
                </a:solidFill>
                <a:latin typeface="Arial"/>
              </a:rPr>
              <a:t>01</a:t>
            </a:r>
          </a:p>
        </p:txBody>
      </p:sp>
      <p:sp>
        <p:nvSpPr>
          <p:cNvPr id="8" name="TextBox 7"/>
          <p:cNvSpPr txBox="1"/>
          <p:nvPr/>
        </p:nvSpPr>
        <p:spPr>
          <a:xfrm>
            <a:off x="914400" y="1865376"/>
            <a:ext cx="2816352" cy="347472"/>
          </a:xfrm>
          <a:prstGeom prst="rect">
            <a:avLst/>
          </a:prstGeom>
          <a:noFill/>
        </p:spPr>
        <p:txBody>
          <a:bodyPr wrap="square" lIns="0" rIns="0" tIns="0" bIns="0" anchor="t">
            <a:spAutoFit/>
          </a:bodyPr>
          <a:lstStyle/>
          <a:p>
            <a:pPr algn="l">
              <a:lnSpc>
                <a:spcPct val="100000"/>
              </a:lnSpc>
              <a:spcBef>
                <a:spcPts val="0"/>
              </a:spcBef>
              <a:spcAft>
                <a:spcPts val="0"/>
              </a:spcAft>
            </a:pPr>
            <a:r>
              <a:rPr sz="1720" b="1" i="0">
                <a:solidFill>
                  <a:srgbClr val="082B55"/>
                </a:solidFill>
                <a:latin typeface="Arial"/>
              </a:rPr>
              <a:t>Observed profiles</a:t>
            </a:r>
          </a:p>
        </p:txBody>
      </p:sp>
      <p:sp>
        <p:nvSpPr>
          <p:cNvPr id="9" name="Rectangle 8"/>
          <p:cNvSpPr/>
          <p:nvPr/>
        </p:nvSpPr>
        <p:spPr>
          <a:xfrm>
            <a:off x="457200" y="2359152"/>
            <a:ext cx="3273552" cy="340156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 y="2770632"/>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52144" y="2770632"/>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17904" y="2770632"/>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83664" y="2770632"/>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49424" y="2770632"/>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5184" y="2770632"/>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 y="3054096"/>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52144" y="3054096"/>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17904" y="3054096"/>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83664" y="3054096"/>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49424" y="3054096"/>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15184" y="3054096"/>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86384" y="3337560"/>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52144" y="3337560"/>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517904" y="3337560"/>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83664" y="3337560"/>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49424" y="3337560"/>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615184" y="3337560"/>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6384" y="3621024"/>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52144" y="3621024"/>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517904" y="3621024"/>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83664" y="3621024"/>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249424" y="3621024"/>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615184" y="3621024"/>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86384" y="3904487"/>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52144" y="3904487"/>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517904" y="3904487"/>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83664" y="3904487"/>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249424" y="3904487"/>
            <a:ext cx="265176" cy="182880"/>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615184" y="3904487"/>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6384" y="4315968"/>
            <a:ext cx="2093976" cy="182880"/>
          </a:xfrm>
          <a:prstGeom prst="rect">
            <a:avLst/>
          </a:prstGeom>
          <a:noFill/>
        </p:spPr>
        <p:txBody>
          <a:bodyPr wrap="square" lIns="0" rIns="0" tIns="0" bIns="0" anchor="t">
            <a:spAutoFit/>
          </a:bodyPr>
          <a:lstStyle/>
          <a:p>
            <a:pPr algn="ctr">
              <a:lnSpc>
                <a:spcPct val="100000"/>
              </a:lnSpc>
              <a:spcBef>
                <a:spcPts val="0"/>
              </a:spcBef>
              <a:spcAft>
                <a:spcPts val="0"/>
              </a:spcAft>
            </a:pPr>
            <a:r>
              <a:rPr sz="950" b="0" i="0">
                <a:solidFill>
                  <a:srgbClr val="59697A"/>
                </a:solidFill>
                <a:latin typeface="Arial"/>
              </a:rPr>
              <a:t>genes</a:t>
            </a:r>
          </a:p>
        </p:txBody>
      </p:sp>
      <p:sp>
        <p:nvSpPr>
          <p:cNvPr id="41" name="TextBox 40"/>
          <p:cNvSpPr txBox="1"/>
          <p:nvPr/>
        </p:nvSpPr>
        <p:spPr>
          <a:xfrm>
            <a:off x="2962656" y="3310128"/>
            <a:ext cx="493776" cy="201168"/>
          </a:xfrm>
          <a:prstGeom prst="rect">
            <a:avLst/>
          </a:prstGeom>
          <a:noFill/>
        </p:spPr>
        <p:txBody>
          <a:bodyPr wrap="square" lIns="0" rIns="0" tIns="0" bIns="0" anchor="t">
            <a:spAutoFit/>
          </a:bodyPr>
          <a:lstStyle/>
          <a:p>
            <a:pPr algn="ctr">
              <a:lnSpc>
                <a:spcPct val="100000"/>
              </a:lnSpc>
              <a:spcBef>
                <a:spcPts val="0"/>
              </a:spcBef>
              <a:spcAft>
                <a:spcPts val="0"/>
              </a:spcAft>
            </a:pPr>
            <a:r>
              <a:rPr sz="950" b="0" i="0">
                <a:solidFill>
                  <a:srgbClr val="59697A"/>
                </a:solidFill>
                <a:latin typeface="Arial"/>
              </a:rPr>
              <a:t>profiles</a:t>
            </a:r>
          </a:p>
        </p:txBody>
      </p:sp>
      <p:sp>
        <p:nvSpPr>
          <p:cNvPr id="42" name="Rectangle 41"/>
          <p:cNvSpPr/>
          <p:nvPr/>
        </p:nvSpPr>
        <p:spPr>
          <a:xfrm>
            <a:off x="713232" y="4645152"/>
            <a:ext cx="2761488" cy="16459"/>
          </a:xfrm>
          <a:prstGeom prst="rect">
            <a:avLst/>
          </a:prstGeom>
          <a:solidFill>
            <a:srgbClr val="D3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4846320"/>
            <a:ext cx="2724912" cy="658368"/>
          </a:xfrm>
          <a:prstGeom prst="rect">
            <a:avLst/>
          </a:prstGeom>
          <a:noFill/>
        </p:spPr>
        <p:txBody>
          <a:bodyPr wrap="square" lIns="0" rIns="0" tIns="0" bIns="0" anchor="ctr">
            <a:spAutoFit/>
          </a:bodyPr>
          <a:lstStyle/>
          <a:p>
            <a:pPr algn="l">
              <a:lnSpc>
                <a:spcPct val="100000"/>
              </a:lnSpc>
              <a:spcBef>
                <a:spcPts val="0"/>
              </a:spcBef>
              <a:spcAft>
                <a:spcPts val="0"/>
              </a:spcAft>
            </a:pPr>
            <a:r>
              <a:rPr sz="1420" b="0" i="0">
                <a:solidFill>
                  <a:srgbClr val="263746"/>
                </a:solidFill>
                <a:latin typeface="Arial"/>
              </a:rPr>
              <a:t>Measured gene expression from real mouse tissue</a:t>
            </a:r>
          </a:p>
        </p:txBody>
      </p:sp>
      <p:sp>
        <p:nvSpPr>
          <p:cNvPr id="44" name="Right Arrow 43"/>
          <p:cNvSpPr/>
          <p:nvPr/>
        </p:nvSpPr>
        <p:spPr>
          <a:xfrm>
            <a:off x="3794760" y="3657600"/>
            <a:ext cx="310896" cy="256032"/>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24528" y="1920240"/>
            <a:ext cx="384048" cy="22860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D37B00"/>
                </a:solidFill>
                <a:latin typeface="Arial"/>
              </a:rPr>
              <a:t>02</a:t>
            </a:r>
          </a:p>
        </p:txBody>
      </p:sp>
      <p:sp>
        <p:nvSpPr>
          <p:cNvPr id="46" name="TextBox 45"/>
          <p:cNvSpPr txBox="1"/>
          <p:nvPr/>
        </p:nvSpPr>
        <p:spPr>
          <a:xfrm>
            <a:off x="4681728" y="1865376"/>
            <a:ext cx="2816352" cy="347472"/>
          </a:xfrm>
          <a:prstGeom prst="rect">
            <a:avLst/>
          </a:prstGeom>
          <a:noFill/>
        </p:spPr>
        <p:txBody>
          <a:bodyPr wrap="square" lIns="0" rIns="0" tIns="0" bIns="0" anchor="t">
            <a:spAutoFit/>
          </a:bodyPr>
          <a:lstStyle/>
          <a:p>
            <a:pPr algn="l">
              <a:lnSpc>
                <a:spcPct val="100000"/>
              </a:lnSpc>
              <a:spcBef>
                <a:spcPts val="0"/>
              </a:spcBef>
              <a:spcAft>
                <a:spcPts val="0"/>
              </a:spcAft>
            </a:pPr>
            <a:r>
              <a:rPr sz="1720" b="1" i="0">
                <a:solidFill>
                  <a:srgbClr val="082B55"/>
                </a:solidFill>
                <a:latin typeface="Arial"/>
              </a:rPr>
              <a:t>Learn expression patterns</a:t>
            </a:r>
          </a:p>
        </p:txBody>
      </p:sp>
      <p:sp>
        <p:nvSpPr>
          <p:cNvPr id="47" name="Rectangle 46"/>
          <p:cNvSpPr/>
          <p:nvPr/>
        </p:nvSpPr>
        <p:spPr>
          <a:xfrm>
            <a:off x="4224528" y="2359152"/>
            <a:ext cx="3273552" cy="3401568"/>
          </a:xfrm>
          <a:prstGeom prst="rect">
            <a:avLst/>
          </a:prstGeom>
          <a:solidFill>
            <a:srgbClr val="F8F1E2"/>
          </a:solidFill>
          <a:ln w="10160">
            <a:solidFill>
              <a:srgbClr val="F8F1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V="1">
            <a:off x="4626864" y="2999232"/>
            <a:ext cx="612648" cy="475488"/>
          </a:xfrm>
          <a:prstGeom prst="line">
            <a:avLst/>
          </a:prstGeom>
          <a:ln w="19050">
            <a:solidFill>
              <a:srgbClr val="C6B07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626864" y="3474720"/>
            <a:ext cx="612648" cy="512064"/>
          </a:xfrm>
          <a:prstGeom prst="line">
            <a:avLst/>
          </a:prstGeom>
          <a:ln w="19050">
            <a:solidFill>
              <a:srgbClr val="C6B07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239512" y="2999232"/>
            <a:ext cx="667512" cy="493776"/>
          </a:xfrm>
          <a:prstGeom prst="line">
            <a:avLst/>
          </a:prstGeom>
          <a:ln w="19050">
            <a:solidFill>
              <a:srgbClr val="C6B07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5239512" y="3493008"/>
            <a:ext cx="667512" cy="493776"/>
          </a:xfrm>
          <a:prstGeom prst="line">
            <a:avLst/>
          </a:prstGeom>
          <a:ln w="19050">
            <a:solidFill>
              <a:srgbClr val="C6B07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907024" y="2999232"/>
            <a:ext cx="658368" cy="493776"/>
          </a:xfrm>
          <a:prstGeom prst="line">
            <a:avLst/>
          </a:prstGeom>
          <a:ln w="19050">
            <a:solidFill>
              <a:srgbClr val="C6B07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907024" y="3493008"/>
            <a:ext cx="658368" cy="493776"/>
          </a:xfrm>
          <a:prstGeom prst="line">
            <a:avLst/>
          </a:prstGeom>
          <a:ln w="19050">
            <a:solidFill>
              <a:srgbClr val="C6B07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565392" y="2999232"/>
            <a:ext cx="548640" cy="493776"/>
          </a:xfrm>
          <a:prstGeom prst="line">
            <a:avLst/>
          </a:prstGeom>
          <a:ln w="19050">
            <a:solidFill>
              <a:srgbClr val="C6B07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565392" y="3493008"/>
            <a:ext cx="548640" cy="493776"/>
          </a:xfrm>
          <a:prstGeom prst="line">
            <a:avLst/>
          </a:prstGeom>
          <a:ln w="19050">
            <a:solidFill>
              <a:srgbClr val="C6B07A"/>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4553712" y="3401568"/>
            <a:ext cx="182880" cy="182880"/>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166360" y="2926080"/>
            <a:ext cx="182880" cy="182880"/>
          </a:xfrm>
          <a:prstGeom prst="ellipse">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166360" y="3913632"/>
            <a:ext cx="182880" cy="182880"/>
          </a:xfrm>
          <a:prstGeom prst="ellipse">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5833872" y="3419856"/>
            <a:ext cx="182880" cy="182880"/>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492240" y="2926080"/>
            <a:ext cx="182880" cy="182880"/>
          </a:xfrm>
          <a:prstGeom prst="ellipse">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492240" y="3913632"/>
            <a:ext cx="182880" cy="182880"/>
          </a:xfrm>
          <a:prstGeom prst="ellipse">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040880" y="3419856"/>
            <a:ext cx="182880" cy="182880"/>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480560" y="4645152"/>
            <a:ext cx="2761488" cy="16459"/>
          </a:xfrm>
          <a:prstGeom prst="rect">
            <a:avLst/>
          </a:prstGeom>
          <a:solidFill>
            <a:srgbClr val="D3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498848" y="4846320"/>
            <a:ext cx="2724912" cy="658368"/>
          </a:xfrm>
          <a:prstGeom prst="rect">
            <a:avLst/>
          </a:prstGeom>
          <a:noFill/>
        </p:spPr>
        <p:txBody>
          <a:bodyPr wrap="square" lIns="0" rIns="0" tIns="0" bIns="0" anchor="ctr">
            <a:spAutoFit/>
          </a:bodyPr>
          <a:lstStyle/>
          <a:p>
            <a:pPr algn="l">
              <a:lnSpc>
                <a:spcPct val="100000"/>
              </a:lnSpc>
              <a:spcBef>
                <a:spcPts val="0"/>
              </a:spcBef>
              <a:spcAft>
                <a:spcPts val="0"/>
              </a:spcAft>
            </a:pPr>
            <a:r>
              <a:rPr sz="1420" b="0" i="0">
                <a:solidFill>
                  <a:srgbClr val="263746"/>
                </a:solidFill>
                <a:latin typeface="Arial"/>
              </a:rPr>
              <a:t>Capture gene relationships and variation by tissue and FLT/GC condition</a:t>
            </a:r>
          </a:p>
        </p:txBody>
      </p:sp>
      <p:sp>
        <p:nvSpPr>
          <p:cNvPr id="65" name="Right Arrow 64"/>
          <p:cNvSpPr/>
          <p:nvPr/>
        </p:nvSpPr>
        <p:spPr>
          <a:xfrm>
            <a:off x="7562088" y="3657600"/>
            <a:ext cx="310896" cy="256032"/>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91856" y="1920240"/>
            <a:ext cx="384048" cy="228600"/>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178681"/>
                </a:solidFill>
                <a:latin typeface="Arial"/>
              </a:rPr>
              <a:t>03</a:t>
            </a:r>
          </a:p>
        </p:txBody>
      </p:sp>
      <p:sp>
        <p:nvSpPr>
          <p:cNvPr id="67" name="TextBox 66"/>
          <p:cNvSpPr txBox="1"/>
          <p:nvPr/>
        </p:nvSpPr>
        <p:spPr>
          <a:xfrm>
            <a:off x="8449056" y="1865376"/>
            <a:ext cx="2816352" cy="347472"/>
          </a:xfrm>
          <a:prstGeom prst="rect">
            <a:avLst/>
          </a:prstGeom>
          <a:noFill/>
        </p:spPr>
        <p:txBody>
          <a:bodyPr wrap="square" lIns="0" rIns="0" tIns="0" bIns="0" anchor="t">
            <a:spAutoFit/>
          </a:bodyPr>
          <a:lstStyle/>
          <a:p>
            <a:pPr algn="l">
              <a:lnSpc>
                <a:spcPct val="100000"/>
              </a:lnSpc>
              <a:spcBef>
                <a:spcPts val="0"/>
              </a:spcBef>
              <a:spcAft>
                <a:spcPts val="0"/>
              </a:spcAft>
            </a:pPr>
            <a:r>
              <a:rPr sz="1720" b="1" i="0">
                <a:solidFill>
                  <a:srgbClr val="082B55"/>
                </a:solidFill>
                <a:latin typeface="Arial"/>
              </a:rPr>
              <a:t>Synthetic profiles</a:t>
            </a:r>
          </a:p>
        </p:txBody>
      </p:sp>
      <p:sp>
        <p:nvSpPr>
          <p:cNvPr id="68" name="Rectangle 67"/>
          <p:cNvSpPr/>
          <p:nvPr/>
        </p:nvSpPr>
        <p:spPr>
          <a:xfrm>
            <a:off x="7991856" y="2359152"/>
            <a:ext cx="3273552" cy="3401568"/>
          </a:xfrm>
          <a:prstGeom prst="rect">
            <a:avLst/>
          </a:prstGeom>
          <a:solidFill>
            <a:srgbClr val="E8F3F1"/>
          </a:solidFill>
          <a:ln w="10160">
            <a:solidFill>
              <a:srgbClr val="E8F3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321040" y="2770632"/>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686800" y="2770632"/>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052560" y="2770632"/>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418320" y="2770632"/>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784080" y="2770632"/>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149840" y="2770632"/>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321040" y="3054096"/>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686800" y="3054096"/>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052560" y="3054096"/>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418320" y="3054096"/>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784080" y="3054096"/>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149840" y="3054096"/>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321040" y="3337560"/>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686800" y="3337560"/>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052560" y="3337560"/>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418320" y="3337560"/>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784080" y="3337560"/>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149840" y="3337560"/>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321040" y="3621024"/>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8686800" y="3621024"/>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052560" y="3621024"/>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418320" y="3621024"/>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784080" y="3621024"/>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0149840" y="3621024"/>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321040" y="3904487"/>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8686800" y="3904487"/>
            <a:ext cx="265176" cy="182880"/>
          </a:xfrm>
          <a:prstGeom prst="rect">
            <a:avLst/>
          </a:prstGeom>
          <a:solidFill>
            <a:srgbClr val="AFC3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9052560" y="3904487"/>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418320" y="3904487"/>
            <a:ext cx="265176" cy="18288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784080" y="3904487"/>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0149840" y="3904487"/>
            <a:ext cx="265176" cy="182880"/>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321040" y="4315968"/>
            <a:ext cx="2093976" cy="182880"/>
          </a:xfrm>
          <a:prstGeom prst="rect">
            <a:avLst/>
          </a:prstGeom>
          <a:noFill/>
        </p:spPr>
        <p:txBody>
          <a:bodyPr wrap="square" lIns="0" rIns="0" tIns="0" bIns="0" anchor="t">
            <a:spAutoFit/>
          </a:bodyPr>
          <a:lstStyle/>
          <a:p>
            <a:pPr algn="ctr">
              <a:lnSpc>
                <a:spcPct val="100000"/>
              </a:lnSpc>
              <a:spcBef>
                <a:spcPts val="0"/>
              </a:spcBef>
              <a:spcAft>
                <a:spcPts val="0"/>
              </a:spcAft>
            </a:pPr>
            <a:r>
              <a:rPr sz="950" b="0" i="0">
                <a:solidFill>
                  <a:srgbClr val="59697A"/>
                </a:solidFill>
                <a:latin typeface="Arial"/>
              </a:rPr>
              <a:t>genes</a:t>
            </a:r>
          </a:p>
        </p:txBody>
      </p:sp>
      <p:sp>
        <p:nvSpPr>
          <p:cNvPr id="100" name="TextBox 99"/>
          <p:cNvSpPr txBox="1"/>
          <p:nvPr/>
        </p:nvSpPr>
        <p:spPr>
          <a:xfrm>
            <a:off x="10497312" y="3310128"/>
            <a:ext cx="493776" cy="201168"/>
          </a:xfrm>
          <a:prstGeom prst="rect">
            <a:avLst/>
          </a:prstGeom>
          <a:noFill/>
        </p:spPr>
        <p:txBody>
          <a:bodyPr wrap="square" lIns="0" rIns="0" tIns="0" bIns="0" anchor="t">
            <a:spAutoFit/>
          </a:bodyPr>
          <a:lstStyle/>
          <a:p>
            <a:pPr algn="ctr">
              <a:lnSpc>
                <a:spcPct val="100000"/>
              </a:lnSpc>
              <a:spcBef>
                <a:spcPts val="0"/>
              </a:spcBef>
              <a:spcAft>
                <a:spcPts val="0"/>
              </a:spcAft>
            </a:pPr>
            <a:r>
              <a:rPr sz="950" b="0" i="0">
                <a:solidFill>
                  <a:srgbClr val="59697A"/>
                </a:solidFill>
                <a:latin typeface="Arial"/>
              </a:rPr>
              <a:t>profiles</a:t>
            </a:r>
          </a:p>
        </p:txBody>
      </p:sp>
      <p:sp>
        <p:nvSpPr>
          <p:cNvPr id="101" name="Rectangle 100"/>
          <p:cNvSpPr/>
          <p:nvPr/>
        </p:nvSpPr>
        <p:spPr>
          <a:xfrm>
            <a:off x="8247888" y="4645152"/>
            <a:ext cx="2761488" cy="16459"/>
          </a:xfrm>
          <a:prstGeom prst="rect">
            <a:avLst/>
          </a:prstGeom>
          <a:solidFill>
            <a:srgbClr val="D3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266176" y="4846320"/>
            <a:ext cx="2724912" cy="658368"/>
          </a:xfrm>
          <a:prstGeom prst="rect">
            <a:avLst/>
          </a:prstGeom>
          <a:noFill/>
        </p:spPr>
        <p:txBody>
          <a:bodyPr wrap="square" lIns="0" rIns="0" tIns="0" bIns="0" anchor="ctr">
            <a:spAutoFit/>
          </a:bodyPr>
          <a:lstStyle/>
          <a:p>
            <a:pPr algn="l">
              <a:lnSpc>
                <a:spcPct val="100000"/>
              </a:lnSpc>
              <a:spcBef>
                <a:spcPts val="0"/>
              </a:spcBef>
              <a:spcAft>
                <a:spcPts val="0"/>
              </a:spcAft>
            </a:pPr>
            <a:r>
              <a:rPr sz="1420" b="0" i="0">
                <a:solidFill>
                  <a:srgbClr val="263746"/>
                </a:solidFill>
                <a:latin typeface="Arial"/>
              </a:rPr>
              <a:t>Sample new numeric expression vectors for a selected context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Midpoint slide 20 tile 1" descr="Original midpoint slide 20, quadrant 1"/>
          <p:cNvPicPr>
            <a:picLocks noChangeAspect="1"/>
          </p:cNvPicPr>
          <p:nvPr/>
        </p:nvPicPr>
        <p:blipFill>
          <a:blip r:embed="rId2"/>
          <a:stretch>
            <a:fillRect/>
          </a:stretch>
        </p:blipFill>
        <p:spPr>
          <a:xfrm>
            <a:off x="0" y="0"/>
            <a:ext cx="6095999" cy="3429000"/>
          </a:xfrm>
          <a:prstGeom prst="rect">
            <a:avLst/>
          </a:prstGeom>
        </p:spPr>
      </p:pic>
      <p:pic>
        <p:nvPicPr>
          <p:cNvPr id="5" name="Midpoint slide 20 tile 2" descr="Original midpoint slide 20, quadrant 2"/>
          <p:cNvPicPr>
            <a:picLocks noChangeAspect="1"/>
          </p:cNvPicPr>
          <p:nvPr/>
        </p:nvPicPr>
        <p:blipFill>
          <a:blip r:embed="rId3"/>
          <a:stretch>
            <a:fillRect/>
          </a:stretch>
        </p:blipFill>
        <p:spPr>
          <a:xfrm>
            <a:off x="6083299" y="0"/>
            <a:ext cx="6108699" cy="3429000"/>
          </a:xfrm>
          <a:prstGeom prst="rect">
            <a:avLst/>
          </a:prstGeom>
        </p:spPr>
      </p:pic>
      <p:pic>
        <p:nvPicPr>
          <p:cNvPr id="6" name="Midpoint slide 20 tile 3" descr="Original midpoint slide 20, quadrant 3"/>
          <p:cNvPicPr>
            <a:picLocks noChangeAspect="1"/>
          </p:cNvPicPr>
          <p:nvPr/>
        </p:nvPicPr>
        <p:blipFill>
          <a:blip r:embed="rId4"/>
          <a:stretch>
            <a:fillRect/>
          </a:stretch>
        </p:blipFill>
        <p:spPr>
          <a:xfrm>
            <a:off x="0" y="3416300"/>
            <a:ext cx="6095999" cy="3441700"/>
          </a:xfrm>
          <a:prstGeom prst="rect">
            <a:avLst/>
          </a:prstGeom>
        </p:spPr>
      </p:pic>
      <p:pic>
        <p:nvPicPr>
          <p:cNvPr id="7" name="Midpoint slide 20 tile 4" descr="Original midpoint slide 20, quadrant 4"/>
          <p:cNvPicPr>
            <a:picLocks noChangeAspect="1"/>
          </p:cNvPicPr>
          <p:nvPr/>
        </p:nvPicPr>
        <p:blipFill>
          <a:blip r:embed="rId5"/>
          <a:stretch>
            <a:fillRect/>
          </a:stretch>
        </p:blipFill>
        <p:spPr>
          <a:xfrm>
            <a:off x="6083299" y="3416300"/>
            <a:ext cx="6108699" cy="3441700"/>
          </a:xfrm>
          <a:prstGeom prst="rect">
            <a:avLst/>
          </a:prstGeom>
        </p:spPr>
      </p:pic>
      <p:pic>
        <p:nvPicPr>
          <p:cNvPr id="8" name="anim_diffimg.gif" descr="Animated image denoising example"/>
          <p:cNvPicPr>
            <a:picLocks noChangeAspect="1"/>
          </p:cNvPicPr>
          <p:nvPr/>
        </p:nvPicPr>
        <p:blipFill>
          <a:blip r:embed="rId6"/>
          <a:stretch>
            <a:fillRect/>
          </a:stretch>
        </p:blipFill>
        <p:spPr>
          <a:xfrm>
            <a:off x="2051049" y="3595370"/>
            <a:ext cx="2438399" cy="1371600"/>
          </a:xfrm>
          <a:prstGeom prst="rect">
            <a:avLst/>
          </a:prstGeom>
        </p:spPr>
      </p:pic>
      <p:pic>
        <p:nvPicPr>
          <p:cNvPr id="9" name="anim_diffdata.gif" descr="Animated FLT- and GC-conditioned expression diffusion example"/>
          <p:cNvPicPr>
            <a:picLocks noChangeAspect="1"/>
          </p:cNvPicPr>
          <p:nvPr/>
        </p:nvPicPr>
        <p:blipFill>
          <a:blip r:embed="rId7"/>
          <a:stretch>
            <a:fillRect/>
          </a:stretch>
        </p:blipFill>
        <p:spPr>
          <a:xfrm>
            <a:off x="6991985" y="2097405"/>
            <a:ext cx="3858895" cy="4366895"/>
          </a:xfrm>
          <a:prstGeom prst="rect">
            <a:avLst/>
          </a:prstGeom>
        </p:spPr>
      </p:pic>
      <p:sp>
        <p:nvSpPr>
          <p:cNvPr id="10" name="Rounded Rectangle 9"/>
          <p:cNvSpPr/>
          <p:nvPr/>
        </p:nvSpPr>
        <p:spPr>
          <a:xfrm>
            <a:off x="11466576" y="91440"/>
            <a:ext cx="475488" cy="274320"/>
          </a:xfrm>
          <a:prstGeom prst="roundRect">
            <a:avLst/>
          </a:prstGeom>
          <a:solidFill>
            <a:srgbClr val="0827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66576" y="123444"/>
            <a:ext cx="475488" cy="192024"/>
          </a:xfrm>
          <a:prstGeom prst="rect">
            <a:avLst/>
          </a:prstGeom>
          <a:noFill/>
        </p:spPr>
        <p:txBody>
          <a:bodyPr wrap="square" lIns="0" rIns="0" tIns="0" bIns="0" anchor="ctr">
            <a:spAutoFit/>
          </a:bodyPr>
          <a:lstStyle/>
          <a:p>
            <a:pPr algn="ctr">
              <a:lnSpc>
                <a:spcPct val="100000"/>
              </a:lnSpc>
              <a:spcBef>
                <a:spcPts val="0"/>
              </a:spcBef>
              <a:spcAft>
                <a:spcPts val="0"/>
              </a:spcAft>
            </a:pPr>
            <a:r>
              <a:rPr sz="1150" b="1" i="0">
                <a:solidFill>
                  <a:srgbClr val="FFFFFF"/>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pic>
        <p:nvPicPr>
          <p:cNvPr id="4" name="Midpoint slide 21 tile 1" descr="Original midpoint slide 21, quadrant 1"/>
          <p:cNvPicPr>
            <a:picLocks noChangeAspect="1"/>
          </p:cNvPicPr>
          <p:nvPr/>
        </p:nvPicPr>
        <p:blipFill>
          <a:blip r:embed="rId2"/>
          <a:stretch>
            <a:fillRect/>
          </a:stretch>
        </p:blipFill>
        <p:spPr>
          <a:xfrm>
            <a:off x="0" y="0"/>
            <a:ext cx="6095999" cy="3429000"/>
          </a:xfrm>
          <a:prstGeom prst="rect">
            <a:avLst/>
          </a:prstGeom>
        </p:spPr>
      </p:pic>
      <p:pic>
        <p:nvPicPr>
          <p:cNvPr id="5" name="Midpoint slide 21 tile 2" descr="Original midpoint slide 21, quadrant 2"/>
          <p:cNvPicPr>
            <a:picLocks noChangeAspect="1"/>
          </p:cNvPicPr>
          <p:nvPr/>
        </p:nvPicPr>
        <p:blipFill>
          <a:blip r:embed="rId3"/>
          <a:stretch>
            <a:fillRect/>
          </a:stretch>
        </p:blipFill>
        <p:spPr>
          <a:xfrm>
            <a:off x="6083299" y="0"/>
            <a:ext cx="6108699" cy="3429000"/>
          </a:xfrm>
          <a:prstGeom prst="rect">
            <a:avLst/>
          </a:prstGeom>
        </p:spPr>
      </p:pic>
      <p:pic>
        <p:nvPicPr>
          <p:cNvPr id="6" name="Midpoint slide 21 tile 3" descr="Original midpoint slide 21, quadrant 3"/>
          <p:cNvPicPr>
            <a:picLocks noChangeAspect="1"/>
          </p:cNvPicPr>
          <p:nvPr/>
        </p:nvPicPr>
        <p:blipFill>
          <a:blip r:embed="rId4"/>
          <a:stretch>
            <a:fillRect/>
          </a:stretch>
        </p:blipFill>
        <p:spPr>
          <a:xfrm>
            <a:off x="0" y="3416300"/>
            <a:ext cx="6095999" cy="3441700"/>
          </a:xfrm>
          <a:prstGeom prst="rect">
            <a:avLst/>
          </a:prstGeom>
        </p:spPr>
      </p:pic>
      <p:pic>
        <p:nvPicPr>
          <p:cNvPr id="7" name="Midpoint slide 21 tile 4" descr="Original midpoint slide 21, quadrant 4"/>
          <p:cNvPicPr>
            <a:picLocks noChangeAspect="1"/>
          </p:cNvPicPr>
          <p:nvPr/>
        </p:nvPicPr>
        <p:blipFill>
          <a:blip r:embed="rId5"/>
          <a:stretch>
            <a:fillRect/>
          </a:stretch>
        </p:blipFill>
        <p:spPr>
          <a:xfrm>
            <a:off x="6083299" y="3416300"/>
            <a:ext cx="6108699" cy="3441700"/>
          </a:xfrm>
          <a:prstGeom prst="rect">
            <a:avLst/>
          </a:prstGeom>
        </p:spPr>
      </p:pic>
      <p:pic>
        <p:nvPicPr>
          <p:cNvPr id="8" name="anim_wgan.gif" descr="Animated WGAN comparison between real OSDR and generated expression profiles"/>
          <p:cNvPicPr>
            <a:picLocks noChangeAspect="1"/>
          </p:cNvPicPr>
          <p:nvPr/>
        </p:nvPicPr>
        <p:blipFill>
          <a:blip r:embed="rId6"/>
          <a:stretch>
            <a:fillRect/>
          </a:stretch>
        </p:blipFill>
        <p:spPr>
          <a:xfrm>
            <a:off x="6956425" y="2097405"/>
            <a:ext cx="3930015" cy="4366895"/>
          </a:xfrm>
          <a:prstGeom prst="rect">
            <a:avLst/>
          </a:prstGeom>
        </p:spPr>
      </p:pic>
      <p:sp>
        <p:nvSpPr>
          <p:cNvPr id="9" name="Rounded Rectangle 8"/>
          <p:cNvSpPr/>
          <p:nvPr/>
        </p:nvSpPr>
        <p:spPr>
          <a:xfrm>
            <a:off x="11466576" y="91440"/>
            <a:ext cx="475488" cy="274320"/>
          </a:xfrm>
          <a:prstGeom prst="roundRect">
            <a:avLst/>
          </a:prstGeom>
          <a:solidFill>
            <a:srgbClr val="0827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66576" y="123444"/>
            <a:ext cx="475488" cy="192024"/>
          </a:xfrm>
          <a:prstGeom prst="rect">
            <a:avLst/>
          </a:prstGeom>
          <a:noFill/>
        </p:spPr>
        <p:txBody>
          <a:bodyPr wrap="square" lIns="0" rIns="0" tIns="0" bIns="0" anchor="ctr">
            <a:spAutoFit/>
          </a:bodyPr>
          <a:lstStyle/>
          <a:p>
            <a:pPr algn="ctr">
              <a:lnSpc>
                <a:spcPct val="100000"/>
              </a:lnSpc>
              <a:spcBef>
                <a:spcPts val="0"/>
              </a:spcBef>
              <a:spcAft>
                <a:spcPts val="0"/>
              </a:spcAft>
            </a:pPr>
            <a:r>
              <a:rPr sz="1150" b="1" i="0">
                <a:solidFill>
                  <a:srgbClr val="FFFFFF"/>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MODEL DEVELOPMENT</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Building the RNA-seq generator</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We compared how to process the data, handle study differences, train the model, and tell it what to generate.</a:t>
            </a:r>
          </a:p>
        </p:txBody>
      </p:sp>
      <p:sp>
        <p:nvSpPr>
          <p:cNvPr id="7" name="Rectangle 6"/>
          <p:cNvSpPr/>
          <p:nvPr/>
        </p:nvSpPr>
        <p:spPr>
          <a:xfrm>
            <a:off x="2551176" y="1856231"/>
            <a:ext cx="10972" cy="2962656"/>
          </a:xfrm>
          <a:prstGeom prst="rect">
            <a:avLst/>
          </a:prstGeom>
          <a:solidFill>
            <a:srgbClr val="D9E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882896" y="1856231"/>
            <a:ext cx="10972" cy="2962656"/>
          </a:xfrm>
          <a:prstGeom prst="rect">
            <a:avLst/>
          </a:prstGeom>
          <a:solidFill>
            <a:srgbClr val="D9E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14616" y="1856231"/>
            <a:ext cx="10972" cy="2962656"/>
          </a:xfrm>
          <a:prstGeom prst="rect">
            <a:avLst/>
          </a:prstGeom>
          <a:solidFill>
            <a:srgbClr val="D9E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46336" y="1856231"/>
            <a:ext cx="10972" cy="2962656"/>
          </a:xfrm>
          <a:prstGeom prst="rect">
            <a:avLst/>
          </a:prstGeom>
          <a:solidFill>
            <a:srgbClr val="D9E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 y="1965960"/>
            <a:ext cx="310896"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8A969E"/>
                </a:solidFill>
                <a:latin typeface="Arial"/>
              </a:rPr>
              <a:t>01</a:t>
            </a:r>
          </a:p>
        </p:txBody>
      </p:sp>
      <p:sp>
        <p:nvSpPr>
          <p:cNvPr id="12" name="TextBox 11"/>
          <p:cNvSpPr txBox="1"/>
          <p:nvPr/>
        </p:nvSpPr>
        <p:spPr>
          <a:xfrm>
            <a:off x="832104" y="1929384"/>
            <a:ext cx="1499616" cy="29260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20" b="1" i="0">
                <a:solidFill>
                  <a:srgbClr val="082B55"/>
                </a:solidFill>
                <a:latin typeface="Arial"/>
              </a:rPr>
              <a:t>Data scope</a:t>
            </a:r>
          </a:p>
        </p:txBody>
      </p:sp>
      <p:sp>
        <p:nvSpPr>
          <p:cNvPr id="13" name="Rectangle 12"/>
          <p:cNvSpPr/>
          <p:nvPr/>
        </p:nvSpPr>
        <p:spPr>
          <a:xfrm>
            <a:off x="448056" y="2331720"/>
            <a:ext cx="1874519" cy="20116"/>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 y="2487168"/>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Sources</a:t>
            </a:r>
          </a:p>
        </p:txBody>
      </p:sp>
      <p:sp>
        <p:nvSpPr>
          <p:cNvPr id="15" name="Rectangle 14"/>
          <p:cNvSpPr/>
          <p:nvPr/>
        </p:nvSpPr>
        <p:spPr>
          <a:xfrm>
            <a:off x="466344" y="2688336"/>
            <a:ext cx="905255" cy="329184"/>
          </a:xfrm>
          <a:prstGeom prst="rect">
            <a:avLst/>
          </a:prstGeom>
          <a:solidFill>
            <a:srgbClr val="FFFFFF"/>
          </a:solidFill>
          <a:ln w="228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6344" y="2688336"/>
            <a:ext cx="32004" cy="32918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2738628"/>
            <a:ext cx="813815" cy="210312"/>
          </a:xfrm>
          <a:prstGeom prst="rect">
            <a:avLst/>
          </a:prstGeom>
          <a:noFill/>
        </p:spPr>
        <p:txBody>
          <a:bodyPr wrap="square" lIns="0" rIns="0" tIns="0" bIns="0" anchor="ctr">
            <a:spAutoFit/>
          </a:bodyPr>
          <a:lstStyle/>
          <a:p>
            <a:pPr algn="ctr">
              <a:lnSpc>
                <a:spcPct val="100000"/>
              </a:lnSpc>
              <a:spcBef>
                <a:spcPts val="0"/>
              </a:spcBef>
              <a:spcAft>
                <a:spcPts val="0"/>
              </a:spcAft>
            </a:pPr>
            <a:r>
              <a:rPr sz="880" b="1" i="0">
                <a:solidFill>
                  <a:srgbClr val="082B55"/>
                </a:solidFill>
                <a:latin typeface="Arial"/>
              </a:rPr>
              <a:t>OSDR API</a:t>
            </a:r>
          </a:p>
        </p:txBody>
      </p:sp>
      <p:sp>
        <p:nvSpPr>
          <p:cNvPr id="18" name="Rectangle 17"/>
          <p:cNvSpPr/>
          <p:nvPr/>
        </p:nvSpPr>
        <p:spPr>
          <a:xfrm>
            <a:off x="1417319" y="2688336"/>
            <a:ext cx="905255" cy="329184"/>
          </a:xfrm>
          <a:prstGeom prst="rect">
            <a:avLst/>
          </a:prstGeom>
          <a:solidFill>
            <a:srgbClr val="FFFFFF"/>
          </a:solidFill>
          <a:ln w="228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17319" y="2688336"/>
            <a:ext cx="32004" cy="32918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63039" y="2738628"/>
            <a:ext cx="813815" cy="210312"/>
          </a:xfrm>
          <a:prstGeom prst="rect">
            <a:avLst/>
          </a:prstGeom>
          <a:noFill/>
        </p:spPr>
        <p:txBody>
          <a:bodyPr wrap="square" lIns="0" rIns="0" tIns="0" bIns="0" anchor="ctr">
            <a:spAutoFit/>
          </a:bodyPr>
          <a:lstStyle/>
          <a:p>
            <a:pPr algn="ctr">
              <a:lnSpc>
                <a:spcPct val="100000"/>
              </a:lnSpc>
              <a:spcBef>
                <a:spcPts val="0"/>
              </a:spcBef>
              <a:spcAft>
                <a:spcPts val="0"/>
              </a:spcAft>
            </a:pPr>
            <a:r>
              <a:rPr sz="880" b="1" i="0">
                <a:solidFill>
                  <a:srgbClr val="082B55"/>
                </a:solidFill>
                <a:latin typeface="Arial"/>
              </a:rPr>
              <a:t>ARCHS4</a:t>
            </a:r>
          </a:p>
        </p:txBody>
      </p:sp>
      <p:sp>
        <p:nvSpPr>
          <p:cNvPr id="21" name="TextBox 20"/>
          <p:cNvSpPr txBox="1"/>
          <p:nvPr/>
        </p:nvSpPr>
        <p:spPr>
          <a:xfrm>
            <a:off x="466344" y="3182112"/>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Studies</a:t>
            </a:r>
          </a:p>
        </p:txBody>
      </p:sp>
      <p:sp>
        <p:nvSpPr>
          <p:cNvPr id="22" name="TextBox 21"/>
          <p:cNvSpPr txBox="1"/>
          <p:nvPr/>
        </p:nvSpPr>
        <p:spPr>
          <a:xfrm>
            <a:off x="512064" y="3433572"/>
            <a:ext cx="813815" cy="210312"/>
          </a:xfrm>
          <a:prstGeom prst="rect">
            <a:avLst/>
          </a:prstGeom>
          <a:noFill/>
        </p:spPr>
        <p:txBody>
          <a:bodyPr wrap="square" lIns="0" rIns="0" tIns="0" bIns="0" anchor="ctr">
            <a:spAutoFit/>
          </a:bodyPr>
          <a:lstStyle/>
          <a:p>
            <a:pPr algn="ctr">
              <a:lnSpc>
                <a:spcPct val="100000"/>
              </a:lnSpc>
              <a:spcBef>
                <a:spcPts val="0"/>
              </a:spcBef>
              <a:spcAft>
                <a:spcPts val="0"/>
              </a:spcAft>
            </a:pPr>
            <a:r>
              <a:rPr sz="880" b="0" i="0">
                <a:solidFill>
                  <a:srgbClr val="8A969E"/>
                </a:solidFill>
                <a:latin typeface="Arial"/>
              </a:rPr>
              <a:t>Single</a:t>
            </a:r>
          </a:p>
        </p:txBody>
      </p:sp>
      <p:sp>
        <p:nvSpPr>
          <p:cNvPr id="23" name="Rectangle 22"/>
          <p:cNvSpPr/>
          <p:nvPr/>
        </p:nvSpPr>
        <p:spPr>
          <a:xfrm>
            <a:off x="1417319" y="3383280"/>
            <a:ext cx="905255" cy="329184"/>
          </a:xfrm>
          <a:prstGeom prst="rect">
            <a:avLst/>
          </a:prstGeom>
          <a:solidFill>
            <a:srgbClr val="FFFFFF"/>
          </a:solidFill>
          <a:ln w="228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17319" y="3383280"/>
            <a:ext cx="32004" cy="32918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63039" y="3433572"/>
            <a:ext cx="813815" cy="210312"/>
          </a:xfrm>
          <a:prstGeom prst="rect">
            <a:avLst/>
          </a:prstGeom>
          <a:noFill/>
        </p:spPr>
        <p:txBody>
          <a:bodyPr wrap="square" lIns="0" rIns="0" tIns="0" bIns="0" anchor="ctr">
            <a:spAutoFit/>
          </a:bodyPr>
          <a:lstStyle/>
          <a:p>
            <a:pPr algn="ctr">
              <a:lnSpc>
                <a:spcPct val="100000"/>
              </a:lnSpc>
              <a:spcBef>
                <a:spcPts val="0"/>
              </a:spcBef>
              <a:spcAft>
                <a:spcPts val="0"/>
              </a:spcAft>
            </a:pPr>
            <a:r>
              <a:rPr sz="880" b="1" i="0">
                <a:solidFill>
                  <a:srgbClr val="082B55"/>
                </a:solidFill>
                <a:latin typeface="Arial"/>
              </a:rPr>
              <a:t>Multiple</a:t>
            </a:r>
          </a:p>
        </p:txBody>
      </p:sp>
      <p:sp>
        <p:nvSpPr>
          <p:cNvPr id="26" name="TextBox 25"/>
          <p:cNvSpPr txBox="1"/>
          <p:nvPr/>
        </p:nvSpPr>
        <p:spPr>
          <a:xfrm>
            <a:off x="466344" y="3877056"/>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Tissues</a:t>
            </a:r>
          </a:p>
        </p:txBody>
      </p:sp>
      <p:sp>
        <p:nvSpPr>
          <p:cNvPr id="27" name="TextBox 26"/>
          <p:cNvSpPr txBox="1"/>
          <p:nvPr/>
        </p:nvSpPr>
        <p:spPr>
          <a:xfrm>
            <a:off x="512064" y="4128515"/>
            <a:ext cx="813815" cy="210312"/>
          </a:xfrm>
          <a:prstGeom prst="rect">
            <a:avLst/>
          </a:prstGeom>
          <a:noFill/>
        </p:spPr>
        <p:txBody>
          <a:bodyPr wrap="square" lIns="0" rIns="0" tIns="0" bIns="0" anchor="ctr">
            <a:spAutoFit/>
          </a:bodyPr>
          <a:lstStyle/>
          <a:p>
            <a:pPr algn="ctr">
              <a:lnSpc>
                <a:spcPct val="100000"/>
              </a:lnSpc>
              <a:spcBef>
                <a:spcPts val="0"/>
              </a:spcBef>
              <a:spcAft>
                <a:spcPts val="0"/>
              </a:spcAft>
            </a:pPr>
            <a:r>
              <a:rPr sz="880" b="0" i="0">
                <a:solidFill>
                  <a:srgbClr val="8A969E"/>
                </a:solidFill>
                <a:latin typeface="Arial"/>
              </a:rPr>
              <a:t>Per tissue</a:t>
            </a:r>
          </a:p>
        </p:txBody>
      </p:sp>
      <p:sp>
        <p:nvSpPr>
          <p:cNvPr id="28" name="Rectangle 27"/>
          <p:cNvSpPr/>
          <p:nvPr/>
        </p:nvSpPr>
        <p:spPr>
          <a:xfrm>
            <a:off x="1417319" y="4078224"/>
            <a:ext cx="905255" cy="329184"/>
          </a:xfrm>
          <a:prstGeom prst="rect">
            <a:avLst/>
          </a:prstGeom>
          <a:solidFill>
            <a:srgbClr val="FFFFFF"/>
          </a:solidFill>
          <a:ln w="228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17319" y="4078224"/>
            <a:ext cx="32004" cy="32918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63039" y="4128515"/>
            <a:ext cx="813815" cy="210312"/>
          </a:xfrm>
          <a:prstGeom prst="rect">
            <a:avLst/>
          </a:prstGeom>
          <a:noFill/>
        </p:spPr>
        <p:txBody>
          <a:bodyPr wrap="square" lIns="0" rIns="0" tIns="0" bIns="0" anchor="ctr">
            <a:spAutoFit/>
          </a:bodyPr>
          <a:lstStyle/>
          <a:p>
            <a:pPr algn="ctr">
              <a:lnSpc>
                <a:spcPct val="100000"/>
              </a:lnSpc>
              <a:spcBef>
                <a:spcPts val="0"/>
              </a:spcBef>
              <a:spcAft>
                <a:spcPts val="0"/>
              </a:spcAft>
            </a:pPr>
            <a:r>
              <a:rPr sz="880" b="1" i="0">
                <a:solidFill>
                  <a:srgbClr val="082B55"/>
                </a:solidFill>
                <a:latin typeface="Arial"/>
              </a:rPr>
              <a:t>All tissues</a:t>
            </a:r>
          </a:p>
        </p:txBody>
      </p:sp>
      <p:sp>
        <p:nvSpPr>
          <p:cNvPr id="31" name="TextBox 30"/>
          <p:cNvSpPr txBox="1"/>
          <p:nvPr/>
        </p:nvSpPr>
        <p:spPr>
          <a:xfrm>
            <a:off x="2779776" y="1965960"/>
            <a:ext cx="310896"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8A969E"/>
                </a:solidFill>
                <a:latin typeface="Arial"/>
              </a:rPr>
              <a:t>02</a:t>
            </a:r>
          </a:p>
        </p:txBody>
      </p:sp>
      <p:sp>
        <p:nvSpPr>
          <p:cNvPr id="32" name="TextBox 31"/>
          <p:cNvSpPr txBox="1"/>
          <p:nvPr/>
        </p:nvSpPr>
        <p:spPr>
          <a:xfrm>
            <a:off x="3163824" y="1929384"/>
            <a:ext cx="1499616" cy="29260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20" b="1" i="0">
                <a:solidFill>
                  <a:srgbClr val="082B55"/>
                </a:solidFill>
                <a:latin typeface="Arial"/>
              </a:rPr>
              <a:t>Processing</a:t>
            </a:r>
          </a:p>
        </p:txBody>
      </p:sp>
      <p:sp>
        <p:nvSpPr>
          <p:cNvPr id="33" name="Rectangle 32"/>
          <p:cNvSpPr/>
          <p:nvPr/>
        </p:nvSpPr>
        <p:spPr>
          <a:xfrm>
            <a:off x="2779776" y="2331720"/>
            <a:ext cx="1874519" cy="20116"/>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98064" y="2487168"/>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Expression</a:t>
            </a:r>
          </a:p>
        </p:txBody>
      </p:sp>
      <p:sp>
        <p:nvSpPr>
          <p:cNvPr id="35" name="TextBox 34"/>
          <p:cNvSpPr txBox="1"/>
          <p:nvPr/>
        </p:nvSpPr>
        <p:spPr>
          <a:xfrm>
            <a:off x="2843784" y="2738628"/>
            <a:ext cx="496823" cy="210312"/>
          </a:xfrm>
          <a:prstGeom prst="rect">
            <a:avLst/>
          </a:prstGeom>
          <a:noFill/>
        </p:spPr>
        <p:txBody>
          <a:bodyPr wrap="square" lIns="0" rIns="0" tIns="0" bIns="0" anchor="ctr">
            <a:spAutoFit/>
          </a:bodyPr>
          <a:lstStyle/>
          <a:p>
            <a:pPr algn="ctr">
              <a:lnSpc>
                <a:spcPct val="100000"/>
              </a:lnSpc>
              <a:spcBef>
                <a:spcPts val="0"/>
              </a:spcBef>
              <a:spcAft>
                <a:spcPts val="0"/>
              </a:spcAft>
            </a:pPr>
            <a:r>
              <a:rPr sz="819" b="0" i="0">
                <a:solidFill>
                  <a:srgbClr val="8A969E"/>
                </a:solidFill>
                <a:latin typeface="Arial"/>
              </a:rPr>
              <a:t>Raw</a:t>
            </a:r>
          </a:p>
        </p:txBody>
      </p:sp>
      <p:sp>
        <p:nvSpPr>
          <p:cNvPr id="36" name="TextBox 35"/>
          <p:cNvSpPr txBox="1"/>
          <p:nvPr/>
        </p:nvSpPr>
        <p:spPr>
          <a:xfrm>
            <a:off x="3477768" y="2738628"/>
            <a:ext cx="496823" cy="210312"/>
          </a:xfrm>
          <a:prstGeom prst="rect">
            <a:avLst/>
          </a:prstGeom>
          <a:noFill/>
        </p:spPr>
        <p:txBody>
          <a:bodyPr wrap="square" lIns="0" rIns="0" tIns="0" bIns="0" anchor="ctr">
            <a:spAutoFit/>
          </a:bodyPr>
          <a:lstStyle/>
          <a:p>
            <a:pPr algn="ctr">
              <a:lnSpc>
                <a:spcPct val="100000"/>
              </a:lnSpc>
              <a:spcBef>
                <a:spcPts val="0"/>
              </a:spcBef>
              <a:spcAft>
                <a:spcPts val="0"/>
              </a:spcAft>
            </a:pPr>
            <a:r>
              <a:rPr sz="819" b="0" i="0">
                <a:solidFill>
                  <a:srgbClr val="8A969E"/>
                </a:solidFill>
                <a:latin typeface="Arial"/>
              </a:rPr>
              <a:t>CPM</a:t>
            </a:r>
          </a:p>
        </p:txBody>
      </p:sp>
      <p:sp>
        <p:nvSpPr>
          <p:cNvPr id="37" name="Rectangle 36"/>
          <p:cNvSpPr/>
          <p:nvPr/>
        </p:nvSpPr>
        <p:spPr>
          <a:xfrm>
            <a:off x="4066031" y="2688336"/>
            <a:ext cx="588263"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066031" y="2688336"/>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1751" y="2738628"/>
            <a:ext cx="496823" cy="21031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2B55"/>
                </a:solidFill>
                <a:latin typeface="Arial"/>
              </a:rPr>
              <a:t>TPM</a:t>
            </a:r>
          </a:p>
        </p:txBody>
      </p:sp>
      <p:sp>
        <p:nvSpPr>
          <p:cNvPr id="40" name="TextBox 39"/>
          <p:cNvSpPr txBox="1"/>
          <p:nvPr/>
        </p:nvSpPr>
        <p:spPr>
          <a:xfrm>
            <a:off x="2798064" y="3182112"/>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Scaling</a:t>
            </a:r>
          </a:p>
        </p:txBody>
      </p:sp>
      <p:sp>
        <p:nvSpPr>
          <p:cNvPr id="41" name="TextBox 40"/>
          <p:cNvSpPr txBox="1"/>
          <p:nvPr/>
        </p:nvSpPr>
        <p:spPr>
          <a:xfrm>
            <a:off x="2843784" y="3433572"/>
            <a:ext cx="496823" cy="210312"/>
          </a:xfrm>
          <a:prstGeom prst="rect">
            <a:avLst/>
          </a:prstGeom>
          <a:noFill/>
        </p:spPr>
        <p:txBody>
          <a:bodyPr wrap="square" lIns="0" rIns="0" tIns="0" bIns="0" anchor="ctr">
            <a:spAutoFit/>
          </a:bodyPr>
          <a:lstStyle/>
          <a:p>
            <a:pPr algn="ctr">
              <a:lnSpc>
                <a:spcPct val="100000"/>
              </a:lnSpc>
              <a:spcBef>
                <a:spcPts val="0"/>
              </a:spcBef>
              <a:spcAft>
                <a:spcPts val="0"/>
              </a:spcAft>
            </a:pPr>
            <a:r>
              <a:rPr sz="819" b="0" i="0">
                <a:solidFill>
                  <a:srgbClr val="8A969E"/>
                </a:solidFill>
                <a:latin typeface="Arial"/>
              </a:rPr>
              <a:t>None</a:t>
            </a:r>
          </a:p>
        </p:txBody>
      </p:sp>
      <p:sp>
        <p:nvSpPr>
          <p:cNvPr id="42" name="TextBox 41"/>
          <p:cNvSpPr txBox="1"/>
          <p:nvPr/>
        </p:nvSpPr>
        <p:spPr>
          <a:xfrm>
            <a:off x="3477768" y="3433572"/>
            <a:ext cx="496823" cy="210312"/>
          </a:xfrm>
          <a:prstGeom prst="rect">
            <a:avLst/>
          </a:prstGeom>
          <a:noFill/>
        </p:spPr>
        <p:txBody>
          <a:bodyPr wrap="square" lIns="0" rIns="0" tIns="0" bIns="0" anchor="ctr">
            <a:spAutoFit/>
          </a:bodyPr>
          <a:lstStyle/>
          <a:p>
            <a:pPr algn="ctr">
              <a:lnSpc>
                <a:spcPct val="100000"/>
              </a:lnSpc>
              <a:spcBef>
                <a:spcPts val="0"/>
              </a:spcBef>
              <a:spcAft>
                <a:spcPts val="0"/>
              </a:spcAft>
            </a:pPr>
            <a:r>
              <a:rPr sz="819" b="0" i="0">
                <a:solidFill>
                  <a:srgbClr val="8A969E"/>
                </a:solidFill>
                <a:latin typeface="Arial"/>
              </a:rPr>
              <a:t>Z-score</a:t>
            </a:r>
          </a:p>
        </p:txBody>
      </p:sp>
      <p:sp>
        <p:nvSpPr>
          <p:cNvPr id="43" name="Rectangle 42"/>
          <p:cNvSpPr/>
          <p:nvPr/>
        </p:nvSpPr>
        <p:spPr>
          <a:xfrm>
            <a:off x="4066031" y="3383280"/>
            <a:ext cx="588263"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066031" y="3383280"/>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1751" y="3433572"/>
            <a:ext cx="496823" cy="21031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082B55"/>
                </a:solidFill>
                <a:latin typeface="Arial"/>
              </a:rPr>
              <a:t>MaxAbs</a:t>
            </a:r>
          </a:p>
        </p:txBody>
      </p:sp>
      <p:sp>
        <p:nvSpPr>
          <p:cNvPr id="46" name="TextBox 45"/>
          <p:cNvSpPr txBox="1"/>
          <p:nvPr/>
        </p:nvSpPr>
        <p:spPr>
          <a:xfrm>
            <a:off x="2798064" y="3877056"/>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Features</a:t>
            </a:r>
          </a:p>
        </p:txBody>
      </p:sp>
      <p:sp>
        <p:nvSpPr>
          <p:cNvPr id="47" name="TextBox 46"/>
          <p:cNvSpPr txBox="1"/>
          <p:nvPr/>
        </p:nvSpPr>
        <p:spPr>
          <a:xfrm>
            <a:off x="2843784" y="4128515"/>
            <a:ext cx="813816" cy="210312"/>
          </a:xfrm>
          <a:prstGeom prst="rect">
            <a:avLst/>
          </a:prstGeom>
          <a:noFill/>
        </p:spPr>
        <p:txBody>
          <a:bodyPr wrap="square" lIns="0" rIns="0" tIns="0" bIns="0" anchor="ctr">
            <a:spAutoFit/>
          </a:bodyPr>
          <a:lstStyle/>
          <a:p>
            <a:pPr algn="ctr">
              <a:lnSpc>
                <a:spcPct val="100000"/>
              </a:lnSpc>
              <a:spcBef>
                <a:spcPts val="0"/>
              </a:spcBef>
              <a:spcAft>
                <a:spcPts val="0"/>
              </a:spcAft>
            </a:pPr>
            <a:r>
              <a:rPr sz="770" b="0" i="0">
                <a:solidFill>
                  <a:srgbClr val="8A969E"/>
                </a:solidFill>
                <a:latin typeface="Arial"/>
              </a:rPr>
              <a:t>All genes</a:t>
            </a:r>
          </a:p>
        </p:txBody>
      </p:sp>
      <p:sp>
        <p:nvSpPr>
          <p:cNvPr id="48" name="TextBox 47"/>
          <p:cNvSpPr txBox="1"/>
          <p:nvPr/>
        </p:nvSpPr>
        <p:spPr>
          <a:xfrm>
            <a:off x="3794759" y="4128515"/>
            <a:ext cx="813816" cy="210312"/>
          </a:xfrm>
          <a:prstGeom prst="rect">
            <a:avLst/>
          </a:prstGeom>
          <a:noFill/>
        </p:spPr>
        <p:txBody>
          <a:bodyPr wrap="square" lIns="0" rIns="0" tIns="0" bIns="0" anchor="ctr">
            <a:spAutoFit/>
          </a:bodyPr>
          <a:lstStyle/>
          <a:p>
            <a:pPr algn="ctr">
              <a:lnSpc>
                <a:spcPct val="100000"/>
              </a:lnSpc>
              <a:spcBef>
                <a:spcPts val="0"/>
              </a:spcBef>
              <a:spcAft>
                <a:spcPts val="0"/>
              </a:spcAft>
            </a:pPr>
            <a:r>
              <a:rPr sz="770" b="0" i="0">
                <a:solidFill>
                  <a:srgbClr val="8A969E"/>
                </a:solidFill>
                <a:latin typeface="Arial"/>
              </a:rPr>
              <a:t>HVGs</a:t>
            </a:r>
          </a:p>
        </p:txBody>
      </p:sp>
      <p:sp>
        <p:nvSpPr>
          <p:cNvPr id="49" name="TextBox 48"/>
          <p:cNvSpPr txBox="1"/>
          <p:nvPr/>
        </p:nvSpPr>
        <p:spPr>
          <a:xfrm>
            <a:off x="2843784" y="4494276"/>
            <a:ext cx="813816" cy="210312"/>
          </a:xfrm>
          <a:prstGeom prst="rect">
            <a:avLst/>
          </a:prstGeom>
          <a:noFill/>
        </p:spPr>
        <p:txBody>
          <a:bodyPr wrap="square" lIns="0" rIns="0" tIns="0" bIns="0" anchor="ctr">
            <a:spAutoFit/>
          </a:bodyPr>
          <a:lstStyle/>
          <a:p>
            <a:pPr algn="ctr">
              <a:lnSpc>
                <a:spcPct val="100000"/>
              </a:lnSpc>
              <a:spcBef>
                <a:spcPts val="0"/>
              </a:spcBef>
              <a:spcAft>
                <a:spcPts val="0"/>
              </a:spcAft>
            </a:pPr>
            <a:r>
              <a:rPr sz="770" b="0" i="0">
                <a:solidFill>
                  <a:srgbClr val="8A969E"/>
                </a:solidFill>
                <a:latin typeface="Arial"/>
              </a:rPr>
              <a:t>Reactome</a:t>
            </a:r>
          </a:p>
        </p:txBody>
      </p:sp>
      <p:sp>
        <p:nvSpPr>
          <p:cNvPr id="50" name="Rectangle 49"/>
          <p:cNvSpPr/>
          <p:nvPr/>
        </p:nvSpPr>
        <p:spPr>
          <a:xfrm>
            <a:off x="3749039" y="4443984"/>
            <a:ext cx="905256"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749039" y="4443984"/>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94759" y="4494276"/>
            <a:ext cx="813816" cy="210312"/>
          </a:xfrm>
          <a:prstGeom prst="rect">
            <a:avLst/>
          </a:prstGeom>
          <a:noFill/>
        </p:spPr>
        <p:txBody>
          <a:bodyPr wrap="square" lIns="0" rIns="0" tIns="0" bIns="0" anchor="ctr">
            <a:spAutoFit/>
          </a:bodyPr>
          <a:lstStyle/>
          <a:p>
            <a:pPr algn="ctr">
              <a:lnSpc>
                <a:spcPct val="100000"/>
              </a:lnSpc>
              <a:spcBef>
                <a:spcPts val="0"/>
              </a:spcBef>
              <a:spcAft>
                <a:spcPts val="0"/>
              </a:spcAft>
            </a:pPr>
            <a:r>
              <a:rPr sz="770" b="1" i="0">
                <a:solidFill>
                  <a:srgbClr val="082B55"/>
                </a:solidFill>
                <a:latin typeface="Arial"/>
              </a:rPr>
              <a:t>L1000 map</a:t>
            </a:r>
          </a:p>
        </p:txBody>
      </p:sp>
      <p:sp>
        <p:nvSpPr>
          <p:cNvPr id="53" name="TextBox 52"/>
          <p:cNvSpPr txBox="1"/>
          <p:nvPr/>
        </p:nvSpPr>
        <p:spPr>
          <a:xfrm>
            <a:off x="5111496" y="1965960"/>
            <a:ext cx="310896"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8A969E"/>
                </a:solidFill>
                <a:latin typeface="Arial"/>
              </a:rPr>
              <a:t>03</a:t>
            </a:r>
          </a:p>
        </p:txBody>
      </p:sp>
      <p:sp>
        <p:nvSpPr>
          <p:cNvPr id="54" name="TextBox 53"/>
          <p:cNvSpPr txBox="1"/>
          <p:nvPr/>
        </p:nvSpPr>
        <p:spPr>
          <a:xfrm>
            <a:off x="5495544" y="1929384"/>
            <a:ext cx="1499616" cy="29260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20" b="1" i="0">
                <a:solidFill>
                  <a:srgbClr val="082B55"/>
                </a:solidFill>
                <a:latin typeface="Arial"/>
              </a:rPr>
              <a:t>Study effects</a:t>
            </a:r>
          </a:p>
        </p:txBody>
      </p:sp>
      <p:sp>
        <p:nvSpPr>
          <p:cNvPr id="55" name="Rectangle 54"/>
          <p:cNvSpPr/>
          <p:nvPr/>
        </p:nvSpPr>
        <p:spPr>
          <a:xfrm>
            <a:off x="5111496" y="2331720"/>
            <a:ext cx="1874519" cy="20116"/>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29784" y="2487168"/>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Alternative methods</a:t>
            </a:r>
          </a:p>
        </p:txBody>
      </p:sp>
      <p:sp>
        <p:nvSpPr>
          <p:cNvPr id="57" name="Rectangle 56"/>
          <p:cNvSpPr/>
          <p:nvPr/>
        </p:nvSpPr>
        <p:spPr>
          <a:xfrm>
            <a:off x="5129784" y="2688336"/>
            <a:ext cx="1856231"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129784" y="2688336"/>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75504" y="2738628"/>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919" b="1" i="0">
                <a:solidFill>
                  <a:srgbClr val="082B55"/>
                </a:solidFill>
                <a:latin typeface="Arial"/>
              </a:rPr>
              <a:t>None</a:t>
            </a:r>
          </a:p>
        </p:txBody>
      </p:sp>
      <p:sp>
        <p:nvSpPr>
          <p:cNvPr id="60" name="TextBox 59"/>
          <p:cNvSpPr txBox="1"/>
          <p:nvPr/>
        </p:nvSpPr>
        <p:spPr>
          <a:xfrm>
            <a:off x="5175504" y="3195828"/>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919" b="0" i="0">
                <a:solidFill>
                  <a:srgbClr val="8A969E"/>
                </a:solidFill>
                <a:latin typeface="Arial"/>
              </a:rPr>
              <a:t>Within-study z-score</a:t>
            </a:r>
          </a:p>
        </p:txBody>
      </p:sp>
      <p:sp>
        <p:nvSpPr>
          <p:cNvPr id="61" name="TextBox 60"/>
          <p:cNvSpPr txBox="1"/>
          <p:nvPr/>
        </p:nvSpPr>
        <p:spPr>
          <a:xfrm>
            <a:off x="5175504" y="3653028"/>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919" b="0" i="0">
                <a:solidFill>
                  <a:srgbClr val="8A969E"/>
                </a:solidFill>
                <a:latin typeface="Arial"/>
              </a:rPr>
              <a:t>ComBat / MBatch</a:t>
            </a:r>
          </a:p>
        </p:txBody>
      </p:sp>
      <p:sp>
        <p:nvSpPr>
          <p:cNvPr id="62" name="TextBox 61"/>
          <p:cNvSpPr txBox="1"/>
          <p:nvPr/>
        </p:nvSpPr>
        <p:spPr>
          <a:xfrm>
            <a:off x="5175504" y="4110227"/>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919" b="0" i="0">
                <a:solidFill>
                  <a:srgbClr val="8A969E"/>
                </a:solidFill>
                <a:latin typeface="Arial"/>
              </a:rPr>
              <a:t>MOBER</a:t>
            </a:r>
          </a:p>
        </p:txBody>
      </p:sp>
      <p:sp>
        <p:nvSpPr>
          <p:cNvPr id="63" name="TextBox 62"/>
          <p:cNvSpPr txBox="1"/>
          <p:nvPr/>
        </p:nvSpPr>
        <p:spPr>
          <a:xfrm>
            <a:off x="7443216" y="1965960"/>
            <a:ext cx="310896"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8A969E"/>
                </a:solidFill>
                <a:latin typeface="Arial"/>
              </a:rPr>
              <a:t>04</a:t>
            </a:r>
          </a:p>
        </p:txBody>
      </p:sp>
      <p:sp>
        <p:nvSpPr>
          <p:cNvPr id="64" name="TextBox 63"/>
          <p:cNvSpPr txBox="1"/>
          <p:nvPr/>
        </p:nvSpPr>
        <p:spPr>
          <a:xfrm>
            <a:off x="7827264" y="1929384"/>
            <a:ext cx="1499616" cy="29260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20" b="1" i="0">
                <a:solidFill>
                  <a:srgbClr val="082B55"/>
                </a:solidFill>
                <a:latin typeface="Arial"/>
              </a:rPr>
              <a:t>Model training</a:t>
            </a:r>
          </a:p>
        </p:txBody>
      </p:sp>
      <p:sp>
        <p:nvSpPr>
          <p:cNvPr id="65" name="Rectangle 64"/>
          <p:cNvSpPr/>
          <p:nvPr/>
        </p:nvSpPr>
        <p:spPr>
          <a:xfrm>
            <a:off x="7443216" y="2331720"/>
            <a:ext cx="1874519" cy="20116"/>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61504" y="2487168"/>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Generator</a:t>
            </a:r>
          </a:p>
        </p:txBody>
      </p:sp>
      <p:sp>
        <p:nvSpPr>
          <p:cNvPr id="67" name="TextBox 66"/>
          <p:cNvSpPr txBox="1"/>
          <p:nvPr/>
        </p:nvSpPr>
        <p:spPr>
          <a:xfrm>
            <a:off x="7507224" y="2738628"/>
            <a:ext cx="813815" cy="210312"/>
          </a:xfrm>
          <a:prstGeom prst="rect">
            <a:avLst/>
          </a:prstGeom>
          <a:noFill/>
        </p:spPr>
        <p:txBody>
          <a:bodyPr wrap="square" lIns="0" rIns="0" tIns="0" bIns="0" anchor="ctr">
            <a:spAutoFit/>
          </a:bodyPr>
          <a:lstStyle/>
          <a:p>
            <a:pPr algn="ctr">
              <a:lnSpc>
                <a:spcPct val="100000"/>
              </a:lnSpc>
              <a:spcBef>
                <a:spcPts val="0"/>
              </a:spcBef>
              <a:spcAft>
                <a:spcPts val="0"/>
              </a:spcAft>
            </a:pPr>
            <a:r>
              <a:rPr sz="880" b="0" i="0">
                <a:solidFill>
                  <a:srgbClr val="8A969E"/>
                </a:solidFill>
                <a:latin typeface="Arial"/>
              </a:rPr>
              <a:t>WGAN-GP</a:t>
            </a:r>
          </a:p>
        </p:txBody>
      </p:sp>
      <p:sp>
        <p:nvSpPr>
          <p:cNvPr id="68" name="Rectangle 67"/>
          <p:cNvSpPr/>
          <p:nvPr/>
        </p:nvSpPr>
        <p:spPr>
          <a:xfrm>
            <a:off x="8412480" y="2688336"/>
            <a:ext cx="905255" cy="329184"/>
          </a:xfrm>
          <a:prstGeom prst="rect">
            <a:avLst/>
          </a:prstGeom>
          <a:solidFill>
            <a:srgbClr val="FFFFFF"/>
          </a:solidFill>
          <a:ln w="22860">
            <a:solidFill>
              <a:srgbClr val="D37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412480" y="2688336"/>
            <a:ext cx="32004" cy="329184"/>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58200" y="2738628"/>
            <a:ext cx="813815" cy="210312"/>
          </a:xfrm>
          <a:prstGeom prst="rect">
            <a:avLst/>
          </a:prstGeom>
          <a:noFill/>
        </p:spPr>
        <p:txBody>
          <a:bodyPr wrap="square" lIns="0" rIns="0" tIns="0" bIns="0" anchor="ctr">
            <a:spAutoFit/>
          </a:bodyPr>
          <a:lstStyle/>
          <a:p>
            <a:pPr algn="ctr">
              <a:lnSpc>
                <a:spcPct val="100000"/>
              </a:lnSpc>
              <a:spcBef>
                <a:spcPts val="0"/>
              </a:spcBef>
              <a:spcAft>
                <a:spcPts val="0"/>
              </a:spcAft>
            </a:pPr>
            <a:r>
              <a:rPr sz="880" b="1" i="0">
                <a:solidFill>
                  <a:srgbClr val="082B55"/>
                </a:solidFill>
                <a:latin typeface="Arial"/>
              </a:rPr>
              <a:t>DDIM</a:t>
            </a:r>
          </a:p>
        </p:txBody>
      </p:sp>
      <p:sp>
        <p:nvSpPr>
          <p:cNvPr id="71" name="TextBox 70"/>
          <p:cNvSpPr txBox="1"/>
          <p:nvPr/>
        </p:nvSpPr>
        <p:spPr>
          <a:xfrm>
            <a:off x="7461504" y="3182112"/>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Training source</a:t>
            </a:r>
          </a:p>
        </p:txBody>
      </p:sp>
      <p:sp>
        <p:nvSpPr>
          <p:cNvPr id="72" name="TextBox 71"/>
          <p:cNvSpPr txBox="1"/>
          <p:nvPr/>
        </p:nvSpPr>
        <p:spPr>
          <a:xfrm>
            <a:off x="7507224" y="3433572"/>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919" b="0" i="0">
                <a:solidFill>
                  <a:srgbClr val="8A969E"/>
                </a:solidFill>
                <a:latin typeface="Arial"/>
              </a:rPr>
              <a:t>OSDR only</a:t>
            </a:r>
          </a:p>
        </p:txBody>
      </p:sp>
      <p:sp>
        <p:nvSpPr>
          <p:cNvPr id="73" name="TextBox 72"/>
          <p:cNvSpPr txBox="1"/>
          <p:nvPr/>
        </p:nvSpPr>
        <p:spPr>
          <a:xfrm>
            <a:off x="7507224" y="3890772"/>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919" b="0" i="0">
                <a:solidFill>
                  <a:srgbClr val="8A969E"/>
                </a:solidFill>
                <a:latin typeface="Arial"/>
              </a:rPr>
              <a:t>ARCHS4 only</a:t>
            </a:r>
          </a:p>
        </p:txBody>
      </p:sp>
      <p:sp>
        <p:nvSpPr>
          <p:cNvPr id="74" name="Rectangle 73"/>
          <p:cNvSpPr/>
          <p:nvPr/>
        </p:nvSpPr>
        <p:spPr>
          <a:xfrm>
            <a:off x="7461504" y="4297680"/>
            <a:ext cx="1856231" cy="329184"/>
          </a:xfrm>
          <a:prstGeom prst="rect">
            <a:avLst/>
          </a:prstGeom>
          <a:solidFill>
            <a:srgbClr val="FFFFFF"/>
          </a:solidFill>
          <a:ln w="22860">
            <a:solidFill>
              <a:srgbClr val="D37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461504" y="4297680"/>
            <a:ext cx="32004" cy="329184"/>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507224" y="4347972"/>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919" b="1" i="0">
                <a:solidFill>
                  <a:srgbClr val="082B55"/>
                </a:solidFill>
                <a:latin typeface="Arial"/>
              </a:rPr>
              <a:t>ARCHS4 then OSDR</a:t>
            </a:r>
          </a:p>
        </p:txBody>
      </p:sp>
      <p:sp>
        <p:nvSpPr>
          <p:cNvPr id="77" name="TextBox 76"/>
          <p:cNvSpPr txBox="1"/>
          <p:nvPr/>
        </p:nvSpPr>
        <p:spPr>
          <a:xfrm>
            <a:off x="9774936" y="1965960"/>
            <a:ext cx="310896" cy="219456"/>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8A969E"/>
                </a:solidFill>
                <a:latin typeface="Arial"/>
              </a:rPr>
              <a:t>05</a:t>
            </a:r>
          </a:p>
        </p:txBody>
      </p:sp>
      <p:sp>
        <p:nvSpPr>
          <p:cNvPr id="78" name="TextBox 77"/>
          <p:cNvSpPr txBox="1"/>
          <p:nvPr/>
        </p:nvSpPr>
        <p:spPr>
          <a:xfrm>
            <a:off x="10158984" y="1929384"/>
            <a:ext cx="1499616" cy="292608"/>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20" b="1" i="0">
                <a:solidFill>
                  <a:srgbClr val="082B55"/>
                </a:solidFill>
                <a:latin typeface="Arial"/>
              </a:rPr>
              <a:t>Conditioning</a:t>
            </a:r>
          </a:p>
        </p:txBody>
      </p:sp>
      <p:sp>
        <p:nvSpPr>
          <p:cNvPr id="79" name="Rectangle 78"/>
          <p:cNvSpPr/>
          <p:nvPr/>
        </p:nvSpPr>
        <p:spPr>
          <a:xfrm>
            <a:off x="9774936" y="2331720"/>
            <a:ext cx="1874519" cy="20116"/>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793224" y="2487168"/>
            <a:ext cx="1847088" cy="164592"/>
          </a:xfrm>
          <a:prstGeom prst="rect">
            <a:avLst/>
          </a:prstGeom>
          <a:noFill/>
        </p:spPr>
        <p:txBody>
          <a:bodyPr wrap="square" lIns="0" rIns="0" tIns="0" bIns="0" anchor="t">
            <a:spAutoFit/>
          </a:bodyPr>
          <a:lstStyle/>
          <a:p>
            <a:pPr algn="l">
              <a:lnSpc>
                <a:spcPct val="100000"/>
              </a:lnSpc>
              <a:spcBef>
                <a:spcPts val="0"/>
              </a:spcBef>
              <a:spcAft>
                <a:spcPts val="0"/>
              </a:spcAft>
            </a:pPr>
            <a:r>
              <a:rPr sz="840" b="1" i="0">
                <a:solidFill>
                  <a:srgbClr val="59697A"/>
                </a:solidFill>
                <a:latin typeface="Arial"/>
              </a:rPr>
              <a:t>Model inputs</a:t>
            </a:r>
          </a:p>
        </p:txBody>
      </p:sp>
      <p:sp>
        <p:nvSpPr>
          <p:cNvPr id="81" name="Rectangle 80"/>
          <p:cNvSpPr/>
          <p:nvPr/>
        </p:nvSpPr>
        <p:spPr>
          <a:xfrm>
            <a:off x="9793224" y="2670048"/>
            <a:ext cx="1856231"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793224" y="2670048"/>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838944" y="2720340"/>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890" b="1" i="0">
                <a:solidFill>
                  <a:srgbClr val="082B55"/>
                </a:solidFill>
                <a:latin typeface="Arial"/>
              </a:rPr>
              <a:t>Tissue</a:t>
            </a:r>
          </a:p>
        </p:txBody>
      </p:sp>
      <p:sp>
        <p:nvSpPr>
          <p:cNvPr id="84" name="Rectangle 83"/>
          <p:cNvSpPr/>
          <p:nvPr/>
        </p:nvSpPr>
        <p:spPr>
          <a:xfrm>
            <a:off x="9793224" y="3054096"/>
            <a:ext cx="1856231"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793224" y="3054096"/>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38944" y="3104388"/>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890" b="1" i="0">
                <a:solidFill>
                  <a:srgbClr val="082B55"/>
                </a:solidFill>
                <a:latin typeface="Arial"/>
              </a:rPr>
              <a:t>FLT / GC</a:t>
            </a:r>
          </a:p>
        </p:txBody>
      </p:sp>
      <p:sp>
        <p:nvSpPr>
          <p:cNvPr id="87" name="Rectangle 86"/>
          <p:cNvSpPr/>
          <p:nvPr/>
        </p:nvSpPr>
        <p:spPr>
          <a:xfrm>
            <a:off x="9793224" y="3438144"/>
            <a:ext cx="1856231"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793224" y="3438144"/>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838944" y="3488436"/>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890" b="1" i="0">
                <a:solidFill>
                  <a:srgbClr val="082B55"/>
                </a:solidFill>
                <a:latin typeface="Arial"/>
              </a:rPr>
              <a:t>Study</a:t>
            </a:r>
          </a:p>
        </p:txBody>
      </p:sp>
      <p:sp>
        <p:nvSpPr>
          <p:cNvPr id="90" name="Rectangle 89"/>
          <p:cNvSpPr/>
          <p:nvPr/>
        </p:nvSpPr>
        <p:spPr>
          <a:xfrm>
            <a:off x="9793224" y="3822191"/>
            <a:ext cx="1856231"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793224" y="3822191"/>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838944" y="3872483"/>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890" b="1" i="0">
                <a:solidFill>
                  <a:srgbClr val="082B55"/>
                </a:solidFill>
                <a:latin typeface="Arial"/>
              </a:rPr>
              <a:t>Material type</a:t>
            </a:r>
          </a:p>
        </p:txBody>
      </p:sp>
      <p:sp>
        <p:nvSpPr>
          <p:cNvPr id="93" name="TextBox 92"/>
          <p:cNvSpPr txBox="1"/>
          <p:nvPr/>
        </p:nvSpPr>
        <p:spPr>
          <a:xfrm>
            <a:off x="9838944" y="4256531"/>
            <a:ext cx="1764791" cy="210312"/>
          </a:xfrm>
          <a:prstGeom prst="rect">
            <a:avLst/>
          </a:prstGeom>
          <a:noFill/>
        </p:spPr>
        <p:txBody>
          <a:bodyPr wrap="square" lIns="0" rIns="0" tIns="0" bIns="0" anchor="ctr">
            <a:spAutoFit/>
          </a:bodyPr>
          <a:lstStyle/>
          <a:p>
            <a:pPr algn="ctr">
              <a:lnSpc>
                <a:spcPct val="100000"/>
              </a:lnSpc>
              <a:spcBef>
                <a:spcPts val="0"/>
              </a:spcBef>
              <a:spcAft>
                <a:spcPts val="0"/>
              </a:spcAft>
            </a:pPr>
            <a:r>
              <a:rPr sz="890" b="0" i="0">
                <a:solidFill>
                  <a:srgbClr val="8A969E"/>
                </a:solidFill>
                <a:latin typeface="Arial"/>
              </a:rPr>
              <a:t>Sex / age</a:t>
            </a:r>
          </a:p>
        </p:txBody>
      </p:sp>
      <p:sp>
        <p:nvSpPr>
          <p:cNvPr id="94" name="Rectangle 93"/>
          <p:cNvSpPr/>
          <p:nvPr/>
        </p:nvSpPr>
        <p:spPr>
          <a:xfrm>
            <a:off x="320040" y="5093208"/>
            <a:ext cx="11475720" cy="1124712"/>
          </a:xfrm>
          <a:prstGeom prst="rect">
            <a:avLst/>
          </a:prstGeom>
          <a:solidFill>
            <a:srgbClr val="F7F9FA"/>
          </a:solidFill>
          <a:ln w="10160">
            <a:solidFill>
              <a:srgbClr val="F7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20040" y="5093208"/>
            <a:ext cx="11475720" cy="16459"/>
          </a:xfrm>
          <a:prstGeom prst="rect">
            <a:avLst/>
          </a:prstGeom>
          <a:solidFill>
            <a:srgbClr val="C9D3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85216" y="5303520"/>
            <a:ext cx="1298448"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80" b="1" i="0">
                <a:solidFill>
                  <a:srgbClr val="082B55"/>
                </a:solidFill>
                <a:latin typeface="Arial"/>
              </a:rPr>
              <a:t>Downstream</a:t>
            </a:r>
          </a:p>
        </p:txBody>
      </p:sp>
      <p:sp>
        <p:nvSpPr>
          <p:cNvPr id="97" name="TextBox 96"/>
          <p:cNvSpPr txBox="1"/>
          <p:nvPr/>
        </p:nvSpPr>
        <p:spPr>
          <a:xfrm>
            <a:off x="585216" y="5641848"/>
            <a:ext cx="1234440" cy="21945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960" b="0" i="0">
                <a:solidFill>
                  <a:srgbClr val="59697A"/>
                </a:solidFill>
                <a:latin typeface="Arial"/>
              </a:rPr>
              <a:t>configuration</a:t>
            </a:r>
          </a:p>
        </p:txBody>
      </p:sp>
      <p:sp>
        <p:nvSpPr>
          <p:cNvPr id="98" name="Rectangle 97"/>
          <p:cNvSpPr/>
          <p:nvPr/>
        </p:nvSpPr>
        <p:spPr>
          <a:xfrm>
            <a:off x="1920240" y="5230368"/>
            <a:ext cx="1965960" cy="448056"/>
          </a:xfrm>
          <a:prstGeom prst="rect">
            <a:avLst/>
          </a:prstGeom>
          <a:solidFill>
            <a:srgbClr val="FFFFFF"/>
          </a:solidFill>
          <a:ln w="101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011680" y="5285232"/>
            <a:ext cx="1783080" cy="109728"/>
          </a:xfrm>
          <a:prstGeom prst="rect">
            <a:avLst/>
          </a:prstGeom>
          <a:noFill/>
        </p:spPr>
        <p:txBody>
          <a:bodyPr wrap="square" lIns="0" rIns="0" tIns="0" bIns="0" anchor="t">
            <a:spAutoFit/>
          </a:bodyPr>
          <a:lstStyle/>
          <a:p>
            <a:pPr algn="l">
              <a:lnSpc>
                <a:spcPct val="100000"/>
              </a:lnSpc>
              <a:spcBef>
                <a:spcPts val="0"/>
              </a:spcBef>
              <a:spcAft>
                <a:spcPts val="0"/>
              </a:spcAft>
            </a:pPr>
            <a:r>
              <a:rPr sz="710" b="1" i="0">
                <a:solidFill>
                  <a:srgbClr val="178681"/>
                </a:solidFill>
                <a:latin typeface="Arial"/>
              </a:rPr>
              <a:t>PROCESS</a:t>
            </a:r>
          </a:p>
        </p:txBody>
      </p:sp>
      <p:sp>
        <p:nvSpPr>
          <p:cNvPr id="100" name="TextBox 99"/>
          <p:cNvSpPr txBox="1"/>
          <p:nvPr/>
        </p:nvSpPr>
        <p:spPr>
          <a:xfrm>
            <a:off x="2011680" y="5431536"/>
            <a:ext cx="1783080" cy="173736"/>
          </a:xfrm>
          <a:prstGeom prst="rect">
            <a:avLst/>
          </a:prstGeom>
          <a:noFill/>
        </p:spPr>
        <p:txBody>
          <a:bodyPr wrap="square" lIns="0" rIns="0" tIns="0" bIns="0" anchor="t">
            <a:spAutoFit/>
          </a:bodyPr>
          <a:lstStyle/>
          <a:p>
            <a:pPr algn="ctr">
              <a:lnSpc>
                <a:spcPct val="100000"/>
              </a:lnSpc>
              <a:spcBef>
                <a:spcPts val="0"/>
              </a:spcBef>
              <a:spcAft>
                <a:spcPts val="0"/>
              </a:spcAft>
            </a:pPr>
            <a:r>
              <a:rPr sz="910" b="1" i="0">
                <a:solidFill>
                  <a:srgbClr val="263746"/>
                </a:solidFill>
                <a:latin typeface="Arial"/>
              </a:rPr>
              <a:t>TPM / MaxAbs / 974 landmarks</a:t>
            </a:r>
          </a:p>
        </p:txBody>
      </p:sp>
      <p:sp>
        <p:nvSpPr>
          <p:cNvPr id="101" name="Right Arrow 100"/>
          <p:cNvSpPr/>
          <p:nvPr/>
        </p:nvSpPr>
        <p:spPr>
          <a:xfrm>
            <a:off x="3950208" y="5358384"/>
            <a:ext cx="210312" cy="182880"/>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251960" y="5230368"/>
            <a:ext cx="1691640" cy="448056"/>
          </a:xfrm>
          <a:prstGeom prst="rect">
            <a:avLst/>
          </a:prstGeom>
          <a:solidFill>
            <a:srgbClr val="FFFFFF"/>
          </a:solidFill>
          <a:ln w="101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343400" y="5285232"/>
            <a:ext cx="1508760" cy="109728"/>
          </a:xfrm>
          <a:prstGeom prst="rect">
            <a:avLst/>
          </a:prstGeom>
          <a:noFill/>
        </p:spPr>
        <p:txBody>
          <a:bodyPr wrap="square" lIns="0" rIns="0" tIns="0" bIns="0" anchor="t">
            <a:spAutoFit/>
          </a:bodyPr>
          <a:lstStyle/>
          <a:p>
            <a:pPr algn="l">
              <a:lnSpc>
                <a:spcPct val="100000"/>
              </a:lnSpc>
              <a:spcBef>
                <a:spcPts val="0"/>
              </a:spcBef>
              <a:spcAft>
                <a:spcPts val="0"/>
              </a:spcAft>
            </a:pPr>
            <a:r>
              <a:rPr sz="710" b="1" i="0">
                <a:solidFill>
                  <a:srgbClr val="178681"/>
                </a:solidFill>
                <a:latin typeface="Arial"/>
              </a:rPr>
              <a:t>PRETRAIN</a:t>
            </a:r>
          </a:p>
        </p:txBody>
      </p:sp>
      <p:sp>
        <p:nvSpPr>
          <p:cNvPr id="104" name="TextBox 103"/>
          <p:cNvSpPr txBox="1"/>
          <p:nvPr/>
        </p:nvSpPr>
        <p:spPr>
          <a:xfrm>
            <a:off x="4343400" y="5431536"/>
            <a:ext cx="1508760" cy="173736"/>
          </a:xfrm>
          <a:prstGeom prst="rect">
            <a:avLst/>
          </a:prstGeom>
          <a:noFill/>
        </p:spPr>
        <p:txBody>
          <a:bodyPr wrap="square" lIns="0" rIns="0" tIns="0" bIns="0" anchor="t">
            <a:spAutoFit/>
          </a:bodyPr>
          <a:lstStyle/>
          <a:p>
            <a:pPr algn="ctr">
              <a:lnSpc>
                <a:spcPct val="100000"/>
              </a:lnSpc>
              <a:spcBef>
                <a:spcPts val="0"/>
              </a:spcBef>
              <a:spcAft>
                <a:spcPts val="0"/>
              </a:spcAft>
            </a:pPr>
            <a:r>
              <a:rPr sz="910" b="1" i="0">
                <a:solidFill>
                  <a:srgbClr val="263746"/>
                </a:solidFill>
                <a:latin typeface="Arial"/>
              </a:rPr>
              <a:t>ARCHS4</a:t>
            </a:r>
          </a:p>
        </p:txBody>
      </p:sp>
      <p:sp>
        <p:nvSpPr>
          <p:cNvPr id="105" name="Right Arrow 104"/>
          <p:cNvSpPr/>
          <p:nvPr/>
        </p:nvSpPr>
        <p:spPr>
          <a:xfrm>
            <a:off x="6007608" y="5358384"/>
            <a:ext cx="210312" cy="182880"/>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6309360" y="5230368"/>
            <a:ext cx="1691640" cy="448056"/>
          </a:xfrm>
          <a:prstGeom prst="rect">
            <a:avLst/>
          </a:prstGeom>
          <a:solidFill>
            <a:srgbClr val="FFFFFF"/>
          </a:solidFill>
          <a:ln w="101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400800" y="5285232"/>
            <a:ext cx="1508760" cy="109728"/>
          </a:xfrm>
          <a:prstGeom prst="rect">
            <a:avLst/>
          </a:prstGeom>
          <a:noFill/>
        </p:spPr>
        <p:txBody>
          <a:bodyPr wrap="square" lIns="0" rIns="0" tIns="0" bIns="0" anchor="t">
            <a:spAutoFit/>
          </a:bodyPr>
          <a:lstStyle/>
          <a:p>
            <a:pPr algn="l">
              <a:lnSpc>
                <a:spcPct val="100000"/>
              </a:lnSpc>
              <a:spcBef>
                <a:spcPts val="0"/>
              </a:spcBef>
              <a:spcAft>
                <a:spcPts val="0"/>
              </a:spcAft>
            </a:pPr>
            <a:r>
              <a:rPr sz="710" b="1" i="0">
                <a:solidFill>
                  <a:srgbClr val="2D6496"/>
                </a:solidFill>
                <a:latin typeface="Arial"/>
              </a:rPr>
              <a:t>ADAPT</a:t>
            </a:r>
          </a:p>
        </p:txBody>
      </p:sp>
      <p:sp>
        <p:nvSpPr>
          <p:cNvPr id="108" name="TextBox 107"/>
          <p:cNvSpPr txBox="1"/>
          <p:nvPr/>
        </p:nvSpPr>
        <p:spPr>
          <a:xfrm>
            <a:off x="6400800" y="5431536"/>
            <a:ext cx="1508760" cy="173736"/>
          </a:xfrm>
          <a:prstGeom prst="rect">
            <a:avLst/>
          </a:prstGeom>
          <a:noFill/>
        </p:spPr>
        <p:txBody>
          <a:bodyPr wrap="square" lIns="0" rIns="0" tIns="0" bIns="0" anchor="t">
            <a:spAutoFit/>
          </a:bodyPr>
          <a:lstStyle/>
          <a:p>
            <a:pPr algn="ctr">
              <a:lnSpc>
                <a:spcPct val="100000"/>
              </a:lnSpc>
              <a:spcBef>
                <a:spcPts val="0"/>
              </a:spcBef>
              <a:spcAft>
                <a:spcPts val="0"/>
              </a:spcAft>
            </a:pPr>
            <a:r>
              <a:rPr sz="910" b="1" i="0">
                <a:solidFill>
                  <a:srgbClr val="263746"/>
                </a:solidFill>
                <a:latin typeface="Arial"/>
              </a:rPr>
              <a:t>OSDR</a:t>
            </a:r>
          </a:p>
        </p:txBody>
      </p:sp>
      <p:sp>
        <p:nvSpPr>
          <p:cNvPr id="109" name="Right Arrow 108"/>
          <p:cNvSpPr/>
          <p:nvPr/>
        </p:nvSpPr>
        <p:spPr>
          <a:xfrm>
            <a:off x="8065008" y="5358384"/>
            <a:ext cx="210312" cy="182880"/>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8366760" y="5230368"/>
            <a:ext cx="2240280" cy="448056"/>
          </a:xfrm>
          <a:prstGeom prst="rect">
            <a:avLst/>
          </a:prstGeom>
          <a:solidFill>
            <a:srgbClr val="FFFFFF"/>
          </a:solidFill>
          <a:ln w="10160">
            <a:solidFill>
              <a:srgbClr val="D37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458200" y="5285232"/>
            <a:ext cx="2057400" cy="109728"/>
          </a:xfrm>
          <a:prstGeom prst="rect">
            <a:avLst/>
          </a:prstGeom>
          <a:noFill/>
        </p:spPr>
        <p:txBody>
          <a:bodyPr wrap="square" lIns="0" rIns="0" tIns="0" bIns="0" anchor="t">
            <a:spAutoFit/>
          </a:bodyPr>
          <a:lstStyle/>
          <a:p>
            <a:pPr algn="l">
              <a:lnSpc>
                <a:spcPct val="100000"/>
              </a:lnSpc>
              <a:spcBef>
                <a:spcPts val="0"/>
              </a:spcBef>
              <a:spcAft>
                <a:spcPts val="0"/>
              </a:spcAft>
            </a:pPr>
            <a:r>
              <a:rPr sz="710" b="1" i="0">
                <a:solidFill>
                  <a:srgbClr val="D37B00"/>
                </a:solidFill>
                <a:latin typeface="Arial"/>
              </a:rPr>
              <a:t>GENERATE</a:t>
            </a:r>
          </a:p>
        </p:txBody>
      </p:sp>
      <p:sp>
        <p:nvSpPr>
          <p:cNvPr id="112" name="TextBox 111"/>
          <p:cNvSpPr txBox="1"/>
          <p:nvPr/>
        </p:nvSpPr>
        <p:spPr>
          <a:xfrm>
            <a:off x="8458200" y="5431536"/>
            <a:ext cx="2057400" cy="173736"/>
          </a:xfrm>
          <a:prstGeom prst="rect">
            <a:avLst/>
          </a:prstGeom>
          <a:noFill/>
        </p:spPr>
        <p:txBody>
          <a:bodyPr wrap="square" lIns="0" rIns="0" tIns="0" bIns="0" anchor="t">
            <a:spAutoFit/>
          </a:bodyPr>
          <a:lstStyle/>
          <a:p>
            <a:pPr algn="ctr">
              <a:lnSpc>
                <a:spcPct val="100000"/>
              </a:lnSpc>
              <a:spcBef>
                <a:spcPts val="0"/>
              </a:spcBef>
              <a:spcAft>
                <a:spcPts val="0"/>
              </a:spcAft>
            </a:pPr>
            <a:r>
              <a:rPr sz="910" b="1" i="0">
                <a:solidFill>
                  <a:srgbClr val="263746"/>
                </a:solidFill>
                <a:latin typeface="Arial"/>
              </a:rPr>
              <a:t>Conditional DDIM</a:t>
            </a:r>
          </a:p>
        </p:txBody>
      </p:sp>
      <p:sp>
        <p:nvSpPr>
          <p:cNvPr id="113" name="TextBox 112"/>
          <p:cNvSpPr txBox="1"/>
          <p:nvPr/>
        </p:nvSpPr>
        <p:spPr>
          <a:xfrm>
            <a:off x="1920240" y="5824728"/>
            <a:ext cx="658368" cy="146304"/>
          </a:xfrm>
          <a:prstGeom prst="rect">
            <a:avLst/>
          </a:prstGeom>
          <a:noFill/>
        </p:spPr>
        <p:txBody>
          <a:bodyPr wrap="square" lIns="0" rIns="0" tIns="0" bIns="0" anchor="t">
            <a:spAutoFit/>
          </a:bodyPr>
          <a:lstStyle/>
          <a:p>
            <a:pPr algn="l">
              <a:lnSpc>
                <a:spcPct val="100000"/>
              </a:lnSpc>
              <a:spcBef>
                <a:spcPts val="0"/>
              </a:spcBef>
              <a:spcAft>
                <a:spcPts val="0"/>
              </a:spcAft>
            </a:pPr>
            <a:r>
              <a:rPr sz="730" b="1" i="0">
                <a:solidFill>
                  <a:srgbClr val="178681"/>
                </a:solidFill>
                <a:latin typeface="Arial"/>
              </a:rPr>
              <a:t>CONDITION</a:t>
            </a:r>
          </a:p>
        </p:txBody>
      </p:sp>
      <p:sp>
        <p:nvSpPr>
          <p:cNvPr id="114" name="Rectangle 113"/>
          <p:cNvSpPr/>
          <p:nvPr/>
        </p:nvSpPr>
        <p:spPr>
          <a:xfrm>
            <a:off x="2633472" y="5733288"/>
            <a:ext cx="822960"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2633472" y="5733288"/>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679191" y="5783579"/>
            <a:ext cx="731520" cy="210312"/>
          </a:xfrm>
          <a:prstGeom prst="rect">
            <a:avLst/>
          </a:prstGeom>
          <a:noFill/>
        </p:spPr>
        <p:txBody>
          <a:bodyPr wrap="square" lIns="0" rIns="0" tIns="0" bIns="0" anchor="ctr">
            <a:spAutoFit/>
          </a:bodyPr>
          <a:lstStyle/>
          <a:p>
            <a:pPr algn="ctr">
              <a:lnSpc>
                <a:spcPct val="100000"/>
              </a:lnSpc>
              <a:spcBef>
                <a:spcPts val="0"/>
              </a:spcBef>
              <a:spcAft>
                <a:spcPts val="0"/>
              </a:spcAft>
            </a:pPr>
            <a:r>
              <a:rPr sz="780" b="1" i="0">
                <a:solidFill>
                  <a:srgbClr val="082B55"/>
                </a:solidFill>
                <a:latin typeface="Arial"/>
              </a:rPr>
              <a:t>Tissue</a:t>
            </a:r>
          </a:p>
        </p:txBody>
      </p:sp>
      <p:sp>
        <p:nvSpPr>
          <p:cNvPr id="117" name="Rectangle 116"/>
          <p:cNvSpPr/>
          <p:nvPr/>
        </p:nvSpPr>
        <p:spPr>
          <a:xfrm>
            <a:off x="3520440" y="5733288"/>
            <a:ext cx="914400"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3520440" y="5733288"/>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566160" y="5783579"/>
            <a:ext cx="822960" cy="210312"/>
          </a:xfrm>
          <a:prstGeom prst="rect">
            <a:avLst/>
          </a:prstGeom>
          <a:noFill/>
        </p:spPr>
        <p:txBody>
          <a:bodyPr wrap="square" lIns="0" rIns="0" tIns="0" bIns="0" anchor="ctr">
            <a:spAutoFit/>
          </a:bodyPr>
          <a:lstStyle/>
          <a:p>
            <a:pPr algn="ctr">
              <a:lnSpc>
                <a:spcPct val="100000"/>
              </a:lnSpc>
              <a:spcBef>
                <a:spcPts val="0"/>
              </a:spcBef>
              <a:spcAft>
                <a:spcPts val="0"/>
              </a:spcAft>
            </a:pPr>
            <a:r>
              <a:rPr sz="780" b="1" i="0">
                <a:solidFill>
                  <a:srgbClr val="082B55"/>
                </a:solidFill>
                <a:latin typeface="Arial"/>
              </a:rPr>
              <a:t>FLT / GC</a:t>
            </a:r>
          </a:p>
        </p:txBody>
      </p:sp>
      <p:sp>
        <p:nvSpPr>
          <p:cNvPr id="120" name="Rectangle 119"/>
          <p:cNvSpPr/>
          <p:nvPr/>
        </p:nvSpPr>
        <p:spPr>
          <a:xfrm>
            <a:off x="4498848" y="5733288"/>
            <a:ext cx="1042415"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4498848" y="5733288"/>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544568" y="5783579"/>
            <a:ext cx="950975" cy="210312"/>
          </a:xfrm>
          <a:prstGeom prst="rect">
            <a:avLst/>
          </a:prstGeom>
          <a:noFill/>
        </p:spPr>
        <p:txBody>
          <a:bodyPr wrap="square" lIns="0" rIns="0" tIns="0" bIns="0" anchor="ctr">
            <a:spAutoFit/>
          </a:bodyPr>
          <a:lstStyle/>
          <a:p>
            <a:pPr algn="ctr">
              <a:lnSpc>
                <a:spcPct val="100000"/>
              </a:lnSpc>
              <a:spcBef>
                <a:spcPts val="0"/>
              </a:spcBef>
              <a:spcAft>
                <a:spcPts val="0"/>
              </a:spcAft>
            </a:pPr>
            <a:r>
              <a:rPr sz="780" b="1" i="0">
                <a:solidFill>
                  <a:srgbClr val="082B55"/>
                </a:solidFill>
                <a:latin typeface="Arial"/>
              </a:rPr>
              <a:t>Study</a:t>
            </a:r>
          </a:p>
        </p:txBody>
      </p:sp>
      <p:sp>
        <p:nvSpPr>
          <p:cNvPr id="123" name="Rectangle 122"/>
          <p:cNvSpPr/>
          <p:nvPr/>
        </p:nvSpPr>
        <p:spPr>
          <a:xfrm>
            <a:off x="5605272" y="5733288"/>
            <a:ext cx="1261872"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605272" y="5733288"/>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5650992" y="5783579"/>
            <a:ext cx="1170431" cy="210312"/>
          </a:xfrm>
          <a:prstGeom prst="rect">
            <a:avLst/>
          </a:prstGeom>
          <a:noFill/>
        </p:spPr>
        <p:txBody>
          <a:bodyPr wrap="square" lIns="0" rIns="0" tIns="0" bIns="0" anchor="ctr">
            <a:spAutoFit/>
          </a:bodyPr>
          <a:lstStyle/>
          <a:p>
            <a:pPr algn="ctr">
              <a:lnSpc>
                <a:spcPct val="100000"/>
              </a:lnSpc>
              <a:spcBef>
                <a:spcPts val="0"/>
              </a:spcBef>
              <a:spcAft>
                <a:spcPts val="0"/>
              </a:spcAft>
            </a:pPr>
            <a:r>
              <a:rPr sz="780" b="1" i="0">
                <a:solidFill>
                  <a:srgbClr val="082B55"/>
                </a:solidFill>
                <a:latin typeface="Arial"/>
              </a:rPr>
              <a:t>Material type</a:t>
            </a:r>
          </a:p>
        </p:txBody>
      </p:sp>
      <p:sp>
        <p:nvSpPr>
          <p:cNvPr id="126" name="TextBox 125"/>
          <p:cNvSpPr txBox="1"/>
          <p:nvPr/>
        </p:nvSpPr>
        <p:spPr>
          <a:xfrm>
            <a:off x="7095744" y="5824728"/>
            <a:ext cx="749808" cy="146304"/>
          </a:xfrm>
          <a:prstGeom prst="rect">
            <a:avLst/>
          </a:prstGeom>
          <a:noFill/>
        </p:spPr>
        <p:txBody>
          <a:bodyPr wrap="square" lIns="0" rIns="0" tIns="0" bIns="0" anchor="t">
            <a:spAutoFit/>
          </a:bodyPr>
          <a:lstStyle/>
          <a:p>
            <a:pPr algn="l">
              <a:lnSpc>
                <a:spcPct val="100000"/>
              </a:lnSpc>
              <a:spcBef>
                <a:spcPts val="0"/>
              </a:spcBef>
              <a:spcAft>
                <a:spcPts val="0"/>
              </a:spcAft>
            </a:pPr>
            <a:r>
              <a:rPr sz="730" b="1" i="0">
                <a:solidFill>
                  <a:srgbClr val="178681"/>
                </a:solidFill>
                <a:latin typeface="Arial"/>
              </a:rPr>
              <a:t>HARMONIZE</a:t>
            </a:r>
          </a:p>
        </p:txBody>
      </p:sp>
      <p:sp>
        <p:nvSpPr>
          <p:cNvPr id="127" name="Rectangle 126"/>
          <p:cNvSpPr/>
          <p:nvPr/>
        </p:nvSpPr>
        <p:spPr>
          <a:xfrm>
            <a:off x="7909560" y="5733288"/>
            <a:ext cx="713232" cy="329184"/>
          </a:xfrm>
          <a:prstGeom prst="rect">
            <a:avLst/>
          </a:prstGeom>
          <a:solidFill>
            <a:srgbClr val="FFFFFF"/>
          </a:solidFill>
          <a:ln w="228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7909560" y="5733288"/>
            <a:ext cx="32004" cy="32918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955280" y="5783579"/>
            <a:ext cx="621792" cy="210312"/>
          </a:xfrm>
          <a:prstGeom prst="rect">
            <a:avLst/>
          </a:prstGeom>
          <a:noFill/>
        </p:spPr>
        <p:txBody>
          <a:bodyPr wrap="square" lIns="0" rIns="0" tIns="0" bIns="0" anchor="ctr">
            <a:spAutoFit/>
          </a:bodyPr>
          <a:lstStyle/>
          <a:p>
            <a:pPr algn="ctr">
              <a:lnSpc>
                <a:spcPct val="100000"/>
              </a:lnSpc>
              <a:spcBef>
                <a:spcPts val="0"/>
              </a:spcBef>
              <a:spcAft>
                <a:spcPts val="0"/>
              </a:spcAft>
            </a:pPr>
            <a:r>
              <a:rPr sz="780" b="1" i="0">
                <a:solidFill>
                  <a:srgbClr val="082B55"/>
                </a:solidFill>
                <a:latin typeface="Arial"/>
              </a:rPr>
              <a:t>None</a:t>
            </a:r>
          </a:p>
        </p:txBody>
      </p:sp>
      <p:sp>
        <p:nvSpPr>
          <p:cNvPr id="130" name="TextBox 129"/>
          <p:cNvSpPr txBox="1"/>
          <p:nvPr/>
        </p:nvSpPr>
        <p:spPr>
          <a:xfrm>
            <a:off x="8869680" y="5824728"/>
            <a:ext cx="420624" cy="146304"/>
          </a:xfrm>
          <a:prstGeom prst="rect">
            <a:avLst/>
          </a:prstGeom>
          <a:noFill/>
        </p:spPr>
        <p:txBody>
          <a:bodyPr wrap="square" lIns="0" rIns="0" tIns="0" bIns="0" anchor="t">
            <a:spAutoFit/>
          </a:bodyPr>
          <a:lstStyle/>
          <a:p>
            <a:pPr algn="l">
              <a:lnSpc>
                <a:spcPct val="100000"/>
              </a:lnSpc>
              <a:spcBef>
                <a:spcPts val="0"/>
              </a:spcBef>
              <a:spcAft>
                <a:spcPts val="0"/>
              </a:spcAft>
            </a:pPr>
            <a:r>
              <a:rPr sz="730" b="1" i="0">
                <a:solidFill>
                  <a:srgbClr val="2D6496"/>
                </a:solidFill>
                <a:latin typeface="Arial"/>
              </a:rPr>
              <a:t>SCOPE</a:t>
            </a:r>
          </a:p>
        </p:txBody>
      </p:sp>
      <p:sp>
        <p:nvSpPr>
          <p:cNvPr id="131" name="Rectangle 130"/>
          <p:cNvSpPr/>
          <p:nvPr/>
        </p:nvSpPr>
        <p:spPr>
          <a:xfrm>
            <a:off x="9363456" y="5733288"/>
            <a:ext cx="1097280" cy="329184"/>
          </a:xfrm>
          <a:prstGeom prst="rect">
            <a:avLst/>
          </a:prstGeom>
          <a:solidFill>
            <a:srgbClr val="FFFFFF"/>
          </a:solidFill>
          <a:ln w="228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9363456" y="5733288"/>
            <a:ext cx="32004" cy="32918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409176" y="5783579"/>
            <a:ext cx="1005839" cy="210312"/>
          </a:xfrm>
          <a:prstGeom prst="rect">
            <a:avLst/>
          </a:prstGeom>
          <a:noFill/>
        </p:spPr>
        <p:txBody>
          <a:bodyPr wrap="square" lIns="0" rIns="0" tIns="0" bIns="0" anchor="ctr">
            <a:spAutoFit/>
          </a:bodyPr>
          <a:lstStyle/>
          <a:p>
            <a:pPr algn="ctr">
              <a:lnSpc>
                <a:spcPct val="100000"/>
              </a:lnSpc>
              <a:spcBef>
                <a:spcPts val="0"/>
              </a:spcBef>
              <a:spcAft>
                <a:spcPts val="0"/>
              </a:spcAft>
            </a:pPr>
            <a:r>
              <a:rPr sz="780" b="1" i="0">
                <a:solidFill>
                  <a:srgbClr val="082B55"/>
                </a:solidFill>
                <a:latin typeface="Arial"/>
              </a:rPr>
              <a:t>All tissues</a:t>
            </a:r>
          </a:p>
        </p:txBody>
      </p:sp>
      <p:sp>
        <p:nvSpPr>
          <p:cNvPr id="134" name="TextBox 133"/>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Pipeline evaluated with OSDR and ARCHS4. Generator designs follow Vinas et al. (2022) and Lacan et al.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VALIDATION</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Diffusion best reproduced the measured expression distribution</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Both models reproduced gene expression. Diffusion samples were harder to distinguish from measured samples.</a:t>
            </a:r>
          </a:p>
        </p:txBody>
      </p:sp>
      <p:sp>
        <p:nvSpPr>
          <p:cNvPr id="7" name="TextBox 6"/>
          <p:cNvSpPr txBox="1"/>
          <p:nvPr/>
        </p:nvSpPr>
        <p:spPr>
          <a:xfrm>
            <a:off x="475488" y="1901952"/>
            <a:ext cx="6510528"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650" b="1" i="0">
                <a:solidFill>
                  <a:srgbClr val="082B55"/>
                </a:solidFill>
                <a:latin typeface="Arial"/>
              </a:rPr>
              <a:t>Architecture from Lacan et al.</a:t>
            </a:r>
          </a:p>
        </p:txBody>
      </p:sp>
      <p:pic>
        <p:nvPicPr>
          <p:cNvPr id="8" name="Lacan et al. Figure 1C residual diffusion generator architecture" descr="Lacan et al. Figure 1C residual diffusion generator architecture"/>
          <p:cNvPicPr>
            <a:picLocks noChangeAspect="1"/>
          </p:cNvPicPr>
          <p:nvPr/>
        </p:nvPicPr>
        <p:blipFill>
          <a:blip r:embed="rId2"/>
          <a:stretch>
            <a:fillRect/>
          </a:stretch>
        </p:blipFill>
        <p:spPr>
          <a:xfrm>
            <a:off x="186730" y="2185416"/>
            <a:ext cx="6832011" cy="2496312"/>
          </a:xfrm>
          <a:prstGeom prst="rect">
            <a:avLst/>
          </a:prstGeom>
        </p:spPr>
      </p:pic>
      <p:sp>
        <p:nvSpPr>
          <p:cNvPr id="9" name="TextBox 8"/>
          <p:cNvSpPr txBox="1"/>
          <p:nvPr/>
        </p:nvSpPr>
        <p:spPr>
          <a:xfrm>
            <a:off x="512064" y="4727448"/>
            <a:ext cx="6309360" cy="25603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130" b="1" i="0">
                <a:solidFill>
                  <a:srgbClr val="263746"/>
                </a:solidFill>
                <a:latin typeface="Arial"/>
              </a:rPr>
              <a:t>The network repeatedly predicts and removes noise using tissue and time information.</a:t>
            </a:r>
          </a:p>
        </p:txBody>
      </p:sp>
      <p:sp>
        <p:nvSpPr>
          <p:cNvPr id="10" name="TextBox 9"/>
          <p:cNvSpPr txBox="1"/>
          <p:nvPr/>
        </p:nvSpPr>
        <p:spPr>
          <a:xfrm>
            <a:off x="512064" y="5038344"/>
            <a:ext cx="6309360" cy="310896"/>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060" b="0" i="0">
                <a:solidFill>
                  <a:srgbClr val="59697A"/>
                </a:solidFill>
                <a:latin typeface="Arial"/>
              </a:rPr>
              <a:t>For OSDR, the model also receives FLT/GC, study, and sample-material information.</a:t>
            </a:r>
          </a:p>
        </p:txBody>
      </p:sp>
      <p:sp>
        <p:nvSpPr>
          <p:cNvPr id="11" name="Rectangle 10"/>
          <p:cNvSpPr/>
          <p:nvPr/>
        </p:nvSpPr>
        <p:spPr>
          <a:xfrm>
            <a:off x="7159752" y="1874519"/>
            <a:ext cx="13716" cy="3950208"/>
          </a:xfrm>
          <a:prstGeom prst="rect">
            <a:avLst/>
          </a:prstGeom>
          <a:solidFill>
            <a:srgbClr val="D5D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51775" y="1984248"/>
            <a:ext cx="1298448"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i="0">
                <a:solidFill>
                  <a:srgbClr val="59697A"/>
                </a:solidFill>
                <a:latin typeface="Arial"/>
              </a:rPr>
              <a:t>Metric</a:t>
            </a:r>
          </a:p>
        </p:txBody>
      </p:sp>
      <p:sp>
        <p:nvSpPr>
          <p:cNvPr id="13" name="TextBox 12"/>
          <p:cNvSpPr txBox="1"/>
          <p:nvPr/>
        </p:nvSpPr>
        <p:spPr>
          <a:xfrm>
            <a:off x="8750808" y="1984248"/>
            <a:ext cx="777240" cy="25603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000" b="1" i="0">
                <a:solidFill>
                  <a:srgbClr val="D96552"/>
                </a:solidFill>
                <a:latin typeface="Arial"/>
              </a:rPr>
              <a:t>WGAN-GP</a:t>
            </a:r>
          </a:p>
        </p:txBody>
      </p:sp>
      <p:sp>
        <p:nvSpPr>
          <p:cNvPr id="14" name="TextBox 13"/>
          <p:cNvSpPr txBox="1"/>
          <p:nvPr/>
        </p:nvSpPr>
        <p:spPr>
          <a:xfrm>
            <a:off x="9619488" y="1984248"/>
            <a:ext cx="694944" cy="25603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000" b="1" i="0">
                <a:solidFill>
                  <a:srgbClr val="178681"/>
                </a:solidFill>
                <a:latin typeface="Arial"/>
              </a:rPr>
              <a:t>DDIM</a:t>
            </a:r>
          </a:p>
        </p:txBody>
      </p:sp>
      <p:sp>
        <p:nvSpPr>
          <p:cNvPr id="15" name="TextBox 14"/>
          <p:cNvSpPr txBox="1"/>
          <p:nvPr/>
        </p:nvSpPr>
        <p:spPr>
          <a:xfrm>
            <a:off x="10451592" y="1984248"/>
            <a:ext cx="1005840" cy="256032"/>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00" b="1" i="0">
                <a:solidFill>
                  <a:srgbClr val="59697A"/>
                </a:solidFill>
                <a:latin typeface="Arial"/>
              </a:rPr>
              <a:t>Read</a:t>
            </a:r>
          </a:p>
        </p:txBody>
      </p:sp>
      <p:sp>
        <p:nvSpPr>
          <p:cNvPr id="16" name="Rectangle 15"/>
          <p:cNvSpPr/>
          <p:nvPr/>
        </p:nvSpPr>
        <p:spPr>
          <a:xfrm>
            <a:off x="7351775" y="2340864"/>
            <a:ext cx="4187952" cy="20116"/>
          </a:xfrm>
          <a:prstGeom prst="rect">
            <a:avLst/>
          </a:prstGeom>
          <a:solidFill>
            <a:srgbClr val="08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33488" y="2496312"/>
            <a:ext cx="4215384" cy="45720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0" y="2560320"/>
            <a:ext cx="1271016"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30" b="0" i="0">
                <a:solidFill>
                  <a:srgbClr val="263746"/>
                </a:solidFill>
                <a:latin typeface="Arial"/>
              </a:rPr>
              <a:t>Expression corr.</a:t>
            </a:r>
          </a:p>
        </p:txBody>
      </p:sp>
      <p:sp>
        <p:nvSpPr>
          <p:cNvPr id="19" name="TextBox 18"/>
          <p:cNvSpPr txBox="1"/>
          <p:nvPr/>
        </p:nvSpPr>
        <p:spPr>
          <a:xfrm>
            <a:off x="8750808" y="2560320"/>
            <a:ext cx="777240"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60" b="1" i="0">
                <a:solidFill>
                  <a:srgbClr val="D96552"/>
                </a:solidFill>
                <a:latin typeface="Arial"/>
              </a:rPr>
              <a:t>0.976</a:t>
            </a:r>
          </a:p>
        </p:txBody>
      </p:sp>
      <p:sp>
        <p:nvSpPr>
          <p:cNvPr id="20" name="TextBox 19"/>
          <p:cNvSpPr txBox="1"/>
          <p:nvPr/>
        </p:nvSpPr>
        <p:spPr>
          <a:xfrm>
            <a:off x="9619488" y="2560320"/>
            <a:ext cx="694944"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60" b="1" i="0">
                <a:solidFill>
                  <a:srgbClr val="178681"/>
                </a:solidFill>
                <a:latin typeface="Arial"/>
              </a:rPr>
              <a:t>0.974</a:t>
            </a:r>
          </a:p>
        </p:txBody>
      </p:sp>
      <p:sp>
        <p:nvSpPr>
          <p:cNvPr id="21" name="TextBox 20"/>
          <p:cNvSpPr txBox="1"/>
          <p:nvPr/>
        </p:nvSpPr>
        <p:spPr>
          <a:xfrm>
            <a:off x="10451592" y="2560320"/>
            <a:ext cx="100584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19" b="0" i="0">
                <a:solidFill>
                  <a:srgbClr val="59697A"/>
                </a:solidFill>
                <a:latin typeface="Arial"/>
              </a:rPr>
              <a:t>higher</a:t>
            </a:r>
          </a:p>
        </p:txBody>
      </p:sp>
      <p:sp>
        <p:nvSpPr>
          <p:cNvPr id="22" name="TextBox 21"/>
          <p:cNvSpPr txBox="1"/>
          <p:nvPr/>
        </p:nvSpPr>
        <p:spPr>
          <a:xfrm>
            <a:off x="7406640" y="3099815"/>
            <a:ext cx="1271016"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30" b="0" i="0">
                <a:solidFill>
                  <a:srgbClr val="263746"/>
                </a:solidFill>
                <a:latin typeface="Arial"/>
              </a:rPr>
              <a:t>Coverage (F1)</a:t>
            </a:r>
          </a:p>
        </p:txBody>
      </p:sp>
      <p:sp>
        <p:nvSpPr>
          <p:cNvPr id="23" name="TextBox 22"/>
          <p:cNvSpPr txBox="1"/>
          <p:nvPr/>
        </p:nvSpPr>
        <p:spPr>
          <a:xfrm>
            <a:off x="8750808" y="3099815"/>
            <a:ext cx="777240"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60" b="1" i="0">
                <a:solidFill>
                  <a:srgbClr val="D96552"/>
                </a:solidFill>
                <a:latin typeface="Arial"/>
              </a:rPr>
              <a:t>0.985</a:t>
            </a:r>
          </a:p>
        </p:txBody>
      </p:sp>
      <p:sp>
        <p:nvSpPr>
          <p:cNvPr id="24" name="TextBox 23"/>
          <p:cNvSpPr txBox="1"/>
          <p:nvPr/>
        </p:nvSpPr>
        <p:spPr>
          <a:xfrm>
            <a:off x="9619488" y="3099815"/>
            <a:ext cx="694944"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60" b="1" i="0">
                <a:solidFill>
                  <a:srgbClr val="178681"/>
                </a:solidFill>
                <a:latin typeface="Arial"/>
              </a:rPr>
              <a:t>0.997</a:t>
            </a:r>
          </a:p>
        </p:txBody>
      </p:sp>
      <p:sp>
        <p:nvSpPr>
          <p:cNvPr id="25" name="TextBox 24"/>
          <p:cNvSpPr txBox="1"/>
          <p:nvPr/>
        </p:nvSpPr>
        <p:spPr>
          <a:xfrm>
            <a:off x="10451592" y="3099815"/>
            <a:ext cx="100584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19" b="0" i="0">
                <a:solidFill>
                  <a:srgbClr val="59697A"/>
                </a:solidFill>
                <a:latin typeface="Arial"/>
              </a:rPr>
              <a:t>higher</a:t>
            </a:r>
          </a:p>
        </p:txBody>
      </p:sp>
      <p:sp>
        <p:nvSpPr>
          <p:cNvPr id="26" name="Rectangle 25"/>
          <p:cNvSpPr/>
          <p:nvPr/>
        </p:nvSpPr>
        <p:spPr>
          <a:xfrm>
            <a:off x="7333488" y="3575303"/>
            <a:ext cx="4215384" cy="45720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639311"/>
            <a:ext cx="1271016"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30" b="1" i="0">
                <a:solidFill>
                  <a:srgbClr val="263746"/>
                </a:solidFill>
                <a:latin typeface="Arial"/>
              </a:rPr>
              <a:t>Real-vs-synth. acc.</a:t>
            </a:r>
          </a:p>
        </p:txBody>
      </p:sp>
      <p:sp>
        <p:nvSpPr>
          <p:cNvPr id="28" name="TextBox 27"/>
          <p:cNvSpPr txBox="1"/>
          <p:nvPr/>
        </p:nvSpPr>
        <p:spPr>
          <a:xfrm>
            <a:off x="8750808" y="3639311"/>
            <a:ext cx="777240"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60" b="1" i="0">
                <a:solidFill>
                  <a:srgbClr val="D96552"/>
                </a:solidFill>
                <a:latin typeface="Arial"/>
              </a:rPr>
              <a:t>0.636</a:t>
            </a:r>
          </a:p>
        </p:txBody>
      </p:sp>
      <p:sp>
        <p:nvSpPr>
          <p:cNvPr id="29" name="TextBox 28"/>
          <p:cNvSpPr txBox="1"/>
          <p:nvPr/>
        </p:nvSpPr>
        <p:spPr>
          <a:xfrm>
            <a:off x="9619488" y="3639311"/>
            <a:ext cx="694944"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60" b="1" i="0">
                <a:solidFill>
                  <a:srgbClr val="178681"/>
                </a:solidFill>
                <a:latin typeface="Arial"/>
              </a:rPr>
              <a:t>0.475</a:t>
            </a:r>
          </a:p>
        </p:txBody>
      </p:sp>
      <p:sp>
        <p:nvSpPr>
          <p:cNvPr id="30" name="TextBox 29"/>
          <p:cNvSpPr txBox="1"/>
          <p:nvPr/>
        </p:nvSpPr>
        <p:spPr>
          <a:xfrm>
            <a:off x="10451592" y="3639311"/>
            <a:ext cx="100584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19" b="0" i="0">
                <a:solidFill>
                  <a:srgbClr val="59697A"/>
                </a:solidFill>
                <a:latin typeface="Arial"/>
              </a:rPr>
              <a:t>0.5 is ideal</a:t>
            </a:r>
          </a:p>
        </p:txBody>
      </p:sp>
      <p:sp>
        <p:nvSpPr>
          <p:cNvPr id="31" name="TextBox 30"/>
          <p:cNvSpPr txBox="1"/>
          <p:nvPr/>
        </p:nvSpPr>
        <p:spPr>
          <a:xfrm>
            <a:off x="7406640" y="4178808"/>
            <a:ext cx="1271016"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30" b="1" i="0">
                <a:solidFill>
                  <a:srgbClr val="263746"/>
                </a:solidFill>
                <a:latin typeface="Arial"/>
              </a:rPr>
              <a:t>Distribution distance</a:t>
            </a:r>
          </a:p>
        </p:txBody>
      </p:sp>
      <p:sp>
        <p:nvSpPr>
          <p:cNvPr id="32" name="TextBox 31"/>
          <p:cNvSpPr txBox="1"/>
          <p:nvPr/>
        </p:nvSpPr>
        <p:spPr>
          <a:xfrm>
            <a:off x="8750808" y="4178808"/>
            <a:ext cx="777240"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60" b="1" i="0">
                <a:solidFill>
                  <a:srgbClr val="D96552"/>
                </a:solidFill>
                <a:latin typeface="Arial"/>
              </a:rPr>
              <a:t>0.144</a:t>
            </a:r>
          </a:p>
        </p:txBody>
      </p:sp>
      <p:sp>
        <p:nvSpPr>
          <p:cNvPr id="33" name="TextBox 32"/>
          <p:cNvSpPr txBox="1"/>
          <p:nvPr/>
        </p:nvSpPr>
        <p:spPr>
          <a:xfrm>
            <a:off x="9619488" y="4178808"/>
            <a:ext cx="694944"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260" b="1" i="0">
                <a:solidFill>
                  <a:srgbClr val="178681"/>
                </a:solidFill>
                <a:latin typeface="Arial"/>
              </a:rPr>
              <a:t>0.074</a:t>
            </a:r>
          </a:p>
        </p:txBody>
      </p:sp>
      <p:sp>
        <p:nvSpPr>
          <p:cNvPr id="34" name="TextBox 33"/>
          <p:cNvSpPr txBox="1"/>
          <p:nvPr/>
        </p:nvSpPr>
        <p:spPr>
          <a:xfrm>
            <a:off x="10451592" y="4178808"/>
            <a:ext cx="1005840" cy="29260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19" b="0" i="0">
                <a:solidFill>
                  <a:srgbClr val="59697A"/>
                </a:solidFill>
                <a:latin typeface="Arial"/>
              </a:rPr>
              <a:t>lower</a:t>
            </a:r>
          </a:p>
        </p:txBody>
      </p:sp>
      <p:sp>
        <p:nvSpPr>
          <p:cNvPr id="35" name="Rectangle 34"/>
          <p:cNvSpPr/>
          <p:nvPr/>
        </p:nvSpPr>
        <p:spPr>
          <a:xfrm>
            <a:off x="502920" y="5404104"/>
            <a:ext cx="6428232" cy="13716"/>
          </a:xfrm>
          <a:prstGeom prst="rect">
            <a:avLst/>
          </a:prstGeom>
          <a:solidFill>
            <a:srgbClr val="D5D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5559552"/>
            <a:ext cx="1737360" cy="219456"/>
          </a:xfrm>
          <a:prstGeom prst="rect">
            <a:avLst/>
          </a:prstGeom>
          <a:noFill/>
        </p:spPr>
        <p:txBody>
          <a:bodyPr wrap="square" lIns="0" rIns="0" tIns="0" bIns="0" anchor="t">
            <a:spAutoFit/>
          </a:bodyPr>
          <a:lstStyle/>
          <a:p>
            <a:pPr algn="l">
              <a:lnSpc>
                <a:spcPct val="100000"/>
              </a:lnSpc>
              <a:spcBef>
                <a:spcPts val="0"/>
              </a:spcBef>
              <a:spcAft>
                <a:spcPts val="0"/>
              </a:spcAft>
            </a:pPr>
            <a:r>
              <a:rPr sz="1040" b="1" i="0">
                <a:solidFill>
                  <a:srgbClr val="2D6496"/>
                </a:solidFill>
                <a:latin typeface="Arial"/>
              </a:rPr>
              <a:t>Tissue identity retained</a:t>
            </a:r>
          </a:p>
        </p:txBody>
      </p:sp>
      <p:sp>
        <p:nvSpPr>
          <p:cNvPr id="37" name="TextBox 36"/>
          <p:cNvSpPr txBox="1"/>
          <p:nvPr/>
        </p:nvSpPr>
        <p:spPr>
          <a:xfrm>
            <a:off x="3931920" y="5541264"/>
            <a:ext cx="2852928" cy="246888"/>
          </a:xfrm>
          <a:prstGeom prst="rect">
            <a:avLst/>
          </a:prstGeom>
          <a:noFill/>
        </p:spPr>
        <p:txBody>
          <a:bodyPr wrap="square" lIns="0" rIns="0" tIns="0" bIns="0" anchor="t">
            <a:spAutoFit/>
          </a:bodyPr>
          <a:lstStyle/>
          <a:p>
            <a:pPr algn="r">
              <a:lnSpc>
                <a:spcPct val="100000"/>
              </a:lnSpc>
              <a:spcBef>
                <a:spcPts val="0"/>
              </a:spcBef>
              <a:spcAft>
                <a:spcPts val="0"/>
              </a:spcAft>
            </a:pPr>
            <a:r>
              <a:rPr sz="1040" b="0" i="0">
                <a:solidFill>
                  <a:srgbClr val="263746"/>
                </a:solidFill>
                <a:latin typeface="Arial"/>
              </a:rPr>
              <a:t>Real 0.781  |  Synthetic 0.781</a:t>
            </a:r>
          </a:p>
        </p:txBody>
      </p:sp>
      <p:sp>
        <p:nvSpPr>
          <p:cNvPr id="38" name="TextBox 37"/>
          <p:cNvSpPr txBox="1"/>
          <p:nvPr/>
        </p:nvSpPr>
        <p:spPr>
          <a:xfrm>
            <a:off x="502920" y="5843016"/>
            <a:ext cx="6281928" cy="228600"/>
          </a:xfrm>
          <a:prstGeom prst="rect">
            <a:avLst/>
          </a:prstGeom>
          <a:noFill/>
        </p:spPr>
        <p:txBody>
          <a:bodyPr wrap="square" lIns="0" rIns="0" tIns="0" bIns="0" anchor="t">
            <a:spAutoFit/>
          </a:bodyPr>
          <a:lstStyle/>
          <a:p>
            <a:pPr algn="ctr">
              <a:lnSpc>
                <a:spcPct val="100000"/>
              </a:lnSpc>
              <a:spcBef>
                <a:spcPts val="0"/>
              </a:spcBef>
              <a:spcAft>
                <a:spcPts val="0"/>
              </a:spcAft>
            </a:pPr>
            <a:r>
              <a:rPr sz="969" b="0" i="0">
                <a:solidFill>
                  <a:srgbClr val="59697A"/>
                </a:solidFill>
                <a:latin typeface="Arial"/>
              </a:rPr>
              <a:t>Balanced accuracy is preserved in generated tissue labels.</a:t>
            </a:r>
          </a:p>
        </p:txBody>
      </p:sp>
      <p:sp>
        <p:nvSpPr>
          <p:cNvPr id="39" name="Rectangle 38"/>
          <p:cNvSpPr/>
          <p:nvPr/>
        </p:nvSpPr>
        <p:spPr>
          <a:xfrm>
            <a:off x="7351775" y="4901184"/>
            <a:ext cx="50292" cy="71323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0375" y="4937760"/>
            <a:ext cx="1417320" cy="283464"/>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082B55"/>
                </a:solidFill>
                <a:latin typeface="Arial"/>
              </a:rPr>
              <a:t>Use diffusion</a:t>
            </a:r>
          </a:p>
        </p:txBody>
      </p:sp>
      <p:sp>
        <p:nvSpPr>
          <p:cNvPr id="41" name="TextBox 40"/>
          <p:cNvSpPr txBox="1"/>
          <p:nvPr/>
        </p:nvSpPr>
        <p:spPr>
          <a:xfrm>
            <a:off x="9089136" y="4919472"/>
            <a:ext cx="2350008" cy="429768"/>
          </a:xfrm>
          <a:prstGeom prst="rect">
            <a:avLst/>
          </a:prstGeom>
          <a:noFill/>
        </p:spPr>
        <p:txBody>
          <a:bodyPr wrap="square" lIns="0" rIns="0" tIns="0" bIns="0" anchor="ctr">
            <a:spAutoFit/>
          </a:bodyPr>
          <a:lstStyle/>
          <a:p>
            <a:pPr algn="l">
              <a:lnSpc>
                <a:spcPct val="100000"/>
              </a:lnSpc>
              <a:spcBef>
                <a:spcPts val="0"/>
              </a:spcBef>
              <a:spcAft>
                <a:spcPts val="0"/>
              </a:spcAft>
            </a:pPr>
            <a:r>
              <a:rPr sz="1080" b="0" i="0">
                <a:solidFill>
                  <a:srgbClr val="263746"/>
                </a:solidFill>
                <a:latin typeface="Arial"/>
              </a:rPr>
              <a:t>Better coverage and closer to the real distribution.</a:t>
            </a:r>
          </a:p>
        </p:txBody>
      </p:sp>
      <p:sp>
        <p:nvSpPr>
          <p:cNvPr id="42" name="TextBox 41"/>
          <p:cNvSpPr txBox="1"/>
          <p:nvPr/>
        </p:nvSpPr>
        <p:spPr>
          <a:xfrm>
            <a:off x="7580375" y="5458968"/>
            <a:ext cx="3858768" cy="365760"/>
          </a:xfrm>
          <a:prstGeom prst="rect">
            <a:avLst/>
          </a:prstGeom>
          <a:noFill/>
        </p:spPr>
        <p:txBody>
          <a:bodyPr wrap="square" lIns="0" rIns="0" tIns="0" bIns="0" anchor="t">
            <a:spAutoFit/>
          </a:bodyPr>
          <a:lstStyle/>
          <a:p>
            <a:pPr algn="l">
              <a:lnSpc>
                <a:spcPct val="100000"/>
              </a:lnSpc>
              <a:spcBef>
                <a:spcPts val="0"/>
              </a:spcBef>
              <a:spcAft>
                <a:spcPts val="0"/>
              </a:spcAft>
            </a:pPr>
            <a:r>
              <a:rPr sz="910" b="0" i="0">
                <a:solidFill>
                  <a:srgbClr val="59697A"/>
                </a:solidFill>
                <a:latin typeface="Arial"/>
              </a:rPr>
              <a:t>A score near 0.5 means a prediction model cannot reliably tell measured and generated samples apart.</a:t>
            </a:r>
          </a:p>
        </p:txBody>
      </p:sp>
      <p:sp>
        <p:nvSpPr>
          <p:cNvPr id="43" name="TextBox 42"/>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Architecture: Lacan et al. (2026), Fig. 1C, doi:10.1186/s12859-026-06470-8. Each model was evaluated on its own fixed test split.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DIFFUSION</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Diffusion learns tissue structure from noise</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The same PCA axes follow 1,024 generated profiles through reverse diffusion.</a:t>
            </a:r>
          </a:p>
        </p:txBody>
      </p:sp>
      <p:pic>
        <p:nvPicPr>
          <p:cNvPr id="7" name="DDIM reverse trajectory at timesteps 1000, 200 and 0" descr="DDIM reverse trajectory at timesteps 1000, 200 and 0"/>
          <p:cNvPicPr>
            <a:picLocks noChangeAspect="1"/>
          </p:cNvPicPr>
          <p:nvPr/>
        </p:nvPicPr>
        <p:blipFill>
          <a:blip r:embed="rId2"/>
          <a:stretch>
            <a:fillRect/>
          </a:stretch>
        </p:blipFill>
        <p:spPr>
          <a:xfrm>
            <a:off x="310896" y="1735579"/>
            <a:ext cx="11558016" cy="4100072"/>
          </a:xfrm>
          <a:prstGeom prst="rect">
            <a:avLst/>
          </a:prstGeom>
        </p:spPr>
      </p:pic>
      <p:sp>
        <p:nvSpPr>
          <p:cNvPr id="8" name="TextBox 7"/>
          <p:cNvSpPr txBox="1"/>
          <p:nvPr/>
        </p:nvSpPr>
        <p:spPr>
          <a:xfrm>
            <a:off x="713232" y="5943600"/>
            <a:ext cx="2286000" cy="25603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300" b="1" i="0">
                <a:solidFill>
                  <a:srgbClr val="59697A"/>
                </a:solidFill>
                <a:latin typeface="Arial"/>
              </a:rPr>
              <a:t>t = 1000: noise</a:t>
            </a:r>
          </a:p>
        </p:txBody>
      </p:sp>
      <p:sp>
        <p:nvSpPr>
          <p:cNvPr id="9" name="TextBox 8"/>
          <p:cNvSpPr txBox="1"/>
          <p:nvPr/>
        </p:nvSpPr>
        <p:spPr>
          <a:xfrm>
            <a:off x="4782312" y="5943600"/>
            <a:ext cx="2651760" cy="25603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300" b="1" i="0">
                <a:solidFill>
                  <a:srgbClr val="59697A"/>
                </a:solidFill>
                <a:latin typeface="Arial"/>
              </a:rPr>
              <a:t>t = 200: partial structure</a:t>
            </a:r>
          </a:p>
        </p:txBody>
      </p:sp>
      <p:sp>
        <p:nvSpPr>
          <p:cNvPr id="10" name="TextBox 9"/>
          <p:cNvSpPr txBox="1"/>
          <p:nvPr/>
        </p:nvSpPr>
        <p:spPr>
          <a:xfrm>
            <a:off x="8366760" y="5943600"/>
            <a:ext cx="3108960" cy="25603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300" b="1" i="0">
                <a:solidFill>
                  <a:srgbClr val="178681"/>
                </a:solidFill>
                <a:latin typeface="Arial"/>
              </a:rPr>
              <a:t>t = 0: tissue-conditioned profiles</a:t>
            </a:r>
          </a:p>
        </p:txBody>
      </p:sp>
      <p:sp>
        <p:nvSpPr>
          <p:cNvPr id="11" name="TextBox 10"/>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Gray points are real ARCHS4 profiles; colors identify generated tissue conditions. PC1 and PC2 limits are shared across panels.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DIFFUSION OUTPUT</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FLT and GC overlap in the global PCA view</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The condition signal is not clear when all tissues and studies are combined.</a:t>
            </a:r>
          </a:p>
        </p:txBody>
      </p:sp>
      <p:pic>
        <p:nvPicPr>
          <p:cNvPr id="7" name="PCA of real and generated profiles colored by FLT and ground-control condition" descr="PCA of real and generated profiles colored by FLT and ground-control condition"/>
          <p:cNvPicPr>
            <a:picLocks noChangeAspect="1"/>
          </p:cNvPicPr>
          <p:nvPr/>
        </p:nvPicPr>
        <p:blipFill>
          <a:blip r:embed="rId2"/>
          <a:stretch>
            <a:fillRect/>
          </a:stretch>
        </p:blipFill>
        <p:spPr>
          <a:xfrm>
            <a:off x="3389855" y="1764792"/>
            <a:ext cx="5400097" cy="4005072"/>
          </a:xfrm>
          <a:prstGeom prst="rect">
            <a:avLst/>
          </a:prstGeom>
        </p:spPr>
      </p:pic>
      <p:sp>
        <p:nvSpPr>
          <p:cNvPr id="8" name="TextBox 7"/>
          <p:cNvSpPr txBox="1"/>
          <p:nvPr/>
        </p:nvSpPr>
        <p:spPr>
          <a:xfrm>
            <a:off x="694944" y="5897880"/>
            <a:ext cx="10789920" cy="237744"/>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150" b="0" i="0">
                <a:solidFill>
                  <a:srgbClr val="59697A"/>
                </a:solidFill>
                <a:latin typeface="Arial"/>
              </a:rPr>
              <a:t>Color: FLT or GC. Circles are real samples; crosses are generated samples.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DIFFUSION OUTPUT</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Tissue and study structure dominate the PCA space</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We therefore compare FLT and GC within tissues and account for study.</a:t>
            </a:r>
          </a:p>
        </p:txBody>
      </p:sp>
      <p:pic>
        <p:nvPicPr>
          <p:cNvPr id="7" name="PCA of real and generated profiles colored by tissue and study" descr="PCA of real and generated profiles colored by tissue and study"/>
          <p:cNvPicPr>
            <a:picLocks noChangeAspect="1"/>
          </p:cNvPicPr>
          <p:nvPr/>
        </p:nvPicPr>
        <p:blipFill>
          <a:blip r:embed="rId2"/>
          <a:stretch>
            <a:fillRect/>
          </a:stretch>
        </p:blipFill>
        <p:spPr>
          <a:xfrm>
            <a:off x="491515" y="1764792"/>
            <a:ext cx="11160200" cy="4005072"/>
          </a:xfrm>
          <a:prstGeom prst="rect">
            <a:avLst/>
          </a:prstGeom>
        </p:spPr>
      </p:pic>
      <p:sp>
        <p:nvSpPr>
          <p:cNvPr id="8" name="TextBox 7"/>
          <p:cNvSpPr txBox="1"/>
          <p:nvPr/>
        </p:nvSpPr>
        <p:spPr>
          <a:xfrm>
            <a:off x="694944" y="5897880"/>
            <a:ext cx="10789920" cy="237744"/>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150" b="0" i="0">
                <a:solidFill>
                  <a:srgbClr val="59697A"/>
                </a:solidFill>
                <a:latin typeface="Arial"/>
              </a:rPr>
              <a:t>Left: tissue. Right: study. Circles are real samples; crosses are generated samples.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PRIMARY ANALYSIS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Does adding synthetic data improve FLT vs GC prediction?</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Train the same tissue-specific classifier two ways, then compare both versions on real samples.</a:t>
            </a:r>
          </a:p>
        </p:txBody>
      </p:sp>
      <p:sp>
        <p:nvSpPr>
          <p:cNvPr id="7" name="Rectangle 6"/>
          <p:cNvSpPr/>
          <p:nvPr/>
        </p:nvSpPr>
        <p:spPr>
          <a:xfrm>
            <a:off x="576072" y="2048256"/>
            <a:ext cx="6903720" cy="1316736"/>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6072" y="2048256"/>
            <a:ext cx="68580" cy="1316736"/>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276856"/>
            <a:ext cx="384048" cy="219456"/>
          </a:xfrm>
          <a:prstGeom prst="rect">
            <a:avLst/>
          </a:prstGeom>
          <a:noFill/>
        </p:spPr>
        <p:txBody>
          <a:bodyPr wrap="square" lIns="0" rIns="0" tIns="0" bIns="0" anchor="t">
            <a:spAutoFit/>
          </a:bodyPr>
          <a:lstStyle/>
          <a:p>
            <a:pPr algn="l">
              <a:lnSpc>
                <a:spcPct val="100000"/>
              </a:lnSpc>
              <a:spcBef>
                <a:spcPts val="0"/>
              </a:spcBef>
              <a:spcAft>
                <a:spcPts val="0"/>
              </a:spcAft>
            </a:pPr>
            <a:r>
              <a:rPr sz="1019" b="1" i="0">
                <a:solidFill>
                  <a:srgbClr val="2D6496"/>
                </a:solidFill>
                <a:latin typeface="Arial"/>
              </a:rPr>
              <a:t>01</a:t>
            </a:r>
          </a:p>
        </p:txBody>
      </p:sp>
      <p:sp>
        <p:nvSpPr>
          <p:cNvPr id="10" name="TextBox 9"/>
          <p:cNvSpPr txBox="1"/>
          <p:nvPr/>
        </p:nvSpPr>
        <p:spPr>
          <a:xfrm>
            <a:off x="1344168" y="2249424"/>
            <a:ext cx="5303520" cy="274320"/>
          </a:xfrm>
          <a:prstGeom prst="rect">
            <a:avLst/>
          </a:prstGeom>
          <a:noFill/>
        </p:spPr>
        <p:txBody>
          <a:bodyPr wrap="square" lIns="0" rIns="0" tIns="0" bIns="0" anchor="t">
            <a:spAutoFit/>
          </a:bodyPr>
          <a:lstStyle/>
          <a:p>
            <a:pPr algn="l">
              <a:lnSpc>
                <a:spcPct val="100000"/>
              </a:lnSpc>
              <a:spcBef>
                <a:spcPts val="0"/>
              </a:spcBef>
              <a:spcAft>
                <a:spcPts val="0"/>
              </a:spcAft>
            </a:pPr>
            <a:r>
              <a:rPr sz="1450" b="1" i="0">
                <a:solidFill>
                  <a:srgbClr val="082B55"/>
                </a:solidFill>
                <a:latin typeface="Arial"/>
              </a:rPr>
              <a:t>TRAIN ON REAL DATA</a:t>
            </a:r>
          </a:p>
        </p:txBody>
      </p:sp>
      <p:sp>
        <p:nvSpPr>
          <p:cNvPr id="11" name="Oval 10"/>
          <p:cNvSpPr/>
          <p:nvPr/>
        </p:nvSpPr>
        <p:spPr>
          <a:xfrm>
            <a:off x="1353312" y="2761488"/>
            <a:ext cx="310896" cy="310896"/>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53312" y="2766060"/>
            <a:ext cx="310896" cy="30175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FFFFFF"/>
                </a:solidFill>
                <a:latin typeface="Arial"/>
              </a:rPr>
              <a:t>R</a:t>
            </a:r>
          </a:p>
        </p:txBody>
      </p:sp>
      <p:sp>
        <p:nvSpPr>
          <p:cNvPr id="13" name="TextBox 12"/>
          <p:cNvSpPr txBox="1"/>
          <p:nvPr/>
        </p:nvSpPr>
        <p:spPr>
          <a:xfrm>
            <a:off x="1810512" y="2788920"/>
            <a:ext cx="1975104" cy="219456"/>
          </a:xfrm>
          <a:prstGeom prst="rect">
            <a:avLst/>
          </a:prstGeom>
          <a:noFill/>
        </p:spPr>
        <p:txBody>
          <a:bodyPr wrap="square" lIns="0" rIns="0" tIns="0" bIns="0" anchor="t">
            <a:spAutoFit/>
          </a:bodyPr>
          <a:lstStyle/>
          <a:p>
            <a:pPr algn="l">
              <a:lnSpc>
                <a:spcPct val="100000"/>
              </a:lnSpc>
              <a:spcBef>
                <a:spcPts val="0"/>
              </a:spcBef>
              <a:spcAft>
                <a:spcPts val="0"/>
              </a:spcAft>
            </a:pPr>
            <a:r>
              <a:rPr sz="1150" b="0" i="0">
                <a:solidFill>
                  <a:srgbClr val="263746"/>
                </a:solidFill>
                <a:latin typeface="Arial"/>
              </a:rPr>
              <a:t>Real profiles</a:t>
            </a:r>
          </a:p>
        </p:txBody>
      </p:sp>
      <p:sp>
        <p:nvSpPr>
          <p:cNvPr id="14" name="Right Arrow 13"/>
          <p:cNvSpPr/>
          <p:nvPr/>
        </p:nvSpPr>
        <p:spPr>
          <a:xfrm>
            <a:off x="4224528" y="2743200"/>
            <a:ext cx="512064" cy="256032"/>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56048" y="2514600"/>
            <a:ext cx="2084831" cy="713232"/>
          </a:xfrm>
          <a:prstGeom prst="rect">
            <a:avLst/>
          </a:prstGeom>
          <a:solidFill>
            <a:srgbClr val="FFFFFF"/>
          </a:solidFill>
          <a:ln w="101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9784" y="2734056"/>
            <a:ext cx="1737360" cy="256032"/>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2D6496"/>
                </a:solidFill>
                <a:latin typeface="Arial"/>
              </a:rPr>
              <a:t>FLT / GC classifier</a:t>
            </a:r>
          </a:p>
        </p:txBody>
      </p:sp>
      <p:sp>
        <p:nvSpPr>
          <p:cNvPr id="17" name="Right Arrow 16"/>
          <p:cNvSpPr/>
          <p:nvPr/>
        </p:nvSpPr>
        <p:spPr>
          <a:xfrm>
            <a:off x="7150608" y="2743200"/>
            <a:ext cx="530352" cy="256032"/>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6072" y="3794760"/>
            <a:ext cx="6903720" cy="1316736"/>
          </a:xfrm>
          <a:prstGeom prst="rect">
            <a:avLst/>
          </a:prstGeom>
          <a:solidFill>
            <a:srgbClr val="E8F3F1"/>
          </a:solidFill>
          <a:ln w="10160">
            <a:solidFill>
              <a:srgbClr val="E8F3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6072" y="3794760"/>
            <a:ext cx="68580" cy="1316736"/>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4023360"/>
            <a:ext cx="384048" cy="219456"/>
          </a:xfrm>
          <a:prstGeom prst="rect">
            <a:avLst/>
          </a:prstGeom>
          <a:noFill/>
        </p:spPr>
        <p:txBody>
          <a:bodyPr wrap="square" lIns="0" rIns="0" tIns="0" bIns="0" anchor="t">
            <a:spAutoFit/>
          </a:bodyPr>
          <a:lstStyle/>
          <a:p>
            <a:pPr algn="l">
              <a:lnSpc>
                <a:spcPct val="100000"/>
              </a:lnSpc>
              <a:spcBef>
                <a:spcPts val="0"/>
              </a:spcBef>
              <a:spcAft>
                <a:spcPts val="0"/>
              </a:spcAft>
            </a:pPr>
            <a:r>
              <a:rPr sz="1019" b="1" i="0">
                <a:solidFill>
                  <a:srgbClr val="178681"/>
                </a:solidFill>
                <a:latin typeface="Arial"/>
              </a:rPr>
              <a:t>02</a:t>
            </a:r>
          </a:p>
        </p:txBody>
      </p:sp>
      <p:sp>
        <p:nvSpPr>
          <p:cNvPr id="21" name="TextBox 20"/>
          <p:cNvSpPr txBox="1"/>
          <p:nvPr/>
        </p:nvSpPr>
        <p:spPr>
          <a:xfrm>
            <a:off x="1344168" y="3995928"/>
            <a:ext cx="5303520" cy="274320"/>
          </a:xfrm>
          <a:prstGeom prst="rect">
            <a:avLst/>
          </a:prstGeom>
          <a:noFill/>
        </p:spPr>
        <p:txBody>
          <a:bodyPr wrap="square" lIns="0" rIns="0" tIns="0" bIns="0" anchor="t">
            <a:spAutoFit/>
          </a:bodyPr>
          <a:lstStyle/>
          <a:p>
            <a:pPr algn="l">
              <a:lnSpc>
                <a:spcPct val="100000"/>
              </a:lnSpc>
              <a:spcBef>
                <a:spcPts val="0"/>
              </a:spcBef>
              <a:spcAft>
                <a:spcPts val="0"/>
              </a:spcAft>
            </a:pPr>
            <a:r>
              <a:rPr sz="1450" b="1" i="0">
                <a:solidFill>
                  <a:srgbClr val="082B55"/>
                </a:solidFill>
                <a:latin typeface="Arial"/>
              </a:rPr>
              <a:t>TRAIN ON REAL + SYNTHETIC DATA</a:t>
            </a:r>
          </a:p>
        </p:txBody>
      </p:sp>
      <p:sp>
        <p:nvSpPr>
          <p:cNvPr id="22" name="Oval 21"/>
          <p:cNvSpPr/>
          <p:nvPr/>
        </p:nvSpPr>
        <p:spPr>
          <a:xfrm>
            <a:off x="1353312" y="4507992"/>
            <a:ext cx="310896" cy="310896"/>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53312" y="4512564"/>
            <a:ext cx="310896" cy="30175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FFFFFF"/>
                </a:solidFill>
                <a:latin typeface="Arial"/>
              </a:rPr>
              <a:t>R</a:t>
            </a:r>
          </a:p>
        </p:txBody>
      </p:sp>
      <p:sp>
        <p:nvSpPr>
          <p:cNvPr id="24" name="TextBox 23"/>
          <p:cNvSpPr txBox="1"/>
          <p:nvPr/>
        </p:nvSpPr>
        <p:spPr>
          <a:xfrm>
            <a:off x="1709928" y="4544568"/>
            <a:ext cx="164592" cy="18288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59697A"/>
                </a:solidFill>
                <a:latin typeface="Arial"/>
              </a:rPr>
              <a:t>+</a:t>
            </a:r>
          </a:p>
        </p:txBody>
      </p:sp>
      <p:sp>
        <p:nvSpPr>
          <p:cNvPr id="25" name="Oval 24"/>
          <p:cNvSpPr/>
          <p:nvPr/>
        </p:nvSpPr>
        <p:spPr>
          <a:xfrm>
            <a:off x="1920240" y="4507992"/>
            <a:ext cx="310896" cy="310896"/>
          </a:xfrm>
          <a:prstGeom prst="ellipse">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20240" y="4512564"/>
            <a:ext cx="310896" cy="301752"/>
          </a:xfrm>
          <a:prstGeom prst="rect">
            <a:avLst/>
          </a:prstGeom>
          <a:noFill/>
        </p:spPr>
        <p:txBody>
          <a:bodyPr wrap="square" lIns="0" rIns="0" tIns="0" bIns="0" anchor="ctr">
            <a:spAutoFit/>
          </a:bodyPr>
          <a:lstStyle/>
          <a:p>
            <a:pPr algn="ctr">
              <a:lnSpc>
                <a:spcPct val="100000"/>
              </a:lnSpc>
              <a:spcBef>
                <a:spcPts val="0"/>
              </a:spcBef>
              <a:spcAft>
                <a:spcPts val="0"/>
              </a:spcAft>
            </a:pPr>
            <a:r>
              <a:rPr sz="819" b="1" i="0">
                <a:solidFill>
                  <a:srgbClr val="FFFFFF"/>
                </a:solidFill>
                <a:latin typeface="Arial"/>
              </a:rPr>
              <a:t>S</a:t>
            </a:r>
          </a:p>
        </p:txBody>
      </p:sp>
      <p:sp>
        <p:nvSpPr>
          <p:cNvPr id="27" name="TextBox 26"/>
          <p:cNvSpPr txBox="1"/>
          <p:nvPr/>
        </p:nvSpPr>
        <p:spPr>
          <a:xfrm>
            <a:off x="2377440" y="4535424"/>
            <a:ext cx="1975104" cy="219456"/>
          </a:xfrm>
          <a:prstGeom prst="rect">
            <a:avLst/>
          </a:prstGeom>
          <a:noFill/>
        </p:spPr>
        <p:txBody>
          <a:bodyPr wrap="square" lIns="0" rIns="0" tIns="0" bIns="0" anchor="t">
            <a:spAutoFit/>
          </a:bodyPr>
          <a:lstStyle/>
          <a:p>
            <a:pPr algn="l">
              <a:lnSpc>
                <a:spcPct val="100000"/>
              </a:lnSpc>
              <a:spcBef>
                <a:spcPts val="0"/>
              </a:spcBef>
              <a:spcAft>
                <a:spcPts val="0"/>
              </a:spcAft>
            </a:pPr>
            <a:r>
              <a:rPr sz="1150" b="0" i="0">
                <a:solidFill>
                  <a:srgbClr val="263746"/>
                </a:solidFill>
                <a:latin typeface="Arial"/>
              </a:rPr>
              <a:t>Real + synthetic profiles</a:t>
            </a:r>
          </a:p>
        </p:txBody>
      </p:sp>
      <p:sp>
        <p:nvSpPr>
          <p:cNvPr id="28" name="Right Arrow 27"/>
          <p:cNvSpPr/>
          <p:nvPr/>
        </p:nvSpPr>
        <p:spPr>
          <a:xfrm>
            <a:off x="4224528" y="4489704"/>
            <a:ext cx="512064" cy="256032"/>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56048" y="4261104"/>
            <a:ext cx="2084831" cy="713232"/>
          </a:xfrm>
          <a:prstGeom prst="rect">
            <a:avLst/>
          </a:prstGeom>
          <a:solidFill>
            <a:srgbClr val="FFFFFF"/>
          </a:solidFill>
          <a:ln w="101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9784" y="4480560"/>
            <a:ext cx="1737360" cy="256032"/>
          </a:xfrm>
          <a:prstGeom prst="rect">
            <a:avLst/>
          </a:prstGeom>
          <a:noFill/>
        </p:spPr>
        <p:txBody>
          <a:bodyPr wrap="square" lIns="0" rIns="0" tIns="0" bIns="0" anchor="t">
            <a:spAutoFit/>
          </a:bodyPr>
          <a:lstStyle/>
          <a:p>
            <a:pPr algn="ctr">
              <a:lnSpc>
                <a:spcPct val="100000"/>
              </a:lnSpc>
              <a:spcBef>
                <a:spcPts val="0"/>
              </a:spcBef>
              <a:spcAft>
                <a:spcPts val="0"/>
              </a:spcAft>
            </a:pPr>
            <a:r>
              <a:rPr sz="1300" b="1" i="0">
                <a:solidFill>
                  <a:srgbClr val="178681"/>
                </a:solidFill>
                <a:latin typeface="Arial"/>
              </a:rPr>
              <a:t>FLT / GC classifier</a:t>
            </a:r>
          </a:p>
        </p:txBody>
      </p:sp>
      <p:sp>
        <p:nvSpPr>
          <p:cNvPr id="31" name="Right Arrow 30"/>
          <p:cNvSpPr/>
          <p:nvPr/>
        </p:nvSpPr>
        <p:spPr>
          <a:xfrm>
            <a:off x="7150608" y="4489704"/>
            <a:ext cx="530352" cy="256032"/>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863840" y="2048256"/>
            <a:ext cx="3712463" cy="3063240"/>
          </a:xfrm>
          <a:prstGeom prst="rect">
            <a:avLst/>
          </a:prstGeom>
          <a:solidFill>
            <a:srgbClr val="FFFFFF"/>
          </a:solidFill>
          <a:ln w="10160">
            <a:solidFill>
              <a:srgbClr val="D37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63840" y="2048256"/>
            <a:ext cx="3712463" cy="54864"/>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93024" y="2432304"/>
            <a:ext cx="3054096" cy="256032"/>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D37B00"/>
                </a:solidFill>
                <a:latin typeface="Arial"/>
              </a:rPr>
              <a:t>TEST BOTH</a:t>
            </a:r>
          </a:p>
        </p:txBody>
      </p:sp>
      <p:sp>
        <p:nvSpPr>
          <p:cNvPr id="35" name="TextBox 34"/>
          <p:cNvSpPr txBox="1"/>
          <p:nvPr/>
        </p:nvSpPr>
        <p:spPr>
          <a:xfrm>
            <a:off x="8193024" y="2907792"/>
            <a:ext cx="3054096" cy="310896"/>
          </a:xfrm>
          <a:prstGeom prst="rect">
            <a:avLst/>
          </a:prstGeom>
          <a:noFill/>
        </p:spPr>
        <p:txBody>
          <a:bodyPr wrap="square" lIns="0" rIns="0" tIns="0" bIns="0" anchor="t">
            <a:spAutoFit/>
          </a:bodyPr>
          <a:lstStyle/>
          <a:p>
            <a:pPr algn="ctr">
              <a:lnSpc>
                <a:spcPct val="100000"/>
              </a:lnSpc>
              <a:spcBef>
                <a:spcPts val="0"/>
              </a:spcBef>
              <a:spcAft>
                <a:spcPts val="0"/>
              </a:spcAft>
            </a:pPr>
            <a:r>
              <a:rPr sz="1800" b="1" i="0">
                <a:solidFill>
                  <a:srgbClr val="082B55"/>
                </a:solidFill>
                <a:latin typeface="Arial"/>
              </a:rPr>
              <a:t>Same real samples</a:t>
            </a:r>
          </a:p>
        </p:txBody>
      </p:sp>
      <p:sp>
        <p:nvSpPr>
          <p:cNvPr id="36" name="TextBox 35"/>
          <p:cNvSpPr txBox="1"/>
          <p:nvPr/>
        </p:nvSpPr>
        <p:spPr>
          <a:xfrm>
            <a:off x="8613648" y="3584448"/>
            <a:ext cx="914400" cy="274320"/>
          </a:xfrm>
          <a:prstGeom prst="rect">
            <a:avLst/>
          </a:prstGeom>
          <a:noFill/>
        </p:spPr>
        <p:txBody>
          <a:bodyPr wrap="square" lIns="0" rIns="0" tIns="0" bIns="0" anchor="t">
            <a:spAutoFit/>
          </a:bodyPr>
          <a:lstStyle/>
          <a:p>
            <a:pPr algn="ctr">
              <a:lnSpc>
                <a:spcPct val="100000"/>
              </a:lnSpc>
              <a:spcBef>
                <a:spcPts val="0"/>
              </a:spcBef>
              <a:spcAft>
                <a:spcPts val="0"/>
              </a:spcAft>
            </a:pPr>
            <a:r>
              <a:rPr sz="1500" b="1" i="0">
                <a:solidFill>
                  <a:srgbClr val="D96552"/>
                </a:solidFill>
                <a:latin typeface="Arial"/>
              </a:rPr>
              <a:t>FLT</a:t>
            </a:r>
          </a:p>
        </p:txBody>
      </p:sp>
      <p:sp>
        <p:nvSpPr>
          <p:cNvPr id="37" name="TextBox 36"/>
          <p:cNvSpPr txBox="1"/>
          <p:nvPr/>
        </p:nvSpPr>
        <p:spPr>
          <a:xfrm>
            <a:off x="9912096" y="3584448"/>
            <a:ext cx="914400" cy="274320"/>
          </a:xfrm>
          <a:prstGeom prst="rect">
            <a:avLst/>
          </a:prstGeom>
          <a:noFill/>
        </p:spPr>
        <p:txBody>
          <a:bodyPr wrap="square" lIns="0" rIns="0" tIns="0" bIns="0" anchor="t">
            <a:spAutoFit/>
          </a:bodyPr>
          <a:lstStyle/>
          <a:p>
            <a:pPr algn="ctr">
              <a:lnSpc>
                <a:spcPct val="100000"/>
              </a:lnSpc>
              <a:spcBef>
                <a:spcPts val="0"/>
              </a:spcBef>
              <a:spcAft>
                <a:spcPts val="0"/>
              </a:spcAft>
            </a:pPr>
            <a:r>
              <a:rPr sz="1500" b="1" i="0">
                <a:solidFill>
                  <a:srgbClr val="2D6496"/>
                </a:solidFill>
                <a:latin typeface="Arial"/>
              </a:rPr>
              <a:t>GC</a:t>
            </a:r>
          </a:p>
        </p:txBody>
      </p:sp>
      <p:sp>
        <p:nvSpPr>
          <p:cNvPr id="38" name="Oval 37"/>
          <p:cNvSpPr/>
          <p:nvPr/>
        </p:nvSpPr>
        <p:spPr>
          <a:xfrm>
            <a:off x="8942832" y="3986784"/>
            <a:ext cx="201168" cy="201168"/>
          </a:xfrm>
          <a:prstGeom prst="ellipse">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272016" y="3867912"/>
            <a:ext cx="201168" cy="201168"/>
          </a:xfrm>
          <a:prstGeom prst="ellipse">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345168" y="4215384"/>
            <a:ext cx="201168" cy="201168"/>
          </a:xfrm>
          <a:prstGeom prst="ellipse">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241280" y="3941063"/>
            <a:ext cx="201168" cy="201168"/>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570464" y="4096512"/>
            <a:ext cx="201168" cy="201168"/>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22992" y="4270248"/>
            <a:ext cx="201168" cy="201168"/>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93024" y="4663440"/>
            <a:ext cx="3054096" cy="256032"/>
          </a:xfrm>
          <a:prstGeom prst="rect">
            <a:avLst/>
          </a:prstGeom>
          <a:noFill/>
        </p:spPr>
        <p:txBody>
          <a:bodyPr wrap="square" lIns="0" rIns="0" tIns="0" bIns="0" anchor="t">
            <a:spAutoFit/>
          </a:bodyPr>
          <a:lstStyle/>
          <a:p>
            <a:pPr algn="ctr">
              <a:lnSpc>
                <a:spcPct val="100000"/>
              </a:lnSpc>
              <a:spcBef>
                <a:spcPts val="0"/>
              </a:spcBef>
              <a:spcAft>
                <a:spcPts val="0"/>
              </a:spcAft>
            </a:pPr>
            <a:r>
              <a:rPr sz="1230" b="1" i="0">
                <a:solidFill>
                  <a:srgbClr val="263746"/>
                </a:solidFill>
                <a:latin typeface="Arial"/>
              </a:rPr>
              <a:t>Compare prediction accuracy</a:t>
            </a:r>
          </a:p>
        </p:txBody>
      </p:sp>
      <p:sp>
        <p:nvSpPr>
          <p:cNvPr id="45" name="TextBox 44"/>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Both classifiers are evaluated on real OSDR profiles.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PREDICTION</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Real + synthetic vs real-only balanced accuracy across 27 tissues</a:t>
            </a:r>
          </a:p>
        </p:txBody>
      </p:sp>
      <p:pic>
        <p:nvPicPr>
          <p:cNvPr id="6" name="Changes in FLT versus GC classifier performance for all 27 tissue analyses" descr="Changes in FLT versus GC classifier performance for all 27 tissue analyses"/>
          <p:cNvPicPr>
            <a:picLocks noChangeAspect="1"/>
          </p:cNvPicPr>
          <p:nvPr/>
        </p:nvPicPr>
        <p:blipFill>
          <a:blip r:embed="rId2"/>
          <a:stretch>
            <a:fillRect/>
          </a:stretch>
        </p:blipFill>
        <p:spPr>
          <a:xfrm>
            <a:off x="1361235" y="1389888"/>
            <a:ext cx="9448193" cy="4681728"/>
          </a:xfrm>
          <a:prstGeom prst="rect">
            <a:avLst/>
          </a:prstGeom>
        </p:spPr>
      </p:pic>
      <p:sp>
        <p:nvSpPr>
          <p:cNvPr id="7" name="Oval 6"/>
          <p:cNvSpPr/>
          <p:nvPr/>
        </p:nvSpPr>
        <p:spPr>
          <a:xfrm>
            <a:off x="2880360" y="6190488"/>
            <a:ext cx="100584" cy="100584"/>
          </a:xfrm>
          <a:prstGeom prst="ellipse">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35808" y="6158484"/>
            <a:ext cx="713232" cy="182880"/>
          </a:xfrm>
          <a:prstGeom prst="rect">
            <a:avLst/>
          </a:prstGeom>
          <a:noFill/>
        </p:spPr>
        <p:txBody>
          <a:bodyPr wrap="square" lIns="0" rIns="0" tIns="0" bIns="0" anchor="t">
            <a:spAutoFit/>
          </a:bodyPr>
          <a:lstStyle/>
          <a:p>
            <a:pPr algn="l">
              <a:lnSpc>
                <a:spcPct val="100000"/>
              </a:lnSpc>
              <a:spcBef>
                <a:spcPts val="0"/>
              </a:spcBef>
              <a:spcAft>
                <a:spcPts val="0"/>
              </a:spcAft>
            </a:pPr>
            <a:r>
              <a:rPr sz="890" b="1" i="0">
                <a:solidFill>
                  <a:srgbClr val="8A969E"/>
                </a:solidFill>
                <a:latin typeface="Arial"/>
              </a:rPr>
              <a:t>Real only</a:t>
            </a:r>
          </a:p>
        </p:txBody>
      </p:sp>
      <p:sp>
        <p:nvSpPr>
          <p:cNvPr id="9" name="Oval 8"/>
          <p:cNvSpPr/>
          <p:nvPr/>
        </p:nvSpPr>
        <p:spPr>
          <a:xfrm>
            <a:off x="4590288" y="6190488"/>
            <a:ext cx="100584" cy="100584"/>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45736" y="6158484"/>
            <a:ext cx="1417320" cy="182880"/>
          </a:xfrm>
          <a:prstGeom prst="rect">
            <a:avLst/>
          </a:prstGeom>
          <a:noFill/>
        </p:spPr>
        <p:txBody>
          <a:bodyPr wrap="square" lIns="0" rIns="0" tIns="0" bIns="0" anchor="t">
            <a:spAutoFit/>
          </a:bodyPr>
          <a:lstStyle/>
          <a:p>
            <a:pPr algn="l">
              <a:lnSpc>
                <a:spcPct val="100000"/>
              </a:lnSpc>
              <a:spcBef>
                <a:spcPts val="0"/>
              </a:spcBef>
              <a:spcAft>
                <a:spcPts val="0"/>
              </a:spcAft>
            </a:pPr>
            <a:r>
              <a:rPr sz="890" b="1" i="0">
                <a:solidFill>
                  <a:srgbClr val="178681"/>
                </a:solidFill>
                <a:latin typeface="Arial"/>
              </a:rPr>
              <a:t>All six metrics passed</a:t>
            </a:r>
          </a:p>
        </p:txBody>
      </p:sp>
      <p:sp>
        <p:nvSpPr>
          <p:cNvPr id="11" name="Oval 10"/>
          <p:cNvSpPr/>
          <p:nvPr/>
        </p:nvSpPr>
        <p:spPr>
          <a:xfrm>
            <a:off x="7269480" y="6190488"/>
            <a:ext cx="100584" cy="100584"/>
          </a:xfrm>
          <a:prstGeom prst="ellipse">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4928" y="6158484"/>
            <a:ext cx="1481328" cy="182880"/>
          </a:xfrm>
          <a:prstGeom prst="rect">
            <a:avLst/>
          </a:prstGeom>
          <a:noFill/>
        </p:spPr>
        <p:txBody>
          <a:bodyPr wrap="square" lIns="0" rIns="0" tIns="0" bIns="0" anchor="t">
            <a:spAutoFit/>
          </a:bodyPr>
          <a:lstStyle/>
          <a:p>
            <a:pPr algn="l">
              <a:lnSpc>
                <a:spcPct val="100000"/>
              </a:lnSpc>
              <a:spcBef>
                <a:spcPts val="0"/>
              </a:spcBef>
              <a:spcAft>
                <a:spcPts val="0"/>
              </a:spcAft>
            </a:pPr>
            <a:r>
              <a:rPr sz="890" b="1" i="0">
                <a:solidFill>
                  <a:srgbClr val="D96552"/>
                </a:solidFill>
                <a:latin typeface="Arial"/>
              </a:rPr>
              <a:t>At least one declined</a:t>
            </a:r>
          </a:p>
        </p:txBody>
      </p:sp>
      <p:sp>
        <p:nvSpPr>
          <p:cNvPr id="13" name="TextBox 12"/>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Outcome: FLT versus ground control within each tissue. All versions used the same 974 genes and prediction settings.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SYNTHETIC ANALYSIS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Compare what each classifier finds important</a:t>
            </a:r>
          </a:p>
        </p:txBody>
      </p:sp>
      <p:sp>
        <p:nvSpPr>
          <p:cNvPr id="6" name="TextBox 5"/>
          <p:cNvSpPr txBox="1"/>
          <p:nvPr/>
        </p:nvSpPr>
        <p:spPr>
          <a:xfrm>
            <a:off x="2807208" y="1591056"/>
            <a:ext cx="3017520" cy="274320"/>
          </a:xfrm>
          <a:prstGeom prst="rect">
            <a:avLst/>
          </a:prstGeom>
          <a:noFill/>
        </p:spPr>
        <p:txBody>
          <a:bodyPr wrap="square" lIns="0" rIns="0" tIns="0" bIns="0" anchor="t">
            <a:spAutoFit/>
          </a:bodyPr>
          <a:lstStyle/>
          <a:p>
            <a:pPr algn="ctr">
              <a:lnSpc>
                <a:spcPct val="100000"/>
              </a:lnSpc>
              <a:spcBef>
                <a:spcPts val="0"/>
              </a:spcBef>
              <a:spcAft>
                <a:spcPts val="0"/>
              </a:spcAft>
            </a:pPr>
            <a:r>
              <a:rPr sz="1350" b="1" i="0">
                <a:solidFill>
                  <a:srgbClr val="2D6496"/>
                </a:solidFill>
                <a:latin typeface="Arial"/>
              </a:rPr>
              <a:t>Real-only classifier</a:t>
            </a:r>
          </a:p>
        </p:txBody>
      </p:sp>
      <p:sp>
        <p:nvSpPr>
          <p:cNvPr id="7" name="TextBox 6"/>
          <p:cNvSpPr txBox="1"/>
          <p:nvPr/>
        </p:nvSpPr>
        <p:spPr>
          <a:xfrm>
            <a:off x="6181344" y="1591056"/>
            <a:ext cx="3401568" cy="274320"/>
          </a:xfrm>
          <a:prstGeom prst="rect">
            <a:avLst/>
          </a:prstGeom>
          <a:noFill/>
        </p:spPr>
        <p:txBody>
          <a:bodyPr wrap="square" lIns="0" rIns="0" tIns="0" bIns="0" anchor="t">
            <a:spAutoFit/>
          </a:bodyPr>
          <a:lstStyle/>
          <a:p>
            <a:pPr algn="ctr">
              <a:lnSpc>
                <a:spcPct val="100000"/>
              </a:lnSpc>
              <a:spcBef>
                <a:spcPts val="0"/>
              </a:spcBef>
              <a:spcAft>
                <a:spcPts val="0"/>
              </a:spcAft>
            </a:pPr>
            <a:r>
              <a:rPr sz="1350" b="1" i="0">
                <a:solidFill>
                  <a:srgbClr val="178681"/>
                </a:solidFill>
                <a:latin typeface="Arial"/>
              </a:rPr>
              <a:t>Real + synthetic classifier</a:t>
            </a:r>
          </a:p>
        </p:txBody>
      </p:sp>
      <p:sp>
        <p:nvSpPr>
          <p:cNvPr id="8" name="Oval 7"/>
          <p:cNvSpPr/>
          <p:nvPr/>
        </p:nvSpPr>
        <p:spPr>
          <a:xfrm>
            <a:off x="1572768" y="1847088"/>
            <a:ext cx="5486400" cy="3977639"/>
          </a:xfrm>
          <a:prstGeom prst="ellipse">
            <a:avLst/>
          </a:prstGeom>
          <a:solidFill>
            <a:srgbClr val="2D6496">
              <a:alpha val="18000"/>
            </a:srgbClr>
          </a:solidFill>
          <a:ln w="3048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138928" y="1847088"/>
            <a:ext cx="5486400" cy="3977639"/>
          </a:xfrm>
          <a:prstGeom prst="ellipse">
            <a:avLst/>
          </a:prstGeom>
          <a:solidFill>
            <a:srgbClr val="178681">
              <a:alpha val="18000"/>
            </a:srgbClr>
          </a:solidFill>
          <a:ln w="3048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063240"/>
            <a:ext cx="2816352" cy="320040"/>
          </a:xfrm>
          <a:prstGeom prst="rect">
            <a:avLst/>
          </a:prstGeom>
          <a:noFill/>
        </p:spPr>
        <p:txBody>
          <a:bodyPr wrap="square" lIns="0" rIns="0" tIns="0" bIns="0" anchor="t">
            <a:spAutoFit/>
          </a:bodyPr>
          <a:lstStyle/>
          <a:p>
            <a:pPr algn="ctr">
              <a:lnSpc>
                <a:spcPct val="100000"/>
              </a:lnSpc>
              <a:spcBef>
                <a:spcPts val="0"/>
              </a:spcBef>
              <a:spcAft>
                <a:spcPts val="0"/>
              </a:spcAft>
            </a:pPr>
            <a:r>
              <a:rPr sz="1700" b="1" i="0">
                <a:solidFill>
                  <a:srgbClr val="2D6496"/>
                </a:solidFill>
                <a:latin typeface="Arial"/>
              </a:rPr>
              <a:t>REAL ONLY</a:t>
            </a:r>
          </a:p>
        </p:txBody>
      </p:sp>
      <p:sp>
        <p:nvSpPr>
          <p:cNvPr id="11" name="TextBox 10"/>
          <p:cNvSpPr txBox="1"/>
          <p:nvPr/>
        </p:nvSpPr>
        <p:spPr>
          <a:xfrm>
            <a:off x="2057400" y="3621024"/>
            <a:ext cx="2816352" cy="274320"/>
          </a:xfrm>
          <a:prstGeom prst="rect">
            <a:avLst/>
          </a:prstGeom>
          <a:noFill/>
        </p:spPr>
        <p:txBody>
          <a:bodyPr wrap="square" lIns="0" rIns="0" tIns="0" bIns="0" anchor="t">
            <a:spAutoFit/>
          </a:bodyPr>
          <a:lstStyle/>
          <a:p>
            <a:pPr algn="ctr">
              <a:lnSpc>
                <a:spcPct val="100000"/>
              </a:lnSpc>
              <a:spcBef>
                <a:spcPts val="0"/>
              </a:spcBef>
              <a:spcAft>
                <a:spcPts val="0"/>
              </a:spcAft>
            </a:pPr>
            <a:r>
              <a:rPr sz="1700" b="1" i="0">
                <a:solidFill>
                  <a:srgbClr val="082B55"/>
                </a:solidFill>
                <a:latin typeface="Arial"/>
              </a:rPr>
              <a:t>Important without</a:t>
            </a:r>
          </a:p>
        </p:txBody>
      </p:sp>
      <p:sp>
        <p:nvSpPr>
          <p:cNvPr id="12" name="TextBox 11"/>
          <p:cNvSpPr txBox="1"/>
          <p:nvPr/>
        </p:nvSpPr>
        <p:spPr>
          <a:xfrm>
            <a:off x="2057400" y="3931920"/>
            <a:ext cx="2816352" cy="274320"/>
          </a:xfrm>
          <a:prstGeom prst="rect">
            <a:avLst/>
          </a:prstGeom>
          <a:noFill/>
        </p:spPr>
        <p:txBody>
          <a:bodyPr wrap="square" lIns="0" rIns="0" tIns="0" bIns="0" anchor="t">
            <a:spAutoFit/>
          </a:bodyPr>
          <a:lstStyle/>
          <a:p>
            <a:pPr algn="ctr">
              <a:lnSpc>
                <a:spcPct val="100000"/>
              </a:lnSpc>
              <a:spcBef>
                <a:spcPts val="0"/>
              </a:spcBef>
              <a:spcAft>
                <a:spcPts val="0"/>
              </a:spcAft>
            </a:pPr>
            <a:r>
              <a:rPr sz="1700" b="1" i="0">
                <a:solidFill>
                  <a:srgbClr val="082B55"/>
                </a:solidFill>
                <a:latin typeface="Arial"/>
              </a:rPr>
              <a:t>synthetic samples</a:t>
            </a:r>
          </a:p>
        </p:txBody>
      </p:sp>
      <p:sp>
        <p:nvSpPr>
          <p:cNvPr id="13" name="TextBox 12"/>
          <p:cNvSpPr txBox="1"/>
          <p:nvPr/>
        </p:nvSpPr>
        <p:spPr>
          <a:xfrm>
            <a:off x="7424927" y="3063240"/>
            <a:ext cx="2606040" cy="320040"/>
          </a:xfrm>
          <a:prstGeom prst="rect">
            <a:avLst/>
          </a:prstGeom>
          <a:noFill/>
        </p:spPr>
        <p:txBody>
          <a:bodyPr wrap="square" lIns="0" rIns="0" tIns="0" bIns="0" anchor="t">
            <a:spAutoFit/>
          </a:bodyPr>
          <a:lstStyle/>
          <a:p>
            <a:pPr algn="ctr">
              <a:lnSpc>
                <a:spcPct val="100000"/>
              </a:lnSpc>
              <a:spcBef>
                <a:spcPts val="0"/>
              </a:spcBef>
              <a:spcAft>
                <a:spcPts val="0"/>
              </a:spcAft>
            </a:pPr>
            <a:r>
              <a:rPr sz="1700" b="1" i="0">
                <a:solidFill>
                  <a:srgbClr val="178681"/>
                </a:solidFill>
                <a:latin typeface="Arial"/>
              </a:rPr>
              <a:t>PROMOTED</a:t>
            </a:r>
          </a:p>
        </p:txBody>
      </p:sp>
      <p:sp>
        <p:nvSpPr>
          <p:cNvPr id="14" name="TextBox 13"/>
          <p:cNvSpPr txBox="1"/>
          <p:nvPr/>
        </p:nvSpPr>
        <p:spPr>
          <a:xfrm>
            <a:off x="7315200" y="3621024"/>
            <a:ext cx="2834640" cy="274320"/>
          </a:xfrm>
          <a:prstGeom prst="rect">
            <a:avLst/>
          </a:prstGeom>
          <a:noFill/>
        </p:spPr>
        <p:txBody>
          <a:bodyPr wrap="square" lIns="0" rIns="0" tIns="0" bIns="0" anchor="t">
            <a:spAutoFit/>
          </a:bodyPr>
          <a:lstStyle/>
          <a:p>
            <a:pPr algn="ctr">
              <a:lnSpc>
                <a:spcPct val="100000"/>
              </a:lnSpc>
              <a:spcBef>
                <a:spcPts val="0"/>
              </a:spcBef>
              <a:spcAft>
                <a:spcPts val="0"/>
              </a:spcAft>
            </a:pPr>
            <a:r>
              <a:rPr sz="1560" b="1" i="0">
                <a:solidFill>
                  <a:srgbClr val="082B55"/>
                </a:solidFill>
                <a:latin typeface="Arial"/>
              </a:rPr>
              <a:t>Important after adding</a:t>
            </a:r>
          </a:p>
        </p:txBody>
      </p:sp>
      <p:sp>
        <p:nvSpPr>
          <p:cNvPr id="15" name="TextBox 14"/>
          <p:cNvSpPr txBox="1"/>
          <p:nvPr/>
        </p:nvSpPr>
        <p:spPr>
          <a:xfrm>
            <a:off x="7315200" y="3931920"/>
            <a:ext cx="2834640" cy="274320"/>
          </a:xfrm>
          <a:prstGeom prst="rect">
            <a:avLst/>
          </a:prstGeom>
          <a:noFill/>
        </p:spPr>
        <p:txBody>
          <a:bodyPr wrap="square" lIns="0" rIns="0" tIns="0" bIns="0" anchor="t">
            <a:spAutoFit/>
          </a:bodyPr>
          <a:lstStyle/>
          <a:p>
            <a:pPr algn="ctr">
              <a:lnSpc>
                <a:spcPct val="100000"/>
              </a:lnSpc>
              <a:spcBef>
                <a:spcPts val="0"/>
              </a:spcBef>
              <a:spcAft>
                <a:spcPts val="0"/>
              </a:spcAft>
            </a:pPr>
            <a:r>
              <a:rPr sz="1560" b="1" i="0">
                <a:solidFill>
                  <a:srgbClr val="082B55"/>
                </a:solidFill>
                <a:latin typeface="Arial"/>
              </a:rPr>
              <a:t>synthetic samples</a:t>
            </a:r>
          </a:p>
        </p:txBody>
      </p:sp>
      <p:sp>
        <p:nvSpPr>
          <p:cNvPr id="16" name="TextBox 15"/>
          <p:cNvSpPr txBox="1"/>
          <p:nvPr/>
        </p:nvSpPr>
        <p:spPr>
          <a:xfrm>
            <a:off x="5330952" y="3172968"/>
            <a:ext cx="1527048" cy="320040"/>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082B55"/>
                </a:solidFill>
                <a:latin typeface="Arial"/>
              </a:rPr>
              <a:t>REINFORCED</a:t>
            </a:r>
          </a:p>
        </p:txBody>
      </p:sp>
      <p:sp>
        <p:nvSpPr>
          <p:cNvPr id="17" name="TextBox 16"/>
          <p:cNvSpPr txBox="1"/>
          <p:nvPr/>
        </p:nvSpPr>
        <p:spPr>
          <a:xfrm>
            <a:off x="5376672" y="3694176"/>
            <a:ext cx="1435608" cy="246888"/>
          </a:xfrm>
          <a:prstGeom prst="rect">
            <a:avLst/>
          </a:prstGeom>
          <a:noFill/>
        </p:spPr>
        <p:txBody>
          <a:bodyPr wrap="square" lIns="0" rIns="0" tIns="0" bIns="0" anchor="t">
            <a:spAutoFit/>
          </a:bodyPr>
          <a:lstStyle/>
          <a:p>
            <a:pPr algn="ctr">
              <a:lnSpc>
                <a:spcPct val="100000"/>
              </a:lnSpc>
              <a:spcBef>
                <a:spcPts val="0"/>
              </a:spcBef>
              <a:spcAft>
                <a:spcPts val="0"/>
              </a:spcAft>
            </a:pPr>
            <a:r>
              <a:rPr sz="1320" b="1" i="0">
                <a:solidFill>
                  <a:srgbClr val="263746"/>
                </a:solidFill>
                <a:latin typeface="Arial"/>
              </a:rPr>
              <a:t>Important</a:t>
            </a:r>
          </a:p>
        </p:txBody>
      </p:sp>
      <p:sp>
        <p:nvSpPr>
          <p:cNvPr id="18" name="TextBox 17"/>
          <p:cNvSpPr txBox="1"/>
          <p:nvPr/>
        </p:nvSpPr>
        <p:spPr>
          <a:xfrm>
            <a:off x="5376672" y="3968496"/>
            <a:ext cx="1435608" cy="246888"/>
          </a:xfrm>
          <a:prstGeom prst="rect">
            <a:avLst/>
          </a:prstGeom>
          <a:noFill/>
        </p:spPr>
        <p:txBody>
          <a:bodyPr wrap="square" lIns="0" rIns="0" tIns="0" bIns="0" anchor="t">
            <a:spAutoFit/>
          </a:bodyPr>
          <a:lstStyle/>
          <a:p>
            <a:pPr algn="ctr">
              <a:lnSpc>
                <a:spcPct val="100000"/>
              </a:lnSpc>
              <a:spcBef>
                <a:spcPts val="0"/>
              </a:spcBef>
              <a:spcAft>
                <a:spcPts val="0"/>
              </a:spcAft>
            </a:pPr>
            <a:r>
              <a:rPr sz="1320" b="1" i="0">
                <a:solidFill>
                  <a:srgbClr val="263746"/>
                </a:solidFill>
                <a:latin typeface="Arial"/>
              </a:rPr>
              <a:t>in both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SYNTHETIC ANALYSIS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We compared feature importance at three levels</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Each analysis compares the real-only and real + synthetic classifiers.</a:t>
            </a:r>
          </a:p>
        </p:txBody>
      </p:sp>
      <p:sp>
        <p:nvSpPr>
          <p:cNvPr id="7" name="Rectangle 6"/>
          <p:cNvSpPr/>
          <p:nvPr/>
        </p:nvSpPr>
        <p:spPr>
          <a:xfrm>
            <a:off x="438912" y="1956816"/>
            <a:ext cx="3401568" cy="4087368"/>
          </a:xfrm>
          <a:prstGeom prst="rect">
            <a:avLst/>
          </a:prstGeom>
          <a:solidFill>
            <a:srgbClr val="E9F1F7"/>
          </a:solidFill>
          <a:ln w="101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956816"/>
            <a:ext cx="3401568" cy="50292"/>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67512" y="2194560"/>
            <a:ext cx="310896" cy="310896"/>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253996"/>
            <a:ext cx="310896" cy="164592"/>
          </a:xfrm>
          <a:prstGeom prst="rect">
            <a:avLst/>
          </a:prstGeom>
          <a:noFill/>
        </p:spPr>
        <p:txBody>
          <a:bodyPr wrap="square" lIns="0" rIns="0" tIns="0" bIns="0" anchor="t">
            <a:spAutoFit/>
          </a:bodyPr>
          <a:lstStyle/>
          <a:p>
            <a:pPr algn="ctr">
              <a:lnSpc>
                <a:spcPct val="100000"/>
              </a:lnSpc>
              <a:spcBef>
                <a:spcPts val="0"/>
              </a:spcBef>
              <a:spcAft>
                <a:spcPts val="0"/>
              </a:spcAft>
            </a:pPr>
            <a:r>
              <a:rPr sz="1000" b="1" i="0">
                <a:solidFill>
                  <a:srgbClr val="FFFFFF"/>
                </a:solidFill>
                <a:latin typeface="Arial"/>
              </a:rPr>
              <a:t>1</a:t>
            </a:r>
          </a:p>
        </p:txBody>
      </p:sp>
      <p:sp>
        <p:nvSpPr>
          <p:cNvPr id="11" name="TextBox 10"/>
          <p:cNvSpPr txBox="1"/>
          <p:nvPr/>
        </p:nvSpPr>
        <p:spPr>
          <a:xfrm>
            <a:off x="1097280" y="2167128"/>
            <a:ext cx="2414016" cy="256032"/>
          </a:xfrm>
          <a:prstGeom prst="rect">
            <a:avLst/>
          </a:prstGeom>
          <a:noFill/>
        </p:spPr>
        <p:txBody>
          <a:bodyPr wrap="square" lIns="0" rIns="0" tIns="0" bIns="0" anchor="t">
            <a:spAutoFit/>
          </a:bodyPr>
          <a:lstStyle/>
          <a:p>
            <a:pPr algn="l">
              <a:lnSpc>
                <a:spcPct val="100000"/>
              </a:lnSpc>
              <a:spcBef>
                <a:spcPts val="0"/>
              </a:spcBef>
              <a:spcAft>
                <a:spcPts val="0"/>
              </a:spcAft>
            </a:pPr>
            <a:r>
              <a:rPr sz="1320" b="1" i="0">
                <a:solidFill>
                  <a:srgbClr val="2D6496"/>
                </a:solidFill>
                <a:latin typeface="Arial"/>
              </a:rPr>
              <a:t>INDIVIDUAL GENES</a:t>
            </a:r>
          </a:p>
        </p:txBody>
      </p:sp>
      <p:sp>
        <p:nvSpPr>
          <p:cNvPr id="12" name="TextBox 11"/>
          <p:cNvSpPr txBox="1"/>
          <p:nvPr/>
        </p:nvSpPr>
        <p:spPr>
          <a:xfrm>
            <a:off x="694944" y="2578608"/>
            <a:ext cx="2889504" cy="256032"/>
          </a:xfrm>
          <a:prstGeom prst="rect">
            <a:avLst/>
          </a:prstGeom>
          <a:noFill/>
        </p:spPr>
        <p:txBody>
          <a:bodyPr wrap="square" lIns="0" rIns="0" tIns="0" bIns="0" anchor="t">
            <a:spAutoFit/>
          </a:bodyPr>
          <a:lstStyle/>
          <a:p>
            <a:pPr algn="ctr">
              <a:lnSpc>
                <a:spcPct val="100000"/>
              </a:lnSpc>
              <a:spcBef>
                <a:spcPts val="0"/>
              </a:spcBef>
              <a:spcAft>
                <a:spcPts val="0"/>
              </a:spcAft>
            </a:pPr>
            <a:r>
              <a:rPr sz="1130" b="1" i="0">
                <a:solidFill>
                  <a:srgbClr val="082B55"/>
                </a:solidFill>
                <a:latin typeface="Arial"/>
              </a:rPr>
              <a:t>Permutation + SHAP</a:t>
            </a:r>
          </a:p>
        </p:txBody>
      </p:sp>
      <p:sp>
        <p:nvSpPr>
          <p:cNvPr id="13" name="Rectangle 12"/>
          <p:cNvSpPr/>
          <p:nvPr/>
        </p:nvSpPr>
        <p:spPr>
          <a:xfrm>
            <a:off x="4087368" y="1956816"/>
            <a:ext cx="3401568" cy="4087368"/>
          </a:xfrm>
          <a:prstGeom prst="rect">
            <a:avLst/>
          </a:prstGeom>
          <a:solidFill>
            <a:srgbClr val="E8F3F1"/>
          </a:solidFill>
          <a:ln w="101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87368" y="1956816"/>
            <a:ext cx="3401568" cy="5029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15968" y="2194560"/>
            <a:ext cx="310896" cy="310896"/>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15968" y="2253996"/>
            <a:ext cx="310896" cy="164592"/>
          </a:xfrm>
          <a:prstGeom prst="rect">
            <a:avLst/>
          </a:prstGeom>
          <a:noFill/>
        </p:spPr>
        <p:txBody>
          <a:bodyPr wrap="square" lIns="0" rIns="0" tIns="0" bIns="0" anchor="t">
            <a:spAutoFit/>
          </a:bodyPr>
          <a:lstStyle/>
          <a:p>
            <a:pPr algn="ctr">
              <a:lnSpc>
                <a:spcPct val="100000"/>
              </a:lnSpc>
              <a:spcBef>
                <a:spcPts val="0"/>
              </a:spcBef>
              <a:spcAft>
                <a:spcPts val="0"/>
              </a:spcAft>
            </a:pPr>
            <a:r>
              <a:rPr sz="1000" b="1" i="0">
                <a:solidFill>
                  <a:srgbClr val="FFFFFF"/>
                </a:solidFill>
                <a:latin typeface="Arial"/>
              </a:rPr>
              <a:t>2</a:t>
            </a:r>
          </a:p>
        </p:txBody>
      </p:sp>
      <p:sp>
        <p:nvSpPr>
          <p:cNvPr id="17" name="TextBox 16"/>
          <p:cNvSpPr txBox="1"/>
          <p:nvPr/>
        </p:nvSpPr>
        <p:spPr>
          <a:xfrm>
            <a:off x="4745736" y="2167128"/>
            <a:ext cx="2414016" cy="256032"/>
          </a:xfrm>
          <a:prstGeom prst="rect">
            <a:avLst/>
          </a:prstGeom>
          <a:noFill/>
        </p:spPr>
        <p:txBody>
          <a:bodyPr wrap="square" lIns="0" rIns="0" tIns="0" bIns="0" anchor="t">
            <a:spAutoFit/>
          </a:bodyPr>
          <a:lstStyle/>
          <a:p>
            <a:pPr algn="l">
              <a:lnSpc>
                <a:spcPct val="100000"/>
              </a:lnSpc>
              <a:spcBef>
                <a:spcPts val="0"/>
              </a:spcBef>
              <a:spcAft>
                <a:spcPts val="0"/>
              </a:spcAft>
            </a:pPr>
            <a:r>
              <a:rPr sz="1320" b="1" i="0">
                <a:solidFill>
                  <a:srgbClr val="178681"/>
                </a:solidFill>
                <a:latin typeface="Arial"/>
              </a:rPr>
              <a:t>REACTOME GROUPS</a:t>
            </a:r>
          </a:p>
        </p:txBody>
      </p:sp>
      <p:sp>
        <p:nvSpPr>
          <p:cNvPr id="18" name="TextBox 17"/>
          <p:cNvSpPr txBox="1"/>
          <p:nvPr/>
        </p:nvSpPr>
        <p:spPr>
          <a:xfrm>
            <a:off x="4343400" y="2578608"/>
            <a:ext cx="2889504" cy="256032"/>
          </a:xfrm>
          <a:prstGeom prst="rect">
            <a:avLst/>
          </a:prstGeom>
          <a:noFill/>
        </p:spPr>
        <p:txBody>
          <a:bodyPr wrap="square" lIns="0" rIns="0" tIns="0" bIns="0" anchor="t">
            <a:spAutoFit/>
          </a:bodyPr>
          <a:lstStyle/>
          <a:p>
            <a:pPr algn="ctr">
              <a:lnSpc>
                <a:spcPct val="100000"/>
              </a:lnSpc>
              <a:spcBef>
                <a:spcPts val="0"/>
              </a:spcBef>
              <a:spcAft>
                <a:spcPts val="0"/>
              </a:spcAft>
            </a:pPr>
            <a:r>
              <a:rPr sz="1130" b="1" i="0">
                <a:solidFill>
                  <a:srgbClr val="082B55"/>
                </a:solidFill>
                <a:latin typeface="Arial"/>
              </a:rPr>
              <a:t>Grouped permutation + grouped SHAP</a:t>
            </a:r>
          </a:p>
        </p:txBody>
      </p:sp>
      <p:sp>
        <p:nvSpPr>
          <p:cNvPr id="19" name="Rectangle 18"/>
          <p:cNvSpPr/>
          <p:nvPr/>
        </p:nvSpPr>
        <p:spPr>
          <a:xfrm>
            <a:off x="7735824" y="1956816"/>
            <a:ext cx="3401568" cy="4087368"/>
          </a:xfrm>
          <a:prstGeom prst="rect">
            <a:avLst/>
          </a:prstGeom>
          <a:solidFill>
            <a:srgbClr val="F8F1E2"/>
          </a:solidFill>
          <a:ln w="10160">
            <a:solidFill>
              <a:srgbClr val="D37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35824" y="1956816"/>
            <a:ext cx="3401568" cy="50292"/>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964424" y="2194560"/>
            <a:ext cx="310896" cy="310896"/>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64424" y="2253996"/>
            <a:ext cx="310896" cy="164592"/>
          </a:xfrm>
          <a:prstGeom prst="rect">
            <a:avLst/>
          </a:prstGeom>
          <a:noFill/>
        </p:spPr>
        <p:txBody>
          <a:bodyPr wrap="square" lIns="0" rIns="0" tIns="0" bIns="0" anchor="t">
            <a:spAutoFit/>
          </a:bodyPr>
          <a:lstStyle/>
          <a:p>
            <a:pPr algn="ctr">
              <a:lnSpc>
                <a:spcPct val="100000"/>
              </a:lnSpc>
              <a:spcBef>
                <a:spcPts val="0"/>
              </a:spcBef>
              <a:spcAft>
                <a:spcPts val="0"/>
              </a:spcAft>
            </a:pPr>
            <a:r>
              <a:rPr sz="1000" b="1" i="0">
                <a:solidFill>
                  <a:srgbClr val="FFFFFF"/>
                </a:solidFill>
                <a:latin typeface="Arial"/>
              </a:rPr>
              <a:t>3</a:t>
            </a:r>
          </a:p>
        </p:txBody>
      </p:sp>
      <p:sp>
        <p:nvSpPr>
          <p:cNvPr id="23" name="TextBox 22"/>
          <p:cNvSpPr txBox="1"/>
          <p:nvPr/>
        </p:nvSpPr>
        <p:spPr>
          <a:xfrm>
            <a:off x="8394192" y="2167128"/>
            <a:ext cx="2414016" cy="256032"/>
          </a:xfrm>
          <a:prstGeom prst="rect">
            <a:avLst/>
          </a:prstGeom>
          <a:noFill/>
        </p:spPr>
        <p:txBody>
          <a:bodyPr wrap="square" lIns="0" rIns="0" tIns="0" bIns="0" anchor="t">
            <a:spAutoFit/>
          </a:bodyPr>
          <a:lstStyle/>
          <a:p>
            <a:pPr algn="l">
              <a:lnSpc>
                <a:spcPct val="100000"/>
              </a:lnSpc>
              <a:spcBef>
                <a:spcPts val="0"/>
              </a:spcBef>
              <a:spcAft>
                <a:spcPts val="0"/>
              </a:spcAft>
            </a:pPr>
            <a:r>
              <a:rPr sz="1320" b="1" i="0">
                <a:solidFill>
                  <a:srgbClr val="D37B00"/>
                </a:solidFill>
                <a:latin typeface="Arial"/>
              </a:rPr>
              <a:t>CONSENSUS RANKING</a:t>
            </a:r>
          </a:p>
        </p:txBody>
      </p:sp>
      <p:sp>
        <p:nvSpPr>
          <p:cNvPr id="24" name="TextBox 23"/>
          <p:cNvSpPr txBox="1"/>
          <p:nvPr/>
        </p:nvSpPr>
        <p:spPr>
          <a:xfrm>
            <a:off x="7991856" y="2578608"/>
            <a:ext cx="2889504" cy="256032"/>
          </a:xfrm>
          <a:prstGeom prst="rect">
            <a:avLst/>
          </a:prstGeom>
          <a:noFill/>
        </p:spPr>
        <p:txBody>
          <a:bodyPr wrap="square" lIns="0" rIns="0" tIns="0" bIns="0" anchor="t">
            <a:spAutoFit/>
          </a:bodyPr>
          <a:lstStyle/>
          <a:p>
            <a:pPr algn="ctr">
              <a:lnSpc>
                <a:spcPct val="100000"/>
              </a:lnSpc>
              <a:spcBef>
                <a:spcPts val="0"/>
              </a:spcBef>
              <a:spcAft>
                <a:spcPts val="0"/>
              </a:spcAft>
            </a:pPr>
            <a:r>
              <a:rPr sz="1130" b="1" i="0">
                <a:solidFill>
                  <a:srgbClr val="082B55"/>
                </a:solidFill>
                <a:latin typeface="Arial"/>
              </a:rPr>
              <a:t>Compact gene panels</a:t>
            </a:r>
          </a:p>
        </p:txBody>
      </p:sp>
      <p:sp>
        <p:nvSpPr>
          <p:cNvPr id="25" name="Rectangle 24"/>
          <p:cNvSpPr/>
          <p:nvPr/>
        </p:nvSpPr>
        <p:spPr>
          <a:xfrm>
            <a:off x="841248" y="3511296"/>
            <a:ext cx="137160" cy="23774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97280" y="3273551"/>
            <a:ext cx="137160" cy="475488"/>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53312" y="3401568"/>
            <a:ext cx="137160" cy="347472"/>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09344" y="3090672"/>
            <a:ext cx="137160" cy="658368"/>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65376" y="3346703"/>
            <a:ext cx="137160" cy="402336"/>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39696" y="3127248"/>
            <a:ext cx="530352" cy="201168"/>
          </a:xfrm>
          <a:prstGeom prst="rect">
            <a:avLst/>
          </a:prstGeom>
          <a:noFill/>
        </p:spPr>
        <p:txBody>
          <a:bodyPr wrap="square" lIns="0" rIns="0" tIns="0" bIns="0" anchor="t">
            <a:spAutoFit/>
          </a:bodyPr>
          <a:lstStyle/>
          <a:p>
            <a:pPr algn="ctr">
              <a:lnSpc>
                <a:spcPct val="100000"/>
              </a:lnSpc>
              <a:spcBef>
                <a:spcPts val="0"/>
              </a:spcBef>
              <a:spcAft>
                <a:spcPts val="0"/>
              </a:spcAft>
            </a:pPr>
            <a:r>
              <a:rPr sz="940" b="1" i="0">
                <a:solidFill>
                  <a:srgbClr val="D96552"/>
                </a:solidFill>
                <a:latin typeface="Arial"/>
              </a:rPr>
              <a:t>shuffle</a:t>
            </a:r>
          </a:p>
        </p:txBody>
      </p:sp>
      <p:sp>
        <p:nvSpPr>
          <p:cNvPr id="31" name="Right Arrow 30"/>
          <p:cNvSpPr/>
          <p:nvPr/>
        </p:nvSpPr>
        <p:spPr>
          <a:xfrm>
            <a:off x="2103120" y="3328416"/>
            <a:ext cx="512064" cy="164592"/>
          </a:xfrm>
          <a:prstGeom prst="rightArrow">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078224"/>
            <a:ext cx="2834640" cy="246888"/>
          </a:xfrm>
          <a:prstGeom prst="rect">
            <a:avLst/>
          </a:prstGeom>
          <a:noFill/>
        </p:spPr>
        <p:txBody>
          <a:bodyPr wrap="square" lIns="0" rIns="0" tIns="0" bIns="0" anchor="t">
            <a:spAutoFit/>
          </a:bodyPr>
          <a:lstStyle/>
          <a:p>
            <a:pPr algn="ctr">
              <a:lnSpc>
                <a:spcPct val="100000"/>
              </a:lnSpc>
              <a:spcBef>
                <a:spcPts val="0"/>
              </a:spcBef>
              <a:spcAft>
                <a:spcPts val="0"/>
              </a:spcAft>
            </a:pPr>
            <a:r>
              <a:rPr sz="1100" b="1" i="0">
                <a:solidFill>
                  <a:srgbClr val="263746"/>
                </a:solidFill>
                <a:latin typeface="Arial"/>
              </a:rPr>
              <a:t>Permutation: does prediction weaken?</a:t>
            </a:r>
          </a:p>
        </p:txBody>
      </p:sp>
      <p:sp>
        <p:nvSpPr>
          <p:cNvPr id="33" name="TextBox 32"/>
          <p:cNvSpPr txBox="1"/>
          <p:nvPr/>
        </p:nvSpPr>
        <p:spPr>
          <a:xfrm>
            <a:off x="685800" y="4462272"/>
            <a:ext cx="2907792" cy="402336"/>
          </a:xfrm>
          <a:prstGeom prst="rect">
            <a:avLst/>
          </a:prstGeom>
          <a:noFill/>
        </p:spPr>
        <p:txBody>
          <a:bodyPr wrap="square" lIns="0" rIns="0" tIns="0" bIns="0" anchor="t">
            <a:spAutoFit/>
          </a:bodyPr>
          <a:lstStyle/>
          <a:p>
            <a:pPr algn="ctr">
              <a:lnSpc>
                <a:spcPct val="100000"/>
              </a:lnSpc>
              <a:spcBef>
                <a:spcPts val="0"/>
              </a:spcBef>
              <a:spcAft>
                <a:spcPts val="0"/>
              </a:spcAft>
            </a:pPr>
            <a:r>
              <a:rPr sz="1030" b="0" i="0">
                <a:solidFill>
                  <a:srgbClr val="59697A"/>
                </a:solidFill>
                <a:latin typeface="Arial"/>
              </a:rPr>
              <a:t>SHAP: does the gene push toward FLT or GC?</a:t>
            </a:r>
          </a:p>
        </p:txBody>
      </p:sp>
      <p:sp>
        <p:nvSpPr>
          <p:cNvPr id="34" name="TextBox 33"/>
          <p:cNvSpPr txBox="1"/>
          <p:nvPr/>
        </p:nvSpPr>
        <p:spPr>
          <a:xfrm>
            <a:off x="795528" y="5650992"/>
            <a:ext cx="2697480" cy="201168"/>
          </a:xfrm>
          <a:prstGeom prst="rect">
            <a:avLst/>
          </a:prstGeom>
          <a:noFill/>
        </p:spPr>
        <p:txBody>
          <a:bodyPr wrap="square" lIns="0" rIns="0" tIns="0" bIns="0" anchor="t">
            <a:spAutoFit/>
          </a:bodyPr>
          <a:lstStyle/>
          <a:p>
            <a:pPr algn="ctr">
              <a:lnSpc>
                <a:spcPct val="100000"/>
              </a:lnSpc>
              <a:spcBef>
                <a:spcPts val="0"/>
              </a:spcBef>
              <a:spcAft>
                <a:spcPts val="0"/>
              </a:spcAft>
            </a:pPr>
            <a:r>
              <a:rPr sz="940" b="1" i="0">
                <a:solidFill>
                  <a:srgbClr val="2D6496"/>
                </a:solidFill>
                <a:latin typeface="Arial"/>
              </a:rPr>
              <a:t>OUTPUT · RANKED GENES</a:t>
            </a:r>
          </a:p>
        </p:txBody>
      </p:sp>
      <p:sp>
        <p:nvSpPr>
          <p:cNvPr id="35" name="Oval 34"/>
          <p:cNvSpPr/>
          <p:nvPr/>
        </p:nvSpPr>
        <p:spPr>
          <a:xfrm>
            <a:off x="4526280" y="3191256"/>
            <a:ext cx="182880" cy="182880"/>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910328" y="3035808"/>
            <a:ext cx="182880" cy="182880"/>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294376" y="3227832"/>
            <a:ext cx="182880" cy="182880"/>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718304" y="3547872"/>
            <a:ext cx="182880" cy="182880"/>
          </a:xfrm>
          <a:prstGeom prst="ellipse">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111496" y="3483864"/>
            <a:ext cx="182880" cy="182880"/>
          </a:xfrm>
          <a:prstGeom prst="ellipse">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495544" y="3575304"/>
            <a:ext cx="182880" cy="182880"/>
          </a:xfrm>
          <a:prstGeom prst="ellipse">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ight Arrow 40"/>
          <p:cNvSpPr/>
          <p:nvPr/>
        </p:nvSpPr>
        <p:spPr>
          <a:xfrm>
            <a:off x="5806440" y="3337560"/>
            <a:ext cx="384048" cy="201168"/>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27648" y="3063240"/>
            <a:ext cx="804672" cy="658368"/>
          </a:xfrm>
          <a:prstGeom prst="rect">
            <a:avLst/>
          </a:prstGeom>
          <a:solidFill>
            <a:srgbClr val="FFFFFF"/>
          </a:solidFill>
          <a:ln w="10160">
            <a:solidFill>
              <a:srgbClr val="1786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3182112"/>
            <a:ext cx="658368" cy="384048"/>
          </a:xfrm>
          <a:prstGeom prst="rect">
            <a:avLst/>
          </a:prstGeom>
          <a:noFill/>
        </p:spPr>
        <p:txBody>
          <a:bodyPr wrap="square" lIns="0" rIns="0" tIns="0" bIns="0" anchor="t">
            <a:spAutoFit/>
          </a:bodyPr>
          <a:lstStyle/>
          <a:p>
            <a:pPr algn="ctr">
              <a:lnSpc>
                <a:spcPct val="100000"/>
              </a:lnSpc>
              <a:spcBef>
                <a:spcPts val="0"/>
              </a:spcBef>
              <a:spcAft>
                <a:spcPts val="0"/>
              </a:spcAft>
            </a:pPr>
            <a:r>
              <a:rPr sz="969" b="1" i="0">
                <a:solidFill>
                  <a:srgbClr val="178681"/>
                </a:solidFill>
                <a:latin typeface="Arial"/>
              </a:rPr>
              <a:t>one
pathway</a:t>
            </a:r>
          </a:p>
        </p:txBody>
      </p:sp>
      <p:sp>
        <p:nvSpPr>
          <p:cNvPr id="44" name="TextBox 43"/>
          <p:cNvSpPr txBox="1"/>
          <p:nvPr/>
        </p:nvSpPr>
        <p:spPr>
          <a:xfrm>
            <a:off x="4379976" y="4078224"/>
            <a:ext cx="2798064" cy="246888"/>
          </a:xfrm>
          <a:prstGeom prst="rect">
            <a:avLst/>
          </a:prstGeom>
          <a:noFill/>
        </p:spPr>
        <p:txBody>
          <a:bodyPr wrap="square" lIns="0" rIns="0" tIns="0" bIns="0" anchor="t">
            <a:spAutoFit/>
          </a:bodyPr>
          <a:lstStyle/>
          <a:p>
            <a:pPr algn="ctr">
              <a:lnSpc>
                <a:spcPct val="100000"/>
              </a:lnSpc>
              <a:spcBef>
                <a:spcPts val="0"/>
              </a:spcBef>
              <a:spcAft>
                <a:spcPts val="0"/>
              </a:spcAft>
            </a:pPr>
            <a:r>
              <a:rPr sz="1100" b="1" i="0">
                <a:solidFill>
                  <a:srgbClr val="263746"/>
                </a:solidFill>
                <a:latin typeface="Arial"/>
              </a:rPr>
              <a:t>Move related genes together</a:t>
            </a:r>
          </a:p>
        </p:txBody>
      </p:sp>
      <p:sp>
        <p:nvSpPr>
          <p:cNvPr id="45" name="TextBox 44"/>
          <p:cNvSpPr txBox="1"/>
          <p:nvPr/>
        </p:nvSpPr>
        <p:spPr>
          <a:xfrm>
            <a:off x="4334256" y="4462272"/>
            <a:ext cx="2889504" cy="402336"/>
          </a:xfrm>
          <a:prstGeom prst="rect">
            <a:avLst/>
          </a:prstGeom>
          <a:noFill/>
        </p:spPr>
        <p:txBody>
          <a:bodyPr wrap="square" lIns="0" rIns="0" tIns="0" bIns="0" anchor="t">
            <a:spAutoFit/>
          </a:bodyPr>
          <a:lstStyle/>
          <a:p>
            <a:pPr algn="ctr">
              <a:lnSpc>
                <a:spcPct val="100000"/>
              </a:lnSpc>
              <a:spcBef>
                <a:spcPts val="0"/>
              </a:spcBef>
              <a:spcAft>
                <a:spcPts val="0"/>
              </a:spcAft>
            </a:pPr>
            <a:r>
              <a:rPr sz="1030" b="0" i="0">
                <a:solidFill>
                  <a:srgbClr val="59697A"/>
                </a:solidFill>
                <a:latin typeface="Arial"/>
              </a:rPr>
              <a:t>Test correlated genes as one group</a:t>
            </a:r>
          </a:p>
        </p:txBody>
      </p:sp>
      <p:sp>
        <p:nvSpPr>
          <p:cNvPr id="46" name="TextBox 45"/>
          <p:cNvSpPr txBox="1"/>
          <p:nvPr/>
        </p:nvSpPr>
        <p:spPr>
          <a:xfrm>
            <a:off x="4407408" y="5650992"/>
            <a:ext cx="2743200" cy="201168"/>
          </a:xfrm>
          <a:prstGeom prst="rect">
            <a:avLst/>
          </a:prstGeom>
          <a:noFill/>
        </p:spPr>
        <p:txBody>
          <a:bodyPr wrap="square" lIns="0" rIns="0" tIns="0" bIns="0" anchor="t">
            <a:spAutoFit/>
          </a:bodyPr>
          <a:lstStyle/>
          <a:p>
            <a:pPr algn="ctr">
              <a:lnSpc>
                <a:spcPct val="100000"/>
              </a:lnSpc>
              <a:spcBef>
                <a:spcPts val="0"/>
              </a:spcBef>
              <a:spcAft>
                <a:spcPts val="0"/>
              </a:spcAft>
            </a:pPr>
            <a:r>
              <a:rPr sz="940" b="1" i="0">
                <a:solidFill>
                  <a:srgbClr val="178681"/>
                </a:solidFill>
                <a:latin typeface="Arial"/>
              </a:rPr>
              <a:t>OUTPUT · RANKED PATHWAYS</a:t>
            </a:r>
          </a:p>
        </p:txBody>
      </p:sp>
      <p:sp>
        <p:nvSpPr>
          <p:cNvPr id="47" name="TextBox 46"/>
          <p:cNvSpPr txBox="1"/>
          <p:nvPr/>
        </p:nvSpPr>
        <p:spPr>
          <a:xfrm>
            <a:off x="8028431" y="3035808"/>
            <a:ext cx="594360" cy="201168"/>
          </a:xfrm>
          <a:prstGeom prst="rect">
            <a:avLst/>
          </a:prstGeom>
          <a:noFill/>
        </p:spPr>
        <p:txBody>
          <a:bodyPr wrap="square" lIns="0" rIns="0" tIns="0" bIns="0" anchor="t">
            <a:spAutoFit/>
          </a:bodyPr>
          <a:lstStyle/>
          <a:p>
            <a:pPr algn="l">
              <a:lnSpc>
                <a:spcPct val="100000"/>
              </a:lnSpc>
              <a:spcBef>
                <a:spcPts val="0"/>
              </a:spcBef>
              <a:spcAft>
                <a:spcPts val="0"/>
              </a:spcAft>
            </a:pPr>
            <a:r>
              <a:rPr sz="919" b="1" i="0">
                <a:solidFill>
                  <a:srgbClr val="263746"/>
                </a:solidFill>
                <a:latin typeface="Arial"/>
              </a:rPr>
              <a:t>Gene 1</a:t>
            </a:r>
          </a:p>
        </p:txBody>
      </p:sp>
      <p:sp>
        <p:nvSpPr>
          <p:cNvPr id="48" name="Rectangle 47"/>
          <p:cNvSpPr/>
          <p:nvPr/>
        </p:nvSpPr>
        <p:spPr>
          <a:xfrm>
            <a:off x="8695944" y="3118103"/>
            <a:ext cx="786384" cy="64008"/>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619488" y="3118103"/>
            <a:ext cx="676656" cy="64008"/>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28431" y="3401568"/>
            <a:ext cx="594360" cy="201168"/>
          </a:xfrm>
          <a:prstGeom prst="rect">
            <a:avLst/>
          </a:prstGeom>
          <a:noFill/>
        </p:spPr>
        <p:txBody>
          <a:bodyPr wrap="square" lIns="0" rIns="0" tIns="0" bIns="0" anchor="t">
            <a:spAutoFit/>
          </a:bodyPr>
          <a:lstStyle/>
          <a:p>
            <a:pPr algn="l">
              <a:lnSpc>
                <a:spcPct val="100000"/>
              </a:lnSpc>
              <a:spcBef>
                <a:spcPts val="0"/>
              </a:spcBef>
              <a:spcAft>
                <a:spcPts val="0"/>
              </a:spcAft>
            </a:pPr>
            <a:r>
              <a:rPr sz="919" b="1" i="0">
                <a:solidFill>
                  <a:srgbClr val="263746"/>
                </a:solidFill>
                <a:latin typeface="Arial"/>
              </a:rPr>
              <a:t>Gene 2</a:t>
            </a:r>
          </a:p>
        </p:txBody>
      </p:sp>
      <p:sp>
        <p:nvSpPr>
          <p:cNvPr id="51" name="Rectangle 50"/>
          <p:cNvSpPr/>
          <p:nvPr/>
        </p:nvSpPr>
        <p:spPr>
          <a:xfrm>
            <a:off x="8695944" y="3483863"/>
            <a:ext cx="621792" cy="64008"/>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619488" y="3483863"/>
            <a:ext cx="649224" cy="64008"/>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28431" y="3767328"/>
            <a:ext cx="594360" cy="201168"/>
          </a:xfrm>
          <a:prstGeom prst="rect">
            <a:avLst/>
          </a:prstGeom>
          <a:noFill/>
        </p:spPr>
        <p:txBody>
          <a:bodyPr wrap="square" lIns="0" rIns="0" tIns="0" bIns="0" anchor="t">
            <a:spAutoFit/>
          </a:bodyPr>
          <a:lstStyle/>
          <a:p>
            <a:pPr algn="l">
              <a:lnSpc>
                <a:spcPct val="100000"/>
              </a:lnSpc>
              <a:spcBef>
                <a:spcPts val="0"/>
              </a:spcBef>
              <a:spcAft>
                <a:spcPts val="0"/>
              </a:spcAft>
            </a:pPr>
            <a:r>
              <a:rPr sz="919" b="1" i="0">
                <a:solidFill>
                  <a:srgbClr val="263746"/>
                </a:solidFill>
                <a:latin typeface="Arial"/>
              </a:rPr>
              <a:t>Gene 3</a:t>
            </a:r>
          </a:p>
        </p:txBody>
      </p:sp>
      <p:sp>
        <p:nvSpPr>
          <p:cNvPr id="54" name="Rectangle 53"/>
          <p:cNvSpPr/>
          <p:nvPr/>
        </p:nvSpPr>
        <p:spPr>
          <a:xfrm>
            <a:off x="8695944" y="3849624"/>
            <a:ext cx="429768" cy="64008"/>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19488" y="3849624"/>
            <a:ext cx="749808" cy="64008"/>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86800" y="2825496"/>
            <a:ext cx="804672" cy="173736"/>
          </a:xfrm>
          <a:prstGeom prst="rect">
            <a:avLst/>
          </a:prstGeom>
          <a:noFill/>
        </p:spPr>
        <p:txBody>
          <a:bodyPr wrap="square" lIns="0" rIns="0" tIns="0" bIns="0" anchor="t">
            <a:spAutoFit/>
          </a:bodyPr>
          <a:lstStyle/>
          <a:p>
            <a:pPr algn="ctr">
              <a:lnSpc>
                <a:spcPct val="100000"/>
              </a:lnSpc>
              <a:spcBef>
                <a:spcPts val="0"/>
              </a:spcBef>
              <a:spcAft>
                <a:spcPts val="0"/>
              </a:spcAft>
            </a:pPr>
            <a:r>
              <a:rPr sz="880" b="1" i="0">
                <a:solidFill>
                  <a:srgbClr val="2D6496"/>
                </a:solidFill>
                <a:latin typeface="Arial"/>
              </a:rPr>
              <a:t>real</a:t>
            </a:r>
          </a:p>
        </p:txBody>
      </p:sp>
      <p:sp>
        <p:nvSpPr>
          <p:cNvPr id="57" name="TextBox 56"/>
          <p:cNvSpPr txBox="1"/>
          <p:nvPr/>
        </p:nvSpPr>
        <p:spPr>
          <a:xfrm>
            <a:off x="9555480" y="2825496"/>
            <a:ext cx="868680" cy="173736"/>
          </a:xfrm>
          <a:prstGeom prst="rect">
            <a:avLst/>
          </a:prstGeom>
          <a:noFill/>
        </p:spPr>
        <p:txBody>
          <a:bodyPr wrap="square" lIns="0" rIns="0" tIns="0" bIns="0" anchor="t">
            <a:spAutoFit/>
          </a:bodyPr>
          <a:lstStyle/>
          <a:p>
            <a:pPr algn="ctr">
              <a:lnSpc>
                <a:spcPct val="100000"/>
              </a:lnSpc>
              <a:spcBef>
                <a:spcPts val="0"/>
              </a:spcBef>
              <a:spcAft>
                <a:spcPts val="0"/>
              </a:spcAft>
            </a:pPr>
            <a:r>
              <a:rPr sz="880" b="1" i="0">
                <a:solidFill>
                  <a:srgbClr val="D96552"/>
                </a:solidFill>
                <a:latin typeface="Arial"/>
              </a:rPr>
              <a:t>generated</a:t>
            </a:r>
          </a:p>
        </p:txBody>
      </p:sp>
      <p:sp>
        <p:nvSpPr>
          <p:cNvPr id="58" name="Right Arrow 57"/>
          <p:cNvSpPr/>
          <p:nvPr/>
        </p:nvSpPr>
        <p:spPr>
          <a:xfrm>
            <a:off x="10442448" y="3337560"/>
            <a:ext cx="219456" cy="201168"/>
          </a:xfrm>
          <a:prstGeom prst="rightArrow">
            <a:avLst/>
          </a:prstGeom>
          <a:solidFill>
            <a:srgbClr val="8A96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698480" y="3291840"/>
            <a:ext cx="347472" cy="219456"/>
          </a:xfrm>
          <a:prstGeom prst="rect">
            <a:avLst/>
          </a:prstGeom>
          <a:noFill/>
        </p:spPr>
        <p:txBody>
          <a:bodyPr wrap="square" lIns="0" rIns="0" tIns="0" bIns="0" anchor="t">
            <a:spAutoFit/>
          </a:bodyPr>
          <a:lstStyle/>
          <a:p>
            <a:pPr algn="ctr">
              <a:lnSpc>
                <a:spcPct val="100000"/>
              </a:lnSpc>
              <a:spcBef>
                <a:spcPts val="0"/>
              </a:spcBef>
              <a:spcAft>
                <a:spcPts val="0"/>
              </a:spcAft>
            </a:pPr>
            <a:r>
              <a:rPr sz="940" b="1" i="0">
                <a:solidFill>
                  <a:srgbClr val="D37B00"/>
                </a:solidFill>
                <a:latin typeface="Arial"/>
              </a:rPr>
              <a:t>top-k</a:t>
            </a:r>
          </a:p>
        </p:txBody>
      </p:sp>
      <p:sp>
        <p:nvSpPr>
          <p:cNvPr id="60" name="TextBox 59"/>
          <p:cNvSpPr txBox="1"/>
          <p:nvPr/>
        </p:nvSpPr>
        <p:spPr>
          <a:xfrm>
            <a:off x="7973568" y="4078224"/>
            <a:ext cx="3127248" cy="246888"/>
          </a:xfrm>
          <a:prstGeom prst="rect">
            <a:avLst/>
          </a:prstGeom>
          <a:noFill/>
        </p:spPr>
        <p:txBody>
          <a:bodyPr wrap="square" lIns="0" rIns="0" tIns="0" bIns="0" anchor="t">
            <a:spAutoFit/>
          </a:bodyPr>
          <a:lstStyle/>
          <a:p>
            <a:pPr algn="ctr">
              <a:lnSpc>
                <a:spcPct val="100000"/>
              </a:lnSpc>
              <a:spcBef>
                <a:spcPts val="0"/>
              </a:spcBef>
              <a:spcAft>
                <a:spcPts val="0"/>
              </a:spcAft>
            </a:pPr>
            <a:r>
              <a:rPr sz="1100" b="1" i="0">
                <a:solidFill>
                  <a:srgbClr val="263746"/>
                </a:solidFill>
                <a:latin typeface="Arial"/>
              </a:rPr>
              <a:t>Combine measured and generated ranks</a:t>
            </a:r>
          </a:p>
        </p:txBody>
      </p:sp>
      <p:sp>
        <p:nvSpPr>
          <p:cNvPr id="61" name="TextBox 60"/>
          <p:cNvSpPr txBox="1"/>
          <p:nvPr/>
        </p:nvSpPr>
        <p:spPr>
          <a:xfrm>
            <a:off x="7955279" y="4462272"/>
            <a:ext cx="3182112" cy="402336"/>
          </a:xfrm>
          <a:prstGeom prst="rect">
            <a:avLst/>
          </a:prstGeom>
          <a:noFill/>
        </p:spPr>
        <p:txBody>
          <a:bodyPr wrap="square" lIns="0" rIns="0" tIns="0" bIns="0" anchor="t">
            <a:spAutoFit/>
          </a:bodyPr>
          <a:lstStyle/>
          <a:p>
            <a:pPr algn="ctr">
              <a:lnSpc>
                <a:spcPct val="100000"/>
              </a:lnSpc>
              <a:spcBef>
                <a:spcPts val="0"/>
              </a:spcBef>
              <a:spcAft>
                <a:spcPts val="0"/>
              </a:spcAft>
            </a:pPr>
            <a:r>
              <a:rPr sz="1030" b="0" i="0">
                <a:solidFill>
                  <a:srgbClr val="59697A"/>
                </a:solidFill>
                <a:latin typeface="Arial"/>
              </a:rPr>
              <a:t>Test small panels of the highest-ranked genes</a:t>
            </a:r>
          </a:p>
        </p:txBody>
      </p:sp>
      <p:sp>
        <p:nvSpPr>
          <p:cNvPr id="62" name="TextBox 61"/>
          <p:cNvSpPr txBox="1"/>
          <p:nvPr/>
        </p:nvSpPr>
        <p:spPr>
          <a:xfrm>
            <a:off x="8001000" y="5650992"/>
            <a:ext cx="3090672" cy="201168"/>
          </a:xfrm>
          <a:prstGeom prst="rect">
            <a:avLst/>
          </a:prstGeom>
          <a:noFill/>
        </p:spPr>
        <p:txBody>
          <a:bodyPr wrap="square" lIns="0" rIns="0" tIns="0" bIns="0" anchor="t">
            <a:spAutoFit/>
          </a:bodyPr>
          <a:lstStyle/>
          <a:p>
            <a:pPr algn="ctr">
              <a:lnSpc>
                <a:spcPct val="100000"/>
              </a:lnSpc>
              <a:spcBef>
                <a:spcPts val="0"/>
              </a:spcBef>
              <a:spcAft>
                <a:spcPts val="0"/>
              </a:spcAft>
            </a:pPr>
            <a:r>
              <a:rPr sz="940" b="1" i="0">
                <a:solidFill>
                  <a:srgbClr val="D37B00"/>
                </a:solidFill>
                <a:latin typeface="Arial"/>
              </a:rPr>
              <a:t>OUTPUT · COMPACT GENE PANELS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RESULTS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The three analyses retained different types of results</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Every retained candidate was also supported by the real OSDR data.</a:t>
            </a:r>
          </a:p>
        </p:txBody>
      </p:sp>
      <p:sp>
        <p:nvSpPr>
          <p:cNvPr id="7" name="Rectangle 6"/>
          <p:cNvSpPr/>
          <p:nvPr/>
        </p:nvSpPr>
        <p:spPr>
          <a:xfrm>
            <a:off x="438912" y="1847088"/>
            <a:ext cx="3255264" cy="41148"/>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11680"/>
            <a:ext cx="3255264" cy="310896"/>
          </a:xfrm>
          <a:prstGeom prst="rect">
            <a:avLst/>
          </a:prstGeom>
          <a:noFill/>
        </p:spPr>
        <p:txBody>
          <a:bodyPr wrap="square" lIns="0" rIns="0" tIns="0" bIns="0" anchor="t">
            <a:spAutoFit/>
          </a:bodyPr>
          <a:lstStyle/>
          <a:p>
            <a:pPr algn="l">
              <a:lnSpc>
                <a:spcPct val="100000"/>
              </a:lnSpc>
              <a:spcBef>
                <a:spcPts val="0"/>
              </a:spcBef>
              <a:spcAft>
                <a:spcPts val="0"/>
              </a:spcAft>
            </a:pPr>
            <a:r>
              <a:rPr sz="1850" b="1" i="0">
                <a:solidFill>
                  <a:srgbClr val="082B55"/>
                </a:solidFill>
                <a:latin typeface="Arial"/>
              </a:rPr>
              <a:t>Individual genes</a:t>
            </a:r>
          </a:p>
        </p:txBody>
      </p:sp>
      <p:sp>
        <p:nvSpPr>
          <p:cNvPr id="9" name="TextBox 8"/>
          <p:cNvSpPr txBox="1"/>
          <p:nvPr/>
        </p:nvSpPr>
        <p:spPr>
          <a:xfrm>
            <a:off x="438912" y="2359152"/>
            <a:ext cx="3255264" cy="219456"/>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59697A"/>
                </a:solidFill>
                <a:latin typeface="Arial"/>
              </a:rPr>
              <a:t>Permutation + SHAP</a:t>
            </a:r>
          </a:p>
        </p:txBody>
      </p:sp>
      <p:sp>
        <p:nvSpPr>
          <p:cNvPr id="10" name="TextBox 9"/>
          <p:cNvSpPr txBox="1"/>
          <p:nvPr/>
        </p:nvSpPr>
        <p:spPr>
          <a:xfrm>
            <a:off x="438912" y="2706624"/>
            <a:ext cx="987552" cy="566928"/>
          </a:xfrm>
          <a:prstGeom prst="rect">
            <a:avLst/>
          </a:prstGeom>
          <a:noFill/>
        </p:spPr>
        <p:txBody>
          <a:bodyPr wrap="square" lIns="0" rIns="0" tIns="0" bIns="0" anchor="t">
            <a:spAutoFit/>
          </a:bodyPr>
          <a:lstStyle/>
          <a:p>
            <a:pPr algn="l">
              <a:lnSpc>
                <a:spcPct val="100000"/>
              </a:lnSpc>
              <a:spcBef>
                <a:spcPts val="0"/>
              </a:spcBef>
              <a:spcAft>
                <a:spcPts val="0"/>
              </a:spcAft>
            </a:pPr>
            <a:r>
              <a:rPr sz="3500" b="1" i="0">
                <a:solidFill>
                  <a:srgbClr val="D96552"/>
                </a:solidFill>
                <a:latin typeface="Arial"/>
              </a:rPr>
              <a:t>21</a:t>
            </a:r>
          </a:p>
        </p:txBody>
      </p:sp>
      <p:sp>
        <p:nvSpPr>
          <p:cNvPr id="11" name="TextBox 10"/>
          <p:cNvSpPr txBox="1"/>
          <p:nvPr/>
        </p:nvSpPr>
        <p:spPr>
          <a:xfrm>
            <a:off x="1389888" y="2798064"/>
            <a:ext cx="2240280" cy="329184"/>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263746"/>
                </a:solidFill>
                <a:latin typeface="Arial"/>
              </a:rPr>
              <a:t>associations in 4 tissues</a:t>
            </a:r>
          </a:p>
        </p:txBody>
      </p:sp>
      <p:sp>
        <p:nvSpPr>
          <p:cNvPr id="12" name="Rectangle 11"/>
          <p:cNvSpPr/>
          <p:nvPr/>
        </p:nvSpPr>
        <p:spPr>
          <a:xfrm>
            <a:off x="438912" y="3438144"/>
            <a:ext cx="118872" cy="118872"/>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374136"/>
            <a:ext cx="1307592" cy="246888"/>
          </a:xfrm>
          <a:prstGeom prst="rect">
            <a:avLst/>
          </a:prstGeom>
          <a:noFill/>
        </p:spPr>
        <p:txBody>
          <a:bodyPr wrap="square" lIns="0" rIns="0" tIns="0" bIns="0" anchor="t">
            <a:spAutoFit/>
          </a:bodyPr>
          <a:lstStyle/>
          <a:p>
            <a:pPr algn="l">
              <a:lnSpc>
                <a:spcPct val="100000"/>
              </a:lnSpc>
              <a:spcBef>
                <a:spcPts val="0"/>
              </a:spcBef>
              <a:spcAft>
                <a:spcPts val="0"/>
              </a:spcAft>
            </a:pPr>
            <a:r>
              <a:rPr sz="1120" b="1" i="0">
                <a:solidFill>
                  <a:srgbClr val="D96552"/>
                </a:solidFill>
                <a:latin typeface="Arial"/>
              </a:rPr>
              <a:t>7 promoted</a:t>
            </a:r>
          </a:p>
        </p:txBody>
      </p:sp>
      <p:sp>
        <p:nvSpPr>
          <p:cNvPr id="14" name="Rectangle 13"/>
          <p:cNvSpPr/>
          <p:nvPr/>
        </p:nvSpPr>
        <p:spPr>
          <a:xfrm>
            <a:off x="2084832" y="3438144"/>
            <a:ext cx="118872" cy="11887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0" y="3374136"/>
            <a:ext cx="1408176" cy="246888"/>
          </a:xfrm>
          <a:prstGeom prst="rect">
            <a:avLst/>
          </a:prstGeom>
          <a:noFill/>
        </p:spPr>
        <p:txBody>
          <a:bodyPr wrap="square" lIns="0" rIns="0" tIns="0" bIns="0" anchor="t">
            <a:spAutoFit/>
          </a:bodyPr>
          <a:lstStyle/>
          <a:p>
            <a:pPr algn="l">
              <a:lnSpc>
                <a:spcPct val="100000"/>
              </a:lnSpc>
              <a:spcBef>
                <a:spcPts val="0"/>
              </a:spcBef>
              <a:spcAft>
                <a:spcPts val="0"/>
              </a:spcAft>
            </a:pPr>
            <a:r>
              <a:rPr sz="1120" b="1" i="0">
                <a:solidFill>
                  <a:srgbClr val="178681"/>
                </a:solidFill>
                <a:latin typeface="Arial"/>
              </a:rPr>
              <a:t>14 reinforced</a:t>
            </a:r>
          </a:p>
        </p:txBody>
      </p:sp>
      <p:sp>
        <p:nvSpPr>
          <p:cNvPr id="16" name="TextBox 15"/>
          <p:cNvSpPr txBox="1"/>
          <p:nvPr/>
        </p:nvSpPr>
        <p:spPr>
          <a:xfrm>
            <a:off x="438912" y="3913632"/>
            <a:ext cx="1920240" cy="182880"/>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59697A"/>
                </a:solidFill>
                <a:latin typeface="Arial"/>
              </a:rPr>
              <a:t>RETAINED BY TISSUE</a:t>
            </a:r>
          </a:p>
        </p:txBody>
      </p:sp>
      <p:sp>
        <p:nvSpPr>
          <p:cNvPr id="17" name="Rectangle 16"/>
          <p:cNvSpPr/>
          <p:nvPr/>
        </p:nvSpPr>
        <p:spPr>
          <a:xfrm>
            <a:off x="438912" y="4160520"/>
            <a:ext cx="3255264" cy="12801"/>
          </a:xfrm>
          <a:prstGeom prst="rect">
            <a:avLst/>
          </a:prstGeom>
          <a:solidFill>
            <a:srgbClr val="D8E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297680"/>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Thymus</a:t>
            </a:r>
          </a:p>
        </p:txBody>
      </p:sp>
      <p:sp>
        <p:nvSpPr>
          <p:cNvPr id="19" name="TextBox 18"/>
          <p:cNvSpPr txBox="1"/>
          <p:nvPr/>
        </p:nvSpPr>
        <p:spPr>
          <a:xfrm>
            <a:off x="3035808" y="4297680"/>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D96552"/>
                </a:solidFill>
                <a:latin typeface="Arial"/>
              </a:rPr>
              <a:t>15</a:t>
            </a:r>
          </a:p>
        </p:txBody>
      </p:sp>
      <p:sp>
        <p:nvSpPr>
          <p:cNvPr id="20" name="Rectangle 19"/>
          <p:cNvSpPr/>
          <p:nvPr/>
        </p:nvSpPr>
        <p:spPr>
          <a:xfrm>
            <a:off x="457200" y="4608576"/>
            <a:ext cx="3136392" cy="9144"/>
          </a:xfrm>
          <a:prstGeom prst="rect">
            <a:avLst/>
          </a:prstGeom>
          <a:solidFill>
            <a:srgbClr val="E4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690872"/>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Liver</a:t>
            </a:r>
          </a:p>
        </p:txBody>
      </p:sp>
      <p:sp>
        <p:nvSpPr>
          <p:cNvPr id="22" name="TextBox 21"/>
          <p:cNvSpPr txBox="1"/>
          <p:nvPr/>
        </p:nvSpPr>
        <p:spPr>
          <a:xfrm>
            <a:off x="3035808" y="4690872"/>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D96552"/>
                </a:solidFill>
                <a:latin typeface="Arial"/>
              </a:rPr>
              <a:t>4</a:t>
            </a:r>
          </a:p>
        </p:txBody>
      </p:sp>
      <p:sp>
        <p:nvSpPr>
          <p:cNvPr id="23" name="Rectangle 22"/>
          <p:cNvSpPr/>
          <p:nvPr/>
        </p:nvSpPr>
        <p:spPr>
          <a:xfrm>
            <a:off x="457200" y="5001768"/>
            <a:ext cx="3136392" cy="9144"/>
          </a:xfrm>
          <a:prstGeom prst="rect">
            <a:avLst/>
          </a:prstGeom>
          <a:solidFill>
            <a:srgbClr val="E4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084064"/>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Skin</a:t>
            </a:r>
          </a:p>
        </p:txBody>
      </p:sp>
      <p:sp>
        <p:nvSpPr>
          <p:cNvPr id="25" name="TextBox 24"/>
          <p:cNvSpPr txBox="1"/>
          <p:nvPr/>
        </p:nvSpPr>
        <p:spPr>
          <a:xfrm>
            <a:off x="3035808" y="5084064"/>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D96552"/>
                </a:solidFill>
                <a:latin typeface="Arial"/>
              </a:rPr>
              <a:t>1</a:t>
            </a:r>
          </a:p>
        </p:txBody>
      </p:sp>
      <p:sp>
        <p:nvSpPr>
          <p:cNvPr id="26" name="Rectangle 25"/>
          <p:cNvSpPr/>
          <p:nvPr/>
        </p:nvSpPr>
        <p:spPr>
          <a:xfrm>
            <a:off x="457200" y="5394960"/>
            <a:ext cx="3136392" cy="9144"/>
          </a:xfrm>
          <a:prstGeom prst="rect">
            <a:avLst/>
          </a:prstGeom>
          <a:solidFill>
            <a:srgbClr val="E4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477256"/>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Spleen</a:t>
            </a:r>
          </a:p>
        </p:txBody>
      </p:sp>
      <p:sp>
        <p:nvSpPr>
          <p:cNvPr id="28" name="TextBox 27"/>
          <p:cNvSpPr txBox="1"/>
          <p:nvPr/>
        </p:nvSpPr>
        <p:spPr>
          <a:xfrm>
            <a:off x="3035808" y="5477256"/>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D96552"/>
                </a:solidFill>
                <a:latin typeface="Arial"/>
              </a:rPr>
              <a:t>1</a:t>
            </a:r>
          </a:p>
        </p:txBody>
      </p:sp>
      <p:sp>
        <p:nvSpPr>
          <p:cNvPr id="29" name="Rectangle 28"/>
          <p:cNvSpPr/>
          <p:nvPr/>
        </p:nvSpPr>
        <p:spPr>
          <a:xfrm>
            <a:off x="3904488" y="1847088"/>
            <a:ext cx="10972" cy="4233672"/>
          </a:xfrm>
          <a:prstGeom prst="rect">
            <a:avLst/>
          </a:prstGeom>
          <a:solidFill>
            <a:srgbClr val="D9E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05656" y="1847088"/>
            <a:ext cx="3255264" cy="41148"/>
          </a:xfrm>
          <a:prstGeom prst="rect">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05656" y="2011680"/>
            <a:ext cx="3255264" cy="310896"/>
          </a:xfrm>
          <a:prstGeom prst="rect">
            <a:avLst/>
          </a:prstGeom>
          <a:noFill/>
        </p:spPr>
        <p:txBody>
          <a:bodyPr wrap="square" lIns="0" rIns="0" tIns="0" bIns="0" anchor="t">
            <a:spAutoFit/>
          </a:bodyPr>
          <a:lstStyle/>
          <a:p>
            <a:pPr algn="l">
              <a:lnSpc>
                <a:spcPct val="100000"/>
              </a:lnSpc>
              <a:spcBef>
                <a:spcPts val="0"/>
              </a:spcBef>
              <a:spcAft>
                <a:spcPts val="0"/>
              </a:spcAft>
            </a:pPr>
            <a:r>
              <a:rPr sz="1850" b="1" i="0">
                <a:solidFill>
                  <a:srgbClr val="082B55"/>
                </a:solidFill>
                <a:latin typeface="Arial"/>
              </a:rPr>
              <a:t>Reactome groups</a:t>
            </a:r>
          </a:p>
        </p:txBody>
      </p:sp>
      <p:sp>
        <p:nvSpPr>
          <p:cNvPr id="32" name="TextBox 31"/>
          <p:cNvSpPr txBox="1"/>
          <p:nvPr/>
        </p:nvSpPr>
        <p:spPr>
          <a:xfrm>
            <a:off x="4105656" y="2359152"/>
            <a:ext cx="3255264" cy="219456"/>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59697A"/>
                </a:solidFill>
                <a:latin typeface="Arial"/>
              </a:rPr>
              <a:t>Grouped permutation + SHAP</a:t>
            </a:r>
          </a:p>
        </p:txBody>
      </p:sp>
      <p:sp>
        <p:nvSpPr>
          <p:cNvPr id="33" name="TextBox 32"/>
          <p:cNvSpPr txBox="1"/>
          <p:nvPr/>
        </p:nvSpPr>
        <p:spPr>
          <a:xfrm>
            <a:off x="4105656" y="2706624"/>
            <a:ext cx="987552" cy="566928"/>
          </a:xfrm>
          <a:prstGeom prst="rect">
            <a:avLst/>
          </a:prstGeom>
          <a:noFill/>
        </p:spPr>
        <p:txBody>
          <a:bodyPr wrap="square" lIns="0" rIns="0" tIns="0" bIns="0" anchor="t">
            <a:spAutoFit/>
          </a:bodyPr>
          <a:lstStyle/>
          <a:p>
            <a:pPr algn="l">
              <a:lnSpc>
                <a:spcPct val="100000"/>
              </a:lnSpc>
              <a:spcBef>
                <a:spcPts val="0"/>
              </a:spcBef>
              <a:spcAft>
                <a:spcPts val="0"/>
              </a:spcAft>
            </a:pPr>
            <a:r>
              <a:rPr sz="3500" b="1" i="0">
                <a:solidFill>
                  <a:srgbClr val="9A6B20"/>
                </a:solidFill>
                <a:latin typeface="Arial"/>
              </a:rPr>
              <a:t>10</a:t>
            </a:r>
          </a:p>
        </p:txBody>
      </p:sp>
      <p:sp>
        <p:nvSpPr>
          <p:cNvPr id="34" name="TextBox 33"/>
          <p:cNvSpPr txBox="1"/>
          <p:nvPr/>
        </p:nvSpPr>
        <p:spPr>
          <a:xfrm>
            <a:off x="5056632" y="2798064"/>
            <a:ext cx="2240280" cy="329184"/>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263746"/>
                </a:solidFill>
                <a:latin typeface="Arial"/>
              </a:rPr>
              <a:t>pathways in 3 tissues</a:t>
            </a:r>
          </a:p>
        </p:txBody>
      </p:sp>
      <p:sp>
        <p:nvSpPr>
          <p:cNvPr id="35" name="Rectangle 34"/>
          <p:cNvSpPr/>
          <p:nvPr/>
        </p:nvSpPr>
        <p:spPr>
          <a:xfrm>
            <a:off x="4105656" y="3438144"/>
            <a:ext cx="118872" cy="118872"/>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06824" y="3374136"/>
            <a:ext cx="1307592" cy="246888"/>
          </a:xfrm>
          <a:prstGeom prst="rect">
            <a:avLst/>
          </a:prstGeom>
          <a:noFill/>
        </p:spPr>
        <p:txBody>
          <a:bodyPr wrap="square" lIns="0" rIns="0" tIns="0" bIns="0" anchor="t">
            <a:spAutoFit/>
          </a:bodyPr>
          <a:lstStyle/>
          <a:p>
            <a:pPr algn="l">
              <a:lnSpc>
                <a:spcPct val="100000"/>
              </a:lnSpc>
              <a:spcBef>
                <a:spcPts val="0"/>
              </a:spcBef>
              <a:spcAft>
                <a:spcPts val="0"/>
              </a:spcAft>
            </a:pPr>
            <a:r>
              <a:rPr sz="1120" b="1" i="0">
                <a:solidFill>
                  <a:srgbClr val="D96552"/>
                </a:solidFill>
                <a:latin typeface="Arial"/>
              </a:rPr>
              <a:t>4 promoted</a:t>
            </a:r>
          </a:p>
        </p:txBody>
      </p:sp>
      <p:sp>
        <p:nvSpPr>
          <p:cNvPr id="37" name="Rectangle 36"/>
          <p:cNvSpPr/>
          <p:nvPr/>
        </p:nvSpPr>
        <p:spPr>
          <a:xfrm>
            <a:off x="5751576" y="3438144"/>
            <a:ext cx="118872" cy="11887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52744" y="3374136"/>
            <a:ext cx="1408176" cy="246888"/>
          </a:xfrm>
          <a:prstGeom prst="rect">
            <a:avLst/>
          </a:prstGeom>
          <a:noFill/>
        </p:spPr>
        <p:txBody>
          <a:bodyPr wrap="square" lIns="0" rIns="0" tIns="0" bIns="0" anchor="t">
            <a:spAutoFit/>
          </a:bodyPr>
          <a:lstStyle/>
          <a:p>
            <a:pPr algn="l">
              <a:lnSpc>
                <a:spcPct val="100000"/>
              </a:lnSpc>
              <a:spcBef>
                <a:spcPts val="0"/>
              </a:spcBef>
              <a:spcAft>
                <a:spcPts val="0"/>
              </a:spcAft>
            </a:pPr>
            <a:r>
              <a:rPr sz="1120" b="1" i="0">
                <a:solidFill>
                  <a:srgbClr val="178681"/>
                </a:solidFill>
                <a:latin typeface="Arial"/>
              </a:rPr>
              <a:t>6 reinforced</a:t>
            </a:r>
          </a:p>
        </p:txBody>
      </p:sp>
      <p:sp>
        <p:nvSpPr>
          <p:cNvPr id="39" name="TextBox 38"/>
          <p:cNvSpPr txBox="1"/>
          <p:nvPr/>
        </p:nvSpPr>
        <p:spPr>
          <a:xfrm>
            <a:off x="4105656" y="3913632"/>
            <a:ext cx="1920240" cy="182880"/>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59697A"/>
                </a:solidFill>
                <a:latin typeface="Arial"/>
              </a:rPr>
              <a:t>RETAINED BY TISSUE</a:t>
            </a:r>
          </a:p>
        </p:txBody>
      </p:sp>
      <p:sp>
        <p:nvSpPr>
          <p:cNvPr id="40" name="Rectangle 39"/>
          <p:cNvSpPr/>
          <p:nvPr/>
        </p:nvSpPr>
        <p:spPr>
          <a:xfrm>
            <a:off x="4105656" y="4160520"/>
            <a:ext cx="3255264" cy="12801"/>
          </a:xfrm>
          <a:prstGeom prst="rect">
            <a:avLst/>
          </a:prstGeom>
          <a:solidFill>
            <a:srgbClr val="D8E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23944" y="4297680"/>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Thymus</a:t>
            </a:r>
          </a:p>
        </p:txBody>
      </p:sp>
      <p:sp>
        <p:nvSpPr>
          <p:cNvPr id="42" name="TextBox 41"/>
          <p:cNvSpPr txBox="1"/>
          <p:nvPr/>
        </p:nvSpPr>
        <p:spPr>
          <a:xfrm>
            <a:off x="6702552" y="4297680"/>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9A6B20"/>
                </a:solidFill>
                <a:latin typeface="Arial"/>
              </a:rPr>
              <a:t>7</a:t>
            </a:r>
          </a:p>
        </p:txBody>
      </p:sp>
      <p:sp>
        <p:nvSpPr>
          <p:cNvPr id="43" name="Rectangle 42"/>
          <p:cNvSpPr/>
          <p:nvPr/>
        </p:nvSpPr>
        <p:spPr>
          <a:xfrm>
            <a:off x="4123944" y="4608576"/>
            <a:ext cx="3136392" cy="9144"/>
          </a:xfrm>
          <a:prstGeom prst="rect">
            <a:avLst/>
          </a:prstGeom>
          <a:solidFill>
            <a:srgbClr val="E4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23944" y="4690872"/>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Skin</a:t>
            </a:r>
          </a:p>
        </p:txBody>
      </p:sp>
      <p:sp>
        <p:nvSpPr>
          <p:cNvPr id="45" name="TextBox 44"/>
          <p:cNvSpPr txBox="1"/>
          <p:nvPr/>
        </p:nvSpPr>
        <p:spPr>
          <a:xfrm>
            <a:off x="6702552" y="4690872"/>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9A6B20"/>
                </a:solidFill>
                <a:latin typeface="Arial"/>
              </a:rPr>
              <a:t>2</a:t>
            </a:r>
          </a:p>
        </p:txBody>
      </p:sp>
      <p:sp>
        <p:nvSpPr>
          <p:cNvPr id="46" name="Rectangle 45"/>
          <p:cNvSpPr/>
          <p:nvPr/>
        </p:nvSpPr>
        <p:spPr>
          <a:xfrm>
            <a:off x="4123944" y="5001768"/>
            <a:ext cx="3136392" cy="9144"/>
          </a:xfrm>
          <a:prstGeom prst="rect">
            <a:avLst/>
          </a:prstGeom>
          <a:solidFill>
            <a:srgbClr val="E4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23944" y="5084064"/>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Spleen</a:t>
            </a:r>
          </a:p>
        </p:txBody>
      </p:sp>
      <p:sp>
        <p:nvSpPr>
          <p:cNvPr id="48" name="TextBox 47"/>
          <p:cNvSpPr txBox="1"/>
          <p:nvPr/>
        </p:nvSpPr>
        <p:spPr>
          <a:xfrm>
            <a:off x="6702552" y="5084064"/>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9A6B20"/>
                </a:solidFill>
                <a:latin typeface="Arial"/>
              </a:rPr>
              <a:t>1</a:t>
            </a:r>
          </a:p>
        </p:txBody>
      </p:sp>
      <p:sp>
        <p:nvSpPr>
          <p:cNvPr id="49" name="Rectangle 48"/>
          <p:cNvSpPr/>
          <p:nvPr/>
        </p:nvSpPr>
        <p:spPr>
          <a:xfrm>
            <a:off x="7571231" y="1847088"/>
            <a:ext cx="10972" cy="4233672"/>
          </a:xfrm>
          <a:prstGeom prst="rect">
            <a:avLst/>
          </a:prstGeom>
          <a:solidFill>
            <a:srgbClr val="D9E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0" y="1847088"/>
            <a:ext cx="3255264" cy="41148"/>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72400" y="2011680"/>
            <a:ext cx="3255264" cy="310896"/>
          </a:xfrm>
          <a:prstGeom prst="rect">
            <a:avLst/>
          </a:prstGeom>
          <a:noFill/>
        </p:spPr>
        <p:txBody>
          <a:bodyPr wrap="square" lIns="0" rIns="0" tIns="0" bIns="0" anchor="t">
            <a:spAutoFit/>
          </a:bodyPr>
          <a:lstStyle/>
          <a:p>
            <a:pPr algn="l">
              <a:lnSpc>
                <a:spcPct val="100000"/>
              </a:lnSpc>
              <a:spcBef>
                <a:spcPts val="0"/>
              </a:spcBef>
              <a:spcAft>
                <a:spcPts val="0"/>
              </a:spcAft>
            </a:pPr>
            <a:r>
              <a:rPr sz="1850" b="1" i="0">
                <a:solidFill>
                  <a:srgbClr val="082B55"/>
                </a:solidFill>
                <a:latin typeface="Arial"/>
              </a:rPr>
              <a:t>Consensus ranking</a:t>
            </a:r>
          </a:p>
        </p:txBody>
      </p:sp>
      <p:sp>
        <p:nvSpPr>
          <p:cNvPr id="52" name="TextBox 51"/>
          <p:cNvSpPr txBox="1"/>
          <p:nvPr/>
        </p:nvSpPr>
        <p:spPr>
          <a:xfrm>
            <a:off x="7772400" y="2359152"/>
            <a:ext cx="3255264" cy="219456"/>
          </a:xfrm>
          <a:prstGeom prst="rect">
            <a:avLst/>
          </a:prstGeom>
          <a:noFill/>
        </p:spPr>
        <p:txBody>
          <a:bodyPr wrap="square" lIns="0" rIns="0" tIns="0" bIns="0" anchor="t">
            <a:spAutoFit/>
          </a:bodyPr>
          <a:lstStyle/>
          <a:p>
            <a:pPr algn="l">
              <a:lnSpc>
                <a:spcPct val="100000"/>
              </a:lnSpc>
              <a:spcBef>
                <a:spcPts val="0"/>
              </a:spcBef>
              <a:spcAft>
                <a:spcPts val="0"/>
              </a:spcAft>
            </a:pPr>
            <a:r>
              <a:rPr sz="1050" b="0" i="0">
                <a:solidFill>
                  <a:srgbClr val="59697A"/>
                </a:solidFill>
                <a:latin typeface="Arial"/>
              </a:rPr>
              <a:t>Compact gene panels</a:t>
            </a:r>
          </a:p>
        </p:txBody>
      </p:sp>
      <p:sp>
        <p:nvSpPr>
          <p:cNvPr id="53" name="TextBox 52"/>
          <p:cNvSpPr txBox="1"/>
          <p:nvPr/>
        </p:nvSpPr>
        <p:spPr>
          <a:xfrm>
            <a:off x="7772400" y="2706624"/>
            <a:ext cx="987552" cy="566928"/>
          </a:xfrm>
          <a:prstGeom prst="rect">
            <a:avLst/>
          </a:prstGeom>
          <a:noFill/>
        </p:spPr>
        <p:txBody>
          <a:bodyPr wrap="square" lIns="0" rIns="0" tIns="0" bIns="0" anchor="t">
            <a:spAutoFit/>
          </a:bodyPr>
          <a:lstStyle/>
          <a:p>
            <a:pPr algn="l">
              <a:lnSpc>
                <a:spcPct val="100000"/>
              </a:lnSpc>
              <a:spcBef>
                <a:spcPts val="0"/>
              </a:spcBef>
              <a:spcAft>
                <a:spcPts val="0"/>
              </a:spcAft>
            </a:pPr>
            <a:r>
              <a:rPr sz="3500" b="1" i="0">
                <a:solidFill>
                  <a:srgbClr val="2D6496"/>
                </a:solidFill>
                <a:latin typeface="Arial"/>
              </a:rPr>
              <a:t>49</a:t>
            </a:r>
          </a:p>
        </p:txBody>
      </p:sp>
      <p:sp>
        <p:nvSpPr>
          <p:cNvPr id="54" name="TextBox 53"/>
          <p:cNvSpPr txBox="1"/>
          <p:nvPr/>
        </p:nvSpPr>
        <p:spPr>
          <a:xfrm>
            <a:off x="8723376" y="2798064"/>
            <a:ext cx="2240280" cy="329184"/>
          </a:xfrm>
          <a:prstGeom prst="rect">
            <a:avLst/>
          </a:prstGeom>
          <a:noFill/>
        </p:spPr>
        <p:txBody>
          <a:bodyPr wrap="square" lIns="0" rIns="0" tIns="0" bIns="0" anchor="ctr">
            <a:spAutoFit/>
          </a:bodyPr>
          <a:lstStyle/>
          <a:p>
            <a:pPr algn="l">
              <a:lnSpc>
                <a:spcPct val="100000"/>
              </a:lnSpc>
              <a:spcBef>
                <a:spcPts val="0"/>
              </a:spcBef>
              <a:spcAft>
                <a:spcPts val="0"/>
              </a:spcAft>
            </a:pPr>
            <a:r>
              <a:rPr sz="1250" b="1" i="0">
                <a:solidFill>
                  <a:srgbClr val="263746"/>
                </a:solidFill>
                <a:latin typeface="Arial"/>
              </a:rPr>
              <a:t>associations in 10 analyses</a:t>
            </a:r>
          </a:p>
        </p:txBody>
      </p:sp>
      <p:sp>
        <p:nvSpPr>
          <p:cNvPr id="55" name="Rectangle 54"/>
          <p:cNvSpPr/>
          <p:nvPr/>
        </p:nvSpPr>
        <p:spPr>
          <a:xfrm>
            <a:off x="7772400" y="3438144"/>
            <a:ext cx="118872" cy="118872"/>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73568" y="3374136"/>
            <a:ext cx="1307592" cy="246888"/>
          </a:xfrm>
          <a:prstGeom prst="rect">
            <a:avLst/>
          </a:prstGeom>
          <a:noFill/>
        </p:spPr>
        <p:txBody>
          <a:bodyPr wrap="square" lIns="0" rIns="0" tIns="0" bIns="0" anchor="t">
            <a:spAutoFit/>
          </a:bodyPr>
          <a:lstStyle/>
          <a:p>
            <a:pPr algn="l">
              <a:lnSpc>
                <a:spcPct val="100000"/>
              </a:lnSpc>
              <a:spcBef>
                <a:spcPts val="0"/>
              </a:spcBef>
              <a:spcAft>
                <a:spcPts val="0"/>
              </a:spcAft>
            </a:pPr>
            <a:r>
              <a:rPr sz="1120" b="1" i="0">
                <a:solidFill>
                  <a:srgbClr val="D96552"/>
                </a:solidFill>
                <a:latin typeface="Arial"/>
              </a:rPr>
              <a:t>26 promoted</a:t>
            </a:r>
          </a:p>
        </p:txBody>
      </p:sp>
      <p:sp>
        <p:nvSpPr>
          <p:cNvPr id="57" name="Rectangle 56"/>
          <p:cNvSpPr/>
          <p:nvPr/>
        </p:nvSpPr>
        <p:spPr>
          <a:xfrm>
            <a:off x="9418320" y="3438144"/>
            <a:ext cx="118872" cy="118872"/>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619488" y="3374136"/>
            <a:ext cx="1408176" cy="246888"/>
          </a:xfrm>
          <a:prstGeom prst="rect">
            <a:avLst/>
          </a:prstGeom>
          <a:noFill/>
        </p:spPr>
        <p:txBody>
          <a:bodyPr wrap="square" lIns="0" rIns="0" tIns="0" bIns="0" anchor="t">
            <a:spAutoFit/>
          </a:bodyPr>
          <a:lstStyle/>
          <a:p>
            <a:pPr algn="l">
              <a:lnSpc>
                <a:spcPct val="100000"/>
              </a:lnSpc>
              <a:spcBef>
                <a:spcPts val="0"/>
              </a:spcBef>
              <a:spcAft>
                <a:spcPts val="0"/>
              </a:spcAft>
            </a:pPr>
            <a:r>
              <a:rPr sz="1120" b="1" i="0">
                <a:solidFill>
                  <a:srgbClr val="178681"/>
                </a:solidFill>
                <a:latin typeface="Arial"/>
              </a:rPr>
              <a:t>23 reinforced</a:t>
            </a:r>
          </a:p>
        </p:txBody>
      </p:sp>
      <p:sp>
        <p:nvSpPr>
          <p:cNvPr id="59" name="TextBox 58"/>
          <p:cNvSpPr txBox="1"/>
          <p:nvPr/>
        </p:nvSpPr>
        <p:spPr>
          <a:xfrm>
            <a:off x="7772400" y="3913632"/>
            <a:ext cx="1920240" cy="182880"/>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59697A"/>
                </a:solidFill>
                <a:latin typeface="Arial"/>
              </a:rPr>
              <a:t>RETAINED BY TISSUE</a:t>
            </a:r>
          </a:p>
        </p:txBody>
      </p:sp>
      <p:sp>
        <p:nvSpPr>
          <p:cNvPr id="60" name="Rectangle 59"/>
          <p:cNvSpPr/>
          <p:nvPr/>
        </p:nvSpPr>
        <p:spPr>
          <a:xfrm>
            <a:off x="7772400" y="4160520"/>
            <a:ext cx="3255264" cy="12801"/>
          </a:xfrm>
          <a:prstGeom prst="rect">
            <a:avLst/>
          </a:prstGeom>
          <a:solidFill>
            <a:srgbClr val="D8E0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90688" y="4297680"/>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Thymus</a:t>
            </a:r>
          </a:p>
        </p:txBody>
      </p:sp>
      <p:sp>
        <p:nvSpPr>
          <p:cNvPr id="62" name="TextBox 61"/>
          <p:cNvSpPr txBox="1"/>
          <p:nvPr/>
        </p:nvSpPr>
        <p:spPr>
          <a:xfrm>
            <a:off x="10369296" y="4297680"/>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2D6496"/>
                </a:solidFill>
                <a:latin typeface="Arial"/>
              </a:rPr>
              <a:t>16</a:t>
            </a:r>
          </a:p>
        </p:txBody>
      </p:sp>
      <p:sp>
        <p:nvSpPr>
          <p:cNvPr id="63" name="Rectangle 62"/>
          <p:cNvSpPr/>
          <p:nvPr/>
        </p:nvSpPr>
        <p:spPr>
          <a:xfrm>
            <a:off x="7790688" y="4608576"/>
            <a:ext cx="3136392" cy="9144"/>
          </a:xfrm>
          <a:prstGeom prst="rect">
            <a:avLst/>
          </a:prstGeom>
          <a:solidFill>
            <a:srgbClr val="E4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790688" y="4690872"/>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Pooled muscle</a:t>
            </a:r>
          </a:p>
        </p:txBody>
      </p:sp>
      <p:sp>
        <p:nvSpPr>
          <p:cNvPr id="65" name="TextBox 64"/>
          <p:cNvSpPr txBox="1"/>
          <p:nvPr/>
        </p:nvSpPr>
        <p:spPr>
          <a:xfrm>
            <a:off x="10369296" y="4690872"/>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2D6496"/>
                </a:solidFill>
                <a:latin typeface="Arial"/>
              </a:rPr>
              <a:t>12</a:t>
            </a:r>
          </a:p>
        </p:txBody>
      </p:sp>
      <p:sp>
        <p:nvSpPr>
          <p:cNvPr id="66" name="Rectangle 65"/>
          <p:cNvSpPr/>
          <p:nvPr/>
        </p:nvSpPr>
        <p:spPr>
          <a:xfrm>
            <a:off x="7790688" y="5001768"/>
            <a:ext cx="3136392" cy="9144"/>
          </a:xfrm>
          <a:prstGeom prst="rect">
            <a:avLst/>
          </a:prstGeom>
          <a:solidFill>
            <a:srgbClr val="E4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790688" y="5084064"/>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Soleus</a:t>
            </a:r>
          </a:p>
        </p:txBody>
      </p:sp>
      <p:sp>
        <p:nvSpPr>
          <p:cNvPr id="68" name="TextBox 67"/>
          <p:cNvSpPr txBox="1"/>
          <p:nvPr/>
        </p:nvSpPr>
        <p:spPr>
          <a:xfrm>
            <a:off x="10369296" y="5084064"/>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2D6496"/>
                </a:solidFill>
                <a:latin typeface="Arial"/>
              </a:rPr>
              <a:t>5</a:t>
            </a:r>
          </a:p>
        </p:txBody>
      </p:sp>
      <p:sp>
        <p:nvSpPr>
          <p:cNvPr id="69" name="Rectangle 68"/>
          <p:cNvSpPr/>
          <p:nvPr/>
        </p:nvSpPr>
        <p:spPr>
          <a:xfrm>
            <a:off x="7790688" y="5394960"/>
            <a:ext cx="3136392" cy="9144"/>
          </a:xfrm>
          <a:prstGeom prst="rect">
            <a:avLst/>
          </a:prstGeom>
          <a:solidFill>
            <a:srgbClr val="E4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90688" y="5477256"/>
            <a:ext cx="2468880" cy="265176"/>
          </a:xfrm>
          <a:prstGeom prst="rect">
            <a:avLst/>
          </a:prstGeom>
          <a:noFill/>
        </p:spPr>
        <p:txBody>
          <a:bodyPr wrap="square" lIns="0" rIns="0" tIns="0" bIns="0" anchor="t">
            <a:spAutoFit/>
          </a:bodyPr>
          <a:lstStyle/>
          <a:p>
            <a:pPr algn="l">
              <a:lnSpc>
                <a:spcPct val="100000"/>
              </a:lnSpc>
              <a:spcBef>
                <a:spcPts val="0"/>
              </a:spcBef>
              <a:spcAft>
                <a:spcPts val="0"/>
              </a:spcAft>
            </a:pPr>
            <a:r>
              <a:rPr sz="1180" b="0" i="0">
                <a:solidFill>
                  <a:srgbClr val="263746"/>
                </a:solidFill>
                <a:latin typeface="Arial"/>
              </a:rPr>
              <a:t>Seven others</a:t>
            </a:r>
          </a:p>
        </p:txBody>
      </p:sp>
      <p:sp>
        <p:nvSpPr>
          <p:cNvPr id="71" name="TextBox 70"/>
          <p:cNvSpPr txBox="1"/>
          <p:nvPr/>
        </p:nvSpPr>
        <p:spPr>
          <a:xfrm>
            <a:off x="10369296" y="5477256"/>
            <a:ext cx="566928" cy="265176"/>
          </a:xfrm>
          <a:prstGeom prst="rect">
            <a:avLst/>
          </a:prstGeom>
          <a:noFill/>
        </p:spPr>
        <p:txBody>
          <a:bodyPr wrap="square" lIns="0" rIns="0" tIns="0" bIns="0" anchor="t">
            <a:spAutoFit/>
          </a:bodyPr>
          <a:lstStyle/>
          <a:p>
            <a:pPr algn="r">
              <a:lnSpc>
                <a:spcPct val="100000"/>
              </a:lnSpc>
              <a:spcBef>
                <a:spcPts val="0"/>
              </a:spcBef>
              <a:spcAft>
                <a:spcPts val="0"/>
              </a:spcAft>
            </a:pPr>
            <a:r>
              <a:rPr sz="1220" b="1" i="0">
                <a:solidFill>
                  <a:srgbClr val="2D6496"/>
                </a:solidFill>
                <a:latin typeface="Arial"/>
              </a:rPr>
              <a:t>16</a:t>
            </a:r>
          </a:p>
        </p:txBody>
      </p:sp>
      <p:sp>
        <p:nvSpPr>
          <p:cNvPr id="72" name="TextBox 71"/>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Promoted: retained only after adding synthetic information. Reinforced: retained in both analyses.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RESULTS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All three analyses found candidates in thymus, skin and spleen</a:t>
            </a:r>
          </a:p>
        </p:txBody>
      </p:sp>
      <p:sp>
        <p:nvSpPr>
          <p:cNvPr id="6" name="TextBox 5"/>
          <p:cNvSpPr txBox="1"/>
          <p:nvPr/>
        </p:nvSpPr>
        <p:spPr>
          <a:xfrm>
            <a:off x="502920" y="1837943"/>
            <a:ext cx="1993392" cy="192024"/>
          </a:xfrm>
          <a:prstGeom prst="rect">
            <a:avLst/>
          </a:prstGeom>
          <a:noFill/>
        </p:spPr>
        <p:txBody>
          <a:bodyPr wrap="square" lIns="0" rIns="0" tIns="0" bIns="0" anchor="t">
            <a:spAutoFit/>
          </a:bodyPr>
          <a:lstStyle/>
          <a:p>
            <a:pPr algn="l">
              <a:lnSpc>
                <a:spcPct val="100000"/>
              </a:lnSpc>
              <a:spcBef>
                <a:spcPts val="0"/>
              </a:spcBef>
              <a:spcAft>
                <a:spcPts val="0"/>
              </a:spcAft>
            </a:pPr>
            <a:r>
              <a:rPr sz="900" b="1" i="0">
                <a:solidFill>
                  <a:srgbClr val="59697A"/>
                </a:solidFill>
                <a:latin typeface="Arial"/>
              </a:rPr>
              <a:t>TISSUE</a:t>
            </a:r>
          </a:p>
        </p:txBody>
      </p:sp>
      <p:sp>
        <p:nvSpPr>
          <p:cNvPr id="7" name="Rectangle 6"/>
          <p:cNvSpPr/>
          <p:nvPr/>
        </p:nvSpPr>
        <p:spPr>
          <a:xfrm>
            <a:off x="2798064" y="1810512"/>
            <a:ext cx="2706624" cy="32004"/>
          </a:xfrm>
          <a:prstGeom prst="rect">
            <a:avLst/>
          </a:prstGeom>
          <a:solidFill>
            <a:srgbClr val="D96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98064" y="1911095"/>
            <a:ext cx="2706624" cy="22860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082B55"/>
                </a:solidFill>
                <a:latin typeface="Arial"/>
              </a:rPr>
              <a:t>Individual genes</a:t>
            </a:r>
          </a:p>
        </p:txBody>
      </p:sp>
      <p:sp>
        <p:nvSpPr>
          <p:cNvPr id="9" name="TextBox 8"/>
          <p:cNvSpPr txBox="1"/>
          <p:nvPr/>
        </p:nvSpPr>
        <p:spPr>
          <a:xfrm>
            <a:off x="2798064" y="2148840"/>
            <a:ext cx="2706624" cy="182880"/>
          </a:xfrm>
          <a:prstGeom prst="rect">
            <a:avLst/>
          </a:prstGeom>
          <a:noFill/>
        </p:spPr>
        <p:txBody>
          <a:bodyPr wrap="square" lIns="0" rIns="0" tIns="0" bIns="0" anchor="t">
            <a:spAutoFit/>
          </a:bodyPr>
          <a:lstStyle/>
          <a:p>
            <a:pPr algn="ctr">
              <a:lnSpc>
                <a:spcPct val="100000"/>
              </a:lnSpc>
              <a:spcBef>
                <a:spcPts val="0"/>
              </a:spcBef>
              <a:spcAft>
                <a:spcPts val="0"/>
              </a:spcAft>
            </a:pPr>
            <a:r>
              <a:rPr sz="869" b="0" i="0">
                <a:solidFill>
                  <a:srgbClr val="59697A"/>
                </a:solidFill>
                <a:latin typeface="Arial"/>
              </a:rPr>
              <a:t>Permutation + SHAP</a:t>
            </a:r>
          </a:p>
        </p:txBody>
      </p:sp>
      <p:sp>
        <p:nvSpPr>
          <p:cNvPr id="10" name="Rectangle 9"/>
          <p:cNvSpPr/>
          <p:nvPr/>
        </p:nvSpPr>
        <p:spPr>
          <a:xfrm>
            <a:off x="5751576" y="1810512"/>
            <a:ext cx="2706624" cy="32004"/>
          </a:xfrm>
          <a:prstGeom prst="rect">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51576" y="1911095"/>
            <a:ext cx="2706624" cy="22860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082B55"/>
                </a:solidFill>
                <a:latin typeface="Arial"/>
              </a:rPr>
              <a:t>Reactome groups</a:t>
            </a:r>
          </a:p>
        </p:txBody>
      </p:sp>
      <p:sp>
        <p:nvSpPr>
          <p:cNvPr id="12" name="TextBox 11"/>
          <p:cNvSpPr txBox="1"/>
          <p:nvPr/>
        </p:nvSpPr>
        <p:spPr>
          <a:xfrm>
            <a:off x="5751576" y="2148840"/>
            <a:ext cx="2706624" cy="182880"/>
          </a:xfrm>
          <a:prstGeom prst="rect">
            <a:avLst/>
          </a:prstGeom>
          <a:noFill/>
        </p:spPr>
        <p:txBody>
          <a:bodyPr wrap="square" lIns="0" rIns="0" tIns="0" bIns="0" anchor="t">
            <a:spAutoFit/>
          </a:bodyPr>
          <a:lstStyle/>
          <a:p>
            <a:pPr algn="ctr">
              <a:lnSpc>
                <a:spcPct val="100000"/>
              </a:lnSpc>
              <a:spcBef>
                <a:spcPts val="0"/>
              </a:spcBef>
              <a:spcAft>
                <a:spcPts val="0"/>
              </a:spcAft>
            </a:pPr>
            <a:r>
              <a:rPr sz="869" b="0" i="0">
                <a:solidFill>
                  <a:srgbClr val="59697A"/>
                </a:solidFill>
                <a:latin typeface="Arial"/>
              </a:rPr>
              <a:t>Grouped permutation + SHAP</a:t>
            </a:r>
          </a:p>
        </p:txBody>
      </p:sp>
      <p:sp>
        <p:nvSpPr>
          <p:cNvPr id="13" name="Rectangle 12"/>
          <p:cNvSpPr/>
          <p:nvPr/>
        </p:nvSpPr>
        <p:spPr>
          <a:xfrm>
            <a:off x="8705088" y="1810512"/>
            <a:ext cx="2706624" cy="3200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5088" y="1911095"/>
            <a:ext cx="2706624" cy="22860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082B55"/>
                </a:solidFill>
                <a:latin typeface="Arial"/>
              </a:rPr>
              <a:t>Consensus ranking</a:t>
            </a:r>
          </a:p>
        </p:txBody>
      </p:sp>
      <p:sp>
        <p:nvSpPr>
          <p:cNvPr id="15" name="TextBox 14"/>
          <p:cNvSpPr txBox="1"/>
          <p:nvPr/>
        </p:nvSpPr>
        <p:spPr>
          <a:xfrm>
            <a:off x="8705088" y="2148840"/>
            <a:ext cx="2706624" cy="182880"/>
          </a:xfrm>
          <a:prstGeom prst="rect">
            <a:avLst/>
          </a:prstGeom>
          <a:noFill/>
        </p:spPr>
        <p:txBody>
          <a:bodyPr wrap="square" lIns="0" rIns="0" tIns="0" bIns="0" anchor="t">
            <a:spAutoFit/>
          </a:bodyPr>
          <a:lstStyle/>
          <a:p>
            <a:pPr algn="ctr">
              <a:lnSpc>
                <a:spcPct val="100000"/>
              </a:lnSpc>
              <a:spcBef>
                <a:spcPts val="0"/>
              </a:spcBef>
              <a:spcAft>
                <a:spcPts val="0"/>
              </a:spcAft>
            </a:pPr>
            <a:r>
              <a:rPr sz="869" b="0" i="0">
                <a:solidFill>
                  <a:srgbClr val="59697A"/>
                </a:solidFill>
                <a:latin typeface="Arial"/>
              </a:rPr>
              <a:t>Compact gene panels</a:t>
            </a:r>
          </a:p>
        </p:txBody>
      </p:sp>
      <p:sp>
        <p:nvSpPr>
          <p:cNvPr id="16" name="Rectangle 15"/>
          <p:cNvSpPr/>
          <p:nvPr/>
        </p:nvSpPr>
        <p:spPr>
          <a:xfrm>
            <a:off x="429768" y="2432304"/>
            <a:ext cx="11018520" cy="310896"/>
          </a:xfrm>
          <a:prstGeom prst="rect">
            <a:avLst/>
          </a:prstGeom>
          <a:solidFill>
            <a:srgbClr val="ED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 y="2432304"/>
            <a:ext cx="50292" cy="310896"/>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459736"/>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082B55"/>
                </a:solidFill>
                <a:latin typeface="Arial"/>
              </a:rPr>
              <a:t>Thymus</a:t>
            </a:r>
          </a:p>
        </p:txBody>
      </p:sp>
      <p:sp>
        <p:nvSpPr>
          <p:cNvPr id="19" name="Rectangle 18"/>
          <p:cNvSpPr/>
          <p:nvPr/>
        </p:nvSpPr>
        <p:spPr>
          <a:xfrm>
            <a:off x="2798064" y="2464308"/>
            <a:ext cx="2706624" cy="246888"/>
          </a:xfrm>
          <a:prstGeom prst="rect">
            <a:avLst/>
          </a:prstGeom>
          <a:solidFill>
            <a:srgbClr val="F8ECE9"/>
          </a:solidFill>
          <a:ln w="10160">
            <a:solidFill>
              <a:srgbClr val="F8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34640" y="2468880"/>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D96552"/>
                </a:solidFill>
                <a:latin typeface="Arial"/>
              </a:rPr>
              <a:t>15 | 7 promoted, 8 reinforced</a:t>
            </a:r>
          </a:p>
        </p:txBody>
      </p:sp>
      <p:sp>
        <p:nvSpPr>
          <p:cNvPr id="21" name="Rectangle 20"/>
          <p:cNvSpPr/>
          <p:nvPr/>
        </p:nvSpPr>
        <p:spPr>
          <a:xfrm>
            <a:off x="5751576" y="2464308"/>
            <a:ext cx="2706624" cy="246888"/>
          </a:xfrm>
          <a:prstGeom prst="rect">
            <a:avLst/>
          </a:prstGeom>
          <a:solidFill>
            <a:srgbClr val="F8F1E2"/>
          </a:solidFill>
          <a:ln w="10160">
            <a:solidFill>
              <a:srgbClr val="F8F1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88152" y="2468880"/>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9A6B20"/>
                </a:solidFill>
                <a:latin typeface="Arial"/>
              </a:rPr>
              <a:t>7 | 2 promoted, 5 reinforced</a:t>
            </a:r>
          </a:p>
        </p:txBody>
      </p:sp>
      <p:sp>
        <p:nvSpPr>
          <p:cNvPr id="23" name="Rectangle 22"/>
          <p:cNvSpPr/>
          <p:nvPr/>
        </p:nvSpPr>
        <p:spPr>
          <a:xfrm>
            <a:off x="8705088" y="2464308"/>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41663" y="2468880"/>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16 | 13 promoted, 3 reinforced</a:t>
            </a:r>
          </a:p>
        </p:txBody>
      </p:sp>
      <p:sp>
        <p:nvSpPr>
          <p:cNvPr id="25" name="Rectangle 24"/>
          <p:cNvSpPr/>
          <p:nvPr/>
        </p:nvSpPr>
        <p:spPr>
          <a:xfrm>
            <a:off x="429768" y="2761488"/>
            <a:ext cx="11018520" cy="310896"/>
          </a:xfrm>
          <a:prstGeom prst="rect">
            <a:avLst/>
          </a:prstGeom>
          <a:solidFill>
            <a:srgbClr val="ED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8" y="2761488"/>
            <a:ext cx="50292" cy="310896"/>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788920"/>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082B55"/>
                </a:solidFill>
                <a:latin typeface="Arial"/>
              </a:rPr>
              <a:t>Skin</a:t>
            </a:r>
          </a:p>
        </p:txBody>
      </p:sp>
      <p:sp>
        <p:nvSpPr>
          <p:cNvPr id="28" name="Rectangle 27"/>
          <p:cNvSpPr/>
          <p:nvPr/>
        </p:nvSpPr>
        <p:spPr>
          <a:xfrm>
            <a:off x="2798064" y="2793492"/>
            <a:ext cx="2706624" cy="246888"/>
          </a:xfrm>
          <a:prstGeom prst="rect">
            <a:avLst/>
          </a:prstGeom>
          <a:solidFill>
            <a:srgbClr val="F8ECE9"/>
          </a:solidFill>
          <a:ln w="10160">
            <a:solidFill>
              <a:srgbClr val="F8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40" y="2798064"/>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D96552"/>
                </a:solidFill>
                <a:latin typeface="Arial"/>
              </a:rPr>
              <a:t>1 | 0 promoted, 1 reinforced</a:t>
            </a:r>
          </a:p>
        </p:txBody>
      </p:sp>
      <p:sp>
        <p:nvSpPr>
          <p:cNvPr id="30" name="Rectangle 29"/>
          <p:cNvSpPr/>
          <p:nvPr/>
        </p:nvSpPr>
        <p:spPr>
          <a:xfrm>
            <a:off x="5751576" y="2793492"/>
            <a:ext cx="2706624" cy="246888"/>
          </a:xfrm>
          <a:prstGeom prst="rect">
            <a:avLst/>
          </a:prstGeom>
          <a:solidFill>
            <a:srgbClr val="F8F1E2"/>
          </a:solidFill>
          <a:ln w="10160">
            <a:solidFill>
              <a:srgbClr val="F8F1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88152" y="2798064"/>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9A6B20"/>
                </a:solidFill>
                <a:latin typeface="Arial"/>
              </a:rPr>
              <a:t>2 | 2 promoted, 0 reinforced</a:t>
            </a:r>
          </a:p>
        </p:txBody>
      </p:sp>
      <p:sp>
        <p:nvSpPr>
          <p:cNvPr id="32" name="Rectangle 31"/>
          <p:cNvSpPr/>
          <p:nvPr/>
        </p:nvSpPr>
        <p:spPr>
          <a:xfrm>
            <a:off x="8705088" y="2793492"/>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41663" y="2798064"/>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1 | 1 promoted, 0 reinforced</a:t>
            </a:r>
          </a:p>
        </p:txBody>
      </p:sp>
      <p:sp>
        <p:nvSpPr>
          <p:cNvPr id="34" name="Rectangle 33"/>
          <p:cNvSpPr/>
          <p:nvPr/>
        </p:nvSpPr>
        <p:spPr>
          <a:xfrm>
            <a:off x="429768" y="3090672"/>
            <a:ext cx="11018520" cy="310896"/>
          </a:xfrm>
          <a:prstGeom prst="rect">
            <a:avLst/>
          </a:prstGeom>
          <a:solidFill>
            <a:srgbClr val="ED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29768" y="3090672"/>
            <a:ext cx="50292" cy="310896"/>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3118103"/>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1" i="0">
                <a:solidFill>
                  <a:srgbClr val="082B55"/>
                </a:solidFill>
                <a:latin typeface="Arial"/>
              </a:rPr>
              <a:t>Spleen</a:t>
            </a:r>
          </a:p>
        </p:txBody>
      </p:sp>
      <p:sp>
        <p:nvSpPr>
          <p:cNvPr id="37" name="Rectangle 36"/>
          <p:cNvSpPr/>
          <p:nvPr/>
        </p:nvSpPr>
        <p:spPr>
          <a:xfrm>
            <a:off x="2798064" y="3122676"/>
            <a:ext cx="2706624" cy="246888"/>
          </a:xfrm>
          <a:prstGeom prst="rect">
            <a:avLst/>
          </a:prstGeom>
          <a:solidFill>
            <a:srgbClr val="F8ECE9"/>
          </a:solidFill>
          <a:ln w="10160">
            <a:solidFill>
              <a:srgbClr val="F8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34640" y="3127248"/>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D96552"/>
                </a:solidFill>
                <a:latin typeface="Arial"/>
              </a:rPr>
              <a:t>1 | 0 promoted, 1 reinforced</a:t>
            </a:r>
          </a:p>
        </p:txBody>
      </p:sp>
      <p:sp>
        <p:nvSpPr>
          <p:cNvPr id="39" name="Rectangle 38"/>
          <p:cNvSpPr/>
          <p:nvPr/>
        </p:nvSpPr>
        <p:spPr>
          <a:xfrm>
            <a:off x="5751576" y="3122676"/>
            <a:ext cx="2706624" cy="246888"/>
          </a:xfrm>
          <a:prstGeom prst="rect">
            <a:avLst/>
          </a:prstGeom>
          <a:solidFill>
            <a:srgbClr val="F8F1E2"/>
          </a:solidFill>
          <a:ln w="10160">
            <a:solidFill>
              <a:srgbClr val="F8F1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88152" y="3127248"/>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9A6B20"/>
                </a:solidFill>
                <a:latin typeface="Arial"/>
              </a:rPr>
              <a:t>1 | 0 promoted, 1 reinforced</a:t>
            </a:r>
          </a:p>
        </p:txBody>
      </p:sp>
      <p:sp>
        <p:nvSpPr>
          <p:cNvPr id="41" name="Rectangle 40"/>
          <p:cNvSpPr/>
          <p:nvPr/>
        </p:nvSpPr>
        <p:spPr>
          <a:xfrm>
            <a:off x="8705088" y="3122676"/>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41663" y="3127248"/>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4 | 3 promoted, 1 reinforced</a:t>
            </a:r>
          </a:p>
        </p:txBody>
      </p:sp>
      <p:sp>
        <p:nvSpPr>
          <p:cNvPr id="43" name="Rectangle 42"/>
          <p:cNvSpPr/>
          <p:nvPr/>
        </p:nvSpPr>
        <p:spPr>
          <a:xfrm>
            <a:off x="429768" y="3419856"/>
            <a:ext cx="11018520" cy="310896"/>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29768" y="3378708"/>
            <a:ext cx="11018520" cy="16459"/>
          </a:xfrm>
          <a:prstGeom prst="rect">
            <a:avLst/>
          </a:prstGeom>
          <a:solidFill>
            <a:srgbClr val="C9D4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447288"/>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0" i="0">
                <a:solidFill>
                  <a:srgbClr val="263746"/>
                </a:solidFill>
                <a:latin typeface="Arial"/>
              </a:rPr>
              <a:t>Liver</a:t>
            </a:r>
          </a:p>
        </p:txBody>
      </p:sp>
      <p:sp>
        <p:nvSpPr>
          <p:cNvPr id="46" name="Rectangle 45"/>
          <p:cNvSpPr/>
          <p:nvPr/>
        </p:nvSpPr>
        <p:spPr>
          <a:xfrm>
            <a:off x="2798064" y="3451860"/>
            <a:ext cx="2706624" cy="246888"/>
          </a:xfrm>
          <a:prstGeom prst="rect">
            <a:avLst/>
          </a:prstGeom>
          <a:solidFill>
            <a:srgbClr val="F8ECE9"/>
          </a:solidFill>
          <a:ln w="10160">
            <a:solidFill>
              <a:srgbClr val="F8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34640" y="3456432"/>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D96552"/>
                </a:solidFill>
                <a:latin typeface="Arial"/>
              </a:rPr>
              <a:t>4 | 0 promoted, 4 reinforced</a:t>
            </a:r>
          </a:p>
        </p:txBody>
      </p:sp>
      <p:sp>
        <p:nvSpPr>
          <p:cNvPr id="48" name="TextBox 47"/>
          <p:cNvSpPr txBox="1"/>
          <p:nvPr/>
        </p:nvSpPr>
        <p:spPr>
          <a:xfrm>
            <a:off x="5751576" y="3438144"/>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49" name="TextBox 48"/>
          <p:cNvSpPr txBox="1"/>
          <p:nvPr/>
        </p:nvSpPr>
        <p:spPr>
          <a:xfrm>
            <a:off x="8705088" y="3438144"/>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50" name="Rectangle 49"/>
          <p:cNvSpPr/>
          <p:nvPr/>
        </p:nvSpPr>
        <p:spPr>
          <a:xfrm>
            <a:off x="429768" y="3749039"/>
            <a:ext cx="1101852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3776472"/>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0" i="0">
                <a:solidFill>
                  <a:srgbClr val="263746"/>
                </a:solidFill>
                <a:latin typeface="Arial"/>
              </a:rPr>
              <a:t>Pooled muscle</a:t>
            </a:r>
          </a:p>
        </p:txBody>
      </p:sp>
      <p:sp>
        <p:nvSpPr>
          <p:cNvPr id="52" name="TextBox 51"/>
          <p:cNvSpPr txBox="1"/>
          <p:nvPr/>
        </p:nvSpPr>
        <p:spPr>
          <a:xfrm>
            <a:off x="2798064" y="3767327"/>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53" name="TextBox 52"/>
          <p:cNvSpPr txBox="1"/>
          <p:nvPr/>
        </p:nvSpPr>
        <p:spPr>
          <a:xfrm>
            <a:off x="5751576" y="3767327"/>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54" name="Rectangle 53"/>
          <p:cNvSpPr/>
          <p:nvPr/>
        </p:nvSpPr>
        <p:spPr>
          <a:xfrm>
            <a:off x="8705088" y="3781044"/>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741663" y="3785615"/>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12 | 4 promoted, 8 reinforced</a:t>
            </a:r>
          </a:p>
        </p:txBody>
      </p:sp>
      <p:sp>
        <p:nvSpPr>
          <p:cNvPr id="56" name="Rectangle 55"/>
          <p:cNvSpPr/>
          <p:nvPr/>
        </p:nvSpPr>
        <p:spPr>
          <a:xfrm>
            <a:off x="429768" y="4078224"/>
            <a:ext cx="11018520" cy="310896"/>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4105656"/>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0" i="0">
                <a:solidFill>
                  <a:srgbClr val="263746"/>
                </a:solidFill>
                <a:latin typeface="Arial"/>
              </a:rPr>
              <a:t>Soleus</a:t>
            </a:r>
          </a:p>
        </p:txBody>
      </p:sp>
      <p:sp>
        <p:nvSpPr>
          <p:cNvPr id="58" name="TextBox 57"/>
          <p:cNvSpPr txBox="1"/>
          <p:nvPr/>
        </p:nvSpPr>
        <p:spPr>
          <a:xfrm>
            <a:off x="2798064" y="4096511"/>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59" name="TextBox 58"/>
          <p:cNvSpPr txBox="1"/>
          <p:nvPr/>
        </p:nvSpPr>
        <p:spPr>
          <a:xfrm>
            <a:off x="5751576" y="4096511"/>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60" name="Rectangle 59"/>
          <p:cNvSpPr/>
          <p:nvPr/>
        </p:nvSpPr>
        <p:spPr>
          <a:xfrm>
            <a:off x="8705088" y="4110228"/>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741663" y="4114800"/>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5 | 0 promoted, 5 reinforced</a:t>
            </a:r>
          </a:p>
        </p:txBody>
      </p:sp>
      <p:sp>
        <p:nvSpPr>
          <p:cNvPr id="62" name="Rectangle 61"/>
          <p:cNvSpPr/>
          <p:nvPr/>
        </p:nvSpPr>
        <p:spPr>
          <a:xfrm>
            <a:off x="429768" y="4407408"/>
            <a:ext cx="1101852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4434840"/>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0" i="0">
                <a:solidFill>
                  <a:srgbClr val="263746"/>
                </a:solidFill>
                <a:latin typeface="Arial"/>
              </a:rPr>
              <a:t>Kidney</a:t>
            </a:r>
          </a:p>
        </p:txBody>
      </p:sp>
      <p:sp>
        <p:nvSpPr>
          <p:cNvPr id="64" name="TextBox 63"/>
          <p:cNvSpPr txBox="1"/>
          <p:nvPr/>
        </p:nvSpPr>
        <p:spPr>
          <a:xfrm>
            <a:off x="2798064" y="4425696"/>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65" name="TextBox 64"/>
          <p:cNvSpPr txBox="1"/>
          <p:nvPr/>
        </p:nvSpPr>
        <p:spPr>
          <a:xfrm>
            <a:off x="5751576" y="4425696"/>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66" name="Rectangle 65"/>
          <p:cNvSpPr/>
          <p:nvPr/>
        </p:nvSpPr>
        <p:spPr>
          <a:xfrm>
            <a:off x="8705088" y="4439412"/>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1663" y="4443984"/>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2 | 1 promoted, 1 reinforced</a:t>
            </a:r>
          </a:p>
        </p:txBody>
      </p:sp>
      <p:sp>
        <p:nvSpPr>
          <p:cNvPr id="68" name="Rectangle 67"/>
          <p:cNvSpPr/>
          <p:nvPr/>
        </p:nvSpPr>
        <p:spPr>
          <a:xfrm>
            <a:off x="429768" y="4736592"/>
            <a:ext cx="11018520" cy="310896"/>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02920" y="4764024"/>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0" i="0">
                <a:solidFill>
                  <a:srgbClr val="263746"/>
                </a:solidFill>
                <a:latin typeface="Arial"/>
              </a:rPr>
              <a:t>Tibialis anterior</a:t>
            </a:r>
          </a:p>
        </p:txBody>
      </p:sp>
      <p:sp>
        <p:nvSpPr>
          <p:cNvPr id="70" name="TextBox 69"/>
          <p:cNvSpPr txBox="1"/>
          <p:nvPr/>
        </p:nvSpPr>
        <p:spPr>
          <a:xfrm>
            <a:off x="2798064" y="4754879"/>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71" name="TextBox 70"/>
          <p:cNvSpPr txBox="1"/>
          <p:nvPr/>
        </p:nvSpPr>
        <p:spPr>
          <a:xfrm>
            <a:off x="5751576" y="4754879"/>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72" name="Rectangle 71"/>
          <p:cNvSpPr/>
          <p:nvPr/>
        </p:nvSpPr>
        <p:spPr>
          <a:xfrm>
            <a:off x="8705088" y="4768596"/>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741663" y="4773168"/>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4 | 1 promoted, 3 reinforced</a:t>
            </a:r>
          </a:p>
        </p:txBody>
      </p:sp>
      <p:sp>
        <p:nvSpPr>
          <p:cNvPr id="74" name="Rectangle 73"/>
          <p:cNvSpPr/>
          <p:nvPr/>
        </p:nvSpPr>
        <p:spPr>
          <a:xfrm>
            <a:off x="429768" y="5065776"/>
            <a:ext cx="1101852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02920" y="5093208"/>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0" i="0">
                <a:solidFill>
                  <a:srgbClr val="263746"/>
                </a:solidFill>
                <a:latin typeface="Arial"/>
              </a:rPr>
              <a:t>Gastrocnemius</a:t>
            </a:r>
          </a:p>
        </p:txBody>
      </p:sp>
      <p:sp>
        <p:nvSpPr>
          <p:cNvPr id="76" name="TextBox 75"/>
          <p:cNvSpPr txBox="1"/>
          <p:nvPr/>
        </p:nvSpPr>
        <p:spPr>
          <a:xfrm>
            <a:off x="2798064" y="5084064"/>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77" name="TextBox 76"/>
          <p:cNvSpPr txBox="1"/>
          <p:nvPr/>
        </p:nvSpPr>
        <p:spPr>
          <a:xfrm>
            <a:off x="5751576" y="5084064"/>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78" name="Rectangle 77"/>
          <p:cNvSpPr/>
          <p:nvPr/>
        </p:nvSpPr>
        <p:spPr>
          <a:xfrm>
            <a:off x="8705088" y="5097780"/>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741663" y="5102352"/>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2 | 2 promoted, 0 reinforced</a:t>
            </a:r>
          </a:p>
        </p:txBody>
      </p:sp>
      <p:sp>
        <p:nvSpPr>
          <p:cNvPr id="80" name="Rectangle 79"/>
          <p:cNvSpPr/>
          <p:nvPr/>
        </p:nvSpPr>
        <p:spPr>
          <a:xfrm>
            <a:off x="429768" y="5394960"/>
            <a:ext cx="11018520" cy="310896"/>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02920" y="5422392"/>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0" i="0">
                <a:solidFill>
                  <a:srgbClr val="263746"/>
                </a:solidFill>
                <a:latin typeface="Arial"/>
              </a:rPr>
              <a:t>Adrenal gland</a:t>
            </a:r>
          </a:p>
        </p:txBody>
      </p:sp>
      <p:sp>
        <p:nvSpPr>
          <p:cNvPr id="82" name="TextBox 81"/>
          <p:cNvSpPr txBox="1"/>
          <p:nvPr/>
        </p:nvSpPr>
        <p:spPr>
          <a:xfrm>
            <a:off x="2798064" y="5413248"/>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83" name="TextBox 82"/>
          <p:cNvSpPr txBox="1"/>
          <p:nvPr/>
        </p:nvSpPr>
        <p:spPr>
          <a:xfrm>
            <a:off x="5751576" y="5413248"/>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84" name="Rectangle 83"/>
          <p:cNvSpPr/>
          <p:nvPr/>
        </p:nvSpPr>
        <p:spPr>
          <a:xfrm>
            <a:off x="8705088" y="5426964"/>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741663" y="5431536"/>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2 | 1 promoted, 1 reinforced</a:t>
            </a:r>
          </a:p>
        </p:txBody>
      </p:sp>
      <p:sp>
        <p:nvSpPr>
          <p:cNvPr id="86" name="Rectangle 85"/>
          <p:cNvSpPr/>
          <p:nvPr/>
        </p:nvSpPr>
        <p:spPr>
          <a:xfrm>
            <a:off x="429768" y="5724144"/>
            <a:ext cx="11018520"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02920" y="5751576"/>
            <a:ext cx="2011680" cy="265176"/>
          </a:xfrm>
          <a:prstGeom prst="rect">
            <a:avLst/>
          </a:prstGeom>
          <a:noFill/>
        </p:spPr>
        <p:txBody>
          <a:bodyPr wrap="square" lIns="0" rIns="0" tIns="0" bIns="0" anchor="ctr">
            <a:spAutoFit/>
          </a:bodyPr>
          <a:lstStyle/>
          <a:p>
            <a:pPr algn="l">
              <a:lnSpc>
                <a:spcPct val="100000"/>
              </a:lnSpc>
              <a:spcBef>
                <a:spcPts val="0"/>
              </a:spcBef>
              <a:spcAft>
                <a:spcPts val="0"/>
              </a:spcAft>
            </a:pPr>
            <a:r>
              <a:rPr sz="1050" b="0" i="0">
                <a:solidFill>
                  <a:srgbClr val="263746"/>
                </a:solidFill>
                <a:latin typeface="Arial"/>
              </a:rPr>
              <a:t>Eye</a:t>
            </a:r>
          </a:p>
        </p:txBody>
      </p:sp>
      <p:sp>
        <p:nvSpPr>
          <p:cNvPr id="88" name="TextBox 87"/>
          <p:cNvSpPr txBox="1"/>
          <p:nvPr/>
        </p:nvSpPr>
        <p:spPr>
          <a:xfrm>
            <a:off x="2798064" y="5742431"/>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89" name="TextBox 88"/>
          <p:cNvSpPr txBox="1"/>
          <p:nvPr/>
        </p:nvSpPr>
        <p:spPr>
          <a:xfrm>
            <a:off x="5751576" y="5742431"/>
            <a:ext cx="2706624" cy="274320"/>
          </a:xfrm>
          <a:prstGeom prst="rect">
            <a:avLst/>
          </a:prstGeom>
          <a:noFill/>
        </p:spPr>
        <p:txBody>
          <a:bodyPr wrap="square" lIns="0" rIns="0" tIns="0" bIns="0" anchor="ctr">
            <a:spAutoFit/>
          </a:bodyPr>
          <a:lstStyle/>
          <a:p>
            <a:pPr algn="ctr">
              <a:lnSpc>
                <a:spcPct val="100000"/>
              </a:lnSpc>
              <a:spcBef>
                <a:spcPts val="0"/>
              </a:spcBef>
              <a:spcAft>
                <a:spcPts val="0"/>
              </a:spcAft>
            </a:pPr>
            <a:r>
              <a:rPr sz="1100" b="0" i="0">
                <a:solidFill>
                  <a:srgbClr val="B3BDC3"/>
                </a:solidFill>
                <a:latin typeface="Arial"/>
              </a:rPr>
              <a:t>-</a:t>
            </a:r>
          </a:p>
        </p:txBody>
      </p:sp>
      <p:sp>
        <p:nvSpPr>
          <p:cNvPr id="90" name="Rectangle 89"/>
          <p:cNvSpPr/>
          <p:nvPr/>
        </p:nvSpPr>
        <p:spPr>
          <a:xfrm>
            <a:off x="8705088" y="5756148"/>
            <a:ext cx="2706624" cy="246888"/>
          </a:xfrm>
          <a:prstGeom prst="rect">
            <a:avLst/>
          </a:prstGeom>
          <a:solidFill>
            <a:srgbClr val="E9F1F7"/>
          </a:solidFill>
          <a:ln w="10160">
            <a:solidFill>
              <a:srgbClr val="E9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741663" y="5760720"/>
            <a:ext cx="2633472" cy="237744"/>
          </a:xfrm>
          <a:prstGeom prst="rect">
            <a:avLst/>
          </a:prstGeom>
          <a:noFill/>
        </p:spPr>
        <p:txBody>
          <a:bodyPr wrap="square" lIns="0" rIns="0" tIns="0" bIns="0" anchor="ctr">
            <a:spAutoFit/>
          </a:bodyPr>
          <a:lstStyle/>
          <a:p>
            <a:pPr algn="ctr">
              <a:lnSpc>
                <a:spcPct val="100000"/>
              </a:lnSpc>
              <a:spcBef>
                <a:spcPts val="0"/>
              </a:spcBef>
              <a:spcAft>
                <a:spcPts val="0"/>
              </a:spcAft>
            </a:pPr>
            <a:r>
              <a:rPr sz="930" b="1" i="0">
                <a:solidFill>
                  <a:srgbClr val="2D6496"/>
                </a:solidFill>
                <a:latin typeface="Arial"/>
              </a:rPr>
              <a:t>1 | 0 promoted, 1 reinforced</a:t>
            </a:r>
          </a:p>
        </p:txBody>
      </p:sp>
      <p:sp>
        <p:nvSpPr>
          <p:cNvPr id="92" name="TextBox 91"/>
          <p:cNvSpPr txBox="1"/>
          <p:nvPr/>
        </p:nvSpPr>
        <p:spPr>
          <a:xfrm>
            <a:off x="548640" y="6190488"/>
            <a:ext cx="1993392" cy="182880"/>
          </a:xfrm>
          <a:prstGeom prst="rect">
            <a:avLst/>
          </a:prstGeom>
          <a:noFill/>
        </p:spPr>
        <p:txBody>
          <a:bodyPr wrap="square" lIns="0" rIns="0" tIns="0" bIns="0" anchor="t">
            <a:spAutoFit/>
          </a:bodyPr>
          <a:lstStyle/>
          <a:p>
            <a:pPr algn="l">
              <a:lnSpc>
                <a:spcPct val="100000"/>
              </a:lnSpc>
              <a:spcBef>
                <a:spcPts val="0"/>
              </a:spcBef>
              <a:spcAft>
                <a:spcPts val="0"/>
              </a:spcAft>
            </a:pPr>
            <a:r>
              <a:rPr sz="850" b="1" i="0">
                <a:solidFill>
                  <a:srgbClr val="178681"/>
                </a:solidFill>
                <a:latin typeface="Arial"/>
              </a:rPr>
              <a:t>FOUND BY ALL THREE</a:t>
            </a:r>
          </a:p>
        </p:txBody>
      </p:sp>
      <p:sp>
        <p:nvSpPr>
          <p:cNvPr id="93" name="TextBox 92"/>
          <p:cNvSpPr txBox="1"/>
          <p:nvPr/>
        </p:nvSpPr>
        <p:spPr>
          <a:xfrm>
            <a:off x="2788920" y="6153912"/>
            <a:ext cx="8577072" cy="237744"/>
          </a:xfrm>
          <a:prstGeom prst="rect">
            <a:avLst/>
          </a:prstGeom>
          <a:noFill/>
        </p:spPr>
        <p:txBody>
          <a:bodyPr wrap="square" lIns="0" rIns="0" tIns="0" bIns="0" anchor="t">
            <a:spAutoFit/>
          </a:bodyPr>
          <a:lstStyle/>
          <a:p>
            <a:pPr algn="r">
              <a:lnSpc>
                <a:spcPct val="100000"/>
              </a:lnSpc>
              <a:spcBef>
                <a:spcPts val="0"/>
              </a:spcBef>
              <a:spcAft>
                <a:spcPts val="0"/>
              </a:spcAft>
            </a:pPr>
            <a:r>
              <a:rPr sz="1080" b="0" i="0">
                <a:solidFill>
                  <a:srgbClr val="59697A"/>
                </a:solidFill>
                <a:latin typeface="Arial"/>
              </a:rPr>
              <a:t>Results below the divider came from one analysis.</a:t>
            </a:r>
          </a:p>
        </p:txBody>
      </p:sp>
      <p:sp>
        <p:nvSpPr>
          <p:cNvPr id="94" name="TextBox 93"/>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Counts refer to tissue-feature associations. Genes and pathways are different evidence units.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LITERATURE REVIEW</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Feature selection and literature review answer separate questions</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Selection compares classifiers. Literature review compares each candidate with prior evidence.</a:t>
            </a:r>
          </a:p>
        </p:txBody>
      </p:sp>
      <p:sp>
        <p:nvSpPr>
          <p:cNvPr id="7" name="TextBox 6"/>
          <p:cNvSpPr txBox="1"/>
          <p:nvPr/>
        </p:nvSpPr>
        <p:spPr>
          <a:xfrm>
            <a:off x="502920" y="1984248"/>
            <a:ext cx="1408176" cy="182880"/>
          </a:xfrm>
          <a:prstGeom prst="rect">
            <a:avLst/>
          </a:prstGeom>
          <a:noFill/>
        </p:spPr>
        <p:txBody>
          <a:bodyPr wrap="square" lIns="0" rIns="0" tIns="0" bIns="0" anchor="t">
            <a:spAutoFit/>
          </a:bodyPr>
          <a:lstStyle/>
          <a:p>
            <a:pPr algn="l">
              <a:lnSpc>
                <a:spcPct val="100000"/>
              </a:lnSpc>
              <a:spcBef>
                <a:spcPts val="0"/>
              </a:spcBef>
              <a:spcAft>
                <a:spcPts val="0"/>
              </a:spcAft>
            </a:pPr>
            <a:r>
              <a:rPr sz="869" b="1" i="0">
                <a:solidFill>
                  <a:srgbClr val="2D6496"/>
                </a:solidFill>
                <a:latin typeface="Arial"/>
              </a:rPr>
              <a:t>MODEL COMPARISON</a:t>
            </a:r>
          </a:p>
        </p:txBody>
      </p:sp>
      <p:sp>
        <p:nvSpPr>
          <p:cNvPr id="8" name="Rectangle 7"/>
          <p:cNvSpPr/>
          <p:nvPr/>
        </p:nvSpPr>
        <p:spPr>
          <a:xfrm>
            <a:off x="1993392" y="1874519"/>
            <a:ext cx="2487168" cy="438912"/>
          </a:xfrm>
          <a:prstGeom prst="rect">
            <a:avLst/>
          </a:prstGeom>
          <a:solidFill>
            <a:srgbClr val="FFFFFF"/>
          </a:solidFill>
          <a:ln w="101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66544" y="1938527"/>
            <a:ext cx="2340864" cy="292608"/>
          </a:xfrm>
          <a:prstGeom prst="rect">
            <a:avLst/>
          </a:prstGeom>
          <a:noFill/>
        </p:spPr>
        <p:txBody>
          <a:bodyPr wrap="square" lIns="0" rIns="0" tIns="0" bIns="0" anchor="ctr">
            <a:spAutoFit/>
          </a:bodyPr>
          <a:lstStyle/>
          <a:p>
            <a:pPr algn="ctr">
              <a:lnSpc>
                <a:spcPct val="100000"/>
              </a:lnSpc>
              <a:spcBef>
                <a:spcPts val="0"/>
              </a:spcBef>
              <a:spcAft>
                <a:spcPts val="0"/>
              </a:spcAft>
            </a:pPr>
            <a:r>
              <a:rPr sz="1060" b="0" i="0">
                <a:solidFill>
                  <a:srgbClr val="263746"/>
                </a:solidFill>
                <a:latin typeface="Arial"/>
              </a:rPr>
              <a:t>Real-only importance</a:t>
            </a:r>
          </a:p>
        </p:txBody>
      </p:sp>
      <p:sp>
        <p:nvSpPr>
          <p:cNvPr id="10" name="Right Arrow 9"/>
          <p:cNvSpPr/>
          <p:nvPr/>
        </p:nvSpPr>
        <p:spPr>
          <a:xfrm>
            <a:off x="4599432" y="2011679"/>
            <a:ext cx="320039" cy="164592"/>
          </a:xfrm>
          <a:prstGeom prst="rightArrow">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38344" y="1874519"/>
            <a:ext cx="2331720" cy="438912"/>
          </a:xfrm>
          <a:prstGeom prst="rect">
            <a:avLst/>
          </a:prstGeom>
          <a:solidFill>
            <a:srgbClr val="FFFFFF"/>
          </a:solidFill>
          <a:ln w="101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11496" y="1938527"/>
            <a:ext cx="2185415" cy="292608"/>
          </a:xfrm>
          <a:prstGeom prst="rect">
            <a:avLst/>
          </a:prstGeom>
          <a:noFill/>
        </p:spPr>
        <p:txBody>
          <a:bodyPr wrap="square" lIns="0" rIns="0" tIns="0" bIns="0" anchor="ctr">
            <a:spAutoFit/>
          </a:bodyPr>
          <a:lstStyle/>
          <a:p>
            <a:pPr algn="ctr">
              <a:lnSpc>
                <a:spcPct val="100000"/>
              </a:lnSpc>
              <a:spcBef>
                <a:spcPts val="0"/>
              </a:spcBef>
              <a:spcAft>
                <a:spcPts val="0"/>
              </a:spcAft>
            </a:pPr>
            <a:r>
              <a:rPr sz="1060" b="0" i="0">
                <a:solidFill>
                  <a:srgbClr val="263746"/>
                </a:solidFill>
                <a:latin typeface="Arial"/>
              </a:rPr>
              <a:t>Real + synthetic importance</a:t>
            </a:r>
          </a:p>
        </p:txBody>
      </p:sp>
      <p:sp>
        <p:nvSpPr>
          <p:cNvPr id="13" name="Right Arrow 12"/>
          <p:cNvSpPr/>
          <p:nvPr/>
        </p:nvSpPr>
        <p:spPr>
          <a:xfrm>
            <a:off x="7488936" y="2011679"/>
            <a:ext cx="320040" cy="164592"/>
          </a:xfrm>
          <a:prstGeom prst="rightArrow">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27848" y="1874519"/>
            <a:ext cx="2962656" cy="438912"/>
          </a:xfrm>
          <a:prstGeom prst="rect">
            <a:avLst/>
          </a:prstGeom>
          <a:solidFill>
            <a:srgbClr val="FFFFFF"/>
          </a:solidFill>
          <a:ln w="10160">
            <a:solidFill>
              <a:srgbClr val="2D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1938527"/>
            <a:ext cx="2816352" cy="292608"/>
          </a:xfrm>
          <a:prstGeom prst="rect">
            <a:avLst/>
          </a:prstGeom>
          <a:noFill/>
        </p:spPr>
        <p:txBody>
          <a:bodyPr wrap="square" lIns="0" rIns="0" tIns="0" bIns="0" anchor="ctr">
            <a:spAutoFit/>
          </a:bodyPr>
          <a:lstStyle/>
          <a:p>
            <a:pPr algn="ctr">
              <a:lnSpc>
                <a:spcPct val="100000"/>
              </a:lnSpc>
              <a:spcBef>
                <a:spcPts val="0"/>
              </a:spcBef>
              <a:spcAft>
                <a:spcPts val="0"/>
              </a:spcAft>
            </a:pPr>
            <a:r>
              <a:rPr sz="1060" b="1" i="0">
                <a:solidFill>
                  <a:srgbClr val="263746"/>
                </a:solidFill>
                <a:latin typeface="Arial"/>
              </a:rPr>
              <a:t>Promoted or reinforced</a:t>
            </a:r>
          </a:p>
        </p:txBody>
      </p:sp>
      <p:sp>
        <p:nvSpPr>
          <p:cNvPr id="16" name="TextBox 15"/>
          <p:cNvSpPr txBox="1"/>
          <p:nvPr/>
        </p:nvSpPr>
        <p:spPr>
          <a:xfrm>
            <a:off x="502920" y="2560320"/>
            <a:ext cx="1408176" cy="182880"/>
          </a:xfrm>
          <a:prstGeom prst="rect">
            <a:avLst/>
          </a:prstGeom>
          <a:noFill/>
        </p:spPr>
        <p:txBody>
          <a:bodyPr wrap="square" lIns="0" rIns="0" tIns="0" bIns="0" anchor="t">
            <a:spAutoFit/>
          </a:bodyPr>
          <a:lstStyle/>
          <a:p>
            <a:pPr algn="l">
              <a:lnSpc>
                <a:spcPct val="100000"/>
              </a:lnSpc>
              <a:spcBef>
                <a:spcPts val="0"/>
              </a:spcBef>
              <a:spcAft>
                <a:spcPts val="0"/>
              </a:spcAft>
            </a:pPr>
            <a:r>
              <a:rPr sz="869" b="1" i="0">
                <a:solidFill>
                  <a:srgbClr val="9A6B20"/>
                </a:solidFill>
                <a:latin typeface="Arial"/>
              </a:rPr>
              <a:t>EVIDENCE REVIEW</a:t>
            </a:r>
          </a:p>
        </p:txBody>
      </p:sp>
      <p:sp>
        <p:nvSpPr>
          <p:cNvPr id="17" name="Rectangle 16"/>
          <p:cNvSpPr/>
          <p:nvPr/>
        </p:nvSpPr>
        <p:spPr>
          <a:xfrm>
            <a:off x="1993392" y="2450592"/>
            <a:ext cx="2487168" cy="438912"/>
          </a:xfrm>
          <a:prstGeom prst="rect">
            <a:avLst/>
          </a:prstGeom>
          <a:solidFill>
            <a:srgbClr val="FFFFFF"/>
          </a:solidFill>
          <a:ln w="10160">
            <a:solidFill>
              <a:srgbClr val="9A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66544" y="2514600"/>
            <a:ext cx="2340864" cy="292608"/>
          </a:xfrm>
          <a:prstGeom prst="rect">
            <a:avLst/>
          </a:prstGeom>
          <a:noFill/>
        </p:spPr>
        <p:txBody>
          <a:bodyPr wrap="square" lIns="0" rIns="0" tIns="0" bIns="0" anchor="ctr">
            <a:spAutoFit/>
          </a:bodyPr>
          <a:lstStyle/>
          <a:p>
            <a:pPr algn="ctr">
              <a:lnSpc>
                <a:spcPct val="100000"/>
              </a:lnSpc>
              <a:spcBef>
                <a:spcPts val="0"/>
              </a:spcBef>
              <a:spcAft>
                <a:spcPts val="0"/>
              </a:spcAft>
            </a:pPr>
            <a:r>
              <a:rPr sz="1060" b="0" i="0">
                <a:solidFill>
                  <a:srgbClr val="263746"/>
                </a:solidFill>
                <a:latin typeface="Arial"/>
              </a:rPr>
              <a:t>Candidate + tissue + direction</a:t>
            </a:r>
          </a:p>
        </p:txBody>
      </p:sp>
      <p:sp>
        <p:nvSpPr>
          <p:cNvPr id="19" name="Right Arrow 18"/>
          <p:cNvSpPr/>
          <p:nvPr/>
        </p:nvSpPr>
        <p:spPr>
          <a:xfrm>
            <a:off x="4599432" y="2587752"/>
            <a:ext cx="320039" cy="164592"/>
          </a:xfrm>
          <a:prstGeom prst="rightArrow">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38344" y="2450592"/>
            <a:ext cx="2331720" cy="438912"/>
          </a:xfrm>
          <a:prstGeom prst="rect">
            <a:avLst/>
          </a:prstGeom>
          <a:solidFill>
            <a:srgbClr val="FFFFFF"/>
          </a:solidFill>
          <a:ln w="10160">
            <a:solidFill>
              <a:srgbClr val="9A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11496" y="2514600"/>
            <a:ext cx="2185415" cy="292608"/>
          </a:xfrm>
          <a:prstGeom prst="rect">
            <a:avLst/>
          </a:prstGeom>
          <a:noFill/>
        </p:spPr>
        <p:txBody>
          <a:bodyPr wrap="square" lIns="0" rIns="0" tIns="0" bIns="0" anchor="ctr">
            <a:spAutoFit/>
          </a:bodyPr>
          <a:lstStyle/>
          <a:p>
            <a:pPr algn="ctr">
              <a:lnSpc>
                <a:spcPct val="100000"/>
              </a:lnSpc>
              <a:spcBef>
                <a:spcPts val="0"/>
              </a:spcBef>
              <a:spcAft>
                <a:spcPts val="0"/>
              </a:spcAft>
            </a:pPr>
            <a:r>
              <a:rPr sz="1060" b="0" i="0">
                <a:solidFill>
                  <a:srgbClr val="263746"/>
                </a:solidFill>
                <a:latin typeface="Arial"/>
              </a:rPr>
              <a:t>Search prior studies</a:t>
            </a:r>
          </a:p>
        </p:txBody>
      </p:sp>
      <p:sp>
        <p:nvSpPr>
          <p:cNvPr id="22" name="Right Arrow 21"/>
          <p:cNvSpPr/>
          <p:nvPr/>
        </p:nvSpPr>
        <p:spPr>
          <a:xfrm>
            <a:off x="7488936" y="2587752"/>
            <a:ext cx="320040" cy="164592"/>
          </a:xfrm>
          <a:prstGeom prst="rightArrow">
            <a:avLst/>
          </a:prstGeom>
          <a:solidFill>
            <a:srgbClr val="9A6B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8" y="2450592"/>
            <a:ext cx="2962656" cy="438912"/>
          </a:xfrm>
          <a:prstGeom prst="rect">
            <a:avLst/>
          </a:prstGeom>
          <a:solidFill>
            <a:srgbClr val="FFFFFF"/>
          </a:solidFill>
          <a:ln w="10160">
            <a:solidFill>
              <a:srgbClr val="9A6B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2514600"/>
            <a:ext cx="2816352" cy="292608"/>
          </a:xfrm>
          <a:prstGeom prst="rect">
            <a:avLst/>
          </a:prstGeom>
          <a:noFill/>
        </p:spPr>
        <p:txBody>
          <a:bodyPr wrap="square" lIns="0" rIns="0" tIns="0" bIns="0" anchor="ctr">
            <a:spAutoFit/>
          </a:bodyPr>
          <a:lstStyle/>
          <a:p>
            <a:pPr algn="ctr">
              <a:lnSpc>
                <a:spcPct val="100000"/>
              </a:lnSpc>
              <a:spcBef>
                <a:spcPts val="0"/>
              </a:spcBef>
              <a:spcAft>
                <a:spcPts val="0"/>
              </a:spcAft>
            </a:pPr>
            <a:r>
              <a:rPr sz="1060" b="1" i="0">
                <a:solidFill>
                  <a:srgbClr val="263746"/>
                </a:solidFill>
                <a:latin typeface="Arial"/>
              </a:rPr>
              <a:t>Evidence category</a:t>
            </a:r>
          </a:p>
        </p:txBody>
      </p:sp>
      <p:sp>
        <p:nvSpPr>
          <p:cNvPr id="25" name="TextBox 24"/>
          <p:cNvSpPr txBox="1"/>
          <p:nvPr/>
        </p:nvSpPr>
        <p:spPr>
          <a:xfrm>
            <a:off x="530352" y="3136392"/>
            <a:ext cx="6309360" cy="283464"/>
          </a:xfrm>
          <a:prstGeom prst="rect">
            <a:avLst/>
          </a:prstGeom>
          <a:noFill/>
        </p:spPr>
        <p:txBody>
          <a:bodyPr wrap="square" lIns="0" rIns="0" tIns="0" bIns="0" anchor="t">
            <a:spAutoFit/>
          </a:bodyPr>
          <a:lstStyle/>
          <a:p>
            <a:pPr algn="l">
              <a:lnSpc>
                <a:spcPct val="100000"/>
              </a:lnSpc>
              <a:spcBef>
                <a:spcPts val="0"/>
              </a:spcBef>
              <a:spcAft>
                <a:spcPts val="0"/>
              </a:spcAft>
            </a:pPr>
            <a:r>
              <a:rPr sz="1650" b="1" i="0">
                <a:solidFill>
                  <a:srgbClr val="082B55"/>
                </a:solidFill>
                <a:latin typeface="Arial"/>
              </a:rPr>
              <a:t>Literature classifications among retained candidates</a:t>
            </a:r>
          </a:p>
        </p:txBody>
      </p:sp>
      <p:sp>
        <p:nvSpPr>
          <p:cNvPr id="26" name="TextBox 25"/>
          <p:cNvSpPr txBox="1"/>
          <p:nvPr/>
        </p:nvSpPr>
        <p:spPr>
          <a:xfrm>
            <a:off x="548640" y="3611880"/>
            <a:ext cx="1938528" cy="301752"/>
          </a:xfrm>
          <a:prstGeom prst="rect">
            <a:avLst/>
          </a:prstGeom>
          <a:noFill/>
        </p:spPr>
        <p:txBody>
          <a:bodyPr wrap="square" lIns="0" rIns="0" tIns="0" bIns="0" anchor="ctr">
            <a:spAutoFit/>
          </a:bodyPr>
          <a:lstStyle/>
          <a:p>
            <a:pPr algn="l">
              <a:lnSpc>
                <a:spcPct val="100000"/>
              </a:lnSpc>
              <a:spcBef>
                <a:spcPts val="0"/>
              </a:spcBef>
              <a:spcAft>
                <a:spcPts val="0"/>
              </a:spcAft>
            </a:pPr>
            <a:r>
              <a:rPr sz="1350" b="1" i="0">
                <a:solidFill>
                  <a:srgbClr val="082B55"/>
                </a:solidFill>
                <a:latin typeface="Arial"/>
              </a:rPr>
              <a:t>Individual genes</a:t>
            </a:r>
          </a:p>
        </p:txBody>
      </p:sp>
      <p:sp>
        <p:nvSpPr>
          <p:cNvPr id="27" name="TextBox 26"/>
          <p:cNvSpPr txBox="1"/>
          <p:nvPr/>
        </p:nvSpPr>
        <p:spPr>
          <a:xfrm>
            <a:off x="2212848" y="3621024"/>
            <a:ext cx="612648" cy="283464"/>
          </a:xfrm>
          <a:prstGeom prst="rect">
            <a:avLst/>
          </a:prstGeom>
          <a:noFill/>
        </p:spPr>
        <p:txBody>
          <a:bodyPr wrap="square" lIns="0" rIns="0" tIns="0" bIns="0" anchor="ctr">
            <a:spAutoFit/>
          </a:bodyPr>
          <a:lstStyle/>
          <a:p>
            <a:pPr algn="r">
              <a:lnSpc>
                <a:spcPct val="100000"/>
              </a:lnSpc>
              <a:spcBef>
                <a:spcPts val="0"/>
              </a:spcBef>
              <a:spcAft>
                <a:spcPts val="0"/>
              </a:spcAft>
            </a:pPr>
            <a:r>
              <a:rPr sz="1000" b="0" i="0">
                <a:solidFill>
                  <a:srgbClr val="59697A"/>
                </a:solidFill>
                <a:latin typeface="Arial"/>
              </a:rPr>
              <a:t>n = 21</a:t>
            </a:r>
          </a:p>
        </p:txBody>
      </p:sp>
      <p:sp>
        <p:nvSpPr>
          <p:cNvPr id="28" name="Rectangle 27"/>
          <p:cNvSpPr/>
          <p:nvPr/>
        </p:nvSpPr>
        <p:spPr>
          <a:xfrm>
            <a:off x="2971800" y="3575304"/>
            <a:ext cx="3174274" cy="393192"/>
          </a:xfrm>
          <a:prstGeom prst="rect">
            <a:avLst/>
          </a:prstGeom>
          <a:solidFill>
            <a:srgbClr val="478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71800" y="3593592"/>
            <a:ext cx="3174274"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9</a:t>
            </a:r>
          </a:p>
        </p:txBody>
      </p:sp>
      <p:sp>
        <p:nvSpPr>
          <p:cNvPr id="30" name="Rectangle 29"/>
          <p:cNvSpPr/>
          <p:nvPr/>
        </p:nvSpPr>
        <p:spPr>
          <a:xfrm>
            <a:off x="6146074" y="3575304"/>
            <a:ext cx="3174274" cy="393192"/>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46074" y="3593592"/>
            <a:ext cx="3174274"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9</a:t>
            </a:r>
          </a:p>
        </p:txBody>
      </p:sp>
      <p:sp>
        <p:nvSpPr>
          <p:cNvPr id="32" name="Rectangle 31"/>
          <p:cNvSpPr/>
          <p:nvPr/>
        </p:nvSpPr>
        <p:spPr>
          <a:xfrm>
            <a:off x="9320348" y="3575304"/>
            <a:ext cx="352697" cy="393192"/>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0348" y="3593592"/>
            <a:ext cx="352697"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1</a:t>
            </a:r>
          </a:p>
        </p:txBody>
      </p:sp>
      <p:sp>
        <p:nvSpPr>
          <p:cNvPr id="34" name="Rectangle 33"/>
          <p:cNvSpPr/>
          <p:nvPr/>
        </p:nvSpPr>
        <p:spPr>
          <a:xfrm>
            <a:off x="9673045" y="3575304"/>
            <a:ext cx="705394" cy="393192"/>
          </a:xfrm>
          <a:prstGeom prst="rect">
            <a:avLst/>
          </a:prstGeom>
          <a:solidFill>
            <a:srgbClr val="806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73045" y="3593592"/>
            <a:ext cx="705394"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2</a:t>
            </a:r>
          </a:p>
        </p:txBody>
      </p:sp>
      <p:sp>
        <p:nvSpPr>
          <p:cNvPr id="36" name="TextBox 35"/>
          <p:cNvSpPr txBox="1"/>
          <p:nvPr/>
        </p:nvSpPr>
        <p:spPr>
          <a:xfrm>
            <a:off x="548640" y="4242816"/>
            <a:ext cx="1938528" cy="301752"/>
          </a:xfrm>
          <a:prstGeom prst="rect">
            <a:avLst/>
          </a:prstGeom>
          <a:noFill/>
        </p:spPr>
        <p:txBody>
          <a:bodyPr wrap="square" lIns="0" rIns="0" tIns="0" bIns="0" anchor="ctr">
            <a:spAutoFit/>
          </a:bodyPr>
          <a:lstStyle/>
          <a:p>
            <a:pPr algn="l">
              <a:lnSpc>
                <a:spcPct val="100000"/>
              </a:lnSpc>
              <a:spcBef>
                <a:spcPts val="0"/>
              </a:spcBef>
              <a:spcAft>
                <a:spcPts val="0"/>
              </a:spcAft>
            </a:pPr>
            <a:r>
              <a:rPr sz="1350" b="1" i="0">
                <a:solidFill>
                  <a:srgbClr val="082B55"/>
                </a:solidFill>
                <a:latin typeface="Arial"/>
              </a:rPr>
              <a:t>Reactome groups</a:t>
            </a:r>
          </a:p>
        </p:txBody>
      </p:sp>
      <p:sp>
        <p:nvSpPr>
          <p:cNvPr id="37" name="TextBox 36"/>
          <p:cNvSpPr txBox="1"/>
          <p:nvPr/>
        </p:nvSpPr>
        <p:spPr>
          <a:xfrm>
            <a:off x="2212848" y="4251959"/>
            <a:ext cx="612648" cy="283464"/>
          </a:xfrm>
          <a:prstGeom prst="rect">
            <a:avLst/>
          </a:prstGeom>
          <a:noFill/>
        </p:spPr>
        <p:txBody>
          <a:bodyPr wrap="square" lIns="0" rIns="0" tIns="0" bIns="0" anchor="ctr">
            <a:spAutoFit/>
          </a:bodyPr>
          <a:lstStyle/>
          <a:p>
            <a:pPr algn="r">
              <a:lnSpc>
                <a:spcPct val="100000"/>
              </a:lnSpc>
              <a:spcBef>
                <a:spcPts val="0"/>
              </a:spcBef>
              <a:spcAft>
                <a:spcPts val="0"/>
              </a:spcAft>
            </a:pPr>
            <a:r>
              <a:rPr sz="1000" b="0" i="0">
                <a:solidFill>
                  <a:srgbClr val="59697A"/>
                </a:solidFill>
                <a:latin typeface="Arial"/>
              </a:rPr>
              <a:t>n = 10</a:t>
            </a:r>
          </a:p>
        </p:txBody>
      </p:sp>
      <p:sp>
        <p:nvSpPr>
          <p:cNvPr id="38" name="Rectangle 37"/>
          <p:cNvSpPr/>
          <p:nvPr/>
        </p:nvSpPr>
        <p:spPr>
          <a:xfrm>
            <a:off x="2971800" y="4206240"/>
            <a:ext cx="4443983" cy="393192"/>
          </a:xfrm>
          <a:prstGeom prst="rect">
            <a:avLst/>
          </a:prstGeom>
          <a:solidFill>
            <a:srgbClr val="478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71800" y="4224527"/>
            <a:ext cx="4443983"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6</a:t>
            </a:r>
          </a:p>
        </p:txBody>
      </p:sp>
      <p:sp>
        <p:nvSpPr>
          <p:cNvPr id="40" name="Rectangle 39"/>
          <p:cNvSpPr/>
          <p:nvPr/>
        </p:nvSpPr>
        <p:spPr>
          <a:xfrm>
            <a:off x="7415783" y="4206240"/>
            <a:ext cx="1481328" cy="393192"/>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15783" y="4224527"/>
            <a:ext cx="1481328"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2</a:t>
            </a:r>
          </a:p>
        </p:txBody>
      </p:sp>
      <p:sp>
        <p:nvSpPr>
          <p:cNvPr id="42" name="Rectangle 41"/>
          <p:cNvSpPr/>
          <p:nvPr/>
        </p:nvSpPr>
        <p:spPr>
          <a:xfrm>
            <a:off x="8897111" y="4206240"/>
            <a:ext cx="1481328" cy="393192"/>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97111" y="4224527"/>
            <a:ext cx="1481328"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2</a:t>
            </a:r>
          </a:p>
        </p:txBody>
      </p:sp>
      <p:sp>
        <p:nvSpPr>
          <p:cNvPr id="44" name="TextBox 43"/>
          <p:cNvSpPr txBox="1"/>
          <p:nvPr/>
        </p:nvSpPr>
        <p:spPr>
          <a:xfrm>
            <a:off x="548640" y="4873752"/>
            <a:ext cx="1938528" cy="301752"/>
          </a:xfrm>
          <a:prstGeom prst="rect">
            <a:avLst/>
          </a:prstGeom>
          <a:noFill/>
        </p:spPr>
        <p:txBody>
          <a:bodyPr wrap="square" lIns="0" rIns="0" tIns="0" bIns="0" anchor="ctr">
            <a:spAutoFit/>
          </a:bodyPr>
          <a:lstStyle/>
          <a:p>
            <a:pPr algn="l">
              <a:lnSpc>
                <a:spcPct val="100000"/>
              </a:lnSpc>
              <a:spcBef>
                <a:spcPts val="0"/>
              </a:spcBef>
              <a:spcAft>
                <a:spcPts val="0"/>
              </a:spcAft>
            </a:pPr>
            <a:r>
              <a:rPr sz="1350" b="1" i="0">
                <a:solidFill>
                  <a:srgbClr val="082B55"/>
                </a:solidFill>
                <a:latin typeface="Arial"/>
              </a:rPr>
              <a:t>Consensus ranking</a:t>
            </a:r>
          </a:p>
        </p:txBody>
      </p:sp>
      <p:sp>
        <p:nvSpPr>
          <p:cNvPr id="45" name="TextBox 44"/>
          <p:cNvSpPr txBox="1"/>
          <p:nvPr/>
        </p:nvSpPr>
        <p:spPr>
          <a:xfrm>
            <a:off x="2212848" y="4882896"/>
            <a:ext cx="612648" cy="283464"/>
          </a:xfrm>
          <a:prstGeom prst="rect">
            <a:avLst/>
          </a:prstGeom>
          <a:noFill/>
        </p:spPr>
        <p:txBody>
          <a:bodyPr wrap="square" lIns="0" rIns="0" tIns="0" bIns="0" anchor="ctr">
            <a:spAutoFit/>
          </a:bodyPr>
          <a:lstStyle/>
          <a:p>
            <a:pPr algn="r">
              <a:lnSpc>
                <a:spcPct val="100000"/>
              </a:lnSpc>
              <a:spcBef>
                <a:spcPts val="0"/>
              </a:spcBef>
              <a:spcAft>
                <a:spcPts val="0"/>
              </a:spcAft>
            </a:pPr>
            <a:r>
              <a:rPr sz="1000" b="0" i="0">
                <a:solidFill>
                  <a:srgbClr val="59697A"/>
                </a:solidFill>
                <a:latin typeface="Arial"/>
              </a:rPr>
              <a:t>n = 49</a:t>
            </a:r>
          </a:p>
        </p:txBody>
      </p:sp>
      <p:sp>
        <p:nvSpPr>
          <p:cNvPr id="46" name="Rectangle 45"/>
          <p:cNvSpPr/>
          <p:nvPr/>
        </p:nvSpPr>
        <p:spPr>
          <a:xfrm>
            <a:off x="2971800" y="4837176"/>
            <a:ext cx="3325430" cy="393192"/>
          </a:xfrm>
          <a:prstGeom prst="rect">
            <a:avLst/>
          </a:prstGeom>
          <a:solidFill>
            <a:srgbClr val="478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71800" y="4855464"/>
            <a:ext cx="3325430"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22</a:t>
            </a:r>
          </a:p>
        </p:txBody>
      </p:sp>
      <p:sp>
        <p:nvSpPr>
          <p:cNvPr id="48" name="Rectangle 47"/>
          <p:cNvSpPr/>
          <p:nvPr/>
        </p:nvSpPr>
        <p:spPr>
          <a:xfrm>
            <a:off x="6297230" y="4837176"/>
            <a:ext cx="2871962" cy="393192"/>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7230" y="4855464"/>
            <a:ext cx="2871962"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19</a:t>
            </a:r>
          </a:p>
        </p:txBody>
      </p:sp>
      <p:sp>
        <p:nvSpPr>
          <p:cNvPr id="50" name="Rectangle 49"/>
          <p:cNvSpPr/>
          <p:nvPr/>
        </p:nvSpPr>
        <p:spPr>
          <a:xfrm>
            <a:off x="9169192" y="4837176"/>
            <a:ext cx="604623" cy="393192"/>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69192" y="4855464"/>
            <a:ext cx="604623"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4</a:t>
            </a:r>
          </a:p>
        </p:txBody>
      </p:sp>
      <p:sp>
        <p:nvSpPr>
          <p:cNvPr id="52" name="Rectangle 51"/>
          <p:cNvSpPr/>
          <p:nvPr/>
        </p:nvSpPr>
        <p:spPr>
          <a:xfrm>
            <a:off x="9773816" y="4837176"/>
            <a:ext cx="604623" cy="393192"/>
          </a:xfrm>
          <a:prstGeom prst="rect">
            <a:avLst/>
          </a:prstGeom>
          <a:solidFill>
            <a:srgbClr val="806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73816" y="4855464"/>
            <a:ext cx="604623" cy="329184"/>
          </a:xfrm>
          <a:prstGeom prst="rect">
            <a:avLst/>
          </a:prstGeom>
          <a:noFill/>
        </p:spPr>
        <p:txBody>
          <a:bodyPr wrap="square" lIns="0" rIns="0" tIns="0" bIns="0" anchor="ctr">
            <a:spAutoFit/>
          </a:bodyPr>
          <a:lstStyle/>
          <a:p>
            <a:pPr algn="ctr">
              <a:lnSpc>
                <a:spcPct val="100000"/>
              </a:lnSpc>
              <a:spcBef>
                <a:spcPts val="0"/>
              </a:spcBef>
              <a:spcAft>
                <a:spcPts val="0"/>
              </a:spcAft>
            </a:pPr>
            <a:r>
              <a:rPr sz="1050" b="1" i="0">
                <a:solidFill>
                  <a:srgbClr val="FFFFFF"/>
                </a:solidFill>
                <a:latin typeface="Arial"/>
              </a:rPr>
              <a:t>4</a:t>
            </a:r>
          </a:p>
        </p:txBody>
      </p:sp>
      <p:sp>
        <p:nvSpPr>
          <p:cNvPr id="54" name="Rectangle 53"/>
          <p:cNvSpPr/>
          <p:nvPr/>
        </p:nvSpPr>
        <p:spPr>
          <a:xfrm>
            <a:off x="1993392" y="5605272"/>
            <a:ext cx="146304" cy="109728"/>
          </a:xfrm>
          <a:prstGeom prst="rect">
            <a:avLst/>
          </a:prstGeom>
          <a:solidFill>
            <a:srgbClr val="478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12848" y="5541264"/>
            <a:ext cx="1554480" cy="246888"/>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478A64"/>
                </a:solidFill>
                <a:latin typeface="Arial"/>
              </a:rPr>
              <a:t>Aligning</a:t>
            </a:r>
          </a:p>
        </p:txBody>
      </p:sp>
      <p:sp>
        <p:nvSpPr>
          <p:cNvPr id="56" name="Rectangle 55"/>
          <p:cNvSpPr/>
          <p:nvPr/>
        </p:nvSpPr>
        <p:spPr>
          <a:xfrm>
            <a:off x="3776472" y="5605272"/>
            <a:ext cx="146304" cy="109728"/>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995928" y="5541264"/>
            <a:ext cx="1554480" cy="246888"/>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2D6496"/>
                </a:solidFill>
                <a:latin typeface="Arial"/>
              </a:rPr>
              <a:t>Complementary</a:t>
            </a:r>
          </a:p>
        </p:txBody>
      </p:sp>
      <p:sp>
        <p:nvSpPr>
          <p:cNvPr id="58" name="Rectangle 57"/>
          <p:cNvSpPr/>
          <p:nvPr/>
        </p:nvSpPr>
        <p:spPr>
          <a:xfrm>
            <a:off x="6080760" y="5605272"/>
            <a:ext cx="146304" cy="109728"/>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0216" y="5541264"/>
            <a:ext cx="1554480" cy="246888"/>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D37B00"/>
                </a:solidFill>
                <a:latin typeface="Arial"/>
              </a:rPr>
              <a:t>Ambiguous</a:t>
            </a:r>
          </a:p>
        </p:txBody>
      </p:sp>
      <p:sp>
        <p:nvSpPr>
          <p:cNvPr id="60" name="Rectangle 59"/>
          <p:cNvSpPr/>
          <p:nvPr/>
        </p:nvSpPr>
        <p:spPr>
          <a:xfrm>
            <a:off x="7936992" y="5605272"/>
            <a:ext cx="146304" cy="109728"/>
          </a:xfrm>
          <a:prstGeom prst="rect">
            <a:avLst/>
          </a:prstGeom>
          <a:solidFill>
            <a:srgbClr val="806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56448" y="5541264"/>
            <a:ext cx="1554480" cy="246888"/>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8063A6"/>
                </a:solidFill>
                <a:latin typeface="Arial"/>
              </a:rPr>
              <a:t>Unmatched</a:t>
            </a:r>
          </a:p>
        </p:txBody>
      </p:sp>
      <p:sp>
        <p:nvSpPr>
          <p:cNvPr id="62" name="TextBox 61"/>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Annotations used the fixed tissue, FLT-GC direction and candidate identity; detailed rationale and sources are in Tables S16, S22 and S23.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THYMUS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Thymus: all three analyses point to lower cell-cycle activity in flight</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Genes, Reactome pathways and the compact panel all show the same direction.</a:t>
            </a:r>
          </a:p>
        </p:txBody>
      </p:sp>
      <p:pic>
        <p:nvPicPr>
          <p:cNvPr id="7" name="Thymus FLT-GC gene effects and shared cell-cycle processes" descr="Thymus FLT-GC gene effects and shared cell-cycle processes"/>
          <p:cNvPicPr>
            <a:picLocks noChangeAspect="1"/>
          </p:cNvPicPr>
          <p:nvPr/>
        </p:nvPicPr>
        <p:blipFill>
          <a:blip r:embed="rId2"/>
          <a:stretch>
            <a:fillRect/>
          </a:stretch>
        </p:blipFill>
        <p:spPr>
          <a:xfrm>
            <a:off x="310896" y="1970901"/>
            <a:ext cx="7635240" cy="4013477"/>
          </a:xfrm>
          <a:prstGeom prst="rect">
            <a:avLst/>
          </a:prstGeom>
        </p:spPr>
      </p:pic>
      <p:sp>
        <p:nvSpPr>
          <p:cNvPr id="8" name="Rectangle 7"/>
          <p:cNvSpPr/>
          <p:nvPr/>
        </p:nvSpPr>
        <p:spPr>
          <a:xfrm>
            <a:off x="310896" y="1810512"/>
            <a:ext cx="7635240" cy="512064"/>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7" y="1993392"/>
            <a:ext cx="7214616" cy="210312"/>
          </a:xfrm>
          <a:prstGeom prst="rect">
            <a:avLst/>
          </a:prstGeom>
          <a:noFill/>
        </p:spPr>
        <p:txBody>
          <a:bodyPr wrap="square" lIns="0" rIns="0" tIns="0" bIns="0" anchor="t">
            <a:spAutoFit/>
          </a:bodyPr>
          <a:lstStyle/>
          <a:p>
            <a:pPr algn="l">
              <a:lnSpc>
                <a:spcPct val="100000"/>
              </a:lnSpc>
              <a:spcBef>
                <a:spcPts val="0"/>
              </a:spcBef>
              <a:spcAft>
                <a:spcPts val="0"/>
              </a:spcAft>
            </a:pPr>
            <a:r>
              <a:rPr sz="1120" b="1" i="0">
                <a:solidFill>
                  <a:srgbClr val="263746"/>
                </a:solidFill>
                <a:latin typeface="Arial"/>
              </a:rPr>
              <a:t>Real OSDR effects and shared Reactome processes</a:t>
            </a:r>
          </a:p>
        </p:txBody>
      </p:sp>
      <p:sp>
        <p:nvSpPr>
          <p:cNvPr id="10" name="Rectangle 9"/>
          <p:cNvSpPr/>
          <p:nvPr/>
        </p:nvSpPr>
        <p:spPr>
          <a:xfrm>
            <a:off x="8156448" y="1847088"/>
            <a:ext cx="13716" cy="4261104"/>
          </a:xfrm>
          <a:prstGeom prst="rect">
            <a:avLst/>
          </a:prstGeom>
          <a:solidFill>
            <a:srgbClr val="D2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03336" y="1892807"/>
            <a:ext cx="2670048" cy="182880"/>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D96552"/>
                </a:solidFill>
                <a:latin typeface="Arial"/>
              </a:rPr>
              <a:t>INDIVIDUAL GENES</a:t>
            </a:r>
          </a:p>
        </p:txBody>
      </p:sp>
      <p:sp>
        <p:nvSpPr>
          <p:cNvPr id="12" name="TextBox 11"/>
          <p:cNvSpPr txBox="1"/>
          <p:nvPr/>
        </p:nvSpPr>
        <p:spPr>
          <a:xfrm>
            <a:off x="8385048" y="2139696"/>
            <a:ext cx="640080" cy="429768"/>
          </a:xfrm>
          <a:prstGeom prst="rect">
            <a:avLst/>
          </a:prstGeom>
          <a:noFill/>
        </p:spPr>
        <p:txBody>
          <a:bodyPr wrap="square" lIns="0" rIns="0" tIns="0" bIns="0" anchor="t">
            <a:spAutoFit/>
          </a:bodyPr>
          <a:lstStyle/>
          <a:p>
            <a:pPr algn="l">
              <a:lnSpc>
                <a:spcPct val="100000"/>
              </a:lnSpc>
              <a:spcBef>
                <a:spcPts val="0"/>
              </a:spcBef>
              <a:spcAft>
                <a:spcPts val="0"/>
              </a:spcAft>
            </a:pPr>
            <a:r>
              <a:rPr sz="2800" b="1" i="0">
                <a:solidFill>
                  <a:srgbClr val="D96552"/>
                </a:solidFill>
                <a:latin typeface="Arial"/>
              </a:rPr>
              <a:t>15</a:t>
            </a:r>
          </a:p>
        </p:txBody>
      </p:sp>
      <p:sp>
        <p:nvSpPr>
          <p:cNvPr id="13" name="TextBox 12"/>
          <p:cNvSpPr txBox="1"/>
          <p:nvPr/>
        </p:nvSpPr>
        <p:spPr>
          <a:xfrm>
            <a:off x="9061704" y="2157984"/>
            <a:ext cx="2359152" cy="228600"/>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263746"/>
                </a:solidFill>
                <a:latin typeface="Arial"/>
              </a:rPr>
              <a:t>7 promoted | 8 reinforced</a:t>
            </a:r>
          </a:p>
        </p:txBody>
      </p:sp>
      <p:sp>
        <p:nvSpPr>
          <p:cNvPr id="14" name="TextBox 13"/>
          <p:cNvSpPr txBox="1"/>
          <p:nvPr/>
        </p:nvSpPr>
        <p:spPr>
          <a:xfrm>
            <a:off x="9061704" y="2404872"/>
            <a:ext cx="2359152" cy="384048"/>
          </a:xfrm>
          <a:prstGeom prst="rect">
            <a:avLst/>
          </a:prstGeom>
          <a:noFill/>
        </p:spPr>
        <p:txBody>
          <a:bodyPr wrap="square" lIns="0" rIns="0" tIns="0" bIns="0" anchor="t">
            <a:spAutoFit/>
          </a:bodyPr>
          <a:lstStyle/>
          <a:p>
            <a:pPr algn="l">
              <a:lnSpc>
                <a:spcPct val="100000"/>
              </a:lnSpc>
              <a:spcBef>
                <a:spcPts val="0"/>
              </a:spcBef>
              <a:spcAft>
                <a:spcPts val="0"/>
              </a:spcAft>
            </a:pPr>
            <a:r>
              <a:rPr sz="1030" b="0" i="0">
                <a:solidFill>
                  <a:srgbClr val="59697A"/>
                </a:solidFill>
                <a:latin typeface="Arial"/>
              </a:rPr>
              <a:t>Most retained genes are FLT lower.</a:t>
            </a:r>
          </a:p>
        </p:txBody>
      </p:sp>
      <p:sp>
        <p:nvSpPr>
          <p:cNvPr id="15" name="Rectangle 14"/>
          <p:cNvSpPr/>
          <p:nvPr/>
        </p:nvSpPr>
        <p:spPr>
          <a:xfrm>
            <a:off x="8394192" y="2761487"/>
            <a:ext cx="3017520" cy="10972"/>
          </a:xfrm>
          <a:prstGeom prst="rect">
            <a:avLst/>
          </a:prstGeom>
          <a:solidFill>
            <a:srgbClr val="E0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03336" y="2852928"/>
            <a:ext cx="2670048" cy="182880"/>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9A6B20"/>
                </a:solidFill>
                <a:latin typeface="Arial"/>
              </a:rPr>
              <a:t>REACTOME GROUPS</a:t>
            </a:r>
          </a:p>
        </p:txBody>
      </p:sp>
      <p:sp>
        <p:nvSpPr>
          <p:cNvPr id="17" name="TextBox 16"/>
          <p:cNvSpPr txBox="1"/>
          <p:nvPr/>
        </p:nvSpPr>
        <p:spPr>
          <a:xfrm>
            <a:off x="8385048" y="3099816"/>
            <a:ext cx="640080" cy="429768"/>
          </a:xfrm>
          <a:prstGeom prst="rect">
            <a:avLst/>
          </a:prstGeom>
          <a:noFill/>
        </p:spPr>
        <p:txBody>
          <a:bodyPr wrap="square" lIns="0" rIns="0" tIns="0" bIns="0" anchor="t">
            <a:spAutoFit/>
          </a:bodyPr>
          <a:lstStyle/>
          <a:p>
            <a:pPr algn="l">
              <a:lnSpc>
                <a:spcPct val="100000"/>
              </a:lnSpc>
              <a:spcBef>
                <a:spcPts val="0"/>
              </a:spcBef>
              <a:spcAft>
                <a:spcPts val="0"/>
              </a:spcAft>
            </a:pPr>
            <a:r>
              <a:rPr sz="2800" b="1" i="0">
                <a:solidFill>
                  <a:srgbClr val="9A6B20"/>
                </a:solidFill>
                <a:latin typeface="Arial"/>
              </a:rPr>
              <a:t>7</a:t>
            </a:r>
          </a:p>
        </p:txBody>
      </p:sp>
      <p:sp>
        <p:nvSpPr>
          <p:cNvPr id="18" name="TextBox 17"/>
          <p:cNvSpPr txBox="1"/>
          <p:nvPr/>
        </p:nvSpPr>
        <p:spPr>
          <a:xfrm>
            <a:off x="9061704" y="3118104"/>
            <a:ext cx="2359152" cy="228600"/>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263746"/>
                </a:solidFill>
                <a:latin typeface="Arial"/>
              </a:rPr>
              <a:t>2 promoted | 5 reinforced</a:t>
            </a:r>
          </a:p>
        </p:txBody>
      </p:sp>
      <p:sp>
        <p:nvSpPr>
          <p:cNvPr id="19" name="TextBox 18"/>
          <p:cNvSpPr txBox="1"/>
          <p:nvPr/>
        </p:nvSpPr>
        <p:spPr>
          <a:xfrm>
            <a:off x="9061704" y="3364992"/>
            <a:ext cx="2359152" cy="384048"/>
          </a:xfrm>
          <a:prstGeom prst="rect">
            <a:avLst/>
          </a:prstGeom>
          <a:noFill/>
        </p:spPr>
        <p:txBody>
          <a:bodyPr wrap="square" lIns="0" rIns="0" tIns="0" bIns="0" anchor="t">
            <a:spAutoFit/>
          </a:bodyPr>
          <a:lstStyle/>
          <a:p>
            <a:pPr algn="l">
              <a:lnSpc>
                <a:spcPct val="100000"/>
              </a:lnSpc>
              <a:spcBef>
                <a:spcPts val="0"/>
              </a:spcBef>
              <a:spcAft>
                <a:spcPts val="0"/>
              </a:spcAft>
            </a:pPr>
            <a:r>
              <a:rPr sz="1030" b="0" i="0">
                <a:solidFill>
                  <a:srgbClr val="59697A"/>
                </a:solidFill>
                <a:latin typeface="Arial"/>
              </a:rPr>
              <a:t>Six pathways describe mitosis, DNA replication or APC/C control.</a:t>
            </a:r>
          </a:p>
        </p:txBody>
      </p:sp>
      <p:sp>
        <p:nvSpPr>
          <p:cNvPr id="20" name="Rectangle 19"/>
          <p:cNvSpPr/>
          <p:nvPr/>
        </p:nvSpPr>
        <p:spPr>
          <a:xfrm>
            <a:off x="8394192" y="3721608"/>
            <a:ext cx="3017520" cy="10972"/>
          </a:xfrm>
          <a:prstGeom prst="rect">
            <a:avLst/>
          </a:prstGeom>
          <a:solidFill>
            <a:srgbClr val="E0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3336" y="3977639"/>
            <a:ext cx="2670048" cy="182880"/>
          </a:xfrm>
          <a:prstGeom prst="rect">
            <a:avLst/>
          </a:prstGeom>
          <a:noFill/>
        </p:spPr>
        <p:txBody>
          <a:bodyPr wrap="square" lIns="0" rIns="0" tIns="0" bIns="0" anchor="t">
            <a:spAutoFit/>
          </a:bodyPr>
          <a:lstStyle/>
          <a:p>
            <a:pPr algn="l">
              <a:lnSpc>
                <a:spcPct val="100000"/>
              </a:lnSpc>
              <a:spcBef>
                <a:spcPts val="0"/>
              </a:spcBef>
              <a:spcAft>
                <a:spcPts val="0"/>
              </a:spcAft>
            </a:pPr>
            <a:r>
              <a:rPr sz="880" b="1" i="0">
                <a:solidFill>
                  <a:srgbClr val="2D6496"/>
                </a:solidFill>
                <a:latin typeface="Arial"/>
              </a:rPr>
              <a:t>CONSENSUS RANKING</a:t>
            </a:r>
          </a:p>
        </p:txBody>
      </p:sp>
      <p:sp>
        <p:nvSpPr>
          <p:cNvPr id="22" name="TextBox 21"/>
          <p:cNvSpPr txBox="1"/>
          <p:nvPr/>
        </p:nvSpPr>
        <p:spPr>
          <a:xfrm>
            <a:off x="8385048" y="4224527"/>
            <a:ext cx="640080" cy="429768"/>
          </a:xfrm>
          <a:prstGeom prst="rect">
            <a:avLst/>
          </a:prstGeom>
          <a:noFill/>
        </p:spPr>
        <p:txBody>
          <a:bodyPr wrap="square" lIns="0" rIns="0" tIns="0" bIns="0" anchor="t">
            <a:spAutoFit/>
          </a:bodyPr>
          <a:lstStyle/>
          <a:p>
            <a:pPr algn="l">
              <a:lnSpc>
                <a:spcPct val="100000"/>
              </a:lnSpc>
              <a:spcBef>
                <a:spcPts val="0"/>
              </a:spcBef>
              <a:spcAft>
                <a:spcPts val="0"/>
              </a:spcAft>
            </a:pPr>
            <a:r>
              <a:rPr sz="2800" b="1" i="0">
                <a:solidFill>
                  <a:srgbClr val="2D6496"/>
                </a:solidFill>
                <a:latin typeface="Arial"/>
              </a:rPr>
              <a:t>16</a:t>
            </a:r>
          </a:p>
        </p:txBody>
      </p:sp>
      <p:sp>
        <p:nvSpPr>
          <p:cNvPr id="23" name="TextBox 22"/>
          <p:cNvSpPr txBox="1"/>
          <p:nvPr/>
        </p:nvSpPr>
        <p:spPr>
          <a:xfrm>
            <a:off x="9061704" y="4242816"/>
            <a:ext cx="2359152" cy="228600"/>
          </a:xfrm>
          <a:prstGeom prst="rect">
            <a:avLst/>
          </a:prstGeom>
          <a:noFill/>
        </p:spPr>
        <p:txBody>
          <a:bodyPr wrap="square" lIns="0" rIns="0" tIns="0" bIns="0" anchor="t">
            <a:spAutoFit/>
          </a:bodyPr>
          <a:lstStyle/>
          <a:p>
            <a:pPr algn="l">
              <a:lnSpc>
                <a:spcPct val="100000"/>
              </a:lnSpc>
              <a:spcBef>
                <a:spcPts val="0"/>
              </a:spcBef>
              <a:spcAft>
                <a:spcPts val="0"/>
              </a:spcAft>
            </a:pPr>
            <a:r>
              <a:rPr sz="1080" b="1" i="0">
                <a:solidFill>
                  <a:srgbClr val="263746"/>
                </a:solidFill>
                <a:latin typeface="Arial"/>
              </a:rPr>
              <a:t>13 promoted | 3 reinforced</a:t>
            </a:r>
          </a:p>
        </p:txBody>
      </p:sp>
      <p:sp>
        <p:nvSpPr>
          <p:cNvPr id="24" name="TextBox 23"/>
          <p:cNvSpPr txBox="1"/>
          <p:nvPr/>
        </p:nvSpPr>
        <p:spPr>
          <a:xfrm>
            <a:off x="9061704" y="4489704"/>
            <a:ext cx="2359152" cy="384048"/>
          </a:xfrm>
          <a:prstGeom prst="rect">
            <a:avLst/>
          </a:prstGeom>
          <a:noFill/>
        </p:spPr>
        <p:txBody>
          <a:bodyPr wrap="square" lIns="0" rIns="0" tIns="0" bIns="0" anchor="t">
            <a:spAutoFit/>
          </a:bodyPr>
          <a:lstStyle/>
          <a:p>
            <a:pPr algn="l">
              <a:lnSpc>
                <a:spcPct val="100000"/>
              </a:lnSpc>
              <a:spcBef>
                <a:spcPts val="0"/>
              </a:spcBef>
              <a:spcAft>
                <a:spcPts val="0"/>
              </a:spcAft>
            </a:pPr>
            <a:r>
              <a:rPr sz="1030" b="0" i="0">
                <a:solidFill>
                  <a:srgbClr val="59697A"/>
                </a:solidFill>
                <a:latin typeface="Arial"/>
              </a:rPr>
              <a:t>Thirteen genes are FLT lower, including CDK1, TOP2A and AURKA.</a:t>
            </a:r>
          </a:p>
        </p:txBody>
      </p:sp>
      <p:sp>
        <p:nvSpPr>
          <p:cNvPr id="25" name="Rectangle 24"/>
          <p:cNvSpPr/>
          <p:nvPr/>
        </p:nvSpPr>
        <p:spPr>
          <a:xfrm>
            <a:off x="8366760" y="5084064"/>
            <a:ext cx="3090672" cy="941832"/>
          </a:xfrm>
          <a:prstGeom prst="rect">
            <a:avLst/>
          </a:prstGeom>
          <a:solidFill>
            <a:srgbClr val="082B55"/>
          </a:solidFill>
          <a:ln w="10160">
            <a:solidFill>
              <a:srgbClr val="08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0" y="5230368"/>
            <a:ext cx="2633472" cy="182880"/>
          </a:xfrm>
          <a:prstGeom prst="rect">
            <a:avLst/>
          </a:prstGeom>
          <a:noFill/>
        </p:spPr>
        <p:txBody>
          <a:bodyPr wrap="square" lIns="0" rIns="0" tIns="0" bIns="0" anchor="t">
            <a:spAutoFit/>
          </a:bodyPr>
          <a:lstStyle/>
          <a:p>
            <a:pPr algn="ctr">
              <a:lnSpc>
                <a:spcPct val="100000"/>
              </a:lnSpc>
              <a:spcBef>
                <a:spcPts val="0"/>
              </a:spcBef>
              <a:spcAft>
                <a:spcPts val="0"/>
              </a:spcAft>
            </a:pPr>
            <a:r>
              <a:rPr sz="840" b="1" i="0">
                <a:solidFill>
                  <a:srgbClr val="AFC6DC"/>
                </a:solidFill>
                <a:latin typeface="Arial"/>
              </a:rPr>
              <a:t>BIOLOGICAL READING</a:t>
            </a:r>
          </a:p>
        </p:txBody>
      </p:sp>
      <p:sp>
        <p:nvSpPr>
          <p:cNvPr id="27" name="TextBox 26"/>
          <p:cNvSpPr txBox="1"/>
          <p:nvPr/>
        </p:nvSpPr>
        <p:spPr>
          <a:xfrm>
            <a:off x="8595360" y="5468112"/>
            <a:ext cx="2633472" cy="365760"/>
          </a:xfrm>
          <a:prstGeom prst="rect">
            <a:avLst/>
          </a:prstGeom>
          <a:noFill/>
        </p:spPr>
        <p:txBody>
          <a:bodyPr wrap="square" lIns="0" rIns="0" tIns="0" bIns="0" anchor="ctr">
            <a:spAutoFit/>
          </a:bodyPr>
          <a:lstStyle/>
          <a:p>
            <a:pPr algn="ctr">
              <a:lnSpc>
                <a:spcPct val="100000"/>
              </a:lnSpc>
              <a:spcBef>
                <a:spcPts val="0"/>
              </a:spcBef>
              <a:spcAft>
                <a:spcPts val="0"/>
              </a:spcAft>
            </a:pPr>
            <a:r>
              <a:rPr sz="1300" b="1" i="0">
                <a:solidFill>
                  <a:srgbClr val="FFFFFF"/>
                </a:solidFill>
                <a:latin typeface="Arial"/>
              </a:rPr>
              <a:t>Lower thymic proliferative activity</a:t>
            </a:r>
          </a:p>
        </p:txBody>
      </p:sp>
      <p:sp>
        <p:nvSpPr>
          <p:cNvPr id="28" name="TextBox 27"/>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Individual genes: Table S19. Reactome groups: Table S23. Consensus ranking: Table S10.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BIOLOGICAL INTERPRETATION</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Skin and spleen show different flight-associated patterns</a:t>
            </a:r>
          </a:p>
        </p:txBody>
      </p:sp>
      <p:sp>
        <p:nvSpPr>
          <p:cNvPr id="6" name="TextBox 5"/>
          <p:cNvSpPr txBox="1"/>
          <p:nvPr/>
        </p:nvSpPr>
        <p:spPr>
          <a:xfrm>
            <a:off x="310896" y="1353312"/>
            <a:ext cx="11247120" cy="31089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1450" b="0" i="0">
                <a:solidFill>
                  <a:srgbClr val="59697A"/>
                </a:solidFill>
                <a:latin typeface="Arial"/>
              </a:rPr>
              <a:t>Skin: regulated cell death  |  Spleen: structural remodeling</a:t>
            </a:r>
          </a:p>
        </p:txBody>
      </p:sp>
      <p:sp>
        <p:nvSpPr>
          <p:cNvPr id="7" name="Rectangle 6"/>
          <p:cNvSpPr/>
          <p:nvPr/>
        </p:nvSpPr>
        <p:spPr>
          <a:xfrm>
            <a:off x="6089904" y="1847088"/>
            <a:ext cx="13716" cy="4206240"/>
          </a:xfrm>
          <a:prstGeom prst="rect">
            <a:avLst/>
          </a:prstGeom>
          <a:solidFill>
            <a:srgbClr val="D3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847088"/>
            <a:ext cx="5330952" cy="41148"/>
          </a:xfrm>
          <a:prstGeom prst="rect">
            <a:avLst/>
          </a:prstGeom>
          <a:solidFill>
            <a:srgbClr val="806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02536"/>
            <a:ext cx="950976" cy="201168"/>
          </a:xfrm>
          <a:prstGeom prst="rect">
            <a:avLst/>
          </a:prstGeom>
          <a:noFill/>
        </p:spPr>
        <p:txBody>
          <a:bodyPr wrap="square" lIns="0" rIns="0" tIns="0" bIns="0" anchor="t">
            <a:spAutoFit/>
          </a:bodyPr>
          <a:lstStyle/>
          <a:p>
            <a:pPr algn="l">
              <a:lnSpc>
                <a:spcPct val="100000"/>
              </a:lnSpc>
              <a:spcBef>
                <a:spcPts val="0"/>
              </a:spcBef>
              <a:spcAft>
                <a:spcPts val="0"/>
              </a:spcAft>
            </a:pPr>
            <a:r>
              <a:rPr sz="919" b="1" i="0">
                <a:solidFill>
                  <a:srgbClr val="8063A6"/>
                </a:solidFill>
                <a:latin typeface="Arial"/>
              </a:rPr>
              <a:t>SKIN</a:t>
            </a:r>
          </a:p>
        </p:txBody>
      </p:sp>
      <p:sp>
        <p:nvSpPr>
          <p:cNvPr id="10" name="TextBox 9"/>
          <p:cNvSpPr txBox="1"/>
          <p:nvPr/>
        </p:nvSpPr>
        <p:spPr>
          <a:xfrm>
            <a:off x="457200" y="2286000"/>
            <a:ext cx="5330952" cy="384048"/>
          </a:xfrm>
          <a:prstGeom prst="rect">
            <a:avLst/>
          </a:prstGeom>
          <a:noFill/>
        </p:spPr>
        <p:txBody>
          <a:bodyPr wrap="square" lIns="0" rIns="0" tIns="0" bIns="0" anchor="t">
            <a:spAutoFit/>
          </a:bodyPr>
          <a:lstStyle/>
          <a:p>
            <a:pPr algn="l">
              <a:lnSpc>
                <a:spcPct val="100000"/>
              </a:lnSpc>
              <a:spcBef>
                <a:spcPts val="0"/>
              </a:spcBef>
              <a:spcAft>
                <a:spcPts val="0"/>
              </a:spcAft>
            </a:pPr>
            <a:r>
              <a:rPr sz="1800" b="1" i="0">
                <a:solidFill>
                  <a:srgbClr val="082B55"/>
                </a:solidFill>
                <a:latin typeface="Arial"/>
              </a:rPr>
              <a:t>Interferon-linked regulated cell death</a:t>
            </a:r>
          </a:p>
        </p:txBody>
      </p:sp>
      <p:sp>
        <p:nvSpPr>
          <p:cNvPr id="11" name="TextBox 10"/>
          <p:cNvSpPr txBox="1"/>
          <p:nvPr/>
        </p:nvSpPr>
        <p:spPr>
          <a:xfrm>
            <a:off x="484632" y="2834640"/>
            <a:ext cx="1298448" cy="201168"/>
          </a:xfrm>
          <a:prstGeom prst="rect">
            <a:avLst/>
          </a:prstGeom>
          <a:noFill/>
        </p:spPr>
        <p:txBody>
          <a:bodyPr wrap="square" lIns="0" rIns="0" tIns="0" bIns="0" anchor="t">
            <a:spAutoFit/>
          </a:bodyPr>
          <a:lstStyle/>
          <a:p>
            <a:pPr algn="l">
              <a:lnSpc>
                <a:spcPct val="100000"/>
              </a:lnSpc>
              <a:spcBef>
                <a:spcPts val="0"/>
              </a:spcBef>
              <a:spcAft>
                <a:spcPts val="0"/>
              </a:spcAft>
            </a:pPr>
            <a:r>
              <a:rPr sz="869" b="1" i="0">
                <a:solidFill>
                  <a:srgbClr val="D96552"/>
                </a:solidFill>
                <a:latin typeface="Arial"/>
              </a:rPr>
              <a:t>GENE EVIDENCE</a:t>
            </a:r>
          </a:p>
        </p:txBody>
      </p:sp>
      <p:sp>
        <p:nvSpPr>
          <p:cNvPr id="12" name="TextBox 11"/>
          <p:cNvSpPr txBox="1"/>
          <p:nvPr/>
        </p:nvSpPr>
        <p:spPr>
          <a:xfrm>
            <a:off x="1847088" y="2816352"/>
            <a:ext cx="3867911" cy="402336"/>
          </a:xfrm>
          <a:prstGeom prst="rect">
            <a:avLst/>
          </a:prstGeom>
          <a:noFill/>
        </p:spPr>
        <p:txBody>
          <a:bodyPr wrap="square" lIns="0" rIns="0" tIns="0" bIns="0" anchor="t">
            <a:spAutoFit/>
          </a:bodyPr>
          <a:lstStyle/>
          <a:p>
            <a:pPr algn="l">
              <a:lnSpc>
                <a:spcPct val="100000"/>
              </a:lnSpc>
              <a:spcBef>
                <a:spcPts val="0"/>
              </a:spcBef>
              <a:spcAft>
                <a:spcPts val="0"/>
              </a:spcAft>
            </a:pPr>
            <a:r>
              <a:rPr sz="1130" b="0" i="0">
                <a:solidFill>
                  <a:srgbClr val="263746"/>
                </a:solidFill>
                <a:latin typeface="Arial"/>
              </a:rPr>
              <a:t>PLSCR1 was higher in flight and retained by two analyses</a:t>
            </a:r>
          </a:p>
        </p:txBody>
      </p:sp>
      <p:sp>
        <p:nvSpPr>
          <p:cNvPr id="13" name="Rectangle 12"/>
          <p:cNvSpPr/>
          <p:nvPr/>
        </p:nvSpPr>
        <p:spPr>
          <a:xfrm>
            <a:off x="484632" y="3282696"/>
            <a:ext cx="5230368" cy="10058"/>
          </a:xfrm>
          <a:prstGeom prst="rect">
            <a:avLst/>
          </a:prstGeom>
          <a:solidFill>
            <a:srgbClr val="E0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 y="3410712"/>
            <a:ext cx="1298448" cy="201168"/>
          </a:xfrm>
          <a:prstGeom prst="rect">
            <a:avLst/>
          </a:prstGeom>
          <a:noFill/>
        </p:spPr>
        <p:txBody>
          <a:bodyPr wrap="square" lIns="0" rIns="0" tIns="0" bIns="0" anchor="t">
            <a:spAutoFit/>
          </a:bodyPr>
          <a:lstStyle/>
          <a:p>
            <a:pPr algn="l">
              <a:lnSpc>
                <a:spcPct val="100000"/>
              </a:lnSpc>
              <a:spcBef>
                <a:spcPts val="0"/>
              </a:spcBef>
              <a:spcAft>
                <a:spcPts val="0"/>
              </a:spcAft>
            </a:pPr>
            <a:r>
              <a:rPr sz="869" b="1" i="0">
                <a:solidFill>
                  <a:srgbClr val="9A6B20"/>
                </a:solidFill>
                <a:latin typeface="Arial"/>
              </a:rPr>
              <a:t>PATHWAY EVIDENCE</a:t>
            </a:r>
          </a:p>
        </p:txBody>
      </p:sp>
      <p:sp>
        <p:nvSpPr>
          <p:cNvPr id="15" name="TextBox 14"/>
          <p:cNvSpPr txBox="1"/>
          <p:nvPr/>
        </p:nvSpPr>
        <p:spPr>
          <a:xfrm>
            <a:off x="1847088" y="3392424"/>
            <a:ext cx="3867911" cy="402336"/>
          </a:xfrm>
          <a:prstGeom prst="rect">
            <a:avLst/>
          </a:prstGeom>
          <a:noFill/>
        </p:spPr>
        <p:txBody>
          <a:bodyPr wrap="square" lIns="0" rIns="0" tIns="0" bIns="0" anchor="t">
            <a:spAutoFit/>
          </a:bodyPr>
          <a:lstStyle/>
          <a:p>
            <a:pPr algn="l">
              <a:lnSpc>
                <a:spcPct val="100000"/>
              </a:lnSpc>
              <a:spcBef>
                <a:spcPts val="0"/>
              </a:spcBef>
              <a:spcAft>
                <a:spcPts val="0"/>
              </a:spcAft>
            </a:pPr>
            <a:r>
              <a:rPr sz="1130" b="0" i="0">
                <a:solidFill>
                  <a:srgbClr val="263746"/>
                </a:solidFill>
                <a:latin typeface="Arial"/>
              </a:rPr>
              <a:t>Two necroptosis pathways were higher in flight</a:t>
            </a:r>
          </a:p>
        </p:txBody>
      </p:sp>
      <p:sp>
        <p:nvSpPr>
          <p:cNvPr id="16" name="Rectangle 15"/>
          <p:cNvSpPr/>
          <p:nvPr/>
        </p:nvSpPr>
        <p:spPr>
          <a:xfrm>
            <a:off x="484632" y="3858768"/>
            <a:ext cx="5230368" cy="10058"/>
          </a:xfrm>
          <a:prstGeom prst="rect">
            <a:avLst/>
          </a:prstGeom>
          <a:solidFill>
            <a:srgbClr val="E0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3986784"/>
            <a:ext cx="1298448" cy="201168"/>
          </a:xfrm>
          <a:prstGeom prst="rect">
            <a:avLst/>
          </a:prstGeom>
          <a:noFill/>
        </p:spPr>
        <p:txBody>
          <a:bodyPr wrap="square" lIns="0" rIns="0" tIns="0" bIns="0" anchor="t">
            <a:spAutoFit/>
          </a:bodyPr>
          <a:lstStyle/>
          <a:p>
            <a:pPr algn="l">
              <a:lnSpc>
                <a:spcPct val="100000"/>
              </a:lnSpc>
              <a:spcBef>
                <a:spcPts val="0"/>
              </a:spcBef>
              <a:spcAft>
                <a:spcPts val="0"/>
              </a:spcAft>
            </a:pPr>
            <a:r>
              <a:rPr sz="869" b="1" i="0">
                <a:solidFill>
                  <a:srgbClr val="2D6496"/>
                </a:solidFill>
                <a:latin typeface="Arial"/>
              </a:rPr>
              <a:t>CONTEXT</a:t>
            </a:r>
          </a:p>
        </p:txBody>
      </p:sp>
      <p:sp>
        <p:nvSpPr>
          <p:cNvPr id="18" name="TextBox 17"/>
          <p:cNvSpPr txBox="1"/>
          <p:nvPr/>
        </p:nvSpPr>
        <p:spPr>
          <a:xfrm>
            <a:off x="1847088" y="3968496"/>
            <a:ext cx="3867911" cy="402336"/>
          </a:xfrm>
          <a:prstGeom prst="rect">
            <a:avLst/>
          </a:prstGeom>
          <a:noFill/>
        </p:spPr>
        <p:txBody>
          <a:bodyPr wrap="square" lIns="0" rIns="0" tIns="0" bIns="0" anchor="t">
            <a:spAutoFit/>
          </a:bodyPr>
          <a:lstStyle/>
          <a:p>
            <a:pPr algn="l">
              <a:lnSpc>
                <a:spcPct val="100000"/>
              </a:lnSpc>
              <a:spcBef>
                <a:spcPts val="0"/>
              </a:spcBef>
              <a:spcAft>
                <a:spcPts val="0"/>
              </a:spcAft>
            </a:pPr>
            <a:r>
              <a:rPr sz="1130" b="0" i="0">
                <a:solidFill>
                  <a:srgbClr val="263746"/>
                </a:solidFill>
                <a:latin typeface="Arial"/>
              </a:rPr>
              <a:t>PLSCR1 is interferon inducible</a:t>
            </a:r>
          </a:p>
        </p:txBody>
      </p:sp>
      <p:sp>
        <p:nvSpPr>
          <p:cNvPr id="19" name="Rectangle 18"/>
          <p:cNvSpPr/>
          <p:nvPr/>
        </p:nvSpPr>
        <p:spPr>
          <a:xfrm>
            <a:off x="484632" y="4434840"/>
            <a:ext cx="5230368" cy="10058"/>
          </a:xfrm>
          <a:prstGeom prst="rect">
            <a:avLst/>
          </a:prstGeom>
          <a:solidFill>
            <a:srgbClr val="E0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4632" y="4773168"/>
            <a:ext cx="5230368" cy="941832"/>
          </a:xfrm>
          <a:prstGeom prst="rect">
            <a:avLst/>
          </a:prstGeom>
          <a:solidFill>
            <a:srgbClr val="F2EEF7"/>
          </a:solidFill>
          <a:ln w="10160">
            <a:solidFill>
              <a:srgbClr val="D9C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4956048"/>
            <a:ext cx="4754880" cy="182880"/>
          </a:xfrm>
          <a:prstGeom prst="rect">
            <a:avLst/>
          </a:prstGeom>
          <a:noFill/>
        </p:spPr>
        <p:txBody>
          <a:bodyPr wrap="square" lIns="0" rIns="0" tIns="0" bIns="0" anchor="t">
            <a:spAutoFit/>
          </a:bodyPr>
          <a:lstStyle/>
          <a:p>
            <a:pPr algn="ctr">
              <a:lnSpc>
                <a:spcPct val="100000"/>
              </a:lnSpc>
              <a:spcBef>
                <a:spcPts val="0"/>
              </a:spcBef>
              <a:spcAft>
                <a:spcPts val="0"/>
              </a:spcAft>
            </a:pPr>
            <a:r>
              <a:rPr sz="880" b="1" i="0">
                <a:solidFill>
                  <a:srgbClr val="8063A6"/>
                </a:solidFill>
                <a:latin typeface="Arial"/>
              </a:rPr>
              <a:t>COMPLEMENTARY HYPOTHESIS</a:t>
            </a:r>
          </a:p>
        </p:txBody>
      </p:sp>
      <p:sp>
        <p:nvSpPr>
          <p:cNvPr id="22" name="TextBox 21"/>
          <p:cNvSpPr txBox="1"/>
          <p:nvPr/>
        </p:nvSpPr>
        <p:spPr>
          <a:xfrm>
            <a:off x="722376" y="5184648"/>
            <a:ext cx="4754880" cy="310896"/>
          </a:xfrm>
          <a:prstGeom prst="rect">
            <a:avLst/>
          </a:prstGeom>
          <a:noFill/>
        </p:spPr>
        <p:txBody>
          <a:bodyPr wrap="square" lIns="0" rIns="0" tIns="0" bIns="0" anchor="ctr">
            <a:spAutoFit/>
          </a:bodyPr>
          <a:lstStyle/>
          <a:p>
            <a:pPr algn="ctr">
              <a:lnSpc>
                <a:spcPct val="100000"/>
              </a:lnSpc>
              <a:spcBef>
                <a:spcPts val="0"/>
              </a:spcBef>
              <a:spcAft>
                <a:spcPts val="0"/>
              </a:spcAft>
            </a:pPr>
            <a:r>
              <a:rPr sz="1220" b="1" i="0">
                <a:solidFill>
                  <a:srgbClr val="263746"/>
                </a:solidFill>
                <a:latin typeface="Arial"/>
              </a:rPr>
              <a:t>Direct spaceflight evidence for skin necroptosis is limited</a:t>
            </a:r>
          </a:p>
        </p:txBody>
      </p:sp>
      <p:sp>
        <p:nvSpPr>
          <p:cNvPr id="23" name="Rectangle 22"/>
          <p:cNvSpPr/>
          <p:nvPr/>
        </p:nvSpPr>
        <p:spPr>
          <a:xfrm>
            <a:off x="6391656" y="1847088"/>
            <a:ext cx="5340096" cy="41148"/>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1656" y="2002536"/>
            <a:ext cx="1188720" cy="201168"/>
          </a:xfrm>
          <a:prstGeom prst="rect">
            <a:avLst/>
          </a:prstGeom>
          <a:noFill/>
        </p:spPr>
        <p:txBody>
          <a:bodyPr wrap="square" lIns="0" rIns="0" tIns="0" bIns="0" anchor="t">
            <a:spAutoFit/>
          </a:bodyPr>
          <a:lstStyle/>
          <a:p>
            <a:pPr algn="l">
              <a:lnSpc>
                <a:spcPct val="100000"/>
              </a:lnSpc>
              <a:spcBef>
                <a:spcPts val="0"/>
              </a:spcBef>
              <a:spcAft>
                <a:spcPts val="0"/>
              </a:spcAft>
            </a:pPr>
            <a:r>
              <a:rPr sz="919" b="1" i="0">
                <a:solidFill>
                  <a:srgbClr val="178681"/>
                </a:solidFill>
                <a:latin typeface="Arial"/>
              </a:rPr>
              <a:t>SPLEEN</a:t>
            </a:r>
          </a:p>
        </p:txBody>
      </p:sp>
      <p:sp>
        <p:nvSpPr>
          <p:cNvPr id="25" name="TextBox 24"/>
          <p:cNvSpPr txBox="1"/>
          <p:nvPr/>
        </p:nvSpPr>
        <p:spPr>
          <a:xfrm>
            <a:off x="6391656" y="2286000"/>
            <a:ext cx="5330952" cy="384048"/>
          </a:xfrm>
          <a:prstGeom prst="rect">
            <a:avLst/>
          </a:prstGeom>
          <a:noFill/>
        </p:spPr>
        <p:txBody>
          <a:bodyPr wrap="square" lIns="0" rIns="0" tIns="0" bIns="0" anchor="t">
            <a:spAutoFit/>
          </a:bodyPr>
          <a:lstStyle/>
          <a:p>
            <a:pPr algn="l">
              <a:lnSpc>
                <a:spcPct val="100000"/>
              </a:lnSpc>
              <a:spcBef>
                <a:spcPts val="0"/>
              </a:spcBef>
              <a:spcAft>
                <a:spcPts val="0"/>
              </a:spcAft>
            </a:pPr>
            <a:r>
              <a:rPr sz="1800" b="1" i="0">
                <a:solidFill>
                  <a:srgbClr val="082B55"/>
                </a:solidFill>
                <a:latin typeface="Arial"/>
              </a:rPr>
              <a:t>Matrix, adhesion and cytoskeletal remodeling</a:t>
            </a:r>
          </a:p>
        </p:txBody>
      </p:sp>
      <p:sp>
        <p:nvSpPr>
          <p:cNvPr id="26" name="TextBox 25"/>
          <p:cNvSpPr txBox="1"/>
          <p:nvPr/>
        </p:nvSpPr>
        <p:spPr>
          <a:xfrm>
            <a:off x="6419088" y="2834640"/>
            <a:ext cx="1298448" cy="201168"/>
          </a:xfrm>
          <a:prstGeom prst="rect">
            <a:avLst/>
          </a:prstGeom>
          <a:noFill/>
        </p:spPr>
        <p:txBody>
          <a:bodyPr wrap="square" lIns="0" rIns="0" tIns="0" bIns="0" anchor="t">
            <a:spAutoFit/>
          </a:bodyPr>
          <a:lstStyle/>
          <a:p>
            <a:pPr algn="l">
              <a:lnSpc>
                <a:spcPct val="100000"/>
              </a:lnSpc>
              <a:spcBef>
                <a:spcPts val="0"/>
              </a:spcBef>
              <a:spcAft>
                <a:spcPts val="0"/>
              </a:spcAft>
            </a:pPr>
            <a:r>
              <a:rPr sz="869" b="1" i="0">
                <a:solidFill>
                  <a:srgbClr val="D96552"/>
                </a:solidFill>
                <a:latin typeface="Arial"/>
              </a:rPr>
              <a:t>GENE EVIDENCE</a:t>
            </a:r>
          </a:p>
        </p:txBody>
      </p:sp>
      <p:sp>
        <p:nvSpPr>
          <p:cNvPr id="27" name="TextBox 26"/>
          <p:cNvSpPr txBox="1"/>
          <p:nvPr/>
        </p:nvSpPr>
        <p:spPr>
          <a:xfrm>
            <a:off x="7781544" y="2816352"/>
            <a:ext cx="3867911" cy="402336"/>
          </a:xfrm>
          <a:prstGeom prst="rect">
            <a:avLst/>
          </a:prstGeom>
          <a:noFill/>
        </p:spPr>
        <p:txBody>
          <a:bodyPr wrap="square" lIns="0" rIns="0" tIns="0" bIns="0" anchor="t">
            <a:spAutoFit/>
          </a:bodyPr>
          <a:lstStyle/>
          <a:p>
            <a:pPr algn="l">
              <a:lnSpc>
                <a:spcPct val="100000"/>
              </a:lnSpc>
              <a:spcBef>
                <a:spcPts val="0"/>
              </a:spcBef>
              <a:spcAft>
                <a:spcPts val="0"/>
              </a:spcAft>
            </a:pPr>
            <a:r>
              <a:rPr sz="1130" b="0" i="0">
                <a:solidFill>
                  <a:srgbClr val="263746"/>
                </a:solidFill>
                <a:latin typeface="Arial"/>
              </a:rPr>
              <a:t>LOXL1 was retained by two analyses; RAI14, PTPRK and MYL9 were also flight higher</a:t>
            </a:r>
          </a:p>
        </p:txBody>
      </p:sp>
      <p:sp>
        <p:nvSpPr>
          <p:cNvPr id="28" name="Rectangle 27"/>
          <p:cNvSpPr/>
          <p:nvPr/>
        </p:nvSpPr>
        <p:spPr>
          <a:xfrm>
            <a:off x="6419088" y="3282696"/>
            <a:ext cx="5230368" cy="10058"/>
          </a:xfrm>
          <a:prstGeom prst="rect">
            <a:avLst/>
          </a:prstGeom>
          <a:solidFill>
            <a:srgbClr val="E0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3410712"/>
            <a:ext cx="1298448" cy="201168"/>
          </a:xfrm>
          <a:prstGeom prst="rect">
            <a:avLst/>
          </a:prstGeom>
          <a:noFill/>
        </p:spPr>
        <p:txBody>
          <a:bodyPr wrap="square" lIns="0" rIns="0" tIns="0" bIns="0" anchor="t">
            <a:spAutoFit/>
          </a:bodyPr>
          <a:lstStyle/>
          <a:p>
            <a:pPr algn="l">
              <a:lnSpc>
                <a:spcPct val="100000"/>
              </a:lnSpc>
              <a:spcBef>
                <a:spcPts val="0"/>
              </a:spcBef>
              <a:spcAft>
                <a:spcPts val="0"/>
              </a:spcAft>
            </a:pPr>
            <a:r>
              <a:rPr sz="869" b="1" i="0">
                <a:solidFill>
                  <a:srgbClr val="9A6B20"/>
                </a:solidFill>
                <a:latin typeface="Arial"/>
              </a:rPr>
              <a:t>PATHWAY EVIDENCE</a:t>
            </a:r>
          </a:p>
        </p:txBody>
      </p:sp>
      <p:sp>
        <p:nvSpPr>
          <p:cNvPr id="30" name="TextBox 29"/>
          <p:cNvSpPr txBox="1"/>
          <p:nvPr/>
        </p:nvSpPr>
        <p:spPr>
          <a:xfrm>
            <a:off x="7781544" y="3392424"/>
            <a:ext cx="3867911" cy="402336"/>
          </a:xfrm>
          <a:prstGeom prst="rect">
            <a:avLst/>
          </a:prstGeom>
          <a:noFill/>
        </p:spPr>
        <p:txBody>
          <a:bodyPr wrap="square" lIns="0" rIns="0" tIns="0" bIns="0" anchor="t">
            <a:spAutoFit/>
          </a:bodyPr>
          <a:lstStyle/>
          <a:p>
            <a:pPr algn="l">
              <a:lnSpc>
                <a:spcPct val="100000"/>
              </a:lnSpc>
              <a:spcBef>
                <a:spcPts val="0"/>
              </a:spcBef>
              <a:spcAft>
                <a:spcPts val="0"/>
              </a:spcAft>
            </a:pPr>
            <a:r>
              <a:rPr sz="1130" b="0" i="0">
                <a:solidFill>
                  <a:srgbClr val="263746"/>
                </a:solidFill>
                <a:latin typeface="Arial"/>
              </a:rPr>
              <a:t>No shared structural Reactome pathway</a:t>
            </a:r>
          </a:p>
        </p:txBody>
      </p:sp>
      <p:sp>
        <p:nvSpPr>
          <p:cNvPr id="31" name="Rectangle 30"/>
          <p:cNvSpPr/>
          <p:nvPr/>
        </p:nvSpPr>
        <p:spPr>
          <a:xfrm>
            <a:off x="6419088" y="3858768"/>
            <a:ext cx="5230368" cy="10058"/>
          </a:xfrm>
          <a:prstGeom prst="rect">
            <a:avLst/>
          </a:prstGeom>
          <a:solidFill>
            <a:srgbClr val="E0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9088" y="3986784"/>
            <a:ext cx="1298448" cy="201168"/>
          </a:xfrm>
          <a:prstGeom prst="rect">
            <a:avLst/>
          </a:prstGeom>
          <a:noFill/>
        </p:spPr>
        <p:txBody>
          <a:bodyPr wrap="square" lIns="0" rIns="0" tIns="0" bIns="0" anchor="t">
            <a:spAutoFit/>
          </a:bodyPr>
          <a:lstStyle/>
          <a:p>
            <a:pPr algn="l">
              <a:lnSpc>
                <a:spcPct val="100000"/>
              </a:lnSpc>
              <a:spcBef>
                <a:spcPts val="0"/>
              </a:spcBef>
              <a:spcAft>
                <a:spcPts val="0"/>
              </a:spcAft>
            </a:pPr>
            <a:r>
              <a:rPr sz="869" b="1" i="0">
                <a:solidFill>
                  <a:srgbClr val="2D6496"/>
                </a:solidFill>
                <a:latin typeface="Arial"/>
              </a:rPr>
              <a:t>CONTEXT</a:t>
            </a:r>
          </a:p>
        </p:txBody>
      </p:sp>
      <p:sp>
        <p:nvSpPr>
          <p:cNvPr id="33" name="TextBox 32"/>
          <p:cNvSpPr txBox="1"/>
          <p:nvPr/>
        </p:nvSpPr>
        <p:spPr>
          <a:xfrm>
            <a:off x="7781544" y="3968496"/>
            <a:ext cx="3867911" cy="402336"/>
          </a:xfrm>
          <a:prstGeom prst="rect">
            <a:avLst/>
          </a:prstGeom>
          <a:noFill/>
        </p:spPr>
        <p:txBody>
          <a:bodyPr wrap="square" lIns="0" rIns="0" tIns="0" bIns="0" anchor="t">
            <a:spAutoFit/>
          </a:bodyPr>
          <a:lstStyle/>
          <a:p>
            <a:pPr algn="l">
              <a:lnSpc>
                <a:spcPct val="100000"/>
              </a:lnSpc>
              <a:spcBef>
                <a:spcPts val="0"/>
              </a:spcBef>
              <a:spcAft>
                <a:spcPts val="0"/>
              </a:spcAft>
            </a:pPr>
            <a:r>
              <a:rPr sz="1130" b="0" i="0">
                <a:solidFill>
                  <a:srgbClr val="263746"/>
                </a:solidFill>
                <a:latin typeface="Arial"/>
              </a:rPr>
              <a:t>The genes span matrix, adhesion and cytoskeletal functions</a:t>
            </a:r>
          </a:p>
        </p:txBody>
      </p:sp>
      <p:sp>
        <p:nvSpPr>
          <p:cNvPr id="34" name="Rectangle 33"/>
          <p:cNvSpPr/>
          <p:nvPr/>
        </p:nvSpPr>
        <p:spPr>
          <a:xfrm>
            <a:off x="6419088" y="4434840"/>
            <a:ext cx="5230368" cy="10058"/>
          </a:xfrm>
          <a:prstGeom prst="rect">
            <a:avLst/>
          </a:prstGeom>
          <a:solidFill>
            <a:srgbClr val="E0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19088" y="4773168"/>
            <a:ext cx="5230368" cy="941832"/>
          </a:xfrm>
          <a:prstGeom prst="rect">
            <a:avLst/>
          </a:prstGeom>
          <a:solidFill>
            <a:srgbClr val="E9F1F7"/>
          </a:solidFill>
          <a:ln w="10160">
            <a:solidFill>
              <a:srgbClr val="CADA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56832" y="4956048"/>
            <a:ext cx="4754880" cy="182880"/>
          </a:xfrm>
          <a:prstGeom prst="rect">
            <a:avLst/>
          </a:prstGeom>
          <a:noFill/>
        </p:spPr>
        <p:txBody>
          <a:bodyPr wrap="square" lIns="0" rIns="0" tIns="0" bIns="0" anchor="t">
            <a:spAutoFit/>
          </a:bodyPr>
          <a:lstStyle/>
          <a:p>
            <a:pPr algn="ctr">
              <a:lnSpc>
                <a:spcPct val="100000"/>
              </a:lnSpc>
              <a:spcBef>
                <a:spcPts val="0"/>
              </a:spcBef>
              <a:spcAft>
                <a:spcPts val="0"/>
              </a:spcAft>
            </a:pPr>
            <a:r>
              <a:rPr sz="880" b="1" i="0">
                <a:solidFill>
                  <a:srgbClr val="2D6496"/>
                </a:solidFill>
                <a:latin typeface="Arial"/>
              </a:rPr>
              <a:t>COMPLEMENTARY HYPOTHESIS</a:t>
            </a:r>
          </a:p>
        </p:txBody>
      </p:sp>
      <p:sp>
        <p:nvSpPr>
          <p:cNvPr id="37" name="TextBox 36"/>
          <p:cNvSpPr txBox="1"/>
          <p:nvPr/>
        </p:nvSpPr>
        <p:spPr>
          <a:xfrm>
            <a:off x="6656832" y="5184648"/>
            <a:ext cx="4754880" cy="310896"/>
          </a:xfrm>
          <a:prstGeom prst="rect">
            <a:avLst/>
          </a:prstGeom>
          <a:noFill/>
        </p:spPr>
        <p:txBody>
          <a:bodyPr wrap="square" lIns="0" rIns="0" tIns="0" bIns="0" anchor="ctr">
            <a:spAutoFit/>
          </a:bodyPr>
          <a:lstStyle/>
          <a:p>
            <a:pPr algn="ctr">
              <a:lnSpc>
                <a:spcPct val="100000"/>
              </a:lnSpc>
              <a:spcBef>
                <a:spcPts val="0"/>
              </a:spcBef>
              <a:spcAft>
                <a:spcPts val="0"/>
              </a:spcAft>
            </a:pPr>
            <a:r>
              <a:rPr sz="1220" b="1" i="0">
                <a:solidFill>
                  <a:srgbClr val="263746"/>
                </a:solidFill>
                <a:latin typeface="Arial"/>
              </a:rPr>
              <a:t>Matrix, adhesion and cytoskeletal remodeling</a:t>
            </a:r>
          </a:p>
        </p:txBody>
      </p:sp>
      <p:sp>
        <p:nvSpPr>
          <p:cNvPr id="38" name="TextBox 37"/>
          <p:cNvSpPr txBox="1"/>
          <p:nvPr/>
        </p:nvSpPr>
        <p:spPr>
          <a:xfrm>
            <a:off x="329184" y="6510528"/>
            <a:ext cx="10972800" cy="17373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720" b="0" i="0">
                <a:solidFill>
                  <a:srgbClr val="8A969E"/>
                </a:solidFill>
                <a:latin typeface="Arial"/>
              </a:rPr>
              <a:t>All displayed gene results were higher in flight. Direct spaceflight evidence for both complementary hypotheses was limited.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292608" y="530352"/>
            <a:ext cx="5029200" cy="22860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050" b="1" i="0">
                <a:solidFill>
                  <a:srgbClr val="9A6B20"/>
                </a:solidFill>
                <a:latin typeface="Arial"/>
              </a:rPr>
              <a:t>TAKEAWAYS</a:t>
            </a:r>
          </a:p>
        </p:txBody>
      </p:sp>
      <p:sp>
        <p:nvSpPr>
          <p:cNvPr id="5" name="TextBox 4"/>
          <p:cNvSpPr txBox="1"/>
          <p:nvPr/>
        </p:nvSpPr>
        <p:spPr>
          <a:xfrm>
            <a:off x="292608" y="786384"/>
            <a:ext cx="11430000" cy="585216"/>
          </a:xfrm>
          <a:prstGeom prst="rect">
            <a:avLst/>
          </a:prstGeom>
          <a:noFill/>
        </p:spPr>
        <p:txBody>
          <a:bodyPr wrap="square" lIns="18288" rIns="18288" tIns="18288" bIns="18288" anchor="ctr">
            <a:spAutoFit/>
          </a:bodyPr>
          <a:lstStyle/>
          <a:p>
            <a:pPr algn="l">
              <a:lnSpc>
                <a:spcPct val="100000"/>
              </a:lnSpc>
              <a:spcBef>
                <a:spcPts val="0"/>
              </a:spcBef>
              <a:spcAft>
                <a:spcPts val="0"/>
              </a:spcAft>
            </a:pPr>
            <a:r>
              <a:rPr sz="2700" b="1" i="0">
                <a:solidFill>
                  <a:srgbClr val="082B55"/>
                </a:solidFill>
                <a:latin typeface="Arial"/>
              </a:rPr>
              <a:t>What the models can and cannot tell us</a:t>
            </a:r>
          </a:p>
        </p:txBody>
      </p:sp>
      <p:sp>
        <p:nvSpPr>
          <p:cNvPr id="6" name="Rectangle 5"/>
          <p:cNvSpPr/>
          <p:nvPr/>
        </p:nvSpPr>
        <p:spPr>
          <a:xfrm>
            <a:off x="384048" y="1920240"/>
            <a:ext cx="3246120" cy="32004"/>
          </a:xfrm>
          <a:prstGeom prst="rect">
            <a:avLst/>
          </a:prstGeom>
          <a:solidFill>
            <a:srgbClr val="2D64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2336" y="2130552"/>
            <a:ext cx="621792" cy="365760"/>
          </a:xfrm>
          <a:prstGeom prst="rect">
            <a:avLst/>
          </a:prstGeom>
          <a:noFill/>
        </p:spPr>
        <p:txBody>
          <a:bodyPr wrap="square" lIns="0" rIns="0" tIns="0" bIns="0" anchor="t">
            <a:spAutoFit/>
          </a:bodyPr>
          <a:lstStyle/>
          <a:p>
            <a:pPr algn="l">
              <a:lnSpc>
                <a:spcPct val="100000"/>
              </a:lnSpc>
              <a:spcBef>
                <a:spcPts val="0"/>
              </a:spcBef>
              <a:spcAft>
                <a:spcPts val="0"/>
              </a:spcAft>
            </a:pPr>
            <a:r>
              <a:rPr sz="2100" b="1" i="0">
                <a:solidFill>
                  <a:srgbClr val="2D6496"/>
                </a:solidFill>
                <a:latin typeface="Arial"/>
              </a:rPr>
              <a:t>01</a:t>
            </a:r>
          </a:p>
        </p:txBody>
      </p:sp>
      <p:sp>
        <p:nvSpPr>
          <p:cNvPr id="8" name="TextBox 7"/>
          <p:cNvSpPr txBox="1"/>
          <p:nvPr/>
        </p:nvSpPr>
        <p:spPr>
          <a:xfrm>
            <a:off x="1170432" y="2148840"/>
            <a:ext cx="2249424" cy="329184"/>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82B55"/>
                </a:solidFill>
                <a:latin typeface="Arial"/>
              </a:rPr>
              <a:t>Computational evidence</a:t>
            </a:r>
          </a:p>
        </p:txBody>
      </p:sp>
      <p:sp>
        <p:nvSpPr>
          <p:cNvPr id="9" name="TextBox 8"/>
          <p:cNvSpPr txBox="1"/>
          <p:nvPr/>
        </p:nvSpPr>
        <p:spPr>
          <a:xfrm>
            <a:off x="411479" y="2852928"/>
            <a:ext cx="2999232" cy="1920240"/>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63746"/>
                </a:solidFill>
                <a:latin typeface="Arial"/>
              </a:rPr>
              <a:t>expiMap and the generative models summarize patterns in the measured RNA-seq data. They do not reveal mechanism directly.</a:t>
            </a:r>
          </a:p>
        </p:txBody>
      </p:sp>
      <p:sp>
        <p:nvSpPr>
          <p:cNvPr id="10" name="Rectangle 9"/>
          <p:cNvSpPr/>
          <p:nvPr/>
        </p:nvSpPr>
        <p:spPr>
          <a:xfrm>
            <a:off x="3877056" y="1920240"/>
            <a:ext cx="10972" cy="3227832"/>
          </a:xfrm>
          <a:prstGeom prst="rect">
            <a:avLst/>
          </a:prstGeom>
          <a:solidFill>
            <a:srgbClr val="D8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59936" y="1920240"/>
            <a:ext cx="3246120" cy="32004"/>
          </a:xfrm>
          <a:prstGeom prst="rect">
            <a:avLst/>
          </a:prstGeom>
          <a:solidFill>
            <a:srgbClr val="1786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78224" y="2130552"/>
            <a:ext cx="621792" cy="365760"/>
          </a:xfrm>
          <a:prstGeom prst="rect">
            <a:avLst/>
          </a:prstGeom>
          <a:noFill/>
        </p:spPr>
        <p:txBody>
          <a:bodyPr wrap="square" lIns="0" rIns="0" tIns="0" bIns="0" anchor="t">
            <a:spAutoFit/>
          </a:bodyPr>
          <a:lstStyle/>
          <a:p>
            <a:pPr algn="l">
              <a:lnSpc>
                <a:spcPct val="100000"/>
              </a:lnSpc>
              <a:spcBef>
                <a:spcPts val="0"/>
              </a:spcBef>
              <a:spcAft>
                <a:spcPts val="0"/>
              </a:spcAft>
            </a:pPr>
            <a:r>
              <a:rPr sz="2100" b="1" i="0">
                <a:solidFill>
                  <a:srgbClr val="178681"/>
                </a:solidFill>
                <a:latin typeface="Arial"/>
              </a:rPr>
              <a:t>02</a:t>
            </a:r>
          </a:p>
        </p:txBody>
      </p:sp>
      <p:sp>
        <p:nvSpPr>
          <p:cNvPr id="13" name="TextBox 12"/>
          <p:cNvSpPr txBox="1"/>
          <p:nvPr/>
        </p:nvSpPr>
        <p:spPr>
          <a:xfrm>
            <a:off x="4846320" y="2148840"/>
            <a:ext cx="2249424" cy="329184"/>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82B55"/>
                </a:solidFill>
                <a:latin typeface="Arial"/>
              </a:rPr>
              <a:t>Candidates to follow up</a:t>
            </a:r>
          </a:p>
        </p:txBody>
      </p:sp>
      <p:sp>
        <p:nvSpPr>
          <p:cNvPr id="14" name="TextBox 13"/>
          <p:cNvSpPr txBox="1"/>
          <p:nvPr/>
        </p:nvSpPr>
        <p:spPr>
          <a:xfrm>
            <a:off x="4087368" y="2852928"/>
            <a:ext cx="2999232" cy="1920240"/>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63746"/>
                </a:solidFill>
                <a:latin typeface="Arial"/>
              </a:rPr>
              <a:t>Agreement among genes, pathways, models, and prior studies narrows the list of tissues and targets.</a:t>
            </a:r>
          </a:p>
        </p:txBody>
      </p:sp>
      <p:sp>
        <p:nvSpPr>
          <p:cNvPr id="15" name="Rectangle 14"/>
          <p:cNvSpPr/>
          <p:nvPr/>
        </p:nvSpPr>
        <p:spPr>
          <a:xfrm>
            <a:off x="7552944" y="1920240"/>
            <a:ext cx="10972" cy="3227832"/>
          </a:xfrm>
          <a:prstGeom prst="rect">
            <a:avLst/>
          </a:prstGeom>
          <a:solidFill>
            <a:srgbClr val="D8D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35824" y="1920240"/>
            <a:ext cx="3246120" cy="32004"/>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54112" y="2130552"/>
            <a:ext cx="621792" cy="365760"/>
          </a:xfrm>
          <a:prstGeom prst="rect">
            <a:avLst/>
          </a:prstGeom>
          <a:noFill/>
        </p:spPr>
        <p:txBody>
          <a:bodyPr wrap="square" lIns="0" rIns="0" tIns="0" bIns="0" anchor="t">
            <a:spAutoFit/>
          </a:bodyPr>
          <a:lstStyle/>
          <a:p>
            <a:pPr algn="l">
              <a:lnSpc>
                <a:spcPct val="100000"/>
              </a:lnSpc>
              <a:spcBef>
                <a:spcPts val="0"/>
              </a:spcBef>
              <a:spcAft>
                <a:spcPts val="0"/>
              </a:spcAft>
            </a:pPr>
            <a:r>
              <a:rPr sz="2100" b="1" i="0">
                <a:solidFill>
                  <a:srgbClr val="D37B00"/>
                </a:solidFill>
                <a:latin typeface="Arial"/>
              </a:rPr>
              <a:t>03</a:t>
            </a:r>
          </a:p>
        </p:txBody>
      </p:sp>
      <p:sp>
        <p:nvSpPr>
          <p:cNvPr id="18" name="TextBox 17"/>
          <p:cNvSpPr txBox="1"/>
          <p:nvPr/>
        </p:nvSpPr>
        <p:spPr>
          <a:xfrm>
            <a:off x="8522208" y="2148840"/>
            <a:ext cx="2249424" cy="329184"/>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082B55"/>
                </a:solidFill>
                <a:latin typeface="Arial"/>
              </a:rPr>
              <a:t>Experimental testing</a:t>
            </a:r>
          </a:p>
        </p:txBody>
      </p:sp>
      <p:sp>
        <p:nvSpPr>
          <p:cNvPr id="19" name="TextBox 18"/>
          <p:cNvSpPr txBox="1"/>
          <p:nvPr/>
        </p:nvSpPr>
        <p:spPr>
          <a:xfrm>
            <a:off x="7763256" y="2852928"/>
            <a:ext cx="2999232" cy="1920240"/>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63746"/>
                </a:solidFill>
                <a:latin typeface="Arial"/>
              </a:rPr>
              <a:t>Wet-lab experiments must confirm the biological changes and distinguish regulation from shifts in cell composition.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347472"/>
            <a:ext cx="12191999" cy="6510528"/>
          </a:xfrm>
          <a:prstGeom prst="rect">
            <a:avLst/>
          </a:prstGeom>
          <a:solidFill>
            <a:srgbClr val="08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115568"/>
            <a:ext cx="4937760" cy="7315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3400" b="1" i="0">
                <a:solidFill>
                  <a:srgbClr val="FFFFFF"/>
                </a:solidFill>
                <a:latin typeface="Arial"/>
              </a:rPr>
              <a:t>Thank you</a:t>
            </a:r>
          </a:p>
        </p:txBody>
      </p:sp>
      <p:sp>
        <p:nvSpPr>
          <p:cNvPr id="6" name="TextBox 5"/>
          <p:cNvSpPr txBox="1"/>
          <p:nvPr/>
        </p:nvSpPr>
        <p:spPr>
          <a:xfrm>
            <a:off x="612648" y="1920240"/>
            <a:ext cx="3657600" cy="41148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2100" b="0" i="0">
                <a:solidFill>
                  <a:srgbClr val="BFD0E1"/>
                </a:solidFill>
                <a:latin typeface="Arial"/>
              </a:rPr>
              <a:t>Questions?</a:t>
            </a:r>
          </a:p>
        </p:txBody>
      </p:sp>
      <p:sp>
        <p:nvSpPr>
          <p:cNvPr id="7" name="Rectangle 6"/>
          <p:cNvSpPr/>
          <p:nvPr/>
        </p:nvSpPr>
        <p:spPr>
          <a:xfrm>
            <a:off x="621792" y="2596896"/>
            <a:ext cx="2743200" cy="45720"/>
          </a:xfrm>
          <a:prstGeom prst="rect">
            <a:avLst/>
          </a:prstGeom>
          <a:solidFill>
            <a:srgbClr val="D37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2935224"/>
            <a:ext cx="2743200" cy="3200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800" b="1" i="0">
                <a:solidFill>
                  <a:srgbClr val="FFFFFF"/>
                </a:solidFill>
                <a:latin typeface="Arial"/>
              </a:rPr>
              <a:t>Jason Trinh</a:t>
            </a:r>
          </a:p>
        </p:txBody>
      </p:sp>
      <p:sp>
        <p:nvSpPr>
          <p:cNvPr id="9" name="TextBox 8"/>
          <p:cNvSpPr txBox="1"/>
          <p:nvPr/>
        </p:nvSpPr>
        <p:spPr>
          <a:xfrm>
            <a:off x="621792" y="3319272"/>
            <a:ext cx="3200400" cy="27432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400" b="0" i="0">
                <a:solidFill>
                  <a:srgbClr val="BFD0E1"/>
                </a:solidFill>
                <a:latin typeface="Arial"/>
              </a:rPr>
              <a:t>jasontrinh@berkeley.edu</a:t>
            </a:r>
          </a:p>
        </p:txBody>
      </p:sp>
      <p:sp>
        <p:nvSpPr>
          <p:cNvPr id="10" name="TextBox 9"/>
          <p:cNvSpPr txBox="1"/>
          <p:nvPr/>
        </p:nvSpPr>
        <p:spPr>
          <a:xfrm>
            <a:off x="5504688" y="1353312"/>
            <a:ext cx="1188720" cy="2468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i="0">
                <a:solidFill>
                  <a:srgbClr val="7FA0BC"/>
                </a:solidFill>
                <a:latin typeface="Arial"/>
              </a:rPr>
              <a:t>Mentor</a:t>
            </a:r>
          </a:p>
        </p:txBody>
      </p:sp>
      <p:sp>
        <p:nvSpPr>
          <p:cNvPr id="11" name="TextBox 10"/>
          <p:cNvSpPr txBox="1"/>
          <p:nvPr/>
        </p:nvSpPr>
        <p:spPr>
          <a:xfrm>
            <a:off x="6793992" y="1325880"/>
            <a:ext cx="416052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700" b="1" i="0">
                <a:solidFill>
                  <a:srgbClr val="FFFFFF"/>
                </a:solidFill>
                <a:latin typeface="Arial"/>
              </a:rPr>
              <a:t>James Casaletto</a:t>
            </a:r>
          </a:p>
        </p:txBody>
      </p:sp>
      <p:sp>
        <p:nvSpPr>
          <p:cNvPr id="12" name="TextBox 11"/>
          <p:cNvSpPr txBox="1"/>
          <p:nvPr/>
        </p:nvSpPr>
        <p:spPr>
          <a:xfrm>
            <a:off x="5504688" y="1975104"/>
            <a:ext cx="1188720" cy="2468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i="0">
                <a:solidFill>
                  <a:srgbClr val="7FA0BC"/>
                </a:solidFill>
                <a:latin typeface="Arial"/>
              </a:rPr>
              <a:t>Program</a:t>
            </a:r>
          </a:p>
        </p:txBody>
      </p:sp>
      <p:sp>
        <p:nvSpPr>
          <p:cNvPr id="13" name="TextBox 12"/>
          <p:cNvSpPr txBox="1"/>
          <p:nvPr/>
        </p:nvSpPr>
        <p:spPr>
          <a:xfrm>
            <a:off x="6793992" y="1947672"/>
            <a:ext cx="4407408" cy="4754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i="0">
                <a:solidFill>
                  <a:srgbClr val="FFFFFF"/>
                </a:solidFill>
                <a:latin typeface="Arial"/>
              </a:rPr>
              <a:t>NASA Space Life Sciences Training Program</a:t>
            </a:r>
          </a:p>
        </p:txBody>
      </p:sp>
      <p:sp>
        <p:nvSpPr>
          <p:cNvPr id="14" name="TextBox 13"/>
          <p:cNvSpPr txBox="1"/>
          <p:nvPr/>
        </p:nvSpPr>
        <p:spPr>
          <a:xfrm>
            <a:off x="5504688" y="2779776"/>
            <a:ext cx="1188720" cy="2468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i="0">
                <a:solidFill>
                  <a:srgbClr val="7FA0BC"/>
                </a:solidFill>
                <a:latin typeface="Arial"/>
              </a:rPr>
              <a:t>Data</a:t>
            </a:r>
          </a:p>
        </p:txBody>
      </p:sp>
      <p:sp>
        <p:nvSpPr>
          <p:cNvPr id="15" name="TextBox 14"/>
          <p:cNvSpPr txBox="1"/>
          <p:nvPr/>
        </p:nvSpPr>
        <p:spPr>
          <a:xfrm>
            <a:off x="6793992" y="2752344"/>
            <a:ext cx="416052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i="0">
                <a:solidFill>
                  <a:srgbClr val="FFFFFF"/>
                </a:solidFill>
                <a:latin typeface="Arial"/>
              </a:rPr>
              <a:t>NASA OSDR | ARCHS4 | Reactome</a:t>
            </a:r>
          </a:p>
        </p:txBody>
      </p:sp>
      <p:sp>
        <p:nvSpPr>
          <p:cNvPr id="16" name="TextBox 15"/>
          <p:cNvSpPr txBox="1"/>
          <p:nvPr/>
        </p:nvSpPr>
        <p:spPr>
          <a:xfrm>
            <a:off x="5504688" y="3410712"/>
            <a:ext cx="1188720" cy="2468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i="0">
                <a:solidFill>
                  <a:srgbClr val="7FA0BC"/>
                </a:solidFill>
                <a:latin typeface="Arial"/>
              </a:rPr>
              <a:t>AI tools</a:t>
            </a:r>
          </a:p>
        </p:txBody>
      </p:sp>
      <p:sp>
        <p:nvSpPr>
          <p:cNvPr id="17" name="TextBox 16"/>
          <p:cNvSpPr txBox="1"/>
          <p:nvPr/>
        </p:nvSpPr>
        <p:spPr>
          <a:xfrm>
            <a:off x="6793992" y="3383280"/>
            <a:ext cx="416052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i="0">
                <a:solidFill>
                  <a:srgbClr val="FFFFFF"/>
                </a:solidFill>
                <a:latin typeface="Arial"/>
              </a:rPr>
              <a:t>ChatGPT | Claude</a:t>
            </a:r>
          </a:p>
        </p:txBody>
      </p:sp>
      <p:sp>
        <p:nvSpPr>
          <p:cNvPr id="18" name="TextBox 17"/>
          <p:cNvSpPr txBox="1"/>
          <p:nvPr/>
        </p:nvSpPr>
        <p:spPr>
          <a:xfrm>
            <a:off x="5504688" y="4041648"/>
            <a:ext cx="1188720" cy="3657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00" b="1" i="0">
                <a:solidFill>
                  <a:srgbClr val="7FA0BC"/>
                </a:solidFill>
                <a:latin typeface="Arial"/>
              </a:rPr>
              <a:t>Code and manuscript</a:t>
            </a:r>
          </a:p>
        </p:txBody>
      </p:sp>
      <p:sp>
        <p:nvSpPr>
          <p:cNvPr id="19" name="TextBox 18"/>
          <p:cNvSpPr txBox="1"/>
          <p:nvPr/>
        </p:nvSpPr>
        <p:spPr>
          <a:xfrm>
            <a:off x="6793992" y="4023360"/>
            <a:ext cx="4160520" cy="310896"/>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0" i="0">
                <a:solidFill>
                  <a:srgbClr val="FFFFFF"/>
                </a:solidFill>
                <a:latin typeface="Arial"/>
              </a:rPr>
              <a:t>github.com/jasont314/nasa-mouse</a:t>
            </a:r>
          </a:p>
        </p:txBody>
      </p:sp>
      <p:sp>
        <p:nvSpPr>
          <p:cNvPr id="20" name="TextBox 19"/>
          <p:cNvSpPr txBox="1"/>
          <p:nvPr/>
        </p:nvSpPr>
        <p:spPr>
          <a:xfrm>
            <a:off x="5504688" y="5029200"/>
            <a:ext cx="5486400" cy="36576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350" b="0" i="1">
                <a:solidFill>
                  <a:srgbClr val="BFD0E1"/>
                </a:solidFill>
                <a:latin typeface="Arial"/>
              </a:rPr>
              <a:t>All biological associations were tested in observed OSDR profiles.</a:t>
            </a:r>
          </a:p>
        </p:txBody>
      </p:sp>
    </p:spTree>
  </p:cSld>
  <p:clrMapOvr>
    <a:masterClrMapping/>
  </p:clrMapOvr>
</p:sld>
</file>

<file path=ppt/theme/theme1.xml><?xml version="1.0" encoding="utf-8"?>
<a:theme xmlns:a="http://schemas.openxmlformats.org/drawingml/2006/main" name="1_Office Theme">
  <a:themeElements>
    <a:clrScheme name="BPS_2024_gold">
      <a:dk1>
        <a:srgbClr val="061F49"/>
      </a:dk1>
      <a:lt1>
        <a:srgbClr val="FFFFFF"/>
      </a:lt1>
      <a:dk2>
        <a:srgbClr val="061F49"/>
      </a:dk2>
      <a:lt2>
        <a:srgbClr val="E7E6E6"/>
      </a:lt2>
      <a:accent1>
        <a:srgbClr val="061F48"/>
      </a:accent1>
      <a:accent2>
        <a:srgbClr val="276644"/>
      </a:accent2>
      <a:accent3>
        <a:srgbClr val="D47800"/>
      </a:accent3>
      <a:accent4>
        <a:srgbClr val="D4BF88"/>
      </a:accent4>
      <a:accent5>
        <a:srgbClr val="8F6725"/>
      </a:accent5>
      <a:accent6>
        <a:srgbClr val="205391"/>
      </a:accent6>
      <a:hlink>
        <a:srgbClr val="205391"/>
      </a:hlink>
      <a:folHlink>
        <a:srgbClr val="0B3C91"/>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4-01-24_BPS_PPT_Template" id="{F69818ED-1EB5-154C-9646-61EECBC32C17}" vid="{337BE73D-1FC8-8444-A6A2-B6928143BD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3f8f0fe-7515-424d-86d7-0a337e4aa03f">
      <UserInfo>
        <DisplayName>Mangan, Keara L. (HQ-DP000)[BOOZ ALLEN &amp; HAMILTON INC]</DisplayName>
        <AccountId>13</AccountId>
        <AccountType/>
      </UserInfo>
      <UserInfo>
        <DisplayName>Gilbertson, Gamble (HQ-DP000)[EAST2]</DisplayName>
        <AccountId>15</AccountId>
        <AccountType/>
      </UserInfo>
      <UserInfo>
        <DisplayName>Lee, Jemie (HQ-DP000)[BOOZ ALLEN &amp; HAMILTON INC]</DisplayName>
        <AccountId>14</AccountId>
        <AccountType/>
      </UserInfo>
      <UserInfo>
        <DisplayName>White Lyons, Melanie M. (HQ-DP000)[BOOZ ALLEN &amp; HAMILTON INC]</DisplayName>
        <AccountId>12</AccountId>
        <AccountType/>
      </UserInfo>
      <UserInfo>
        <DisplayName>Lele, Julie (HQ-DM000)[BOOZ ALLEN &amp; HAMILTON INC]</DisplayName>
        <AccountId>10</AccountId>
        <AccountType/>
      </UserInfo>
      <UserInfo>
        <DisplayName>Burg, Joseph A. (HQ-DP000)[BOOZ ALLEN &amp; HAMILTON INC]</DisplayName>
        <AccountId>119</AccountId>
        <AccountType/>
      </UserInfo>
      <UserInfo>
        <DisplayName>Carnell, Lisa (HQ-DP000)</DisplayName>
        <AccountId>21</AccountId>
        <AccountType/>
      </UserInfo>
      <UserInfo>
        <DisplayName>Hertz, Paul (HQ-DA000)</DisplayName>
        <AccountId>100</AccountId>
        <AccountType/>
      </UserInfo>
      <UserInfo>
        <DisplayName>Fauntleroy, Haley (HQ-DP000)[BOOZ ALLEN &amp; HAMILTON INC]</DisplayName>
        <AccountId>22</AccountId>
        <AccountType/>
      </UserInfo>
      <UserInfo>
        <DisplayName>Cubberley, Hannah (HQ-DP000)[BOOZ ALLEN &amp; HAMILTON INC]</DisplayName>
        <AccountId>28</AccountId>
        <AccountType/>
      </UserInfo>
      <UserInfo>
        <DisplayName>Galazka, Jonathan M. (ARC-SC)</DisplayName>
        <AccountId>182</AccountId>
        <AccountType/>
      </UserInfo>
      <UserInfo>
        <DisplayName>Massa, Gioia D. (KSC-UBA00)</DisplayName>
        <AccountId>183</AccountId>
        <AccountType/>
      </UserInfo>
      <UserInfo>
        <DisplayName>Callas, John L (JPL-7500)[JPL Employee]</DisplayName>
        <AccountId>58</AccountId>
        <AccountType/>
      </UserInfo>
    </SharedWithUsers>
    <lcf76f155ced4ddcb4097134ff3c332f xmlns="6527ccf2-24c5-4a86-be07-80241091aeab">
      <Terms xmlns="http://schemas.microsoft.com/office/infopath/2007/PartnerControls"/>
    </lcf76f155ced4ddcb4097134ff3c332f>
    <TaxCatchAll xmlns="d900e117-17a0-4b24-9e47-511ef1d02c4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9211DFDB3DA3845BD556C40032E64D0" ma:contentTypeVersion="16" ma:contentTypeDescription="Create a new document." ma:contentTypeScope="" ma:versionID="6fb8bd780a822da7d8e3d3891ea50a85">
  <xsd:schema xmlns:xsd="http://www.w3.org/2001/XMLSchema" xmlns:xs="http://www.w3.org/2001/XMLSchema" xmlns:p="http://schemas.microsoft.com/office/2006/metadata/properties" xmlns:ns2="6527ccf2-24c5-4a86-be07-80241091aeab" xmlns:ns3="43f8f0fe-7515-424d-86d7-0a337e4aa03f" xmlns:ns4="d900e117-17a0-4b24-9e47-511ef1d02c43" targetNamespace="http://schemas.microsoft.com/office/2006/metadata/properties" ma:root="true" ma:fieldsID="cb6437ea38db5bccedba4b312cc29faa" ns2:_="" ns3:_="" ns4:_="">
    <xsd:import namespace="6527ccf2-24c5-4a86-be07-80241091aeab"/>
    <xsd:import namespace="43f8f0fe-7515-424d-86d7-0a337e4aa03f"/>
    <xsd:import namespace="d900e117-17a0-4b24-9e47-511ef1d02c4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lcf76f155ced4ddcb4097134ff3c332f" minOccurs="0"/>
                <xsd:element ref="ns4: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27ccf2-24c5-4a86-be07-80241091ae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Location" ma:index="14" nillable="true" ma:displayName="Location"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0fb68aea-d2ee-4a6c-85e6-e4b5686e96e8" ma:termSetId="09814cd3-568e-fe90-9814-8d621ff8fb84" ma:anchorId="fba54fb3-c3e1-fe81-a776-ca4b69148c4d" ma:open="true" ma:isKeyword="false">
      <xsd:complexType>
        <xsd:sequence>
          <xsd:element ref="pc:Terms" minOccurs="0" maxOccurs="1"/>
        </xsd:sequence>
      </xsd:complex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3f8f0fe-7515-424d-86d7-0a337e4aa03f"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900e117-17a0-4b24-9e47-511ef1d02c43"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ea376dd-3888-4ec2-aac9-035288c88b0b}" ma:internalName="TaxCatchAll" ma:showField="CatchAllData" ma:web="43f8f0fe-7515-424d-86d7-0a337e4aa0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62A2FE-7911-4E6A-8BD5-16877A182B2F}">
  <ds:schemaRefs>
    <ds:schemaRef ds:uri="http://schemas.openxmlformats.org/package/2006/metadata/core-properties"/>
    <ds:schemaRef ds:uri="a3f7648c-ef34-4383-9913-3e4132c38d7f"/>
    <ds:schemaRef ds:uri="http://schemas.microsoft.com/office/infopath/2007/PartnerControls"/>
    <ds:schemaRef ds:uri="http://purl.org/dc/dcmitype/"/>
    <ds:schemaRef ds:uri="http://schemas.microsoft.com/office/2006/documentManagement/types"/>
    <ds:schemaRef ds:uri="http://purl.org/dc/elements/1.1/"/>
    <ds:schemaRef ds:uri="http://schemas.microsoft.com/office/2006/metadata/properties"/>
    <ds:schemaRef ds:uri="http://www.w3.org/XML/1998/namespace"/>
    <ds:schemaRef ds:uri="http://purl.org/dc/terms/"/>
    <ds:schemaRef ds:uri="c852713b-0caa-4ac0-ba75-048f00e27b76"/>
    <ds:schemaRef ds:uri="43f8f0fe-7515-424d-86d7-0a337e4aa03f"/>
    <ds:schemaRef ds:uri="6527ccf2-24c5-4a86-be07-80241091aeab"/>
    <ds:schemaRef ds:uri="d900e117-17a0-4b24-9e47-511ef1d02c43"/>
  </ds:schemaRefs>
</ds:datastoreItem>
</file>

<file path=customXml/itemProps2.xml><?xml version="1.0" encoding="utf-8"?>
<ds:datastoreItem xmlns:ds="http://schemas.openxmlformats.org/officeDocument/2006/customXml" ds:itemID="{2FDDDE26-D355-44FB-AB9E-19995162FF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27ccf2-24c5-4a86-be07-80241091aeab"/>
    <ds:schemaRef ds:uri="43f8f0fe-7515-424d-86d7-0a337e4aa03f"/>
    <ds:schemaRef ds:uri="d900e117-17a0-4b24-9e47-511ef1d02c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06B03FA-AE60-4B79-AD46-B79CDABDEAE0}">
  <ds:schemaRefs>
    <ds:schemaRef ds:uri="http://schemas.microsoft.com/sharepoint/v3/contenttype/forms"/>
  </ds:schemaRefs>
</ds:datastoreItem>
</file>

<file path=docMetadata/LabelInfo.xml><?xml version="1.0" encoding="utf-8"?>
<clbl:labelList xmlns:clbl="http://schemas.microsoft.com/office/2020/mipLabelMetadata">
  <clbl:label id="{7005d458-45be-48ae-8140-d43da96dd17b}" enabled="0" method="" siteId="{7005d458-45be-48ae-8140-d43da96dd17b}" removed="1"/>
</clbl:labelList>
</file>

<file path=docProps/app.xml><?xml version="1.0" encoding="utf-8"?>
<Properties xmlns="http://schemas.openxmlformats.org/officeDocument/2006/extended-properties" xmlns:vt="http://schemas.openxmlformats.org/officeDocument/2006/docPropsVTypes">
  <Template>2024-01-29_BPS_PPT_Template</Template>
  <TotalTime>5180</TotalTime>
  <Words>15</Words>
  <Application>Microsoft Office PowerPoint</Application>
  <PresentationFormat>Widescreen</PresentationFormat>
  <Paragraphs>6</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1_Office Theme</vt:lpstr>
      <vt:lpstr>PowerPoint Presentation</vt:lpstr>
      <vt:lpstr>PowerPoint Presentation</vt:lpstr>
    </vt:vector>
  </TitlesOfParts>
  <Company>NASA OCIO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Lele, Julie (HQ-DM000)[BOOZ ALLEN &amp; HAMILTON INC]</dc:creator>
  <cp:lastModifiedBy>Keller, Elizabeth E. (ARC-SC)[Amentum Services, Inc]</cp:lastModifiedBy>
  <cp:revision>178</cp:revision>
  <dcterms:created xsi:type="dcterms:W3CDTF">2024-01-29T19:52:06Z</dcterms:created>
  <dcterms:modified xsi:type="dcterms:W3CDTF">2026-06-29T22:38:13Z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0x01010019211DFDB3DA3845BD556C40032E64D0</vt:lpwstr>
  </property>
  <property fmtid="{D5CDD505-2E9C-101B-9397-08002B2CF9AE}" pid="3" name="MediaServiceImageTags">
    <vt:lpwstr/>
  </property>
</Properties>
</file>