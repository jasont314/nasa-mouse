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autoCompressPictures="0">
  <p:sldMasterIdLst>
    <p:sldMasterId id="2147483659" r:id="rId4"/>
  </p:sldMasterIdLst>
  <p:notesMasterIdLst>
    <p:notesMasterId r:id="rId7"/>
  </p:notesMasterIdLst>
  <p:handoutMasterIdLst>
    <p:handoutMasterId r:id="rId8"/>
  </p:handoutMasterIdLst>
  <p:sldIdLst>
    <p:sldId id="287" r:id="rId5"/>
    <p:sldId id="289" r:id="rId6"/>
    <p:sldId id="290" r:id="rId14"/>
    <p:sldId id="291" r:id="rId15"/>
    <p:sldId id="292" r:id="rId16"/>
    <p:sldId id="293" r:id="rId17"/>
    <p:sldId id="294" r:id="rId18"/>
    <p:sldId id="295" r:id="rId19"/>
    <p:sldId id="296" r:id="rId20"/>
    <p:sldId id="297" r:id="rId21"/>
    <p:sldId id="298" r:id="rId22"/>
    <p:sldId id="299" r:id="rId23"/>
    <p:sldId id="300" r:id="rId24"/>
    <p:sldId id="301" r:id="rId25"/>
    <p:sldId id="302" r:id="rId26"/>
    <p:sldId id="303" r:id="rId27"/>
    <p:sldId id="304" r:id="rId28"/>
    <p:sldId id="305"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4EBFE0"/>
    <a:srgbClr val="03110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7E6095-EDCC-4DCB-AAC0-188518B1781D}" v="1" dt="2026-06-23T20:42:39.6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892"/>
    <p:restoredTop sz="96327"/>
  </p:normalViewPr>
  <p:slideViewPr>
    <p:cSldViewPr snapToGrid="0">
      <p:cViewPr varScale="1">
        <p:scale>
          <a:sx n="81" d="100"/>
          <a:sy n="81" d="100"/>
        </p:scale>
        <p:origin x="946" y="72"/>
      </p:cViewPr>
      <p:guideLst/>
    </p:cSldViewPr>
  </p:slideViewPr>
  <p:notesTextViewPr>
    <p:cViewPr>
      <p:scale>
        <a:sx n="1" d="1"/>
        <a:sy n="1" d="1"/>
      </p:scale>
      <p:origin x="0" y="0"/>
    </p:cViewPr>
  </p:notesTextViewPr>
  <p:notesViewPr>
    <p:cSldViewPr snapToGrid="0">
      <p:cViewPr varScale="1">
        <p:scale>
          <a:sx n="97" d="100"/>
          <a:sy n="97" d="100"/>
        </p:scale>
        <p:origin x="3120" y="20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notesMaster" Target="notesMasters/notesMaster1.xml"/><Relationship Id="rId8" Type="http://schemas.openxmlformats.org/officeDocument/2006/relationships/handoutMaster" Target="handoutMasters/handout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microsoft.com/office/2015/10/relationships/revisionInfo" Target="revisionInfo.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B92CBF8-18C8-31DD-F46C-61CCFF09E5D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A39C4E16-CF32-DCE9-CFBA-3D18F258B50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00638C3-A19C-B94C-9B49-D7DD60AEF655}" type="datetimeFigureOut">
              <a:rPr lang="en-US" smtClean="0"/>
              <a:t>6/29/2026</a:t>
            </a:fld>
            <a:endParaRPr lang="en-US"/>
          </a:p>
        </p:txBody>
      </p:sp>
      <p:sp>
        <p:nvSpPr>
          <p:cNvPr id="4" name="Footer Placeholder 3">
            <a:extLst>
              <a:ext uri="{FF2B5EF4-FFF2-40B4-BE49-F238E27FC236}">
                <a16:creationId xmlns:a16="http://schemas.microsoft.com/office/drawing/2014/main" id="{B9986E82-0F97-5470-C173-872D3CB07D9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5DAEED87-86EF-9F01-82BC-41E73378964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1865568-2AD1-0C41-AA57-6C66A988080E}" type="slidenum">
              <a:rPr lang="en-US" smtClean="0"/>
              <a:t>‹#›</a:t>
            </a:fld>
            <a:endParaRPr lang="en-US"/>
          </a:p>
        </p:txBody>
      </p:sp>
    </p:spTree>
    <p:extLst>
      <p:ext uri="{BB962C8B-B14F-4D97-AF65-F5344CB8AC3E}">
        <p14:creationId xmlns:p14="http://schemas.microsoft.com/office/powerpoint/2010/main" val="5365602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7D0CC5D-FA5D-CB42-BCB4-643101262201}" type="datetimeFigureOut">
              <a:rPr lang="en-US" smtClean="0"/>
              <a:t>6/29/2026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91039A1-DE79-214A-A305-FD85593430B7}" type="slidenum">
              <a:rPr lang="en-US" smtClean="0"/>
              <a:t>‹#›</a:t>
            </a:fld>
            <a:endParaRPr lang="en-US"/>
          </a:p>
        </p:txBody>
      </p:sp>
    </p:spTree>
    <p:extLst>
      <p:ext uri="{BB962C8B-B14F-4D97-AF65-F5344CB8AC3E}">
        <p14:creationId xmlns:p14="http://schemas.microsoft.com/office/powerpoint/2010/main" val="40165045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Introduce the question. This talk asks whether generated expression can help analyze tissue-specific FLT versus GC biology without counting synthetic profiles as additional animals.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OSDR gives broad tissue coverage, but the data are spread across 75 accessions with different mission and assay contexts. ARCHS4 supplies a much larger mouse reference. The challenge is to use that reference without letting study structure masquerade as spaceflight biology.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1:10</a:t>
            </a:r>
          </a:p>
          <a:p/>
          <a:p>
            <a:r>
              <a:t>We built one pipeline that can change data source, transformation, feature set, harmonization, model, training scope and conditions without changing the evaluation contract. It supports OSDR-only, ARCHS4-only and ARCHS4-pretrained plus OSDR-adapted runs, with pooled or per-tissue cohorts. We completed WGAN-GP and DDIM generator branches. The selected path used TPM, 974 mouse landmarks, no global correction and a DDIM conditioned on tissue, FLT/GC, accession and material.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Both WGAN-GP and DDIM had high correlation and F1. DDIM had adversarial accuracy near 0.5 and a lower Frechet-distance ratio, so it was harder to separate from real profiles and closer in distribution. The metrics use each model's stated evaluation split. These results are why the remaining analyses use DDIM.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Read the panels from left to right. The same generated profiles begin as noise, develop structure by timestep 200 and approach tissue-conditioned regions at timestep zero. The axes are shared, so the visual change is not caused by rescaling each panel.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Circles are locked real OSDR profiles and crosses are matched DDIM profiles in the same PCA space. Generated samples track the tissue-defined branches. FLT and GC remain more interspersed because condition effects are smaller than tissue effects. Visual overlap complements the quantitative validation.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Synthetic data can be used for direct training, mixed training or feature guidance. Each tissue could choose among five arms. The eligibility check used held-out real profiles. Once features were nominated, FLT/GC effects and BH FDR were computed from observed OSDR samples only.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The pooled augmentation test was negative: balanced accuracy fell from 0.754 to 0.737 with real plus synthetic training. The bars use a true zero-to-one balanced-accuracy scale. Tissue-specific analysis changed the result. Different tissues benefited from different synthetic uses, which argues against one global augmentation policy.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Reinforced genes were selected with and without synthetic guidance. Promoted genes crossed the stable-selection rule only with synthetic guidance. Promoted does not mean biologically novel. All 49 synthetic-informed tissue-gene associations also had BH FDR below 0.05 in real data.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Every association has two labels. Promoted or reinforced describes repeated feature selection. Aligning, complementary, ambiguous or unmatched describes prior literature. Across all 49 associations, 22 aligned, 19 were complementary, four were ambiguous and four were unmatched. A reinforced gene is not automatically literature aligned, and an aligning gene can still be promoted.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This is the full analysis coverage: 22 canonical tissues and five anatomical muscle groups. Ten had a synthetic-informed BH-FDR association, five had real BH-FDR genes without synthetic-informed selection, and 12 had no BH-FDR gene in the landmark panel. The narrative focuses later, but no completed tissue result is hidden.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This is the complete 49-association inventory. The explicit P and R tags show promoted versus reinforced selection. Gene color independently shows aligning, complementary, ambiguous or unmatched literature. FLT-higher and FLT-lower directions come from real-data meta-analysis.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1:10</a:t>
            </a:r>
          </a:p>
          <a:p/>
          <a:p>
            <a:r>
              <a:t>Thymus produced the clearest promoted panel. The lower mitotic and DNA-replication genes agree with prior reports of thymic involution and altered cell-cycle expression after flight. Higher Hsd17b11 and Etv1 add lipid-handling and T-cell-state hypotheses. Because this is bulk RNA-seq, the pattern may reflect transcription, cell composition or both.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1:00</a:t>
            </a:r>
          </a:p>
          <a:p/>
          <a:p>
            <a:r>
              <a:t>Soleus improved with real plus generated training. The selected genes were already stable in real-only analysis, so synthetic data reinforced rather than introduced the panel. Lower Bdh1, Ech1, Bnip3 and Decr1, with higher Tpm1, support altered oxidative metabolism and contractile remodeling. The literature is mixed for Bnip3 and Tpm1, which is recorded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Pooled muscle, kidney, spleen and skin each produced a distinct synthetic-informed result. Read these as separate hypotheses, not as grouped biology. Pooled muscle is heterogeneous, kidney suggests phosphoinositide and glucose handling, spleen suggests adhesion and extracellular-matrix or immune organization, and skin contributes a single interferon-linked candidate.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Eye, adrenal gland, gastrocnemius and tibialis anterior are reported separately as well. Eye reinforces lower cytokinesis, adrenal contributes two unmatched candidates, gastrocnemius combines an NF-kappa-B stress signal with an autophagy or myogenesis candidate, and tibialis anterior spans stress, cell-cycle, ganglioside and mitophagy hypotheses.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The useful role was tissue-specific feature ranking or limited regularization, not increasing biological sample size. Literature annotation then separated exact recovery, process-level agreement and complementary hypotheses. Independent samples and cell-resolved experiments are the next tests.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0:10</a:t>
            </a:r>
          </a:p>
          <a:p/>
          <a:p>
            <a:r>
              <a:t>Acknowledge the mentor, SLSTP, NASA OSDR, ARCHS4, Reactome and NASA Ames compute.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8.png"/><Relationship Id="rId11" Type="http://schemas.openxmlformats.org/officeDocument/2006/relationships/image" Target="../media/image19.png"/><Relationship Id="rId12" Type="http://schemas.openxmlformats.org/officeDocument/2006/relationships/image" Target="../media/image20.png"/><Relationship Id="rId13" Type="http://schemas.openxmlformats.org/officeDocument/2006/relationships/image" Target="../media/image21.png"/><Relationship Id="rId14" Type="http://schemas.openxmlformats.org/officeDocument/2006/relationships/image" Target="../media/image22.png"/><Relationship Id="rId15" Type="http://schemas.openxmlformats.org/officeDocument/2006/relationships/image" Target="../media/image23.png"/><Relationship Id="rId16" Type="http://schemas.openxmlformats.org/officeDocument/2006/relationships/image" Target="../media/image24.png"/><Relationship Id="rId17" Type="http://schemas.openxmlformats.org/officeDocument/2006/relationships/image" Target="../media/image2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image" Target="../media/image35.png"/><Relationship Id="rId12" Type="http://schemas.openxmlformats.org/officeDocument/2006/relationships/image" Target="../media/image36.png"/><Relationship Id="rId13" Type="http://schemas.openxmlformats.org/officeDocument/2006/relationships/image" Target="../media/image37.png"/><Relationship Id="rId14" Type="http://schemas.openxmlformats.org/officeDocument/2006/relationships/image" Target="../media/image38.png"/><Relationship Id="rId15" Type="http://schemas.openxmlformats.org/officeDocument/2006/relationships/image" Target="../media/image39.png"/><Relationship Id="rId16" Type="http://schemas.openxmlformats.org/officeDocument/2006/relationships/image" Target="../media/image40.png"/><Relationship Id="rId17" Type="http://schemas.openxmlformats.org/officeDocument/2006/relationships/image" Target="../media/image4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50.png"/><Relationship Id="rId11" Type="http://schemas.openxmlformats.org/officeDocument/2006/relationships/image" Target="../media/image51.png"/><Relationship Id="rId12" Type="http://schemas.openxmlformats.org/officeDocument/2006/relationships/image" Target="../media/image52.png"/><Relationship Id="rId13" Type="http://schemas.openxmlformats.org/officeDocument/2006/relationships/image" Target="../media/image53.png"/><Relationship Id="rId14" Type="http://schemas.openxmlformats.org/officeDocument/2006/relationships/image" Target="../media/image54.png"/><Relationship Id="rId15" Type="http://schemas.openxmlformats.org/officeDocument/2006/relationships/image" Target="../media/image55.png"/><Relationship Id="rId16" Type="http://schemas.openxmlformats.org/officeDocument/2006/relationships/image" Target="../media/image56.png"/><Relationship Id="rId17" Type="http://schemas.openxmlformats.org/officeDocument/2006/relationships/image" Target="../media/image5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 Id="rId11" Type="http://schemas.openxmlformats.org/officeDocument/2006/relationships/image" Target="../media/image67.png"/><Relationship Id="rId12" Type="http://schemas.openxmlformats.org/officeDocument/2006/relationships/image" Target="../media/image68.png"/><Relationship Id="rId13" Type="http://schemas.openxmlformats.org/officeDocument/2006/relationships/image" Target="../media/image69.png"/><Relationship Id="rId14" Type="http://schemas.openxmlformats.org/officeDocument/2006/relationships/image" Target="../media/image70.png"/><Relationship Id="rId15" Type="http://schemas.openxmlformats.org/officeDocument/2006/relationships/image" Target="../media/image71.png"/><Relationship Id="rId16" Type="http://schemas.openxmlformats.org/officeDocument/2006/relationships/image" Target="../media/image72.png"/><Relationship Id="rId17" Type="http://schemas.openxmlformats.org/officeDocument/2006/relationships/image" Target="../media/image7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3_Title Slide">
    <p:bg>
      <p:bgPr>
        <a:solidFill>
          <a:srgbClr val="000000"/>
        </a:solid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C1403792-C452-45B8-A50E-5D7E7B3AF110}"/>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l="-4277"/>
          <a:stretch/>
        </p:blipFill>
        <p:spPr>
          <a:xfrm>
            <a:off x="0" y="0"/>
            <a:ext cx="12192000" cy="6858000"/>
          </a:xfrm>
          <a:prstGeom prst="rect">
            <a:avLst/>
          </a:prstGeom>
        </p:spPr>
      </p:pic>
      <p:sp>
        <p:nvSpPr>
          <p:cNvPr id="3" name="Subtitle 2">
            <a:extLst>
              <a:ext uri="{FF2B5EF4-FFF2-40B4-BE49-F238E27FC236}">
                <a16:creationId xmlns:a16="http://schemas.microsoft.com/office/drawing/2014/main" id="{AE77D0F7-4A6B-4045-B534-3DB6A60EA85B}"/>
              </a:ext>
            </a:extLst>
          </p:cNvPr>
          <p:cNvSpPr>
            <a:spLocks noGrp="1"/>
          </p:cNvSpPr>
          <p:nvPr userDrawn="1">
            <p:ph type="subTitle" idx="1"/>
          </p:nvPr>
        </p:nvSpPr>
        <p:spPr>
          <a:xfrm>
            <a:off x="500101" y="3895025"/>
            <a:ext cx="4774425" cy="365125"/>
          </a:xfrm>
        </p:spPr>
        <p:txBody>
          <a:bodyPr wrap="square">
            <a:spAutoFit/>
          </a:bodyPr>
          <a:lstStyle>
            <a:lvl1pPr marL="0" indent="0" algn="l">
              <a:buNone/>
              <a:defRPr sz="1800" b="1">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8" name="Text Placeholder 27">
            <a:extLst>
              <a:ext uri="{FF2B5EF4-FFF2-40B4-BE49-F238E27FC236}">
                <a16:creationId xmlns:a16="http://schemas.microsoft.com/office/drawing/2014/main" id="{9EB2794A-5528-E000-6303-F23EDF3D2A62}"/>
              </a:ext>
            </a:extLst>
          </p:cNvPr>
          <p:cNvSpPr>
            <a:spLocks noGrp="1"/>
          </p:cNvSpPr>
          <p:nvPr>
            <p:ph type="body" sz="quarter" idx="14" hasCustomPrompt="1"/>
          </p:nvPr>
        </p:nvSpPr>
        <p:spPr>
          <a:xfrm>
            <a:off x="500102" y="1297175"/>
            <a:ext cx="4774425" cy="2374669"/>
          </a:xfrm>
        </p:spPr>
        <p:txBody>
          <a:bodyPr anchor="b"/>
          <a:lstStyle>
            <a:lvl1pPr marL="0" indent="0" algn="l">
              <a:buNone/>
              <a:defRPr sz="3600" b="1">
                <a:solidFill>
                  <a:schemeClr val="bg1"/>
                </a:solidFill>
              </a:defRPr>
            </a:lvl1pPr>
            <a:lvl2pPr algn="ctr">
              <a:defRPr>
                <a:solidFill>
                  <a:schemeClr val="bg1"/>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en-US" dirty="0"/>
              <a:t>Title goes here</a:t>
            </a:r>
          </a:p>
        </p:txBody>
      </p:sp>
      <p:pic>
        <p:nvPicPr>
          <p:cNvPr id="4" name="Picture 3">
            <a:extLst>
              <a:ext uri="{FF2B5EF4-FFF2-40B4-BE49-F238E27FC236}">
                <a16:creationId xmlns:a16="http://schemas.microsoft.com/office/drawing/2014/main" id="{616713B4-5E0C-24BD-8049-E50B082A507C}"/>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10951262" y="398340"/>
            <a:ext cx="888827" cy="740690"/>
          </a:xfrm>
          <a:prstGeom prst="rect">
            <a:avLst/>
          </a:prstGeom>
        </p:spPr>
      </p:pic>
      <p:sp>
        <p:nvSpPr>
          <p:cNvPr id="5" name="TextBox 4">
            <a:extLst>
              <a:ext uri="{FF2B5EF4-FFF2-40B4-BE49-F238E27FC236}">
                <a16:creationId xmlns:a16="http://schemas.microsoft.com/office/drawing/2014/main" id="{B8688442-0230-1582-A41F-57E75101CEF7}"/>
              </a:ext>
            </a:extLst>
          </p:cNvPr>
          <p:cNvSpPr txBox="1"/>
          <p:nvPr userDrawn="1"/>
        </p:nvSpPr>
        <p:spPr>
          <a:xfrm>
            <a:off x="8654144" y="537854"/>
            <a:ext cx="1922620" cy="461665"/>
          </a:xfrm>
          <a:prstGeom prst="rect">
            <a:avLst/>
          </a:prstGeom>
          <a:noFill/>
        </p:spPr>
        <p:txBody>
          <a:bodyPr wrap="square" rtlCol="0">
            <a:spAutoFit/>
          </a:bodyPr>
          <a:lstStyle/>
          <a:p>
            <a:pPr algn="r"/>
            <a:r>
              <a:rPr lang="en-US" sz="1200" b="0" dirty="0">
                <a:solidFill>
                  <a:schemeClr val="bg1"/>
                </a:solidFill>
                <a:effectLst>
                  <a:outerShdw blurRad="159992" dist="49945" dir="2700000" algn="tl" rotWithShape="0">
                    <a:srgbClr val="000000"/>
                  </a:outerShdw>
                </a:effectLst>
                <a:latin typeface="Arial" panose="020B0604020202020204" pitchFamily="34" charset="0"/>
                <a:cs typeface="Arial" panose="020B0604020202020204" pitchFamily="34" charset="0"/>
              </a:rPr>
              <a:t>National Aeronautics and Space Administration</a:t>
            </a:r>
          </a:p>
        </p:txBody>
      </p:sp>
      <p:cxnSp>
        <p:nvCxnSpPr>
          <p:cNvPr id="6" name="Straight Connector 5">
            <a:extLst>
              <a:ext uri="{FF2B5EF4-FFF2-40B4-BE49-F238E27FC236}">
                <a16:creationId xmlns:a16="http://schemas.microsoft.com/office/drawing/2014/main" id="{B3B95B80-9B88-7F4C-049E-8C0069365EA9}"/>
              </a:ext>
            </a:extLst>
          </p:cNvPr>
          <p:cNvCxnSpPr/>
          <p:nvPr userDrawn="1"/>
        </p:nvCxnSpPr>
        <p:spPr>
          <a:xfrm>
            <a:off x="10764013" y="537853"/>
            <a:ext cx="0" cy="46166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pic>
        <p:nvPicPr>
          <p:cNvPr id="14" name="Picture 13" descr="A black background with grey letters&#10;&#10;Description automatically generated">
            <a:extLst>
              <a:ext uri="{FF2B5EF4-FFF2-40B4-BE49-F238E27FC236}">
                <a16:creationId xmlns:a16="http://schemas.microsoft.com/office/drawing/2014/main" id="{9BA426D5-CE2B-D46C-E493-D02FFAA865B9}"/>
              </a:ext>
            </a:extLst>
          </p:cNvPr>
          <p:cNvPicPr>
            <a:picLocks noChangeAspect="1"/>
          </p:cNvPicPr>
          <p:nvPr userDrawn="1"/>
        </p:nvPicPr>
        <p:blipFill rotWithShape="1">
          <a:blip r:embed="rId4" cstate="screen">
            <a:alphaModFix amt="23000"/>
            <a:extLst>
              <a:ext uri="{28A0092B-C50C-407E-A947-70E740481C1C}">
                <a14:useLocalDpi xmlns:a14="http://schemas.microsoft.com/office/drawing/2010/main"/>
              </a:ext>
            </a:extLst>
          </a:blip>
          <a:srcRect/>
          <a:stretch/>
        </p:blipFill>
        <p:spPr>
          <a:xfrm>
            <a:off x="0" y="5168811"/>
            <a:ext cx="3884861" cy="1719470"/>
          </a:xfrm>
          <a:prstGeom prst="rect">
            <a:avLst/>
          </a:prstGeom>
        </p:spPr>
      </p:pic>
      <p:sp>
        <p:nvSpPr>
          <p:cNvPr id="7" name="TextBox 6">
            <a:extLst>
              <a:ext uri="{FF2B5EF4-FFF2-40B4-BE49-F238E27FC236}">
                <a16:creationId xmlns:a16="http://schemas.microsoft.com/office/drawing/2014/main" id="{B02A5107-22C8-EFF2-D258-3F67CDB1A001}"/>
              </a:ext>
            </a:extLst>
          </p:cNvPr>
          <p:cNvSpPr txBox="1"/>
          <p:nvPr userDrawn="1"/>
        </p:nvSpPr>
        <p:spPr>
          <a:xfrm>
            <a:off x="500101" y="6296266"/>
            <a:ext cx="3657600" cy="338554"/>
          </a:xfrm>
          <a:prstGeom prst="rect">
            <a:avLst/>
          </a:prstGeom>
          <a:noFill/>
        </p:spPr>
        <p:txBody>
          <a:bodyPr wrap="square" rtlCol="0">
            <a:spAutoFit/>
          </a:bodyPr>
          <a:lstStyle/>
          <a:p>
            <a:pPr algn="l"/>
            <a:r>
              <a:rPr lang="en-US" sz="1600" b="1" dirty="0">
                <a:solidFill>
                  <a:schemeClr val="bg2">
                    <a:lumMod val="75000"/>
                  </a:schemeClr>
                </a:solidFill>
                <a:latin typeface="Arial" panose="020B0604020202020204" pitchFamily="34" charset="0"/>
                <a:cs typeface="Arial" panose="020B0604020202020204" pitchFamily="34" charset="0"/>
              </a:rPr>
              <a:t>B</a:t>
            </a:r>
            <a:r>
              <a:rPr lang="en-US" sz="1600" b="0" dirty="0">
                <a:solidFill>
                  <a:schemeClr val="bg2">
                    <a:lumMod val="75000"/>
                  </a:schemeClr>
                </a:solidFill>
                <a:latin typeface="Arial" panose="020B0604020202020204" pitchFamily="34" charset="0"/>
                <a:cs typeface="Arial" panose="020B0604020202020204" pitchFamily="34" charset="0"/>
              </a:rPr>
              <a:t>iological &amp; </a:t>
            </a:r>
            <a:r>
              <a:rPr lang="en-US" sz="1600" b="1" dirty="0">
                <a:solidFill>
                  <a:schemeClr val="bg2">
                    <a:lumMod val="75000"/>
                  </a:schemeClr>
                </a:solidFill>
                <a:latin typeface="Arial" panose="020B0604020202020204" pitchFamily="34" charset="0"/>
                <a:cs typeface="Arial" panose="020B0604020202020204" pitchFamily="34" charset="0"/>
              </a:rPr>
              <a:t>P</a:t>
            </a:r>
            <a:r>
              <a:rPr lang="en-US" sz="1600" b="0" dirty="0">
                <a:solidFill>
                  <a:schemeClr val="bg2">
                    <a:lumMod val="75000"/>
                  </a:schemeClr>
                </a:solidFill>
                <a:latin typeface="Arial" panose="020B0604020202020204" pitchFamily="34" charset="0"/>
                <a:cs typeface="Arial" panose="020B0604020202020204" pitchFamily="34" charset="0"/>
              </a:rPr>
              <a:t>hysical </a:t>
            </a:r>
            <a:r>
              <a:rPr lang="en-US" sz="1600" b="1" dirty="0">
                <a:solidFill>
                  <a:schemeClr val="bg2">
                    <a:lumMod val="75000"/>
                  </a:schemeClr>
                </a:solidFill>
                <a:latin typeface="Arial" panose="020B0604020202020204" pitchFamily="34" charset="0"/>
                <a:cs typeface="Arial" panose="020B0604020202020204" pitchFamily="34" charset="0"/>
              </a:rPr>
              <a:t>S</a:t>
            </a:r>
            <a:r>
              <a:rPr lang="en-US" sz="1600" b="0" dirty="0">
                <a:solidFill>
                  <a:schemeClr val="bg2">
                    <a:lumMod val="75000"/>
                  </a:schemeClr>
                </a:solidFill>
                <a:latin typeface="Arial" panose="020B0604020202020204" pitchFamily="34" charset="0"/>
                <a:cs typeface="Arial" panose="020B0604020202020204" pitchFamily="34" charset="0"/>
              </a:rPr>
              <a:t>ciences</a:t>
            </a:r>
          </a:p>
        </p:txBody>
      </p:sp>
    </p:spTree>
    <p:extLst>
      <p:ext uri="{BB962C8B-B14F-4D97-AF65-F5344CB8AC3E}">
        <p14:creationId xmlns:p14="http://schemas.microsoft.com/office/powerpoint/2010/main" val="3390964837"/>
      </p:ext>
    </p:extLst>
  </p:cSld>
  <p:clrMapOvr>
    <a:masterClrMapping/>
  </p:clrMapOvr>
  <p:extLst>
    <p:ext uri="{DCECCB84-F9BA-43D5-87BE-67443E8EF086}">
      <p15:sldGuideLst xmlns:p15="http://schemas.microsoft.com/office/powerpoint/2012/main">
        <p15:guide id="1" orient="horz" pos="2160">
          <p15:clr>
            <a:srgbClr val="FBAE40"/>
          </p15:clr>
        </p15:guide>
        <p15:guide id="2" pos="456">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9E8CFB-2DE8-BA24-FFBC-66F77875D5EE}"/>
              </a:ext>
            </a:extLst>
          </p:cNvPr>
          <p:cNvSpPr>
            <a:spLocks noGrp="1"/>
          </p:cNvSpPr>
          <p:nvPr>
            <p:ph type="title" hasCustomPrompt="1"/>
          </p:nvPr>
        </p:nvSpPr>
        <p:spPr>
          <a:xfrm>
            <a:off x="914400" y="755930"/>
            <a:ext cx="10325100" cy="1325563"/>
          </a:xfrm>
        </p:spPr>
        <p:txBody>
          <a:bodyPr/>
          <a:lstStyle/>
          <a:p>
            <a:r>
              <a:rPr lang="en-US" dirty="0"/>
              <a:t>Agenda Title</a:t>
            </a:r>
          </a:p>
        </p:txBody>
      </p:sp>
      <p:sp>
        <p:nvSpPr>
          <p:cNvPr id="4" name="Footer Placeholder 3">
            <a:extLst>
              <a:ext uri="{FF2B5EF4-FFF2-40B4-BE49-F238E27FC236}">
                <a16:creationId xmlns:a16="http://schemas.microsoft.com/office/drawing/2014/main" id="{7E3B3E43-6742-FF22-D2F2-033E1364C113}"/>
              </a:ext>
            </a:extLst>
          </p:cNvPr>
          <p:cNvSpPr>
            <a:spLocks noGrp="1"/>
          </p:cNvSpPr>
          <p:nvPr>
            <p:ph type="ftr" sz="quarter" idx="11"/>
          </p:nvPr>
        </p:nvSpPr>
        <p:spPr/>
        <p:txBody>
          <a:bodyPr/>
          <a:lstStyle/>
          <a:p>
            <a:r>
              <a:rPr lang="en-US" dirty="0"/>
              <a:t>Biological &amp; Physical Sciences </a:t>
            </a:r>
          </a:p>
        </p:txBody>
      </p:sp>
      <p:sp>
        <p:nvSpPr>
          <p:cNvPr id="5" name="Slide Number Placeholder 4">
            <a:extLst>
              <a:ext uri="{FF2B5EF4-FFF2-40B4-BE49-F238E27FC236}">
                <a16:creationId xmlns:a16="http://schemas.microsoft.com/office/drawing/2014/main" id="{8E26FCE7-3724-2CFD-0646-F383DB2F0F58}"/>
              </a:ext>
            </a:extLst>
          </p:cNvPr>
          <p:cNvSpPr>
            <a:spLocks noGrp="1"/>
          </p:cNvSpPr>
          <p:nvPr>
            <p:ph type="sldNum" sz="quarter" idx="12"/>
          </p:nvPr>
        </p:nvSpPr>
        <p:spPr>
          <a:xfrm>
            <a:off x="11662148" y="100584"/>
            <a:ext cx="1059704" cy="261258"/>
          </a:xfrm>
        </p:spPr>
        <p:txBody>
          <a:bodyPr/>
          <a:lstStyle/>
          <a:p>
            <a:fld id="{E8618032-BA8D-3D4D-8253-A70208A85976}" type="slidenum">
              <a:rPr lang="en-US" smtClean="0"/>
              <a:pPr/>
              <a:t>‹#›</a:t>
            </a:fld>
            <a:endParaRPr lang="en-US" dirty="0"/>
          </a:p>
        </p:txBody>
      </p:sp>
      <p:sp>
        <p:nvSpPr>
          <p:cNvPr id="22" name="Text Placeholder 21">
            <a:extLst>
              <a:ext uri="{FF2B5EF4-FFF2-40B4-BE49-F238E27FC236}">
                <a16:creationId xmlns:a16="http://schemas.microsoft.com/office/drawing/2014/main" id="{B466CDE3-4631-5FA9-337A-DF847EAAD5B5}"/>
              </a:ext>
            </a:extLst>
          </p:cNvPr>
          <p:cNvSpPr>
            <a:spLocks noGrp="1"/>
          </p:cNvSpPr>
          <p:nvPr>
            <p:ph type="body" sz="quarter" idx="13" hasCustomPrompt="1"/>
          </p:nvPr>
        </p:nvSpPr>
        <p:spPr>
          <a:xfrm>
            <a:off x="1824652" y="2247900"/>
            <a:ext cx="3974845" cy="609600"/>
          </a:xfrm>
        </p:spPr>
        <p:txBody>
          <a:bodyPr anchor="ctr">
            <a:normAutofit/>
          </a:bodyPr>
          <a:lstStyle>
            <a:lvl1pPr marL="0" indent="0">
              <a:buNone/>
              <a:defRPr sz="2000"/>
            </a:lvl1pPr>
          </a:lstStyle>
          <a:p>
            <a:pPr lvl="0"/>
            <a:r>
              <a:rPr lang="en-US" dirty="0"/>
              <a:t>Click to add addenda item</a:t>
            </a:r>
          </a:p>
        </p:txBody>
      </p:sp>
      <p:sp>
        <p:nvSpPr>
          <p:cNvPr id="25" name="Text Placeholder 21">
            <a:extLst>
              <a:ext uri="{FF2B5EF4-FFF2-40B4-BE49-F238E27FC236}">
                <a16:creationId xmlns:a16="http://schemas.microsoft.com/office/drawing/2014/main" id="{2A51E4DB-9ABE-A139-7B46-5FC55133039B}"/>
              </a:ext>
            </a:extLst>
          </p:cNvPr>
          <p:cNvSpPr>
            <a:spLocks noGrp="1"/>
          </p:cNvSpPr>
          <p:nvPr>
            <p:ph type="body" sz="quarter" idx="16" hasCustomPrompt="1"/>
          </p:nvPr>
        </p:nvSpPr>
        <p:spPr>
          <a:xfrm>
            <a:off x="6934200" y="2247900"/>
            <a:ext cx="4343400" cy="609600"/>
          </a:xfrm>
        </p:spPr>
        <p:txBody>
          <a:bodyPr anchor="ctr">
            <a:normAutofit/>
          </a:bodyPr>
          <a:lstStyle>
            <a:lvl1pPr marL="0" indent="0">
              <a:buNone/>
              <a:defRPr sz="2000"/>
            </a:lvl1pPr>
          </a:lstStyle>
          <a:p>
            <a:pPr lvl="0"/>
            <a:r>
              <a:rPr lang="en-US" dirty="0"/>
              <a:t>Click to add addenda item</a:t>
            </a:r>
          </a:p>
        </p:txBody>
      </p:sp>
      <p:sp>
        <p:nvSpPr>
          <p:cNvPr id="29" name="Text Placeholder 28">
            <a:extLst>
              <a:ext uri="{FF2B5EF4-FFF2-40B4-BE49-F238E27FC236}">
                <a16:creationId xmlns:a16="http://schemas.microsoft.com/office/drawing/2014/main" id="{7B35BDAA-D931-DC03-6B00-6EDF027908BB}"/>
              </a:ext>
            </a:extLst>
          </p:cNvPr>
          <p:cNvSpPr>
            <a:spLocks noGrp="1"/>
          </p:cNvSpPr>
          <p:nvPr>
            <p:ph type="body" sz="quarter" idx="19" hasCustomPrompt="1"/>
          </p:nvPr>
        </p:nvSpPr>
        <p:spPr>
          <a:xfrm>
            <a:off x="914400" y="2209800"/>
            <a:ext cx="685800" cy="685800"/>
          </a:xfrm>
          <a:noFill/>
        </p:spPr>
        <p:txBody>
          <a:bodyPr anchor="ctr">
            <a:normAutofit/>
          </a:bodyPr>
          <a:lstStyle>
            <a:lvl1pPr marL="0" indent="0" algn="ctr">
              <a:buNone/>
              <a:defRPr sz="4000">
                <a:gradFill>
                  <a:gsLst>
                    <a:gs pos="86000">
                      <a:schemeClr val="accent3"/>
                    </a:gs>
                    <a:gs pos="47000">
                      <a:schemeClr val="accent2"/>
                    </a:gs>
                    <a:gs pos="0">
                      <a:schemeClr val="tx1"/>
                    </a:gs>
                  </a:gsLst>
                  <a:lin ang="3600000" scaled="0"/>
                </a:gradFill>
                <a:latin typeface="+mj-lt"/>
              </a:defRPr>
            </a:lvl1pPr>
          </a:lstStyle>
          <a:p>
            <a:pPr lvl="0"/>
            <a:r>
              <a:rPr lang="en-US" dirty="0"/>
              <a:t>#</a:t>
            </a:r>
          </a:p>
        </p:txBody>
      </p:sp>
      <p:sp>
        <p:nvSpPr>
          <p:cNvPr id="32" name="Text Placeholder 28">
            <a:extLst>
              <a:ext uri="{FF2B5EF4-FFF2-40B4-BE49-F238E27FC236}">
                <a16:creationId xmlns:a16="http://schemas.microsoft.com/office/drawing/2014/main" id="{EF503090-B911-7788-8B94-3F88CA4797F9}"/>
              </a:ext>
            </a:extLst>
          </p:cNvPr>
          <p:cNvSpPr>
            <a:spLocks noGrp="1"/>
          </p:cNvSpPr>
          <p:nvPr>
            <p:ph type="body" sz="quarter" idx="22" hasCustomPrompt="1"/>
          </p:nvPr>
        </p:nvSpPr>
        <p:spPr>
          <a:xfrm>
            <a:off x="6023949" y="2209800"/>
            <a:ext cx="685800" cy="685800"/>
          </a:xfrm>
          <a:noFill/>
        </p:spPr>
        <p:txBody>
          <a:bodyPr vert="horz" lIns="91440" tIns="45720" rIns="91440" bIns="45720" rtlCol="0" anchor="ctr">
            <a:normAutofit/>
          </a:bodyPr>
          <a:lstStyle>
            <a:lvl1pPr marL="0" indent="0" algn="r">
              <a:buNone/>
              <a:defRPr lang="en-US" sz="4000" dirty="0">
                <a:gradFill>
                  <a:gsLst>
                    <a:gs pos="82000">
                      <a:schemeClr val="accent3"/>
                    </a:gs>
                    <a:gs pos="45000">
                      <a:schemeClr val="accent2"/>
                    </a:gs>
                  </a:gsLst>
                  <a:lin ang="3600000" scaled="0"/>
                </a:gradFill>
                <a:latin typeface="+mj-lt"/>
              </a:defRPr>
            </a:lvl1pPr>
          </a:lstStyle>
          <a:p>
            <a:pPr marL="228600" lvl="0" indent="-228600" algn="ctr"/>
            <a:r>
              <a:rPr lang="en-US" dirty="0"/>
              <a:t>#</a:t>
            </a:r>
          </a:p>
        </p:txBody>
      </p:sp>
      <p:sp>
        <p:nvSpPr>
          <p:cNvPr id="35" name="Text Placeholder 21">
            <a:extLst>
              <a:ext uri="{FF2B5EF4-FFF2-40B4-BE49-F238E27FC236}">
                <a16:creationId xmlns:a16="http://schemas.microsoft.com/office/drawing/2014/main" id="{65D9DAC4-C562-9524-30AD-991D271FE6EF}"/>
              </a:ext>
            </a:extLst>
          </p:cNvPr>
          <p:cNvSpPr>
            <a:spLocks noGrp="1"/>
          </p:cNvSpPr>
          <p:nvPr>
            <p:ph type="body" sz="quarter" idx="23" hasCustomPrompt="1"/>
          </p:nvPr>
        </p:nvSpPr>
        <p:spPr>
          <a:xfrm>
            <a:off x="1824652" y="3627249"/>
            <a:ext cx="3974845" cy="609600"/>
          </a:xfrm>
        </p:spPr>
        <p:txBody>
          <a:bodyPr anchor="ctr">
            <a:normAutofit/>
          </a:bodyPr>
          <a:lstStyle>
            <a:lvl1pPr marL="0" indent="0">
              <a:buNone/>
              <a:defRPr sz="2000"/>
            </a:lvl1pPr>
          </a:lstStyle>
          <a:p>
            <a:pPr lvl="0"/>
            <a:r>
              <a:rPr lang="en-US" dirty="0"/>
              <a:t>Click to add addenda item</a:t>
            </a:r>
          </a:p>
        </p:txBody>
      </p:sp>
      <p:sp>
        <p:nvSpPr>
          <p:cNvPr id="36" name="Text Placeholder 21">
            <a:extLst>
              <a:ext uri="{FF2B5EF4-FFF2-40B4-BE49-F238E27FC236}">
                <a16:creationId xmlns:a16="http://schemas.microsoft.com/office/drawing/2014/main" id="{7E647AC1-0BB7-0678-1B8A-177F4146A75E}"/>
              </a:ext>
            </a:extLst>
          </p:cNvPr>
          <p:cNvSpPr>
            <a:spLocks noGrp="1"/>
          </p:cNvSpPr>
          <p:nvPr>
            <p:ph type="body" sz="quarter" idx="24" hasCustomPrompt="1"/>
          </p:nvPr>
        </p:nvSpPr>
        <p:spPr>
          <a:xfrm>
            <a:off x="6934200" y="3627249"/>
            <a:ext cx="4343400" cy="609600"/>
          </a:xfrm>
        </p:spPr>
        <p:txBody>
          <a:bodyPr anchor="ctr">
            <a:normAutofit/>
          </a:bodyPr>
          <a:lstStyle>
            <a:lvl1pPr marL="0" indent="0">
              <a:buNone/>
              <a:defRPr sz="2000"/>
            </a:lvl1pPr>
          </a:lstStyle>
          <a:p>
            <a:pPr lvl="0"/>
            <a:r>
              <a:rPr lang="en-US" dirty="0"/>
              <a:t>Click to add addenda item</a:t>
            </a:r>
          </a:p>
        </p:txBody>
      </p:sp>
      <p:sp>
        <p:nvSpPr>
          <p:cNvPr id="37" name="Text Placeholder 28">
            <a:extLst>
              <a:ext uri="{FF2B5EF4-FFF2-40B4-BE49-F238E27FC236}">
                <a16:creationId xmlns:a16="http://schemas.microsoft.com/office/drawing/2014/main" id="{B55453C0-7B23-AC50-10FE-E961216AD9CE}"/>
              </a:ext>
            </a:extLst>
          </p:cNvPr>
          <p:cNvSpPr>
            <a:spLocks noGrp="1"/>
          </p:cNvSpPr>
          <p:nvPr>
            <p:ph type="body" sz="quarter" idx="25" hasCustomPrompt="1"/>
          </p:nvPr>
        </p:nvSpPr>
        <p:spPr>
          <a:xfrm>
            <a:off x="914400" y="3589149"/>
            <a:ext cx="685800" cy="685800"/>
          </a:xfrm>
          <a:noFill/>
        </p:spPr>
        <p:txBody>
          <a:bodyPr vert="horz" lIns="91440" tIns="45720" rIns="91440" bIns="45720" rtlCol="0" anchor="ctr">
            <a:normAutofit/>
          </a:bodyPr>
          <a:lstStyle>
            <a:lvl1pPr marL="0" indent="0" algn="r">
              <a:buNone/>
              <a:defRPr lang="en-US" sz="4000" dirty="0">
                <a:gradFill>
                  <a:gsLst>
                    <a:gs pos="78000">
                      <a:schemeClr val="accent3"/>
                    </a:gs>
                    <a:gs pos="39000">
                      <a:schemeClr val="accent2"/>
                    </a:gs>
                    <a:gs pos="0">
                      <a:schemeClr val="tx1"/>
                    </a:gs>
                  </a:gsLst>
                  <a:lin ang="3600000" scaled="0"/>
                </a:gradFill>
                <a:latin typeface="+mj-lt"/>
              </a:defRPr>
            </a:lvl1pPr>
          </a:lstStyle>
          <a:p>
            <a:pPr marL="228600" lvl="0" indent="-228600" algn="ctr"/>
            <a:r>
              <a:rPr lang="en-US" dirty="0"/>
              <a:t>#</a:t>
            </a:r>
          </a:p>
        </p:txBody>
      </p:sp>
      <p:sp>
        <p:nvSpPr>
          <p:cNvPr id="38" name="Text Placeholder 28">
            <a:extLst>
              <a:ext uri="{FF2B5EF4-FFF2-40B4-BE49-F238E27FC236}">
                <a16:creationId xmlns:a16="http://schemas.microsoft.com/office/drawing/2014/main" id="{1A5B7077-E4C0-3DD2-DCA8-E8A197F1C95C}"/>
              </a:ext>
            </a:extLst>
          </p:cNvPr>
          <p:cNvSpPr>
            <a:spLocks noGrp="1"/>
          </p:cNvSpPr>
          <p:nvPr>
            <p:ph type="body" sz="quarter" idx="26" hasCustomPrompt="1"/>
          </p:nvPr>
        </p:nvSpPr>
        <p:spPr>
          <a:xfrm>
            <a:off x="6023949" y="3589149"/>
            <a:ext cx="685800" cy="685800"/>
          </a:xfrm>
          <a:noFill/>
        </p:spPr>
        <p:txBody>
          <a:bodyPr vert="horz" lIns="91440" tIns="45720" rIns="91440" bIns="45720" rtlCol="0" anchor="ctr">
            <a:normAutofit/>
          </a:bodyPr>
          <a:lstStyle>
            <a:lvl1pPr marL="0" indent="0" algn="r">
              <a:buNone/>
              <a:defRPr lang="en-US" sz="4000" dirty="0">
                <a:gradFill>
                  <a:gsLst>
                    <a:gs pos="7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39" name="Text Placeholder 21">
            <a:extLst>
              <a:ext uri="{FF2B5EF4-FFF2-40B4-BE49-F238E27FC236}">
                <a16:creationId xmlns:a16="http://schemas.microsoft.com/office/drawing/2014/main" id="{B32EE1BF-44FE-201B-EF31-3ED8FF5BA7BC}"/>
              </a:ext>
            </a:extLst>
          </p:cNvPr>
          <p:cNvSpPr>
            <a:spLocks noGrp="1"/>
          </p:cNvSpPr>
          <p:nvPr>
            <p:ph type="body" sz="quarter" idx="27" hasCustomPrompt="1"/>
          </p:nvPr>
        </p:nvSpPr>
        <p:spPr>
          <a:xfrm>
            <a:off x="1824652" y="4913609"/>
            <a:ext cx="3974845" cy="609600"/>
          </a:xfrm>
        </p:spPr>
        <p:txBody>
          <a:bodyPr anchor="ctr">
            <a:normAutofit/>
          </a:bodyPr>
          <a:lstStyle>
            <a:lvl1pPr marL="0" indent="0">
              <a:buNone/>
              <a:defRPr sz="2000"/>
            </a:lvl1pPr>
          </a:lstStyle>
          <a:p>
            <a:pPr lvl="0"/>
            <a:r>
              <a:rPr lang="en-US" dirty="0"/>
              <a:t>Click to add addenda item</a:t>
            </a:r>
          </a:p>
        </p:txBody>
      </p:sp>
      <p:sp>
        <p:nvSpPr>
          <p:cNvPr id="40" name="Text Placeholder 21">
            <a:extLst>
              <a:ext uri="{FF2B5EF4-FFF2-40B4-BE49-F238E27FC236}">
                <a16:creationId xmlns:a16="http://schemas.microsoft.com/office/drawing/2014/main" id="{2F676D19-8F83-696C-ACFF-7F910A6C8105}"/>
              </a:ext>
            </a:extLst>
          </p:cNvPr>
          <p:cNvSpPr>
            <a:spLocks noGrp="1"/>
          </p:cNvSpPr>
          <p:nvPr>
            <p:ph type="body" sz="quarter" idx="28" hasCustomPrompt="1"/>
          </p:nvPr>
        </p:nvSpPr>
        <p:spPr>
          <a:xfrm>
            <a:off x="6934200" y="4913609"/>
            <a:ext cx="4343400" cy="609600"/>
          </a:xfrm>
        </p:spPr>
        <p:txBody>
          <a:bodyPr anchor="ctr">
            <a:normAutofit/>
          </a:bodyPr>
          <a:lstStyle>
            <a:lvl1pPr marL="0" indent="0">
              <a:buNone/>
              <a:defRPr sz="2000"/>
            </a:lvl1pPr>
          </a:lstStyle>
          <a:p>
            <a:pPr lvl="0"/>
            <a:r>
              <a:rPr lang="en-US" dirty="0"/>
              <a:t>Click to add addenda item</a:t>
            </a:r>
          </a:p>
        </p:txBody>
      </p:sp>
      <p:sp>
        <p:nvSpPr>
          <p:cNvPr id="41" name="Text Placeholder 28">
            <a:extLst>
              <a:ext uri="{FF2B5EF4-FFF2-40B4-BE49-F238E27FC236}">
                <a16:creationId xmlns:a16="http://schemas.microsoft.com/office/drawing/2014/main" id="{4936C6BE-C8B8-20C6-9C05-FD330B16C055}"/>
              </a:ext>
            </a:extLst>
          </p:cNvPr>
          <p:cNvSpPr>
            <a:spLocks noGrp="1"/>
          </p:cNvSpPr>
          <p:nvPr>
            <p:ph type="body" sz="quarter" idx="29" hasCustomPrompt="1"/>
          </p:nvPr>
        </p:nvSpPr>
        <p:spPr>
          <a:xfrm>
            <a:off x="914400" y="4875509"/>
            <a:ext cx="685800" cy="685800"/>
          </a:xfrm>
          <a:noFill/>
        </p:spPr>
        <p:txBody>
          <a:bodyPr vert="horz" lIns="91440" tIns="45720" rIns="91440" bIns="45720" rtlCol="0" anchor="ctr">
            <a:normAutofit/>
          </a:bodyPr>
          <a:lstStyle>
            <a:lvl1pPr marL="0" indent="0" algn="r">
              <a:buNone/>
              <a:defRPr lang="en-US" sz="4000" dirty="0">
                <a:gradFill>
                  <a:gsLst>
                    <a:gs pos="8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42" name="Text Placeholder 28">
            <a:extLst>
              <a:ext uri="{FF2B5EF4-FFF2-40B4-BE49-F238E27FC236}">
                <a16:creationId xmlns:a16="http://schemas.microsoft.com/office/drawing/2014/main" id="{9DBD5D19-811F-095E-D5BA-1EE3AC8F9767}"/>
              </a:ext>
            </a:extLst>
          </p:cNvPr>
          <p:cNvSpPr>
            <a:spLocks noGrp="1"/>
          </p:cNvSpPr>
          <p:nvPr>
            <p:ph type="body" sz="quarter" idx="30" hasCustomPrompt="1"/>
          </p:nvPr>
        </p:nvSpPr>
        <p:spPr>
          <a:xfrm>
            <a:off x="6023949" y="4875509"/>
            <a:ext cx="685800" cy="685800"/>
          </a:xfrm>
          <a:noFill/>
        </p:spPr>
        <p:txBody>
          <a:bodyPr vert="horz" lIns="91440" tIns="45720" rIns="91440" bIns="45720" rtlCol="0" anchor="ctr">
            <a:normAutofit/>
          </a:bodyPr>
          <a:lstStyle>
            <a:lvl1pPr marL="0" indent="0" algn="r">
              <a:buNone/>
              <a:defRPr lang="en-US" sz="4000" dirty="0">
                <a:gradFill>
                  <a:gsLst>
                    <a:gs pos="72000">
                      <a:schemeClr val="accent3"/>
                    </a:gs>
                    <a:gs pos="45000">
                      <a:schemeClr val="accent2"/>
                    </a:gs>
                    <a:gs pos="4000">
                      <a:schemeClr val="tx1"/>
                    </a:gs>
                  </a:gsLst>
                  <a:lin ang="3600000" scaled="0"/>
                </a:gradFill>
                <a:latin typeface="+mj-lt"/>
              </a:defRPr>
            </a:lvl1pPr>
          </a:lstStyle>
          <a:p>
            <a:pPr marL="228600" lvl="0" indent="-228600" algn="ctr"/>
            <a:r>
              <a:rPr lang="en-US" dirty="0"/>
              <a:t>#</a:t>
            </a:r>
          </a:p>
        </p:txBody>
      </p:sp>
      <p:cxnSp>
        <p:nvCxnSpPr>
          <p:cNvPr id="44" name="Straight Connector 43">
            <a:extLst>
              <a:ext uri="{FF2B5EF4-FFF2-40B4-BE49-F238E27FC236}">
                <a16:creationId xmlns:a16="http://schemas.microsoft.com/office/drawing/2014/main" id="{42FAC8BE-D606-2853-844A-E2C15955DC7D}"/>
              </a:ext>
            </a:extLst>
          </p:cNvPr>
          <p:cNvCxnSpPr/>
          <p:nvPr userDrawn="1"/>
        </p:nvCxnSpPr>
        <p:spPr>
          <a:xfrm>
            <a:off x="8382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F8BB1695-58EE-644B-7EE8-11F922C6661D}"/>
              </a:ext>
            </a:extLst>
          </p:cNvPr>
          <p:cNvCxnSpPr>
            <a:cxnSpLocks/>
          </p:cNvCxnSpPr>
          <p:nvPr userDrawn="1"/>
        </p:nvCxnSpPr>
        <p:spPr>
          <a:xfrm>
            <a:off x="16002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D52F9823-AA54-9873-16F2-263321455B45}"/>
              </a:ext>
            </a:extLst>
          </p:cNvPr>
          <p:cNvCxnSpPr/>
          <p:nvPr userDrawn="1"/>
        </p:nvCxnSpPr>
        <p:spPr>
          <a:xfrm>
            <a:off x="8382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FF1A9CBD-3464-B5A2-6E8D-EE3FD067EE09}"/>
              </a:ext>
            </a:extLst>
          </p:cNvPr>
          <p:cNvCxnSpPr>
            <a:cxnSpLocks/>
          </p:cNvCxnSpPr>
          <p:nvPr userDrawn="1"/>
        </p:nvCxnSpPr>
        <p:spPr>
          <a:xfrm>
            <a:off x="16002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DEED8E47-E2B6-E0EF-495A-1545B3213F3D}"/>
              </a:ext>
            </a:extLst>
          </p:cNvPr>
          <p:cNvCxnSpPr/>
          <p:nvPr userDrawn="1"/>
        </p:nvCxnSpPr>
        <p:spPr>
          <a:xfrm>
            <a:off x="8382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31607ECD-AA81-BC83-3C78-B9336CCDEEF0}"/>
              </a:ext>
            </a:extLst>
          </p:cNvPr>
          <p:cNvCxnSpPr>
            <a:cxnSpLocks/>
          </p:cNvCxnSpPr>
          <p:nvPr userDrawn="1"/>
        </p:nvCxnSpPr>
        <p:spPr>
          <a:xfrm>
            <a:off x="16002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45E098EB-268C-67D8-9802-3DFD2843FEB8}"/>
              </a:ext>
            </a:extLst>
          </p:cNvPr>
          <p:cNvCxnSpPr/>
          <p:nvPr userDrawn="1"/>
        </p:nvCxnSpPr>
        <p:spPr>
          <a:xfrm>
            <a:off x="59436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CC41966B-39B9-FA80-34EE-34DB2BBC90AA}"/>
              </a:ext>
            </a:extLst>
          </p:cNvPr>
          <p:cNvCxnSpPr>
            <a:cxnSpLocks/>
          </p:cNvCxnSpPr>
          <p:nvPr userDrawn="1"/>
        </p:nvCxnSpPr>
        <p:spPr>
          <a:xfrm>
            <a:off x="67056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567F3916-0A34-3DFE-C40C-9CE5F118C59D}"/>
              </a:ext>
            </a:extLst>
          </p:cNvPr>
          <p:cNvCxnSpPr/>
          <p:nvPr userDrawn="1"/>
        </p:nvCxnSpPr>
        <p:spPr>
          <a:xfrm>
            <a:off x="59436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90580B0B-C3BC-E6B2-4F7A-A8BC4CBEC5D4}"/>
              </a:ext>
            </a:extLst>
          </p:cNvPr>
          <p:cNvCxnSpPr>
            <a:cxnSpLocks/>
          </p:cNvCxnSpPr>
          <p:nvPr userDrawn="1"/>
        </p:nvCxnSpPr>
        <p:spPr>
          <a:xfrm>
            <a:off x="67056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F204EA6A-A0F1-4A1F-D752-01EC9413BD08}"/>
              </a:ext>
            </a:extLst>
          </p:cNvPr>
          <p:cNvCxnSpPr/>
          <p:nvPr userDrawn="1"/>
        </p:nvCxnSpPr>
        <p:spPr>
          <a:xfrm>
            <a:off x="59436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2332F554-64FA-44EB-F6C0-65BB814F9D34}"/>
              </a:ext>
            </a:extLst>
          </p:cNvPr>
          <p:cNvCxnSpPr>
            <a:cxnSpLocks/>
          </p:cNvCxnSpPr>
          <p:nvPr userDrawn="1"/>
        </p:nvCxnSpPr>
        <p:spPr>
          <a:xfrm>
            <a:off x="67056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385339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8952"/>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7" name="Slide Number Placeholder 5">
            <a:extLst>
              <a:ext uri="{FF2B5EF4-FFF2-40B4-BE49-F238E27FC236}">
                <a16:creationId xmlns:a16="http://schemas.microsoft.com/office/drawing/2014/main" id="{55FC8917-4CA3-53EC-49EA-1322608A3F2A}"/>
              </a:ext>
            </a:extLst>
          </p:cNvPr>
          <p:cNvSpPr>
            <a:spLocks noGrp="1"/>
          </p:cNvSpPr>
          <p:nvPr>
            <p:ph type="sldNum" sz="quarter" idx="4"/>
          </p:nvPr>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69252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Dens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6A5A23E4-0FD3-1AC3-FD06-43716C74AFB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00776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1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4545627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4288518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secHead" preserve="1">
  <p:cSld name="2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37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3966390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16AC8C6-C4E6-E1A4-9BB3-02E2E29D455B}"/>
              </a:ext>
            </a:extLst>
          </p:cNvPr>
          <p:cNvSpPr>
            <a:spLocks noGrp="1"/>
          </p:cNvSpPr>
          <p:nvPr>
            <p:ph sz="half" idx="1"/>
          </p:nvPr>
        </p:nvSpPr>
        <p:spPr>
          <a:xfrm>
            <a:off x="914400" y="2270760"/>
            <a:ext cx="49149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4605E9D-2162-ED5F-D5C4-2810CEA1639F}"/>
              </a:ext>
            </a:extLst>
          </p:cNvPr>
          <p:cNvSpPr>
            <a:spLocks noGrp="1"/>
          </p:cNvSpPr>
          <p:nvPr>
            <p:ph sz="half" idx="2"/>
          </p:nvPr>
        </p:nvSpPr>
        <p:spPr>
          <a:xfrm>
            <a:off x="6096000" y="226758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5038188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xt_Picture Dark">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BC8566AA-00D7-499C-0F3E-2067A61875E1}"/>
              </a:ext>
            </a:extLst>
          </p:cNvPr>
          <p:cNvSpPr/>
          <p:nvPr userDrawn="1"/>
        </p:nvSpPr>
        <p:spPr>
          <a:xfrm>
            <a:off x="-22302" y="468351"/>
            <a:ext cx="7304048" cy="6400800"/>
          </a:xfrm>
          <a:custGeom>
            <a:avLst/>
            <a:gdLst>
              <a:gd name="connsiteX0" fmla="*/ 0 w 7304048"/>
              <a:gd name="connsiteY0" fmla="*/ 0 h 6400800"/>
              <a:gd name="connsiteX1" fmla="*/ 5832087 w 7304048"/>
              <a:gd name="connsiteY1" fmla="*/ 0 h 6400800"/>
              <a:gd name="connsiteX2" fmla="*/ 7304048 w 7304048"/>
              <a:gd name="connsiteY2" fmla="*/ 6400800 h 6400800"/>
              <a:gd name="connsiteX3" fmla="*/ 11151 w 7304048"/>
              <a:gd name="connsiteY3" fmla="*/ 6400800 h 6400800"/>
              <a:gd name="connsiteX4" fmla="*/ 11151 w 7304048"/>
              <a:gd name="connsiteY4" fmla="*/ 6300439 h 6400800"/>
              <a:gd name="connsiteX5" fmla="*/ 0 w 7304048"/>
              <a:gd name="connsiteY5" fmla="*/ 0 h 640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304048" h="6400800">
                <a:moveTo>
                  <a:pt x="0" y="0"/>
                </a:moveTo>
                <a:lnTo>
                  <a:pt x="5832087" y="0"/>
                </a:lnTo>
                <a:lnTo>
                  <a:pt x="7304048" y="6400800"/>
                </a:lnTo>
                <a:lnTo>
                  <a:pt x="11151" y="6400800"/>
                </a:lnTo>
                <a:lnTo>
                  <a:pt x="11151" y="6300439"/>
                </a:lnTo>
                <a:lnTo>
                  <a:pt x="0" y="0"/>
                </a:lnTo>
                <a:close/>
              </a:path>
            </a:pathLst>
          </a:cu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817279" y="484554"/>
            <a:ext cx="6369555" cy="6373446"/>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bg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8252"/>
            <a:ext cx="5181600" cy="3962400"/>
          </a:xfrm>
        </p:spPr>
        <p:txBody>
          <a:bodyPr>
            <a:normAutofit/>
          </a:bodyPr>
          <a:lstStyle>
            <a:lvl1pPr>
              <a:defRPr sz="2400">
                <a:solidFill>
                  <a:schemeClr val="bg1"/>
                </a:solidFill>
              </a:defRPr>
            </a:lvl1pPr>
            <a:lvl2pPr>
              <a:defRPr sz="2000">
                <a:solidFill>
                  <a:schemeClr val="bg1"/>
                </a:solidFill>
              </a:defRPr>
            </a:lvl2pPr>
            <a:lvl3pPr>
              <a:defRPr sz="1800">
                <a:solidFill>
                  <a:schemeClr val="bg1"/>
                </a:solidFill>
              </a:defRPr>
            </a:lvl3pPr>
            <a:lvl4pPr>
              <a:defRPr sz="1600">
                <a:solidFill>
                  <a:schemeClr val="bg1"/>
                </a:solidFill>
              </a:defRPr>
            </a:lvl4pPr>
            <a:lvl5pPr>
              <a:defRPr sz="16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095536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xt_Picture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573487" y="482551"/>
            <a:ext cx="6613348" cy="6375449"/>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7996489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_Picture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324600" y="750848"/>
            <a:ext cx="5562600" cy="5715000"/>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477000" y="903248"/>
            <a:ext cx="5257800" cy="5410200"/>
          </a:xfrm>
          <a:prstGeom prst="roundRect">
            <a:avLst>
              <a:gd name="adj" fmla="val 6063"/>
            </a:avLst>
          </a:prstGeom>
        </p:spPr>
        <p:txBody>
          <a:bodyPr/>
          <a:lstStyle>
            <a:lvl1pPr>
              <a:defRPr>
                <a:solidFill>
                  <a:schemeClr val="bg1"/>
                </a:solidFill>
              </a:defRPr>
            </a:lvl1pPr>
          </a:lstStyle>
          <a:p>
            <a:r>
              <a:rPr lang="en-US"/>
              <a:t>Click icon to add picture</a:t>
            </a:r>
          </a:p>
        </p:txBody>
      </p:sp>
    </p:spTree>
    <p:extLst>
      <p:ext uri="{BB962C8B-B14F-4D97-AF65-F5344CB8AC3E}">
        <p14:creationId xmlns:p14="http://schemas.microsoft.com/office/powerpoint/2010/main" val="155291952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ext _2 Pictures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781800" y="731195"/>
            <a:ext cx="5029200" cy="2873829"/>
          </a:xfrm>
          <a:prstGeom prst="roundRect">
            <a:avLst>
              <a:gd name="adj" fmla="val 6243"/>
            </a:avLst>
          </a:prstGeom>
          <a:gradFill>
            <a:gsLst>
              <a:gs pos="0">
                <a:schemeClr val="tx1"/>
              </a:gs>
              <a:gs pos="97000">
                <a:schemeClr val="accent3"/>
              </a:gs>
              <a:gs pos="46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959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12848"/>
            <a:ext cx="5562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934200" y="8835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
        <p:nvSpPr>
          <p:cNvPr id="10" name="Rounded Rectangle 9">
            <a:extLst>
              <a:ext uri="{FF2B5EF4-FFF2-40B4-BE49-F238E27FC236}">
                <a16:creationId xmlns:a16="http://schemas.microsoft.com/office/drawing/2014/main" id="{932B8DAB-353A-63A7-57E3-BC8771DAFC86}"/>
              </a:ext>
            </a:extLst>
          </p:cNvPr>
          <p:cNvSpPr/>
          <p:nvPr userDrawn="1"/>
        </p:nvSpPr>
        <p:spPr>
          <a:xfrm>
            <a:off x="6781800" y="3702995"/>
            <a:ext cx="5029200" cy="2873829"/>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Picture Placeholder 3">
            <a:extLst>
              <a:ext uri="{FF2B5EF4-FFF2-40B4-BE49-F238E27FC236}">
                <a16:creationId xmlns:a16="http://schemas.microsoft.com/office/drawing/2014/main" id="{7FD29A79-FC30-5176-80E7-A66A49211302}"/>
              </a:ext>
            </a:extLst>
          </p:cNvPr>
          <p:cNvSpPr>
            <a:spLocks noGrp="1"/>
          </p:cNvSpPr>
          <p:nvPr>
            <p:ph type="pic" sz="quarter" idx="16"/>
          </p:nvPr>
        </p:nvSpPr>
        <p:spPr>
          <a:xfrm>
            <a:off x="6934200" y="38553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Tree>
    <p:extLst>
      <p:ext uri="{BB962C8B-B14F-4D97-AF65-F5344CB8AC3E}">
        <p14:creationId xmlns:p14="http://schemas.microsoft.com/office/powerpoint/2010/main" val="42811763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and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197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324600" y="758952"/>
            <a:ext cx="5486400" cy="5486400"/>
          </a:xfrm>
        </p:spPr>
        <p:txBody>
          <a:bodyPr/>
          <a:lstStyle>
            <a:lvl1pPr>
              <a:defRPr>
                <a:solidFill>
                  <a:schemeClr val="tx1"/>
                </a:solidFill>
              </a:defRPr>
            </a:lvl1pPr>
          </a:lstStyle>
          <a:p>
            <a:r>
              <a:rPr lang="en-US"/>
              <a:t>Click icon to add chart</a:t>
            </a:r>
            <a:endParaRPr lang="en-US" dirty="0"/>
          </a:p>
        </p:txBody>
      </p:sp>
    </p:spTree>
    <p:extLst>
      <p:ext uri="{BB962C8B-B14F-4D97-AF65-F5344CB8AC3E}">
        <p14:creationId xmlns:p14="http://schemas.microsoft.com/office/powerpoint/2010/main" val="357816123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ide by side char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400800" y="2924869"/>
            <a:ext cx="5334000" cy="3505200"/>
          </a:xfrm>
        </p:spPr>
        <p:txBody>
          <a:bodyPr/>
          <a:lstStyle>
            <a:lvl1pPr>
              <a:defRPr>
                <a:solidFill>
                  <a:schemeClr val="tx1"/>
                </a:solidFill>
              </a:defRPr>
            </a:lvl1pPr>
          </a:lstStyle>
          <a:p>
            <a:r>
              <a:rPr lang="en-US"/>
              <a:t>Click icon to add chart</a:t>
            </a:r>
            <a:endParaRPr lang="en-US" dirty="0"/>
          </a:p>
        </p:txBody>
      </p:sp>
      <p:sp>
        <p:nvSpPr>
          <p:cNvPr id="3" name="Chart Placeholder 8">
            <a:extLst>
              <a:ext uri="{FF2B5EF4-FFF2-40B4-BE49-F238E27FC236}">
                <a16:creationId xmlns:a16="http://schemas.microsoft.com/office/drawing/2014/main" id="{47C9A64A-95DE-326D-AD27-2A9C89FC288F}"/>
              </a:ext>
            </a:extLst>
          </p:cNvPr>
          <p:cNvSpPr>
            <a:spLocks noGrp="1"/>
          </p:cNvSpPr>
          <p:nvPr>
            <p:ph type="chart" sz="quarter" idx="16"/>
          </p:nvPr>
        </p:nvSpPr>
        <p:spPr>
          <a:xfrm>
            <a:off x="914400" y="2924869"/>
            <a:ext cx="5334000" cy="3505200"/>
          </a:xfrm>
        </p:spPr>
        <p:txBody>
          <a:bodyPr/>
          <a:lstStyle>
            <a:lvl1pPr>
              <a:defRPr>
                <a:solidFill>
                  <a:schemeClr val="tx1"/>
                </a:solidFill>
              </a:defRPr>
            </a:lvl1pPr>
          </a:lstStyle>
          <a:p>
            <a:r>
              <a:rPr lang="en-US"/>
              <a:t>Click icon to add chart</a:t>
            </a:r>
            <a:endParaRPr lang="en-US" dirty="0"/>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b"/>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Tree>
    <p:extLst>
      <p:ext uri="{BB962C8B-B14F-4D97-AF65-F5344CB8AC3E}">
        <p14:creationId xmlns:p14="http://schemas.microsoft.com/office/powerpoint/2010/main" val="9457809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Side by side pictur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Picture Placeholder 7">
            <a:extLst>
              <a:ext uri="{FF2B5EF4-FFF2-40B4-BE49-F238E27FC236}">
                <a16:creationId xmlns:a16="http://schemas.microsoft.com/office/drawing/2014/main" id="{A5E00329-735F-25A4-8DAC-E98E4105FA19}"/>
              </a:ext>
            </a:extLst>
          </p:cNvPr>
          <p:cNvSpPr>
            <a:spLocks noGrp="1"/>
          </p:cNvSpPr>
          <p:nvPr>
            <p:ph type="pic" sz="quarter" idx="17"/>
          </p:nvPr>
        </p:nvSpPr>
        <p:spPr>
          <a:xfrm>
            <a:off x="914400" y="2912640"/>
            <a:ext cx="5334000" cy="3505200"/>
          </a:xfrm>
        </p:spPr>
        <p:txBody>
          <a:bodyPr/>
          <a:lstStyle/>
          <a:p>
            <a:r>
              <a:rPr lang="en-US"/>
              <a:t>Click icon to add picture</a:t>
            </a:r>
          </a:p>
        </p:txBody>
      </p:sp>
      <p:sp>
        <p:nvSpPr>
          <p:cNvPr id="11" name="Picture Placeholder 7">
            <a:extLst>
              <a:ext uri="{FF2B5EF4-FFF2-40B4-BE49-F238E27FC236}">
                <a16:creationId xmlns:a16="http://schemas.microsoft.com/office/drawing/2014/main" id="{5D11F4B7-132E-FFAB-C5E1-A1A1DA78032E}"/>
              </a:ext>
            </a:extLst>
          </p:cNvPr>
          <p:cNvSpPr>
            <a:spLocks noGrp="1"/>
          </p:cNvSpPr>
          <p:nvPr>
            <p:ph type="pic" sz="quarter" idx="18"/>
          </p:nvPr>
        </p:nvSpPr>
        <p:spPr>
          <a:xfrm>
            <a:off x="6400800" y="2912640"/>
            <a:ext cx="5334000" cy="3505200"/>
          </a:xfrm>
        </p:spPr>
        <p:txBody>
          <a:bodyPr/>
          <a:lstStyle/>
          <a:p>
            <a:r>
              <a:rPr lang="en-US"/>
              <a:t>Click icon to add picture</a:t>
            </a:r>
          </a:p>
        </p:txBody>
      </p:sp>
    </p:spTree>
    <p:extLst>
      <p:ext uri="{BB962C8B-B14F-4D97-AF65-F5344CB8AC3E}">
        <p14:creationId xmlns:p14="http://schemas.microsoft.com/office/powerpoint/2010/main" val="35244866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Icon call outs">
    <p:bg>
      <p:bgRef idx="1001">
        <a:schemeClr val="bg1"/>
      </p:bgRef>
    </p:bg>
    <p:spTree>
      <p:nvGrpSpPr>
        <p:cNvPr id="1" name=""/>
        <p:cNvGrpSpPr/>
        <p:nvPr/>
      </p:nvGrpSpPr>
      <p:grpSpPr>
        <a:xfrm>
          <a:off x="0" y="0"/>
          <a:ext cx="0" cy="0"/>
          <a:chOff x="0" y="0"/>
          <a:chExt cx="0" cy="0"/>
        </a:xfrm>
      </p:grpSpPr>
      <p:sp>
        <p:nvSpPr>
          <p:cNvPr id="15" name="Text Placeholder 11">
            <a:extLst>
              <a:ext uri="{FF2B5EF4-FFF2-40B4-BE49-F238E27FC236}">
                <a16:creationId xmlns:a16="http://schemas.microsoft.com/office/drawing/2014/main" id="{3465C986-E3D2-97E7-9111-0299F9C3B1D2}"/>
              </a:ext>
            </a:extLst>
          </p:cNvPr>
          <p:cNvSpPr>
            <a:spLocks noGrp="1"/>
          </p:cNvSpPr>
          <p:nvPr>
            <p:ph type="body" sz="quarter" idx="15" hasCustomPrompt="1"/>
          </p:nvPr>
        </p:nvSpPr>
        <p:spPr>
          <a:xfrm>
            <a:off x="951767"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0" name="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28190"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948564" y="4248614"/>
            <a:ext cx="233306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5" name="Straight Arrow Connector 44">
            <a:extLst>
              <a:ext uri="{FF2B5EF4-FFF2-40B4-BE49-F238E27FC236}">
                <a16:creationId xmlns:a16="http://schemas.microsoft.com/office/drawing/2014/main" id="{9CFE922A-6A5A-4DA8-1E44-D80852772091}"/>
              </a:ext>
              <a:ext uri="{C183D7F6-B498-43B3-948B-1728B52AA6E4}">
                <adec:decorative xmlns:adec="http://schemas.microsoft.com/office/drawing/2017/decorative" val="1"/>
              </a:ext>
            </a:extLst>
          </p:cNvPr>
          <p:cNvCxnSpPr>
            <a:cxnSpLocks/>
          </p:cNvCxnSpPr>
          <p:nvPr userDrawn="1"/>
        </p:nvCxnSpPr>
        <p:spPr>
          <a:xfrm>
            <a:off x="1201554" y="6203726"/>
            <a:ext cx="1827083"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6" name="Text Placeholder 11">
            <a:extLst>
              <a:ext uri="{FF2B5EF4-FFF2-40B4-BE49-F238E27FC236}">
                <a16:creationId xmlns:a16="http://schemas.microsoft.com/office/drawing/2014/main" id="{3D56C31D-5FDB-2235-FFF8-2AB6E04C9B1C}"/>
              </a:ext>
            </a:extLst>
          </p:cNvPr>
          <p:cNvSpPr>
            <a:spLocks noGrp="1"/>
          </p:cNvSpPr>
          <p:nvPr>
            <p:ph type="body" sz="quarter" idx="16" hasCustomPrompt="1"/>
          </p:nvPr>
        </p:nvSpPr>
        <p:spPr>
          <a:xfrm>
            <a:off x="3657600"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1" name="Text Placeholder 11">
            <a:extLst>
              <a:ext uri="{FF2B5EF4-FFF2-40B4-BE49-F238E27FC236}">
                <a16:creationId xmlns:a16="http://schemas.microsoft.com/office/drawing/2014/main" id="{B16A2860-4464-B092-801E-255A6B7DF3E4}"/>
              </a:ext>
            </a:extLst>
          </p:cNvPr>
          <p:cNvSpPr>
            <a:spLocks noGrp="1"/>
          </p:cNvSpPr>
          <p:nvPr>
            <p:ph type="body" sz="quarter" idx="21" hasCustomPrompt="1"/>
          </p:nvPr>
        </p:nvSpPr>
        <p:spPr>
          <a:xfrm>
            <a:off x="3640500" y="4248614"/>
            <a:ext cx="2360857"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6" name="Straight Arrow Connector 45">
            <a:extLst>
              <a:ext uri="{FF2B5EF4-FFF2-40B4-BE49-F238E27FC236}">
                <a16:creationId xmlns:a16="http://schemas.microsoft.com/office/drawing/2014/main" id="{76330766-86D4-F436-F65D-07EF389BF5F5}"/>
              </a:ext>
              <a:ext uri="{C183D7F6-B498-43B3-948B-1728B52AA6E4}">
                <adec:decorative xmlns:adec="http://schemas.microsoft.com/office/drawing/2017/decorative" val="1"/>
              </a:ext>
            </a:extLst>
          </p:cNvPr>
          <p:cNvCxnSpPr>
            <a:cxnSpLocks/>
          </p:cNvCxnSpPr>
          <p:nvPr userDrawn="1"/>
        </p:nvCxnSpPr>
        <p:spPr>
          <a:xfrm>
            <a:off x="3902735" y="6203726"/>
            <a:ext cx="1836387"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7" name="Text Placeholder 11">
            <a:extLst>
              <a:ext uri="{FF2B5EF4-FFF2-40B4-BE49-F238E27FC236}">
                <a16:creationId xmlns:a16="http://schemas.microsoft.com/office/drawing/2014/main" id="{A540E06E-3F2B-A3DC-320A-8C968AC4350E}"/>
              </a:ext>
            </a:extLst>
          </p:cNvPr>
          <p:cNvSpPr>
            <a:spLocks noGrp="1"/>
          </p:cNvSpPr>
          <p:nvPr>
            <p:ph type="body" sz="quarter" idx="17" hasCustomPrompt="1"/>
          </p:nvPr>
        </p:nvSpPr>
        <p:spPr>
          <a:xfrm>
            <a:off x="6435141"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2" name="Text Placeholder 11">
            <a:extLst>
              <a:ext uri="{FF2B5EF4-FFF2-40B4-BE49-F238E27FC236}">
                <a16:creationId xmlns:a16="http://schemas.microsoft.com/office/drawing/2014/main" id="{51307C43-6072-93E9-BF1D-64D42AE2A524}"/>
              </a:ext>
            </a:extLst>
          </p:cNvPr>
          <p:cNvSpPr>
            <a:spLocks noGrp="1"/>
          </p:cNvSpPr>
          <p:nvPr>
            <p:ph type="body" sz="quarter" idx="22" hasCustomPrompt="1"/>
          </p:nvPr>
        </p:nvSpPr>
        <p:spPr>
          <a:xfrm>
            <a:off x="6419643" y="4248614"/>
            <a:ext cx="235765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7" name="Straight Arrow Connector 46">
            <a:extLst>
              <a:ext uri="{FF2B5EF4-FFF2-40B4-BE49-F238E27FC236}">
                <a16:creationId xmlns:a16="http://schemas.microsoft.com/office/drawing/2014/main" id="{EF51B736-1CC5-842A-AFEB-68B18931713C}"/>
              </a:ext>
              <a:ext uri="{C183D7F6-B498-43B3-948B-1728B52AA6E4}">
                <adec:decorative xmlns:adec="http://schemas.microsoft.com/office/drawing/2017/decorative" val="1"/>
              </a:ext>
            </a:extLst>
          </p:cNvPr>
          <p:cNvCxnSpPr>
            <a:cxnSpLocks/>
          </p:cNvCxnSpPr>
          <p:nvPr userDrawn="1"/>
        </p:nvCxnSpPr>
        <p:spPr>
          <a:xfrm>
            <a:off x="6684650" y="6203726"/>
            <a:ext cx="1827639"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8" name="Text Placeholder 11">
            <a:extLst>
              <a:ext uri="{FF2B5EF4-FFF2-40B4-BE49-F238E27FC236}">
                <a16:creationId xmlns:a16="http://schemas.microsoft.com/office/drawing/2014/main" id="{716EA8F4-B9C4-991F-0EBC-D79877AD4680}"/>
              </a:ext>
            </a:extLst>
          </p:cNvPr>
          <p:cNvSpPr>
            <a:spLocks noGrp="1"/>
          </p:cNvSpPr>
          <p:nvPr>
            <p:ph type="body" sz="quarter" idx="18" hasCustomPrompt="1"/>
          </p:nvPr>
        </p:nvSpPr>
        <p:spPr>
          <a:xfrm>
            <a:off x="9161699"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3" name="Text Placeholder 11">
            <a:extLst>
              <a:ext uri="{FF2B5EF4-FFF2-40B4-BE49-F238E27FC236}">
                <a16:creationId xmlns:a16="http://schemas.microsoft.com/office/drawing/2014/main" id="{5A57C80F-4C30-26E1-B38B-3D7238EC9A49}"/>
              </a:ext>
            </a:extLst>
          </p:cNvPr>
          <p:cNvSpPr>
            <a:spLocks noGrp="1"/>
          </p:cNvSpPr>
          <p:nvPr>
            <p:ph type="body" sz="quarter" idx="23" hasCustomPrompt="1"/>
          </p:nvPr>
        </p:nvSpPr>
        <p:spPr>
          <a:xfrm>
            <a:off x="9140053" y="4248614"/>
            <a:ext cx="2369948"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8" name="Straight Arrow Connector 47">
            <a:extLst>
              <a:ext uri="{FF2B5EF4-FFF2-40B4-BE49-F238E27FC236}">
                <a16:creationId xmlns:a16="http://schemas.microsoft.com/office/drawing/2014/main" id="{A771B152-C165-EE9A-CF25-69B01D93984C}"/>
              </a:ext>
              <a:ext uri="{C183D7F6-B498-43B3-948B-1728B52AA6E4}">
                <adec:decorative xmlns:adec="http://schemas.microsoft.com/office/drawing/2017/decorative" val="1"/>
              </a:ext>
            </a:extLst>
          </p:cNvPr>
          <p:cNvCxnSpPr>
            <a:cxnSpLocks/>
          </p:cNvCxnSpPr>
          <p:nvPr userDrawn="1"/>
        </p:nvCxnSpPr>
        <p:spPr>
          <a:xfrm>
            <a:off x="9410840" y="6203726"/>
            <a:ext cx="1828375"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8" name="Rectangle 7">
            <a:extLst>
              <a:ext uri="{FF2B5EF4-FFF2-40B4-BE49-F238E27FC236}">
                <a16:creationId xmlns:a16="http://schemas.microsoft.com/office/drawing/2014/main" id="{3A788A64-F282-9CE1-4232-9EE355589DE3}"/>
              </a:ext>
              <a:ext uri="{C183D7F6-B498-43B3-948B-1728B52AA6E4}">
                <adec:decorative xmlns:adec="http://schemas.microsoft.com/office/drawing/2017/decorative" val="1"/>
              </a:ext>
            </a:extLst>
          </p:cNvPr>
          <p:cNvSpPr/>
          <p:nvPr userDrawn="1"/>
        </p:nvSpPr>
        <p:spPr>
          <a:xfrm>
            <a:off x="3634023"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9" name="Rectangle 8">
            <a:extLst>
              <a:ext uri="{FF2B5EF4-FFF2-40B4-BE49-F238E27FC236}">
                <a16:creationId xmlns:a16="http://schemas.microsoft.com/office/drawing/2014/main" id="{10782DED-E3BA-FB36-43E4-81DBB440C37C}"/>
              </a:ext>
              <a:ext uri="{C183D7F6-B498-43B3-948B-1728B52AA6E4}">
                <adec:decorative xmlns:adec="http://schemas.microsoft.com/office/drawing/2017/decorative" val="1"/>
              </a:ext>
            </a:extLst>
          </p:cNvPr>
          <p:cNvSpPr/>
          <p:nvPr userDrawn="1"/>
        </p:nvSpPr>
        <p:spPr>
          <a:xfrm>
            <a:off x="6411564"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10" name="Rectangle 9">
            <a:extLst>
              <a:ext uri="{FF2B5EF4-FFF2-40B4-BE49-F238E27FC236}">
                <a16:creationId xmlns:a16="http://schemas.microsoft.com/office/drawing/2014/main" id="{00D478D9-E1B0-6465-A4AE-A5FCFD483B88}"/>
              </a:ext>
              <a:ext uri="{C183D7F6-B498-43B3-948B-1728B52AA6E4}">
                <adec:decorative xmlns:adec="http://schemas.microsoft.com/office/drawing/2017/decorative" val="1"/>
              </a:ext>
            </a:extLst>
          </p:cNvPr>
          <p:cNvSpPr/>
          <p:nvPr userDrawn="1"/>
        </p:nvSpPr>
        <p:spPr>
          <a:xfrm>
            <a:off x="9138122"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6" name="Footer Placeholder 5">
            <a:extLst>
              <a:ext uri="{FF2B5EF4-FFF2-40B4-BE49-F238E27FC236}">
                <a16:creationId xmlns:a16="http://schemas.microsoft.com/office/drawing/2014/main" id="{44EA6892-F10F-164E-5109-ED84CE738A8B}"/>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828D13AE-FD08-9C1F-6E91-5682E73EC069}"/>
              </a:ext>
            </a:extLst>
          </p:cNvPr>
          <p:cNvSpPr>
            <a:spLocks noGrp="1"/>
          </p:cNvSpPr>
          <p:nvPr>
            <p:ph type="sldNum" sz="quarter" idx="12"/>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193158889"/>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6 circle callou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grpSp>
        <p:nvGrpSpPr>
          <p:cNvPr id="6" name="그룹 1281">
            <a:extLst>
              <a:ext uri="{FF2B5EF4-FFF2-40B4-BE49-F238E27FC236}">
                <a16:creationId xmlns:a16="http://schemas.microsoft.com/office/drawing/2014/main" id="{65B4D3AB-B0EE-820C-F332-86B9B4FF4D7D}"/>
              </a:ext>
            </a:extLst>
          </p:cNvPr>
          <p:cNvGrpSpPr/>
          <p:nvPr userDrawn="1"/>
        </p:nvGrpSpPr>
        <p:grpSpPr>
          <a:xfrm>
            <a:off x="1143000" y="2505297"/>
            <a:ext cx="10056459" cy="2238357"/>
            <a:chOff x="1073086" y="2710034"/>
            <a:chExt cx="10056459" cy="2238357"/>
          </a:xfrm>
        </p:grpSpPr>
        <p:sp>
          <p:nvSpPr>
            <p:cNvPr id="8" name="Oval 6">
              <a:extLst>
                <a:ext uri="{FF2B5EF4-FFF2-40B4-BE49-F238E27FC236}">
                  <a16:creationId xmlns:a16="http://schemas.microsoft.com/office/drawing/2014/main" id="{1F23A632-C958-B035-7D29-4E36C3A8D927}"/>
                </a:ext>
              </a:extLst>
            </p:cNvPr>
            <p:cNvSpPr/>
            <p:nvPr/>
          </p:nvSpPr>
          <p:spPr>
            <a:xfrm rot="7200000" flipH="1">
              <a:off x="3914385"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9" name="Oval 6">
              <a:extLst>
                <a:ext uri="{FF2B5EF4-FFF2-40B4-BE49-F238E27FC236}">
                  <a16:creationId xmlns:a16="http://schemas.microsoft.com/office/drawing/2014/main" id="{918FE6A1-233A-7F39-8799-6BFEF9149E32}"/>
                </a:ext>
              </a:extLst>
            </p:cNvPr>
            <p:cNvSpPr/>
            <p:nvPr/>
          </p:nvSpPr>
          <p:spPr>
            <a:xfrm rot="7200000" flipH="1">
              <a:off x="7460429"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0" name="Oval 6">
              <a:extLst>
                <a:ext uri="{FF2B5EF4-FFF2-40B4-BE49-F238E27FC236}">
                  <a16:creationId xmlns:a16="http://schemas.microsoft.com/office/drawing/2014/main" id="{7E0B8266-3454-DEDE-28C4-30473AD029FF}"/>
                </a:ext>
              </a:extLst>
            </p:cNvPr>
            <p:cNvSpPr/>
            <p:nvPr/>
          </p:nvSpPr>
          <p:spPr>
            <a:xfrm rot="14400000">
              <a:off x="2141363"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1" name="Oval 5">
              <a:extLst>
                <a:ext uri="{FF2B5EF4-FFF2-40B4-BE49-F238E27FC236}">
                  <a16:creationId xmlns:a16="http://schemas.microsoft.com/office/drawing/2014/main" id="{3229B04E-61C5-C43D-3D60-E218AEF16C01}"/>
                </a:ext>
              </a:extLst>
            </p:cNvPr>
            <p:cNvSpPr/>
            <p:nvPr/>
          </p:nvSpPr>
          <p:spPr>
            <a:xfrm>
              <a:off x="1073086" y="3714353"/>
              <a:ext cx="1234037" cy="1234038"/>
            </a:xfrm>
            <a:prstGeom prst="ellipse">
              <a:avLst/>
            </a:pr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2" name="타원 1286">
              <a:extLst>
                <a:ext uri="{FF2B5EF4-FFF2-40B4-BE49-F238E27FC236}">
                  <a16:creationId xmlns:a16="http://schemas.microsoft.com/office/drawing/2014/main" id="{2EA6EF24-8749-8BEF-326C-C125ACB2C20A}"/>
                </a:ext>
              </a:extLst>
            </p:cNvPr>
            <p:cNvSpPr/>
            <p:nvPr/>
          </p:nvSpPr>
          <p:spPr>
            <a:xfrm>
              <a:off x="1137335"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13" name="Oval 15">
              <a:extLst>
                <a:ext uri="{FF2B5EF4-FFF2-40B4-BE49-F238E27FC236}">
                  <a16:creationId xmlns:a16="http://schemas.microsoft.com/office/drawing/2014/main" id="{454E25E1-F59A-FADC-CD3F-CA7A84CCA1E2}"/>
                </a:ext>
              </a:extLst>
            </p:cNvPr>
            <p:cNvSpPr/>
            <p:nvPr/>
          </p:nvSpPr>
          <p:spPr>
            <a:xfrm>
              <a:off x="2837570" y="2710034"/>
              <a:ext cx="1234037" cy="1234038"/>
            </a:xfrm>
            <a:prstGeom prst="ellipse">
              <a:avLst/>
            </a:pr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4" name="Oval 6">
              <a:extLst>
                <a:ext uri="{FF2B5EF4-FFF2-40B4-BE49-F238E27FC236}">
                  <a16:creationId xmlns:a16="http://schemas.microsoft.com/office/drawing/2014/main" id="{FDA8283F-32E9-CA15-A705-995234E96ECB}"/>
                </a:ext>
              </a:extLst>
            </p:cNvPr>
            <p:cNvSpPr/>
            <p:nvPr/>
          </p:nvSpPr>
          <p:spPr>
            <a:xfrm rot="14400000">
              <a:off x="9209572" y="3041001"/>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5" name="Oval 6">
              <a:extLst>
                <a:ext uri="{FF2B5EF4-FFF2-40B4-BE49-F238E27FC236}">
                  <a16:creationId xmlns:a16="http://schemas.microsoft.com/office/drawing/2014/main" id="{6613845B-FD2D-2942-2DAB-3AB4C444161F}"/>
                </a:ext>
              </a:extLst>
            </p:cNvPr>
            <p:cNvSpPr/>
            <p:nvPr/>
          </p:nvSpPr>
          <p:spPr>
            <a:xfrm rot="14400000">
              <a:off x="5687407"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6" name="Oval 5">
              <a:extLst>
                <a:ext uri="{FF2B5EF4-FFF2-40B4-BE49-F238E27FC236}">
                  <a16:creationId xmlns:a16="http://schemas.microsoft.com/office/drawing/2014/main" id="{D2062A16-1962-16F4-8023-92D9AE84B52E}"/>
                </a:ext>
              </a:extLst>
            </p:cNvPr>
            <p:cNvSpPr/>
            <p:nvPr/>
          </p:nvSpPr>
          <p:spPr>
            <a:xfrm>
              <a:off x="4602054" y="3714353"/>
              <a:ext cx="1234037" cy="1234038"/>
            </a:xfrm>
            <a:prstGeom prst="ellipse">
              <a:avLst/>
            </a:pr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7" name="Oval 15">
              <a:extLst>
                <a:ext uri="{FF2B5EF4-FFF2-40B4-BE49-F238E27FC236}">
                  <a16:creationId xmlns:a16="http://schemas.microsoft.com/office/drawing/2014/main" id="{0ABE85E6-8EEE-628D-159D-8DE52BB344E7}"/>
                </a:ext>
              </a:extLst>
            </p:cNvPr>
            <p:cNvSpPr/>
            <p:nvPr/>
          </p:nvSpPr>
          <p:spPr>
            <a:xfrm>
              <a:off x="6366538" y="2710034"/>
              <a:ext cx="1234037" cy="1234038"/>
            </a:xfrm>
            <a:prstGeom prst="ellipse">
              <a:avLst/>
            </a:pr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8" name="Oval 18">
              <a:extLst>
                <a:ext uri="{FF2B5EF4-FFF2-40B4-BE49-F238E27FC236}">
                  <a16:creationId xmlns:a16="http://schemas.microsoft.com/office/drawing/2014/main" id="{8B1831B6-1987-F685-D305-1DFA4F6D16E4}"/>
                </a:ext>
              </a:extLst>
            </p:cNvPr>
            <p:cNvSpPr/>
            <p:nvPr/>
          </p:nvSpPr>
          <p:spPr>
            <a:xfrm>
              <a:off x="8131022" y="3714353"/>
              <a:ext cx="1234037" cy="1234038"/>
            </a:xfrm>
            <a:prstGeom prst="ellipse">
              <a:avLst/>
            </a:pr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9" name="Oval 21">
              <a:extLst>
                <a:ext uri="{FF2B5EF4-FFF2-40B4-BE49-F238E27FC236}">
                  <a16:creationId xmlns:a16="http://schemas.microsoft.com/office/drawing/2014/main" id="{753C5383-B157-55FB-8CE2-7456440E869D}"/>
                </a:ext>
              </a:extLst>
            </p:cNvPr>
            <p:cNvSpPr/>
            <p:nvPr/>
          </p:nvSpPr>
          <p:spPr>
            <a:xfrm>
              <a:off x="9895508" y="2710034"/>
              <a:ext cx="1234037" cy="1234038"/>
            </a:xfrm>
            <a:prstGeom prst="ellipse">
              <a:avLst/>
            </a:prstGeom>
            <a:solidFill>
              <a:schemeClr val="accent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21" name="타원 1295">
              <a:extLst>
                <a:ext uri="{FF2B5EF4-FFF2-40B4-BE49-F238E27FC236}">
                  <a16:creationId xmlns:a16="http://schemas.microsoft.com/office/drawing/2014/main" id="{BB2B1159-F287-F4D0-972D-AEB57CCA3AC0}"/>
                </a:ext>
              </a:extLst>
            </p:cNvPr>
            <p:cNvSpPr/>
            <p:nvPr/>
          </p:nvSpPr>
          <p:spPr>
            <a:xfrm>
              <a:off x="2901819"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accent5"/>
                </a:solidFill>
              </a:endParaRPr>
            </a:p>
          </p:txBody>
        </p:sp>
        <p:sp>
          <p:nvSpPr>
            <p:cNvPr id="22" name="타원 1296">
              <a:extLst>
                <a:ext uri="{FF2B5EF4-FFF2-40B4-BE49-F238E27FC236}">
                  <a16:creationId xmlns:a16="http://schemas.microsoft.com/office/drawing/2014/main" id="{3D44CC5B-C0AF-D2C2-BE76-D065ED9D3A38}"/>
                </a:ext>
              </a:extLst>
            </p:cNvPr>
            <p:cNvSpPr/>
            <p:nvPr/>
          </p:nvSpPr>
          <p:spPr>
            <a:xfrm>
              <a:off x="643078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3" name="타원 1297">
              <a:extLst>
                <a:ext uri="{FF2B5EF4-FFF2-40B4-BE49-F238E27FC236}">
                  <a16:creationId xmlns:a16="http://schemas.microsoft.com/office/drawing/2014/main" id="{8E47600E-B996-E6EC-B833-93E90D5A2297}"/>
                </a:ext>
              </a:extLst>
            </p:cNvPr>
            <p:cNvSpPr/>
            <p:nvPr/>
          </p:nvSpPr>
          <p:spPr>
            <a:xfrm>
              <a:off x="995522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4" name="타원 1298">
              <a:extLst>
                <a:ext uri="{FF2B5EF4-FFF2-40B4-BE49-F238E27FC236}">
                  <a16:creationId xmlns:a16="http://schemas.microsoft.com/office/drawing/2014/main" id="{047F897C-36C1-5E05-CC89-EBDFB90F4035}"/>
                </a:ext>
              </a:extLst>
            </p:cNvPr>
            <p:cNvSpPr/>
            <p:nvPr/>
          </p:nvSpPr>
          <p:spPr>
            <a:xfrm>
              <a:off x="8195271"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5" name="타원 1299">
              <a:extLst>
                <a:ext uri="{FF2B5EF4-FFF2-40B4-BE49-F238E27FC236}">
                  <a16:creationId xmlns:a16="http://schemas.microsoft.com/office/drawing/2014/main" id="{54EBFDB8-3C81-B0D3-B25E-E3CC580BDD36}"/>
                </a:ext>
              </a:extLst>
            </p:cNvPr>
            <p:cNvSpPr/>
            <p:nvPr/>
          </p:nvSpPr>
          <p:spPr>
            <a:xfrm>
              <a:off x="4666303"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grpSp>
      <p:sp>
        <p:nvSpPr>
          <p:cNvPr id="32" name="Text Placeholder 31">
            <a:extLst>
              <a:ext uri="{FF2B5EF4-FFF2-40B4-BE49-F238E27FC236}">
                <a16:creationId xmlns:a16="http://schemas.microsoft.com/office/drawing/2014/main" id="{17B16F72-40BA-E998-2257-D54EE6CEBAEE}"/>
              </a:ext>
            </a:extLst>
          </p:cNvPr>
          <p:cNvSpPr>
            <a:spLocks noGrp="1"/>
          </p:cNvSpPr>
          <p:nvPr>
            <p:ph type="body" sz="quarter" idx="12" hasCustomPrompt="1"/>
          </p:nvPr>
        </p:nvSpPr>
        <p:spPr>
          <a:xfrm>
            <a:off x="1143000" y="36482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3" name="Text Placeholder 31">
            <a:extLst>
              <a:ext uri="{FF2B5EF4-FFF2-40B4-BE49-F238E27FC236}">
                <a16:creationId xmlns:a16="http://schemas.microsoft.com/office/drawing/2014/main" id="{AAB8F30F-2FFC-20DD-A8F6-71024DC03C1C}"/>
              </a:ext>
            </a:extLst>
          </p:cNvPr>
          <p:cNvSpPr>
            <a:spLocks noGrp="1"/>
          </p:cNvSpPr>
          <p:nvPr>
            <p:ph type="body" sz="quarter" idx="13" hasCustomPrompt="1"/>
          </p:nvPr>
        </p:nvSpPr>
        <p:spPr>
          <a:xfrm>
            <a:off x="2971800" y="26576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4" name="Text Placeholder 31">
            <a:extLst>
              <a:ext uri="{FF2B5EF4-FFF2-40B4-BE49-F238E27FC236}">
                <a16:creationId xmlns:a16="http://schemas.microsoft.com/office/drawing/2014/main" id="{9BFAAFBE-22E7-798D-C75E-C8E828921180}"/>
              </a:ext>
            </a:extLst>
          </p:cNvPr>
          <p:cNvSpPr>
            <a:spLocks noGrp="1"/>
          </p:cNvSpPr>
          <p:nvPr>
            <p:ph type="body" sz="quarter" idx="14" hasCustomPrompt="1"/>
          </p:nvPr>
        </p:nvSpPr>
        <p:spPr>
          <a:xfrm>
            <a:off x="4724400" y="3648297"/>
            <a:ext cx="1143000" cy="990600"/>
          </a:xfrm>
        </p:spPr>
        <p:txBody>
          <a:bodyPr anchor="ctr">
            <a:normAutofit/>
          </a:bodyPr>
          <a:lstStyle>
            <a:lvl1pPr marL="0" indent="0" algn="ctr">
              <a:lnSpc>
                <a:spcPct val="85000"/>
              </a:lnSpc>
              <a:spcBef>
                <a:spcPts val="0"/>
              </a:spcBef>
              <a:buNone/>
              <a:defRPr sz="1600" b="1">
                <a:solidFill>
                  <a:schemeClr val="bg2">
                    <a:lumMod val="50000"/>
                  </a:schemeClr>
                </a:solidFill>
              </a:defRPr>
            </a:lvl1pPr>
          </a:lstStyle>
          <a:p>
            <a:pPr lvl="0"/>
            <a:r>
              <a:rPr lang="en-US" dirty="0"/>
              <a:t>Text</a:t>
            </a:r>
          </a:p>
        </p:txBody>
      </p:sp>
      <p:sp>
        <p:nvSpPr>
          <p:cNvPr id="35" name="Text Placeholder 31">
            <a:extLst>
              <a:ext uri="{FF2B5EF4-FFF2-40B4-BE49-F238E27FC236}">
                <a16:creationId xmlns:a16="http://schemas.microsoft.com/office/drawing/2014/main" id="{AB5386A6-EBCF-BE3F-9C99-5AC05501DAA9}"/>
              </a:ext>
            </a:extLst>
          </p:cNvPr>
          <p:cNvSpPr>
            <a:spLocks noGrp="1"/>
          </p:cNvSpPr>
          <p:nvPr>
            <p:ph type="body" sz="quarter" idx="15" hasCustomPrompt="1"/>
          </p:nvPr>
        </p:nvSpPr>
        <p:spPr>
          <a:xfrm>
            <a:off x="6477000" y="2657697"/>
            <a:ext cx="1143000" cy="990600"/>
          </a:xfrm>
        </p:spPr>
        <p:txBody>
          <a:bodyPr anchor="ctr">
            <a:normAutofit/>
          </a:bodyPr>
          <a:lstStyle>
            <a:lvl1pPr marL="0" indent="0" algn="ctr">
              <a:lnSpc>
                <a:spcPct val="85000"/>
              </a:lnSpc>
              <a:spcBef>
                <a:spcPts val="0"/>
              </a:spcBef>
              <a:buNone/>
              <a:defRPr sz="1600" b="1">
                <a:solidFill>
                  <a:schemeClr val="accent3">
                    <a:lumMod val="75000"/>
                  </a:schemeClr>
                </a:solidFill>
              </a:defRPr>
            </a:lvl1pPr>
          </a:lstStyle>
          <a:p>
            <a:pPr lvl="0"/>
            <a:r>
              <a:rPr lang="en-US" dirty="0"/>
              <a:t>Text</a:t>
            </a:r>
          </a:p>
        </p:txBody>
      </p:sp>
      <p:sp>
        <p:nvSpPr>
          <p:cNvPr id="36" name="Text Placeholder 31">
            <a:extLst>
              <a:ext uri="{FF2B5EF4-FFF2-40B4-BE49-F238E27FC236}">
                <a16:creationId xmlns:a16="http://schemas.microsoft.com/office/drawing/2014/main" id="{8FF922E3-5C68-F6E3-0485-A0E67CC88D80}"/>
              </a:ext>
            </a:extLst>
          </p:cNvPr>
          <p:cNvSpPr>
            <a:spLocks noGrp="1"/>
          </p:cNvSpPr>
          <p:nvPr>
            <p:ph type="body" sz="quarter" idx="16" hasCustomPrompt="1"/>
          </p:nvPr>
        </p:nvSpPr>
        <p:spPr>
          <a:xfrm>
            <a:off x="8229600" y="3648297"/>
            <a:ext cx="1143000" cy="990600"/>
          </a:xfrm>
        </p:spPr>
        <p:txBody>
          <a:bodyPr anchor="ctr">
            <a:normAutofit/>
          </a:bodyPr>
          <a:lstStyle>
            <a:lvl1pPr marL="0" indent="0" algn="ctr">
              <a:lnSpc>
                <a:spcPct val="85000"/>
              </a:lnSpc>
              <a:spcBef>
                <a:spcPts val="0"/>
              </a:spcBef>
              <a:buNone/>
              <a:defRPr sz="1600" b="1">
                <a:solidFill>
                  <a:schemeClr val="accent5"/>
                </a:solidFill>
              </a:defRPr>
            </a:lvl1pPr>
          </a:lstStyle>
          <a:p>
            <a:pPr lvl="0"/>
            <a:r>
              <a:rPr lang="en-US" dirty="0"/>
              <a:t>Text</a:t>
            </a:r>
          </a:p>
        </p:txBody>
      </p:sp>
      <p:sp>
        <p:nvSpPr>
          <p:cNvPr id="37" name="Text Placeholder 31">
            <a:extLst>
              <a:ext uri="{FF2B5EF4-FFF2-40B4-BE49-F238E27FC236}">
                <a16:creationId xmlns:a16="http://schemas.microsoft.com/office/drawing/2014/main" id="{C910256D-A8C2-E46B-A929-3267D33AA46D}"/>
              </a:ext>
            </a:extLst>
          </p:cNvPr>
          <p:cNvSpPr>
            <a:spLocks noGrp="1"/>
          </p:cNvSpPr>
          <p:nvPr>
            <p:ph type="body" sz="quarter" idx="17" hasCustomPrompt="1"/>
          </p:nvPr>
        </p:nvSpPr>
        <p:spPr>
          <a:xfrm>
            <a:off x="9982200" y="2657697"/>
            <a:ext cx="1143000" cy="990600"/>
          </a:xfrm>
        </p:spPr>
        <p:txBody>
          <a:bodyPr anchor="ctr">
            <a:normAutofit/>
          </a:bodyPr>
          <a:lstStyle>
            <a:lvl1pPr marL="0" indent="0" algn="ctr">
              <a:lnSpc>
                <a:spcPct val="85000"/>
              </a:lnSpc>
              <a:spcBef>
                <a:spcPts val="0"/>
              </a:spcBef>
              <a:buNone/>
              <a:defRPr sz="1600" b="1">
                <a:solidFill>
                  <a:schemeClr val="tx1"/>
                </a:solidFill>
              </a:defRPr>
            </a:lvl1pPr>
          </a:lstStyle>
          <a:p>
            <a:pPr lvl="0"/>
            <a:r>
              <a:rPr lang="en-US" dirty="0"/>
              <a:t>Text</a:t>
            </a:r>
          </a:p>
        </p:txBody>
      </p:sp>
      <p:sp>
        <p:nvSpPr>
          <p:cNvPr id="39" name="Text Placeholder 38">
            <a:extLst>
              <a:ext uri="{FF2B5EF4-FFF2-40B4-BE49-F238E27FC236}">
                <a16:creationId xmlns:a16="http://schemas.microsoft.com/office/drawing/2014/main" id="{0C26EF43-A591-ACB9-95D5-D2A6C44F70EB}"/>
              </a:ext>
            </a:extLst>
          </p:cNvPr>
          <p:cNvSpPr>
            <a:spLocks noGrp="1"/>
          </p:cNvSpPr>
          <p:nvPr>
            <p:ph type="body" sz="quarter" idx="18" hasCustomPrompt="1"/>
          </p:nvPr>
        </p:nvSpPr>
        <p:spPr>
          <a:xfrm>
            <a:off x="9144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2" name="Text Placeholder 38">
            <a:extLst>
              <a:ext uri="{FF2B5EF4-FFF2-40B4-BE49-F238E27FC236}">
                <a16:creationId xmlns:a16="http://schemas.microsoft.com/office/drawing/2014/main" id="{F2B1CEAB-5243-EF63-89D5-ADA49AA64D68}"/>
              </a:ext>
            </a:extLst>
          </p:cNvPr>
          <p:cNvSpPr>
            <a:spLocks noGrp="1"/>
          </p:cNvSpPr>
          <p:nvPr>
            <p:ph type="body" sz="quarter" idx="19" hasCustomPrompt="1"/>
          </p:nvPr>
        </p:nvSpPr>
        <p:spPr>
          <a:xfrm>
            <a:off x="25908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3" name="Text Placeholder 38">
            <a:extLst>
              <a:ext uri="{FF2B5EF4-FFF2-40B4-BE49-F238E27FC236}">
                <a16:creationId xmlns:a16="http://schemas.microsoft.com/office/drawing/2014/main" id="{CDEDCD72-ECA0-F2D7-EC03-81843D0246E4}"/>
              </a:ext>
            </a:extLst>
          </p:cNvPr>
          <p:cNvSpPr>
            <a:spLocks noGrp="1"/>
          </p:cNvSpPr>
          <p:nvPr>
            <p:ph type="body" sz="quarter" idx="20" hasCustomPrompt="1"/>
          </p:nvPr>
        </p:nvSpPr>
        <p:spPr>
          <a:xfrm>
            <a:off x="44958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bg2">
                    <a:lumMod val="50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4" name="Text Placeholder 38">
            <a:extLst>
              <a:ext uri="{FF2B5EF4-FFF2-40B4-BE49-F238E27FC236}">
                <a16:creationId xmlns:a16="http://schemas.microsoft.com/office/drawing/2014/main" id="{2E0ED554-E380-3678-D783-DD39A1074860}"/>
              </a:ext>
            </a:extLst>
          </p:cNvPr>
          <p:cNvSpPr>
            <a:spLocks noGrp="1"/>
          </p:cNvSpPr>
          <p:nvPr>
            <p:ph type="body" sz="quarter" idx="21" hasCustomPrompt="1"/>
          </p:nvPr>
        </p:nvSpPr>
        <p:spPr>
          <a:xfrm>
            <a:off x="61722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3">
                    <a:lumMod val="75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5" name="Text Placeholder 38">
            <a:extLst>
              <a:ext uri="{FF2B5EF4-FFF2-40B4-BE49-F238E27FC236}">
                <a16:creationId xmlns:a16="http://schemas.microsoft.com/office/drawing/2014/main" id="{2DF7B12C-4A5F-2508-FCE7-35F125B54AD1}"/>
              </a:ext>
            </a:extLst>
          </p:cNvPr>
          <p:cNvSpPr>
            <a:spLocks noGrp="1"/>
          </p:cNvSpPr>
          <p:nvPr>
            <p:ph type="body" sz="quarter" idx="22" hasCustomPrompt="1"/>
          </p:nvPr>
        </p:nvSpPr>
        <p:spPr>
          <a:xfrm>
            <a:off x="96774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tx1"/>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6" name="Text Placeholder 38">
            <a:extLst>
              <a:ext uri="{FF2B5EF4-FFF2-40B4-BE49-F238E27FC236}">
                <a16:creationId xmlns:a16="http://schemas.microsoft.com/office/drawing/2014/main" id="{93AFFB44-33B2-D0D0-24B9-36F37009010E}"/>
              </a:ext>
            </a:extLst>
          </p:cNvPr>
          <p:cNvSpPr>
            <a:spLocks noGrp="1"/>
          </p:cNvSpPr>
          <p:nvPr>
            <p:ph type="body" sz="quarter" idx="23" hasCustomPrompt="1"/>
          </p:nvPr>
        </p:nvSpPr>
        <p:spPr>
          <a:xfrm>
            <a:off x="80772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20" name="Footer Placeholder 5">
            <a:extLst>
              <a:ext uri="{FF2B5EF4-FFF2-40B4-BE49-F238E27FC236}">
                <a16:creationId xmlns:a16="http://schemas.microsoft.com/office/drawing/2014/main" id="{BE884C74-6A18-2B76-2CF5-D95B28456242}"/>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26" name="Slide Number Placeholder 6">
            <a:extLst>
              <a:ext uri="{FF2B5EF4-FFF2-40B4-BE49-F238E27FC236}">
                <a16:creationId xmlns:a16="http://schemas.microsoft.com/office/drawing/2014/main" id="{229FCC9D-96AD-BA9E-BD6E-2A25D0A52792}"/>
              </a:ext>
            </a:extLst>
          </p:cNvPr>
          <p:cNvSpPr>
            <a:spLocks noGrp="1"/>
          </p:cNvSpPr>
          <p:nvPr>
            <p:ph type="sldNum" sz="quarter" idx="24"/>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8270191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876300" y="2990688"/>
            <a:ext cx="2992166" cy="335280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522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4743450"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49384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8610600" y="2990688"/>
            <a:ext cx="2992166" cy="335280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87865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668835841"/>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37827"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76578"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3056593" y="2990688"/>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319155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5173465" y="2990688"/>
            <a:ext cx="2040528" cy="320139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5310322"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 </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
        <p:nvSpPr>
          <p:cNvPr id="3" name="Rounded Rectangle 2">
            <a:extLst>
              <a:ext uri="{FF2B5EF4-FFF2-40B4-BE49-F238E27FC236}">
                <a16:creationId xmlns:a16="http://schemas.microsoft.com/office/drawing/2014/main" id="{0432080B-6328-C238-809D-F9FE08C793E4}"/>
              </a:ext>
              <a:ext uri="{C183D7F6-B498-43B3-948B-1728B52AA6E4}">
                <adec:decorative xmlns:adec="http://schemas.microsoft.com/office/drawing/2017/decorative" val="1"/>
              </a:ext>
            </a:extLst>
          </p:cNvPr>
          <p:cNvSpPr/>
          <p:nvPr userDrawn="1"/>
        </p:nvSpPr>
        <p:spPr>
          <a:xfrm>
            <a:off x="7290337" y="3026141"/>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4" name="Text Placeholder 11">
            <a:extLst>
              <a:ext uri="{FF2B5EF4-FFF2-40B4-BE49-F238E27FC236}">
                <a16:creationId xmlns:a16="http://schemas.microsoft.com/office/drawing/2014/main" id="{A3BA1372-7071-371E-C28F-CBE6820DA6FE}"/>
              </a:ext>
            </a:extLst>
          </p:cNvPr>
          <p:cNvSpPr>
            <a:spLocks noGrp="1"/>
          </p:cNvSpPr>
          <p:nvPr>
            <p:ph type="body" sz="quarter" idx="41" hasCustomPrompt="1"/>
          </p:nvPr>
        </p:nvSpPr>
        <p:spPr>
          <a:xfrm>
            <a:off x="7427194" y="3330941"/>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8" name="Rounded Rectangle 7">
            <a:extLst>
              <a:ext uri="{FF2B5EF4-FFF2-40B4-BE49-F238E27FC236}">
                <a16:creationId xmlns:a16="http://schemas.microsoft.com/office/drawing/2014/main" id="{8711E0B1-10A5-78B2-3136-3CD932F231FC}"/>
              </a:ext>
              <a:ext uri="{C183D7F6-B498-43B3-948B-1728B52AA6E4}">
                <adec:decorative xmlns:adec="http://schemas.microsoft.com/office/drawing/2017/decorative" val="1"/>
              </a:ext>
            </a:extLst>
          </p:cNvPr>
          <p:cNvSpPr/>
          <p:nvPr userDrawn="1"/>
        </p:nvSpPr>
        <p:spPr>
          <a:xfrm>
            <a:off x="9407209"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9" name="Text Placeholder 11">
            <a:extLst>
              <a:ext uri="{FF2B5EF4-FFF2-40B4-BE49-F238E27FC236}">
                <a16:creationId xmlns:a16="http://schemas.microsoft.com/office/drawing/2014/main" id="{9ACE081D-D73A-A411-BCD4-2DCBE78B8CE8}"/>
              </a:ext>
            </a:extLst>
          </p:cNvPr>
          <p:cNvSpPr>
            <a:spLocks noGrp="1"/>
          </p:cNvSpPr>
          <p:nvPr>
            <p:ph type="body" sz="quarter" idx="42" hasCustomPrompt="1"/>
          </p:nvPr>
        </p:nvSpPr>
        <p:spPr>
          <a:xfrm>
            <a:off x="954406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Tree>
    <p:extLst>
      <p:ext uri="{BB962C8B-B14F-4D97-AF65-F5344CB8AC3E}">
        <p14:creationId xmlns:p14="http://schemas.microsoft.com/office/powerpoint/2010/main" val="1284666090"/>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2695161" y="2990688"/>
            <a:ext cx="2992166" cy="3352800"/>
          </a:xfrm>
          <a:prstGeom prst="roundRect">
            <a:avLst>
              <a:gd name="adj" fmla="val 7754"/>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28711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6562311"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67573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468811975"/>
      </p:ext>
    </p:extLst>
  </p:cSld>
  <p:clrMapOvr>
    <a:overrideClrMapping bg1="lt1" tx1="dk1" bg2="lt2" tx2="dk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09C14A-6496-6376-2B3E-AD74A612CDF4}"/>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F21821F-FB3A-F9EE-D0DE-E887A37D654C}"/>
              </a:ext>
            </a:extLst>
          </p:cNvPr>
          <p:cNvSpPr>
            <a:spLocks noGrp="1"/>
          </p:cNvSpPr>
          <p:nvPr>
            <p:ph type="body" idx="1"/>
          </p:nvPr>
        </p:nvSpPr>
        <p:spPr>
          <a:xfrm>
            <a:off x="914400" y="2203704"/>
            <a:ext cx="4983162"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07C9A69-852A-95D0-640F-0A9AD66D09FE}"/>
              </a:ext>
            </a:extLst>
          </p:cNvPr>
          <p:cNvSpPr>
            <a:spLocks noGrp="1"/>
          </p:cNvSpPr>
          <p:nvPr>
            <p:ph sz="half" idx="2"/>
          </p:nvPr>
        </p:nvSpPr>
        <p:spPr>
          <a:xfrm>
            <a:off x="914400" y="3173412"/>
            <a:ext cx="4983162"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25212BA-716C-43F7-C564-5796945A1860}"/>
              </a:ext>
            </a:extLst>
          </p:cNvPr>
          <p:cNvSpPr>
            <a:spLocks noGrp="1"/>
          </p:cNvSpPr>
          <p:nvPr>
            <p:ph type="body" sz="quarter" idx="3"/>
          </p:nvPr>
        </p:nvSpPr>
        <p:spPr>
          <a:xfrm>
            <a:off x="6273105" y="2203704"/>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7DF0997-D7AA-3B69-46B5-3C52DC86C8DE}"/>
              </a:ext>
            </a:extLst>
          </p:cNvPr>
          <p:cNvSpPr>
            <a:spLocks noGrp="1"/>
          </p:cNvSpPr>
          <p:nvPr>
            <p:ph sz="quarter" idx="4"/>
          </p:nvPr>
        </p:nvSpPr>
        <p:spPr>
          <a:xfrm>
            <a:off x="6273105" y="3173412"/>
            <a:ext cx="5183188"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a:extLst>
              <a:ext uri="{FF2B5EF4-FFF2-40B4-BE49-F238E27FC236}">
                <a16:creationId xmlns:a16="http://schemas.microsoft.com/office/drawing/2014/main" id="{9D455EE4-619A-8EFD-2C75-330D157D9EDB}"/>
              </a:ext>
            </a:extLst>
          </p:cNvPr>
          <p:cNvSpPr>
            <a:spLocks noGrp="1"/>
          </p:cNvSpPr>
          <p:nvPr>
            <p:ph type="ftr" sz="quarter" idx="11"/>
          </p:nvPr>
        </p:nvSpPr>
        <p:spPr/>
        <p:txBody>
          <a:bodyPr/>
          <a:lstStyle/>
          <a:p>
            <a:r>
              <a:rPr lang="en-US" dirty="0"/>
              <a:t>Biological &amp; Physical Sciences</a:t>
            </a:r>
          </a:p>
        </p:txBody>
      </p:sp>
      <p:sp>
        <p:nvSpPr>
          <p:cNvPr id="9" name="Slide Number Placeholder 8">
            <a:extLst>
              <a:ext uri="{FF2B5EF4-FFF2-40B4-BE49-F238E27FC236}">
                <a16:creationId xmlns:a16="http://schemas.microsoft.com/office/drawing/2014/main" id="{C218C5AC-C080-2EB1-1F82-F057A282D7E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54035756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6495091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descr="A white symbol on a brown circle&#10;&#10;Description automatically generated">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24130681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2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188852176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3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83060551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Only" preserve="1">
  <p:cSld name="4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print">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279756687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58259536-D612-272A-D0AD-1D0145988D36}"/>
              </a:ext>
            </a:extLst>
          </p:cNvPr>
          <p:cNvSpPr>
            <a:spLocks noGrp="1"/>
          </p:cNvSpPr>
          <p:nvPr>
            <p:ph type="ftr" sz="quarter" idx="11"/>
          </p:nvPr>
        </p:nvSpPr>
        <p:spPr/>
        <p:txBody>
          <a:bodyPr/>
          <a:lstStyle/>
          <a:p>
            <a:r>
              <a:rPr lang="en-US" dirty="0"/>
              <a:t>Biological &amp; Physical Sciences</a:t>
            </a:r>
          </a:p>
        </p:txBody>
      </p:sp>
      <p:sp>
        <p:nvSpPr>
          <p:cNvPr id="4" name="Slide Number Placeholder 3">
            <a:extLst>
              <a:ext uri="{FF2B5EF4-FFF2-40B4-BE49-F238E27FC236}">
                <a16:creationId xmlns:a16="http://schemas.microsoft.com/office/drawing/2014/main" id="{571A510F-03EC-A6BB-D8AE-182AFD52C8B2}"/>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60577980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9E54A3-AB3C-35BD-6098-13B595E84A94}"/>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71C3EF45-FFD0-8EC1-3E51-7B4572F3A59A}"/>
              </a:ext>
            </a:extLst>
          </p:cNvPr>
          <p:cNvSpPr>
            <a:spLocks noGrp="1"/>
          </p:cNvSpPr>
          <p:nvPr>
            <p:ph idx="1"/>
          </p:nvPr>
        </p:nvSpPr>
        <p:spPr>
          <a:xfrm>
            <a:off x="5105400" y="1103971"/>
            <a:ext cx="6556748" cy="5211066"/>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4A3246F-34BC-6307-9619-06751D531DA2}"/>
              </a:ext>
            </a:extLst>
          </p:cNvPr>
          <p:cNvSpPr>
            <a:spLocks noGrp="1"/>
          </p:cNvSpPr>
          <p:nvPr>
            <p:ph type="body" sz="half" idx="2"/>
          </p:nvPr>
        </p:nvSpPr>
        <p:spPr>
          <a:xfrm>
            <a:off x="914399" y="2503449"/>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8FDF21F7-6214-7E6B-A5E6-69AAAA30330A}"/>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B5A02BA3-BB8A-AC85-A750-93E59432E3A8}"/>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91550471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59C9C3-CF27-8B06-2E66-2BB1FCAD726F}"/>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38B7967-4936-AE6D-0BBD-BCE482FF4262}"/>
              </a:ext>
            </a:extLst>
          </p:cNvPr>
          <p:cNvSpPr>
            <a:spLocks noGrp="1"/>
          </p:cNvSpPr>
          <p:nvPr>
            <p:ph type="pic" idx="1"/>
          </p:nvPr>
        </p:nvSpPr>
        <p:spPr>
          <a:xfrm>
            <a:off x="5102352" y="1106424"/>
            <a:ext cx="6518834" cy="523537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A391E6CC-1128-78C6-3309-EDCFE3E4C724}"/>
              </a:ext>
            </a:extLst>
          </p:cNvPr>
          <p:cNvSpPr>
            <a:spLocks noGrp="1"/>
          </p:cNvSpPr>
          <p:nvPr>
            <p:ph type="body" sz="half" idx="2"/>
          </p:nvPr>
        </p:nvSpPr>
        <p:spPr>
          <a:xfrm>
            <a:off x="914400" y="2505456"/>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B6FB39B1-5B40-FE1F-3045-DD90E2A822A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6177EE0B-14D8-097A-37A8-4FBF55301754}"/>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391273746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489117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_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24307171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theme" Target="../theme/theme1.xml"/><Relationship Id="rId33" Type="http://schemas.openxmlformats.org/officeDocument/2006/relationships/image" Target="../media/image1.jpeg"/><Relationship Id="rId3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a:gsLst>
            <a:gs pos="0">
              <a:srgbClr val="D4BF88">
                <a:alpha val="75162"/>
              </a:srgbClr>
            </a:gs>
            <a:gs pos="39000">
              <a:schemeClr val="bg1"/>
            </a:gs>
          </a:gsLst>
          <a:lin ang="8100000" scaled="1"/>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7F53D41-B3D9-0856-DEBB-57C725BD4CCF}"/>
              </a:ext>
            </a:extLst>
          </p:cNvPr>
          <p:cNvSpPr>
            <a:spLocks noGrp="1"/>
          </p:cNvSpPr>
          <p:nvPr>
            <p:ph type="title"/>
          </p:nvPr>
        </p:nvSpPr>
        <p:spPr>
          <a:xfrm>
            <a:off x="933450" y="755930"/>
            <a:ext cx="103251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2B7F6990-E15B-701E-55A2-00590A07CB4F}"/>
              </a:ext>
            </a:extLst>
          </p:cNvPr>
          <p:cNvSpPr>
            <a:spLocks noGrp="1"/>
          </p:cNvSpPr>
          <p:nvPr>
            <p:ph type="body" idx="1"/>
          </p:nvPr>
        </p:nvSpPr>
        <p:spPr>
          <a:xfrm>
            <a:off x="933450" y="2216430"/>
            <a:ext cx="103251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7" name="Picture 6">
            <a:extLst>
              <a:ext uri="{FF2B5EF4-FFF2-40B4-BE49-F238E27FC236}">
                <a16:creationId xmlns:a16="http://schemas.microsoft.com/office/drawing/2014/main" id="{3C0E2C12-EE6A-20CB-09F3-55836BC3394C}"/>
              </a:ext>
            </a:extLst>
          </p:cNvPr>
          <p:cNvPicPr>
            <a:picLocks noChangeAspect="1"/>
          </p:cNvPicPr>
          <p:nvPr userDrawn="1"/>
        </p:nvPicPr>
        <p:blipFill rotWithShape="1">
          <a:blip r:embed="rId33" cstate="screen">
            <a:extLst>
              <a:ext uri="{28A0092B-C50C-407E-A947-70E740481C1C}">
                <a14:useLocalDpi xmlns:a14="http://schemas.microsoft.com/office/drawing/2010/main"/>
              </a:ext>
            </a:extLst>
          </a:blip>
          <a:srcRect/>
          <a:stretch/>
        </p:blipFill>
        <p:spPr>
          <a:xfrm>
            <a:off x="0" y="-47324"/>
            <a:ext cx="12192000" cy="529216"/>
          </a:xfrm>
          <a:prstGeom prst="rect">
            <a:avLst/>
          </a:prstGeom>
        </p:spPr>
      </p:pic>
      <p:pic>
        <p:nvPicPr>
          <p:cNvPr id="8" name="Picture 7" descr="A black background with grey letters&#10;&#10;Description automatically generated">
            <a:extLst>
              <a:ext uri="{FF2B5EF4-FFF2-40B4-BE49-F238E27FC236}">
                <a16:creationId xmlns:a16="http://schemas.microsoft.com/office/drawing/2014/main" id="{119BBE9E-4D69-14CD-9511-13BB4AA55DFA}"/>
              </a:ext>
            </a:extLst>
          </p:cNvPr>
          <p:cNvPicPr>
            <a:picLocks noChangeAspect="1"/>
          </p:cNvPicPr>
          <p:nvPr userDrawn="1"/>
        </p:nvPicPr>
        <p:blipFill rotWithShape="1">
          <a:blip r:embed="rId34" cstate="screen">
            <a:alphaModFix amt="23000"/>
            <a:extLst>
              <a:ext uri="{28A0092B-C50C-407E-A947-70E740481C1C}">
                <a14:useLocalDpi xmlns:a14="http://schemas.microsoft.com/office/drawing/2010/main"/>
              </a:ext>
            </a:extLst>
          </a:blip>
          <a:srcRect/>
          <a:stretch/>
        </p:blipFill>
        <p:spPr>
          <a:xfrm>
            <a:off x="0" y="-50077"/>
            <a:ext cx="1201897" cy="531969"/>
          </a:xfrm>
          <a:prstGeom prst="rect">
            <a:avLst/>
          </a:prstGeom>
        </p:spPr>
      </p:pic>
      <p:sp>
        <p:nvSpPr>
          <p:cNvPr id="6" name="Slide Number Placeholder 5">
            <a:extLst>
              <a:ext uri="{FF2B5EF4-FFF2-40B4-BE49-F238E27FC236}">
                <a16:creationId xmlns:a16="http://schemas.microsoft.com/office/drawing/2014/main" id="{37322777-339B-9F56-577C-65AD89F9C7A5}"/>
              </a:ext>
            </a:extLst>
          </p:cNvPr>
          <p:cNvSpPr>
            <a:spLocks noGrp="1"/>
          </p:cNvSpPr>
          <p:nvPr>
            <p:ph type="sldNum" sz="quarter" idx="4"/>
          </p:nvPr>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
        <p:nvSpPr>
          <p:cNvPr id="5" name="Footer Placeholder 4">
            <a:extLst>
              <a:ext uri="{FF2B5EF4-FFF2-40B4-BE49-F238E27FC236}">
                <a16:creationId xmlns:a16="http://schemas.microsoft.com/office/drawing/2014/main" id="{D5538D45-6410-BA73-9765-65C75CDC4742}"/>
              </a:ext>
            </a:extLst>
          </p:cNvPr>
          <p:cNvSpPr>
            <a:spLocks noGrp="1"/>
          </p:cNvSpPr>
          <p:nvPr>
            <p:ph type="ftr" sz="quarter" idx="3"/>
          </p:nvPr>
        </p:nvSpPr>
        <p:spPr>
          <a:xfrm>
            <a:off x="343963" y="121602"/>
            <a:ext cx="4114800" cy="217173"/>
          </a:xfrm>
          <a:prstGeom prst="rect">
            <a:avLst/>
          </a:prstGeom>
        </p:spPr>
        <p:txBody>
          <a:bodyPr vert="horz" lIns="91440" tIns="45720" rIns="91440" bIns="45720" rtlCol="0" anchor="ctr"/>
          <a:lstStyle>
            <a:lvl1pPr algn="l">
              <a:defRPr sz="900">
                <a:solidFill>
                  <a:schemeClr val="bg1">
                    <a:alpha val="75167"/>
                  </a:schemeClr>
                </a:solidFill>
              </a:defRPr>
            </a:lvl1pPr>
          </a:lstStyle>
          <a:p>
            <a:r>
              <a:rPr lang="en-US" dirty="0"/>
              <a:t>Biological &amp; Physical Sciences</a:t>
            </a:r>
          </a:p>
        </p:txBody>
      </p:sp>
    </p:spTree>
    <p:extLst>
      <p:ext uri="{BB962C8B-B14F-4D97-AF65-F5344CB8AC3E}">
        <p14:creationId xmlns:p14="http://schemas.microsoft.com/office/powerpoint/2010/main" val="889173761"/>
      </p:ext>
    </p:extLst>
  </p:cSld>
  <p:clrMap bg1="lt1" tx1="dk1" bg2="lt2" tx2="dk2" accent1="accent1" accent2="accent2" accent3="accent3" accent4="accent4" accent5="accent5" accent6="accent6" hlink="hlink" folHlink="folHlink"/>
  <p:sldLayoutIdLst>
    <p:sldLayoutId id="2147483688" r:id="rId1"/>
    <p:sldLayoutId id="2147483680" r:id="rId2"/>
    <p:sldLayoutId id="2147483661" r:id="rId3"/>
    <p:sldLayoutId id="2147483682" r:id="rId4"/>
    <p:sldLayoutId id="2147483691" r:id="rId5"/>
    <p:sldLayoutId id="2147483662" r:id="rId6"/>
    <p:sldLayoutId id="2147483692" r:id="rId7"/>
    <p:sldLayoutId id="2147483663" r:id="rId8"/>
    <p:sldLayoutId id="2147483674" r:id="rId9"/>
    <p:sldLayoutId id="2147483675" r:id="rId10"/>
    <p:sldLayoutId id="2147483676" r:id="rId11"/>
    <p:sldLayoutId id="2147483681" r:id="rId12"/>
    <p:sldLayoutId id="2147483677" r:id="rId13"/>
    <p:sldLayoutId id="2147483678" r:id="rId14"/>
    <p:sldLayoutId id="2147483683" r:id="rId15"/>
    <p:sldLayoutId id="2147483672" r:id="rId16"/>
    <p:sldLayoutId id="2147483679" r:id="rId17"/>
    <p:sldLayoutId id="2147483673" r:id="rId18"/>
    <p:sldLayoutId id="2147483690" r:id="rId19"/>
    <p:sldLayoutId id="2147483689" r:id="rId20"/>
    <p:sldLayoutId id="2147483664" r:id="rId21"/>
    <p:sldLayoutId id="2147483665" r:id="rId22"/>
    <p:sldLayoutId id="2147483684" r:id="rId23"/>
    <p:sldLayoutId id="2147483685" r:id="rId24"/>
    <p:sldLayoutId id="2147483686" r:id="rId25"/>
    <p:sldLayoutId id="2147483687" r:id="rId26"/>
    <p:sldLayoutId id="2147483666" r:id="rId27"/>
    <p:sldLayoutId id="2147483667" r:id="rId28"/>
    <p:sldLayoutId id="2147483668" r:id="rId29"/>
    <p:sldLayoutId id="2147483669" r:id="rId30"/>
    <p:sldLayoutId id="2147483658" r:id="rId31"/>
  </p:sldLayoutIdLst>
  <p:hf hdr="0"/>
  <p:txStyles>
    <p:title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background artifact mask"/>
          <p:cNvSpPr/>
          <p:nvPr/>
        </p:nvSpPr>
        <p:spPr>
          <a:xfrm>
            <a:off x="0" y="4956048"/>
            <a:ext cx="3931920" cy="190195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Subtitle 1">
            <a:extLst>
              <a:ext uri="{FF2B5EF4-FFF2-40B4-BE49-F238E27FC236}">
                <a16:creationId xmlns:a16="http://schemas.microsoft.com/office/drawing/2014/main" id="{E5D3E717-6970-91B9-68BB-B9CE473EC22E}"/>
              </a:ext>
            </a:extLst>
          </p:cNvPr>
          <p:cNvSpPr>
            <a:spLocks noGrp="1"/>
          </p:cNvSpPr>
          <p:nvPr>
            <p:ph type="subTitle" idx="1"/>
          </p:nvPr>
        </p:nvSpPr>
        <p:spPr>
          <a:xfrm>
            <a:off x="500101" y="3895025"/>
            <a:ext cx="4774425" cy="1429109"/>
          </a:xfrm>
        </p:spPr>
        <p:txBody>
          <a:bodyPr vert="horz" wrap="square" lIns="91440" tIns="45720" rIns="91440" bIns="45720" rtlCol="0" anchor="t">
            <a:spAutoFit/>
          </a:bodyPr>
          <a:lstStyle/>
          <a:p>
            <a:pPr>
              <a:spcAft>
                <a:spcPts val="200"/>
              </a:spcAft>
            </a:pPr>
            <a:r>
              <a:rPr sz="1700" b="0">
                <a:solidFill>
                  <a:srgbClr val="D8E1EB"/>
                </a:solidFill>
                <a:latin typeface="Arial"/>
              </a:rPr>
              <a:t>Can generated RNA-seq improve FLT vs GC analysis within each tissue?</a:t>
            </a:r>
          </a:p>
          <a:p>
            <a:pPr>
              <a:spcAft>
                <a:spcPts val="200"/>
              </a:spcAft>
            </a:pPr>
            <a:r>
              <a:rPr sz="500" b="0">
                <a:solidFill>
                  <a:srgbClr val="FFFFFF"/>
                </a:solidFill>
                <a:latin typeface="Arial"/>
              </a:rPr>
              <a:t/>
            </a:r>
          </a:p>
          <a:p>
            <a:pPr>
              <a:spcAft>
                <a:spcPts val="200"/>
              </a:spcAft>
            </a:pPr>
            <a:r>
              <a:rPr sz="1800" b="1">
                <a:solidFill>
                  <a:srgbClr val="FFFFFF"/>
                </a:solidFill>
                <a:latin typeface="Arial"/>
              </a:rPr>
              <a:t>Jason Trinh</a:t>
            </a:r>
          </a:p>
          <a:p>
            <a:pPr>
              <a:spcAft>
                <a:spcPts val="200"/>
              </a:spcAft>
            </a:pPr>
            <a:r>
              <a:rPr sz="1200" b="0">
                <a:solidFill>
                  <a:srgbClr val="B9C7D5"/>
                </a:solidFill>
                <a:latin typeface="Arial"/>
              </a:rPr>
              <a:t>EECS | UC Berkeley</a:t>
            </a:r>
          </a:p>
          <a:p>
            <a:pPr>
              <a:spcAft>
                <a:spcPts val="200"/>
              </a:spcAft>
            </a:pPr>
            <a:r>
              <a:rPr sz="1200" b="0">
                <a:solidFill>
                  <a:srgbClr val="B9C7D5"/>
                </a:solidFill>
                <a:latin typeface="Arial"/>
              </a:rPr>
              <a:t>Mentor: James Casaletto | August 2026</a:t>
            </a:r>
          </a:p>
        </p:txBody>
      </p:sp>
      <p:sp>
        <p:nvSpPr>
          <p:cNvPr id="3" name="Text Placeholder 2">
            <a:extLst>
              <a:ext uri="{FF2B5EF4-FFF2-40B4-BE49-F238E27FC236}">
                <a16:creationId xmlns:a16="http://schemas.microsoft.com/office/drawing/2014/main" id="{35AAB492-0D30-3AB0-9C9C-3B7725AA34C8}"/>
              </a:ext>
            </a:extLst>
          </p:cNvPr>
          <p:cNvSpPr>
            <a:spLocks noGrp="1"/>
          </p:cNvSpPr>
          <p:nvPr>
            <p:ph type="body" sz="quarter" idx="14"/>
          </p:nvPr>
        </p:nvSpPr>
        <p:spPr>
          <a:xfrm>
            <a:off x="566928" y="2157984"/>
            <a:ext cx="4297680" cy="1417320"/>
          </a:xfrm>
        </p:spPr>
        <p:txBody>
          <a:bodyPr wrap="square" lIns="0" rIns="0" tIns="0" bIns="0" anchor="t"/>
          <a:lstStyle/>
          <a:p>
            <a:pPr>
              <a:lnSpc>
                <a:spcPct val="100000"/>
              </a:lnSpc>
              <a:spcBef>
                <a:spcPts val="0"/>
              </a:spcBef>
              <a:spcAft>
                <a:spcPts val="0"/>
              </a:spcAft>
            </a:pPr>
            <a:r>
              <a:rPr sz="3000" b="1">
                <a:solidFill>
                  <a:srgbClr val="FFFFFF"/>
                </a:solidFill>
                <a:latin typeface="Arial"/>
              </a:rPr>
              <a:t>Synthetic transcriptomics for mouse spaceflight</a:t>
            </a:r>
          </a:p>
        </p:txBody>
      </p:sp>
      <p:sp>
        <p:nvSpPr>
          <p:cNvPr id="5" name="TextBox 4"/>
          <p:cNvSpPr txBox="1"/>
          <p:nvPr/>
        </p:nvSpPr>
        <p:spPr>
          <a:xfrm>
            <a:off x="566928" y="6510528"/>
            <a:ext cx="3017520" cy="201168"/>
          </a:xfrm>
          <a:prstGeom prst="rect">
            <a:avLst/>
          </a:prstGeom>
          <a:noFill/>
        </p:spPr>
        <p:txBody>
          <a:bodyPr wrap="square" lIns="18288" rIns="18288" tIns="18288" bIns="18288" anchor="t">
            <a:spAutoFit/>
          </a:bodyPr>
          <a:lstStyle/>
          <a:p>
            <a:pPr algn="l">
              <a:spcAft>
                <a:spcPts val="0"/>
              </a:spcAft>
            </a:pPr>
            <a:r>
              <a:rPr sz="1050" b="0" i="0">
                <a:solidFill>
                  <a:srgbClr val="B9C7D5"/>
                </a:solidFill>
                <a:latin typeface="Arial"/>
              </a:rPr>
              <a:t>Biological &amp; Physical Sciences</a:t>
            </a:r>
          </a:p>
        </p:txBody>
      </p:sp>
    </p:spTree>
    <p:extLst>
      <p:ext uri="{BB962C8B-B14F-4D97-AF65-F5344CB8AC3E}">
        <p14:creationId xmlns:p14="http://schemas.microsoft.com/office/powerpoint/2010/main" val="4068975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15CCDA23-9C9B-2E3C-0808-97FA24C09308}"/>
              </a:ext>
            </a:extLst>
          </p:cNvPr>
          <p:cNvSpPr>
            <a:spLocks noGrp="1"/>
          </p:cNvSpPr>
          <p:nvPr>
            <p:ph type="title"/>
          </p:nvPr>
        </p:nvSpPr>
        <p:spPr/>
        <p:txBody>
          <a:bodyPr/>
          <a:lstStyle/>
          <a:p/>
        </p:txBody>
      </p:sp>
      <p:sp>
        <p:nvSpPr>
          <p:cNvPr id="18" name="Content Placeholder 17">
            <a:extLst>
              <a:ext uri="{FF2B5EF4-FFF2-40B4-BE49-F238E27FC236}">
                <a16:creationId xmlns:a16="http://schemas.microsoft.com/office/drawing/2014/main" id="{EDF69EC4-28BB-B6B3-FB3D-0B6A7B68EADE}"/>
              </a:ext>
            </a:extLst>
          </p:cNvPr>
          <p:cNvSpPr>
            <a:spLocks noGrp="1"/>
          </p:cNvSpPr>
          <p:nvPr>
            <p:ph idx="1"/>
          </p:nvPr>
        </p:nvSpPr>
        <p:spPr/>
        <p:txBody>
          <a:bodyPr/>
          <a:lstStyle/>
          <a:p/>
        </p:txBody>
      </p:sp>
      <p:sp>
        <p:nvSpPr>
          <p:cNvPr id="3" name="Footer Placeholder 2">
            <a:extLst>
              <a:ext uri="{FF2B5EF4-FFF2-40B4-BE49-F238E27FC236}">
                <a16:creationId xmlns:a16="http://schemas.microsoft.com/office/drawing/2014/main" id="{CA6AED0D-F1B8-689C-34E4-C8599A320EAC}"/>
              </a:ext>
            </a:extLst>
          </p:cNvPr>
          <p:cNvSpPr>
            <a:spLocks noGrp="1"/>
          </p:cNvSpPr>
          <p:nvPr>
            <p:ph type="ftr" sz="quarter" idx="11"/>
          </p:nvPr>
        </p:nvSpPr>
        <p:spPr/>
        <p:txBody>
          <a:bodyPr/>
          <a:lstStyle/>
          <a:p>
            <a:r>
              <a:t>Biological &amp; Physical Sciences</a:t>
            </a:r>
          </a:p>
        </p:txBody>
      </p:sp>
      <p:sp>
        <p:nvSpPr>
          <p:cNvPr id="4" name="Slide Number Placeholder 3">
            <a:extLst>
              <a:ext uri="{FF2B5EF4-FFF2-40B4-BE49-F238E27FC236}">
                <a16:creationId xmlns:a16="http://schemas.microsoft.com/office/drawing/2014/main" id="{3BCE25FE-C8CB-2ADC-D1BB-2BE7BB0DB777}"/>
              </a:ext>
            </a:extLst>
          </p:cNvPr>
          <p:cNvSpPr>
            <a:spLocks noGrp="1"/>
          </p:cNvSpPr>
          <p:nvPr>
            <p:ph type="sldNum" sz="quarter" idx="4294967295"/>
          </p:nvPr>
        </p:nvSpPr>
        <p:spPr>
          <a:xfrm>
            <a:off x="11131550" y="100013"/>
            <a:ext cx="1060450" cy="261937"/>
          </a:xfrm>
        </p:spPr>
        <p:txBody>
          <a:bodyPr/>
          <a:lstStyle/>
          <a:p>
            <a:r>
              <a:t>2</a:t>
            </a:r>
          </a:p>
        </p:txBody>
      </p:sp>
      <p:sp>
        <p:nvSpPr>
          <p:cNvPr id="19" name="TextBox 18"/>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QUESTION</a:t>
            </a:r>
          </a:p>
        </p:txBody>
      </p:sp>
      <p:sp>
        <p:nvSpPr>
          <p:cNvPr id="20" name="TextBox 19"/>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Small studies and study effects complicate tissue comparisons</a:t>
            </a:r>
          </a:p>
        </p:txBody>
      </p:sp>
      <p:sp>
        <p:nvSpPr>
          <p:cNvPr id="21" name="TextBox 20"/>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Can a generator help rank spaceflight signal without pretending it creates new animals?</a:t>
            </a:r>
          </a:p>
        </p:txBody>
      </p:sp>
      <p:sp>
        <p:nvSpPr>
          <p:cNvPr id="22" name="Rounded Rectangle 21"/>
          <p:cNvSpPr/>
          <p:nvPr/>
        </p:nvSpPr>
        <p:spPr>
          <a:xfrm>
            <a:off x="320040" y="1847088"/>
            <a:ext cx="5532120" cy="2148840"/>
          </a:xfrm>
          <a:prstGeom prst="round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20040" y="1847088"/>
            <a:ext cx="5532120" cy="3657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2112264"/>
            <a:ext cx="2011680" cy="292608"/>
          </a:xfrm>
          <a:prstGeom prst="rect">
            <a:avLst/>
          </a:prstGeom>
          <a:noFill/>
        </p:spPr>
        <p:txBody>
          <a:bodyPr wrap="square" lIns="18288" rIns="18288" tIns="18288" bIns="18288" anchor="t">
            <a:spAutoFit/>
          </a:bodyPr>
          <a:lstStyle/>
          <a:p>
            <a:pPr algn="l">
              <a:spcAft>
                <a:spcPts val="0"/>
              </a:spcAft>
            </a:pPr>
            <a:r>
              <a:rPr sz="1800" b="1" i="0">
                <a:solidFill>
                  <a:srgbClr val="2D6496"/>
                </a:solidFill>
                <a:latin typeface="Arial"/>
              </a:rPr>
              <a:t>NASA OSDR</a:t>
            </a:r>
          </a:p>
        </p:txBody>
      </p:sp>
      <p:sp>
        <p:nvSpPr>
          <p:cNvPr id="25" name="TextBox 24"/>
          <p:cNvSpPr txBox="1"/>
          <p:nvPr/>
        </p:nvSpPr>
        <p:spPr>
          <a:xfrm>
            <a:off x="566928" y="2450592"/>
            <a:ext cx="2057400" cy="658368"/>
          </a:xfrm>
          <a:prstGeom prst="rect">
            <a:avLst/>
          </a:prstGeom>
          <a:noFill/>
        </p:spPr>
        <p:txBody>
          <a:bodyPr wrap="square" lIns="18288" rIns="18288" tIns="18288" bIns="18288" anchor="t">
            <a:spAutoFit/>
          </a:bodyPr>
          <a:lstStyle/>
          <a:p>
            <a:pPr algn="l">
              <a:spcAft>
                <a:spcPts val="0"/>
              </a:spcAft>
            </a:pPr>
            <a:r>
              <a:rPr sz="3600" b="1" i="0">
                <a:solidFill>
                  <a:srgbClr val="082B55"/>
                </a:solidFill>
                <a:latin typeface="Arial"/>
              </a:rPr>
              <a:t>1,610</a:t>
            </a:r>
          </a:p>
        </p:txBody>
      </p:sp>
      <p:sp>
        <p:nvSpPr>
          <p:cNvPr id="26" name="TextBox 25"/>
          <p:cNvSpPr txBox="1"/>
          <p:nvPr/>
        </p:nvSpPr>
        <p:spPr>
          <a:xfrm>
            <a:off x="603504" y="3035808"/>
            <a:ext cx="2103120" cy="256032"/>
          </a:xfrm>
          <a:prstGeom prst="rect">
            <a:avLst/>
          </a:prstGeom>
          <a:noFill/>
        </p:spPr>
        <p:txBody>
          <a:bodyPr wrap="square" lIns="18288" rIns="18288" tIns="18288" bIns="18288" anchor="t">
            <a:spAutoFit/>
          </a:bodyPr>
          <a:lstStyle/>
          <a:p>
            <a:pPr algn="l">
              <a:spcAft>
                <a:spcPts val="0"/>
              </a:spcAft>
            </a:pPr>
            <a:r>
              <a:rPr sz="1300" b="0" i="0">
                <a:solidFill>
                  <a:srgbClr val="59697A"/>
                </a:solidFill>
                <a:latin typeface="Arial"/>
              </a:rPr>
              <a:t>biological profiles</a:t>
            </a:r>
          </a:p>
        </p:txBody>
      </p:sp>
      <p:sp>
        <p:nvSpPr>
          <p:cNvPr id="27" name="TextBox 26"/>
          <p:cNvSpPr txBox="1"/>
          <p:nvPr/>
        </p:nvSpPr>
        <p:spPr>
          <a:xfrm>
            <a:off x="2816352" y="2468880"/>
            <a:ext cx="1188720" cy="502920"/>
          </a:xfrm>
          <a:prstGeom prst="rect">
            <a:avLst/>
          </a:prstGeom>
          <a:noFill/>
        </p:spPr>
        <p:txBody>
          <a:bodyPr wrap="square" lIns="18288" rIns="18288" tIns="18288" bIns="18288" anchor="t">
            <a:spAutoFit/>
          </a:bodyPr>
          <a:lstStyle/>
          <a:p>
            <a:pPr algn="l">
              <a:spcAft>
                <a:spcPts val="0"/>
              </a:spcAft>
            </a:pPr>
            <a:r>
              <a:rPr sz="3000" b="1" i="0">
                <a:solidFill>
                  <a:srgbClr val="082B55"/>
                </a:solidFill>
                <a:latin typeface="Arial"/>
              </a:rPr>
              <a:t>75</a:t>
            </a:r>
          </a:p>
        </p:txBody>
      </p:sp>
      <p:sp>
        <p:nvSpPr>
          <p:cNvPr id="28" name="TextBox 27"/>
          <p:cNvSpPr txBox="1"/>
          <p:nvPr/>
        </p:nvSpPr>
        <p:spPr>
          <a:xfrm>
            <a:off x="2834640" y="2980944"/>
            <a:ext cx="1371600" cy="246888"/>
          </a:xfrm>
          <a:prstGeom prst="rect">
            <a:avLst/>
          </a:prstGeom>
          <a:noFill/>
        </p:spPr>
        <p:txBody>
          <a:bodyPr wrap="square" lIns="18288" rIns="18288" tIns="18288" bIns="18288" anchor="t">
            <a:spAutoFit/>
          </a:bodyPr>
          <a:lstStyle/>
          <a:p>
            <a:pPr algn="l">
              <a:spcAft>
                <a:spcPts val="0"/>
              </a:spcAft>
            </a:pPr>
            <a:r>
              <a:rPr sz="1300" b="0" i="0">
                <a:solidFill>
                  <a:srgbClr val="59697A"/>
                </a:solidFill>
                <a:latin typeface="Arial"/>
              </a:rPr>
              <a:t>accessions</a:t>
            </a:r>
          </a:p>
        </p:txBody>
      </p:sp>
      <p:sp>
        <p:nvSpPr>
          <p:cNvPr id="29" name="TextBox 28"/>
          <p:cNvSpPr txBox="1"/>
          <p:nvPr/>
        </p:nvSpPr>
        <p:spPr>
          <a:xfrm>
            <a:off x="4224528" y="2496312"/>
            <a:ext cx="1234440" cy="347472"/>
          </a:xfrm>
          <a:prstGeom prst="rect">
            <a:avLst/>
          </a:prstGeom>
          <a:noFill/>
        </p:spPr>
        <p:txBody>
          <a:bodyPr wrap="square" lIns="18288" rIns="18288" tIns="18288" bIns="18288" anchor="t">
            <a:spAutoFit/>
          </a:bodyPr>
          <a:lstStyle/>
          <a:p>
            <a:pPr algn="l">
              <a:spcAft>
                <a:spcPts val="0"/>
              </a:spcAft>
            </a:pPr>
            <a:r>
              <a:rPr sz="2000" b="1" i="0">
                <a:solidFill>
                  <a:srgbClr val="D96552"/>
                </a:solidFill>
                <a:latin typeface="Arial"/>
              </a:rPr>
              <a:t>835 FLT</a:t>
            </a:r>
          </a:p>
        </p:txBody>
      </p:sp>
      <p:sp>
        <p:nvSpPr>
          <p:cNvPr id="30" name="TextBox 29"/>
          <p:cNvSpPr txBox="1"/>
          <p:nvPr/>
        </p:nvSpPr>
        <p:spPr>
          <a:xfrm>
            <a:off x="4224528" y="2944368"/>
            <a:ext cx="1234440" cy="347472"/>
          </a:xfrm>
          <a:prstGeom prst="rect">
            <a:avLst/>
          </a:prstGeom>
          <a:noFill/>
        </p:spPr>
        <p:txBody>
          <a:bodyPr wrap="square" lIns="18288" rIns="18288" tIns="18288" bIns="18288" anchor="t">
            <a:spAutoFit/>
          </a:bodyPr>
          <a:lstStyle/>
          <a:p>
            <a:pPr algn="l">
              <a:spcAft>
                <a:spcPts val="0"/>
              </a:spcAft>
            </a:pPr>
            <a:r>
              <a:rPr sz="2000" b="1" i="0">
                <a:solidFill>
                  <a:srgbClr val="2D6496"/>
                </a:solidFill>
                <a:latin typeface="Arial"/>
              </a:rPr>
              <a:t>775 GC</a:t>
            </a:r>
          </a:p>
        </p:txBody>
      </p:sp>
      <p:sp>
        <p:nvSpPr>
          <p:cNvPr id="31" name="Rounded Rectangle 30"/>
          <p:cNvSpPr/>
          <p:nvPr/>
        </p:nvSpPr>
        <p:spPr>
          <a:xfrm>
            <a:off x="6144768" y="1847088"/>
            <a:ext cx="5715000" cy="2148840"/>
          </a:xfrm>
          <a:prstGeom prst="roundRect">
            <a:avLst/>
          </a:prstGeom>
          <a:solidFill>
            <a:srgbClr val="E8F3F1"/>
          </a:solidFill>
          <a:ln w="10160">
            <a:solidFill>
              <a:srgbClr val="C7DD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44768" y="1847088"/>
            <a:ext cx="5715000" cy="3657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19088" y="2112264"/>
            <a:ext cx="2286000" cy="292608"/>
          </a:xfrm>
          <a:prstGeom prst="rect">
            <a:avLst/>
          </a:prstGeom>
          <a:noFill/>
        </p:spPr>
        <p:txBody>
          <a:bodyPr wrap="square" lIns="18288" rIns="18288" tIns="18288" bIns="18288" anchor="t">
            <a:spAutoFit/>
          </a:bodyPr>
          <a:lstStyle/>
          <a:p>
            <a:pPr algn="l">
              <a:spcAft>
                <a:spcPts val="0"/>
              </a:spcAft>
            </a:pPr>
            <a:r>
              <a:rPr sz="1800" b="1" i="0">
                <a:solidFill>
                  <a:srgbClr val="178681"/>
                </a:solidFill>
                <a:latin typeface="Arial"/>
              </a:rPr>
              <a:t>ARCHS4 mouse</a:t>
            </a:r>
          </a:p>
        </p:txBody>
      </p:sp>
      <p:sp>
        <p:nvSpPr>
          <p:cNvPr id="34" name="TextBox 33"/>
          <p:cNvSpPr txBox="1"/>
          <p:nvPr/>
        </p:nvSpPr>
        <p:spPr>
          <a:xfrm>
            <a:off x="6400800" y="2450592"/>
            <a:ext cx="2240280" cy="658368"/>
          </a:xfrm>
          <a:prstGeom prst="rect">
            <a:avLst/>
          </a:prstGeom>
          <a:noFill/>
        </p:spPr>
        <p:txBody>
          <a:bodyPr wrap="square" lIns="18288" rIns="18288" tIns="18288" bIns="18288" anchor="t">
            <a:spAutoFit/>
          </a:bodyPr>
          <a:lstStyle/>
          <a:p>
            <a:pPr algn="l">
              <a:spcAft>
                <a:spcPts val="0"/>
              </a:spcAft>
            </a:pPr>
            <a:r>
              <a:rPr sz="3400" b="1" i="0">
                <a:solidFill>
                  <a:srgbClr val="082B55"/>
                </a:solidFill>
                <a:latin typeface="Arial"/>
              </a:rPr>
              <a:t>997,515</a:t>
            </a:r>
          </a:p>
        </p:txBody>
      </p:sp>
      <p:sp>
        <p:nvSpPr>
          <p:cNvPr id="35" name="TextBox 34"/>
          <p:cNvSpPr txBox="1"/>
          <p:nvPr/>
        </p:nvSpPr>
        <p:spPr>
          <a:xfrm>
            <a:off x="6428232" y="3035808"/>
            <a:ext cx="2011680" cy="256032"/>
          </a:xfrm>
          <a:prstGeom prst="rect">
            <a:avLst/>
          </a:prstGeom>
          <a:noFill/>
        </p:spPr>
        <p:txBody>
          <a:bodyPr wrap="square" lIns="18288" rIns="18288" tIns="18288" bIns="18288" anchor="t">
            <a:spAutoFit/>
          </a:bodyPr>
          <a:lstStyle/>
          <a:p>
            <a:pPr algn="l">
              <a:spcAft>
                <a:spcPts val="0"/>
              </a:spcAft>
            </a:pPr>
            <a:r>
              <a:rPr sz="1300" b="0" i="0">
                <a:solidFill>
                  <a:srgbClr val="59697A"/>
                </a:solidFill>
                <a:latin typeface="Arial"/>
              </a:rPr>
              <a:t>profiles audited</a:t>
            </a:r>
          </a:p>
        </p:txBody>
      </p:sp>
      <p:sp>
        <p:nvSpPr>
          <p:cNvPr id="36" name="TextBox 35"/>
          <p:cNvSpPr txBox="1"/>
          <p:nvPr/>
        </p:nvSpPr>
        <p:spPr>
          <a:xfrm>
            <a:off x="8686800" y="2468880"/>
            <a:ext cx="1783080" cy="502920"/>
          </a:xfrm>
          <a:prstGeom prst="rect">
            <a:avLst/>
          </a:prstGeom>
          <a:noFill/>
        </p:spPr>
        <p:txBody>
          <a:bodyPr wrap="square" lIns="18288" rIns="18288" tIns="18288" bIns="18288" anchor="t">
            <a:spAutoFit/>
          </a:bodyPr>
          <a:lstStyle/>
          <a:p>
            <a:pPr algn="l">
              <a:spcAft>
                <a:spcPts val="0"/>
              </a:spcAft>
            </a:pPr>
            <a:r>
              <a:rPr sz="2900" b="1" i="0">
                <a:solidFill>
                  <a:srgbClr val="082B55"/>
                </a:solidFill>
                <a:latin typeface="Arial"/>
              </a:rPr>
              <a:t>17,244</a:t>
            </a:r>
          </a:p>
        </p:txBody>
      </p:sp>
      <p:sp>
        <p:nvSpPr>
          <p:cNvPr id="37" name="TextBox 36"/>
          <p:cNvSpPr txBox="1"/>
          <p:nvPr/>
        </p:nvSpPr>
        <p:spPr>
          <a:xfrm>
            <a:off x="8714232" y="2980944"/>
            <a:ext cx="1143000" cy="246888"/>
          </a:xfrm>
          <a:prstGeom prst="rect">
            <a:avLst/>
          </a:prstGeom>
          <a:noFill/>
        </p:spPr>
        <p:txBody>
          <a:bodyPr wrap="square" lIns="18288" rIns="18288" tIns="18288" bIns="18288" anchor="t">
            <a:spAutoFit/>
          </a:bodyPr>
          <a:lstStyle/>
          <a:p>
            <a:pPr algn="l">
              <a:spcAft>
                <a:spcPts val="0"/>
              </a:spcAft>
            </a:pPr>
            <a:r>
              <a:rPr sz="1300" b="0" i="0">
                <a:solidFill>
                  <a:srgbClr val="59697A"/>
                </a:solidFill>
                <a:latin typeface="Arial"/>
              </a:rPr>
              <a:t>selected</a:t>
            </a:r>
          </a:p>
        </p:txBody>
      </p:sp>
      <p:sp>
        <p:nvSpPr>
          <p:cNvPr id="38" name="TextBox 37"/>
          <p:cNvSpPr txBox="1"/>
          <p:nvPr/>
        </p:nvSpPr>
        <p:spPr>
          <a:xfrm>
            <a:off x="10287000" y="2514600"/>
            <a:ext cx="1325880" cy="347472"/>
          </a:xfrm>
          <a:prstGeom prst="rect">
            <a:avLst/>
          </a:prstGeom>
          <a:noFill/>
        </p:spPr>
        <p:txBody>
          <a:bodyPr wrap="square" lIns="18288" rIns="18288" tIns="18288" bIns="18288" anchor="t">
            <a:spAutoFit/>
          </a:bodyPr>
          <a:lstStyle/>
          <a:p>
            <a:pPr algn="l">
              <a:spcAft>
                <a:spcPts val="0"/>
              </a:spcAft>
            </a:pPr>
            <a:r>
              <a:rPr sz="1900" b="1" i="0">
                <a:solidFill>
                  <a:srgbClr val="178681"/>
                </a:solidFill>
                <a:latin typeface="Arial"/>
              </a:rPr>
              <a:t>20 tissues</a:t>
            </a:r>
          </a:p>
        </p:txBody>
      </p:sp>
      <p:sp>
        <p:nvSpPr>
          <p:cNvPr id="39" name="Rounded Rectangle 38"/>
          <p:cNvSpPr/>
          <p:nvPr/>
        </p:nvSpPr>
        <p:spPr>
          <a:xfrm>
            <a:off x="320040" y="4270248"/>
            <a:ext cx="11539728" cy="1600200"/>
          </a:xfrm>
          <a:prstGeom prst="roundRect">
            <a:avLst/>
          </a:prstGeom>
          <a:solidFill>
            <a:srgbClr val="FFFFFF"/>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685800" y="4626864"/>
            <a:ext cx="91440" cy="9144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50392" y="4517136"/>
            <a:ext cx="10625328" cy="411480"/>
          </a:xfrm>
          <a:prstGeom prst="rect">
            <a:avLst/>
          </a:prstGeom>
          <a:noFill/>
        </p:spPr>
        <p:txBody>
          <a:bodyPr wrap="square" lIns="18288" rIns="18288" tIns="18288" bIns="18288" anchor="ctr">
            <a:spAutoFit/>
          </a:bodyPr>
          <a:lstStyle/>
          <a:p>
            <a:pPr algn="l">
              <a:spcAft>
                <a:spcPts val="0"/>
              </a:spcAft>
            </a:pPr>
            <a:r>
              <a:rPr sz="1600" b="0" i="0">
                <a:solidFill>
                  <a:srgbClr val="263746"/>
                </a:solidFill>
                <a:latin typeface="Arial"/>
              </a:rPr>
              <a:t>Mission, strain, material and assay differences can resemble a flight effect.</a:t>
            </a:r>
          </a:p>
        </p:txBody>
      </p:sp>
      <p:sp>
        <p:nvSpPr>
          <p:cNvPr id="42" name="Oval 41"/>
          <p:cNvSpPr/>
          <p:nvPr/>
        </p:nvSpPr>
        <p:spPr>
          <a:xfrm>
            <a:off x="685800" y="5038344"/>
            <a:ext cx="91440" cy="9144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50392" y="4928616"/>
            <a:ext cx="10625328" cy="411480"/>
          </a:xfrm>
          <a:prstGeom prst="rect">
            <a:avLst/>
          </a:prstGeom>
          <a:noFill/>
        </p:spPr>
        <p:txBody>
          <a:bodyPr wrap="square" lIns="18288" rIns="18288" tIns="18288" bIns="18288" anchor="ctr">
            <a:spAutoFit/>
          </a:bodyPr>
          <a:lstStyle/>
          <a:p>
            <a:pPr algn="l">
              <a:spcAft>
                <a:spcPts val="0"/>
              </a:spcAft>
            </a:pPr>
            <a:r>
              <a:rPr sz="1600" b="0" i="0">
                <a:solidFill>
                  <a:srgbClr val="263746"/>
                </a:solidFill>
                <a:latin typeface="Arial"/>
              </a:rPr>
              <a:t>The generator must preserve tissue and FLT/GC structure without memorizing samples.</a:t>
            </a:r>
          </a:p>
        </p:txBody>
      </p:sp>
      <p:sp>
        <p:nvSpPr>
          <p:cNvPr id="44" name="Oval 43"/>
          <p:cNvSpPr/>
          <p:nvPr/>
        </p:nvSpPr>
        <p:spPr>
          <a:xfrm>
            <a:off x="685800" y="5449824"/>
            <a:ext cx="91440" cy="9144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50392" y="5340096"/>
            <a:ext cx="10625328" cy="411480"/>
          </a:xfrm>
          <a:prstGeom prst="rect">
            <a:avLst/>
          </a:prstGeom>
          <a:noFill/>
        </p:spPr>
        <p:txBody>
          <a:bodyPr wrap="square" lIns="18288" rIns="18288" tIns="18288" bIns="18288" anchor="ctr">
            <a:spAutoFit/>
          </a:bodyPr>
          <a:lstStyle/>
          <a:p>
            <a:pPr algn="l">
              <a:spcAft>
                <a:spcPts val="0"/>
              </a:spcAft>
            </a:pPr>
            <a:r>
              <a:rPr sz="1600" b="0" i="0">
                <a:solidFill>
                  <a:srgbClr val="263746"/>
                </a:solidFill>
                <a:latin typeface="Arial"/>
              </a:rPr>
              <a:t>Statistical evidence must still come from observed OSDR profiles.</a:t>
            </a:r>
          </a:p>
        </p:txBody>
      </p:sp>
      <p:sp>
        <p:nvSpPr>
          <p:cNvPr id="46" name="TextBox 45"/>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Sources: NASA OSDR Biological Data API; ARCHS4 mouse v2.5.</a:t>
            </a:r>
          </a:p>
        </p:txBody>
      </p:sp>
    </p:spTree>
    <p:extLst>
      <p:ext uri="{BB962C8B-B14F-4D97-AF65-F5344CB8AC3E}">
        <p14:creationId xmlns:p14="http://schemas.microsoft.com/office/powerpoint/2010/main" val="2938554529"/>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METHOD</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We built a configurable bulk RNA-seq generation pipeline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Data scope, transforms, harmonization, training and conditioning can change without changing the evaluation contract.</a:t>
            </a:r>
          </a:p>
        </p:txBody>
      </p:sp>
      <p:sp>
        <p:nvSpPr>
          <p:cNvPr id="7" name="Rounded Rectangle 6"/>
          <p:cNvSpPr/>
          <p:nvPr/>
        </p:nvSpPr>
        <p:spPr>
          <a:xfrm>
            <a:off x="320040" y="1901952"/>
            <a:ext cx="2148840" cy="2359152"/>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20040" y="1901952"/>
            <a:ext cx="2148840" cy="3657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4632" y="2167128"/>
            <a:ext cx="1819656" cy="347472"/>
          </a:xfrm>
          <a:prstGeom prst="rect">
            <a:avLst/>
          </a:prstGeom>
          <a:noFill/>
        </p:spPr>
        <p:txBody>
          <a:bodyPr wrap="square" lIns="18288" rIns="18288" tIns="18288" bIns="18288" anchor="t">
            <a:spAutoFit/>
          </a:bodyPr>
          <a:lstStyle/>
          <a:p>
            <a:pPr algn="l">
              <a:spcAft>
                <a:spcPts val="0"/>
              </a:spcAft>
            </a:pPr>
            <a:r>
              <a:rPr sz="1600" b="1" i="0">
                <a:solidFill>
                  <a:srgbClr val="2D6496"/>
                </a:solidFill>
                <a:latin typeface="Arial"/>
              </a:rPr>
              <a:t>Data + scope</a:t>
            </a:r>
          </a:p>
        </p:txBody>
      </p:sp>
      <p:sp>
        <p:nvSpPr>
          <p:cNvPr id="10" name="TextBox 9"/>
          <p:cNvSpPr txBox="1"/>
          <p:nvPr/>
        </p:nvSpPr>
        <p:spPr>
          <a:xfrm>
            <a:off x="484632" y="2660904"/>
            <a:ext cx="1819656" cy="1280160"/>
          </a:xfrm>
          <a:prstGeom prst="rect">
            <a:avLst/>
          </a:prstGeom>
          <a:noFill/>
        </p:spPr>
        <p:txBody>
          <a:bodyPr wrap="square" lIns="18288" rIns="18288" tIns="18288" bIns="18288" anchor="t">
            <a:spAutoFit/>
          </a:bodyPr>
          <a:lstStyle/>
          <a:p>
            <a:pPr algn="l">
              <a:spcAft>
                <a:spcPts val="0"/>
              </a:spcAft>
            </a:pPr>
            <a:r>
              <a:rPr sz="1320" b="0" i="0">
                <a:solidFill>
                  <a:srgbClr val="263746"/>
                </a:solidFill>
                <a:latin typeface="Arial"/>
              </a:rPr>
              <a:t>OSDR API or ARCHS4
one or many studies
pooled or per tissue</a:t>
            </a:r>
          </a:p>
        </p:txBody>
      </p:sp>
      <p:sp>
        <p:nvSpPr>
          <p:cNvPr id="11" name="Rounded Rectangle 10"/>
          <p:cNvSpPr/>
          <p:nvPr/>
        </p:nvSpPr>
        <p:spPr>
          <a:xfrm>
            <a:off x="2651760" y="1901952"/>
            <a:ext cx="2148840" cy="2359152"/>
          </a:xfrm>
          <a:prstGeom prst="round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651760" y="1901952"/>
            <a:ext cx="2148840" cy="3657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16352" y="2167128"/>
            <a:ext cx="1819656" cy="347472"/>
          </a:xfrm>
          <a:prstGeom prst="rect">
            <a:avLst/>
          </a:prstGeom>
          <a:noFill/>
        </p:spPr>
        <p:txBody>
          <a:bodyPr wrap="square" lIns="18288" rIns="18288" tIns="18288" bIns="18288" anchor="t">
            <a:spAutoFit/>
          </a:bodyPr>
          <a:lstStyle/>
          <a:p>
            <a:pPr algn="l">
              <a:spcAft>
                <a:spcPts val="0"/>
              </a:spcAft>
            </a:pPr>
            <a:r>
              <a:rPr sz="1600" b="1" i="0">
                <a:solidFill>
                  <a:srgbClr val="178681"/>
                </a:solidFill>
                <a:latin typeface="Arial"/>
              </a:rPr>
              <a:t>Transform</a:t>
            </a:r>
          </a:p>
        </p:txBody>
      </p:sp>
      <p:sp>
        <p:nvSpPr>
          <p:cNvPr id="14" name="TextBox 13"/>
          <p:cNvSpPr txBox="1"/>
          <p:nvPr/>
        </p:nvSpPr>
        <p:spPr>
          <a:xfrm>
            <a:off x="2816352" y="2660904"/>
            <a:ext cx="1819656" cy="1280160"/>
          </a:xfrm>
          <a:prstGeom prst="rect">
            <a:avLst/>
          </a:prstGeom>
          <a:noFill/>
        </p:spPr>
        <p:txBody>
          <a:bodyPr wrap="square" lIns="18288" rIns="18288" tIns="18288" bIns="18288" anchor="t">
            <a:spAutoFit/>
          </a:bodyPr>
          <a:lstStyle/>
          <a:p>
            <a:pPr algn="l">
              <a:spcAft>
                <a:spcPts val="0"/>
              </a:spcAft>
            </a:pPr>
            <a:r>
              <a:rPr sz="1320" b="0" i="0">
                <a:solidFill>
                  <a:srgbClr val="263746"/>
                </a:solidFill>
                <a:latin typeface="Arial"/>
              </a:rPr>
              <a:t>raw / CPM / TPM
log + scaling
all genes / HVG / L1000</a:t>
            </a:r>
          </a:p>
        </p:txBody>
      </p:sp>
      <p:sp>
        <p:nvSpPr>
          <p:cNvPr id="15" name="Rounded Rectangle 14"/>
          <p:cNvSpPr/>
          <p:nvPr/>
        </p:nvSpPr>
        <p:spPr>
          <a:xfrm>
            <a:off x="4983480" y="1901952"/>
            <a:ext cx="2148840" cy="2359152"/>
          </a:xfrm>
          <a:prstGeom prst="roundRect">
            <a:avLst/>
          </a:prstGeom>
          <a:solidFill>
            <a:srgbClr val="F0ECF6"/>
          </a:solidFill>
          <a:ln w="10160">
            <a:solidFill>
              <a:srgbClr val="8063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983480" y="1901952"/>
            <a:ext cx="2148840" cy="36576"/>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48072" y="2167128"/>
            <a:ext cx="1819656" cy="347472"/>
          </a:xfrm>
          <a:prstGeom prst="rect">
            <a:avLst/>
          </a:prstGeom>
          <a:noFill/>
        </p:spPr>
        <p:txBody>
          <a:bodyPr wrap="square" lIns="18288" rIns="18288" tIns="18288" bIns="18288" anchor="t">
            <a:spAutoFit/>
          </a:bodyPr>
          <a:lstStyle/>
          <a:p>
            <a:pPr algn="l">
              <a:spcAft>
                <a:spcPts val="0"/>
              </a:spcAft>
            </a:pPr>
            <a:r>
              <a:rPr sz="1600" b="1" i="0">
                <a:solidFill>
                  <a:srgbClr val="8063A6"/>
                </a:solidFill>
                <a:latin typeface="Arial"/>
              </a:rPr>
              <a:t>Harmonize</a:t>
            </a:r>
          </a:p>
        </p:txBody>
      </p:sp>
      <p:sp>
        <p:nvSpPr>
          <p:cNvPr id="18" name="TextBox 17"/>
          <p:cNvSpPr txBox="1"/>
          <p:nvPr/>
        </p:nvSpPr>
        <p:spPr>
          <a:xfrm>
            <a:off x="5148072" y="2660904"/>
            <a:ext cx="1819656" cy="1280160"/>
          </a:xfrm>
          <a:prstGeom prst="rect">
            <a:avLst/>
          </a:prstGeom>
          <a:noFill/>
        </p:spPr>
        <p:txBody>
          <a:bodyPr wrap="square" lIns="18288" rIns="18288" tIns="18288" bIns="18288" anchor="t">
            <a:spAutoFit/>
          </a:bodyPr>
          <a:lstStyle/>
          <a:p>
            <a:pPr algn="l">
              <a:spcAft>
                <a:spcPts val="0"/>
              </a:spcAft>
            </a:pPr>
            <a:r>
              <a:rPr sz="1320" b="0" i="0">
                <a:solidFill>
                  <a:srgbClr val="263746"/>
                </a:solidFill>
                <a:latin typeface="Arial"/>
              </a:rPr>
              <a:t>none or study z
ComBat / MBatch
MOBER adapter</a:t>
            </a:r>
          </a:p>
        </p:txBody>
      </p:sp>
      <p:sp>
        <p:nvSpPr>
          <p:cNvPr id="19" name="Rounded Rectangle 18"/>
          <p:cNvSpPr/>
          <p:nvPr/>
        </p:nvSpPr>
        <p:spPr>
          <a:xfrm>
            <a:off x="7315200" y="1901952"/>
            <a:ext cx="2148840" cy="2359152"/>
          </a:xfrm>
          <a:prstGeom prst="roundRect">
            <a:avLst/>
          </a:prstGeom>
          <a:solidFill>
            <a:srgbClr val="F8F1E2"/>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901952"/>
            <a:ext cx="2148840" cy="36576"/>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79792" y="2167128"/>
            <a:ext cx="1819656" cy="347472"/>
          </a:xfrm>
          <a:prstGeom prst="rect">
            <a:avLst/>
          </a:prstGeom>
          <a:noFill/>
        </p:spPr>
        <p:txBody>
          <a:bodyPr wrap="square" lIns="18288" rIns="18288" tIns="18288" bIns="18288" anchor="t">
            <a:spAutoFit/>
          </a:bodyPr>
          <a:lstStyle/>
          <a:p>
            <a:pPr algn="l">
              <a:spcAft>
                <a:spcPts val="0"/>
              </a:spcAft>
            </a:pPr>
            <a:r>
              <a:rPr sz="1600" b="1" i="0">
                <a:solidFill>
                  <a:srgbClr val="D37B00"/>
                </a:solidFill>
                <a:latin typeface="Arial"/>
              </a:rPr>
              <a:t>Model + train</a:t>
            </a:r>
          </a:p>
        </p:txBody>
      </p:sp>
      <p:sp>
        <p:nvSpPr>
          <p:cNvPr id="22" name="TextBox 21"/>
          <p:cNvSpPr txBox="1"/>
          <p:nvPr/>
        </p:nvSpPr>
        <p:spPr>
          <a:xfrm>
            <a:off x="7479792" y="2660904"/>
            <a:ext cx="1819656" cy="1280160"/>
          </a:xfrm>
          <a:prstGeom prst="rect">
            <a:avLst/>
          </a:prstGeom>
          <a:noFill/>
        </p:spPr>
        <p:txBody>
          <a:bodyPr wrap="square" lIns="18288" rIns="18288" tIns="18288" bIns="18288" anchor="t">
            <a:spAutoFit/>
          </a:bodyPr>
          <a:lstStyle/>
          <a:p>
            <a:pPr algn="l">
              <a:spcAft>
                <a:spcPts val="0"/>
              </a:spcAft>
            </a:pPr>
            <a:r>
              <a:rPr sz="1320" b="0" i="0">
                <a:solidFill>
                  <a:srgbClr val="263746"/>
                </a:solidFill>
                <a:latin typeface="Arial"/>
              </a:rPr>
              <a:t>WGAN-GP or DDIM
OSDR or ARCHS4
pretrain + adapt</a:t>
            </a:r>
          </a:p>
        </p:txBody>
      </p:sp>
      <p:sp>
        <p:nvSpPr>
          <p:cNvPr id="23" name="Rounded Rectangle 22"/>
          <p:cNvSpPr/>
          <p:nvPr/>
        </p:nvSpPr>
        <p:spPr>
          <a:xfrm>
            <a:off x="9646920" y="1901952"/>
            <a:ext cx="2148840" cy="2359152"/>
          </a:xfrm>
          <a:prstGeom prst="roundRect">
            <a:avLst/>
          </a:prstGeom>
          <a:solidFill>
            <a:srgbClr val="ECF4ED"/>
          </a:solidFill>
          <a:ln w="10160">
            <a:solidFill>
              <a:srgbClr val="478A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646920" y="1901952"/>
            <a:ext cx="2148840" cy="36576"/>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811512" y="2167128"/>
            <a:ext cx="1819656" cy="347472"/>
          </a:xfrm>
          <a:prstGeom prst="rect">
            <a:avLst/>
          </a:prstGeom>
          <a:noFill/>
        </p:spPr>
        <p:txBody>
          <a:bodyPr wrap="square" lIns="18288" rIns="18288" tIns="18288" bIns="18288" anchor="t">
            <a:spAutoFit/>
          </a:bodyPr>
          <a:lstStyle/>
          <a:p>
            <a:pPr algn="l">
              <a:spcAft>
                <a:spcPts val="0"/>
              </a:spcAft>
            </a:pPr>
            <a:r>
              <a:rPr sz="1600" b="1" i="0">
                <a:solidFill>
                  <a:srgbClr val="478A64"/>
                </a:solidFill>
                <a:latin typeface="Arial"/>
              </a:rPr>
              <a:t>Condition</a:t>
            </a:r>
          </a:p>
        </p:txBody>
      </p:sp>
      <p:sp>
        <p:nvSpPr>
          <p:cNvPr id="26" name="TextBox 25"/>
          <p:cNvSpPr txBox="1"/>
          <p:nvPr/>
        </p:nvSpPr>
        <p:spPr>
          <a:xfrm>
            <a:off x="9811512" y="2660904"/>
            <a:ext cx="1819656" cy="1280160"/>
          </a:xfrm>
          <a:prstGeom prst="rect">
            <a:avLst/>
          </a:prstGeom>
          <a:noFill/>
        </p:spPr>
        <p:txBody>
          <a:bodyPr wrap="square" lIns="18288" rIns="18288" tIns="18288" bIns="18288" anchor="t">
            <a:spAutoFit/>
          </a:bodyPr>
          <a:lstStyle/>
          <a:p>
            <a:pPr algn="l">
              <a:spcAft>
                <a:spcPts val="0"/>
              </a:spcAft>
            </a:pPr>
            <a:r>
              <a:rPr sz="1320" b="0" i="0">
                <a:solidFill>
                  <a:srgbClr val="263746"/>
                </a:solidFill>
                <a:latin typeface="Arial"/>
              </a:rPr>
              <a:t>FLT/GC + tissue
study + material
available covariates</a:t>
            </a:r>
          </a:p>
        </p:txBody>
      </p:sp>
      <p:sp>
        <p:nvSpPr>
          <p:cNvPr id="27" name="Rounded Rectangle 26"/>
          <p:cNvSpPr/>
          <p:nvPr/>
        </p:nvSpPr>
        <p:spPr>
          <a:xfrm>
            <a:off x="320040" y="4526280"/>
            <a:ext cx="11475720" cy="1170432"/>
          </a:xfrm>
          <a:prstGeom prst="roundRect">
            <a:avLst/>
          </a:prstGeom>
          <a:solidFill>
            <a:srgbClr val="F7F9FA"/>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03504" y="4736592"/>
            <a:ext cx="1508760" cy="256032"/>
          </a:xfrm>
          <a:prstGeom prst="rect">
            <a:avLst/>
          </a:prstGeom>
          <a:noFill/>
        </p:spPr>
        <p:txBody>
          <a:bodyPr wrap="square" lIns="18288" rIns="18288" tIns="18288" bIns="18288" anchor="t">
            <a:spAutoFit/>
          </a:bodyPr>
          <a:lstStyle/>
          <a:p>
            <a:pPr algn="l">
              <a:spcAft>
                <a:spcPts val="0"/>
              </a:spcAft>
            </a:pPr>
            <a:r>
              <a:rPr sz="1300" b="1" i="0">
                <a:solidFill>
                  <a:srgbClr val="9A6B20"/>
                </a:solidFill>
                <a:latin typeface="Arial"/>
              </a:rPr>
              <a:t>Selected branch</a:t>
            </a:r>
          </a:p>
        </p:txBody>
      </p:sp>
      <p:sp>
        <p:nvSpPr>
          <p:cNvPr id="29" name="TextBox 28"/>
          <p:cNvSpPr txBox="1"/>
          <p:nvPr/>
        </p:nvSpPr>
        <p:spPr>
          <a:xfrm>
            <a:off x="2057400" y="4681728"/>
            <a:ext cx="9281160" cy="502920"/>
          </a:xfrm>
          <a:prstGeom prst="rect">
            <a:avLst/>
          </a:prstGeom>
          <a:noFill/>
        </p:spPr>
        <p:txBody>
          <a:bodyPr wrap="square" lIns="18288" rIns="18288" tIns="18288" bIns="18288" anchor="t">
            <a:spAutoFit/>
          </a:bodyPr>
          <a:lstStyle/>
          <a:p>
            <a:pPr>
              <a:spcAft>
                <a:spcPts val="0"/>
              </a:spcAft>
            </a:pPr>
            <a:r>
              <a:rPr sz="1460" b="1" i="0">
                <a:solidFill>
                  <a:srgbClr val="082B55"/>
                </a:solidFill>
                <a:latin typeface="Arial"/>
              </a:rPr>
              <a:t>TPM / MaxAbs -&gt; ARCHS4 DDIM -&gt; OSDR adaptation. </a:t>
            </a:r>
            <a:r>
              <a:rPr sz="1460" b="0" i="0">
                <a:solidFill>
                  <a:srgbClr val="263746"/>
                </a:solidFill>
                <a:latin typeface="Arial"/>
              </a:rPr>
              <a:t>Conditions: tissue, FLT/GC, accession and material; no global batch correction.</a:t>
            </a:r>
          </a:p>
        </p:txBody>
      </p:sp>
      <p:sp>
        <p:nvSpPr>
          <p:cNvPr id="30" name="TextBox 29"/>
          <p:cNvSpPr txBox="1"/>
          <p:nvPr/>
        </p:nvSpPr>
        <p:spPr>
          <a:xfrm>
            <a:off x="2057400" y="5212080"/>
            <a:ext cx="9281160" cy="301752"/>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A 463-row experiment plan and nine matched liver harmonization arms were screened before full training.</a:t>
            </a:r>
          </a:p>
        </p:txBody>
      </p:sp>
      <p:sp>
        <p:nvSpPr>
          <p:cNvPr id="31" name="TextBox 3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Generator sources: Vinas et al., Bioinformatics (2022); Lacan et al., BMC Bioinformatics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VALIDATION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DDIM matched expression and reduced separability</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AA closer to 0.5 means a classifier has less success separating real and generated profiles; lower FD is better.</a:t>
            </a:r>
          </a:p>
        </p:txBody>
      </p:sp>
      <p:sp>
        <p:nvSpPr>
          <p:cNvPr id="7" name="Rounded Rectangle 6"/>
          <p:cNvSpPr/>
          <p:nvPr/>
        </p:nvSpPr>
        <p:spPr>
          <a:xfrm>
            <a:off x="347472" y="1847088"/>
            <a:ext cx="3703320" cy="3401568"/>
          </a:xfrm>
          <a:prstGeom prst="round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2103120"/>
            <a:ext cx="3154680" cy="320040"/>
          </a:xfrm>
          <a:prstGeom prst="rect">
            <a:avLst/>
          </a:prstGeom>
          <a:noFill/>
        </p:spPr>
        <p:txBody>
          <a:bodyPr wrap="square" lIns="18288" rIns="18288" tIns="18288" bIns="18288" anchor="t">
            <a:spAutoFit/>
          </a:bodyPr>
          <a:lstStyle/>
          <a:p>
            <a:pPr algn="l">
              <a:spcAft>
                <a:spcPts val="0"/>
              </a:spcAft>
            </a:pPr>
            <a:r>
              <a:rPr sz="1700" b="1" i="0">
                <a:solidFill>
                  <a:srgbClr val="2D6496"/>
                </a:solidFill>
                <a:latin typeface="Arial"/>
              </a:rPr>
              <a:t>ARCHS4 tissue probe</a:t>
            </a:r>
          </a:p>
        </p:txBody>
      </p:sp>
      <p:sp>
        <p:nvSpPr>
          <p:cNvPr id="9" name="TextBox 8"/>
          <p:cNvSpPr txBox="1"/>
          <p:nvPr/>
        </p:nvSpPr>
        <p:spPr>
          <a:xfrm>
            <a:off x="621792" y="2487168"/>
            <a:ext cx="3063240" cy="27432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Balanced accuracy on held-out real profiles</a:t>
            </a:r>
          </a:p>
        </p:txBody>
      </p:sp>
      <p:sp>
        <p:nvSpPr>
          <p:cNvPr id="10" name="Rectangle 9"/>
          <p:cNvSpPr/>
          <p:nvPr/>
        </p:nvSpPr>
        <p:spPr>
          <a:xfrm>
            <a:off x="950976" y="3436845"/>
            <a:ext cx="786384" cy="1299746"/>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23544" y="3107661"/>
            <a:ext cx="868680" cy="274320"/>
          </a:xfrm>
          <a:prstGeom prst="rect">
            <a:avLst/>
          </a:prstGeom>
          <a:noFill/>
        </p:spPr>
        <p:txBody>
          <a:bodyPr wrap="square" lIns="18288" rIns="18288" tIns="18288" bIns="18288" anchor="t">
            <a:spAutoFit/>
          </a:bodyPr>
          <a:lstStyle/>
          <a:p>
            <a:pPr algn="ctr">
              <a:spcAft>
                <a:spcPts val="0"/>
              </a:spcAft>
            </a:pPr>
            <a:r>
              <a:rPr sz="1600" b="1" i="0">
                <a:solidFill>
                  <a:srgbClr val="082B55"/>
                </a:solidFill>
                <a:latin typeface="Arial"/>
              </a:rPr>
              <a:t>0.781</a:t>
            </a:r>
          </a:p>
        </p:txBody>
      </p:sp>
      <p:sp>
        <p:nvSpPr>
          <p:cNvPr id="12" name="TextBox 11"/>
          <p:cNvSpPr txBox="1"/>
          <p:nvPr/>
        </p:nvSpPr>
        <p:spPr>
          <a:xfrm>
            <a:off x="676656" y="4809744"/>
            <a:ext cx="1325880" cy="365760"/>
          </a:xfrm>
          <a:prstGeom prst="rect">
            <a:avLst/>
          </a:prstGeom>
          <a:noFill/>
        </p:spPr>
        <p:txBody>
          <a:bodyPr wrap="square" lIns="18288" rIns="18288" tIns="18288" bIns="18288" anchor="t">
            <a:spAutoFit/>
          </a:bodyPr>
          <a:lstStyle/>
          <a:p>
            <a:pPr algn="ctr">
              <a:spcAft>
                <a:spcPts val="0"/>
              </a:spcAft>
            </a:pPr>
            <a:r>
              <a:rPr sz="1250" b="0" i="0">
                <a:solidFill>
                  <a:srgbClr val="263746"/>
                </a:solidFill>
                <a:latin typeface="Arial"/>
              </a:rPr>
              <a:t>Real-trained</a:t>
            </a:r>
          </a:p>
        </p:txBody>
      </p:sp>
      <p:sp>
        <p:nvSpPr>
          <p:cNvPr id="13" name="Rectangle 12"/>
          <p:cNvSpPr/>
          <p:nvPr/>
        </p:nvSpPr>
        <p:spPr>
          <a:xfrm>
            <a:off x="2523744" y="3436845"/>
            <a:ext cx="786384" cy="129974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96312" y="3107661"/>
            <a:ext cx="868680" cy="274320"/>
          </a:xfrm>
          <a:prstGeom prst="rect">
            <a:avLst/>
          </a:prstGeom>
          <a:noFill/>
        </p:spPr>
        <p:txBody>
          <a:bodyPr wrap="square" lIns="18288" rIns="18288" tIns="18288" bIns="18288" anchor="t">
            <a:spAutoFit/>
          </a:bodyPr>
          <a:lstStyle/>
          <a:p>
            <a:pPr algn="ctr">
              <a:spcAft>
                <a:spcPts val="0"/>
              </a:spcAft>
            </a:pPr>
            <a:r>
              <a:rPr sz="1600" b="1" i="0">
                <a:solidFill>
                  <a:srgbClr val="082B55"/>
                </a:solidFill>
                <a:latin typeface="Arial"/>
              </a:rPr>
              <a:t>0.781</a:t>
            </a:r>
          </a:p>
        </p:txBody>
      </p:sp>
      <p:sp>
        <p:nvSpPr>
          <p:cNvPr id="15" name="TextBox 14"/>
          <p:cNvSpPr txBox="1"/>
          <p:nvPr/>
        </p:nvSpPr>
        <p:spPr>
          <a:xfrm>
            <a:off x="2249424" y="4809744"/>
            <a:ext cx="1325880" cy="365760"/>
          </a:xfrm>
          <a:prstGeom prst="rect">
            <a:avLst/>
          </a:prstGeom>
          <a:noFill/>
        </p:spPr>
        <p:txBody>
          <a:bodyPr wrap="square" lIns="18288" rIns="18288" tIns="18288" bIns="18288" anchor="t">
            <a:spAutoFit/>
          </a:bodyPr>
          <a:lstStyle/>
          <a:p>
            <a:pPr algn="ctr">
              <a:spcAft>
                <a:spcPts val="0"/>
              </a:spcAft>
            </a:pPr>
            <a:r>
              <a:rPr sz="1250" b="0" i="0">
                <a:solidFill>
                  <a:srgbClr val="263746"/>
                </a:solidFill>
                <a:latin typeface="Arial"/>
              </a:rPr>
              <a:t>Synthetic-trained</a:t>
            </a:r>
          </a:p>
        </p:txBody>
      </p:sp>
      <p:sp>
        <p:nvSpPr>
          <p:cNvPr id="16" name="Rectangle 15"/>
          <p:cNvSpPr/>
          <p:nvPr/>
        </p:nvSpPr>
        <p:spPr>
          <a:xfrm>
            <a:off x="749808" y="4736592"/>
            <a:ext cx="2880360" cy="13716"/>
          </a:xfrm>
          <a:prstGeom prst="rect">
            <a:avLst/>
          </a:prstGeom>
          <a:solidFill>
            <a:srgbClr val="A9B5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315968" y="1847088"/>
            <a:ext cx="7525512" cy="3401568"/>
          </a:xfrm>
          <a:prstGeom prst="roundRect">
            <a:avLst/>
          </a:prstGeom>
          <a:solidFill>
            <a:srgbClr val="FFFFFF"/>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99432" y="2075688"/>
            <a:ext cx="1417320" cy="256032"/>
          </a:xfrm>
          <a:prstGeom prst="rect">
            <a:avLst/>
          </a:prstGeom>
          <a:noFill/>
        </p:spPr>
        <p:txBody>
          <a:bodyPr wrap="square" lIns="18288" rIns="18288" tIns="18288" bIns="18288" anchor="t">
            <a:spAutoFit/>
          </a:bodyPr>
          <a:lstStyle/>
          <a:p>
            <a:pPr algn="l">
              <a:spcAft>
                <a:spcPts val="0"/>
              </a:spcAft>
            </a:pPr>
            <a:r>
              <a:rPr sz="1250" b="1" i="0">
                <a:solidFill>
                  <a:srgbClr val="59697A"/>
                </a:solidFill>
                <a:latin typeface="Arial"/>
              </a:rPr>
              <a:t>Metric</a:t>
            </a:r>
          </a:p>
        </p:txBody>
      </p:sp>
      <p:sp>
        <p:nvSpPr>
          <p:cNvPr id="19" name="TextBox 18"/>
          <p:cNvSpPr txBox="1"/>
          <p:nvPr/>
        </p:nvSpPr>
        <p:spPr>
          <a:xfrm>
            <a:off x="6537960" y="2075688"/>
            <a:ext cx="1234440" cy="256032"/>
          </a:xfrm>
          <a:prstGeom prst="rect">
            <a:avLst/>
          </a:prstGeom>
          <a:noFill/>
        </p:spPr>
        <p:txBody>
          <a:bodyPr wrap="square" lIns="18288" rIns="18288" tIns="18288" bIns="18288" anchor="t">
            <a:spAutoFit/>
          </a:bodyPr>
          <a:lstStyle/>
          <a:p>
            <a:pPr algn="ctr">
              <a:spcAft>
                <a:spcPts val="0"/>
              </a:spcAft>
            </a:pPr>
            <a:r>
              <a:rPr sz="1250" b="1" i="0">
                <a:solidFill>
                  <a:srgbClr val="D96552"/>
                </a:solidFill>
                <a:latin typeface="Arial"/>
              </a:rPr>
              <a:t>WGAN-GP</a:t>
            </a:r>
          </a:p>
        </p:txBody>
      </p:sp>
      <p:sp>
        <p:nvSpPr>
          <p:cNvPr id="20" name="TextBox 19"/>
          <p:cNvSpPr txBox="1"/>
          <p:nvPr/>
        </p:nvSpPr>
        <p:spPr>
          <a:xfrm>
            <a:off x="8257031" y="2075688"/>
            <a:ext cx="1234440" cy="256032"/>
          </a:xfrm>
          <a:prstGeom prst="rect">
            <a:avLst/>
          </a:prstGeom>
          <a:noFill/>
        </p:spPr>
        <p:txBody>
          <a:bodyPr wrap="square" lIns="18288" rIns="18288" tIns="18288" bIns="18288" anchor="t">
            <a:spAutoFit/>
          </a:bodyPr>
          <a:lstStyle/>
          <a:p>
            <a:pPr algn="ctr">
              <a:spcAft>
                <a:spcPts val="0"/>
              </a:spcAft>
            </a:pPr>
            <a:r>
              <a:rPr sz="1250" b="1" i="0">
                <a:solidFill>
                  <a:srgbClr val="178681"/>
                </a:solidFill>
                <a:latin typeface="Arial"/>
              </a:rPr>
              <a:t>DDIM</a:t>
            </a:r>
          </a:p>
        </p:txBody>
      </p:sp>
      <p:sp>
        <p:nvSpPr>
          <p:cNvPr id="21" name="TextBox 20"/>
          <p:cNvSpPr txBox="1"/>
          <p:nvPr/>
        </p:nvSpPr>
        <p:spPr>
          <a:xfrm>
            <a:off x="9802368" y="2075688"/>
            <a:ext cx="1627632" cy="256032"/>
          </a:xfrm>
          <a:prstGeom prst="rect">
            <a:avLst/>
          </a:prstGeom>
          <a:noFill/>
        </p:spPr>
        <p:txBody>
          <a:bodyPr wrap="square" lIns="18288" rIns="18288" tIns="18288" bIns="18288" anchor="t">
            <a:spAutoFit/>
          </a:bodyPr>
          <a:lstStyle/>
          <a:p>
            <a:pPr algn="l">
              <a:spcAft>
                <a:spcPts val="0"/>
              </a:spcAft>
            </a:pPr>
            <a:r>
              <a:rPr sz="1250" b="1" i="0">
                <a:solidFill>
                  <a:srgbClr val="59697A"/>
                </a:solidFill>
                <a:latin typeface="Arial"/>
              </a:rPr>
              <a:t>Reading</a:t>
            </a:r>
          </a:p>
        </p:txBody>
      </p:sp>
      <p:sp>
        <p:nvSpPr>
          <p:cNvPr id="22" name="Rectangle 21"/>
          <p:cNvSpPr/>
          <p:nvPr/>
        </p:nvSpPr>
        <p:spPr>
          <a:xfrm>
            <a:off x="4517136" y="2478024"/>
            <a:ext cx="7059168" cy="484632"/>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99432" y="2542032"/>
            <a:ext cx="1783080" cy="310896"/>
          </a:xfrm>
          <a:prstGeom prst="rect">
            <a:avLst/>
          </a:prstGeom>
          <a:noFill/>
        </p:spPr>
        <p:txBody>
          <a:bodyPr wrap="square" lIns="18288" rIns="18288" tIns="18288" bIns="18288" anchor="t">
            <a:spAutoFit/>
          </a:bodyPr>
          <a:lstStyle/>
          <a:p>
            <a:pPr algn="l">
              <a:spcAft>
                <a:spcPts val="0"/>
              </a:spcAft>
            </a:pPr>
            <a:r>
              <a:rPr sz="1400" b="0" i="0">
                <a:solidFill>
                  <a:srgbClr val="263746"/>
                </a:solidFill>
                <a:latin typeface="Arial"/>
              </a:rPr>
              <a:t>Correlation</a:t>
            </a:r>
          </a:p>
        </p:txBody>
      </p:sp>
      <p:sp>
        <p:nvSpPr>
          <p:cNvPr id="24" name="TextBox 23"/>
          <p:cNvSpPr txBox="1"/>
          <p:nvPr/>
        </p:nvSpPr>
        <p:spPr>
          <a:xfrm>
            <a:off x="6519672" y="2542032"/>
            <a:ext cx="1261872" cy="310896"/>
          </a:xfrm>
          <a:prstGeom prst="rect">
            <a:avLst/>
          </a:prstGeom>
          <a:noFill/>
        </p:spPr>
        <p:txBody>
          <a:bodyPr wrap="square" lIns="18288" rIns="18288" tIns="18288" bIns="18288" anchor="t">
            <a:spAutoFit/>
          </a:bodyPr>
          <a:lstStyle/>
          <a:p>
            <a:pPr algn="ctr">
              <a:spcAft>
                <a:spcPts val="0"/>
              </a:spcAft>
            </a:pPr>
            <a:r>
              <a:rPr sz="1600" b="1" i="0">
                <a:solidFill>
                  <a:srgbClr val="D96552"/>
                </a:solidFill>
                <a:latin typeface="Arial"/>
              </a:rPr>
              <a:t>0.976</a:t>
            </a:r>
          </a:p>
        </p:txBody>
      </p:sp>
      <p:sp>
        <p:nvSpPr>
          <p:cNvPr id="25" name="TextBox 24"/>
          <p:cNvSpPr txBox="1"/>
          <p:nvPr/>
        </p:nvSpPr>
        <p:spPr>
          <a:xfrm>
            <a:off x="8238744" y="2542032"/>
            <a:ext cx="1261872" cy="310896"/>
          </a:xfrm>
          <a:prstGeom prst="rect">
            <a:avLst/>
          </a:prstGeom>
          <a:noFill/>
        </p:spPr>
        <p:txBody>
          <a:bodyPr wrap="square" lIns="18288" rIns="18288" tIns="18288" bIns="18288" anchor="t">
            <a:spAutoFit/>
          </a:bodyPr>
          <a:lstStyle/>
          <a:p>
            <a:pPr algn="ctr">
              <a:spcAft>
                <a:spcPts val="0"/>
              </a:spcAft>
            </a:pPr>
            <a:r>
              <a:rPr sz="1600" b="1" i="0">
                <a:solidFill>
                  <a:srgbClr val="178681"/>
                </a:solidFill>
                <a:latin typeface="Arial"/>
              </a:rPr>
              <a:t>0.974</a:t>
            </a:r>
          </a:p>
        </p:txBody>
      </p:sp>
      <p:sp>
        <p:nvSpPr>
          <p:cNvPr id="26" name="TextBox 25"/>
          <p:cNvSpPr txBox="1"/>
          <p:nvPr/>
        </p:nvSpPr>
        <p:spPr>
          <a:xfrm>
            <a:off x="9820656" y="2542032"/>
            <a:ext cx="1481328" cy="310896"/>
          </a:xfrm>
          <a:prstGeom prst="rect">
            <a:avLst/>
          </a:prstGeom>
          <a:noFill/>
        </p:spPr>
        <p:txBody>
          <a:bodyPr wrap="square" lIns="18288" rIns="18288" tIns="18288" bIns="18288" anchor="t">
            <a:spAutoFit/>
          </a:bodyPr>
          <a:lstStyle/>
          <a:p>
            <a:pPr algn="l">
              <a:spcAft>
                <a:spcPts val="0"/>
              </a:spcAft>
            </a:pPr>
            <a:r>
              <a:rPr sz="1350" b="0" i="0">
                <a:solidFill>
                  <a:srgbClr val="59697A"/>
                </a:solidFill>
                <a:latin typeface="Arial"/>
              </a:rPr>
              <a:t>similar</a:t>
            </a:r>
          </a:p>
        </p:txBody>
      </p:sp>
      <p:sp>
        <p:nvSpPr>
          <p:cNvPr id="27" name="TextBox 26"/>
          <p:cNvSpPr txBox="1"/>
          <p:nvPr/>
        </p:nvSpPr>
        <p:spPr>
          <a:xfrm>
            <a:off x="4599432" y="3118103"/>
            <a:ext cx="1783080" cy="310896"/>
          </a:xfrm>
          <a:prstGeom prst="rect">
            <a:avLst/>
          </a:prstGeom>
          <a:noFill/>
        </p:spPr>
        <p:txBody>
          <a:bodyPr wrap="square" lIns="18288" rIns="18288" tIns="18288" bIns="18288" anchor="t">
            <a:spAutoFit/>
          </a:bodyPr>
          <a:lstStyle/>
          <a:p>
            <a:pPr algn="l">
              <a:spcAft>
                <a:spcPts val="0"/>
              </a:spcAft>
            </a:pPr>
            <a:r>
              <a:rPr sz="1400" b="0" i="0">
                <a:solidFill>
                  <a:srgbClr val="263746"/>
                </a:solidFill>
                <a:latin typeface="Arial"/>
              </a:rPr>
              <a:t>F1</a:t>
            </a:r>
          </a:p>
        </p:txBody>
      </p:sp>
      <p:sp>
        <p:nvSpPr>
          <p:cNvPr id="28" name="TextBox 27"/>
          <p:cNvSpPr txBox="1"/>
          <p:nvPr/>
        </p:nvSpPr>
        <p:spPr>
          <a:xfrm>
            <a:off x="6519672" y="3118103"/>
            <a:ext cx="1261872" cy="310896"/>
          </a:xfrm>
          <a:prstGeom prst="rect">
            <a:avLst/>
          </a:prstGeom>
          <a:noFill/>
        </p:spPr>
        <p:txBody>
          <a:bodyPr wrap="square" lIns="18288" rIns="18288" tIns="18288" bIns="18288" anchor="t">
            <a:spAutoFit/>
          </a:bodyPr>
          <a:lstStyle/>
          <a:p>
            <a:pPr algn="ctr">
              <a:spcAft>
                <a:spcPts val="0"/>
              </a:spcAft>
            </a:pPr>
            <a:r>
              <a:rPr sz="1600" b="1" i="0">
                <a:solidFill>
                  <a:srgbClr val="D96552"/>
                </a:solidFill>
                <a:latin typeface="Arial"/>
              </a:rPr>
              <a:t>0.985</a:t>
            </a:r>
          </a:p>
        </p:txBody>
      </p:sp>
      <p:sp>
        <p:nvSpPr>
          <p:cNvPr id="29" name="TextBox 28"/>
          <p:cNvSpPr txBox="1"/>
          <p:nvPr/>
        </p:nvSpPr>
        <p:spPr>
          <a:xfrm>
            <a:off x="8238744" y="3118103"/>
            <a:ext cx="1261872" cy="310896"/>
          </a:xfrm>
          <a:prstGeom prst="rect">
            <a:avLst/>
          </a:prstGeom>
          <a:noFill/>
        </p:spPr>
        <p:txBody>
          <a:bodyPr wrap="square" lIns="18288" rIns="18288" tIns="18288" bIns="18288" anchor="t">
            <a:spAutoFit/>
          </a:bodyPr>
          <a:lstStyle/>
          <a:p>
            <a:pPr algn="ctr">
              <a:spcAft>
                <a:spcPts val="0"/>
              </a:spcAft>
            </a:pPr>
            <a:r>
              <a:rPr sz="1600" b="1" i="0">
                <a:solidFill>
                  <a:srgbClr val="178681"/>
                </a:solidFill>
                <a:latin typeface="Arial"/>
              </a:rPr>
              <a:t>0.997</a:t>
            </a:r>
          </a:p>
        </p:txBody>
      </p:sp>
      <p:sp>
        <p:nvSpPr>
          <p:cNvPr id="30" name="TextBox 29"/>
          <p:cNvSpPr txBox="1"/>
          <p:nvPr/>
        </p:nvSpPr>
        <p:spPr>
          <a:xfrm>
            <a:off x="9820656" y="3118103"/>
            <a:ext cx="1481328" cy="310896"/>
          </a:xfrm>
          <a:prstGeom prst="rect">
            <a:avLst/>
          </a:prstGeom>
          <a:noFill/>
        </p:spPr>
        <p:txBody>
          <a:bodyPr wrap="square" lIns="18288" rIns="18288" tIns="18288" bIns="18288" anchor="t">
            <a:spAutoFit/>
          </a:bodyPr>
          <a:lstStyle/>
          <a:p>
            <a:pPr algn="l">
              <a:spcAft>
                <a:spcPts val="0"/>
              </a:spcAft>
            </a:pPr>
            <a:r>
              <a:rPr sz="1350" b="0" i="0">
                <a:solidFill>
                  <a:srgbClr val="59697A"/>
                </a:solidFill>
                <a:latin typeface="Arial"/>
              </a:rPr>
              <a:t>higher</a:t>
            </a:r>
          </a:p>
        </p:txBody>
      </p:sp>
      <p:sp>
        <p:nvSpPr>
          <p:cNvPr id="31" name="Rectangle 30"/>
          <p:cNvSpPr/>
          <p:nvPr/>
        </p:nvSpPr>
        <p:spPr>
          <a:xfrm>
            <a:off x="4517136" y="3630168"/>
            <a:ext cx="7059168" cy="484632"/>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99432" y="3694176"/>
            <a:ext cx="1783080" cy="310896"/>
          </a:xfrm>
          <a:prstGeom prst="rect">
            <a:avLst/>
          </a:prstGeom>
          <a:noFill/>
        </p:spPr>
        <p:txBody>
          <a:bodyPr wrap="square" lIns="18288" rIns="18288" tIns="18288" bIns="18288" anchor="t">
            <a:spAutoFit/>
          </a:bodyPr>
          <a:lstStyle/>
          <a:p>
            <a:pPr algn="l">
              <a:spcAft>
                <a:spcPts val="0"/>
              </a:spcAft>
            </a:pPr>
            <a:r>
              <a:rPr sz="1400" b="1" i="0">
                <a:solidFill>
                  <a:srgbClr val="263746"/>
                </a:solidFill>
                <a:latin typeface="Arial"/>
              </a:rPr>
              <a:t>Adversarial accuracy</a:t>
            </a:r>
          </a:p>
        </p:txBody>
      </p:sp>
      <p:sp>
        <p:nvSpPr>
          <p:cNvPr id="33" name="TextBox 32"/>
          <p:cNvSpPr txBox="1"/>
          <p:nvPr/>
        </p:nvSpPr>
        <p:spPr>
          <a:xfrm>
            <a:off x="6519672" y="3694176"/>
            <a:ext cx="1261872" cy="310896"/>
          </a:xfrm>
          <a:prstGeom prst="rect">
            <a:avLst/>
          </a:prstGeom>
          <a:noFill/>
        </p:spPr>
        <p:txBody>
          <a:bodyPr wrap="square" lIns="18288" rIns="18288" tIns="18288" bIns="18288" anchor="t">
            <a:spAutoFit/>
          </a:bodyPr>
          <a:lstStyle/>
          <a:p>
            <a:pPr algn="ctr">
              <a:spcAft>
                <a:spcPts val="0"/>
              </a:spcAft>
            </a:pPr>
            <a:r>
              <a:rPr sz="1600" b="1" i="0">
                <a:solidFill>
                  <a:srgbClr val="D96552"/>
                </a:solidFill>
                <a:latin typeface="Arial"/>
              </a:rPr>
              <a:t>0.636</a:t>
            </a:r>
          </a:p>
        </p:txBody>
      </p:sp>
      <p:sp>
        <p:nvSpPr>
          <p:cNvPr id="34" name="TextBox 33"/>
          <p:cNvSpPr txBox="1"/>
          <p:nvPr/>
        </p:nvSpPr>
        <p:spPr>
          <a:xfrm>
            <a:off x="8238744" y="3694176"/>
            <a:ext cx="1261872" cy="310896"/>
          </a:xfrm>
          <a:prstGeom prst="rect">
            <a:avLst/>
          </a:prstGeom>
          <a:noFill/>
        </p:spPr>
        <p:txBody>
          <a:bodyPr wrap="square" lIns="18288" rIns="18288" tIns="18288" bIns="18288" anchor="t">
            <a:spAutoFit/>
          </a:bodyPr>
          <a:lstStyle/>
          <a:p>
            <a:pPr algn="ctr">
              <a:spcAft>
                <a:spcPts val="0"/>
              </a:spcAft>
            </a:pPr>
            <a:r>
              <a:rPr sz="1600" b="1" i="0">
                <a:solidFill>
                  <a:srgbClr val="178681"/>
                </a:solidFill>
                <a:latin typeface="Arial"/>
              </a:rPr>
              <a:t>0.475</a:t>
            </a:r>
          </a:p>
        </p:txBody>
      </p:sp>
      <p:sp>
        <p:nvSpPr>
          <p:cNvPr id="35" name="TextBox 34"/>
          <p:cNvSpPr txBox="1"/>
          <p:nvPr/>
        </p:nvSpPr>
        <p:spPr>
          <a:xfrm>
            <a:off x="9820656" y="3694176"/>
            <a:ext cx="1481328" cy="310896"/>
          </a:xfrm>
          <a:prstGeom prst="rect">
            <a:avLst/>
          </a:prstGeom>
          <a:noFill/>
        </p:spPr>
        <p:txBody>
          <a:bodyPr wrap="square" lIns="18288" rIns="18288" tIns="18288" bIns="18288" anchor="t">
            <a:spAutoFit/>
          </a:bodyPr>
          <a:lstStyle/>
          <a:p>
            <a:pPr algn="l">
              <a:spcAft>
                <a:spcPts val="0"/>
              </a:spcAft>
            </a:pPr>
            <a:r>
              <a:rPr sz="1350" b="0" i="0">
                <a:solidFill>
                  <a:srgbClr val="59697A"/>
                </a:solidFill>
                <a:latin typeface="Arial"/>
              </a:rPr>
              <a:t>closer to 0.5</a:t>
            </a:r>
          </a:p>
        </p:txBody>
      </p:sp>
      <p:sp>
        <p:nvSpPr>
          <p:cNvPr id="36" name="TextBox 35"/>
          <p:cNvSpPr txBox="1"/>
          <p:nvPr/>
        </p:nvSpPr>
        <p:spPr>
          <a:xfrm>
            <a:off x="4599432" y="4270248"/>
            <a:ext cx="1783080" cy="310896"/>
          </a:xfrm>
          <a:prstGeom prst="rect">
            <a:avLst/>
          </a:prstGeom>
          <a:noFill/>
        </p:spPr>
        <p:txBody>
          <a:bodyPr wrap="square" lIns="18288" rIns="18288" tIns="18288" bIns="18288" anchor="t">
            <a:spAutoFit/>
          </a:bodyPr>
          <a:lstStyle/>
          <a:p>
            <a:pPr algn="l">
              <a:spcAft>
                <a:spcPts val="0"/>
              </a:spcAft>
            </a:pPr>
            <a:r>
              <a:rPr sz="1400" b="1" i="0">
                <a:solidFill>
                  <a:srgbClr val="263746"/>
                </a:solidFill>
                <a:latin typeface="Arial"/>
              </a:rPr>
              <a:t>FD / real P95</a:t>
            </a:r>
          </a:p>
        </p:txBody>
      </p:sp>
      <p:sp>
        <p:nvSpPr>
          <p:cNvPr id="37" name="TextBox 36"/>
          <p:cNvSpPr txBox="1"/>
          <p:nvPr/>
        </p:nvSpPr>
        <p:spPr>
          <a:xfrm>
            <a:off x="6519672" y="4270248"/>
            <a:ext cx="1261872" cy="310896"/>
          </a:xfrm>
          <a:prstGeom prst="rect">
            <a:avLst/>
          </a:prstGeom>
          <a:noFill/>
        </p:spPr>
        <p:txBody>
          <a:bodyPr wrap="square" lIns="18288" rIns="18288" tIns="18288" bIns="18288" anchor="t">
            <a:spAutoFit/>
          </a:bodyPr>
          <a:lstStyle/>
          <a:p>
            <a:pPr algn="ctr">
              <a:spcAft>
                <a:spcPts val="0"/>
              </a:spcAft>
            </a:pPr>
            <a:r>
              <a:rPr sz="1600" b="1" i="0">
                <a:solidFill>
                  <a:srgbClr val="D96552"/>
                </a:solidFill>
                <a:latin typeface="Arial"/>
              </a:rPr>
              <a:t>0.144</a:t>
            </a:r>
          </a:p>
        </p:txBody>
      </p:sp>
      <p:sp>
        <p:nvSpPr>
          <p:cNvPr id="38" name="TextBox 37"/>
          <p:cNvSpPr txBox="1"/>
          <p:nvPr/>
        </p:nvSpPr>
        <p:spPr>
          <a:xfrm>
            <a:off x="8238744" y="4270248"/>
            <a:ext cx="1261872" cy="310896"/>
          </a:xfrm>
          <a:prstGeom prst="rect">
            <a:avLst/>
          </a:prstGeom>
          <a:noFill/>
        </p:spPr>
        <p:txBody>
          <a:bodyPr wrap="square" lIns="18288" rIns="18288" tIns="18288" bIns="18288" anchor="t">
            <a:spAutoFit/>
          </a:bodyPr>
          <a:lstStyle/>
          <a:p>
            <a:pPr algn="ctr">
              <a:spcAft>
                <a:spcPts val="0"/>
              </a:spcAft>
            </a:pPr>
            <a:r>
              <a:rPr sz="1600" b="1" i="0">
                <a:solidFill>
                  <a:srgbClr val="178681"/>
                </a:solidFill>
                <a:latin typeface="Arial"/>
              </a:rPr>
              <a:t>0.074</a:t>
            </a:r>
          </a:p>
        </p:txBody>
      </p:sp>
      <p:sp>
        <p:nvSpPr>
          <p:cNvPr id="39" name="TextBox 38"/>
          <p:cNvSpPr txBox="1"/>
          <p:nvPr/>
        </p:nvSpPr>
        <p:spPr>
          <a:xfrm>
            <a:off x="9820656" y="4270248"/>
            <a:ext cx="1481328" cy="310896"/>
          </a:xfrm>
          <a:prstGeom prst="rect">
            <a:avLst/>
          </a:prstGeom>
          <a:noFill/>
        </p:spPr>
        <p:txBody>
          <a:bodyPr wrap="square" lIns="18288" rIns="18288" tIns="18288" bIns="18288" anchor="t">
            <a:spAutoFit/>
          </a:bodyPr>
          <a:lstStyle/>
          <a:p>
            <a:pPr algn="l">
              <a:spcAft>
                <a:spcPts val="0"/>
              </a:spcAft>
            </a:pPr>
            <a:r>
              <a:rPr sz="1350" b="0" i="0">
                <a:solidFill>
                  <a:srgbClr val="59697A"/>
                </a:solidFill>
                <a:latin typeface="Arial"/>
              </a:rPr>
              <a:t>lower</a:t>
            </a:r>
          </a:p>
        </p:txBody>
      </p:sp>
      <p:sp>
        <p:nvSpPr>
          <p:cNvPr id="40" name="Rounded Rectangle 39"/>
          <p:cNvSpPr/>
          <p:nvPr/>
        </p:nvSpPr>
        <p:spPr>
          <a:xfrm>
            <a:off x="347472" y="5522976"/>
            <a:ext cx="11494008" cy="667512"/>
          </a:xfrm>
          <a:prstGeom prst="round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8368" y="5660136"/>
            <a:ext cx="2331720" cy="310896"/>
          </a:xfrm>
          <a:prstGeom prst="rect">
            <a:avLst/>
          </a:prstGeom>
          <a:noFill/>
        </p:spPr>
        <p:txBody>
          <a:bodyPr wrap="square" lIns="18288" rIns="18288" tIns="18288" bIns="18288" anchor="ctr">
            <a:spAutoFit/>
          </a:bodyPr>
          <a:lstStyle/>
          <a:p>
            <a:pPr algn="l">
              <a:spcAft>
                <a:spcPts val="0"/>
              </a:spcAft>
            </a:pPr>
            <a:r>
              <a:rPr sz="1800" b="1" i="0">
                <a:solidFill>
                  <a:srgbClr val="FFFFFF"/>
                </a:solidFill>
                <a:latin typeface="Arial"/>
              </a:rPr>
              <a:t>Use DDIM downstream</a:t>
            </a:r>
          </a:p>
        </p:txBody>
      </p:sp>
      <p:sp>
        <p:nvSpPr>
          <p:cNvPr id="42" name="TextBox 41"/>
          <p:cNvSpPr txBox="1"/>
          <p:nvPr/>
        </p:nvSpPr>
        <p:spPr>
          <a:xfrm>
            <a:off x="2852928" y="5669280"/>
            <a:ext cx="8394192" cy="292608"/>
          </a:xfrm>
          <a:prstGeom prst="rect">
            <a:avLst/>
          </a:prstGeom>
          <a:noFill/>
        </p:spPr>
        <p:txBody>
          <a:bodyPr wrap="square" lIns="18288" rIns="18288" tIns="18288" bIns="18288" anchor="ctr">
            <a:spAutoFit/>
          </a:bodyPr>
          <a:lstStyle/>
          <a:p>
            <a:pPr algn="l">
              <a:spcAft>
                <a:spcPts val="0"/>
              </a:spcAft>
            </a:pPr>
            <a:r>
              <a:rPr sz="1500" b="0" i="0">
                <a:solidFill>
                  <a:srgbClr val="DCE7F2"/>
                </a:solidFill>
                <a:latin typeface="Arial"/>
              </a:rPr>
              <a:t>Lower separability and distributional distance, with comparable correlation and higher F1.</a:t>
            </a:r>
          </a:p>
        </p:txBody>
      </p:sp>
      <p:sp>
        <p:nvSpPr>
          <p:cNvPr id="43" name="TextBox 4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WGAN values use validation data and DDIM values use the stated OSDR test; they are not paired on one common split.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Diffusion learns tissue structure from noise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same PCA axes follow 1,024 generated profiles through reverse diffusion.</a:t>
            </a:r>
          </a:p>
        </p:txBody>
      </p:sp>
      <p:pic>
        <p:nvPicPr>
          <p:cNvPr id="7" name="DDIM reverse trajectory at timesteps 1000, 200 and 0" descr="DDIM reverse trajectory at timesteps 1000, 200 and 0"/>
          <p:cNvPicPr>
            <a:picLocks noChangeAspect="1"/>
          </p:cNvPicPr>
          <p:nvPr/>
        </p:nvPicPr>
        <p:blipFill>
          <a:blip r:embed="rId2"/>
          <a:stretch>
            <a:fillRect/>
          </a:stretch>
        </p:blipFill>
        <p:spPr>
          <a:xfrm>
            <a:off x="310896" y="1735579"/>
            <a:ext cx="11558016" cy="4100072"/>
          </a:xfrm>
          <a:prstGeom prst="rect">
            <a:avLst/>
          </a:prstGeom>
        </p:spPr>
      </p:pic>
      <p:sp>
        <p:nvSpPr>
          <p:cNvPr id="8" name="TextBox 7"/>
          <p:cNvSpPr txBox="1"/>
          <p:nvPr/>
        </p:nvSpPr>
        <p:spPr>
          <a:xfrm>
            <a:off x="713232" y="5943600"/>
            <a:ext cx="228600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1000: noise</a:t>
            </a:r>
          </a:p>
        </p:txBody>
      </p:sp>
      <p:sp>
        <p:nvSpPr>
          <p:cNvPr id="9" name="TextBox 8"/>
          <p:cNvSpPr txBox="1"/>
          <p:nvPr/>
        </p:nvSpPr>
        <p:spPr>
          <a:xfrm>
            <a:off x="4782312" y="5943600"/>
            <a:ext cx="265176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200: partial structure</a:t>
            </a:r>
          </a:p>
        </p:txBody>
      </p:sp>
      <p:sp>
        <p:nvSpPr>
          <p:cNvPr id="10" name="TextBox 9"/>
          <p:cNvSpPr txBox="1"/>
          <p:nvPr/>
        </p:nvSpPr>
        <p:spPr>
          <a:xfrm>
            <a:off x="8366760" y="5943600"/>
            <a:ext cx="3108960" cy="256032"/>
          </a:xfrm>
          <a:prstGeom prst="rect">
            <a:avLst/>
          </a:prstGeom>
          <a:noFill/>
        </p:spPr>
        <p:txBody>
          <a:bodyPr wrap="square" lIns="18288" rIns="18288" tIns="18288" bIns="18288" anchor="t">
            <a:spAutoFit/>
          </a:bodyPr>
          <a:lstStyle/>
          <a:p>
            <a:pPr algn="ctr">
              <a:spcAft>
                <a:spcPts val="0"/>
              </a:spcAft>
            </a:pPr>
            <a:r>
              <a:rPr sz="1300" b="1" i="0">
                <a:solidFill>
                  <a:srgbClr val="178681"/>
                </a:solidFill>
                <a:latin typeface="Arial"/>
              </a:rPr>
              <a:t>t = 0: tissue-conditioned profiles</a:t>
            </a:r>
          </a:p>
        </p:txBody>
      </p:sp>
      <p:sp>
        <p:nvSpPr>
          <p:cNvPr id="11" name="TextBox 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Gray points are real ARCHS4 profiles; colors identify generated tissue conditions. PC1 and PC2 limits are shared across panels.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 OUTPUT</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Generated profiles track the real OSDR PCA manifold</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Circles are locked real OSDR profiles; crosses are matched DDIM profiles from generation seed 5020.</a:t>
            </a:r>
          </a:p>
        </p:txBody>
      </p:sp>
      <p:pic>
        <p:nvPicPr>
          <p:cNvPr id="7" name="PCA of locked real and matched DDIM OSDR profiles by tissue and condition" descr="PCA of locked real and matched DDIM OSDR profiles by tissue and condition"/>
          <p:cNvPicPr>
            <a:picLocks noChangeAspect="1"/>
          </p:cNvPicPr>
          <p:nvPr/>
        </p:nvPicPr>
        <p:blipFill>
          <a:blip r:embed="rId2"/>
          <a:stretch>
            <a:fillRect/>
          </a:stretch>
        </p:blipFill>
        <p:spPr>
          <a:xfrm>
            <a:off x="1009356" y="1700784"/>
            <a:ext cx="10161095" cy="4169663"/>
          </a:xfrm>
          <a:prstGeom prst="rect">
            <a:avLst/>
          </a:prstGeom>
        </p:spPr>
      </p:pic>
      <p:sp>
        <p:nvSpPr>
          <p:cNvPr id="8" name="Rounded Rectangle 7"/>
          <p:cNvSpPr/>
          <p:nvPr/>
        </p:nvSpPr>
        <p:spPr>
          <a:xfrm>
            <a:off x="438912" y="5907024"/>
            <a:ext cx="11311128" cy="438912"/>
          </a:xfrm>
          <a:prstGeom prst="round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5989320"/>
            <a:ext cx="10844784" cy="246888"/>
          </a:xfrm>
          <a:prstGeom prst="rect">
            <a:avLst/>
          </a:prstGeom>
          <a:noFill/>
        </p:spPr>
        <p:txBody>
          <a:bodyPr wrap="square" lIns="18288" rIns="18288" tIns="18288" bIns="18288" anchor="t">
            <a:spAutoFit/>
          </a:bodyPr>
          <a:lstStyle/>
          <a:p>
            <a:pPr algn="ctr">
              <a:spcAft>
                <a:spcPts val="0"/>
              </a:spcAft>
            </a:pPr>
            <a:r>
              <a:rPr sz="1330" b="1" i="0">
                <a:solidFill>
                  <a:srgbClr val="082B55"/>
                </a:solidFill>
                <a:latin typeface="Arial"/>
              </a:rPr>
              <a:t>Interpretation: tissue structure dominates; FLT and GC are subtler. PCA is descriptive, so quantitative metrics determine validation.</a:t>
            </a:r>
          </a:p>
        </p:txBody>
      </p:sp>
      <p:sp>
        <p:nvSpPr>
          <p:cNvPr id="10" name="TextBox 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PCA was fitted in the common locked OSDR expression space. This is PCA, not UMAP.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profiles entered the analysis in five different ways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Every arm was judged on held-out real profiles before synthetic attribution was allowed.</a:t>
            </a:r>
          </a:p>
        </p:txBody>
      </p:sp>
      <p:sp>
        <p:nvSpPr>
          <p:cNvPr id="7" name="Rounded Rectangle 6"/>
          <p:cNvSpPr/>
          <p:nvPr/>
        </p:nvSpPr>
        <p:spPr>
          <a:xfrm>
            <a:off x="347472" y="1874519"/>
            <a:ext cx="2212848" cy="1170432"/>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 y="2103120"/>
            <a:ext cx="1719072" cy="274320"/>
          </a:xfrm>
          <a:prstGeom prst="rect">
            <a:avLst/>
          </a:prstGeom>
          <a:noFill/>
        </p:spPr>
        <p:txBody>
          <a:bodyPr wrap="square" lIns="18288" rIns="18288" tIns="18288" bIns="18288" anchor="t">
            <a:spAutoFit/>
          </a:bodyPr>
          <a:lstStyle/>
          <a:p>
            <a:pPr algn="ctr">
              <a:spcAft>
                <a:spcPts val="0"/>
              </a:spcAft>
            </a:pPr>
            <a:r>
              <a:rPr sz="1700" b="1" i="0">
                <a:solidFill>
                  <a:srgbClr val="2D6496"/>
                </a:solidFill>
                <a:latin typeface="Arial"/>
              </a:rPr>
              <a:t>Real OSDR</a:t>
            </a:r>
          </a:p>
        </p:txBody>
      </p:sp>
      <p:sp>
        <p:nvSpPr>
          <p:cNvPr id="9" name="TextBox 8"/>
          <p:cNvSpPr txBox="1"/>
          <p:nvPr/>
        </p:nvSpPr>
        <p:spPr>
          <a:xfrm>
            <a:off x="585216" y="2505456"/>
            <a:ext cx="1719072" cy="228600"/>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observed FLT / GC</a:t>
            </a:r>
          </a:p>
        </p:txBody>
      </p:sp>
      <p:sp>
        <p:nvSpPr>
          <p:cNvPr id="10" name="Rounded Rectangle 9"/>
          <p:cNvSpPr/>
          <p:nvPr/>
        </p:nvSpPr>
        <p:spPr>
          <a:xfrm>
            <a:off x="347472" y="3319272"/>
            <a:ext cx="2212848" cy="1170432"/>
          </a:xfrm>
          <a:prstGeom prst="roundRect">
            <a:avLst/>
          </a:prstGeom>
          <a:solidFill>
            <a:srgbClr val="F8ECE9"/>
          </a:solidFill>
          <a:ln w="1016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1207" y="3547872"/>
            <a:ext cx="1874519" cy="274320"/>
          </a:xfrm>
          <a:prstGeom prst="rect">
            <a:avLst/>
          </a:prstGeom>
          <a:noFill/>
        </p:spPr>
        <p:txBody>
          <a:bodyPr wrap="square" lIns="18288" rIns="18288" tIns="18288" bIns="18288" anchor="t">
            <a:spAutoFit/>
          </a:bodyPr>
          <a:lstStyle/>
          <a:p>
            <a:pPr algn="ctr">
              <a:spcAft>
                <a:spcPts val="0"/>
              </a:spcAft>
            </a:pPr>
            <a:r>
              <a:rPr sz="1700" b="1" i="0">
                <a:solidFill>
                  <a:srgbClr val="D96552"/>
                </a:solidFill>
                <a:latin typeface="Arial"/>
              </a:rPr>
              <a:t>DDIM generated</a:t>
            </a:r>
          </a:p>
        </p:txBody>
      </p:sp>
      <p:sp>
        <p:nvSpPr>
          <p:cNvPr id="12" name="TextBox 11"/>
          <p:cNvSpPr txBox="1"/>
          <p:nvPr/>
        </p:nvSpPr>
        <p:spPr>
          <a:xfrm>
            <a:off x="585216" y="3941063"/>
            <a:ext cx="1719072" cy="228600"/>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matched conditions</a:t>
            </a:r>
          </a:p>
        </p:txBody>
      </p:sp>
      <p:sp>
        <p:nvSpPr>
          <p:cNvPr id="13" name="Right Arrow 12"/>
          <p:cNvSpPr/>
          <p:nvPr/>
        </p:nvSpPr>
        <p:spPr>
          <a:xfrm>
            <a:off x="2679192" y="2852928"/>
            <a:ext cx="475488" cy="34747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310128" y="1920240"/>
            <a:ext cx="1508760" cy="1170432"/>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01568" y="2084832"/>
            <a:ext cx="1325880" cy="320040"/>
          </a:xfrm>
          <a:prstGeom prst="rect">
            <a:avLst/>
          </a:prstGeom>
          <a:noFill/>
        </p:spPr>
        <p:txBody>
          <a:bodyPr wrap="square" lIns="18288" rIns="18288" tIns="18288" bIns="18288" anchor="t">
            <a:spAutoFit/>
          </a:bodyPr>
          <a:lstStyle/>
          <a:p>
            <a:pPr algn="ctr">
              <a:spcAft>
                <a:spcPts val="0"/>
              </a:spcAft>
            </a:pPr>
            <a:r>
              <a:rPr sz="1350" b="1" i="0">
                <a:solidFill>
                  <a:srgbClr val="2D6496"/>
                </a:solidFill>
                <a:latin typeface="Arial"/>
              </a:rPr>
              <a:t>Real only</a:t>
            </a:r>
          </a:p>
        </p:txBody>
      </p:sp>
      <p:sp>
        <p:nvSpPr>
          <p:cNvPr id="16" name="TextBox 15"/>
          <p:cNvSpPr txBox="1"/>
          <p:nvPr/>
        </p:nvSpPr>
        <p:spPr>
          <a:xfrm>
            <a:off x="3429000" y="2523744"/>
            <a:ext cx="1271016" cy="457200"/>
          </a:xfrm>
          <a:prstGeom prst="rect">
            <a:avLst/>
          </a:prstGeom>
          <a:noFill/>
        </p:spPr>
        <p:txBody>
          <a:bodyPr wrap="square" lIns="18288" rIns="18288" tIns="18288" bIns="18288" anchor="t">
            <a:spAutoFit/>
          </a:bodyPr>
          <a:lstStyle/>
          <a:p>
            <a:pPr algn="ctr">
              <a:spcAft>
                <a:spcPts val="0"/>
              </a:spcAft>
            </a:pPr>
            <a:r>
              <a:rPr sz="1150" b="0" i="0">
                <a:solidFill>
                  <a:srgbClr val="263746"/>
                </a:solidFill>
                <a:latin typeface="Arial"/>
              </a:rPr>
              <a:t>rank: real
fit: real</a:t>
            </a:r>
          </a:p>
        </p:txBody>
      </p:sp>
      <p:sp>
        <p:nvSpPr>
          <p:cNvPr id="17" name="Rounded Rectangle 16"/>
          <p:cNvSpPr/>
          <p:nvPr/>
        </p:nvSpPr>
        <p:spPr>
          <a:xfrm>
            <a:off x="5001768" y="1920240"/>
            <a:ext cx="1508760" cy="1170432"/>
          </a:xfrm>
          <a:prstGeom prst="roundRect">
            <a:avLst/>
          </a:prstGeom>
          <a:solidFill>
            <a:srgbClr val="F8ECE9"/>
          </a:solidFill>
          <a:ln w="1016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93207" y="2084832"/>
            <a:ext cx="1325880" cy="320040"/>
          </a:xfrm>
          <a:prstGeom prst="rect">
            <a:avLst/>
          </a:prstGeom>
          <a:noFill/>
        </p:spPr>
        <p:txBody>
          <a:bodyPr wrap="square" lIns="18288" rIns="18288" tIns="18288" bIns="18288" anchor="t">
            <a:spAutoFit/>
          </a:bodyPr>
          <a:lstStyle/>
          <a:p>
            <a:pPr algn="ctr">
              <a:spcAft>
                <a:spcPts val="0"/>
              </a:spcAft>
            </a:pPr>
            <a:r>
              <a:rPr sz="1350" b="1" i="0">
                <a:solidFill>
                  <a:srgbClr val="D96552"/>
                </a:solidFill>
                <a:latin typeface="Arial"/>
              </a:rPr>
              <a:t>Generated only</a:t>
            </a:r>
          </a:p>
        </p:txBody>
      </p:sp>
      <p:sp>
        <p:nvSpPr>
          <p:cNvPr id="19" name="TextBox 18"/>
          <p:cNvSpPr txBox="1"/>
          <p:nvPr/>
        </p:nvSpPr>
        <p:spPr>
          <a:xfrm>
            <a:off x="5120640" y="2523744"/>
            <a:ext cx="1271016" cy="457200"/>
          </a:xfrm>
          <a:prstGeom prst="rect">
            <a:avLst/>
          </a:prstGeom>
          <a:noFill/>
        </p:spPr>
        <p:txBody>
          <a:bodyPr wrap="square" lIns="18288" rIns="18288" tIns="18288" bIns="18288" anchor="t">
            <a:spAutoFit/>
          </a:bodyPr>
          <a:lstStyle/>
          <a:p>
            <a:pPr algn="ctr">
              <a:spcAft>
                <a:spcPts val="0"/>
              </a:spcAft>
            </a:pPr>
            <a:r>
              <a:rPr sz="1150" b="0" i="0">
                <a:solidFill>
                  <a:srgbClr val="263746"/>
                </a:solidFill>
                <a:latin typeface="Arial"/>
              </a:rPr>
              <a:t>rank: generated
fit: generated</a:t>
            </a:r>
          </a:p>
        </p:txBody>
      </p:sp>
      <p:sp>
        <p:nvSpPr>
          <p:cNvPr id="20" name="Rounded Rectangle 19"/>
          <p:cNvSpPr/>
          <p:nvPr/>
        </p:nvSpPr>
        <p:spPr>
          <a:xfrm>
            <a:off x="6693408" y="1920240"/>
            <a:ext cx="1508760" cy="1170432"/>
          </a:xfrm>
          <a:prstGeom prst="round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84848" y="2084832"/>
            <a:ext cx="1325880" cy="320040"/>
          </a:xfrm>
          <a:prstGeom prst="rect">
            <a:avLst/>
          </a:prstGeom>
          <a:noFill/>
        </p:spPr>
        <p:txBody>
          <a:bodyPr wrap="square" lIns="18288" rIns="18288" tIns="18288" bIns="18288" anchor="t">
            <a:spAutoFit/>
          </a:bodyPr>
          <a:lstStyle/>
          <a:p>
            <a:pPr algn="ctr">
              <a:spcAft>
                <a:spcPts val="0"/>
              </a:spcAft>
            </a:pPr>
            <a:r>
              <a:rPr sz="1350" b="1" i="0">
                <a:solidFill>
                  <a:srgbClr val="178681"/>
                </a:solidFill>
                <a:latin typeface="Arial"/>
              </a:rPr>
              <a:t>Real + generated</a:t>
            </a:r>
          </a:p>
        </p:txBody>
      </p:sp>
      <p:sp>
        <p:nvSpPr>
          <p:cNvPr id="22" name="TextBox 21"/>
          <p:cNvSpPr txBox="1"/>
          <p:nvPr/>
        </p:nvSpPr>
        <p:spPr>
          <a:xfrm>
            <a:off x="6812280" y="2523744"/>
            <a:ext cx="1271016" cy="457200"/>
          </a:xfrm>
          <a:prstGeom prst="rect">
            <a:avLst/>
          </a:prstGeom>
          <a:noFill/>
        </p:spPr>
        <p:txBody>
          <a:bodyPr wrap="square" lIns="18288" rIns="18288" tIns="18288" bIns="18288" anchor="t">
            <a:spAutoFit/>
          </a:bodyPr>
          <a:lstStyle/>
          <a:p>
            <a:pPr algn="ctr">
              <a:spcAft>
                <a:spcPts val="0"/>
              </a:spcAft>
            </a:pPr>
            <a:r>
              <a:rPr sz="1150" b="0" i="0">
                <a:solidFill>
                  <a:srgbClr val="263746"/>
                </a:solidFill>
                <a:latin typeface="Arial"/>
              </a:rPr>
              <a:t>rank: consensus
fit: equal weight</a:t>
            </a:r>
          </a:p>
        </p:txBody>
      </p:sp>
      <p:sp>
        <p:nvSpPr>
          <p:cNvPr id="23" name="Rounded Rectangle 22"/>
          <p:cNvSpPr/>
          <p:nvPr/>
        </p:nvSpPr>
        <p:spPr>
          <a:xfrm>
            <a:off x="4160520" y="3410712"/>
            <a:ext cx="1508760" cy="1170432"/>
          </a:xfrm>
          <a:prstGeom prst="roundRect">
            <a:avLst/>
          </a:prstGeom>
          <a:solidFill>
            <a:srgbClr val="F0ECF6"/>
          </a:solidFill>
          <a:ln w="10160">
            <a:solidFill>
              <a:srgbClr val="8063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251959" y="3575304"/>
            <a:ext cx="1325880" cy="320040"/>
          </a:xfrm>
          <a:prstGeom prst="rect">
            <a:avLst/>
          </a:prstGeom>
          <a:noFill/>
        </p:spPr>
        <p:txBody>
          <a:bodyPr wrap="square" lIns="18288" rIns="18288" tIns="18288" bIns="18288" anchor="t">
            <a:spAutoFit/>
          </a:bodyPr>
          <a:lstStyle/>
          <a:p>
            <a:pPr algn="ctr">
              <a:spcAft>
                <a:spcPts val="0"/>
              </a:spcAft>
            </a:pPr>
            <a:r>
              <a:rPr sz="1350" b="1" i="0">
                <a:solidFill>
                  <a:srgbClr val="8063A6"/>
                </a:solidFill>
                <a:latin typeface="Arial"/>
              </a:rPr>
              <a:t>Guided, real fit</a:t>
            </a:r>
          </a:p>
        </p:txBody>
      </p:sp>
      <p:sp>
        <p:nvSpPr>
          <p:cNvPr id="25" name="TextBox 24"/>
          <p:cNvSpPr txBox="1"/>
          <p:nvPr/>
        </p:nvSpPr>
        <p:spPr>
          <a:xfrm>
            <a:off x="4279392" y="4014215"/>
            <a:ext cx="1271016" cy="457200"/>
          </a:xfrm>
          <a:prstGeom prst="rect">
            <a:avLst/>
          </a:prstGeom>
          <a:noFill/>
        </p:spPr>
        <p:txBody>
          <a:bodyPr wrap="square" lIns="18288" rIns="18288" tIns="18288" bIns="18288" anchor="t">
            <a:spAutoFit/>
          </a:bodyPr>
          <a:lstStyle/>
          <a:p>
            <a:pPr algn="ctr">
              <a:spcAft>
                <a:spcPts val="0"/>
              </a:spcAft>
            </a:pPr>
            <a:r>
              <a:rPr sz="1150" b="0" i="0">
                <a:solidFill>
                  <a:srgbClr val="263746"/>
                </a:solidFill>
                <a:latin typeface="Arial"/>
              </a:rPr>
              <a:t>rank: consensus
fit: real</a:t>
            </a:r>
          </a:p>
        </p:txBody>
      </p:sp>
      <p:sp>
        <p:nvSpPr>
          <p:cNvPr id="26" name="Rounded Rectangle 25"/>
          <p:cNvSpPr/>
          <p:nvPr/>
        </p:nvSpPr>
        <p:spPr>
          <a:xfrm>
            <a:off x="5852160" y="3410712"/>
            <a:ext cx="1508760" cy="1170432"/>
          </a:xfrm>
          <a:prstGeom prst="roundRect">
            <a:avLst/>
          </a:prstGeom>
          <a:solidFill>
            <a:srgbClr val="F8F1E2"/>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43600" y="3575304"/>
            <a:ext cx="1325880" cy="320040"/>
          </a:xfrm>
          <a:prstGeom prst="rect">
            <a:avLst/>
          </a:prstGeom>
          <a:noFill/>
        </p:spPr>
        <p:txBody>
          <a:bodyPr wrap="square" lIns="18288" rIns="18288" tIns="18288" bIns="18288" anchor="t">
            <a:spAutoFit/>
          </a:bodyPr>
          <a:lstStyle/>
          <a:p>
            <a:pPr algn="ctr">
              <a:spcAft>
                <a:spcPts val="0"/>
              </a:spcAft>
            </a:pPr>
            <a:r>
              <a:rPr sz="1350" b="1" i="0">
                <a:solidFill>
                  <a:srgbClr val="D37B00"/>
                </a:solidFill>
                <a:latin typeface="Arial"/>
              </a:rPr>
              <a:t>Guided, 5% synth.</a:t>
            </a:r>
          </a:p>
        </p:txBody>
      </p:sp>
      <p:sp>
        <p:nvSpPr>
          <p:cNvPr id="28" name="TextBox 27"/>
          <p:cNvSpPr txBox="1"/>
          <p:nvPr/>
        </p:nvSpPr>
        <p:spPr>
          <a:xfrm>
            <a:off x="5971032" y="4014215"/>
            <a:ext cx="1271016" cy="457200"/>
          </a:xfrm>
          <a:prstGeom prst="rect">
            <a:avLst/>
          </a:prstGeom>
          <a:noFill/>
        </p:spPr>
        <p:txBody>
          <a:bodyPr wrap="square" lIns="18288" rIns="18288" tIns="18288" bIns="18288" anchor="t">
            <a:spAutoFit/>
          </a:bodyPr>
          <a:lstStyle/>
          <a:p>
            <a:pPr algn="ctr">
              <a:spcAft>
                <a:spcPts val="0"/>
              </a:spcAft>
            </a:pPr>
            <a:r>
              <a:rPr sz="1150" b="0" i="0">
                <a:solidFill>
                  <a:srgbClr val="263746"/>
                </a:solidFill>
                <a:latin typeface="Arial"/>
              </a:rPr>
              <a:t>rank: consensus
fit: real + 5%</a:t>
            </a:r>
          </a:p>
        </p:txBody>
      </p:sp>
      <p:sp>
        <p:nvSpPr>
          <p:cNvPr id="29" name="Right Arrow 28"/>
          <p:cNvSpPr/>
          <p:nvPr/>
        </p:nvSpPr>
        <p:spPr>
          <a:xfrm>
            <a:off x="8522208" y="2852928"/>
            <a:ext cx="475488" cy="34747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144000" y="2176272"/>
            <a:ext cx="2633472" cy="2057400"/>
          </a:xfrm>
          <a:prstGeom prst="roundRect">
            <a:avLst/>
          </a:prstGeom>
          <a:solidFill>
            <a:srgbClr val="ECF4ED"/>
          </a:solidFill>
          <a:ln w="10160">
            <a:solidFill>
              <a:srgbClr val="478A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354312" y="2459736"/>
            <a:ext cx="2212848" cy="457200"/>
          </a:xfrm>
          <a:prstGeom prst="rect">
            <a:avLst/>
          </a:prstGeom>
          <a:noFill/>
        </p:spPr>
        <p:txBody>
          <a:bodyPr wrap="square" lIns="18288" rIns="18288" tIns="18288" bIns="18288" anchor="t">
            <a:spAutoFit/>
          </a:bodyPr>
          <a:lstStyle/>
          <a:p>
            <a:pPr algn="ctr">
              <a:spcAft>
                <a:spcPts val="0"/>
              </a:spcAft>
            </a:pPr>
            <a:r>
              <a:rPr sz="1700" b="1" i="0">
                <a:solidFill>
                  <a:srgbClr val="478A64"/>
                </a:solidFill>
                <a:latin typeface="Arial"/>
              </a:rPr>
              <a:t>Held-out real profiles</a:t>
            </a:r>
          </a:p>
        </p:txBody>
      </p:sp>
      <p:sp>
        <p:nvSpPr>
          <p:cNvPr id="32" name="TextBox 31"/>
          <p:cNvSpPr txBox="1"/>
          <p:nvPr/>
        </p:nvSpPr>
        <p:spPr>
          <a:xfrm>
            <a:off x="9400032" y="3063240"/>
            <a:ext cx="2103120" cy="329184"/>
          </a:xfrm>
          <a:prstGeom prst="rect">
            <a:avLst/>
          </a:prstGeom>
          <a:noFill/>
        </p:spPr>
        <p:txBody>
          <a:bodyPr wrap="square" lIns="18288" rIns="18288" tIns="18288" bIns="18288" anchor="t">
            <a:spAutoFit/>
          </a:bodyPr>
          <a:lstStyle/>
          <a:p>
            <a:pPr algn="ctr">
              <a:spcAft>
                <a:spcPts val="0"/>
              </a:spcAft>
            </a:pPr>
            <a:r>
              <a:rPr sz="1600" b="1" i="0">
                <a:solidFill>
                  <a:srgbClr val="082B55"/>
                </a:solidFill>
                <a:latin typeface="Arial"/>
              </a:rPr>
              <a:t>BA | AUROC | AP</a:t>
            </a:r>
          </a:p>
        </p:txBody>
      </p:sp>
      <p:sp>
        <p:nvSpPr>
          <p:cNvPr id="33" name="TextBox 32"/>
          <p:cNvSpPr txBox="1"/>
          <p:nvPr/>
        </p:nvSpPr>
        <p:spPr>
          <a:xfrm>
            <a:off x="9400032" y="3502152"/>
            <a:ext cx="2103120" cy="457200"/>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select one eligible arm
for each tissue</a:t>
            </a:r>
          </a:p>
        </p:txBody>
      </p:sp>
      <p:sp>
        <p:nvSpPr>
          <p:cNvPr id="34" name="Rounded Rectangle 33"/>
          <p:cNvSpPr/>
          <p:nvPr/>
        </p:nvSpPr>
        <p:spPr>
          <a:xfrm>
            <a:off x="347472" y="4919472"/>
            <a:ext cx="11430000" cy="1051560"/>
          </a:xfrm>
          <a:prstGeom prst="round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5166360"/>
            <a:ext cx="1600200" cy="310896"/>
          </a:xfrm>
          <a:prstGeom prst="rect">
            <a:avLst/>
          </a:prstGeom>
          <a:noFill/>
        </p:spPr>
        <p:txBody>
          <a:bodyPr wrap="square" lIns="18288" rIns="18288" tIns="18288" bIns="18288" anchor="t">
            <a:spAutoFit/>
          </a:bodyPr>
          <a:lstStyle/>
          <a:p>
            <a:pPr algn="l">
              <a:spcAft>
                <a:spcPts val="0"/>
              </a:spcAft>
            </a:pPr>
            <a:r>
              <a:rPr sz="1700" b="1" i="0">
                <a:solidFill>
                  <a:srgbClr val="FFFFFF"/>
                </a:solidFill>
                <a:latin typeface="Arial"/>
              </a:rPr>
              <a:t>Biology check</a:t>
            </a:r>
          </a:p>
        </p:txBody>
      </p:sp>
      <p:sp>
        <p:nvSpPr>
          <p:cNvPr id="36" name="TextBox 35"/>
          <p:cNvSpPr txBox="1"/>
          <p:nvPr/>
        </p:nvSpPr>
        <p:spPr>
          <a:xfrm>
            <a:off x="2304288" y="5175504"/>
            <a:ext cx="6766560" cy="292608"/>
          </a:xfrm>
          <a:prstGeom prst="rect">
            <a:avLst/>
          </a:prstGeom>
          <a:noFill/>
        </p:spPr>
        <p:txBody>
          <a:bodyPr wrap="square" lIns="18288" rIns="18288" tIns="18288" bIns="18288" anchor="t">
            <a:spAutoFit/>
          </a:bodyPr>
          <a:lstStyle/>
          <a:p>
            <a:pPr algn="l">
              <a:spcAft>
                <a:spcPts val="0"/>
              </a:spcAft>
            </a:pPr>
            <a:r>
              <a:rPr sz="1550" b="0" i="0">
                <a:solidFill>
                  <a:srgbClr val="DCE7F2"/>
                </a:solidFill>
                <a:latin typeface="Arial"/>
              </a:rPr>
              <a:t>FLT vs GC effects, random-effects meta-analysis and BH FDR use real OSDR profiles only.</a:t>
            </a:r>
          </a:p>
        </p:txBody>
      </p:sp>
      <p:sp>
        <p:nvSpPr>
          <p:cNvPr id="37" name="TextBox 36"/>
          <p:cNvSpPr txBox="1"/>
          <p:nvPr/>
        </p:nvSpPr>
        <p:spPr>
          <a:xfrm>
            <a:off x="9189720" y="5065776"/>
            <a:ext cx="2249424" cy="512064"/>
          </a:xfrm>
          <a:prstGeom prst="rect">
            <a:avLst/>
          </a:prstGeom>
          <a:noFill/>
        </p:spPr>
        <p:txBody>
          <a:bodyPr wrap="square" lIns="18288" rIns="18288" tIns="18288" bIns="18288" anchor="ctr">
            <a:spAutoFit/>
          </a:bodyPr>
          <a:lstStyle/>
          <a:p>
            <a:pPr algn="ctr">
              <a:spcAft>
                <a:spcPts val="0"/>
              </a:spcAft>
            </a:pPr>
            <a:r>
              <a:rPr sz="1400" b="1" i="0">
                <a:solidFill>
                  <a:srgbClr val="FFD69A"/>
                </a:solidFill>
                <a:latin typeface="Arial"/>
              </a:rPr>
              <a:t>Synthetic profiles never increase animal 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UTILITY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Pooling tissues hid useful signal</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 single FLT/GC classifier did not improve, but tissue-specific synthetic use often did.</a:t>
            </a:r>
          </a:p>
        </p:txBody>
      </p:sp>
      <p:sp>
        <p:nvSpPr>
          <p:cNvPr id="7" name="Rounded Rectangle 6"/>
          <p:cNvSpPr/>
          <p:nvPr/>
        </p:nvSpPr>
        <p:spPr>
          <a:xfrm>
            <a:off x="347472" y="1847088"/>
            <a:ext cx="3200400" cy="4224528"/>
          </a:xfrm>
          <a:prstGeom prst="roundRect">
            <a:avLst/>
          </a:prstGeom>
          <a:solidFill>
            <a:srgbClr val="F8F1E2"/>
          </a:solidFill>
          <a:ln w="10160">
            <a:solidFill>
              <a:srgbClr val="E8D6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2103120"/>
            <a:ext cx="2651760" cy="320040"/>
          </a:xfrm>
          <a:prstGeom prst="rect">
            <a:avLst/>
          </a:prstGeom>
          <a:noFill/>
        </p:spPr>
        <p:txBody>
          <a:bodyPr wrap="square" lIns="18288" rIns="18288" tIns="18288" bIns="18288" anchor="t">
            <a:spAutoFit/>
          </a:bodyPr>
          <a:lstStyle/>
          <a:p>
            <a:pPr algn="l">
              <a:spcAft>
                <a:spcPts val="0"/>
              </a:spcAft>
            </a:pPr>
            <a:r>
              <a:rPr sz="1700" b="1" i="0">
                <a:solidFill>
                  <a:srgbClr val="9A6B20"/>
                </a:solidFill>
                <a:latin typeface="Arial"/>
              </a:rPr>
              <a:t>Pooled across tissues</a:t>
            </a:r>
          </a:p>
        </p:txBody>
      </p:sp>
      <p:sp>
        <p:nvSpPr>
          <p:cNvPr id="9" name="Rectangle 8"/>
          <p:cNvSpPr/>
          <p:nvPr/>
        </p:nvSpPr>
        <p:spPr>
          <a:xfrm>
            <a:off x="640080" y="5486400"/>
            <a:ext cx="2633472"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93192" y="53949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a:t>
            </a:r>
          </a:p>
        </p:txBody>
      </p:sp>
      <p:sp>
        <p:nvSpPr>
          <p:cNvPr id="11" name="Rectangle 10"/>
          <p:cNvSpPr/>
          <p:nvPr/>
        </p:nvSpPr>
        <p:spPr>
          <a:xfrm>
            <a:off x="640080" y="4114800"/>
            <a:ext cx="2633472"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93192" y="40233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0.5</a:t>
            </a:r>
          </a:p>
        </p:txBody>
      </p:sp>
      <p:sp>
        <p:nvSpPr>
          <p:cNvPr id="13" name="Rectangle 12"/>
          <p:cNvSpPr/>
          <p:nvPr/>
        </p:nvSpPr>
        <p:spPr>
          <a:xfrm>
            <a:off x="640080" y="2743200"/>
            <a:ext cx="2633472"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93192" y="26517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1.0</a:t>
            </a:r>
          </a:p>
        </p:txBody>
      </p:sp>
      <p:sp>
        <p:nvSpPr>
          <p:cNvPr id="15" name="Rectangle 14"/>
          <p:cNvSpPr/>
          <p:nvPr/>
        </p:nvSpPr>
        <p:spPr>
          <a:xfrm>
            <a:off x="713232" y="3418027"/>
            <a:ext cx="566928" cy="20683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3097987"/>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0.754</a:t>
            </a:r>
          </a:p>
        </p:txBody>
      </p:sp>
      <p:sp>
        <p:nvSpPr>
          <p:cNvPr id="17" name="TextBox 16"/>
          <p:cNvSpPr txBox="1"/>
          <p:nvPr/>
        </p:nvSpPr>
        <p:spPr>
          <a:xfrm>
            <a:off x="530352" y="5559552"/>
            <a:ext cx="960120" cy="502920"/>
          </a:xfrm>
          <a:prstGeom prst="rect">
            <a:avLst/>
          </a:prstGeom>
          <a:noFill/>
        </p:spPr>
        <p:txBody>
          <a:bodyPr wrap="square" lIns="18288" rIns="18288" tIns="18288" bIns="18288" anchor="t">
            <a:spAutoFit/>
          </a:bodyPr>
          <a:lstStyle/>
          <a:p>
            <a:pPr algn="ctr">
              <a:spcAft>
                <a:spcPts val="0"/>
              </a:spcAft>
            </a:pPr>
            <a:r>
              <a:rPr sz="1050" b="0" i="0">
                <a:solidFill>
                  <a:srgbClr val="263746"/>
                </a:solidFill>
                <a:latin typeface="Arial"/>
              </a:rPr>
              <a:t>Real only</a:t>
            </a:r>
          </a:p>
        </p:txBody>
      </p:sp>
      <p:sp>
        <p:nvSpPr>
          <p:cNvPr id="18" name="Rectangle 17"/>
          <p:cNvSpPr/>
          <p:nvPr/>
        </p:nvSpPr>
        <p:spPr>
          <a:xfrm>
            <a:off x="1591056" y="3579876"/>
            <a:ext cx="566928" cy="1906524"/>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517904" y="3259836"/>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0.695</a:t>
            </a:r>
          </a:p>
        </p:txBody>
      </p:sp>
      <p:sp>
        <p:nvSpPr>
          <p:cNvPr id="20" name="TextBox 19"/>
          <p:cNvSpPr txBox="1"/>
          <p:nvPr/>
        </p:nvSpPr>
        <p:spPr>
          <a:xfrm>
            <a:off x="1408176" y="5559552"/>
            <a:ext cx="960120" cy="502920"/>
          </a:xfrm>
          <a:prstGeom prst="rect">
            <a:avLst/>
          </a:prstGeom>
          <a:noFill/>
        </p:spPr>
        <p:txBody>
          <a:bodyPr wrap="square" lIns="18288" rIns="18288" tIns="18288" bIns="18288" anchor="t">
            <a:spAutoFit/>
          </a:bodyPr>
          <a:lstStyle/>
          <a:p>
            <a:pPr algn="ctr">
              <a:spcAft>
                <a:spcPts val="0"/>
              </a:spcAft>
            </a:pPr>
            <a:r>
              <a:rPr sz="1050" b="0" i="0">
                <a:solidFill>
                  <a:srgbClr val="263746"/>
                </a:solidFill>
                <a:latin typeface="Arial"/>
              </a:rPr>
              <a:t>Generated only</a:t>
            </a:r>
          </a:p>
        </p:txBody>
      </p:sp>
      <p:sp>
        <p:nvSpPr>
          <p:cNvPr id="21" name="Rectangle 20"/>
          <p:cNvSpPr/>
          <p:nvPr/>
        </p:nvSpPr>
        <p:spPr>
          <a:xfrm>
            <a:off x="2468880" y="3464661"/>
            <a:ext cx="566928" cy="202173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395728" y="3144621"/>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0.737</a:t>
            </a:r>
          </a:p>
        </p:txBody>
      </p:sp>
      <p:sp>
        <p:nvSpPr>
          <p:cNvPr id="23" name="TextBox 22"/>
          <p:cNvSpPr txBox="1"/>
          <p:nvPr/>
        </p:nvSpPr>
        <p:spPr>
          <a:xfrm>
            <a:off x="2286000" y="5559552"/>
            <a:ext cx="960120" cy="502920"/>
          </a:xfrm>
          <a:prstGeom prst="rect">
            <a:avLst/>
          </a:prstGeom>
          <a:noFill/>
        </p:spPr>
        <p:txBody>
          <a:bodyPr wrap="square" lIns="18288" rIns="18288" tIns="18288" bIns="18288" anchor="t">
            <a:spAutoFit/>
          </a:bodyPr>
          <a:lstStyle/>
          <a:p>
            <a:pPr algn="ctr">
              <a:spcAft>
                <a:spcPts val="0"/>
              </a:spcAft>
            </a:pPr>
            <a:r>
              <a:rPr sz="1050" b="0" i="0">
                <a:solidFill>
                  <a:srgbClr val="263746"/>
                </a:solidFill>
                <a:latin typeface="Arial"/>
              </a:rPr>
              <a:t>Real + synth.</a:t>
            </a:r>
          </a:p>
        </p:txBody>
      </p:sp>
      <p:sp>
        <p:nvSpPr>
          <p:cNvPr id="24" name="Rectangle 23"/>
          <p:cNvSpPr/>
          <p:nvPr/>
        </p:nvSpPr>
        <p:spPr>
          <a:xfrm>
            <a:off x="640080" y="5486400"/>
            <a:ext cx="2633472" cy="18288"/>
          </a:xfrm>
          <a:prstGeom prst="rect">
            <a:avLst/>
          </a:prstGeom>
          <a:solidFill>
            <a:srgbClr val="86949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2542032"/>
            <a:ext cx="2542032"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Balanced accuracy (0-1)</a:t>
            </a:r>
          </a:p>
        </p:txBody>
      </p:sp>
      <p:sp>
        <p:nvSpPr>
          <p:cNvPr id="26" name="Rounded Rectangle 25"/>
          <p:cNvSpPr/>
          <p:nvPr/>
        </p:nvSpPr>
        <p:spPr>
          <a:xfrm>
            <a:off x="3767328" y="1847088"/>
            <a:ext cx="8083296" cy="4224528"/>
          </a:xfrm>
          <a:prstGeom prst="roundRect">
            <a:avLst/>
          </a:prstGeom>
          <a:solidFill>
            <a:srgbClr val="FFFFFF"/>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041648" y="2093976"/>
            <a:ext cx="3840480" cy="310896"/>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Selected use within each tissue</a:t>
            </a:r>
          </a:p>
        </p:txBody>
      </p:sp>
      <p:pic>
        <p:nvPicPr>
          <p:cNvPr id="28" name="Balanced accuracy before and after tissue-specific synthetic use" descr="Balanced accuracy before and after tissue-specific synthetic use"/>
          <p:cNvPicPr>
            <a:picLocks noChangeAspect="1"/>
          </p:cNvPicPr>
          <p:nvPr/>
        </p:nvPicPr>
        <p:blipFill>
          <a:blip r:embed="rId2"/>
          <a:stretch>
            <a:fillRect/>
          </a:stretch>
        </p:blipFill>
        <p:spPr>
          <a:xfrm>
            <a:off x="4743130" y="2423160"/>
            <a:ext cx="6021963" cy="3383280"/>
          </a:xfrm>
          <a:prstGeom prst="rect">
            <a:avLst/>
          </a:prstGeom>
        </p:spPr>
      </p:pic>
      <p:sp>
        <p:nvSpPr>
          <p:cNvPr id="29" name="TextBox 28"/>
          <p:cNvSpPr txBox="1"/>
          <p:nvPr/>
        </p:nvSpPr>
        <p:spPr>
          <a:xfrm>
            <a:off x="4059936" y="5715000"/>
            <a:ext cx="4114800" cy="246888"/>
          </a:xfrm>
          <a:prstGeom prst="rect">
            <a:avLst/>
          </a:prstGeom>
          <a:noFill/>
        </p:spPr>
        <p:txBody>
          <a:bodyPr wrap="square" lIns="18288" rIns="18288" tIns="18288" bIns="18288" anchor="t">
            <a:spAutoFit/>
          </a:bodyPr>
          <a:lstStyle/>
          <a:p>
            <a:pPr algn="l">
              <a:spcAft>
                <a:spcPts val="0"/>
              </a:spcAft>
            </a:pPr>
            <a:r>
              <a:rPr sz="1250" b="0" i="1">
                <a:solidFill>
                  <a:srgbClr val="59697A"/>
                </a:solidFill>
                <a:latin typeface="Arial"/>
              </a:rPr>
              <a:t>The useful arm differed by tissue.</a:t>
            </a:r>
          </a:p>
        </p:txBody>
      </p:sp>
      <p:sp>
        <p:nvSpPr>
          <p:cNvPr id="30" name="TextBox 2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Development results with held-out profiles from represented accessions; they do not measure transfer to a new mission.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FEATURE 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guidance changed ranking, not statistical evidence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describe repeated feature selection; both require a supporting effect in real OSDR data.</a:t>
            </a:r>
          </a:p>
        </p:txBody>
      </p:sp>
      <p:sp>
        <p:nvSpPr>
          <p:cNvPr id="7" name="TextBox 6"/>
          <p:cNvSpPr txBox="1"/>
          <p:nvPr/>
        </p:nvSpPr>
        <p:spPr>
          <a:xfrm>
            <a:off x="566928" y="1847088"/>
            <a:ext cx="4443984" cy="310896"/>
          </a:xfrm>
          <a:prstGeom prst="rect">
            <a:avLst/>
          </a:prstGeom>
          <a:noFill/>
        </p:spPr>
        <p:txBody>
          <a:bodyPr wrap="square" lIns="18288" rIns="18288" tIns="18288" bIns="18288" anchor="t">
            <a:spAutoFit/>
          </a:bodyPr>
          <a:lstStyle/>
          <a:p>
            <a:pPr algn="ctr">
              <a:spcAft>
                <a:spcPts val="0"/>
              </a:spcAft>
            </a:pPr>
            <a:r>
              <a:rPr sz="1600" b="1" i="0">
                <a:solidFill>
                  <a:srgbClr val="59697A"/>
                </a:solidFill>
                <a:latin typeface="Arial"/>
              </a:rPr>
              <a:t>Repeated stable selection</a:t>
            </a:r>
          </a:p>
        </p:txBody>
      </p:sp>
      <p:sp>
        <p:nvSpPr>
          <p:cNvPr id="8" name="Oval 7"/>
          <p:cNvSpPr/>
          <p:nvPr/>
        </p:nvSpPr>
        <p:spPr>
          <a:xfrm>
            <a:off x="566928" y="2304288"/>
            <a:ext cx="2743200" cy="2148840"/>
          </a:xfrm>
          <a:prstGeom prst="ellipse">
            <a:avLst/>
          </a:prstGeom>
          <a:noFill/>
          <a:ln w="3048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267712" y="2304288"/>
            <a:ext cx="2743200" cy="2148840"/>
          </a:xfrm>
          <a:prstGeom prst="ellipse">
            <a:avLst/>
          </a:prstGeom>
          <a:noFill/>
          <a:ln w="3048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 y="2816352"/>
            <a:ext cx="1609344" cy="265176"/>
          </a:xfrm>
          <a:prstGeom prst="rect">
            <a:avLst/>
          </a:prstGeom>
          <a:noFill/>
        </p:spPr>
        <p:txBody>
          <a:bodyPr wrap="square" lIns="0" rIns="0" tIns="0" bIns="0" anchor="t">
            <a:spAutoFit/>
          </a:bodyPr>
          <a:lstStyle/>
          <a:p>
            <a:pPr algn="ctr">
              <a:spcAft>
                <a:spcPts val="0"/>
              </a:spcAft>
            </a:pPr>
            <a:r>
              <a:rPr sz="1600" b="1" i="0">
                <a:solidFill>
                  <a:srgbClr val="2D6496"/>
                </a:solidFill>
                <a:latin typeface="Arial"/>
              </a:rPr>
              <a:t>Real-only</a:t>
            </a:r>
          </a:p>
        </p:txBody>
      </p:sp>
      <p:sp>
        <p:nvSpPr>
          <p:cNvPr id="11" name="TextBox 10"/>
          <p:cNvSpPr txBox="1"/>
          <p:nvPr/>
        </p:nvSpPr>
        <p:spPr>
          <a:xfrm>
            <a:off x="649224" y="3108960"/>
            <a:ext cx="1609344" cy="265176"/>
          </a:xfrm>
          <a:prstGeom prst="rect">
            <a:avLst/>
          </a:prstGeom>
          <a:noFill/>
        </p:spPr>
        <p:txBody>
          <a:bodyPr wrap="square" lIns="0" rIns="0" tIns="0" bIns="0" anchor="t">
            <a:spAutoFit/>
          </a:bodyPr>
          <a:lstStyle/>
          <a:p>
            <a:pPr algn="ctr">
              <a:spcAft>
                <a:spcPts val="0"/>
              </a:spcAft>
            </a:pPr>
            <a:r>
              <a:rPr sz="1600" b="1" i="0">
                <a:solidFill>
                  <a:srgbClr val="2D6496"/>
                </a:solidFill>
                <a:latin typeface="Arial"/>
              </a:rPr>
              <a:t>ranking</a:t>
            </a:r>
          </a:p>
        </p:txBody>
      </p:sp>
      <p:sp>
        <p:nvSpPr>
          <p:cNvPr id="12" name="TextBox 11"/>
          <p:cNvSpPr txBox="1"/>
          <p:nvPr/>
        </p:nvSpPr>
        <p:spPr>
          <a:xfrm>
            <a:off x="3300984" y="2816352"/>
            <a:ext cx="1719072" cy="265176"/>
          </a:xfrm>
          <a:prstGeom prst="rect">
            <a:avLst/>
          </a:prstGeom>
          <a:noFill/>
        </p:spPr>
        <p:txBody>
          <a:bodyPr wrap="square" lIns="0" rIns="0" tIns="0" bIns="0" anchor="t">
            <a:spAutoFit/>
          </a:bodyPr>
          <a:lstStyle/>
          <a:p>
            <a:pPr algn="ctr">
              <a:spcAft>
                <a:spcPts val="0"/>
              </a:spcAft>
            </a:pPr>
            <a:r>
              <a:rPr sz="1350" b="1" i="0">
                <a:solidFill>
                  <a:srgbClr val="178681"/>
                </a:solidFill>
                <a:latin typeface="Arial"/>
              </a:rPr>
              <a:t>Synthetic-guided</a:t>
            </a:r>
          </a:p>
        </p:txBody>
      </p:sp>
      <p:sp>
        <p:nvSpPr>
          <p:cNvPr id="13" name="TextBox 12"/>
          <p:cNvSpPr txBox="1"/>
          <p:nvPr/>
        </p:nvSpPr>
        <p:spPr>
          <a:xfrm>
            <a:off x="3300984" y="3108960"/>
            <a:ext cx="1719072" cy="265176"/>
          </a:xfrm>
          <a:prstGeom prst="rect">
            <a:avLst/>
          </a:prstGeom>
          <a:noFill/>
        </p:spPr>
        <p:txBody>
          <a:bodyPr wrap="square" lIns="0" rIns="0" tIns="0" bIns="0" anchor="t">
            <a:spAutoFit/>
          </a:bodyPr>
          <a:lstStyle/>
          <a:p>
            <a:pPr algn="ctr">
              <a:spcAft>
                <a:spcPts val="0"/>
              </a:spcAft>
            </a:pPr>
            <a:r>
              <a:rPr sz="1600" b="1" i="0">
                <a:solidFill>
                  <a:srgbClr val="178681"/>
                </a:solidFill>
                <a:latin typeface="Arial"/>
              </a:rPr>
              <a:t>ranking</a:t>
            </a:r>
          </a:p>
        </p:txBody>
      </p:sp>
      <p:sp>
        <p:nvSpPr>
          <p:cNvPr id="14" name="TextBox 13"/>
          <p:cNvSpPr txBox="1"/>
          <p:nvPr/>
        </p:nvSpPr>
        <p:spPr>
          <a:xfrm>
            <a:off x="2304288" y="2999232"/>
            <a:ext cx="969264" cy="219456"/>
          </a:xfrm>
          <a:prstGeom prst="rect">
            <a:avLst/>
          </a:prstGeom>
          <a:noFill/>
        </p:spPr>
        <p:txBody>
          <a:bodyPr wrap="square" lIns="0" rIns="0" tIns="0" bIns="0" anchor="t">
            <a:spAutoFit/>
          </a:bodyPr>
          <a:lstStyle/>
          <a:p>
            <a:pPr algn="ctr">
              <a:spcAft>
                <a:spcPts val="0"/>
              </a:spcAft>
            </a:pPr>
            <a:r>
              <a:rPr sz="1200" b="1" i="0">
                <a:solidFill>
                  <a:srgbClr val="D37B00"/>
                </a:solidFill>
                <a:latin typeface="Arial"/>
              </a:rPr>
              <a:t>23</a:t>
            </a:r>
          </a:p>
        </p:txBody>
      </p:sp>
      <p:sp>
        <p:nvSpPr>
          <p:cNvPr id="15" name="TextBox 14"/>
          <p:cNvSpPr txBox="1"/>
          <p:nvPr/>
        </p:nvSpPr>
        <p:spPr>
          <a:xfrm>
            <a:off x="2304288" y="3236976"/>
            <a:ext cx="969264" cy="219456"/>
          </a:xfrm>
          <a:prstGeom prst="rect">
            <a:avLst/>
          </a:prstGeom>
          <a:noFill/>
        </p:spPr>
        <p:txBody>
          <a:bodyPr wrap="square" lIns="0" rIns="0" tIns="0" bIns="0" anchor="t">
            <a:spAutoFit/>
          </a:bodyPr>
          <a:lstStyle/>
          <a:p>
            <a:pPr algn="ctr">
              <a:spcAft>
                <a:spcPts val="0"/>
              </a:spcAft>
            </a:pPr>
            <a:r>
              <a:rPr sz="1200" b="1" i="0">
                <a:solidFill>
                  <a:srgbClr val="D37B00"/>
                </a:solidFill>
                <a:latin typeface="Arial"/>
              </a:rPr>
              <a:t>reinforced</a:t>
            </a:r>
          </a:p>
        </p:txBody>
      </p:sp>
      <p:sp>
        <p:nvSpPr>
          <p:cNvPr id="16" name="Rounded Rectangle 15"/>
          <p:cNvSpPr/>
          <p:nvPr/>
        </p:nvSpPr>
        <p:spPr>
          <a:xfrm>
            <a:off x="3218688" y="4535424"/>
            <a:ext cx="1700784" cy="713232"/>
          </a:xfrm>
          <a:prstGeom prst="round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46704" y="4626864"/>
            <a:ext cx="1444752" cy="219456"/>
          </a:xfrm>
          <a:prstGeom prst="rect">
            <a:avLst/>
          </a:prstGeom>
          <a:noFill/>
        </p:spPr>
        <p:txBody>
          <a:bodyPr wrap="square" lIns="18288" rIns="18288" tIns="18288" bIns="18288" anchor="t">
            <a:spAutoFit/>
          </a:bodyPr>
          <a:lstStyle/>
          <a:p>
            <a:pPr algn="ctr">
              <a:spcAft>
                <a:spcPts val="0"/>
              </a:spcAft>
            </a:pPr>
            <a:r>
              <a:rPr sz="1350" b="1" i="0">
                <a:solidFill>
                  <a:srgbClr val="178681"/>
                </a:solidFill>
                <a:latin typeface="Arial"/>
              </a:rPr>
              <a:t>26 promoted</a:t>
            </a:r>
          </a:p>
        </p:txBody>
      </p:sp>
      <p:sp>
        <p:nvSpPr>
          <p:cNvPr id="18" name="TextBox 17"/>
          <p:cNvSpPr txBox="1"/>
          <p:nvPr/>
        </p:nvSpPr>
        <p:spPr>
          <a:xfrm>
            <a:off x="3364992" y="4882896"/>
            <a:ext cx="1408176" cy="292608"/>
          </a:xfrm>
          <a:prstGeom prst="rect">
            <a:avLst/>
          </a:prstGeom>
          <a:noFill/>
        </p:spPr>
        <p:txBody>
          <a:bodyPr wrap="square" lIns="18288" rIns="18288" tIns="18288" bIns="18288" anchor="t">
            <a:spAutoFit/>
          </a:bodyPr>
          <a:lstStyle/>
          <a:p>
            <a:pPr algn="ctr">
              <a:spcAft>
                <a:spcPts val="0"/>
              </a:spcAft>
            </a:pPr>
            <a:r>
              <a:rPr sz="950" b="0" i="0">
                <a:solidFill>
                  <a:srgbClr val="59697A"/>
                </a:solidFill>
                <a:latin typeface="Arial"/>
              </a:rPr>
              <a:t>selected only with
synthetic guidance</a:t>
            </a:r>
          </a:p>
        </p:txBody>
      </p:sp>
      <p:sp>
        <p:nvSpPr>
          <p:cNvPr id="19" name="Right Arrow 18"/>
          <p:cNvSpPr/>
          <p:nvPr/>
        </p:nvSpPr>
        <p:spPr>
          <a:xfrm>
            <a:off x="5285232" y="3017520"/>
            <a:ext cx="594360" cy="438912"/>
          </a:xfrm>
          <a:prstGeom prst="rightArrow">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108192" y="2039112"/>
            <a:ext cx="5468112" cy="3355848"/>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19088" y="2304288"/>
            <a:ext cx="4846320" cy="365760"/>
          </a:xfrm>
          <a:prstGeom prst="rect">
            <a:avLst/>
          </a:prstGeom>
          <a:noFill/>
        </p:spPr>
        <p:txBody>
          <a:bodyPr wrap="square" lIns="18288" rIns="18288" tIns="18288" bIns="18288" anchor="t">
            <a:spAutoFit/>
          </a:bodyPr>
          <a:lstStyle/>
          <a:p>
            <a:pPr algn="ctr">
              <a:spcAft>
                <a:spcPts val="0"/>
              </a:spcAft>
            </a:pPr>
            <a:r>
              <a:rPr sz="2000" b="1" i="0">
                <a:solidFill>
                  <a:srgbClr val="2D6496"/>
                </a:solidFill>
                <a:latin typeface="Arial"/>
              </a:rPr>
              <a:t>Real OSDR association test</a:t>
            </a:r>
          </a:p>
        </p:txBody>
      </p:sp>
      <p:sp>
        <p:nvSpPr>
          <p:cNvPr id="22" name="Oval 21"/>
          <p:cNvSpPr/>
          <p:nvPr/>
        </p:nvSpPr>
        <p:spPr>
          <a:xfrm>
            <a:off x="6601968" y="3017520"/>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66559" y="2907792"/>
            <a:ext cx="4361688" cy="530352"/>
          </a:xfrm>
          <a:prstGeom prst="rect">
            <a:avLst/>
          </a:prstGeom>
          <a:noFill/>
        </p:spPr>
        <p:txBody>
          <a:bodyPr wrap="square" lIns="18288" rIns="18288" tIns="18288" bIns="18288" anchor="ctr">
            <a:spAutoFit/>
          </a:bodyPr>
          <a:lstStyle/>
          <a:p>
            <a:pPr algn="l">
              <a:spcAft>
                <a:spcPts val="0"/>
              </a:spcAft>
            </a:pPr>
            <a:r>
              <a:rPr sz="1500" b="0" i="0">
                <a:solidFill>
                  <a:srgbClr val="263746"/>
                </a:solidFill>
                <a:latin typeface="Arial"/>
              </a:rPr>
              <a:t>Estimate FLT vs GC inside each accession</a:t>
            </a:r>
          </a:p>
        </p:txBody>
      </p:sp>
      <p:sp>
        <p:nvSpPr>
          <p:cNvPr id="24" name="Oval 23"/>
          <p:cNvSpPr/>
          <p:nvPr/>
        </p:nvSpPr>
        <p:spPr>
          <a:xfrm>
            <a:off x="6601968" y="3547872"/>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66559" y="3438144"/>
            <a:ext cx="4361688" cy="530352"/>
          </a:xfrm>
          <a:prstGeom prst="rect">
            <a:avLst/>
          </a:prstGeom>
          <a:noFill/>
        </p:spPr>
        <p:txBody>
          <a:bodyPr wrap="square" lIns="18288" rIns="18288" tIns="18288" bIns="18288" anchor="ctr">
            <a:spAutoFit/>
          </a:bodyPr>
          <a:lstStyle/>
          <a:p>
            <a:pPr algn="l">
              <a:spcAft>
                <a:spcPts val="0"/>
              </a:spcAft>
            </a:pPr>
            <a:r>
              <a:rPr sz="1500" b="0" i="0">
                <a:solidFill>
                  <a:srgbClr val="263746"/>
                </a:solidFill>
                <a:latin typeface="Arial"/>
              </a:rPr>
              <a:t>Combine accession effects with a random-effects model</a:t>
            </a:r>
          </a:p>
        </p:txBody>
      </p:sp>
      <p:sp>
        <p:nvSpPr>
          <p:cNvPr id="26" name="Oval 25"/>
          <p:cNvSpPr/>
          <p:nvPr/>
        </p:nvSpPr>
        <p:spPr>
          <a:xfrm>
            <a:off x="6601968" y="4078224"/>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66559" y="3968496"/>
            <a:ext cx="4361688" cy="530352"/>
          </a:xfrm>
          <a:prstGeom prst="rect">
            <a:avLst/>
          </a:prstGeom>
          <a:noFill/>
        </p:spPr>
        <p:txBody>
          <a:bodyPr wrap="square" lIns="18288" rIns="18288" tIns="18288" bIns="18288" anchor="ctr">
            <a:spAutoFit/>
          </a:bodyPr>
          <a:lstStyle/>
          <a:p>
            <a:pPr algn="l">
              <a:spcAft>
                <a:spcPts val="0"/>
              </a:spcAft>
            </a:pPr>
            <a:r>
              <a:rPr sz="1500" b="0" i="0">
                <a:solidFill>
                  <a:srgbClr val="263746"/>
                </a:solidFill>
                <a:latin typeface="Arial"/>
              </a:rPr>
              <a:t>Apply BH FDR within each tissue</a:t>
            </a:r>
          </a:p>
        </p:txBody>
      </p:sp>
      <p:sp>
        <p:nvSpPr>
          <p:cNvPr id="28" name="Rounded Rectangle 27"/>
          <p:cNvSpPr/>
          <p:nvPr/>
        </p:nvSpPr>
        <p:spPr>
          <a:xfrm>
            <a:off x="6547104" y="4681728"/>
            <a:ext cx="4572000" cy="475488"/>
          </a:xfrm>
          <a:prstGeom prst="round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11696" y="4764024"/>
            <a:ext cx="4251960" cy="265176"/>
          </a:xfrm>
          <a:prstGeom prst="rect">
            <a:avLst/>
          </a:prstGeom>
          <a:noFill/>
        </p:spPr>
        <p:txBody>
          <a:bodyPr wrap="square" lIns="18288" rIns="18288" tIns="18288" bIns="18288" anchor="t">
            <a:spAutoFit/>
          </a:bodyPr>
          <a:lstStyle/>
          <a:p>
            <a:pPr algn="ctr">
              <a:spcAft>
                <a:spcPts val="0"/>
              </a:spcAft>
            </a:pPr>
            <a:r>
              <a:rPr sz="1600" b="1" i="0">
                <a:solidFill>
                  <a:srgbClr val="FFFFFF"/>
                </a:solidFill>
                <a:latin typeface="Arial"/>
              </a:rPr>
              <a:t>49 synthetic-informed associations</a:t>
            </a:r>
          </a:p>
        </p:txBody>
      </p:sp>
      <p:sp>
        <p:nvSpPr>
          <p:cNvPr id="30" name="Rounded Rectangle 29"/>
          <p:cNvSpPr/>
          <p:nvPr/>
        </p:nvSpPr>
        <p:spPr>
          <a:xfrm>
            <a:off x="475488" y="5650992"/>
            <a:ext cx="11109960" cy="530352"/>
          </a:xfrm>
          <a:prstGeom prst="roundRect">
            <a:avLst/>
          </a:prstGeom>
          <a:solidFill>
            <a:srgbClr val="F7F9FA"/>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5769864"/>
            <a:ext cx="10744200" cy="274320"/>
          </a:xfrm>
          <a:prstGeom prst="rect">
            <a:avLst/>
          </a:prstGeom>
          <a:noFill/>
        </p:spPr>
        <p:txBody>
          <a:bodyPr wrap="square" lIns="18288" rIns="18288" tIns="18288" bIns="18288" anchor="t">
            <a:spAutoFit/>
          </a:bodyPr>
          <a:lstStyle/>
          <a:p>
            <a:pPr algn="ctr">
              <a:spcAft>
                <a:spcPts val="0"/>
              </a:spcAft>
            </a:pPr>
            <a:r>
              <a:rPr sz="1350" b="0" i="0">
                <a:solidFill>
                  <a:srgbClr val="59697A"/>
                </a:solidFill>
                <a:latin typeface="Arial"/>
              </a:rPr>
              <a:t>These are 49 tissue-gene associations among 459 BH-FDR rows. A gene can appear in more than one tissue.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LITERATURE INTERPRETATION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Selection and literature are separate dimensions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synthetic-informed associations received both a selection status and a literature interpretation.</a:t>
            </a:r>
          </a:p>
        </p:txBody>
      </p:sp>
      <p:sp>
        <p:nvSpPr>
          <p:cNvPr id="7" name="Rounded Rectangle 6"/>
          <p:cNvSpPr/>
          <p:nvPr/>
        </p:nvSpPr>
        <p:spPr>
          <a:xfrm>
            <a:off x="411480" y="1828800"/>
            <a:ext cx="2331720" cy="832104"/>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7784" y="1947672"/>
            <a:ext cx="2029968" cy="228600"/>
          </a:xfrm>
          <a:prstGeom prst="rect">
            <a:avLst/>
          </a:prstGeom>
          <a:noFill/>
        </p:spPr>
        <p:txBody>
          <a:bodyPr wrap="square" lIns="18288" rIns="18288" tIns="18288" bIns="18288" anchor="t">
            <a:spAutoFit/>
          </a:bodyPr>
          <a:lstStyle/>
          <a:p>
            <a:pPr algn="l">
              <a:spcAft>
                <a:spcPts val="0"/>
              </a:spcAft>
            </a:pPr>
            <a:r>
              <a:rPr sz="1350" b="1" i="0">
                <a:solidFill>
                  <a:srgbClr val="2D6496"/>
                </a:solidFill>
                <a:latin typeface="Arial"/>
              </a:rPr>
              <a:t>1  Candidate</a:t>
            </a:r>
          </a:p>
        </p:txBody>
      </p:sp>
      <p:sp>
        <p:nvSpPr>
          <p:cNvPr id="9" name="TextBox 8"/>
          <p:cNvSpPr txBox="1"/>
          <p:nvPr/>
        </p:nvSpPr>
        <p:spPr>
          <a:xfrm>
            <a:off x="557784" y="2185416"/>
            <a:ext cx="2029968" cy="365760"/>
          </a:xfrm>
          <a:prstGeom prst="rect">
            <a:avLst/>
          </a:prstGeom>
          <a:noFill/>
        </p:spPr>
        <p:txBody>
          <a:bodyPr wrap="square" lIns="18288" rIns="18288" tIns="18288" bIns="18288" anchor="t">
            <a:spAutoFit/>
          </a:bodyPr>
          <a:lstStyle/>
          <a:p>
            <a:pPr algn="l">
              <a:spcAft>
                <a:spcPts val="0"/>
              </a:spcAft>
            </a:pPr>
            <a:r>
              <a:rPr sz="1210" b="0" i="0">
                <a:solidFill>
                  <a:srgbClr val="263746"/>
                </a:solidFill>
                <a:latin typeface="Arial"/>
              </a:rPr>
              <a:t>Gene + tissue +
FLT direction</a:t>
            </a:r>
          </a:p>
        </p:txBody>
      </p:sp>
      <p:sp>
        <p:nvSpPr>
          <p:cNvPr id="10" name="Right Arrow 9"/>
          <p:cNvSpPr/>
          <p:nvPr/>
        </p:nvSpPr>
        <p:spPr>
          <a:xfrm>
            <a:off x="2852928" y="2112264"/>
            <a:ext cx="283464"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264408" y="1828800"/>
            <a:ext cx="2331720" cy="832104"/>
          </a:xfrm>
          <a:prstGeom prst="round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10712" y="1947672"/>
            <a:ext cx="2029968" cy="228600"/>
          </a:xfrm>
          <a:prstGeom prst="rect">
            <a:avLst/>
          </a:prstGeom>
          <a:noFill/>
        </p:spPr>
        <p:txBody>
          <a:bodyPr wrap="square" lIns="18288" rIns="18288" tIns="18288" bIns="18288" anchor="t">
            <a:spAutoFit/>
          </a:bodyPr>
          <a:lstStyle/>
          <a:p>
            <a:pPr algn="l">
              <a:spcAft>
                <a:spcPts val="0"/>
              </a:spcAft>
            </a:pPr>
            <a:r>
              <a:rPr sz="1350" b="1" i="0">
                <a:solidFill>
                  <a:srgbClr val="178681"/>
                </a:solidFill>
                <a:latin typeface="Arial"/>
              </a:rPr>
              <a:t>2  Search</a:t>
            </a:r>
          </a:p>
        </p:txBody>
      </p:sp>
      <p:sp>
        <p:nvSpPr>
          <p:cNvPr id="13" name="TextBox 12"/>
          <p:cNvSpPr txBox="1"/>
          <p:nvPr/>
        </p:nvSpPr>
        <p:spPr>
          <a:xfrm>
            <a:off x="3410712" y="2185416"/>
            <a:ext cx="2029968" cy="365760"/>
          </a:xfrm>
          <a:prstGeom prst="rect">
            <a:avLst/>
          </a:prstGeom>
          <a:noFill/>
        </p:spPr>
        <p:txBody>
          <a:bodyPr wrap="square" lIns="18288" rIns="18288" tIns="18288" bIns="18288" anchor="t">
            <a:spAutoFit/>
          </a:bodyPr>
          <a:lstStyle/>
          <a:p>
            <a:pPr algn="l">
              <a:spcAft>
                <a:spcPts val="0"/>
              </a:spcAft>
            </a:pPr>
            <a:r>
              <a:rPr sz="1210" b="0" i="0">
                <a:solidFill>
                  <a:srgbClr val="263746"/>
                </a:solidFill>
                <a:latin typeface="Arial"/>
              </a:rPr>
              <a:t>Spaceflight +
mechanism literature</a:t>
            </a:r>
          </a:p>
        </p:txBody>
      </p:sp>
      <p:sp>
        <p:nvSpPr>
          <p:cNvPr id="14" name="Right Arrow 13"/>
          <p:cNvSpPr/>
          <p:nvPr/>
        </p:nvSpPr>
        <p:spPr>
          <a:xfrm>
            <a:off x="5705856" y="2112264"/>
            <a:ext cx="283464"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117336" y="1828800"/>
            <a:ext cx="2331720" cy="832104"/>
          </a:xfrm>
          <a:prstGeom prst="roundRect">
            <a:avLst/>
          </a:prstGeom>
          <a:solidFill>
            <a:srgbClr val="F8F1E2"/>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63640" y="1947672"/>
            <a:ext cx="2029968" cy="228600"/>
          </a:xfrm>
          <a:prstGeom prst="rect">
            <a:avLst/>
          </a:prstGeom>
          <a:noFill/>
        </p:spPr>
        <p:txBody>
          <a:bodyPr wrap="square" lIns="18288" rIns="18288" tIns="18288" bIns="18288" anchor="t">
            <a:spAutoFit/>
          </a:bodyPr>
          <a:lstStyle/>
          <a:p>
            <a:pPr algn="l">
              <a:spcAft>
                <a:spcPts val="0"/>
              </a:spcAft>
            </a:pPr>
            <a:r>
              <a:rPr sz="1350" b="1" i="0">
                <a:solidFill>
                  <a:srgbClr val="D37B00"/>
                </a:solidFill>
                <a:latin typeface="Arial"/>
              </a:rPr>
              <a:t>3  Classify</a:t>
            </a:r>
          </a:p>
        </p:txBody>
      </p:sp>
      <p:sp>
        <p:nvSpPr>
          <p:cNvPr id="17" name="TextBox 16"/>
          <p:cNvSpPr txBox="1"/>
          <p:nvPr/>
        </p:nvSpPr>
        <p:spPr>
          <a:xfrm>
            <a:off x="6263640" y="2185416"/>
            <a:ext cx="2029968" cy="365760"/>
          </a:xfrm>
          <a:prstGeom prst="rect">
            <a:avLst/>
          </a:prstGeom>
          <a:noFill/>
        </p:spPr>
        <p:txBody>
          <a:bodyPr wrap="square" lIns="18288" rIns="18288" tIns="18288" bIns="18288" anchor="t">
            <a:spAutoFit/>
          </a:bodyPr>
          <a:lstStyle/>
          <a:p>
            <a:pPr algn="l">
              <a:spcAft>
                <a:spcPts val="0"/>
              </a:spcAft>
            </a:pPr>
            <a:r>
              <a:rPr sz="1210" b="0" i="0">
                <a:solidFill>
                  <a:srgbClr val="263746"/>
                </a:solidFill>
                <a:latin typeface="Arial"/>
              </a:rPr>
              <a:t>Relation to
published evidence</a:t>
            </a:r>
          </a:p>
        </p:txBody>
      </p:sp>
      <p:sp>
        <p:nvSpPr>
          <p:cNvPr id="18" name="Right Arrow 17"/>
          <p:cNvSpPr/>
          <p:nvPr/>
        </p:nvSpPr>
        <p:spPr>
          <a:xfrm>
            <a:off x="8558784" y="2112264"/>
            <a:ext cx="283464"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970263" y="1828800"/>
            <a:ext cx="2331720" cy="832104"/>
          </a:xfrm>
          <a:prstGeom prst="roundRect">
            <a:avLst/>
          </a:prstGeom>
          <a:solidFill>
            <a:srgbClr val="F0ECF6"/>
          </a:solidFill>
          <a:ln w="10160">
            <a:solidFill>
              <a:srgbClr val="8063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16567" y="1947672"/>
            <a:ext cx="2029968" cy="228600"/>
          </a:xfrm>
          <a:prstGeom prst="rect">
            <a:avLst/>
          </a:prstGeom>
          <a:noFill/>
        </p:spPr>
        <p:txBody>
          <a:bodyPr wrap="square" lIns="18288" rIns="18288" tIns="18288" bIns="18288" anchor="t">
            <a:spAutoFit/>
          </a:bodyPr>
          <a:lstStyle/>
          <a:p>
            <a:pPr algn="l">
              <a:spcAft>
                <a:spcPts val="0"/>
              </a:spcAft>
            </a:pPr>
            <a:r>
              <a:rPr sz="1350" b="1" i="0">
                <a:solidFill>
                  <a:srgbClr val="8063A6"/>
                </a:solidFill>
                <a:latin typeface="Arial"/>
              </a:rPr>
              <a:t>4  Interpret</a:t>
            </a:r>
          </a:p>
        </p:txBody>
      </p:sp>
      <p:sp>
        <p:nvSpPr>
          <p:cNvPr id="21" name="TextBox 20"/>
          <p:cNvSpPr txBox="1"/>
          <p:nvPr/>
        </p:nvSpPr>
        <p:spPr>
          <a:xfrm>
            <a:off x="9116567" y="2185416"/>
            <a:ext cx="2029968" cy="365760"/>
          </a:xfrm>
          <a:prstGeom prst="rect">
            <a:avLst/>
          </a:prstGeom>
          <a:noFill/>
        </p:spPr>
        <p:txBody>
          <a:bodyPr wrap="square" lIns="18288" rIns="18288" tIns="18288" bIns="18288" anchor="t">
            <a:spAutoFit/>
          </a:bodyPr>
          <a:lstStyle/>
          <a:p>
            <a:pPr algn="l">
              <a:spcAft>
                <a:spcPts val="0"/>
              </a:spcAft>
            </a:pPr>
            <a:r>
              <a:rPr sz="1210" b="0" i="0">
                <a:solidFill>
                  <a:srgbClr val="263746"/>
                </a:solidFill>
                <a:latin typeface="Arial"/>
              </a:rPr>
              <a:t>Recovery, extension,
or unmatched</a:t>
            </a:r>
          </a:p>
        </p:txBody>
      </p:sp>
      <p:sp>
        <p:nvSpPr>
          <p:cNvPr id="22" name="Rounded Rectangle 21"/>
          <p:cNvSpPr/>
          <p:nvPr/>
        </p:nvSpPr>
        <p:spPr>
          <a:xfrm>
            <a:off x="411480" y="2916936"/>
            <a:ext cx="3785615" cy="2980944"/>
          </a:xfrm>
          <a:prstGeom prst="roundRect">
            <a:avLst/>
          </a:prstGeom>
          <a:solidFill>
            <a:srgbClr val="E9F1F7"/>
          </a:solidFill>
          <a:ln w="10160">
            <a:solidFill>
              <a:srgbClr val="C9D9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 y="3136392"/>
            <a:ext cx="3273552" cy="310896"/>
          </a:xfrm>
          <a:prstGeom prst="rect">
            <a:avLst/>
          </a:prstGeom>
          <a:noFill/>
        </p:spPr>
        <p:txBody>
          <a:bodyPr wrap="square" lIns="18288" rIns="18288" tIns="18288" bIns="18288" anchor="t">
            <a:spAutoFit/>
          </a:bodyPr>
          <a:lstStyle/>
          <a:p>
            <a:pPr algn="l">
              <a:spcAft>
                <a:spcPts val="0"/>
              </a:spcAft>
            </a:pPr>
            <a:r>
              <a:rPr sz="1700" b="1" i="0">
                <a:solidFill>
                  <a:srgbClr val="2D6496"/>
                </a:solidFill>
                <a:latin typeface="Arial"/>
              </a:rPr>
              <a:t>Selection status</a:t>
            </a:r>
          </a:p>
        </p:txBody>
      </p:sp>
      <p:sp>
        <p:nvSpPr>
          <p:cNvPr id="24" name="Oval 23"/>
          <p:cNvSpPr/>
          <p:nvPr/>
        </p:nvSpPr>
        <p:spPr>
          <a:xfrm>
            <a:off x="685800" y="3730752"/>
            <a:ext cx="457200" cy="45720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3803904"/>
            <a:ext cx="457200" cy="228600"/>
          </a:xfrm>
          <a:prstGeom prst="rect">
            <a:avLst/>
          </a:prstGeom>
          <a:noFill/>
        </p:spPr>
        <p:txBody>
          <a:bodyPr wrap="square" lIns="18288" rIns="18288" tIns="18288" bIns="18288" anchor="t">
            <a:spAutoFit/>
          </a:bodyPr>
          <a:lstStyle/>
          <a:p>
            <a:pPr algn="ctr">
              <a:spcAft>
                <a:spcPts val="0"/>
              </a:spcAft>
            </a:pPr>
            <a:r>
              <a:rPr sz="1400" b="1" i="0">
                <a:solidFill>
                  <a:srgbClr val="FFFFFF"/>
                </a:solidFill>
                <a:latin typeface="Arial"/>
              </a:rPr>
              <a:t>26</a:t>
            </a:r>
          </a:p>
        </p:txBody>
      </p:sp>
      <p:sp>
        <p:nvSpPr>
          <p:cNvPr id="26" name="TextBox 25"/>
          <p:cNvSpPr txBox="1"/>
          <p:nvPr/>
        </p:nvSpPr>
        <p:spPr>
          <a:xfrm>
            <a:off x="1325880" y="3712464"/>
            <a:ext cx="2423160" cy="274320"/>
          </a:xfrm>
          <a:prstGeom prst="rect">
            <a:avLst/>
          </a:prstGeom>
          <a:noFill/>
        </p:spPr>
        <p:txBody>
          <a:bodyPr wrap="square" lIns="18288" rIns="18288" tIns="18288" bIns="18288" anchor="t">
            <a:spAutoFit/>
          </a:bodyPr>
          <a:lstStyle/>
          <a:p>
            <a:pPr algn="l">
              <a:spcAft>
                <a:spcPts val="0"/>
              </a:spcAft>
            </a:pPr>
            <a:r>
              <a:rPr sz="1500" b="1" i="0">
                <a:solidFill>
                  <a:srgbClr val="D96552"/>
                </a:solidFill>
                <a:latin typeface="Arial"/>
              </a:rPr>
              <a:t>Promoted</a:t>
            </a:r>
          </a:p>
        </p:txBody>
      </p:sp>
      <p:sp>
        <p:nvSpPr>
          <p:cNvPr id="27" name="TextBox 26"/>
          <p:cNvSpPr txBox="1"/>
          <p:nvPr/>
        </p:nvSpPr>
        <p:spPr>
          <a:xfrm>
            <a:off x="1325880" y="4014215"/>
            <a:ext cx="2423160" cy="347472"/>
          </a:xfrm>
          <a:prstGeom prst="rect">
            <a:avLst/>
          </a:prstGeom>
          <a:noFill/>
        </p:spPr>
        <p:txBody>
          <a:bodyPr wrap="square" lIns="18288" rIns="18288" tIns="18288" bIns="18288" anchor="t">
            <a:spAutoFit/>
          </a:bodyPr>
          <a:lstStyle/>
          <a:p>
            <a:pPr algn="l">
              <a:spcAft>
                <a:spcPts val="0"/>
              </a:spcAft>
            </a:pPr>
            <a:r>
              <a:rPr sz="1150" b="0" i="0">
                <a:solidFill>
                  <a:srgbClr val="263746"/>
                </a:solidFill>
                <a:latin typeface="Arial"/>
              </a:rPr>
              <a:t>Stable only with synthetic guidance</a:t>
            </a:r>
          </a:p>
        </p:txBody>
      </p:sp>
      <p:sp>
        <p:nvSpPr>
          <p:cNvPr id="28" name="Oval 27"/>
          <p:cNvSpPr/>
          <p:nvPr/>
        </p:nvSpPr>
        <p:spPr>
          <a:xfrm>
            <a:off x="685800" y="4581144"/>
            <a:ext cx="457200" cy="45720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4654296"/>
            <a:ext cx="457200" cy="228600"/>
          </a:xfrm>
          <a:prstGeom prst="rect">
            <a:avLst/>
          </a:prstGeom>
          <a:noFill/>
        </p:spPr>
        <p:txBody>
          <a:bodyPr wrap="square" lIns="18288" rIns="18288" tIns="18288" bIns="18288" anchor="t">
            <a:spAutoFit/>
          </a:bodyPr>
          <a:lstStyle/>
          <a:p>
            <a:pPr algn="ctr">
              <a:spcAft>
                <a:spcPts val="0"/>
              </a:spcAft>
            </a:pPr>
            <a:r>
              <a:rPr sz="1400" b="1" i="0">
                <a:solidFill>
                  <a:srgbClr val="FFFFFF"/>
                </a:solidFill>
                <a:latin typeface="Arial"/>
              </a:rPr>
              <a:t>23</a:t>
            </a:r>
          </a:p>
        </p:txBody>
      </p:sp>
      <p:sp>
        <p:nvSpPr>
          <p:cNvPr id="30" name="TextBox 29"/>
          <p:cNvSpPr txBox="1"/>
          <p:nvPr/>
        </p:nvSpPr>
        <p:spPr>
          <a:xfrm>
            <a:off x="1325880" y="4562856"/>
            <a:ext cx="2423160" cy="274320"/>
          </a:xfrm>
          <a:prstGeom prst="rect">
            <a:avLst/>
          </a:prstGeom>
          <a:noFill/>
        </p:spPr>
        <p:txBody>
          <a:bodyPr wrap="square" lIns="18288" rIns="18288" tIns="18288" bIns="18288" anchor="t">
            <a:spAutoFit/>
          </a:bodyPr>
          <a:lstStyle/>
          <a:p>
            <a:pPr algn="l">
              <a:spcAft>
                <a:spcPts val="0"/>
              </a:spcAft>
            </a:pPr>
            <a:r>
              <a:rPr sz="1500" b="1" i="0">
                <a:solidFill>
                  <a:srgbClr val="178681"/>
                </a:solidFill>
                <a:latin typeface="Arial"/>
              </a:rPr>
              <a:t>Reinforced</a:t>
            </a:r>
          </a:p>
        </p:txBody>
      </p:sp>
      <p:sp>
        <p:nvSpPr>
          <p:cNvPr id="31" name="TextBox 30"/>
          <p:cNvSpPr txBox="1"/>
          <p:nvPr/>
        </p:nvSpPr>
        <p:spPr>
          <a:xfrm>
            <a:off x="1325880" y="4864607"/>
            <a:ext cx="2423160" cy="347472"/>
          </a:xfrm>
          <a:prstGeom prst="rect">
            <a:avLst/>
          </a:prstGeom>
          <a:noFill/>
        </p:spPr>
        <p:txBody>
          <a:bodyPr wrap="square" lIns="18288" rIns="18288" tIns="18288" bIns="18288" anchor="t">
            <a:spAutoFit/>
          </a:bodyPr>
          <a:lstStyle/>
          <a:p>
            <a:pPr algn="l">
              <a:spcAft>
                <a:spcPts val="0"/>
              </a:spcAft>
            </a:pPr>
            <a:r>
              <a:rPr sz="1150" b="0" i="0">
                <a:solidFill>
                  <a:srgbClr val="263746"/>
                </a:solidFill>
                <a:latin typeface="Arial"/>
              </a:rPr>
              <a:t>Stable with and without guidance</a:t>
            </a:r>
          </a:p>
        </p:txBody>
      </p:sp>
      <p:sp>
        <p:nvSpPr>
          <p:cNvPr id="32" name="Rounded Rectangle 31"/>
          <p:cNvSpPr/>
          <p:nvPr/>
        </p:nvSpPr>
        <p:spPr>
          <a:xfrm>
            <a:off x="4389120" y="2916936"/>
            <a:ext cx="7379208" cy="2980944"/>
          </a:xfrm>
          <a:prstGeom prst="roundRect">
            <a:avLst/>
          </a:prstGeom>
          <a:solidFill>
            <a:srgbClr val="FFFFFF"/>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645152" y="3136392"/>
            <a:ext cx="6876288"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Literature interpretation</a:t>
            </a:r>
          </a:p>
        </p:txBody>
      </p:sp>
      <p:sp>
        <p:nvSpPr>
          <p:cNvPr id="34" name="Oval 33"/>
          <p:cNvSpPr/>
          <p:nvPr/>
        </p:nvSpPr>
        <p:spPr>
          <a:xfrm>
            <a:off x="4654296" y="3593592"/>
            <a:ext cx="338328" cy="338328"/>
          </a:xfrm>
          <a:prstGeom prst="ellipse">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654296" y="3639312"/>
            <a:ext cx="338328" cy="201168"/>
          </a:xfrm>
          <a:prstGeom prst="rect">
            <a:avLst/>
          </a:prstGeom>
          <a:noFill/>
        </p:spPr>
        <p:txBody>
          <a:bodyPr wrap="square" lIns="18288" rIns="18288" tIns="18288" bIns="18288" anchor="t">
            <a:spAutoFit/>
          </a:bodyPr>
          <a:lstStyle/>
          <a:p>
            <a:pPr algn="ctr">
              <a:spcAft>
                <a:spcPts val="0"/>
              </a:spcAft>
            </a:pPr>
            <a:r>
              <a:rPr sz="1200" b="1" i="0">
                <a:solidFill>
                  <a:srgbClr val="FFFFFF"/>
                </a:solidFill>
                <a:latin typeface="Arial"/>
              </a:rPr>
              <a:t>22</a:t>
            </a:r>
          </a:p>
        </p:txBody>
      </p:sp>
      <p:sp>
        <p:nvSpPr>
          <p:cNvPr id="36" name="TextBox 35"/>
          <p:cNvSpPr txBox="1"/>
          <p:nvPr/>
        </p:nvSpPr>
        <p:spPr>
          <a:xfrm>
            <a:off x="5138928" y="3575304"/>
            <a:ext cx="1591056" cy="310896"/>
          </a:xfrm>
          <a:prstGeom prst="rect">
            <a:avLst/>
          </a:prstGeom>
          <a:noFill/>
        </p:spPr>
        <p:txBody>
          <a:bodyPr wrap="square" lIns="18288" rIns="18288" tIns="18288" bIns="18288" anchor="ctr">
            <a:spAutoFit/>
          </a:bodyPr>
          <a:lstStyle/>
          <a:p>
            <a:pPr algn="l">
              <a:spcAft>
                <a:spcPts val="0"/>
              </a:spcAft>
            </a:pPr>
            <a:r>
              <a:rPr sz="1420" b="1" i="0">
                <a:solidFill>
                  <a:srgbClr val="478A64"/>
                </a:solidFill>
                <a:latin typeface="Arial"/>
              </a:rPr>
              <a:t>Aligning</a:t>
            </a:r>
          </a:p>
        </p:txBody>
      </p:sp>
      <p:sp>
        <p:nvSpPr>
          <p:cNvPr id="37" name="TextBox 36"/>
          <p:cNvSpPr txBox="1"/>
          <p:nvPr/>
        </p:nvSpPr>
        <p:spPr>
          <a:xfrm>
            <a:off x="6784848" y="3575304"/>
            <a:ext cx="4507992" cy="310896"/>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Direct or same-tissue process agreement</a:t>
            </a:r>
          </a:p>
        </p:txBody>
      </p:sp>
      <p:sp>
        <p:nvSpPr>
          <p:cNvPr id="38" name="Oval 37"/>
          <p:cNvSpPr/>
          <p:nvPr/>
        </p:nvSpPr>
        <p:spPr>
          <a:xfrm>
            <a:off x="4654296" y="4114800"/>
            <a:ext cx="338328" cy="33832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54296" y="4160520"/>
            <a:ext cx="338328" cy="201168"/>
          </a:xfrm>
          <a:prstGeom prst="rect">
            <a:avLst/>
          </a:prstGeom>
          <a:noFill/>
        </p:spPr>
        <p:txBody>
          <a:bodyPr wrap="square" lIns="18288" rIns="18288" tIns="18288" bIns="18288" anchor="t">
            <a:spAutoFit/>
          </a:bodyPr>
          <a:lstStyle/>
          <a:p>
            <a:pPr algn="ctr">
              <a:spcAft>
                <a:spcPts val="0"/>
              </a:spcAft>
            </a:pPr>
            <a:r>
              <a:rPr sz="1200" b="1" i="0">
                <a:solidFill>
                  <a:srgbClr val="FFFFFF"/>
                </a:solidFill>
                <a:latin typeface="Arial"/>
              </a:rPr>
              <a:t>19</a:t>
            </a:r>
          </a:p>
        </p:txBody>
      </p:sp>
      <p:sp>
        <p:nvSpPr>
          <p:cNvPr id="40" name="TextBox 39"/>
          <p:cNvSpPr txBox="1"/>
          <p:nvPr/>
        </p:nvSpPr>
        <p:spPr>
          <a:xfrm>
            <a:off x="5138928" y="4096512"/>
            <a:ext cx="1591056" cy="310896"/>
          </a:xfrm>
          <a:prstGeom prst="rect">
            <a:avLst/>
          </a:prstGeom>
          <a:noFill/>
        </p:spPr>
        <p:txBody>
          <a:bodyPr wrap="square" lIns="18288" rIns="18288" tIns="18288" bIns="18288" anchor="ctr">
            <a:spAutoFit/>
          </a:bodyPr>
          <a:lstStyle/>
          <a:p>
            <a:pPr algn="l">
              <a:spcAft>
                <a:spcPts val="0"/>
              </a:spcAft>
            </a:pPr>
            <a:r>
              <a:rPr sz="1420" b="1" i="0">
                <a:solidFill>
                  <a:srgbClr val="2D6496"/>
                </a:solidFill>
                <a:latin typeface="Arial"/>
              </a:rPr>
              <a:t>Complementary</a:t>
            </a:r>
          </a:p>
        </p:txBody>
      </p:sp>
      <p:sp>
        <p:nvSpPr>
          <p:cNvPr id="41" name="TextBox 40"/>
          <p:cNvSpPr txBox="1"/>
          <p:nvPr/>
        </p:nvSpPr>
        <p:spPr>
          <a:xfrm>
            <a:off x="6784848" y="4096512"/>
            <a:ext cx="4507992" cy="310896"/>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Related process or mechanism</a:t>
            </a:r>
          </a:p>
        </p:txBody>
      </p:sp>
      <p:sp>
        <p:nvSpPr>
          <p:cNvPr id="42" name="Oval 41"/>
          <p:cNvSpPr/>
          <p:nvPr/>
        </p:nvSpPr>
        <p:spPr>
          <a:xfrm>
            <a:off x="4654296" y="4636007"/>
            <a:ext cx="338328" cy="338328"/>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654296" y="4681728"/>
            <a:ext cx="338328" cy="201168"/>
          </a:xfrm>
          <a:prstGeom prst="rect">
            <a:avLst/>
          </a:prstGeom>
          <a:noFill/>
        </p:spPr>
        <p:txBody>
          <a:bodyPr wrap="square" lIns="18288" rIns="18288" tIns="18288" bIns="18288" anchor="t">
            <a:spAutoFit/>
          </a:bodyPr>
          <a:lstStyle/>
          <a:p>
            <a:pPr algn="ctr">
              <a:spcAft>
                <a:spcPts val="0"/>
              </a:spcAft>
            </a:pPr>
            <a:r>
              <a:rPr sz="1200" b="1" i="0">
                <a:solidFill>
                  <a:srgbClr val="FFFFFF"/>
                </a:solidFill>
                <a:latin typeface="Arial"/>
              </a:rPr>
              <a:t>4</a:t>
            </a:r>
          </a:p>
        </p:txBody>
      </p:sp>
      <p:sp>
        <p:nvSpPr>
          <p:cNvPr id="44" name="TextBox 43"/>
          <p:cNvSpPr txBox="1"/>
          <p:nvPr/>
        </p:nvSpPr>
        <p:spPr>
          <a:xfrm>
            <a:off x="5138928" y="4617720"/>
            <a:ext cx="1591056" cy="310896"/>
          </a:xfrm>
          <a:prstGeom prst="rect">
            <a:avLst/>
          </a:prstGeom>
          <a:noFill/>
        </p:spPr>
        <p:txBody>
          <a:bodyPr wrap="square" lIns="18288" rIns="18288" tIns="18288" bIns="18288" anchor="ctr">
            <a:spAutoFit/>
          </a:bodyPr>
          <a:lstStyle/>
          <a:p>
            <a:pPr algn="l">
              <a:spcAft>
                <a:spcPts val="0"/>
              </a:spcAft>
            </a:pPr>
            <a:r>
              <a:rPr sz="1420" b="1" i="0">
                <a:solidFill>
                  <a:srgbClr val="D37B00"/>
                </a:solidFill>
                <a:latin typeface="Arial"/>
              </a:rPr>
              <a:t>Ambiguous</a:t>
            </a:r>
          </a:p>
        </p:txBody>
      </p:sp>
      <p:sp>
        <p:nvSpPr>
          <p:cNvPr id="45" name="TextBox 44"/>
          <p:cNvSpPr txBox="1"/>
          <p:nvPr/>
        </p:nvSpPr>
        <p:spPr>
          <a:xfrm>
            <a:off x="6784848" y="4617720"/>
            <a:ext cx="4507992" cy="310896"/>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Mixed or context-dependent evidence</a:t>
            </a:r>
          </a:p>
        </p:txBody>
      </p:sp>
      <p:sp>
        <p:nvSpPr>
          <p:cNvPr id="46" name="Oval 45"/>
          <p:cNvSpPr/>
          <p:nvPr/>
        </p:nvSpPr>
        <p:spPr>
          <a:xfrm>
            <a:off x="4654296" y="5157216"/>
            <a:ext cx="338328" cy="338328"/>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654296" y="5202936"/>
            <a:ext cx="338328" cy="201168"/>
          </a:xfrm>
          <a:prstGeom prst="rect">
            <a:avLst/>
          </a:prstGeom>
          <a:noFill/>
        </p:spPr>
        <p:txBody>
          <a:bodyPr wrap="square" lIns="18288" rIns="18288" tIns="18288" bIns="18288" anchor="t">
            <a:spAutoFit/>
          </a:bodyPr>
          <a:lstStyle/>
          <a:p>
            <a:pPr algn="ctr">
              <a:spcAft>
                <a:spcPts val="0"/>
              </a:spcAft>
            </a:pPr>
            <a:r>
              <a:rPr sz="1200" b="1" i="0">
                <a:solidFill>
                  <a:srgbClr val="FFFFFF"/>
                </a:solidFill>
                <a:latin typeface="Arial"/>
              </a:rPr>
              <a:t>4</a:t>
            </a:r>
          </a:p>
        </p:txBody>
      </p:sp>
      <p:sp>
        <p:nvSpPr>
          <p:cNvPr id="48" name="TextBox 47"/>
          <p:cNvSpPr txBox="1"/>
          <p:nvPr/>
        </p:nvSpPr>
        <p:spPr>
          <a:xfrm>
            <a:off x="5138928" y="5138928"/>
            <a:ext cx="1591056" cy="310896"/>
          </a:xfrm>
          <a:prstGeom prst="rect">
            <a:avLst/>
          </a:prstGeom>
          <a:noFill/>
        </p:spPr>
        <p:txBody>
          <a:bodyPr wrap="square" lIns="18288" rIns="18288" tIns="18288" bIns="18288" anchor="ctr">
            <a:spAutoFit/>
          </a:bodyPr>
          <a:lstStyle/>
          <a:p>
            <a:pPr algn="l">
              <a:spcAft>
                <a:spcPts val="0"/>
              </a:spcAft>
            </a:pPr>
            <a:r>
              <a:rPr sz="1420" b="1" i="0">
                <a:solidFill>
                  <a:srgbClr val="8063A6"/>
                </a:solidFill>
                <a:latin typeface="Arial"/>
              </a:rPr>
              <a:t>Unmatched</a:t>
            </a:r>
          </a:p>
        </p:txBody>
      </p:sp>
      <p:sp>
        <p:nvSpPr>
          <p:cNvPr id="49" name="TextBox 48"/>
          <p:cNvSpPr txBox="1"/>
          <p:nvPr/>
        </p:nvSpPr>
        <p:spPr>
          <a:xfrm>
            <a:off x="6784848" y="5138928"/>
            <a:ext cx="4507992" cy="310896"/>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No sufficiently specific match found</a:t>
            </a:r>
          </a:p>
        </p:txBody>
      </p:sp>
      <p:sp>
        <p:nvSpPr>
          <p:cNvPr id="50" name="Rounded Rectangle 49"/>
          <p:cNvSpPr/>
          <p:nvPr/>
        </p:nvSpPr>
        <p:spPr>
          <a:xfrm>
            <a:off x="411480" y="6007608"/>
            <a:ext cx="11356848" cy="393192"/>
          </a:xfrm>
          <a:prstGeom prst="round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49224" y="6071616"/>
            <a:ext cx="10881360" cy="228600"/>
          </a:xfrm>
          <a:prstGeom prst="rect">
            <a:avLst/>
          </a:prstGeom>
          <a:noFill/>
        </p:spPr>
        <p:txBody>
          <a:bodyPr wrap="square" lIns="18288" rIns="18288" tIns="18288" bIns="18288" anchor="t">
            <a:spAutoFit/>
          </a:bodyPr>
          <a:lstStyle/>
          <a:p>
            <a:pPr algn="ctr">
              <a:spcAft>
                <a:spcPts val="0"/>
              </a:spcAft>
            </a:pPr>
            <a:r>
              <a:rPr sz="1400" b="1" i="0">
                <a:solidFill>
                  <a:srgbClr val="FFFFFF"/>
                </a:solidFill>
                <a:latin typeface="Arial"/>
              </a:rPr>
              <a:t>A reinforced gene can be complementary, ambiguous, or unmatched; an aligning gene can be promoted.</a:t>
            </a:r>
          </a:p>
        </p:txBody>
      </p:sp>
      <p:sp>
        <p:nvSpPr>
          <p:cNvPr id="52" name="TextBox 51"/>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Targeted review completed 2026-08-03; 5 direct transcript-level matches and a 33-source inventory are in Tables S16-S17.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 COVERAGE</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All 27 completed tissue analyses were retained</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biological narrative narrows only after reporting synthetic-informed, real-only, and null outcomes.</a:t>
            </a:r>
          </a:p>
        </p:txBody>
      </p:sp>
      <p:sp>
        <p:nvSpPr>
          <p:cNvPr id="7" name="Rounded Rectangle 6"/>
          <p:cNvSpPr/>
          <p:nvPr/>
        </p:nvSpPr>
        <p:spPr>
          <a:xfrm>
            <a:off x="393192" y="1847088"/>
            <a:ext cx="3502152" cy="4297680"/>
          </a:xfrm>
          <a:prstGeom prst="round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21792" y="2075688"/>
            <a:ext cx="521207" cy="521207"/>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 y="2167128"/>
            <a:ext cx="521207" cy="246888"/>
          </a:xfrm>
          <a:prstGeom prst="rect">
            <a:avLst/>
          </a:prstGeom>
          <a:noFill/>
        </p:spPr>
        <p:txBody>
          <a:bodyPr wrap="square" lIns="18288" rIns="18288" tIns="18288" bIns="18288" anchor="t">
            <a:spAutoFit/>
          </a:bodyPr>
          <a:lstStyle/>
          <a:p>
            <a:pPr algn="ctr">
              <a:spcAft>
                <a:spcPts val="0"/>
              </a:spcAft>
            </a:pPr>
            <a:r>
              <a:rPr sz="1500" b="1" i="0">
                <a:solidFill>
                  <a:srgbClr val="FFFFFF"/>
                </a:solidFill>
                <a:latin typeface="Arial"/>
              </a:rPr>
              <a:t>10</a:t>
            </a:r>
          </a:p>
        </p:txBody>
      </p:sp>
      <p:sp>
        <p:nvSpPr>
          <p:cNvPr id="10" name="TextBox 9"/>
          <p:cNvSpPr txBox="1"/>
          <p:nvPr/>
        </p:nvSpPr>
        <p:spPr>
          <a:xfrm>
            <a:off x="1289304" y="2093976"/>
            <a:ext cx="2331720" cy="320040"/>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Synthetic-informed</a:t>
            </a:r>
          </a:p>
        </p:txBody>
      </p:sp>
      <p:sp>
        <p:nvSpPr>
          <p:cNvPr id="11" name="TextBox 10"/>
          <p:cNvSpPr txBox="1"/>
          <p:nvPr/>
        </p:nvSpPr>
        <p:spPr>
          <a:xfrm>
            <a:off x="658368" y="2660904"/>
            <a:ext cx="2953512" cy="429768"/>
          </a:xfrm>
          <a:prstGeom prst="rect">
            <a:avLst/>
          </a:prstGeom>
          <a:noFill/>
        </p:spPr>
        <p:txBody>
          <a:bodyPr wrap="square" lIns="18288" rIns="18288" tIns="18288" bIns="18288" anchor="t">
            <a:spAutoFit/>
          </a:bodyPr>
          <a:lstStyle/>
          <a:p>
            <a:pPr algn="l">
              <a:spcAft>
                <a:spcPts val="0"/>
              </a:spcAft>
            </a:pPr>
            <a:r>
              <a:rPr sz="1080" b="0" i="0">
                <a:solidFill>
                  <a:srgbClr val="59697A"/>
                </a:solidFill>
                <a:latin typeface="Arial"/>
              </a:rPr>
              <a:t>Promoted or reinforced BH-FDR gene</a:t>
            </a:r>
          </a:p>
        </p:txBody>
      </p:sp>
      <p:sp>
        <p:nvSpPr>
          <p:cNvPr id="12" name="TextBox 11"/>
          <p:cNvSpPr txBox="1"/>
          <p:nvPr/>
        </p:nvSpPr>
        <p:spPr>
          <a:xfrm>
            <a:off x="685800" y="3182112"/>
            <a:ext cx="2926080" cy="2633472"/>
          </a:xfrm>
          <a:prstGeom prst="rect">
            <a:avLst/>
          </a:prstGeom>
          <a:noFill/>
        </p:spPr>
        <p:txBody>
          <a:bodyPr wrap="square" lIns="0" rIns="0" tIns="0" bIns="0" anchor="t">
            <a:spAutoFit/>
          </a:bodyPr>
          <a:lstStyle/>
          <a:p>
            <a:pPr algn="l">
              <a:spcAft>
                <a:spcPts val="0"/>
              </a:spcAft>
            </a:pPr>
            <a:r>
              <a:rPr sz="1160" b="0" i="0">
                <a:solidFill>
                  <a:srgbClr val="263746"/>
                </a:solidFill>
                <a:latin typeface="Arial"/>
              </a:rPr>
              <a:t>Adrenal Gland
Eye
Kidney
Skeletal muscle (pooled)
Skin
Spleen
Thymus
Gastrocnemius
Soleus
Tibialis Anterior</a:t>
            </a:r>
          </a:p>
        </p:txBody>
      </p:sp>
      <p:sp>
        <p:nvSpPr>
          <p:cNvPr id="13" name="Rounded Rectangle 12"/>
          <p:cNvSpPr/>
          <p:nvPr/>
        </p:nvSpPr>
        <p:spPr>
          <a:xfrm>
            <a:off x="4105656" y="1847088"/>
            <a:ext cx="3502152" cy="4297680"/>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334256" y="2075688"/>
            <a:ext cx="521207" cy="521207"/>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34256" y="2167128"/>
            <a:ext cx="521207" cy="246888"/>
          </a:xfrm>
          <a:prstGeom prst="rect">
            <a:avLst/>
          </a:prstGeom>
          <a:noFill/>
        </p:spPr>
        <p:txBody>
          <a:bodyPr wrap="square" lIns="18288" rIns="18288" tIns="18288" bIns="18288" anchor="t">
            <a:spAutoFit/>
          </a:bodyPr>
          <a:lstStyle/>
          <a:p>
            <a:pPr algn="ctr">
              <a:spcAft>
                <a:spcPts val="0"/>
              </a:spcAft>
            </a:pPr>
            <a:r>
              <a:rPr sz="1500" b="1" i="0">
                <a:solidFill>
                  <a:srgbClr val="FFFFFF"/>
                </a:solidFill>
                <a:latin typeface="Arial"/>
              </a:rPr>
              <a:t>5</a:t>
            </a:r>
          </a:p>
        </p:txBody>
      </p:sp>
      <p:sp>
        <p:nvSpPr>
          <p:cNvPr id="16" name="TextBox 15"/>
          <p:cNvSpPr txBox="1"/>
          <p:nvPr/>
        </p:nvSpPr>
        <p:spPr>
          <a:xfrm>
            <a:off x="5001768" y="2093976"/>
            <a:ext cx="2331720" cy="320040"/>
          </a:xfrm>
          <a:prstGeom prst="rect">
            <a:avLst/>
          </a:prstGeom>
          <a:noFill/>
        </p:spPr>
        <p:txBody>
          <a:bodyPr wrap="square" lIns="18288" rIns="18288" tIns="18288" bIns="18288" anchor="t">
            <a:spAutoFit/>
          </a:bodyPr>
          <a:lstStyle/>
          <a:p>
            <a:pPr algn="l">
              <a:spcAft>
                <a:spcPts val="0"/>
              </a:spcAft>
            </a:pPr>
            <a:r>
              <a:rPr sz="1700" b="1" i="0">
                <a:solidFill>
                  <a:srgbClr val="2D6496"/>
                </a:solidFill>
                <a:latin typeface="Arial"/>
              </a:rPr>
              <a:t>Real BH FDR only</a:t>
            </a:r>
          </a:p>
        </p:txBody>
      </p:sp>
      <p:sp>
        <p:nvSpPr>
          <p:cNvPr id="17" name="TextBox 16"/>
          <p:cNvSpPr txBox="1"/>
          <p:nvPr/>
        </p:nvSpPr>
        <p:spPr>
          <a:xfrm>
            <a:off x="4370832" y="2660904"/>
            <a:ext cx="2953512" cy="429768"/>
          </a:xfrm>
          <a:prstGeom prst="rect">
            <a:avLst/>
          </a:prstGeom>
          <a:noFill/>
        </p:spPr>
        <p:txBody>
          <a:bodyPr wrap="square" lIns="18288" rIns="18288" tIns="18288" bIns="18288" anchor="t">
            <a:spAutoFit/>
          </a:bodyPr>
          <a:lstStyle/>
          <a:p>
            <a:pPr algn="l">
              <a:spcAft>
                <a:spcPts val="0"/>
              </a:spcAft>
            </a:pPr>
            <a:r>
              <a:rPr sz="1080" b="0" i="0">
                <a:solidFill>
                  <a:srgbClr val="59697A"/>
                </a:solidFill>
                <a:latin typeface="Arial"/>
              </a:rPr>
              <a:t>Real association, no synthetic-informed selection</a:t>
            </a:r>
          </a:p>
        </p:txBody>
      </p:sp>
      <p:sp>
        <p:nvSpPr>
          <p:cNvPr id="18" name="TextBox 17"/>
          <p:cNvSpPr txBox="1"/>
          <p:nvPr/>
        </p:nvSpPr>
        <p:spPr>
          <a:xfrm>
            <a:off x="4398264" y="3182112"/>
            <a:ext cx="2926080" cy="2633472"/>
          </a:xfrm>
          <a:prstGeom prst="rect">
            <a:avLst/>
          </a:prstGeom>
          <a:noFill/>
        </p:spPr>
        <p:txBody>
          <a:bodyPr wrap="square" lIns="0" rIns="0" tIns="0" bIns="0" anchor="t">
            <a:spAutoFit/>
          </a:bodyPr>
          <a:lstStyle/>
          <a:p>
            <a:pPr algn="l">
              <a:spcAft>
                <a:spcPts val="0"/>
              </a:spcAft>
            </a:pPr>
            <a:r>
              <a:rPr sz="1160" b="0" i="0">
                <a:solidFill>
                  <a:srgbClr val="263746"/>
                </a:solidFill>
                <a:latin typeface="Arial"/>
              </a:rPr>
              <a:t>Heart
Liver
Retina
EDL
Quadriceps</a:t>
            </a:r>
          </a:p>
        </p:txBody>
      </p:sp>
      <p:sp>
        <p:nvSpPr>
          <p:cNvPr id="19" name="Rounded Rectangle 18"/>
          <p:cNvSpPr/>
          <p:nvPr/>
        </p:nvSpPr>
        <p:spPr>
          <a:xfrm>
            <a:off x="7818120" y="1847088"/>
            <a:ext cx="3502152" cy="4297680"/>
          </a:xfrm>
          <a:prstGeom prst="roundRect">
            <a:avLst/>
          </a:prstGeom>
          <a:solidFill>
            <a:srgbClr val="F8F1E2"/>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46720" y="2075688"/>
            <a:ext cx="521207" cy="521207"/>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6720" y="2167128"/>
            <a:ext cx="521207" cy="246888"/>
          </a:xfrm>
          <a:prstGeom prst="rect">
            <a:avLst/>
          </a:prstGeom>
          <a:noFill/>
        </p:spPr>
        <p:txBody>
          <a:bodyPr wrap="square" lIns="18288" rIns="18288" tIns="18288" bIns="18288" anchor="t">
            <a:spAutoFit/>
          </a:bodyPr>
          <a:lstStyle/>
          <a:p>
            <a:pPr algn="ctr">
              <a:spcAft>
                <a:spcPts val="0"/>
              </a:spcAft>
            </a:pPr>
            <a:r>
              <a:rPr sz="1500" b="1" i="0">
                <a:solidFill>
                  <a:srgbClr val="FFFFFF"/>
                </a:solidFill>
                <a:latin typeface="Arial"/>
              </a:rPr>
              <a:t>12</a:t>
            </a:r>
          </a:p>
        </p:txBody>
      </p:sp>
      <p:sp>
        <p:nvSpPr>
          <p:cNvPr id="22" name="TextBox 21"/>
          <p:cNvSpPr txBox="1"/>
          <p:nvPr/>
        </p:nvSpPr>
        <p:spPr>
          <a:xfrm>
            <a:off x="8714232" y="2093976"/>
            <a:ext cx="2331720" cy="320040"/>
          </a:xfrm>
          <a:prstGeom prst="rect">
            <a:avLst/>
          </a:prstGeom>
          <a:noFill/>
        </p:spPr>
        <p:txBody>
          <a:bodyPr wrap="square" lIns="18288" rIns="18288" tIns="18288" bIns="18288" anchor="t">
            <a:spAutoFit/>
          </a:bodyPr>
          <a:lstStyle/>
          <a:p>
            <a:pPr algn="l">
              <a:spcAft>
                <a:spcPts val="0"/>
              </a:spcAft>
            </a:pPr>
            <a:r>
              <a:rPr sz="1700" b="1" i="0">
                <a:solidFill>
                  <a:srgbClr val="D37B00"/>
                </a:solidFill>
                <a:latin typeface="Arial"/>
              </a:rPr>
              <a:t>No panel BH-FDR gene</a:t>
            </a:r>
          </a:p>
        </p:txBody>
      </p:sp>
      <p:sp>
        <p:nvSpPr>
          <p:cNvPr id="23" name="TextBox 22"/>
          <p:cNvSpPr txBox="1"/>
          <p:nvPr/>
        </p:nvSpPr>
        <p:spPr>
          <a:xfrm>
            <a:off x="8083296" y="2660904"/>
            <a:ext cx="2953512" cy="429768"/>
          </a:xfrm>
          <a:prstGeom prst="rect">
            <a:avLst/>
          </a:prstGeom>
          <a:noFill/>
        </p:spPr>
        <p:txBody>
          <a:bodyPr wrap="square" lIns="18288" rIns="18288" tIns="18288" bIns="18288" anchor="t">
            <a:spAutoFit/>
          </a:bodyPr>
          <a:lstStyle/>
          <a:p>
            <a:pPr algn="l">
              <a:spcAft>
                <a:spcPts val="0"/>
              </a:spcAft>
            </a:pPr>
            <a:r>
              <a:rPr sz="1080" b="0" i="0">
                <a:solidFill>
                  <a:srgbClr val="59697A"/>
                </a:solidFill>
                <a:latin typeface="Arial"/>
              </a:rPr>
              <a:t>No BH-FDR gene in the 974-gene panel</a:t>
            </a:r>
          </a:p>
        </p:txBody>
      </p:sp>
      <p:sp>
        <p:nvSpPr>
          <p:cNvPr id="24" name="TextBox 23"/>
          <p:cNvSpPr txBox="1"/>
          <p:nvPr/>
        </p:nvSpPr>
        <p:spPr>
          <a:xfrm>
            <a:off x="8110728" y="3182112"/>
            <a:ext cx="2926080" cy="2633472"/>
          </a:xfrm>
          <a:prstGeom prst="rect">
            <a:avLst/>
          </a:prstGeom>
          <a:noFill/>
        </p:spPr>
        <p:txBody>
          <a:bodyPr wrap="square" lIns="0" rIns="0" tIns="0" bIns="0" anchor="t">
            <a:spAutoFit/>
          </a:bodyPr>
          <a:lstStyle/>
          <a:p>
            <a:pPr algn="l">
              <a:spcAft>
                <a:spcPts val="0"/>
              </a:spcAft>
            </a:pPr>
            <a:r>
              <a:rPr sz="1160" b="0" i="0">
                <a:solidFill>
                  <a:srgbClr val="263746"/>
                </a:solidFill>
                <a:latin typeface="Arial"/>
              </a:rPr>
              <a:t>Bone
Bone Marrow
Brain
Brown Adipose Tissue
Cecum
Cerebellum
Colon
Hippocampus
Lung
Mammary Gland
Optic Nerve
White Adipose Tissue</a:t>
            </a:r>
          </a:p>
        </p:txBody>
      </p:sp>
      <p:sp>
        <p:nvSpPr>
          <p:cNvPr id="25" name="TextBox 24"/>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Twenty-two canonical tissues plus EDL, gastrocnemius, quadriceps, soleus and tibialis anterior; complete counts in Table S12.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GENE INVENTORY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Synthetic-informed genes spanned 10 tissue analyses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associations passed BH FDR in real OSDR data; synthetic profiles affected prioritization, not the statistical test.</a:t>
            </a:r>
          </a:p>
        </p:txBody>
      </p:sp>
      <p:sp>
        <p:nvSpPr>
          <p:cNvPr id="7" name="TextBox 6"/>
          <p:cNvSpPr txBox="1"/>
          <p:nvPr/>
        </p:nvSpPr>
        <p:spPr>
          <a:xfrm>
            <a:off x="411480" y="1709928"/>
            <a:ext cx="960120" cy="228600"/>
          </a:xfrm>
          <a:prstGeom prst="rect">
            <a:avLst/>
          </a:prstGeom>
          <a:noFill/>
        </p:spPr>
        <p:txBody>
          <a:bodyPr wrap="square" lIns="18288" rIns="18288" tIns="18288" bIns="18288" anchor="t">
            <a:spAutoFit/>
          </a:bodyPr>
          <a:lstStyle/>
          <a:p>
            <a:pPr algn="l">
              <a:spcAft>
                <a:spcPts val="0"/>
              </a:spcAft>
            </a:pPr>
            <a:r>
              <a:rPr sz="1019" b="1" i="0">
                <a:solidFill>
                  <a:srgbClr val="D96552"/>
                </a:solidFill>
                <a:latin typeface="Arial"/>
              </a:rPr>
              <a:t>[P] promoted</a:t>
            </a:r>
          </a:p>
        </p:txBody>
      </p:sp>
      <p:sp>
        <p:nvSpPr>
          <p:cNvPr id="8" name="TextBox 7"/>
          <p:cNvSpPr txBox="1"/>
          <p:nvPr/>
        </p:nvSpPr>
        <p:spPr>
          <a:xfrm>
            <a:off x="1417320" y="1709928"/>
            <a:ext cx="1078992" cy="228600"/>
          </a:xfrm>
          <a:prstGeom prst="rect">
            <a:avLst/>
          </a:prstGeom>
          <a:noFill/>
        </p:spPr>
        <p:txBody>
          <a:bodyPr wrap="square" lIns="18288" rIns="18288" tIns="18288" bIns="18288" anchor="t">
            <a:spAutoFit/>
          </a:bodyPr>
          <a:lstStyle/>
          <a:p>
            <a:pPr algn="l">
              <a:spcAft>
                <a:spcPts val="0"/>
              </a:spcAft>
            </a:pPr>
            <a:r>
              <a:rPr sz="1019" b="1" i="0">
                <a:solidFill>
                  <a:srgbClr val="178681"/>
                </a:solidFill>
                <a:latin typeface="Arial"/>
              </a:rPr>
              <a:t>[R] reinforced</a:t>
            </a:r>
          </a:p>
        </p:txBody>
      </p:sp>
      <p:sp>
        <p:nvSpPr>
          <p:cNvPr id="9" name="Rectangle 8"/>
          <p:cNvSpPr/>
          <p:nvPr/>
        </p:nvSpPr>
        <p:spPr>
          <a:xfrm>
            <a:off x="2660904" y="1746504"/>
            <a:ext cx="128016" cy="45720"/>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34640" y="1691640"/>
            <a:ext cx="841248" cy="228600"/>
          </a:xfrm>
          <a:prstGeom prst="rect">
            <a:avLst/>
          </a:prstGeom>
          <a:noFill/>
        </p:spPr>
        <p:txBody>
          <a:bodyPr wrap="square" lIns="18288" rIns="18288" tIns="18288" bIns="18288" anchor="t">
            <a:spAutoFit/>
          </a:bodyPr>
          <a:lstStyle/>
          <a:p>
            <a:pPr algn="l">
              <a:spcAft>
                <a:spcPts val="0"/>
              </a:spcAft>
            </a:pPr>
            <a:r>
              <a:rPr sz="980" b="1" i="0">
                <a:solidFill>
                  <a:srgbClr val="478A64"/>
                </a:solidFill>
                <a:latin typeface="Arial"/>
              </a:rPr>
              <a:t>aligning</a:t>
            </a:r>
          </a:p>
        </p:txBody>
      </p:sp>
      <p:sp>
        <p:nvSpPr>
          <p:cNvPr id="11" name="Rectangle 10"/>
          <p:cNvSpPr/>
          <p:nvPr/>
        </p:nvSpPr>
        <p:spPr>
          <a:xfrm>
            <a:off x="3575304" y="1746504"/>
            <a:ext cx="128016" cy="4572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49040" y="1691640"/>
            <a:ext cx="1115568" cy="228600"/>
          </a:xfrm>
          <a:prstGeom prst="rect">
            <a:avLst/>
          </a:prstGeom>
          <a:noFill/>
        </p:spPr>
        <p:txBody>
          <a:bodyPr wrap="square" lIns="18288" rIns="18288" tIns="18288" bIns="18288" anchor="t">
            <a:spAutoFit/>
          </a:bodyPr>
          <a:lstStyle/>
          <a:p>
            <a:pPr algn="l">
              <a:spcAft>
                <a:spcPts val="0"/>
              </a:spcAft>
            </a:pPr>
            <a:r>
              <a:rPr sz="980" b="1" i="0">
                <a:solidFill>
                  <a:srgbClr val="2D6496"/>
                </a:solidFill>
                <a:latin typeface="Arial"/>
              </a:rPr>
              <a:t>complementary</a:t>
            </a:r>
          </a:p>
        </p:txBody>
      </p:sp>
      <p:sp>
        <p:nvSpPr>
          <p:cNvPr id="13" name="Rectangle 12"/>
          <p:cNvSpPr/>
          <p:nvPr/>
        </p:nvSpPr>
        <p:spPr>
          <a:xfrm>
            <a:off x="4791456" y="1746504"/>
            <a:ext cx="128016"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65192" y="1691640"/>
            <a:ext cx="932688" cy="228600"/>
          </a:xfrm>
          <a:prstGeom prst="rect">
            <a:avLst/>
          </a:prstGeom>
          <a:noFill/>
        </p:spPr>
        <p:txBody>
          <a:bodyPr wrap="square" lIns="18288" rIns="18288" tIns="18288" bIns="18288" anchor="t">
            <a:spAutoFit/>
          </a:bodyPr>
          <a:lstStyle/>
          <a:p>
            <a:pPr algn="l">
              <a:spcAft>
                <a:spcPts val="0"/>
              </a:spcAft>
            </a:pPr>
            <a:r>
              <a:rPr sz="980" b="1" i="0">
                <a:solidFill>
                  <a:srgbClr val="D37B00"/>
                </a:solidFill>
                <a:latin typeface="Arial"/>
              </a:rPr>
              <a:t>ambiguous</a:t>
            </a:r>
          </a:p>
        </p:txBody>
      </p:sp>
      <p:sp>
        <p:nvSpPr>
          <p:cNvPr id="15" name="Rectangle 14"/>
          <p:cNvSpPr/>
          <p:nvPr/>
        </p:nvSpPr>
        <p:spPr>
          <a:xfrm>
            <a:off x="5833872" y="1746504"/>
            <a:ext cx="128016" cy="4572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07608" y="1691640"/>
            <a:ext cx="960120" cy="228600"/>
          </a:xfrm>
          <a:prstGeom prst="rect">
            <a:avLst/>
          </a:prstGeom>
          <a:noFill/>
        </p:spPr>
        <p:txBody>
          <a:bodyPr wrap="square" lIns="18288" rIns="18288" tIns="18288" bIns="18288" anchor="t">
            <a:spAutoFit/>
          </a:bodyPr>
          <a:lstStyle/>
          <a:p>
            <a:pPr algn="l">
              <a:spcAft>
                <a:spcPts val="0"/>
              </a:spcAft>
            </a:pPr>
            <a:r>
              <a:rPr sz="980" b="1" i="0">
                <a:solidFill>
                  <a:srgbClr val="8063A6"/>
                </a:solidFill>
                <a:latin typeface="Arial"/>
              </a:rPr>
              <a:t>unmatched</a:t>
            </a:r>
          </a:p>
        </p:txBody>
      </p:sp>
      <p:sp>
        <p:nvSpPr>
          <p:cNvPr id="17" name="TextBox 16"/>
          <p:cNvSpPr txBox="1"/>
          <p:nvPr/>
        </p:nvSpPr>
        <p:spPr>
          <a:xfrm>
            <a:off x="8412480" y="1691640"/>
            <a:ext cx="3328416" cy="228600"/>
          </a:xfrm>
          <a:prstGeom prst="rect">
            <a:avLst/>
          </a:prstGeom>
          <a:noFill/>
        </p:spPr>
        <p:txBody>
          <a:bodyPr wrap="square" lIns="18288" rIns="18288" tIns="18288" bIns="18288" anchor="t">
            <a:spAutoFit/>
          </a:bodyPr>
          <a:lstStyle/>
          <a:p>
            <a:pPr algn="r">
              <a:spcAft>
                <a:spcPts val="0"/>
              </a:spcAft>
            </a:pPr>
            <a:r>
              <a:rPr sz="980" b="0" i="1">
                <a:solidFill>
                  <a:srgbClr val="8A969E"/>
                </a:solidFill>
                <a:latin typeface="Arial"/>
              </a:rPr>
              <a:t>Tag = selection | Gene color = literature</a:t>
            </a:r>
          </a:p>
        </p:txBody>
      </p:sp>
      <p:sp>
        <p:nvSpPr>
          <p:cNvPr id="18" name="Rectangle 17"/>
          <p:cNvSpPr/>
          <p:nvPr/>
        </p:nvSpPr>
        <p:spPr>
          <a:xfrm>
            <a:off x="393192"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8056" y="2112264"/>
            <a:ext cx="1170432" cy="1234439"/>
          </a:xfrm>
          <a:prstGeom prst="rect">
            <a:avLst/>
          </a:prstGeom>
          <a:noFill/>
        </p:spPr>
        <p:txBody>
          <a:bodyPr wrap="square" lIns="0" rIns="0" tIns="0" bIns="0" anchor="t">
            <a:spAutoFit/>
          </a:bodyPr>
          <a:lstStyle/>
          <a:p>
            <a:pPr>
              <a:spcAft>
                <a:spcPts val="0"/>
              </a:spcAft>
            </a:pPr>
            <a:r>
              <a:rPr sz="1180" b="1" i="0">
                <a:solidFill>
                  <a:srgbClr val="082B55"/>
                </a:solidFill>
                <a:latin typeface="Arial"/>
              </a:rPr>
              <a:t>Thymus
</a:t>
            </a:r>
            <a:r>
              <a:rPr sz="900" b="0" i="0">
                <a:solidFill>
                  <a:srgbClr val="8A969E"/>
                </a:solidFill>
                <a:latin typeface="Arial"/>
              </a:rPr>
              <a:t>16 genes</a:t>
            </a:r>
          </a:p>
        </p:txBody>
      </p:sp>
      <p:sp>
        <p:nvSpPr>
          <p:cNvPr id="20" name="TextBox 19"/>
          <p:cNvSpPr txBox="1"/>
          <p:nvPr/>
        </p:nvSpPr>
        <p:spPr>
          <a:xfrm>
            <a:off x="1645920" y="2103120"/>
            <a:ext cx="621792" cy="219456"/>
          </a:xfrm>
          <a:prstGeom prst="rect">
            <a:avLst/>
          </a:prstGeom>
          <a:noFill/>
        </p:spPr>
        <p:txBody>
          <a:bodyPr wrap="square" lIns="0" rIns="0" tIns="0" bIns="0" anchor="t">
            <a:spAutoFit/>
          </a:bodyPr>
          <a:lstStyle/>
          <a:p>
            <a:pPr algn="l">
              <a:spcAft>
                <a:spcPts val="0"/>
              </a:spcAft>
            </a:pPr>
            <a:r>
              <a:rPr sz="900" b="1" i="0">
                <a:solidFill>
                  <a:srgbClr val="D96552"/>
                </a:solidFill>
                <a:latin typeface="Arial"/>
              </a:rPr>
              <a:t>FLT higher</a:t>
            </a:r>
          </a:p>
        </p:txBody>
      </p:sp>
      <p:sp>
        <p:nvSpPr>
          <p:cNvPr id="21" name="TextBox 20"/>
          <p:cNvSpPr txBox="1"/>
          <p:nvPr/>
        </p:nvSpPr>
        <p:spPr>
          <a:xfrm>
            <a:off x="2331720" y="2103120"/>
            <a:ext cx="3611880" cy="310896"/>
          </a:xfrm>
          <a:prstGeom prst="rect">
            <a:avLst/>
          </a:prstGeom>
          <a:noFill/>
        </p:spPr>
        <p:txBody>
          <a:bodyPr wrap="square" lIns="0" rIns="0" tIns="0" bIns="0" anchor="t">
            <a:spAutoFit/>
          </a:bodyPr>
          <a:lstStyle/>
          <a:p>
            <a:pPr>
              <a:spcAft>
                <a:spcPts val="0"/>
              </a:spcAft>
            </a:pPr>
            <a:r>
              <a:rPr sz="910" b="1" i="0">
                <a:solidFill>
                  <a:srgbClr val="D96552"/>
                </a:solidFill>
                <a:latin typeface="Arial"/>
              </a:rPr>
              <a:t>[P]</a:t>
            </a:r>
            <a:r>
              <a:rPr sz="980" b="1" i="1">
                <a:solidFill>
                  <a:srgbClr val="2D6496"/>
                </a:solidFill>
                <a:latin typeface="Arial"/>
              </a:rPr>
              <a:t>Hsd17b11</a:t>
            </a:r>
            <a:r>
              <a:rPr sz="980" b="0" i="0">
                <a:solidFill>
                  <a:srgbClr val="8A969E"/>
                </a:solidFill>
                <a:latin typeface="Arial"/>
              </a:rPr>
              <a:t>, </a:t>
            </a:r>
            <a:r>
              <a:rPr sz="910" b="1" i="0">
                <a:solidFill>
                  <a:srgbClr val="D96552"/>
                </a:solidFill>
                <a:latin typeface="Arial"/>
              </a:rPr>
              <a:t>[P]</a:t>
            </a:r>
            <a:r>
              <a:rPr sz="980" b="1" i="1">
                <a:solidFill>
                  <a:srgbClr val="2D6496"/>
                </a:solidFill>
                <a:latin typeface="Arial"/>
              </a:rPr>
              <a:t>Etv1</a:t>
            </a:r>
            <a:r>
              <a:rPr sz="980" b="0" i="0">
                <a:solidFill>
                  <a:srgbClr val="8A969E"/>
                </a:solidFill>
                <a:latin typeface="Arial"/>
              </a:rPr>
              <a:t>, </a:t>
            </a:r>
            <a:r>
              <a:rPr sz="910" b="1" i="0">
                <a:solidFill>
                  <a:srgbClr val="178681"/>
                </a:solidFill>
                <a:latin typeface="Arial"/>
              </a:rPr>
              <a:t>[R]</a:t>
            </a:r>
            <a:r>
              <a:rPr sz="980" b="1" i="1">
                <a:solidFill>
                  <a:srgbClr val="8063A6"/>
                </a:solidFill>
                <a:latin typeface="Arial"/>
              </a:rPr>
              <a:t>Snx7</a:t>
            </a:r>
          </a:p>
        </p:txBody>
      </p:sp>
      <p:sp>
        <p:nvSpPr>
          <p:cNvPr id="22" name="TextBox 21"/>
          <p:cNvSpPr txBox="1"/>
          <p:nvPr/>
        </p:nvSpPr>
        <p:spPr>
          <a:xfrm>
            <a:off x="1645920" y="2414016"/>
            <a:ext cx="621792" cy="219456"/>
          </a:xfrm>
          <a:prstGeom prst="rect">
            <a:avLst/>
          </a:prstGeom>
          <a:noFill/>
        </p:spPr>
        <p:txBody>
          <a:bodyPr wrap="square" lIns="0" rIns="0" tIns="0" bIns="0" anchor="t">
            <a:spAutoFit/>
          </a:bodyPr>
          <a:lstStyle/>
          <a:p>
            <a:pPr algn="l">
              <a:spcAft>
                <a:spcPts val="0"/>
              </a:spcAft>
            </a:pPr>
            <a:r>
              <a:rPr sz="900" b="1" i="0">
                <a:solidFill>
                  <a:srgbClr val="178681"/>
                </a:solidFill>
                <a:latin typeface="Arial"/>
              </a:rPr>
              <a:t>FLT lower</a:t>
            </a:r>
          </a:p>
        </p:txBody>
      </p:sp>
      <p:sp>
        <p:nvSpPr>
          <p:cNvPr id="23" name="TextBox 22"/>
          <p:cNvSpPr txBox="1"/>
          <p:nvPr/>
        </p:nvSpPr>
        <p:spPr>
          <a:xfrm>
            <a:off x="2331720" y="2414016"/>
            <a:ext cx="3611880" cy="914399"/>
          </a:xfrm>
          <a:prstGeom prst="rect">
            <a:avLst/>
          </a:prstGeom>
          <a:noFill/>
        </p:spPr>
        <p:txBody>
          <a:bodyPr wrap="square" lIns="0" rIns="0" tIns="0" bIns="0" anchor="t">
            <a:spAutoFit/>
          </a:bodyPr>
          <a:lstStyle/>
          <a:p>
            <a:pPr>
              <a:spcAft>
                <a:spcPts val="0"/>
              </a:spcAft>
            </a:pPr>
            <a:r>
              <a:rPr sz="910" b="1" i="0">
                <a:solidFill>
                  <a:srgbClr val="D96552"/>
                </a:solidFill>
                <a:latin typeface="Arial"/>
              </a:rPr>
              <a:t>[P]</a:t>
            </a:r>
            <a:r>
              <a:rPr sz="980" b="1" i="1">
                <a:solidFill>
                  <a:srgbClr val="478A64"/>
                </a:solidFill>
                <a:latin typeface="Arial"/>
              </a:rPr>
              <a:t>Nusap1</a:t>
            </a:r>
            <a:r>
              <a:rPr sz="980" b="0" i="0">
                <a:solidFill>
                  <a:srgbClr val="8A969E"/>
                </a:solidFill>
                <a:latin typeface="Arial"/>
              </a:rPr>
              <a:t>, </a:t>
            </a:r>
            <a:r>
              <a:rPr sz="910" b="1" i="0">
                <a:solidFill>
                  <a:srgbClr val="D96552"/>
                </a:solidFill>
                <a:latin typeface="Arial"/>
              </a:rPr>
              <a:t>[P]</a:t>
            </a:r>
            <a:r>
              <a:rPr sz="980" b="1" i="1">
                <a:solidFill>
                  <a:srgbClr val="478A64"/>
                </a:solidFill>
                <a:latin typeface="Arial"/>
              </a:rPr>
              <a:t>Stmn1</a:t>
            </a:r>
            <a:r>
              <a:rPr sz="980" b="0" i="0">
                <a:solidFill>
                  <a:srgbClr val="8A969E"/>
                </a:solidFill>
                <a:latin typeface="Arial"/>
              </a:rPr>
              <a:t>, </a:t>
            </a:r>
            <a:r>
              <a:rPr sz="910" b="1" i="0">
                <a:solidFill>
                  <a:srgbClr val="D96552"/>
                </a:solidFill>
                <a:latin typeface="Arial"/>
              </a:rPr>
              <a:t>[P]</a:t>
            </a:r>
            <a:r>
              <a:rPr sz="980" b="1" i="1">
                <a:solidFill>
                  <a:srgbClr val="D37B00"/>
                </a:solidFill>
                <a:latin typeface="Arial"/>
              </a:rPr>
              <a:t>Birc5</a:t>
            </a:r>
            <a:r>
              <a:rPr sz="980" b="0" i="0">
                <a:solidFill>
                  <a:srgbClr val="8A969E"/>
                </a:solidFill>
                <a:latin typeface="Arial"/>
              </a:rPr>
              <a:t>, </a:t>
            </a:r>
            <a:r>
              <a:rPr sz="910" b="1" i="0">
                <a:solidFill>
                  <a:srgbClr val="D96552"/>
                </a:solidFill>
                <a:latin typeface="Arial"/>
              </a:rPr>
              <a:t>[P]</a:t>
            </a:r>
            <a:r>
              <a:rPr sz="980" b="1" i="1">
                <a:solidFill>
                  <a:srgbClr val="478A64"/>
                </a:solidFill>
                <a:latin typeface="Arial"/>
              </a:rPr>
              <a:t>Cdk1</a:t>
            </a:r>
            <a:r>
              <a:rPr sz="980" b="0" i="0">
                <a:solidFill>
                  <a:srgbClr val="8A969E"/>
                </a:solidFill>
                <a:latin typeface="Arial"/>
              </a:rPr>
              <a:t>, </a:t>
            </a:r>
            <a:r>
              <a:rPr sz="910" b="1" i="0">
                <a:solidFill>
                  <a:srgbClr val="D96552"/>
                </a:solidFill>
                <a:latin typeface="Arial"/>
              </a:rPr>
              <a:t>[P]</a:t>
            </a:r>
            <a:r>
              <a:rPr sz="980" b="1" i="1">
                <a:solidFill>
                  <a:srgbClr val="478A64"/>
                </a:solidFill>
                <a:latin typeface="Arial"/>
              </a:rPr>
              <a:t>Top2a</a:t>
            </a:r>
            <a:r>
              <a:rPr sz="980" b="0" i="0">
                <a:solidFill>
                  <a:srgbClr val="8A969E"/>
                </a:solidFill>
                <a:latin typeface="Arial"/>
              </a:rPr>
              <a:t>, </a:t>
            </a:r>
            <a:r>
              <a:rPr sz="910" b="1" i="0">
                <a:solidFill>
                  <a:srgbClr val="D96552"/>
                </a:solidFill>
                <a:latin typeface="Arial"/>
              </a:rPr>
              <a:t>[P]</a:t>
            </a:r>
            <a:r>
              <a:rPr sz="980" b="1" i="1">
                <a:solidFill>
                  <a:srgbClr val="478A64"/>
                </a:solidFill>
                <a:latin typeface="Arial"/>
              </a:rPr>
              <a:t>Ccnb2</a:t>
            </a:r>
            <a:r>
              <a:rPr sz="980" b="0" i="0">
                <a:solidFill>
                  <a:srgbClr val="8A969E"/>
                </a:solidFill>
                <a:latin typeface="Arial"/>
              </a:rPr>
              <a:t>, </a:t>
            </a:r>
            <a:r>
              <a:rPr sz="910" b="1" i="0">
                <a:solidFill>
                  <a:srgbClr val="D96552"/>
                </a:solidFill>
                <a:latin typeface="Arial"/>
              </a:rPr>
              <a:t>[P]</a:t>
            </a:r>
            <a:r>
              <a:rPr sz="980" b="1" i="1">
                <a:solidFill>
                  <a:srgbClr val="478A64"/>
                </a:solidFill>
                <a:latin typeface="Arial"/>
              </a:rPr>
              <a:t>Aurka</a:t>
            </a:r>
            <a:r>
              <a:rPr sz="980" b="0" i="0">
                <a:solidFill>
                  <a:srgbClr val="8A969E"/>
                </a:solidFill>
                <a:latin typeface="Arial"/>
              </a:rPr>
              <a:t>, </a:t>
            </a:r>
            <a:r>
              <a:rPr sz="910" b="1" i="0">
                <a:solidFill>
                  <a:srgbClr val="D96552"/>
                </a:solidFill>
                <a:latin typeface="Arial"/>
              </a:rPr>
              <a:t>[P]</a:t>
            </a:r>
            <a:r>
              <a:rPr sz="980" b="1" i="1">
                <a:solidFill>
                  <a:srgbClr val="478A64"/>
                </a:solidFill>
                <a:latin typeface="Arial"/>
              </a:rPr>
              <a:t>Ccne2</a:t>
            </a:r>
            <a:r>
              <a:rPr sz="980" b="0" i="0">
                <a:solidFill>
                  <a:srgbClr val="8A969E"/>
                </a:solidFill>
                <a:latin typeface="Arial"/>
              </a:rPr>
              <a:t>, </a:t>
            </a:r>
            <a:r>
              <a:rPr sz="910" b="1" i="0">
                <a:solidFill>
                  <a:srgbClr val="D96552"/>
                </a:solidFill>
                <a:latin typeface="Arial"/>
              </a:rPr>
              <a:t>[P]</a:t>
            </a:r>
            <a:r>
              <a:rPr sz="980" b="1" i="1">
                <a:solidFill>
                  <a:srgbClr val="478A64"/>
                </a:solidFill>
                <a:latin typeface="Arial"/>
              </a:rPr>
              <a:t>Kif20a</a:t>
            </a:r>
            <a:r>
              <a:rPr sz="980" b="0" i="0">
                <a:solidFill>
                  <a:srgbClr val="8A969E"/>
                </a:solidFill>
                <a:latin typeface="Arial"/>
              </a:rPr>
              <a:t>, </a:t>
            </a:r>
            <a:r>
              <a:rPr sz="910" b="1" i="0">
                <a:solidFill>
                  <a:srgbClr val="D96552"/>
                </a:solidFill>
                <a:latin typeface="Arial"/>
              </a:rPr>
              <a:t>[P]</a:t>
            </a:r>
            <a:r>
              <a:rPr sz="980" b="1" i="1">
                <a:solidFill>
                  <a:srgbClr val="478A64"/>
                </a:solidFill>
                <a:latin typeface="Arial"/>
              </a:rPr>
              <a:t>Pcna</a:t>
            </a:r>
            <a:r>
              <a:rPr sz="980" b="0" i="0">
                <a:solidFill>
                  <a:srgbClr val="8A969E"/>
                </a:solidFill>
                <a:latin typeface="Arial"/>
              </a:rPr>
              <a:t>, </a:t>
            </a:r>
            <a:r>
              <a:rPr sz="910" b="1" i="0">
                <a:solidFill>
                  <a:srgbClr val="D96552"/>
                </a:solidFill>
                <a:latin typeface="Arial"/>
              </a:rPr>
              <a:t>[P]</a:t>
            </a:r>
            <a:r>
              <a:rPr sz="980" b="1" i="1">
                <a:solidFill>
                  <a:srgbClr val="478A64"/>
                </a:solidFill>
                <a:latin typeface="Arial"/>
              </a:rPr>
              <a:t>Ccnf</a:t>
            </a:r>
            <a:r>
              <a:rPr sz="980" b="0" i="0">
                <a:solidFill>
                  <a:srgbClr val="8A969E"/>
                </a:solidFill>
                <a:latin typeface="Arial"/>
              </a:rPr>
              <a:t>, </a:t>
            </a:r>
            <a:r>
              <a:rPr sz="910" b="1" i="0">
                <a:solidFill>
                  <a:srgbClr val="178681"/>
                </a:solidFill>
                <a:latin typeface="Arial"/>
              </a:rPr>
              <a:t>[R]</a:t>
            </a:r>
            <a:r>
              <a:rPr sz="980" b="1" i="1">
                <a:solidFill>
                  <a:srgbClr val="478A64"/>
                </a:solidFill>
                <a:latin typeface="Arial"/>
              </a:rPr>
              <a:t>Ube2c</a:t>
            </a:r>
            <a:r>
              <a:rPr sz="980" b="0" i="0">
                <a:solidFill>
                  <a:srgbClr val="8A969E"/>
                </a:solidFill>
                <a:latin typeface="Arial"/>
              </a:rPr>
              <a:t>, </a:t>
            </a:r>
            <a:r>
              <a:rPr sz="910" b="1" i="0">
                <a:solidFill>
                  <a:srgbClr val="178681"/>
                </a:solidFill>
                <a:latin typeface="Arial"/>
              </a:rPr>
              <a:t>[R]</a:t>
            </a:r>
            <a:r>
              <a:rPr sz="980" b="1" i="1">
                <a:solidFill>
                  <a:srgbClr val="478A64"/>
                </a:solidFill>
                <a:latin typeface="Arial"/>
              </a:rPr>
              <a:t>Gmnn</a:t>
            </a:r>
          </a:p>
        </p:txBody>
      </p:sp>
      <p:sp>
        <p:nvSpPr>
          <p:cNvPr id="24" name="Rectangle 23"/>
          <p:cNvSpPr/>
          <p:nvPr/>
        </p:nvSpPr>
        <p:spPr>
          <a:xfrm>
            <a:off x="393192" y="345643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8056" y="3520439"/>
            <a:ext cx="1170432" cy="521208"/>
          </a:xfrm>
          <a:prstGeom prst="rect">
            <a:avLst/>
          </a:prstGeom>
          <a:noFill/>
        </p:spPr>
        <p:txBody>
          <a:bodyPr wrap="square" lIns="0" rIns="0" tIns="0" bIns="0" anchor="t">
            <a:spAutoFit/>
          </a:bodyPr>
          <a:lstStyle/>
          <a:p>
            <a:pPr>
              <a:spcAft>
                <a:spcPts val="0"/>
              </a:spcAft>
            </a:pPr>
            <a:r>
              <a:rPr sz="1180" b="1" i="0">
                <a:solidFill>
                  <a:srgbClr val="082B55"/>
                </a:solidFill>
                <a:latin typeface="Arial"/>
              </a:rPr>
              <a:t>Spleen
</a:t>
            </a:r>
            <a:r>
              <a:rPr sz="900" b="0" i="0">
                <a:solidFill>
                  <a:srgbClr val="8A969E"/>
                </a:solidFill>
                <a:latin typeface="Arial"/>
              </a:rPr>
              <a:t>4 genes</a:t>
            </a:r>
          </a:p>
        </p:txBody>
      </p:sp>
      <p:sp>
        <p:nvSpPr>
          <p:cNvPr id="26" name="TextBox 25"/>
          <p:cNvSpPr txBox="1"/>
          <p:nvPr/>
        </p:nvSpPr>
        <p:spPr>
          <a:xfrm>
            <a:off x="1645920" y="3511296"/>
            <a:ext cx="621792" cy="219456"/>
          </a:xfrm>
          <a:prstGeom prst="rect">
            <a:avLst/>
          </a:prstGeom>
          <a:noFill/>
        </p:spPr>
        <p:txBody>
          <a:bodyPr wrap="square" lIns="0" rIns="0" tIns="0" bIns="0" anchor="t">
            <a:spAutoFit/>
          </a:bodyPr>
          <a:lstStyle/>
          <a:p>
            <a:pPr algn="l">
              <a:spcAft>
                <a:spcPts val="0"/>
              </a:spcAft>
            </a:pPr>
            <a:r>
              <a:rPr sz="900" b="1" i="0">
                <a:solidFill>
                  <a:srgbClr val="D96552"/>
                </a:solidFill>
                <a:latin typeface="Arial"/>
              </a:rPr>
              <a:t>FLT higher</a:t>
            </a:r>
          </a:p>
        </p:txBody>
      </p:sp>
      <p:sp>
        <p:nvSpPr>
          <p:cNvPr id="27" name="TextBox 26"/>
          <p:cNvSpPr txBox="1"/>
          <p:nvPr/>
        </p:nvSpPr>
        <p:spPr>
          <a:xfrm>
            <a:off x="2331720" y="3511296"/>
            <a:ext cx="3611880" cy="274320"/>
          </a:xfrm>
          <a:prstGeom prst="rect">
            <a:avLst/>
          </a:prstGeom>
          <a:noFill/>
        </p:spPr>
        <p:txBody>
          <a:bodyPr wrap="square" lIns="0" rIns="0" tIns="0" bIns="0" anchor="t">
            <a:spAutoFit/>
          </a:bodyPr>
          <a:lstStyle/>
          <a:p>
            <a:pPr>
              <a:spcAft>
                <a:spcPts val="0"/>
              </a:spcAft>
            </a:pPr>
            <a:r>
              <a:rPr sz="910" b="1" i="0">
                <a:solidFill>
                  <a:srgbClr val="D96552"/>
                </a:solidFill>
                <a:latin typeface="Arial"/>
              </a:rPr>
              <a:t>[P]</a:t>
            </a:r>
            <a:r>
              <a:rPr sz="980" b="1" i="1">
                <a:solidFill>
                  <a:srgbClr val="2D6496"/>
                </a:solidFill>
                <a:latin typeface="Arial"/>
              </a:rPr>
              <a:t>Rai14</a:t>
            </a:r>
            <a:r>
              <a:rPr sz="980" b="0" i="0">
                <a:solidFill>
                  <a:srgbClr val="8A969E"/>
                </a:solidFill>
                <a:latin typeface="Arial"/>
              </a:rPr>
              <a:t>, </a:t>
            </a:r>
            <a:r>
              <a:rPr sz="910" b="1" i="0">
                <a:solidFill>
                  <a:srgbClr val="D96552"/>
                </a:solidFill>
                <a:latin typeface="Arial"/>
              </a:rPr>
              <a:t>[P]</a:t>
            </a:r>
            <a:r>
              <a:rPr sz="980" b="1" i="1">
                <a:solidFill>
                  <a:srgbClr val="2D6496"/>
                </a:solidFill>
                <a:latin typeface="Arial"/>
              </a:rPr>
              <a:t>Myl9</a:t>
            </a:r>
            <a:r>
              <a:rPr sz="980" b="0" i="0">
                <a:solidFill>
                  <a:srgbClr val="8A969E"/>
                </a:solidFill>
                <a:latin typeface="Arial"/>
              </a:rPr>
              <a:t>, </a:t>
            </a:r>
            <a:r>
              <a:rPr sz="910" b="1" i="0">
                <a:solidFill>
                  <a:srgbClr val="D96552"/>
                </a:solidFill>
                <a:latin typeface="Arial"/>
              </a:rPr>
              <a:t>[P]</a:t>
            </a:r>
            <a:r>
              <a:rPr sz="980" b="1" i="1">
                <a:solidFill>
                  <a:srgbClr val="2D6496"/>
                </a:solidFill>
                <a:latin typeface="Arial"/>
              </a:rPr>
              <a:t>Ptprk</a:t>
            </a:r>
            <a:r>
              <a:rPr sz="980" b="0" i="0">
                <a:solidFill>
                  <a:srgbClr val="8A969E"/>
                </a:solidFill>
                <a:latin typeface="Arial"/>
              </a:rPr>
              <a:t>, </a:t>
            </a:r>
            <a:r>
              <a:rPr sz="910" b="1" i="0">
                <a:solidFill>
                  <a:srgbClr val="178681"/>
                </a:solidFill>
                <a:latin typeface="Arial"/>
              </a:rPr>
              <a:t>[R]</a:t>
            </a:r>
            <a:r>
              <a:rPr sz="980" b="1" i="1">
                <a:solidFill>
                  <a:srgbClr val="2D6496"/>
                </a:solidFill>
                <a:latin typeface="Arial"/>
              </a:rPr>
              <a:t>Loxl1</a:t>
            </a:r>
          </a:p>
        </p:txBody>
      </p:sp>
      <p:sp>
        <p:nvSpPr>
          <p:cNvPr id="28" name="TextBox 27"/>
          <p:cNvSpPr txBox="1"/>
          <p:nvPr/>
        </p:nvSpPr>
        <p:spPr>
          <a:xfrm>
            <a:off x="1645920" y="3785615"/>
            <a:ext cx="621792" cy="219456"/>
          </a:xfrm>
          <a:prstGeom prst="rect">
            <a:avLst/>
          </a:prstGeom>
          <a:noFill/>
        </p:spPr>
        <p:txBody>
          <a:bodyPr wrap="square" lIns="0" rIns="0" tIns="0" bIns="0" anchor="t">
            <a:spAutoFit/>
          </a:bodyPr>
          <a:lstStyle/>
          <a:p>
            <a:pPr algn="l">
              <a:spcAft>
                <a:spcPts val="0"/>
              </a:spcAft>
            </a:pPr>
            <a:r>
              <a:rPr sz="900" b="1" i="0">
                <a:solidFill>
                  <a:srgbClr val="178681"/>
                </a:solidFill>
                <a:latin typeface="Arial"/>
              </a:rPr>
              <a:t>FLT lower</a:t>
            </a:r>
          </a:p>
        </p:txBody>
      </p:sp>
      <p:sp>
        <p:nvSpPr>
          <p:cNvPr id="29" name="TextBox 28"/>
          <p:cNvSpPr txBox="1"/>
          <p:nvPr/>
        </p:nvSpPr>
        <p:spPr>
          <a:xfrm>
            <a:off x="2331720" y="3785615"/>
            <a:ext cx="3611880" cy="237744"/>
          </a:xfrm>
          <a:prstGeom prst="rect">
            <a:avLst/>
          </a:prstGeom>
          <a:noFill/>
        </p:spPr>
        <p:txBody>
          <a:bodyPr wrap="square" lIns="0" rIns="0" tIns="0" bIns="0" anchor="t">
            <a:spAutoFit/>
          </a:bodyPr>
          <a:lstStyle/>
          <a:p>
            <a:pPr>
              <a:spcAft>
                <a:spcPts val="0"/>
              </a:spcAft>
            </a:pPr>
            <a:r>
              <a:rPr sz="980" b="0" i="1">
                <a:solidFill>
                  <a:srgbClr val="8A969E"/>
                </a:solidFill>
                <a:latin typeface="Arial"/>
              </a:rPr>
              <a:t>none</a:t>
            </a:r>
          </a:p>
        </p:txBody>
      </p:sp>
      <p:sp>
        <p:nvSpPr>
          <p:cNvPr id="30" name="Rectangle 29"/>
          <p:cNvSpPr/>
          <p:nvPr/>
        </p:nvSpPr>
        <p:spPr>
          <a:xfrm>
            <a:off x="393192" y="415137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8056" y="4215384"/>
            <a:ext cx="1170432" cy="466344"/>
          </a:xfrm>
          <a:prstGeom prst="rect">
            <a:avLst/>
          </a:prstGeom>
          <a:noFill/>
        </p:spPr>
        <p:txBody>
          <a:bodyPr wrap="square" lIns="0" rIns="0" tIns="0" bIns="0" anchor="t">
            <a:spAutoFit/>
          </a:bodyPr>
          <a:lstStyle/>
          <a:p>
            <a:pPr>
              <a:spcAft>
                <a:spcPts val="0"/>
              </a:spcAft>
            </a:pPr>
            <a:r>
              <a:rPr sz="1180" b="1" i="0">
                <a:solidFill>
                  <a:srgbClr val="082B55"/>
                </a:solidFill>
                <a:latin typeface="Arial"/>
              </a:rPr>
              <a:t>Kidney
</a:t>
            </a:r>
            <a:r>
              <a:rPr sz="900" b="0" i="0">
                <a:solidFill>
                  <a:srgbClr val="8A969E"/>
                </a:solidFill>
                <a:latin typeface="Arial"/>
              </a:rPr>
              <a:t>2 genes</a:t>
            </a:r>
          </a:p>
        </p:txBody>
      </p:sp>
      <p:sp>
        <p:nvSpPr>
          <p:cNvPr id="32" name="TextBox 31"/>
          <p:cNvSpPr txBox="1"/>
          <p:nvPr/>
        </p:nvSpPr>
        <p:spPr>
          <a:xfrm>
            <a:off x="1645920" y="4206240"/>
            <a:ext cx="621792" cy="219456"/>
          </a:xfrm>
          <a:prstGeom prst="rect">
            <a:avLst/>
          </a:prstGeom>
          <a:noFill/>
        </p:spPr>
        <p:txBody>
          <a:bodyPr wrap="square" lIns="0" rIns="0" tIns="0" bIns="0" anchor="t">
            <a:spAutoFit/>
          </a:bodyPr>
          <a:lstStyle/>
          <a:p>
            <a:pPr algn="l">
              <a:spcAft>
                <a:spcPts val="0"/>
              </a:spcAft>
            </a:pPr>
            <a:r>
              <a:rPr sz="900" b="1" i="0">
                <a:solidFill>
                  <a:srgbClr val="D96552"/>
                </a:solidFill>
                <a:latin typeface="Arial"/>
              </a:rPr>
              <a:t>FLT higher</a:t>
            </a:r>
          </a:p>
        </p:txBody>
      </p:sp>
      <p:sp>
        <p:nvSpPr>
          <p:cNvPr id="33" name="TextBox 32"/>
          <p:cNvSpPr txBox="1"/>
          <p:nvPr/>
        </p:nvSpPr>
        <p:spPr>
          <a:xfrm>
            <a:off x="2331720" y="4206240"/>
            <a:ext cx="3611880" cy="274320"/>
          </a:xfrm>
          <a:prstGeom prst="rect">
            <a:avLst/>
          </a:prstGeom>
          <a:noFill/>
        </p:spPr>
        <p:txBody>
          <a:bodyPr wrap="square" lIns="0" rIns="0" tIns="0" bIns="0" anchor="t">
            <a:spAutoFit/>
          </a:bodyPr>
          <a:lstStyle/>
          <a:p>
            <a:pPr>
              <a:spcAft>
                <a:spcPts val="0"/>
              </a:spcAft>
            </a:pPr>
            <a:r>
              <a:rPr sz="910" b="1" i="0">
                <a:solidFill>
                  <a:srgbClr val="D96552"/>
                </a:solidFill>
                <a:latin typeface="Arial"/>
              </a:rPr>
              <a:t>[P]</a:t>
            </a:r>
            <a:r>
              <a:rPr sz="980" b="1" i="1">
                <a:solidFill>
                  <a:srgbClr val="2D6496"/>
                </a:solidFill>
                <a:latin typeface="Arial"/>
              </a:rPr>
              <a:t>Inpp4b</a:t>
            </a:r>
            <a:r>
              <a:rPr sz="980" b="0" i="0">
                <a:solidFill>
                  <a:srgbClr val="8A969E"/>
                </a:solidFill>
                <a:latin typeface="Arial"/>
              </a:rPr>
              <a:t>, </a:t>
            </a:r>
            <a:r>
              <a:rPr sz="910" b="1" i="0">
                <a:solidFill>
                  <a:srgbClr val="178681"/>
                </a:solidFill>
                <a:latin typeface="Arial"/>
              </a:rPr>
              <a:t>[R]</a:t>
            </a:r>
            <a:r>
              <a:rPr sz="980" b="1" i="1">
                <a:solidFill>
                  <a:srgbClr val="2D6496"/>
                </a:solidFill>
                <a:latin typeface="Arial"/>
              </a:rPr>
              <a:t>Slc37a4</a:t>
            </a:r>
          </a:p>
        </p:txBody>
      </p:sp>
      <p:sp>
        <p:nvSpPr>
          <p:cNvPr id="34" name="TextBox 33"/>
          <p:cNvSpPr txBox="1"/>
          <p:nvPr/>
        </p:nvSpPr>
        <p:spPr>
          <a:xfrm>
            <a:off x="1645920" y="4480559"/>
            <a:ext cx="621792" cy="182880"/>
          </a:xfrm>
          <a:prstGeom prst="rect">
            <a:avLst/>
          </a:prstGeom>
          <a:noFill/>
        </p:spPr>
        <p:txBody>
          <a:bodyPr wrap="square" lIns="0" rIns="0" tIns="0" bIns="0" anchor="t">
            <a:spAutoFit/>
          </a:bodyPr>
          <a:lstStyle/>
          <a:p>
            <a:pPr algn="l">
              <a:spcAft>
                <a:spcPts val="0"/>
              </a:spcAft>
            </a:pPr>
            <a:r>
              <a:rPr sz="900" b="1" i="0">
                <a:solidFill>
                  <a:srgbClr val="178681"/>
                </a:solidFill>
                <a:latin typeface="Arial"/>
              </a:rPr>
              <a:t>FLT lower</a:t>
            </a:r>
          </a:p>
        </p:txBody>
      </p:sp>
      <p:sp>
        <p:nvSpPr>
          <p:cNvPr id="35" name="TextBox 34"/>
          <p:cNvSpPr txBox="1"/>
          <p:nvPr/>
        </p:nvSpPr>
        <p:spPr>
          <a:xfrm>
            <a:off x="2331720" y="4480559"/>
            <a:ext cx="3611880" cy="182880"/>
          </a:xfrm>
          <a:prstGeom prst="rect">
            <a:avLst/>
          </a:prstGeom>
          <a:noFill/>
        </p:spPr>
        <p:txBody>
          <a:bodyPr wrap="square" lIns="0" rIns="0" tIns="0" bIns="0" anchor="t">
            <a:spAutoFit/>
          </a:bodyPr>
          <a:lstStyle/>
          <a:p>
            <a:pPr>
              <a:spcAft>
                <a:spcPts val="0"/>
              </a:spcAft>
            </a:pPr>
            <a:r>
              <a:rPr sz="980" b="0" i="1">
                <a:solidFill>
                  <a:srgbClr val="8A969E"/>
                </a:solidFill>
                <a:latin typeface="Arial"/>
              </a:rPr>
              <a:t>none</a:t>
            </a:r>
          </a:p>
        </p:txBody>
      </p:sp>
      <p:sp>
        <p:nvSpPr>
          <p:cNvPr id="36" name="Rectangle 35"/>
          <p:cNvSpPr/>
          <p:nvPr/>
        </p:nvSpPr>
        <p:spPr>
          <a:xfrm>
            <a:off x="393192" y="47914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48056" y="4855464"/>
            <a:ext cx="1170432" cy="466344"/>
          </a:xfrm>
          <a:prstGeom prst="rect">
            <a:avLst/>
          </a:prstGeom>
          <a:noFill/>
        </p:spPr>
        <p:txBody>
          <a:bodyPr wrap="square" lIns="0" rIns="0" tIns="0" bIns="0" anchor="t">
            <a:spAutoFit/>
          </a:bodyPr>
          <a:lstStyle/>
          <a:p>
            <a:pPr>
              <a:spcAft>
                <a:spcPts val="0"/>
              </a:spcAft>
            </a:pPr>
            <a:r>
              <a:rPr sz="1180" b="1" i="0">
                <a:solidFill>
                  <a:srgbClr val="082B55"/>
                </a:solidFill>
                <a:latin typeface="Arial"/>
              </a:rPr>
              <a:t>Gastrocnemius
</a:t>
            </a:r>
            <a:r>
              <a:rPr sz="900" b="0" i="0">
                <a:solidFill>
                  <a:srgbClr val="8A969E"/>
                </a:solidFill>
                <a:latin typeface="Arial"/>
              </a:rPr>
              <a:t>2 genes</a:t>
            </a:r>
          </a:p>
        </p:txBody>
      </p:sp>
      <p:sp>
        <p:nvSpPr>
          <p:cNvPr id="38" name="TextBox 37"/>
          <p:cNvSpPr txBox="1"/>
          <p:nvPr/>
        </p:nvSpPr>
        <p:spPr>
          <a:xfrm>
            <a:off x="1645920" y="4846320"/>
            <a:ext cx="621792" cy="219456"/>
          </a:xfrm>
          <a:prstGeom prst="rect">
            <a:avLst/>
          </a:prstGeom>
          <a:noFill/>
        </p:spPr>
        <p:txBody>
          <a:bodyPr wrap="square" lIns="0" rIns="0" tIns="0" bIns="0" anchor="t">
            <a:spAutoFit/>
          </a:bodyPr>
          <a:lstStyle/>
          <a:p>
            <a:pPr algn="l">
              <a:spcAft>
                <a:spcPts val="0"/>
              </a:spcAft>
            </a:pPr>
            <a:r>
              <a:rPr sz="900" b="1" i="0">
                <a:solidFill>
                  <a:srgbClr val="D96552"/>
                </a:solidFill>
                <a:latin typeface="Arial"/>
              </a:rPr>
              <a:t>FLT higher</a:t>
            </a:r>
          </a:p>
        </p:txBody>
      </p:sp>
      <p:sp>
        <p:nvSpPr>
          <p:cNvPr id="39" name="TextBox 38"/>
          <p:cNvSpPr txBox="1"/>
          <p:nvPr/>
        </p:nvSpPr>
        <p:spPr>
          <a:xfrm>
            <a:off x="2331720" y="4846320"/>
            <a:ext cx="3611880" cy="246888"/>
          </a:xfrm>
          <a:prstGeom prst="rect">
            <a:avLst/>
          </a:prstGeom>
          <a:noFill/>
        </p:spPr>
        <p:txBody>
          <a:bodyPr wrap="square" lIns="0" rIns="0" tIns="0" bIns="0" anchor="t">
            <a:spAutoFit/>
          </a:bodyPr>
          <a:lstStyle/>
          <a:p>
            <a:pPr>
              <a:spcAft>
                <a:spcPts val="0"/>
              </a:spcAft>
            </a:pPr>
            <a:r>
              <a:rPr sz="910" b="1" i="0">
                <a:solidFill>
                  <a:srgbClr val="D96552"/>
                </a:solidFill>
                <a:latin typeface="Arial"/>
              </a:rPr>
              <a:t>[P]</a:t>
            </a:r>
            <a:r>
              <a:rPr sz="980" b="1" i="1">
                <a:solidFill>
                  <a:srgbClr val="478A64"/>
                </a:solidFill>
                <a:latin typeface="Arial"/>
              </a:rPr>
              <a:t>Nfkbia</a:t>
            </a:r>
          </a:p>
        </p:txBody>
      </p:sp>
      <p:sp>
        <p:nvSpPr>
          <p:cNvPr id="40" name="TextBox 39"/>
          <p:cNvSpPr txBox="1"/>
          <p:nvPr/>
        </p:nvSpPr>
        <p:spPr>
          <a:xfrm>
            <a:off x="1645920" y="5093208"/>
            <a:ext cx="621792" cy="210311"/>
          </a:xfrm>
          <a:prstGeom prst="rect">
            <a:avLst/>
          </a:prstGeom>
          <a:noFill/>
        </p:spPr>
        <p:txBody>
          <a:bodyPr wrap="square" lIns="0" rIns="0" tIns="0" bIns="0" anchor="t">
            <a:spAutoFit/>
          </a:bodyPr>
          <a:lstStyle/>
          <a:p>
            <a:pPr algn="l">
              <a:spcAft>
                <a:spcPts val="0"/>
              </a:spcAft>
            </a:pPr>
            <a:r>
              <a:rPr sz="900" b="1" i="0">
                <a:solidFill>
                  <a:srgbClr val="178681"/>
                </a:solidFill>
                <a:latin typeface="Arial"/>
              </a:rPr>
              <a:t>FLT lower</a:t>
            </a:r>
          </a:p>
        </p:txBody>
      </p:sp>
      <p:sp>
        <p:nvSpPr>
          <p:cNvPr id="41" name="TextBox 40"/>
          <p:cNvSpPr txBox="1"/>
          <p:nvPr/>
        </p:nvSpPr>
        <p:spPr>
          <a:xfrm>
            <a:off x="2331720" y="5093208"/>
            <a:ext cx="3611880" cy="210311"/>
          </a:xfrm>
          <a:prstGeom prst="rect">
            <a:avLst/>
          </a:prstGeom>
          <a:noFill/>
        </p:spPr>
        <p:txBody>
          <a:bodyPr wrap="square" lIns="0" rIns="0" tIns="0" bIns="0" anchor="t">
            <a:spAutoFit/>
          </a:bodyPr>
          <a:lstStyle/>
          <a:p>
            <a:pPr>
              <a:spcAft>
                <a:spcPts val="0"/>
              </a:spcAft>
            </a:pPr>
            <a:r>
              <a:rPr sz="910" b="1" i="0">
                <a:solidFill>
                  <a:srgbClr val="D96552"/>
                </a:solidFill>
                <a:latin typeface="Arial"/>
              </a:rPr>
              <a:t>[P]</a:t>
            </a:r>
            <a:r>
              <a:rPr sz="980" b="1" i="1">
                <a:solidFill>
                  <a:srgbClr val="2D6496"/>
                </a:solidFill>
                <a:latin typeface="Arial"/>
              </a:rPr>
              <a:t>Fhl2</a:t>
            </a:r>
          </a:p>
        </p:txBody>
      </p:sp>
      <p:sp>
        <p:nvSpPr>
          <p:cNvPr id="42" name="Rectangle 41"/>
          <p:cNvSpPr/>
          <p:nvPr/>
        </p:nvSpPr>
        <p:spPr>
          <a:xfrm>
            <a:off x="393192" y="543153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8056" y="5495544"/>
            <a:ext cx="1170432" cy="374904"/>
          </a:xfrm>
          <a:prstGeom prst="rect">
            <a:avLst/>
          </a:prstGeom>
          <a:noFill/>
        </p:spPr>
        <p:txBody>
          <a:bodyPr wrap="square" lIns="0" rIns="0" tIns="0" bIns="0" anchor="t">
            <a:spAutoFit/>
          </a:bodyPr>
          <a:lstStyle/>
          <a:p>
            <a:pPr>
              <a:spcAft>
                <a:spcPts val="0"/>
              </a:spcAft>
            </a:pPr>
            <a:r>
              <a:rPr sz="1180" b="1" i="0">
                <a:solidFill>
                  <a:srgbClr val="082B55"/>
                </a:solidFill>
                <a:latin typeface="Arial"/>
              </a:rPr>
              <a:t>Eye
</a:t>
            </a:r>
            <a:r>
              <a:rPr sz="900" b="0" i="0">
                <a:solidFill>
                  <a:srgbClr val="8A969E"/>
                </a:solidFill>
                <a:latin typeface="Arial"/>
              </a:rPr>
              <a:t>1 gene</a:t>
            </a:r>
          </a:p>
        </p:txBody>
      </p:sp>
      <p:sp>
        <p:nvSpPr>
          <p:cNvPr id="44" name="TextBox 43"/>
          <p:cNvSpPr txBox="1"/>
          <p:nvPr/>
        </p:nvSpPr>
        <p:spPr>
          <a:xfrm>
            <a:off x="1645920" y="5486400"/>
            <a:ext cx="621792" cy="173736"/>
          </a:xfrm>
          <a:prstGeom prst="rect">
            <a:avLst/>
          </a:prstGeom>
          <a:noFill/>
        </p:spPr>
        <p:txBody>
          <a:bodyPr wrap="square" lIns="0" rIns="0" tIns="0" bIns="0" anchor="t">
            <a:spAutoFit/>
          </a:bodyPr>
          <a:lstStyle/>
          <a:p>
            <a:pPr algn="l">
              <a:spcAft>
                <a:spcPts val="0"/>
              </a:spcAft>
            </a:pPr>
            <a:r>
              <a:rPr sz="900" b="1" i="0">
                <a:solidFill>
                  <a:srgbClr val="D96552"/>
                </a:solidFill>
                <a:latin typeface="Arial"/>
              </a:rPr>
              <a:t>FLT higher</a:t>
            </a:r>
          </a:p>
        </p:txBody>
      </p:sp>
      <p:sp>
        <p:nvSpPr>
          <p:cNvPr id="45" name="TextBox 44"/>
          <p:cNvSpPr txBox="1"/>
          <p:nvPr/>
        </p:nvSpPr>
        <p:spPr>
          <a:xfrm>
            <a:off x="2331720" y="5486400"/>
            <a:ext cx="3611880" cy="173736"/>
          </a:xfrm>
          <a:prstGeom prst="rect">
            <a:avLst/>
          </a:prstGeom>
          <a:noFill/>
        </p:spPr>
        <p:txBody>
          <a:bodyPr wrap="square" lIns="0" rIns="0" tIns="0" bIns="0" anchor="t">
            <a:spAutoFit/>
          </a:bodyPr>
          <a:lstStyle/>
          <a:p>
            <a:pPr>
              <a:spcAft>
                <a:spcPts val="0"/>
              </a:spcAft>
            </a:pPr>
            <a:r>
              <a:rPr sz="980" b="0" i="1">
                <a:solidFill>
                  <a:srgbClr val="8A969E"/>
                </a:solidFill>
                <a:latin typeface="Arial"/>
              </a:rPr>
              <a:t>none</a:t>
            </a:r>
          </a:p>
        </p:txBody>
      </p:sp>
      <p:sp>
        <p:nvSpPr>
          <p:cNvPr id="46" name="TextBox 45"/>
          <p:cNvSpPr txBox="1"/>
          <p:nvPr/>
        </p:nvSpPr>
        <p:spPr>
          <a:xfrm>
            <a:off x="1645920" y="5660136"/>
            <a:ext cx="621792" cy="192024"/>
          </a:xfrm>
          <a:prstGeom prst="rect">
            <a:avLst/>
          </a:prstGeom>
          <a:noFill/>
        </p:spPr>
        <p:txBody>
          <a:bodyPr wrap="square" lIns="0" rIns="0" tIns="0" bIns="0" anchor="t">
            <a:spAutoFit/>
          </a:bodyPr>
          <a:lstStyle/>
          <a:p>
            <a:pPr algn="l">
              <a:spcAft>
                <a:spcPts val="0"/>
              </a:spcAft>
            </a:pPr>
            <a:r>
              <a:rPr sz="900" b="1" i="0">
                <a:solidFill>
                  <a:srgbClr val="178681"/>
                </a:solidFill>
                <a:latin typeface="Arial"/>
              </a:rPr>
              <a:t>FLT lower</a:t>
            </a:r>
          </a:p>
        </p:txBody>
      </p:sp>
      <p:sp>
        <p:nvSpPr>
          <p:cNvPr id="47" name="TextBox 46"/>
          <p:cNvSpPr txBox="1"/>
          <p:nvPr/>
        </p:nvSpPr>
        <p:spPr>
          <a:xfrm>
            <a:off x="2331720" y="5660136"/>
            <a:ext cx="3611880" cy="192024"/>
          </a:xfrm>
          <a:prstGeom prst="rect">
            <a:avLst/>
          </a:prstGeom>
          <a:noFill/>
        </p:spPr>
        <p:txBody>
          <a:bodyPr wrap="square" lIns="0" rIns="0" tIns="0" bIns="0" anchor="t">
            <a:spAutoFit/>
          </a:bodyPr>
          <a:lstStyle/>
          <a:p>
            <a:pPr>
              <a:spcAft>
                <a:spcPts val="0"/>
              </a:spcAft>
            </a:pPr>
            <a:r>
              <a:rPr sz="910" b="1" i="0">
                <a:solidFill>
                  <a:srgbClr val="178681"/>
                </a:solidFill>
                <a:latin typeface="Arial"/>
              </a:rPr>
              <a:t>[R]</a:t>
            </a:r>
            <a:r>
              <a:rPr sz="980" b="1" i="1">
                <a:solidFill>
                  <a:srgbClr val="478A64"/>
                </a:solidFill>
                <a:latin typeface="Arial"/>
              </a:rPr>
              <a:t>Klhl21</a:t>
            </a:r>
          </a:p>
        </p:txBody>
      </p:sp>
      <p:sp>
        <p:nvSpPr>
          <p:cNvPr id="48" name="Rectangle 47"/>
          <p:cNvSpPr/>
          <p:nvPr/>
        </p:nvSpPr>
        <p:spPr>
          <a:xfrm>
            <a:off x="6181344"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36207" y="2112264"/>
            <a:ext cx="1170432" cy="1051560"/>
          </a:xfrm>
          <a:prstGeom prst="rect">
            <a:avLst/>
          </a:prstGeom>
          <a:noFill/>
        </p:spPr>
        <p:txBody>
          <a:bodyPr wrap="square" lIns="0" rIns="0" tIns="0" bIns="0" anchor="t">
            <a:spAutoFit/>
          </a:bodyPr>
          <a:lstStyle/>
          <a:p>
            <a:pPr>
              <a:spcAft>
                <a:spcPts val="0"/>
              </a:spcAft>
            </a:pPr>
            <a:r>
              <a:rPr sz="1180" b="1" i="0">
                <a:solidFill>
                  <a:srgbClr val="082B55"/>
                </a:solidFill>
                <a:latin typeface="Arial"/>
              </a:rPr>
              <a:t>Skeletal muscle
(pooled)
</a:t>
            </a:r>
            <a:r>
              <a:rPr sz="900" b="0" i="0">
                <a:solidFill>
                  <a:srgbClr val="8A969E"/>
                </a:solidFill>
                <a:latin typeface="Arial"/>
              </a:rPr>
              <a:t>12 genes</a:t>
            </a:r>
          </a:p>
        </p:txBody>
      </p:sp>
      <p:sp>
        <p:nvSpPr>
          <p:cNvPr id="50" name="TextBox 49"/>
          <p:cNvSpPr txBox="1"/>
          <p:nvPr/>
        </p:nvSpPr>
        <p:spPr>
          <a:xfrm>
            <a:off x="7434071" y="2103120"/>
            <a:ext cx="621792" cy="219456"/>
          </a:xfrm>
          <a:prstGeom prst="rect">
            <a:avLst/>
          </a:prstGeom>
          <a:noFill/>
        </p:spPr>
        <p:txBody>
          <a:bodyPr wrap="square" lIns="0" rIns="0" tIns="0" bIns="0" anchor="t">
            <a:spAutoFit/>
          </a:bodyPr>
          <a:lstStyle/>
          <a:p>
            <a:pPr algn="l">
              <a:spcAft>
                <a:spcPts val="0"/>
              </a:spcAft>
            </a:pPr>
            <a:r>
              <a:rPr sz="900" b="1" i="0">
                <a:solidFill>
                  <a:srgbClr val="D96552"/>
                </a:solidFill>
                <a:latin typeface="Arial"/>
              </a:rPr>
              <a:t>FLT higher</a:t>
            </a:r>
          </a:p>
        </p:txBody>
      </p:sp>
      <p:sp>
        <p:nvSpPr>
          <p:cNvPr id="51" name="TextBox 50"/>
          <p:cNvSpPr txBox="1"/>
          <p:nvPr/>
        </p:nvSpPr>
        <p:spPr>
          <a:xfrm>
            <a:off x="8119871" y="2103120"/>
            <a:ext cx="3611880" cy="512064"/>
          </a:xfrm>
          <a:prstGeom prst="rect">
            <a:avLst/>
          </a:prstGeom>
          <a:noFill/>
        </p:spPr>
        <p:txBody>
          <a:bodyPr wrap="square" lIns="0" rIns="0" tIns="0" bIns="0" anchor="t">
            <a:spAutoFit/>
          </a:bodyPr>
          <a:lstStyle/>
          <a:p>
            <a:pPr>
              <a:spcAft>
                <a:spcPts val="0"/>
              </a:spcAft>
            </a:pPr>
            <a:r>
              <a:rPr sz="910" b="1" i="0">
                <a:solidFill>
                  <a:srgbClr val="178681"/>
                </a:solidFill>
                <a:latin typeface="Arial"/>
              </a:rPr>
              <a:t>[R]</a:t>
            </a:r>
            <a:r>
              <a:rPr sz="980" b="1" i="1">
                <a:solidFill>
                  <a:srgbClr val="478A64"/>
                </a:solidFill>
                <a:latin typeface="Arial"/>
              </a:rPr>
              <a:t>Sox4</a:t>
            </a:r>
            <a:r>
              <a:rPr sz="980" b="0" i="0">
                <a:solidFill>
                  <a:srgbClr val="8A969E"/>
                </a:solidFill>
                <a:latin typeface="Arial"/>
              </a:rPr>
              <a:t>, </a:t>
            </a:r>
            <a:r>
              <a:rPr sz="910" b="1" i="0">
                <a:solidFill>
                  <a:srgbClr val="178681"/>
                </a:solidFill>
                <a:latin typeface="Arial"/>
              </a:rPr>
              <a:t>[R]</a:t>
            </a:r>
            <a:r>
              <a:rPr sz="980" b="1" i="1">
                <a:solidFill>
                  <a:srgbClr val="478A64"/>
                </a:solidFill>
                <a:latin typeface="Arial"/>
              </a:rPr>
              <a:t>Cebpd</a:t>
            </a:r>
            <a:r>
              <a:rPr sz="980" b="0" i="0">
                <a:solidFill>
                  <a:srgbClr val="8A969E"/>
                </a:solidFill>
                <a:latin typeface="Arial"/>
              </a:rPr>
              <a:t>, </a:t>
            </a:r>
            <a:r>
              <a:rPr sz="910" b="1" i="0">
                <a:solidFill>
                  <a:srgbClr val="178681"/>
                </a:solidFill>
                <a:latin typeface="Arial"/>
              </a:rPr>
              <a:t>[R]</a:t>
            </a:r>
            <a:r>
              <a:rPr sz="980" b="1" i="1">
                <a:solidFill>
                  <a:srgbClr val="2D6496"/>
                </a:solidFill>
                <a:latin typeface="Arial"/>
              </a:rPr>
              <a:t>Sh3bp5</a:t>
            </a:r>
            <a:r>
              <a:rPr sz="980" b="0" i="0">
                <a:solidFill>
                  <a:srgbClr val="8A969E"/>
                </a:solidFill>
                <a:latin typeface="Arial"/>
              </a:rPr>
              <a:t>, </a:t>
            </a:r>
            <a:r>
              <a:rPr sz="910" b="1" i="0">
                <a:solidFill>
                  <a:srgbClr val="178681"/>
                </a:solidFill>
                <a:latin typeface="Arial"/>
              </a:rPr>
              <a:t>[R]</a:t>
            </a:r>
            <a:r>
              <a:rPr sz="980" b="1" i="1">
                <a:solidFill>
                  <a:srgbClr val="478A64"/>
                </a:solidFill>
                <a:latin typeface="Arial"/>
              </a:rPr>
              <a:t>Prkcd</a:t>
            </a:r>
            <a:r>
              <a:rPr sz="980" b="0" i="0">
                <a:solidFill>
                  <a:srgbClr val="8A969E"/>
                </a:solidFill>
                <a:latin typeface="Arial"/>
              </a:rPr>
              <a:t>, </a:t>
            </a:r>
            <a:r>
              <a:rPr sz="910" b="1" i="0">
                <a:solidFill>
                  <a:srgbClr val="178681"/>
                </a:solidFill>
                <a:latin typeface="Arial"/>
              </a:rPr>
              <a:t>[R]</a:t>
            </a:r>
            <a:r>
              <a:rPr sz="980" b="1" i="1">
                <a:solidFill>
                  <a:srgbClr val="478A64"/>
                </a:solidFill>
                <a:latin typeface="Arial"/>
              </a:rPr>
              <a:t>Arid5b</a:t>
            </a:r>
            <a:r>
              <a:rPr sz="980" b="0" i="0">
                <a:solidFill>
                  <a:srgbClr val="8A969E"/>
                </a:solidFill>
                <a:latin typeface="Arial"/>
              </a:rPr>
              <a:t>, </a:t>
            </a:r>
            <a:r>
              <a:rPr sz="910" b="1" i="0">
                <a:solidFill>
                  <a:srgbClr val="178681"/>
                </a:solidFill>
                <a:latin typeface="Arial"/>
              </a:rPr>
              <a:t>[R]</a:t>
            </a:r>
            <a:r>
              <a:rPr sz="980" b="1" i="1">
                <a:solidFill>
                  <a:srgbClr val="478A64"/>
                </a:solidFill>
                <a:latin typeface="Arial"/>
              </a:rPr>
              <a:t>Sesn1</a:t>
            </a:r>
            <a:r>
              <a:rPr sz="980" b="0" i="0">
                <a:solidFill>
                  <a:srgbClr val="8A969E"/>
                </a:solidFill>
                <a:latin typeface="Arial"/>
              </a:rPr>
              <a:t>, </a:t>
            </a:r>
            <a:r>
              <a:rPr sz="910" b="1" i="0">
                <a:solidFill>
                  <a:srgbClr val="178681"/>
                </a:solidFill>
                <a:latin typeface="Arial"/>
              </a:rPr>
              <a:t>[R]</a:t>
            </a:r>
            <a:r>
              <a:rPr sz="980" b="1" i="1">
                <a:solidFill>
                  <a:srgbClr val="2D6496"/>
                </a:solidFill>
                <a:latin typeface="Arial"/>
              </a:rPr>
              <a:t>Tle1</a:t>
            </a:r>
          </a:p>
        </p:txBody>
      </p:sp>
      <p:sp>
        <p:nvSpPr>
          <p:cNvPr id="52" name="TextBox 51"/>
          <p:cNvSpPr txBox="1"/>
          <p:nvPr/>
        </p:nvSpPr>
        <p:spPr>
          <a:xfrm>
            <a:off x="7434071" y="2615184"/>
            <a:ext cx="621792" cy="219456"/>
          </a:xfrm>
          <a:prstGeom prst="rect">
            <a:avLst/>
          </a:prstGeom>
          <a:noFill/>
        </p:spPr>
        <p:txBody>
          <a:bodyPr wrap="square" lIns="0" rIns="0" tIns="0" bIns="0" anchor="t">
            <a:spAutoFit/>
          </a:bodyPr>
          <a:lstStyle/>
          <a:p>
            <a:pPr algn="l">
              <a:spcAft>
                <a:spcPts val="0"/>
              </a:spcAft>
            </a:pPr>
            <a:r>
              <a:rPr sz="900" b="1" i="0">
                <a:solidFill>
                  <a:srgbClr val="178681"/>
                </a:solidFill>
                <a:latin typeface="Arial"/>
              </a:rPr>
              <a:t>FLT lower</a:t>
            </a:r>
          </a:p>
        </p:txBody>
      </p:sp>
      <p:sp>
        <p:nvSpPr>
          <p:cNvPr id="53" name="TextBox 52"/>
          <p:cNvSpPr txBox="1"/>
          <p:nvPr/>
        </p:nvSpPr>
        <p:spPr>
          <a:xfrm>
            <a:off x="8119871" y="2615184"/>
            <a:ext cx="3611880" cy="530352"/>
          </a:xfrm>
          <a:prstGeom prst="rect">
            <a:avLst/>
          </a:prstGeom>
          <a:noFill/>
        </p:spPr>
        <p:txBody>
          <a:bodyPr wrap="square" lIns="0" rIns="0" tIns="0" bIns="0" anchor="t">
            <a:spAutoFit/>
          </a:bodyPr>
          <a:lstStyle/>
          <a:p>
            <a:pPr>
              <a:spcAft>
                <a:spcPts val="0"/>
              </a:spcAft>
            </a:pPr>
            <a:r>
              <a:rPr sz="910" b="1" i="0">
                <a:solidFill>
                  <a:srgbClr val="D96552"/>
                </a:solidFill>
                <a:latin typeface="Arial"/>
              </a:rPr>
              <a:t>[P]</a:t>
            </a:r>
            <a:r>
              <a:rPr sz="980" b="1" i="1">
                <a:solidFill>
                  <a:srgbClr val="2D6496"/>
                </a:solidFill>
                <a:latin typeface="Arial"/>
              </a:rPr>
              <a:t>Klhl21</a:t>
            </a:r>
            <a:r>
              <a:rPr sz="980" b="0" i="0">
                <a:solidFill>
                  <a:srgbClr val="8A969E"/>
                </a:solidFill>
                <a:latin typeface="Arial"/>
              </a:rPr>
              <a:t>, </a:t>
            </a:r>
            <a:r>
              <a:rPr sz="910" b="1" i="0">
                <a:solidFill>
                  <a:srgbClr val="D96552"/>
                </a:solidFill>
                <a:latin typeface="Arial"/>
              </a:rPr>
              <a:t>[P]</a:t>
            </a:r>
            <a:r>
              <a:rPr sz="980" b="1" i="1">
                <a:solidFill>
                  <a:srgbClr val="2D6496"/>
                </a:solidFill>
                <a:latin typeface="Arial"/>
              </a:rPr>
              <a:t>Mapkapk5</a:t>
            </a:r>
            <a:r>
              <a:rPr sz="980" b="0" i="0">
                <a:solidFill>
                  <a:srgbClr val="8A969E"/>
                </a:solidFill>
                <a:latin typeface="Arial"/>
              </a:rPr>
              <a:t>, </a:t>
            </a:r>
            <a:r>
              <a:rPr sz="910" b="1" i="0">
                <a:solidFill>
                  <a:srgbClr val="D96552"/>
                </a:solidFill>
                <a:latin typeface="Arial"/>
              </a:rPr>
              <a:t>[P]</a:t>
            </a:r>
            <a:r>
              <a:rPr sz="980" b="1" i="1">
                <a:solidFill>
                  <a:srgbClr val="2D6496"/>
                </a:solidFill>
                <a:latin typeface="Arial"/>
              </a:rPr>
              <a:t>Reep5</a:t>
            </a:r>
            <a:r>
              <a:rPr sz="980" b="0" i="0">
                <a:solidFill>
                  <a:srgbClr val="8A969E"/>
                </a:solidFill>
                <a:latin typeface="Arial"/>
              </a:rPr>
              <a:t>, </a:t>
            </a:r>
            <a:r>
              <a:rPr sz="910" b="1" i="0">
                <a:solidFill>
                  <a:srgbClr val="D96552"/>
                </a:solidFill>
                <a:latin typeface="Arial"/>
              </a:rPr>
              <a:t>[P]</a:t>
            </a:r>
            <a:r>
              <a:rPr sz="980" b="1" i="1">
                <a:solidFill>
                  <a:srgbClr val="2D6496"/>
                </a:solidFill>
                <a:latin typeface="Arial"/>
              </a:rPr>
              <a:t>Itgb5</a:t>
            </a:r>
            <a:r>
              <a:rPr sz="980" b="0" i="0">
                <a:solidFill>
                  <a:srgbClr val="8A969E"/>
                </a:solidFill>
                <a:latin typeface="Arial"/>
              </a:rPr>
              <a:t>, </a:t>
            </a:r>
            <a:r>
              <a:rPr sz="910" b="1" i="0">
                <a:solidFill>
                  <a:srgbClr val="178681"/>
                </a:solidFill>
                <a:latin typeface="Arial"/>
              </a:rPr>
              <a:t>[R]</a:t>
            </a:r>
            <a:r>
              <a:rPr sz="980" b="1" i="1">
                <a:solidFill>
                  <a:srgbClr val="8063A6"/>
                </a:solidFill>
                <a:latin typeface="Arial"/>
              </a:rPr>
              <a:t>Bphl</a:t>
            </a:r>
          </a:p>
        </p:txBody>
      </p:sp>
      <p:sp>
        <p:nvSpPr>
          <p:cNvPr id="54" name="Rectangle 53"/>
          <p:cNvSpPr/>
          <p:nvPr/>
        </p:nvSpPr>
        <p:spPr>
          <a:xfrm>
            <a:off x="6181344" y="32735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236207" y="3337560"/>
            <a:ext cx="1170432" cy="530352"/>
          </a:xfrm>
          <a:prstGeom prst="rect">
            <a:avLst/>
          </a:prstGeom>
          <a:noFill/>
        </p:spPr>
        <p:txBody>
          <a:bodyPr wrap="square" lIns="0" rIns="0" tIns="0" bIns="0" anchor="t">
            <a:spAutoFit/>
          </a:bodyPr>
          <a:lstStyle/>
          <a:p>
            <a:pPr>
              <a:spcAft>
                <a:spcPts val="0"/>
              </a:spcAft>
            </a:pPr>
            <a:r>
              <a:rPr sz="1180" b="1" i="0">
                <a:solidFill>
                  <a:srgbClr val="082B55"/>
                </a:solidFill>
                <a:latin typeface="Arial"/>
              </a:rPr>
              <a:t>Soleus
</a:t>
            </a:r>
            <a:r>
              <a:rPr sz="900" b="0" i="0">
                <a:solidFill>
                  <a:srgbClr val="8A969E"/>
                </a:solidFill>
                <a:latin typeface="Arial"/>
              </a:rPr>
              <a:t>5 genes</a:t>
            </a:r>
          </a:p>
        </p:txBody>
      </p:sp>
      <p:sp>
        <p:nvSpPr>
          <p:cNvPr id="56" name="TextBox 55"/>
          <p:cNvSpPr txBox="1"/>
          <p:nvPr/>
        </p:nvSpPr>
        <p:spPr>
          <a:xfrm>
            <a:off x="7434071" y="3328416"/>
            <a:ext cx="621792" cy="219456"/>
          </a:xfrm>
          <a:prstGeom prst="rect">
            <a:avLst/>
          </a:prstGeom>
          <a:noFill/>
        </p:spPr>
        <p:txBody>
          <a:bodyPr wrap="square" lIns="0" rIns="0" tIns="0" bIns="0" anchor="t">
            <a:spAutoFit/>
          </a:bodyPr>
          <a:lstStyle/>
          <a:p>
            <a:pPr algn="l">
              <a:spcAft>
                <a:spcPts val="0"/>
              </a:spcAft>
            </a:pPr>
            <a:r>
              <a:rPr sz="900" b="1" i="0">
                <a:solidFill>
                  <a:srgbClr val="D96552"/>
                </a:solidFill>
                <a:latin typeface="Arial"/>
              </a:rPr>
              <a:t>FLT higher</a:t>
            </a:r>
          </a:p>
        </p:txBody>
      </p:sp>
      <p:sp>
        <p:nvSpPr>
          <p:cNvPr id="57" name="TextBox 56"/>
          <p:cNvSpPr txBox="1"/>
          <p:nvPr/>
        </p:nvSpPr>
        <p:spPr>
          <a:xfrm>
            <a:off x="8119871" y="3328416"/>
            <a:ext cx="3611880" cy="246888"/>
          </a:xfrm>
          <a:prstGeom prst="rect">
            <a:avLst/>
          </a:prstGeom>
          <a:noFill/>
        </p:spPr>
        <p:txBody>
          <a:bodyPr wrap="square" lIns="0" rIns="0" tIns="0" bIns="0" anchor="t">
            <a:spAutoFit/>
          </a:bodyPr>
          <a:lstStyle/>
          <a:p>
            <a:pPr>
              <a:spcAft>
                <a:spcPts val="0"/>
              </a:spcAft>
            </a:pPr>
            <a:r>
              <a:rPr sz="910" b="1" i="0">
                <a:solidFill>
                  <a:srgbClr val="178681"/>
                </a:solidFill>
                <a:latin typeface="Arial"/>
              </a:rPr>
              <a:t>[R]</a:t>
            </a:r>
            <a:r>
              <a:rPr sz="980" b="1" i="1">
                <a:solidFill>
                  <a:srgbClr val="D37B00"/>
                </a:solidFill>
                <a:latin typeface="Arial"/>
              </a:rPr>
              <a:t>Tpm1</a:t>
            </a:r>
          </a:p>
        </p:txBody>
      </p:sp>
      <p:sp>
        <p:nvSpPr>
          <p:cNvPr id="58" name="TextBox 57"/>
          <p:cNvSpPr txBox="1"/>
          <p:nvPr/>
        </p:nvSpPr>
        <p:spPr>
          <a:xfrm>
            <a:off x="7434071" y="3575304"/>
            <a:ext cx="621792" cy="219456"/>
          </a:xfrm>
          <a:prstGeom prst="rect">
            <a:avLst/>
          </a:prstGeom>
          <a:noFill/>
        </p:spPr>
        <p:txBody>
          <a:bodyPr wrap="square" lIns="0" rIns="0" tIns="0" bIns="0" anchor="t">
            <a:spAutoFit/>
          </a:bodyPr>
          <a:lstStyle/>
          <a:p>
            <a:pPr algn="l">
              <a:spcAft>
                <a:spcPts val="0"/>
              </a:spcAft>
            </a:pPr>
            <a:r>
              <a:rPr sz="900" b="1" i="0">
                <a:solidFill>
                  <a:srgbClr val="178681"/>
                </a:solidFill>
                <a:latin typeface="Arial"/>
              </a:rPr>
              <a:t>FLT lower</a:t>
            </a:r>
          </a:p>
        </p:txBody>
      </p:sp>
      <p:sp>
        <p:nvSpPr>
          <p:cNvPr id="59" name="TextBox 58"/>
          <p:cNvSpPr txBox="1"/>
          <p:nvPr/>
        </p:nvSpPr>
        <p:spPr>
          <a:xfrm>
            <a:off x="8119871" y="3575304"/>
            <a:ext cx="3611880" cy="274320"/>
          </a:xfrm>
          <a:prstGeom prst="rect">
            <a:avLst/>
          </a:prstGeom>
          <a:noFill/>
        </p:spPr>
        <p:txBody>
          <a:bodyPr wrap="square" lIns="0" rIns="0" tIns="0" bIns="0" anchor="t">
            <a:spAutoFit/>
          </a:bodyPr>
          <a:lstStyle/>
          <a:p>
            <a:pPr>
              <a:spcAft>
                <a:spcPts val="0"/>
              </a:spcAft>
            </a:pPr>
            <a:r>
              <a:rPr sz="910" b="1" i="0">
                <a:solidFill>
                  <a:srgbClr val="178681"/>
                </a:solidFill>
                <a:latin typeface="Arial"/>
              </a:rPr>
              <a:t>[R]</a:t>
            </a:r>
            <a:r>
              <a:rPr sz="980" b="1" i="1">
                <a:solidFill>
                  <a:srgbClr val="478A64"/>
                </a:solidFill>
                <a:latin typeface="Arial"/>
              </a:rPr>
              <a:t>Bdh1</a:t>
            </a:r>
            <a:r>
              <a:rPr sz="980" b="0" i="0">
                <a:solidFill>
                  <a:srgbClr val="8A969E"/>
                </a:solidFill>
                <a:latin typeface="Arial"/>
              </a:rPr>
              <a:t>, </a:t>
            </a:r>
            <a:r>
              <a:rPr sz="910" b="1" i="0">
                <a:solidFill>
                  <a:srgbClr val="178681"/>
                </a:solidFill>
                <a:latin typeface="Arial"/>
              </a:rPr>
              <a:t>[R]</a:t>
            </a:r>
            <a:r>
              <a:rPr sz="980" b="1" i="1">
                <a:solidFill>
                  <a:srgbClr val="478A64"/>
                </a:solidFill>
                <a:latin typeface="Arial"/>
              </a:rPr>
              <a:t>Ech1</a:t>
            </a:r>
            <a:r>
              <a:rPr sz="980" b="0" i="0">
                <a:solidFill>
                  <a:srgbClr val="8A969E"/>
                </a:solidFill>
                <a:latin typeface="Arial"/>
              </a:rPr>
              <a:t>, </a:t>
            </a:r>
            <a:r>
              <a:rPr sz="910" b="1" i="0">
                <a:solidFill>
                  <a:srgbClr val="178681"/>
                </a:solidFill>
                <a:latin typeface="Arial"/>
              </a:rPr>
              <a:t>[R]</a:t>
            </a:r>
            <a:r>
              <a:rPr sz="980" b="1" i="1">
                <a:solidFill>
                  <a:srgbClr val="D37B00"/>
                </a:solidFill>
                <a:latin typeface="Arial"/>
              </a:rPr>
              <a:t>Bnip3</a:t>
            </a:r>
            <a:r>
              <a:rPr sz="980" b="0" i="0">
                <a:solidFill>
                  <a:srgbClr val="8A969E"/>
                </a:solidFill>
                <a:latin typeface="Arial"/>
              </a:rPr>
              <a:t>, </a:t>
            </a:r>
            <a:r>
              <a:rPr sz="910" b="1" i="0">
                <a:solidFill>
                  <a:srgbClr val="178681"/>
                </a:solidFill>
                <a:latin typeface="Arial"/>
              </a:rPr>
              <a:t>[R]</a:t>
            </a:r>
            <a:r>
              <a:rPr sz="980" b="1" i="1">
                <a:solidFill>
                  <a:srgbClr val="478A64"/>
                </a:solidFill>
                <a:latin typeface="Arial"/>
              </a:rPr>
              <a:t>Decr1</a:t>
            </a:r>
          </a:p>
        </p:txBody>
      </p:sp>
      <p:sp>
        <p:nvSpPr>
          <p:cNvPr id="60" name="Rectangle 59"/>
          <p:cNvSpPr/>
          <p:nvPr/>
        </p:nvSpPr>
        <p:spPr>
          <a:xfrm>
            <a:off x="6181344" y="3977639"/>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236207" y="4041648"/>
            <a:ext cx="1170432" cy="539496"/>
          </a:xfrm>
          <a:prstGeom prst="rect">
            <a:avLst/>
          </a:prstGeom>
          <a:noFill/>
        </p:spPr>
        <p:txBody>
          <a:bodyPr wrap="square" lIns="0" rIns="0" tIns="0" bIns="0" anchor="t">
            <a:spAutoFit/>
          </a:bodyPr>
          <a:lstStyle/>
          <a:p>
            <a:pPr>
              <a:spcAft>
                <a:spcPts val="0"/>
              </a:spcAft>
            </a:pPr>
            <a:r>
              <a:rPr sz="1180" b="1" i="0">
                <a:solidFill>
                  <a:srgbClr val="082B55"/>
                </a:solidFill>
                <a:latin typeface="Arial"/>
              </a:rPr>
              <a:t>Tibialis anterior
</a:t>
            </a:r>
            <a:r>
              <a:rPr sz="900" b="0" i="0">
                <a:solidFill>
                  <a:srgbClr val="8A969E"/>
                </a:solidFill>
                <a:latin typeface="Arial"/>
              </a:rPr>
              <a:t>4 genes</a:t>
            </a:r>
          </a:p>
        </p:txBody>
      </p:sp>
      <p:sp>
        <p:nvSpPr>
          <p:cNvPr id="62" name="TextBox 61"/>
          <p:cNvSpPr txBox="1"/>
          <p:nvPr/>
        </p:nvSpPr>
        <p:spPr>
          <a:xfrm>
            <a:off x="7434071" y="4032503"/>
            <a:ext cx="621792" cy="219456"/>
          </a:xfrm>
          <a:prstGeom prst="rect">
            <a:avLst/>
          </a:prstGeom>
          <a:noFill/>
        </p:spPr>
        <p:txBody>
          <a:bodyPr wrap="square" lIns="0" rIns="0" tIns="0" bIns="0" anchor="t">
            <a:spAutoFit/>
          </a:bodyPr>
          <a:lstStyle/>
          <a:p>
            <a:pPr algn="l">
              <a:spcAft>
                <a:spcPts val="0"/>
              </a:spcAft>
            </a:pPr>
            <a:r>
              <a:rPr sz="900" b="1" i="0">
                <a:solidFill>
                  <a:srgbClr val="D96552"/>
                </a:solidFill>
                <a:latin typeface="Arial"/>
              </a:rPr>
              <a:t>FLT higher</a:t>
            </a:r>
          </a:p>
        </p:txBody>
      </p:sp>
      <p:sp>
        <p:nvSpPr>
          <p:cNvPr id="63" name="TextBox 62"/>
          <p:cNvSpPr txBox="1"/>
          <p:nvPr/>
        </p:nvSpPr>
        <p:spPr>
          <a:xfrm>
            <a:off x="8119871" y="4032503"/>
            <a:ext cx="3611880" cy="356616"/>
          </a:xfrm>
          <a:prstGeom prst="rect">
            <a:avLst/>
          </a:prstGeom>
          <a:noFill/>
        </p:spPr>
        <p:txBody>
          <a:bodyPr wrap="square" lIns="0" rIns="0" tIns="0" bIns="0" anchor="t">
            <a:spAutoFit/>
          </a:bodyPr>
          <a:lstStyle/>
          <a:p>
            <a:pPr>
              <a:spcAft>
                <a:spcPts val="0"/>
              </a:spcAft>
            </a:pPr>
            <a:r>
              <a:rPr sz="910" b="1" i="0">
                <a:solidFill>
                  <a:srgbClr val="D96552"/>
                </a:solidFill>
                <a:latin typeface="Arial"/>
              </a:rPr>
              <a:t>[P]</a:t>
            </a:r>
            <a:r>
              <a:rPr sz="980" b="1" i="1">
                <a:solidFill>
                  <a:srgbClr val="2D6496"/>
                </a:solidFill>
                <a:latin typeface="Arial"/>
              </a:rPr>
              <a:t>Cebpd</a:t>
            </a:r>
            <a:r>
              <a:rPr sz="980" b="0" i="0">
                <a:solidFill>
                  <a:srgbClr val="8A969E"/>
                </a:solidFill>
                <a:latin typeface="Arial"/>
              </a:rPr>
              <a:t>, </a:t>
            </a:r>
            <a:r>
              <a:rPr sz="910" b="1" i="0">
                <a:solidFill>
                  <a:srgbClr val="178681"/>
                </a:solidFill>
                <a:latin typeface="Arial"/>
              </a:rPr>
              <a:t>[R]</a:t>
            </a:r>
            <a:r>
              <a:rPr sz="980" b="1" i="1">
                <a:solidFill>
                  <a:srgbClr val="D37B00"/>
                </a:solidFill>
                <a:latin typeface="Arial"/>
              </a:rPr>
              <a:t>Cdkn1a</a:t>
            </a:r>
            <a:r>
              <a:rPr sz="980" b="0" i="0">
                <a:solidFill>
                  <a:srgbClr val="8A969E"/>
                </a:solidFill>
                <a:latin typeface="Arial"/>
              </a:rPr>
              <a:t>, </a:t>
            </a:r>
            <a:r>
              <a:rPr sz="910" b="1" i="0">
                <a:solidFill>
                  <a:srgbClr val="178681"/>
                </a:solidFill>
                <a:latin typeface="Arial"/>
              </a:rPr>
              <a:t>[R]</a:t>
            </a:r>
            <a:r>
              <a:rPr sz="980" b="1" i="1">
                <a:solidFill>
                  <a:srgbClr val="2D6496"/>
                </a:solidFill>
                <a:latin typeface="Arial"/>
              </a:rPr>
              <a:t>St3gal5</a:t>
            </a:r>
            <a:r>
              <a:rPr sz="980" b="0" i="0">
                <a:solidFill>
                  <a:srgbClr val="8A969E"/>
                </a:solidFill>
                <a:latin typeface="Arial"/>
              </a:rPr>
              <a:t>, </a:t>
            </a:r>
            <a:r>
              <a:rPr sz="910" b="1" i="0">
                <a:solidFill>
                  <a:srgbClr val="178681"/>
                </a:solidFill>
                <a:latin typeface="Arial"/>
              </a:rPr>
              <a:t>[R]</a:t>
            </a:r>
            <a:r>
              <a:rPr sz="980" b="1" i="1">
                <a:solidFill>
                  <a:srgbClr val="2D6496"/>
                </a:solidFill>
                <a:latin typeface="Arial"/>
              </a:rPr>
              <a:t>Bnip3</a:t>
            </a:r>
          </a:p>
        </p:txBody>
      </p:sp>
      <p:sp>
        <p:nvSpPr>
          <p:cNvPr id="64" name="TextBox 63"/>
          <p:cNvSpPr txBox="1"/>
          <p:nvPr/>
        </p:nvSpPr>
        <p:spPr>
          <a:xfrm>
            <a:off x="7434071" y="4389119"/>
            <a:ext cx="621792" cy="173735"/>
          </a:xfrm>
          <a:prstGeom prst="rect">
            <a:avLst/>
          </a:prstGeom>
          <a:noFill/>
        </p:spPr>
        <p:txBody>
          <a:bodyPr wrap="square" lIns="0" rIns="0" tIns="0" bIns="0" anchor="t">
            <a:spAutoFit/>
          </a:bodyPr>
          <a:lstStyle/>
          <a:p>
            <a:pPr algn="l">
              <a:spcAft>
                <a:spcPts val="0"/>
              </a:spcAft>
            </a:pPr>
            <a:r>
              <a:rPr sz="900" b="1" i="0">
                <a:solidFill>
                  <a:srgbClr val="178681"/>
                </a:solidFill>
                <a:latin typeface="Arial"/>
              </a:rPr>
              <a:t>FLT lower</a:t>
            </a:r>
          </a:p>
        </p:txBody>
      </p:sp>
      <p:sp>
        <p:nvSpPr>
          <p:cNvPr id="65" name="TextBox 64"/>
          <p:cNvSpPr txBox="1"/>
          <p:nvPr/>
        </p:nvSpPr>
        <p:spPr>
          <a:xfrm>
            <a:off x="8119871" y="4389119"/>
            <a:ext cx="3611880" cy="173735"/>
          </a:xfrm>
          <a:prstGeom prst="rect">
            <a:avLst/>
          </a:prstGeom>
          <a:noFill/>
        </p:spPr>
        <p:txBody>
          <a:bodyPr wrap="square" lIns="0" rIns="0" tIns="0" bIns="0" anchor="t">
            <a:spAutoFit/>
          </a:bodyPr>
          <a:lstStyle/>
          <a:p>
            <a:pPr>
              <a:spcAft>
                <a:spcPts val="0"/>
              </a:spcAft>
            </a:pPr>
            <a:r>
              <a:rPr sz="980" b="0" i="1">
                <a:solidFill>
                  <a:srgbClr val="8A969E"/>
                </a:solidFill>
                <a:latin typeface="Arial"/>
              </a:rPr>
              <a:t>none</a:t>
            </a:r>
          </a:p>
        </p:txBody>
      </p:sp>
      <p:sp>
        <p:nvSpPr>
          <p:cNvPr id="66" name="Rectangle 65"/>
          <p:cNvSpPr/>
          <p:nvPr/>
        </p:nvSpPr>
        <p:spPr>
          <a:xfrm>
            <a:off x="6181344" y="469087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236207" y="4754880"/>
            <a:ext cx="1170432" cy="466344"/>
          </a:xfrm>
          <a:prstGeom prst="rect">
            <a:avLst/>
          </a:prstGeom>
          <a:noFill/>
        </p:spPr>
        <p:txBody>
          <a:bodyPr wrap="square" lIns="0" rIns="0" tIns="0" bIns="0" anchor="t">
            <a:spAutoFit/>
          </a:bodyPr>
          <a:lstStyle/>
          <a:p>
            <a:pPr>
              <a:spcAft>
                <a:spcPts val="0"/>
              </a:spcAft>
            </a:pPr>
            <a:r>
              <a:rPr sz="1180" b="1" i="0">
                <a:solidFill>
                  <a:srgbClr val="082B55"/>
                </a:solidFill>
                <a:latin typeface="Arial"/>
              </a:rPr>
              <a:t>Adrenal gland
</a:t>
            </a:r>
            <a:r>
              <a:rPr sz="900" b="0" i="0">
                <a:solidFill>
                  <a:srgbClr val="8A969E"/>
                </a:solidFill>
                <a:latin typeface="Arial"/>
              </a:rPr>
              <a:t>2 genes</a:t>
            </a:r>
          </a:p>
        </p:txBody>
      </p:sp>
      <p:sp>
        <p:nvSpPr>
          <p:cNvPr id="68" name="TextBox 67"/>
          <p:cNvSpPr txBox="1"/>
          <p:nvPr/>
        </p:nvSpPr>
        <p:spPr>
          <a:xfrm>
            <a:off x="7434071" y="4745736"/>
            <a:ext cx="621792" cy="164592"/>
          </a:xfrm>
          <a:prstGeom prst="rect">
            <a:avLst/>
          </a:prstGeom>
          <a:noFill/>
        </p:spPr>
        <p:txBody>
          <a:bodyPr wrap="square" lIns="0" rIns="0" tIns="0" bIns="0" anchor="t">
            <a:spAutoFit/>
          </a:bodyPr>
          <a:lstStyle/>
          <a:p>
            <a:pPr algn="l">
              <a:spcAft>
                <a:spcPts val="0"/>
              </a:spcAft>
            </a:pPr>
            <a:r>
              <a:rPr sz="900" b="1" i="0">
                <a:solidFill>
                  <a:srgbClr val="D96552"/>
                </a:solidFill>
                <a:latin typeface="Arial"/>
              </a:rPr>
              <a:t>FLT higher</a:t>
            </a:r>
          </a:p>
        </p:txBody>
      </p:sp>
      <p:sp>
        <p:nvSpPr>
          <p:cNvPr id="69" name="TextBox 68"/>
          <p:cNvSpPr txBox="1"/>
          <p:nvPr/>
        </p:nvSpPr>
        <p:spPr>
          <a:xfrm>
            <a:off x="8119871" y="4745736"/>
            <a:ext cx="3611880" cy="164592"/>
          </a:xfrm>
          <a:prstGeom prst="rect">
            <a:avLst/>
          </a:prstGeom>
          <a:noFill/>
        </p:spPr>
        <p:txBody>
          <a:bodyPr wrap="square" lIns="0" rIns="0" tIns="0" bIns="0" anchor="t">
            <a:spAutoFit/>
          </a:bodyPr>
          <a:lstStyle/>
          <a:p>
            <a:pPr>
              <a:spcAft>
                <a:spcPts val="0"/>
              </a:spcAft>
            </a:pPr>
            <a:r>
              <a:rPr sz="980" b="0" i="1">
                <a:solidFill>
                  <a:srgbClr val="8A969E"/>
                </a:solidFill>
                <a:latin typeface="Arial"/>
              </a:rPr>
              <a:t>none</a:t>
            </a:r>
          </a:p>
        </p:txBody>
      </p:sp>
      <p:sp>
        <p:nvSpPr>
          <p:cNvPr id="70" name="TextBox 69"/>
          <p:cNvSpPr txBox="1"/>
          <p:nvPr/>
        </p:nvSpPr>
        <p:spPr>
          <a:xfrm>
            <a:off x="7434071" y="4910327"/>
            <a:ext cx="621792" cy="219456"/>
          </a:xfrm>
          <a:prstGeom prst="rect">
            <a:avLst/>
          </a:prstGeom>
          <a:noFill/>
        </p:spPr>
        <p:txBody>
          <a:bodyPr wrap="square" lIns="0" rIns="0" tIns="0" bIns="0" anchor="t">
            <a:spAutoFit/>
          </a:bodyPr>
          <a:lstStyle/>
          <a:p>
            <a:pPr algn="l">
              <a:spcAft>
                <a:spcPts val="0"/>
              </a:spcAft>
            </a:pPr>
            <a:r>
              <a:rPr sz="900" b="1" i="0">
                <a:solidFill>
                  <a:srgbClr val="178681"/>
                </a:solidFill>
                <a:latin typeface="Arial"/>
              </a:rPr>
              <a:t>FLT lower</a:t>
            </a:r>
          </a:p>
        </p:txBody>
      </p:sp>
      <p:sp>
        <p:nvSpPr>
          <p:cNvPr id="71" name="TextBox 70"/>
          <p:cNvSpPr txBox="1"/>
          <p:nvPr/>
        </p:nvSpPr>
        <p:spPr>
          <a:xfrm>
            <a:off x="8119871" y="4910327"/>
            <a:ext cx="3611880" cy="292608"/>
          </a:xfrm>
          <a:prstGeom prst="rect">
            <a:avLst/>
          </a:prstGeom>
          <a:noFill/>
        </p:spPr>
        <p:txBody>
          <a:bodyPr wrap="square" lIns="0" rIns="0" tIns="0" bIns="0" anchor="t">
            <a:spAutoFit/>
          </a:bodyPr>
          <a:lstStyle/>
          <a:p>
            <a:pPr>
              <a:spcAft>
                <a:spcPts val="0"/>
              </a:spcAft>
            </a:pPr>
            <a:r>
              <a:rPr sz="910" b="1" i="0">
                <a:solidFill>
                  <a:srgbClr val="D96552"/>
                </a:solidFill>
                <a:latin typeface="Arial"/>
              </a:rPr>
              <a:t>[P]</a:t>
            </a:r>
            <a:r>
              <a:rPr sz="980" b="1" i="1">
                <a:solidFill>
                  <a:srgbClr val="8063A6"/>
                </a:solidFill>
                <a:latin typeface="Arial"/>
              </a:rPr>
              <a:t>Psmb8</a:t>
            </a:r>
            <a:r>
              <a:rPr sz="980" b="0" i="0">
                <a:solidFill>
                  <a:srgbClr val="8A969E"/>
                </a:solidFill>
                <a:latin typeface="Arial"/>
              </a:rPr>
              <a:t>, </a:t>
            </a:r>
            <a:r>
              <a:rPr sz="910" b="1" i="0">
                <a:solidFill>
                  <a:srgbClr val="178681"/>
                </a:solidFill>
                <a:latin typeface="Arial"/>
              </a:rPr>
              <a:t>[R]</a:t>
            </a:r>
            <a:r>
              <a:rPr sz="980" b="1" i="1">
                <a:solidFill>
                  <a:srgbClr val="8063A6"/>
                </a:solidFill>
                <a:latin typeface="Arial"/>
              </a:rPr>
              <a:t>Tspan4</a:t>
            </a:r>
          </a:p>
        </p:txBody>
      </p:sp>
      <p:sp>
        <p:nvSpPr>
          <p:cNvPr id="72" name="Rectangle 71"/>
          <p:cNvSpPr/>
          <p:nvPr/>
        </p:nvSpPr>
        <p:spPr>
          <a:xfrm>
            <a:off x="6181344" y="53309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236207" y="5394960"/>
            <a:ext cx="1170432" cy="411480"/>
          </a:xfrm>
          <a:prstGeom prst="rect">
            <a:avLst/>
          </a:prstGeom>
          <a:noFill/>
        </p:spPr>
        <p:txBody>
          <a:bodyPr wrap="square" lIns="0" rIns="0" tIns="0" bIns="0" anchor="t">
            <a:spAutoFit/>
          </a:bodyPr>
          <a:lstStyle/>
          <a:p>
            <a:pPr>
              <a:spcAft>
                <a:spcPts val="0"/>
              </a:spcAft>
            </a:pPr>
            <a:r>
              <a:rPr sz="1180" b="1" i="0">
                <a:solidFill>
                  <a:srgbClr val="082B55"/>
                </a:solidFill>
                <a:latin typeface="Arial"/>
              </a:rPr>
              <a:t>Skin
</a:t>
            </a:r>
            <a:r>
              <a:rPr sz="900" b="0" i="0">
                <a:solidFill>
                  <a:srgbClr val="8A969E"/>
                </a:solidFill>
                <a:latin typeface="Arial"/>
              </a:rPr>
              <a:t>1 gene</a:t>
            </a:r>
          </a:p>
        </p:txBody>
      </p:sp>
      <p:sp>
        <p:nvSpPr>
          <p:cNvPr id="74" name="TextBox 73"/>
          <p:cNvSpPr txBox="1"/>
          <p:nvPr/>
        </p:nvSpPr>
        <p:spPr>
          <a:xfrm>
            <a:off x="7434071" y="5385816"/>
            <a:ext cx="621792" cy="219456"/>
          </a:xfrm>
          <a:prstGeom prst="rect">
            <a:avLst/>
          </a:prstGeom>
          <a:noFill/>
        </p:spPr>
        <p:txBody>
          <a:bodyPr wrap="square" lIns="0" rIns="0" tIns="0" bIns="0" anchor="t">
            <a:spAutoFit/>
          </a:bodyPr>
          <a:lstStyle/>
          <a:p>
            <a:pPr algn="l">
              <a:spcAft>
                <a:spcPts val="0"/>
              </a:spcAft>
            </a:pPr>
            <a:r>
              <a:rPr sz="900" b="1" i="0">
                <a:solidFill>
                  <a:srgbClr val="D96552"/>
                </a:solidFill>
                <a:latin typeface="Arial"/>
              </a:rPr>
              <a:t>FLT higher</a:t>
            </a:r>
          </a:p>
        </p:txBody>
      </p:sp>
      <p:sp>
        <p:nvSpPr>
          <p:cNvPr id="75" name="TextBox 74"/>
          <p:cNvSpPr txBox="1"/>
          <p:nvPr/>
        </p:nvSpPr>
        <p:spPr>
          <a:xfrm>
            <a:off x="8119871" y="5385816"/>
            <a:ext cx="3611880" cy="265176"/>
          </a:xfrm>
          <a:prstGeom prst="rect">
            <a:avLst/>
          </a:prstGeom>
          <a:noFill/>
        </p:spPr>
        <p:txBody>
          <a:bodyPr wrap="square" lIns="0" rIns="0" tIns="0" bIns="0" anchor="t">
            <a:spAutoFit/>
          </a:bodyPr>
          <a:lstStyle/>
          <a:p>
            <a:pPr>
              <a:spcAft>
                <a:spcPts val="0"/>
              </a:spcAft>
            </a:pPr>
            <a:r>
              <a:rPr sz="910" b="1" i="0">
                <a:solidFill>
                  <a:srgbClr val="D96552"/>
                </a:solidFill>
                <a:latin typeface="Arial"/>
              </a:rPr>
              <a:t>[P]</a:t>
            </a:r>
            <a:r>
              <a:rPr sz="980" b="1" i="1">
                <a:solidFill>
                  <a:srgbClr val="2D6496"/>
                </a:solidFill>
                <a:latin typeface="Arial"/>
              </a:rPr>
              <a:t>Plscr1</a:t>
            </a:r>
          </a:p>
        </p:txBody>
      </p:sp>
      <p:sp>
        <p:nvSpPr>
          <p:cNvPr id="76" name="TextBox 75"/>
          <p:cNvSpPr txBox="1"/>
          <p:nvPr/>
        </p:nvSpPr>
        <p:spPr>
          <a:xfrm>
            <a:off x="7434071" y="5650992"/>
            <a:ext cx="621792" cy="137160"/>
          </a:xfrm>
          <a:prstGeom prst="rect">
            <a:avLst/>
          </a:prstGeom>
          <a:noFill/>
        </p:spPr>
        <p:txBody>
          <a:bodyPr wrap="square" lIns="0" rIns="0" tIns="0" bIns="0" anchor="t">
            <a:spAutoFit/>
          </a:bodyPr>
          <a:lstStyle/>
          <a:p>
            <a:pPr algn="l">
              <a:spcAft>
                <a:spcPts val="0"/>
              </a:spcAft>
            </a:pPr>
            <a:r>
              <a:rPr sz="900" b="1" i="0">
                <a:solidFill>
                  <a:srgbClr val="178681"/>
                </a:solidFill>
                <a:latin typeface="Arial"/>
              </a:rPr>
              <a:t>FLT lower</a:t>
            </a:r>
          </a:p>
        </p:txBody>
      </p:sp>
      <p:sp>
        <p:nvSpPr>
          <p:cNvPr id="77" name="TextBox 76"/>
          <p:cNvSpPr txBox="1"/>
          <p:nvPr/>
        </p:nvSpPr>
        <p:spPr>
          <a:xfrm>
            <a:off x="8119871" y="5650992"/>
            <a:ext cx="3611880" cy="137160"/>
          </a:xfrm>
          <a:prstGeom prst="rect">
            <a:avLst/>
          </a:prstGeom>
          <a:noFill/>
        </p:spPr>
        <p:txBody>
          <a:bodyPr wrap="square" lIns="0" rIns="0" tIns="0" bIns="0" anchor="t">
            <a:spAutoFit/>
          </a:bodyPr>
          <a:lstStyle/>
          <a:p>
            <a:pPr>
              <a:spcAft>
                <a:spcPts val="0"/>
              </a:spcAft>
            </a:pPr>
            <a:r>
              <a:rPr sz="980" b="0" i="1">
                <a:solidFill>
                  <a:srgbClr val="8A969E"/>
                </a:solidFill>
                <a:latin typeface="Arial"/>
              </a:rPr>
              <a:t>none</a:t>
            </a:r>
          </a:p>
        </p:txBody>
      </p:sp>
      <p:sp>
        <p:nvSpPr>
          <p:cNvPr id="78" name="TextBox 77"/>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[P]/[R] tags report repeated feature selection; gene color independently reports literature interpretation for all 49 associations.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THYMUS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Thymus points to lower proliferative renewal</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core panel recovers cell-cycle biology; two flight-higher genes extend the hypothesis.</a:t>
            </a:r>
          </a:p>
        </p:txBody>
      </p:sp>
      <p:pic>
        <p:nvPicPr>
          <p:cNvPr id="7" name="Thymus gene effects and Reactome processes" descr="Thymus gene effects and Reactome processes"/>
          <p:cNvPicPr>
            <a:picLocks noChangeAspect="1"/>
          </p:cNvPicPr>
          <p:nvPr/>
        </p:nvPicPr>
        <p:blipFill>
          <a:blip r:embed="rId2"/>
          <a:stretch>
            <a:fillRect/>
          </a:stretch>
        </p:blipFill>
        <p:spPr>
          <a:xfrm>
            <a:off x="320040" y="1895403"/>
            <a:ext cx="7818120" cy="4109608"/>
          </a:xfrm>
          <a:prstGeom prst="rect">
            <a:avLst/>
          </a:prstGeom>
        </p:spPr>
      </p:pic>
      <p:sp>
        <p:nvSpPr>
          <p:cNvPr id="8" name="Rounded Rectangle 7"/>
          <p:cNvSpPr/>
          <p:nvPr/>
        </p:nvSpPr>
        <p:spPr>
          <a:xfrm>
            <a:off x="8321040" y="1847088"/>
            <a:ext cx="3493008" cy="4178808"/>
          </a:xfrm>
          <a:prstGeom prst="roundRect">
            <a:avLst/>
          </a:prstGeom>
          <a:solidFill>
            <a:srgbClr val="F8ECE9"/>
          </a:solidFill>
          <a:ln w="10160">
            <a:solidFill>
              <a:srgbClr val="E8C9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22792" y="2139696"/>
            <a:ext cx="1005840" cy="594360"/>
          </a:xfrm>
          <a:prstGeom prst="rect">
            <a:avLst/>
          </a:prstGeom>
          <a:noFill/>
        </p:spPr>
        <p:txBody>
          <a:bodyPr wrap="square" lIns="18288" rIns="18288" tIns="18288" bIns="18288" anchor="t">
            <a:spAutoFit/>
          </a:bodyPr>
          <a:lstStyle/>
          <a:p>
            <a:pPr algn="l">
              <a:spcAft>
                <a:spcPts val="0"/>
              </a:spcAft>
            </a:pPr>
            <a:r>
              <a:rPr sz="3500" b="1" i="0">
                <a:solidFill>
                  <a:srgbClr val="D96552"/>
                </a:solidFill>
                <a:latin typeface="Arial"/>
              </a:rPr>
              <a:t>16</a:t>
            </a:r>
          </a:p>
        </p:txBody>
      </p:sp>
      <p:sp>
        <p:nvSpPr>
          <p:cNvPr id="10" name="TextBox 9"/>
          <p:cNvSpPr txBox="1"/>
          <p:nvPr/>
        </p:nvSpPr>
        <p:spPr>
          <a:xfrm>
            <a:off x="9491472" y="2176272"/>
            <a:ext cx="1938528" cy="566928"/>
          </a:xfrm>
          <a:prstGeom prst="rect">
            <a:avLst/>
          </a:prstGeom>
          <a:noFill/>
        </p:spPr>
        <p:txBody>
          <a:bodyPr wrap="square" lIns="18288" rIns="18288" tIns="18288" bIns="18288" anchor="t">
            <a:spAutoFit/>
          </a:bodyPr>
          <a:lstStyle/>
          <a:p>
            <a:pPr algn="l">
              <a:spcAft>
                <a:spcPts val="0"/>
              </a:spcAft>
            </a:pPr>
            <a:r>
              <a:rPr sz="1400" b="1" i="0">
                <a:solidFill>
                  <a:srgbClr val="263746"/>
                </a:solidFill>
                <a:latin typeface="Arial"/>
              </a:rPr>
              <a:t>synthetic-informed
BH-FDR associations</a:t>
            </a:r>
          </a:p>
        </p:txBody>
      </p:sp>
      <p:sp>
        <p:nvSpPr>
          <p:cNvPr id="11" name="TextBox 10"/>
          <p:cNvSpPr txBox="1"/>
          <p:nvPr/>
        </p:nvSpPr>
        <p:spPr>
          <a:xfrm>
            <a:off x="8631936" y="2862072"/>
            <a:ext cx="2788920" cy="274320"/>
          </a:xfrm>
          <a:prstGeom prst="rect">
            <a:avLst/>
          </a:prstGeom>
          <a:noFill/>
        </p:spPr>
        <p:txBody>
          <a:bodyPr wrap="square" lIns="18288" rIns="18288" tIns="18288" bIns="18288" anchor="t">
            <a:spAutoFit/>
          </a:bodyPr>
          <a:lstStyle/>
          <a:p>
            <a:pPr algn="l">
              <a:spcAft>
                <a:spcPts val="0"/>
              </a:spcAft>
            </a:pPr>
            <a:r>
              <a:rPr sz="1400" b="1" i="0">
                <a:solidFill>
                  <a:srgbClr val="178681"/>
                </a:solidFill>
                <a:latin typeface="Arial"/>
              </a:rPr>
              <a:t>13 promoted | 3 reinforced</a:t>
            </a:r>
          </a:p>
        </p:txBody>
      </p:sp>
      <p:sp>
        <p:nvSpPr>
          <p:cNvPr id="12" name="Oval 11"/>
          <p:cNvSpPr/>
          <p:nvPr/>
        </p:nvSpPr>
        <p:spPr>
          <a:xfrm>
            <a:off x="8631936" y="3337560"/>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96528" y="3227832"/>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Lower Nusap1, Stmn1, Birc5, Cdk1, Top2a and related genes</a:t>
            </a:r>
          </a:p>
        </p:txBody>
      </p:sp>
      <p:sp>
        <p:nvSpPr>
          <p:cNvPr id="14" name="Oval 13"/>
          <p:cNvSpPr/>
          <p:nvPr/>
        </p:nvSpPr>
        <p:spPr>
          <a:xfrm>
            <a:off x="8631936" y="3922776"/>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96528" y="3813048"/>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Cell cycle, DNA replication, APC/C and G2/M processes</a:t>
            </a:r>
          </a:p>
        </p:txBody>
      </p:sp>
      <p:sp>
        <p:nvSpPr>
          <p:cNvPr id="16" name="Oval 15"/>
          <p:cNvSpPr/>
          <p:nvPr/>
        </p:nvSpPr>
        <p:spPr>
          <a:xfrm>
            <a:off x="8631936" y="4507992"/>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96528" y="4398264"/>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Higher Hsd17b11 and Etv1 suggest lipid or T-cell-state shifts</a:t>
            </a:r>
          </a:p>
        </p:txBody>
      </p:sp>
      <p:sp>
        <p:nvSpPr>
          <p:cNvPr id="18" name="Oval 17"/>
          <p:cNvSpPr/>
          <p:nvPr/>
        </p:nvSpPr>
        <p:spPr>
          <a:xfrm>
            <a:off x="8631936" y="5093207"/>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96528" y="4983479"/>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Bulk RNA-seq cannot separate cell loss from lower transcription</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Context: Gridley et al. (2013), Horie et al. (2019), Keenan et al. (2025), and Shi et al.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SOLEUS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Soleus reinforces a mitochondrial and lipid program</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This result strengthens an existing real-data pattern rather than promoting a new soleus gene.</a:t>
            </a:r>
          </a:p>
        </p:txBody>
      </p:sp>
      <p:pic>
        <p:nvPicPr>
          <p:cNvPr id="7" name="Soleus gene effects and Reactome processes" descr="Soleus gene effects and Reactome processes"/>
          <p:cNvPicPr>
            <a:picLocks noChangeAspect="1"/>
          </p:cNvPicPr>
          <p:nvPr/>
        </p:nvPicPr>
        <p:blipFill>
          <a:blip r:embed="rId2"/>
          <a:stretch>
            <a:fillRect/>
          </a:stretch>
        </p:blipFill>
        <p:spPr>
          <a:xfrm>
            <a:off x="310896" y="1984025"/>
            <a:ext cx="8366760" cy="3914076"/>
          </a:xfrm>
          <a:prstGeom prst="rect">
            <a:avLst/>
          </a:prstGeom>
        </p:spPr>
      </p:pic>
      <p:sp>
        <p:nvSpPr>
          <p:cNvPr id="8" name="Rounded Rectangle 7"/>
          <p:cNvSpPr/>
          <p:nvPr/>
        </p:nvSpPr>
        <p:spPr>
          <a:xfrm>
            <a:off x="8805672" y="1865376"/>
            <a:ext cx="2971800" cy="4133087"/>
          </a:xfrm>
          <a:prstGeom prst="roundRect">
            <a:avLst/>
          </a:prstGeom>
          <a:solidFill>
            <a:srgbClr val="E8F3F1"/>
          </a:solidFill>
          <a:ln w="10160">
            <a:solidFill>
              <a:srgbClr val="C7DD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43416" y="2139696"/>
            <a:ext cx="2487168" cy="384048"/>
          </a:xfrm>
          <a:prstGeom prst="rect">
            <a:avLst/>
          </a:prstGeom>
          <a:noFill/>
        </p:spPr>
        <p:txBody>
          <a:bodyPr wrap="square" lIns="18288" rIns="18288" tIns="18288" bIns="18288" anchor="t">
            <a:spAutoFit/>
          </a:bodyPr>
          <a:lstStyle/>
          <a:p>
            <a:pPr algn="ctr">
              <a:spcAft>
                <a:spcPts val="0"/>
              </a:spcAft>
            </a:pPr>
            <a:r>
              <a:rPr sz="2000" b="1" i="0">
                <a:solidFill>
                  <a:srgbClr val="178681"/>
                </a:solidFill>
                <a:latin typeface="Arial"/>
              </a:rPr>
              <a:t>0.925 -&gt; 0.963</a:t>
            </a:r>
          </a:p>
        </p:txBody>
      </p:sp>
      <p:sp>
        <p:nvSpPr>
          <p:cNvPr id="10" name="TextBox 9"/>
          <p:cNvSpPr txBox="1"/>
          <p:nvPr/>
        </p:nvSpPr>
        <p:spPr>
          <a:xfrm>
            <a:off x="9125712" y="2542032"/>
            <a:ext cx="2331720" cy="256032"/>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balanced accuracy</a:t>
            </a:r>
          </a:p>
        </p:txBody>
      </p:sp>
      <p:sp>
        <p:nvSpPr>
          <p:cNvPr id="11" name="TextBox 10"/>
          <p:cNvSpPr txBox="1"/>
          <p:nvPr/>
        </p:nvSpPr>
        <p:spPr>
          <a:xfrm>
            <a:off x="9025128" y="2990088"/>
            <a:ext cx="2532888" cy="310896"/>
          </a:xfrm>
          <a:prstGeom prst="rect">
            <a:avLst/>
          </a:prstGeom>
          <a:noFill/>
        </p:spPr>
        <p:txBody>
          <a:bodyPr wrap="square" lIns="18288" rIns="18288" tIns="18288" bIns="18288" anchor="t">
            <a:spAutoFit/>
          </a:bodyPr>
          <a:lstStyle/>
          <a:p>
            <a:pPr algn="ctr">
              <a:spcAft>
                <a:spcPts val="0"/>
              </a:spcAft>
            </a:pPr>
            <a:r>
              <a:rPr sz="1500" b="1" i="0">
                <a:solidFill>
                  <a:srgbClr val="082B55"/>
                </a:solidFill>
                <a:latin typeface="Arial"/>
              </a:rPr>
              <a:t>5 reinforced | 0 promoted</a:t>
            </a:r>
          </a:p>
        </p:txBody>
      </p:sp>
      <p:sp>
        <p:nvSpPr>
          <p:cNvPr id="12" name="Oval 11"/>
          <p:cNvSpPr/>
          <p:nvPr/>
        </p:nvSpPr>
        <p:spPr>
          <a:xfrm>
            <a:off x="9089136" y="3566160"/>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53728" y="3456432"/>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Lower Bdh1, Ech1, Bnip3 and Decr1</a:t>
            </a:r>
          </a:p>
        </p:txBody>
      </p:sp>
      <p:sp>
        <p:nvSpPr>
          <p:cNvPr id="14" name="Oval 13"/>
          <p:cNvSpPr/>
          <p:nvPr/>
        </p:nvSpPr>
        <p:spPr>
          <a:xfrm>
            <a:off x="9089136" y="4096511"/>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53728" y="3986783"/>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Higher Tpm1</a:t>
            </a:r>
          </a:p>
        </p:txBody>
      </p:sp>
      <p:sp>
        <p:nvSpPr>
          <p:cNvPr id="16" name="Oval 15"/>
          <p:cNvSpPr/>
          <p:nvPr/>
        </p:nvSpPr>
        <p:spPr>
          <a:xfrm>
            <a:off x="9089136" y="4626864"/>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53728" y="4517136"/>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Mitochondrial turnover and fatty-acid metabolism</a:t>
            </a:r>
          </a:p>
        </p:txBody>
      </p:sp>
      <p:sp>
        <p:nvSpPr>
          <p:cNvPr id="18" name="Oval 17"/>
          <p:cNvSpPr/>
          <p:nvPr/>
        </p:nvSpPr>
        <p:spPr>
          <a:xfrm>
            <a:off x="9089136" y="5157216"/>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53728" y="5047488"/>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Compatible with unloading and contractile remodeling</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Literature context: Gambara et al. (2017) and Stein et al. (2002).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FINDINGS I</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Each additional tissue defines a separate hypothesis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These results remain distinct; their placement on one slide does not imply shared biology.</a:t>
            </a:r>
          </a:p>
        </p:txBody>
      </p:sp>
      <p:sp>
        <p:nvSpPr>
          <p:cNvPr id="7" name="TextBox 6"/>
          <p:cNvSpPr txBox="1"/>
          <p:nvPr/>
        </p:nvSpPr>
        <p:spPr>
          <a:xfrm>
            <a:off x="658368" y="1828800"/>
            <a:ext cx="1874519"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697480" y="1828800"/>
            <a:ext cx="35661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Synthetic-informed genes</a:t>
            </a:r>
          </a:p>
        </p:txBody>
      </p:sp>
      <p:sp>
        <p:nvSpPr>
          <p:cNvPr id="9" name="TextBox 8"/>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0" name="Rectangle 9"/>
          <p:cNvSpPr/>
          <p:nvPr/>
        </p:nvSpPr>
        <p:spPr>
          <a:xfrm>
            <a:off x="393192" y="2148840"/>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93192" y="2148840"/>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2331720"/>
            <a:ext cx="1874519" cy="402336"/>
          </a:xfrm>
          <a:prstGeom prst="rect">
            <a:avLst/>
          </a:prstGeom>
          <a:noFill/>
        </p:spPr>
        <p:txBody>
          <a:bodyPr wrap="square" lIns="18288" rIns="18288" tIns="18288" bIns="18288" anchor="ctr">
            <a:spAutoFit/>
          </a:bodyPr>
          <a:lstStyle/>
          <a:p>
            <a:pPr algn="l">
              <a:spcAft>
                <a:spcPts val="0"/>
              </a:spcAft>
            </a:pPr>
            <a:r>
              <a:rPr sz="1550" b="1" i="0">
                <a:solidFill>
                  <a:srgbClr val="2D6496"/>
                </a:solidFill>
                <a:latin typeface="Arial"/>
              </a:rPr>
              <a:t>Pooled muscle</a:t>
            </a:r>
          </a:p>
        </p:txBody>
      </p:sp>
      <p:sp>
        <p:nvSpPr>
          <p:cNvPr id="13" name="TextBox 12"/>
          <p:cNvSpPr txBox="1"/>
          <p:nvPr/>
        </p:nvSpPr>
        <p:spPr>
          <a:xfrm>
            <a:off x="2697480" y="2258568"/>
            <a:ext cx="3566160" cy="566928"/>
          </a:xfrm>
          <a:prstGeom prst="rect">
            <a:avLst/>
          </a:prstGeom>
          <a:noFill/>
        </p:spPr>
        <p:txBody>
          <a:bodyPr wrap="square" lIns="18288" rIns="18288" tIns="18288" bIns="18288" anchor="ctr">
            <a:spAutoFit/>
          </a:bodyPr>
          <a:lstStyle/>
          <a:p>
            <a:pPr algn="l">
              <a:spcAft>
                <a:spcPts val="0"/>
              </a:spcAft>
            </a:pPr>
            <a:r>
              <a:rPr sz="1250" b="0" i="0">
                <a:solidFill>
                  <a:srgbClr val="263746"/>
                </a:solidFill>
                <a:latin typeface="Arial"/>
              </a:rPr>
              <a:t>12 genes: 4 promoted, 8 reinforced</a:t>
            </a:r>
          </a:p>
        </p:txBody>
      </p:sp>
      <p:sp>
        <p:nvSpPr>
          <p:cNvPr id="14" name="TextBox 13"/>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Heterogeneous stress, differentiation, interferon and sialic-acid response; interpret with the anatomical muscle groups.</a:t>
            </a:r>
          </a:p>
        </p:txBody>
      </p:sp>
      <p:sp>
        <p:nvSpPr>
          <p:cNvPr id="15" name="Rectangle 14"/>
          <p:cNvSpPr/>
          <p:nvPr/>
        </p:nvSpPr>
        <p:spPr>
          <a:xfrm>
            <a:off x="393192" y="3118104"/>
            <a:ext cx="11375136" cy="804672"/>
          </a:xfrm>
          <a:prstGeom prst="rect">
            <a:avLst/>
          </a:prstGeom>
          <a:solidFill>
            <a:srgbClr val="F0ECF6"/>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93192" y="3118104"/>
            <a:ext cx="73152" cy="804672"/>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300984"/>
            <a:ext cx="1874519" cy="402336"/>
          </a:xfrm>
          <a:prstGeom prst="rect">
            <a:avLst/>
          </a:prstGeom>
          <a:noFill/>
        </p:spPr>
        <p:txBody>
          <a:bodyPr wrap="square" lIns="18288" rIns="18288" tIns="18288" bIns="18288" anchor="ctr">
            <a:spAutoFit/>
          </a:bodyPr>
          <a:lstStyle/>
          <a:p>
            <a:pPr algn="l">
              <a:spcAft>
                <a:spcPts val="0"/>
              </a:spcAft>
            </a:pPr>
            <a:r>
              <a:rPr sz="1550" b="1" i="0">
                <a:solidFill>
                  <a:srgbClr val="8063A6"/>
                </a:solidFill>
                <a:latin typeface="Arial"/>
              </a:rPr>
              <a:t>Kidney</a:t>
            </a:r>
          </a:p>
        </p:txBody>
      </p:sp>
      <p:sp>
        <p:nvSpPr>
          <p:cNvPr id="18" name="TextBox 17"/>
          <p:cNvSpPr txBox="1"/>
          <p:nvPr/>
        </p:nvSpPr>
        <p:spPr>
          <a:xfrm>
            <a:off x="2697480" y="3227832"/>
            <a:ext cx="3566160" cy="566928"/>
          </a:xfrm>
          <a:prstGeom prst="rect">
            <a:avLst/>
          </a:prstGeom>
          <a:noFill/>
        </p:spPr>
        <p:txBody>
          <a:bodyPr wrap="square" lIns="18288" rIns="18288" tIns="18288" bIns="18288" anchor="ctr">
            <a:spAutoFit/>
          </a:bodyPr>
          <a:lstStyle/>
          <a:p>
            <a:pPr algn="l">
              <a:spcAft>
                <a:spcPts val="0"/>
              </a:spcAft>
            </a:pPr>
            <a:r>
              <a:rPr sz="1250" b="0" i="0">
                <a:solidFill>
                  <a:srgbClr val="263746"/>
                </a:solidFill>
                <a:latin typeface="Arial"/>
              </a:rPr>
              <a:t>[P] Inpp4b higher; [R] Slc37a4 higher</a:t>
            </a:r>
          </a:p>
        </p:txBody>
      </p:sp>
      <p:sp>
        <p:nvSpPr>
          <p:cNvPr id="19" name="TextBox 18"/>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Renal phosphoinositide signaling and glucose-handling hypothesis; the pair had no shared Reactome enrichment.</a:t>
            </a:r>
          </a:p>
        </p:txBody>
      </p:sp>
      <p:sp>
        <p:nvSpPr>
          <p:cNvPr id="20" name="Rectangle 19"/>
          <p:cNvSpPr/>
          <p:nvPr/>
        </p:nvSpPr>
        <p:spPr>
          <a:xfrm>
            <a:off x="393192" y="4087368"/>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4087368"/>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4270248"/>
            <a:ext cx="1874519" cy="402336"/>
          </a:xfrm>
          <a:prstGeom prst="rect">
            <a:avLst/>
          </a:prstGeom>
          <a:noFill/>
        </p:spPr>
        <p:txBody>
          <a:bodyPr wrap="square" lIns="18288" rIns="18288" tIns="18288" bIns="18288" anchor="ctr">
            <a:spAutoFit/>
          </a:bodyPr>
          <a:lstStyle/>
          <a:p>
            <a:pPr algn="l">
              <a:spcAft>
                <a:spcPts val="0"/>
              </a:spcAft>
            </a:pPr>
            <a:r>
              <a:rPr sz="1550" b="1" i="0">
                <a:solidFill>
                  <a:srgbClr val="178681"/>
                </a:solidFill>
                <a:latin typeface="Arial"/>
              </a:rPr>
              <a:t>Spleen</a:t>
            </a:r>
          </a:p>
        </p:txBody>
      </p:sp>
      <p:sp>
        <p:nvSpPr>
          <p:cNvPr id="23" name="TextBox 22"/>
          <p:cNvSpPr txBox="1"/>
          <p:nvPr/>
        </p:nvSpPr>
        <p:spPr>
          <a:xfrm>
            <a:off x="2697480" y="4197096"/>
            <a:ext cx="3566160" cy="566928"/>
          </a:xfrm>
          <a:prstGeom prst="rect">
            <a:avLst/>
          </a:prstGeom>
          <a:noFill/>
        </p:spPr>
        <p:txBody>
          <a:bodyPr wrap="square" lIns="18288" rIns="18288" tIns="18288" bIns="18288" anchor="ctr">
            <a:spAutoFit/>
          </a:bodyPr>
          <a:lstStyle/>
          <a:p>
            <a:pPr algn="l">
              <a:spcAft>
                <a:spcPts val="0"/>
              </a:spcAft>
            </a:pPr>
            <a:r>
              <a:rPr sz="1250" b="0" i="0">
                <a:solidFill>
                  <a:srgbClr val="263746"/>
                </a:solidFill>
                <a:latin typeface="Arial"/>
              </a:rPr>
              <a:t>[P] Rai14, Myl9, Ptprk higher; [R] Loxl1 higher</a:t>
            </a:r>
          </a:p>
        </p:txBody>
      </p:sp>
      <p:sp>
        <p:nvSpPr>
          <p:cNvPr id="24" name="TextBox 23"/>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Adhesion, actomyosin and extracellular-matrix or immune-organization hypothesis; no coherent pathway enrichment.</a:t>
            </a:r>
          </a:p>
        </p:txBody>
      </p:sp>
      <p:sp>
        <p:nvSpPr>
          <p:cNvPr id="25" name="Rectangle 24"/>
          <p:cNvSpPr/>
          <p:nvPr/>
        </p:nvSpPr>
        <p:spPr>
          <a:xfrm>
            <a:off x="393192" y="5056632"/>
            <a:ext cx="11375136" cy="804672"/>
          </a:xfrm>
          <a:prstGeom prst="rect">
            <a:avLst/>
          </a:prstGeom>
          <a:solidFill>
            <a:srgbClr val="F8F1E2"/>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93192" y="5056632"/>
            <a:ext cx="73152" cy="804672"/>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5239512"/>
            <a:ext cx="1874519" cy="402336"/>
          </a:xfrm>
          <a:prstGeom prst="rect">
            <a:avLst/>
          </a:prstGeom>
          <a:noFill/>
        </p:spPr>
        <p:txBody>
          <a:bodyPr wrap="square" lIns="18288" rIns="18288" tIns="18288" bIns="18288" anchor="ctr">
            <a:spAutoFit/>
          </a:bodyPr>
          <a:lstStyle/>
          <a:p>
            <a:pPr algn="l">
              <a:spcAft>
                <a:spcPts val="0"/>
              </a:spcAft>
            </a:pPr>
            <a:r>
              <a:rPr sz="1550" b="1" i="0">
                <a:solidFill>
                  <a:srgbClr val="D37B00"/>
                </a:solidFill>
                <a:latin typeface="Arial"/>
              </a:rPr>
              <a:t>Skin</a:t>
            </a:r>
          </a:p>
        </p:txBody>
      </p:sp>
      <p:sp>
        <p:nvSpPr>
          <p:cNvPr id="28" name="TextBox 27"/>
          <p:cNvSpPr txBox="1"/>
          <p:nvPr/>
        </p:nvSpPr>
        <p:spPr>
          <a:xfrm>
            <a:off x="2697480" y="5166360"/>
            <a:ext cx="3566160" cy="566928"/>
          </a:xfrm>
          <a:prstGeom prst="rect">
            <a:avLst/>
          </a:prstGeom>
          <a:noFill/>
        </p:spPr>
        <p:txBody>
          <a:bodyPr wrap="square" lIns="18288" rIns="18288" tIns="18288" bIns="18288" anchor="ctr">
            <a:spAutoFit/>
          </a:bodyPr>
          <a:lstStyle/>
          <a:p>
            <a:pPr algn="l">
              <a:spcAft>
                <a:spcPts val="0"/>
              </a:spcAft>
            </a:pPr>
            <a:r>
              <a:rPr sz="1250" b="0" i="0">
                <a:solidFill>
                  <a:srgbClr val="263746"/>
                </a:solidFill>
                <a:latin typeface="Arial"/>
              </a:rPr>
              <a:t>[P] Plscr1 higher</a:t>
            </a:r>
          </a:p>
        </p:txBody>
      </p:sp>
      <p:sp>
        <p:nvSpPr>
          <p:cNvPr id="29" name="TextBox 28"/>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Interferon-linked skin candidate within broader cell-cycle and DNA-repair responses; a single-gene result.</a:t>
            </a:r>
          </a:p>
        </p:txBody>
      </p:sp>
      <p:sp>
        <p:nvSpPr>
          <p:cNvPr id="30" name="TextBox 2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[P] promoted; [R] reinforced. All listed effects passed BH FDR in observed OSDR profiles.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FINDINGS II</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Eye, adrenal and muscle-group results remain tissue-specific</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Each row reports its own selected genes and the narrowest supported interpretation.</a:t>
            </a:r>
          </a:p>
        </p:txBody>
      </p:sp>
      <p:sp>
        <p:nvSpPr>
          <p:cNvPr id="7" name="TextBox 6"/>
          <p:cNvSpPr txBox="1"/>
          <p:nvPr/>
        </p:nvSpPr>
        <p:spPr>
          <a:xfrm>
            <a:off x="658368" y="1828800"/>
            <a:ext cx="1874519"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697480" y="1828800"/>
            <a:ext cx="35661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Synthetic-informed genes</a:t>
            </a:r>
          </a:p>
        </p:txBody>
      </p:sp>
      <p:sp>
        <p:nvSpPr>
          <p:cNvPr id="9" name="TextBox 8"/>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0" name="Rectangle 9"/>
          <p:cNvSpPr/>
          <p:nvPr/>
        </p:nvSpPr>
        <p:spPr>
          <a:xfrm>
            <a:off x="393192" y="2148840"/>
            <a:ext cx="11375136" cy="804672"/>
          </a:xfrm>
          <a:prstGeom prst="rect">
            <a:avLst/>
          </a:prstGeom>
          <a:solidFill>
            <a:srgbClr val="ECF4ED"/>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93192" y="2148840"/>
            <a:ext cx="73152" cy="804672"/>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2331720"/>
            <a:ext cx="1874519" cy="402336"/>
          </a:xfrm>
          <a:prstGeom prst="rect">
            <a:avLst/>
          </a:prstGeom>
          <a:noFill/>
        </p:spPr>
        <p:txBody>
          <a:bodyPr wrap="square" lIns="18288" rIns="18288" tIns="18288" bIns="18288" anchor="ctr">
            <a:spAutoFit/>
          </a:bodyPr>
          <a:lstStyle/>
          <a:p>
            <a:pPr algn="l">
              <a:spcAft>
                <a:spcPts val="0"/>
              </a:spcAft>
            </a:pPr>
            <a:r>
              <a:rPr sz="1550" b="1" i="0">
                <a:solidFill>
                  <a:srgbClr val="478A64"/>
                </a:solidFill>
                <a:latin typeface="Arial"/>
              </a:rPr>
              <a:t>Eye</a:t>
            </a:r>
          </a:p>
        </p:txBody>
      </p:sp>
      <p:sp>
        <p:nvSpPr>
          <p:cNvPr id="13" name="TextBox 12"/>
          <p:cNvSpPr txBox="1"/>
          <p:nvPr/>
        </p:nvSpPr>
        <p:spPr>
          <a:xfrm>
            <a:off x="2697480" y="2258568"/>
            <a:ext cx="3566160" cy="566928"/>
          </a:xfrm>
          <a:prstGeom prst="rect">
            <a:avLst/>
          </a:prstGeom>
          <a:noFill/>
        </p:spPr>
        <p:txBody>
          <a:bodyPr wrap="square" lIns="18288" rIns="18288" tIns="18288" bIns="18288" anchor="ctr">
            <a:spAutoFit/>
          </a:bodyPr>
          <a:lstStyle/>
          <a:p>
            <a:pPr algn="l">
              <a:spcAft>
                <a:spcPts val="0"/>
              </a:spcAft>
            </a:pPr>
            <a:r>
              <a:rPr sz="1250" b="0" i="0">
                <a:solidFill>
                  <a:srgbClr val="263746"/>
                </a:solidFill>
                <a:latin typeface="Arial"/>
              </a:rPr>
              <a:t>[R] Klhl21 lower</a:t>
            </a:r>
          </a:p>
        </p:txBody>
      </p:sp>
      <p:sp>
        <p:nvSpPr>
          <p:cNvPr id="14" name="TextBox 13"/>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Process-level alignment with lower proliferation and cytokinesis in flight eye tissue; not an exact prior gene replication.</a:t>
            </a:r>
          </a:p>
        </p:txBody>
      </p:sp>
      <p:sp>
        <p:nvSpPr>
          <p:cNvPr id="15" name="Rectangle 14"/>
          <p:cNvSpPr/>
          <p:nvPr/>
        </p:nvSpPr>
        <p:spPr>
          <a:xfrm>
            <a:off x="393192" y="3118104"/>
            <a:ext cx="11375136" cy="804672"/>
          </a:xfrm>
          <a:prstGeom prst="rect">
            <a:avLst/>
          </a:prstGeom>
          <a:solidFill>
            <a:srgbClr val="F2F4F5"/>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93192" y="3118104"/>
            <a:ext cx="73152" cy="804672"/>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300984"/>
            <a:ext cx="1874519" cy="402336"/>
          </a:xfrm>
          <a:prstGeom prst="rect">
            <a:avLst/>
          </a:prstGeom>
          <a:noFill/>
        </p:spPr>
        <p:txBody>
          <a:bodyPr wrap="square" lIns="18288" rIns="18288" tIns="18288" bIns="18288" anchor="ctr">
            <a:spAutoFit/>
          </a:bodyPr>
          <a:lstStyle/>
          <a:p>
            <a:pPr algn="l">
              <a:spcAft>
                <a:spcPts val="0"/>
              </a:spcAft>
            </a:pPr>
            <a:r>
              <a:rPr sz="1550" b="1" i="0">
                <a:solidFill>
                  <a:srgbClr val="8A969E"/>
                </a:solidFill>
                <a:latin typeface="Arial"/>
              </a:rPr>
              <a:t>Adrenal gland</a:t>
            </a:r>
          </a:p>
        </p:txBody>
      </p:sp>
      <p:sp>
        <p:nvSpPr>
          <p:cNvPr id="18" name="TextBox 17"/>
          <p:cNvSpPr txBox="1"/>
          <p:nvPr/>
        </p:nvSpPr>
        <p:spPr>
          <a:xfrm>
            <a:off x="2697480" y="3227832"/>
            <a:ext cx="3566160" cy="566928"/>
          </a:xfrm>
          <a:prstGeom prst="rect">
            <a:avLst/>
          </a:prstGeom>
          <a:noFill/>
        </p:spPr>
        <p:txBody>
          <a:bodyPr wrap="square" lIns="18288" rIns="18288" tIns="18288" bIns="18288" anchor="ctr">
            <a:spAutoFit/>
          </a:bodyPr>
          <a:lstStyle/>
          <a:p>
            <a:pPr algn="l">
              <a:spcAft>
                <a:spcPts val="0"/>
              </a:spcAft>
            </a:pPr>
            <a:r>
              <a:rPr sz="1250" b="0" i="0">
                <a:solidFill>
                  <a:srgbClr val="263746"/>
                </a:solidFill>
                <a:latin typeface="Arial"/>
              </a:rPr>
              <a:t>[P] Psmb8 lower; [R] Tspan4 lower</a:t>
            </a:r>
          </a:p>
        </p:txBody>
      </p:sp>
      <p:sp>
        <p:nvSpPr>
          <p:cNvPr id="19" name="TextBox 18"/>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Literature-unmatched immune, proteostasis or tissue-composition candidates; no adrenal mechanism is established.</a:t>
            </a:r>
          </a:p>
        </p:txBody>
      </p:sp>
      <p:sp>
        <p:nvSpPr>
          <p:cNvPr id="20" name="Rectangle 19"/>
          <p:cNvSpPr/>
          <p:nvPr/>
        </p:nvSpPr>
        <p:spPr>
          <a:xfrm>
            <a:off x="393192" y="4087368"/>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4087368"/>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4270248"/>
            <a:ext cx="1874519" cy="402336"/>
          </a:xfrm>
          <a:prstGeom prst="rect">
            <a:avLst/>
          </a:prstGeom>
          <a:noFill/>
        </p:spPr>
        <p:txBody>
          <a:bodyPr wrap="square" lIns="18288" rIns="18288" tIns="18288" bIns="18288" anchor="ctr">
            <a:spAutoFit/>
          </a:bodyPr>
          <a:lstStyle/>
          <a:p>
            <a:pPr algn="l">
              <a:spcAft>
                <a:spcPts val="0"/>
              </a:spcAft>
            </a:pPr>
            <a:r>
              <a:rPr sz="1550" b="1" i="0">
                <a:solidFill>
                  <a:srgbClr val="2D6496"/>
                </a:solidFill>
                <a:latin typeface="Arial"/>
              </a:rPr>
              <a:t>Gastrocnemius</a:t>
            </a:r>
          </a:p>
        </p:txBody>
      </p:sp>
      <p:sp>
        <p:nvSpPr>
          <p:cNvPr id="23" name="TextBox 22"/>
          <p:cNvSpPr txBox="1"/>
          <p:nvPr/>
        </p:nvSpPr>
        <p:spPr>
          <a:xfrm>
            <a:off x="2697480" y="4197096"/>
            <a:ext cx="3566160" cy="566928"/>
          </a:xfrm>
          <a:prstGeom prst="rect">
            <a:avLst/>
          </a:prstGeom>
          <a:noFill/>
        </p:spPr>
        <p:txBody>
          <a:bodyPr wrap="square" lIns="18288" rIns="18288" tIns="18288" bIns="18288" anchor="ctr">
            <a:spAutoFit/>
          </a:bodyPr>
          <a:lstStyle/>
          <a:p>
            <a:pPr algn="l">
              <a:spcAft>
                <a:spcPts val="0"/>
              </a:spcAft>
            </a:pPr>
            <a:r>
              <a:rPr sz="1250" b="0" i="0">
                <a:solidFill>
                  <a:srgbClr val="263746"/>
                </a:solidFill>
                <a:latin typeface="Arial"/>
              </a:rPr>
              <a:t>[P] Nfkbia higher; [P] Fhl2 lower</a:t>
            </a:r>
          </a:p>
        </p:txBody>
      </p:sp>
      <p:sp>
        <p:nvSpPr>
          <p:cNvPr id="24" name="TextBox 23"/>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NF-kappaB stress alignment plus an autophagy or myogenesis candidate; the two genes do not form a coherent pathway.</a:t>
            </a:r>
          </a:p>
        </p:txBody>
      </p:sp>
      <p:sp>
        <p:nvSpPr>
          <p:cNvPr id="25" name="Rectangle 24"/>
          <p:cNvSpPr/>
          <p:nvPr/>
        </p:nvSpPr>
        <p:spPr>
          <a:xfrm>
            <a:off x="393192" y="5056632"/>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93192" y="5056632"/>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5239512"/>
            <a:ext cx="1874519" cy="402336"/>
          </a:xfrm>
          <a:prstGeom prst="rect">
            <a:avLst/>
          </a:prstGeom>
          <a:noFill/>
        </p:spPr>
        <p:txBody>
          <a:bodyPr wrap="square" lIns="18288" rIns="18288" tIns="18288" bIns="18288" anchor="ctr">
            <a:spAutoFit/>
          </a:bodyPr>
          <a:lstStyle/>
          <a:p>
            <a:pPr algn="l">
              <a:spcAft>
                <a:spcPts val="0"/>
              </a:spcAft>
            </a:pPr>
            <a:r>
              <a:rPr sz="1550" b="1" i="0">
                <a:solidFill>
                  <a:srgbClr val="178681"/>
                </a:solidFill>
                <a:latin typeface="Arial"/>
              </a:rPr>
              <a:t>Tibialis anterior</a:t>
            </a:r>
          </a:p>
        </p:txBody>
      </p:sp>
      <p:sp>
        <p:nvSpPr>
          <p:cNvPr id="28" name="TextBox 27"/>
          <p:cNvSpPr txBox="1"/>
          <p:nvPr/>
        </p:nvSpPr>
        <p:spPr>
          <a:xfrm>
            <a:off x="2697480" y="5166360"/>
            <a:ext cx="3566160" cy="566928"/>
          </a:xfrm>
          <a:prstGeom prst="rect">
            <a:avLst/>
          </a:prstGeom>
          <a:noFill/>
        </p:spPr>
        <p:txBody>
          <a:bodyPr wrap="square" lIns="18288" rIns="18288" tIns="18288" bIns="18288" anchor="ctr">
            <a:spAutoFit/>
          </a:bodyPr>
          <a:lstStyle/>
          <a:p>
            <a:pPr algn="l">
              <a:spcAft>
                <a:spcPts val="0"/>
              </a:spcAft>
            </a:pPr>
            <a:r>
              <a:rPr sz="1250" b="0" i="0">
                <a:solidFill>
                  <a:srgbClr val="263746"/>
                </a:solidFill>
                <a:latin typeface="Arial"/>
              </a:rPr>
              <a:t>[P] Cebpd higher; [R] Cdkn1a, St3gal5, Bnip3 higher</a:t>
            </a:r>
          </a:p>
        </p:txBody>
      </p:sp>
      <p:sp>
        <p:nvSpPr>
          <p:cNvPr id="29" name="TextBox 28"/>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Stress, cell-cycle, ganglioside-signaling and mitophagy candidates with mixed or complementary prior evidence.</a:t>
            </a:r>
          </a:p>
        </p:txBody>
      </p:sp>
      <p:sp>
        <p:nvSpPr>
          <p:cNvPr id="30" name="TextBox 2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[P] promoted; [R] reinforced. Interpretations follow the independent literature annotations in Table S16.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TAKEAWAYS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data helped most as a tissue-specific prior</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generator created useful structure, not new biological replication.</a:t>
            </a:r>
          </a:p>
        </p:txBody>
      </p:sp>
      <p:sp>
        <p:nvSpPr>
          <p:cNvPr id="7" name="Rounded Rectangle 6"/>
          <p:cNvSpPr/>
          <p:nvPr/>
        </p:nvSpPr>
        <p:spPr>
          <a:xfrm>
            <a:off x="384048" y="1920240"/>
            <a:ext cx="3419856" cy="2487168"/>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21792" y="2167128"/>
            <a:ext cx="475488" cy="47548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 y="2221992"/>
            <a:ext cx="475488" cy="274320"/>
          </a:xfrm>
          <a:prstGeom prst="rect">
            <a:avLst/>
          </a:prstGeom>
          <a:noFill/>
        </p:spPr>
        <p:txBody>
          <a:bodyPr wrap="square" lIns="18288" rIns="18288" tIns="18288" bIns="18288" anchor="t">
            <a:spAutoFit/>
          </a:bodyPr>
          <a:lstStyle/>
          <a:p>
            <a:pPr algn="ctr">
              <a:spcAft>
                <a:spcPts val="0"/>
              </a:spcAft>
            </a:pPr>
            <a:r>
              <a:rPr sz="1600" b="1" i="0">
                <a:solidFill>
                  <a:srgbClr val="FFFFFF"/>
                </a:solidFill>
                <a:latin typeface="Arial"/>
              </a:rPr>
              <a:t>1</a:t>
            </a:r>
          </a:p>
        </p:txBody>
      </p:sp>
      <p:sp>
        <p:nvSpPr>
          <p:cNvPr id="10" name="TextBox 9"/>
          <p:cNvSpPr txBox="1"/>
          <p:nvPr/>
        </p:nvSpPr>
        <p:spPr>
          <a:xfrm>
            <a:off x="1216152" y="2176272"/>
            <a:ext cx="2240280" cy="329184"/>
          </a:xfrm>
          <a:prstGeom prst="rect">
            <a:avLst/>
          </a:prstGeom>
          <a:noFill/>
        </p:spPr>
        <p:txBody>
          <a:bodyPr wrap="square" lIns="18288" rIns="18288" tIns="18288" bIns="18288" anchor="t">
            <a:spAutoFit/>
          </a:bodyPr>
          <a:lstStyle/>
          <a:p>
            <a:pPr algn="l">
              <a:spcAft>
                <a:spcPts val="0"/>
              </a:spcAft>
            </a:pPr>
            <a:r>
              <a:rPr sz="1900" b="1" i="0">
                <a:solidFill>
                  <a:srgbClr val="2D6496"/>
                </a:solidFill>
                <a:latin typeface="Arial"/>
              </a:rPr>
              <a:t>Generate</a:t>
            </a:r>
          </a:p>
        </p:txBody>
      </p:sp>
      <p:sp>
        <p:nvSpPr>
          <p:cNvPr id="11" name="TextBox 10"/>
          <p:cNvSpPr txBox="1"/>
          <p:nvPr/>
        </p:nvSpPr>
        <p:spPr>
          <a:xfrm>
            <a:off x="640080" y="2816352"/>
            <a:ext cx="2880360" cy="1216152"/>
          </a:xfrm>
          <a:prstGeom prst="rect">
            <a:avLst/>
          </a:prstGeom>
          <a:noFill/>
        </p:spPr>
        <p:txBody>
          <a:bodyPr wrap="square" lIns="18288" rIns="18288" tIns="18288" bIns="18288" anchor="t">
            <a:spAutoFit/>
          </a:bodyPr>
          <a:lstStyle/>
          <a:p>
            <a:pPr algn="l">
              <a:spcAft>
                <a:spcPts val="0"/>
              </a:spcAft>
            </a:pPr>
            <a:r>
              <a:rPr sz="1500" b="0" i="0">
                <a:solidFill>
                  <a:srgbClr val="263746"/>
                </a:solidFill>
                <a:latin typeface="Arial"/>
              </a:rPr>
              <a:t>Conditional DDIM produced high-fidelity profiles with near-chance real-versus-synthetic separation.</a:t>
            </a:r>
          </a:p>
        </p:txBody>
      </p:sp>
      <p:sp>
        <p:nvSpPr>
          <p:cNvPr id="12" name="Rounded Rectangle 11"/>
          <p:cNvSpPr/>
          <p:nvPr/>
        </p:nvSpPr>
        <p:spPr>
          <a:xfrm>
            <a:off x="4059936" y="1920240"/>
            <a:ext cx="3419856" cy="2487168"/>
          </a:xfrm>
          <a:prstGeom prst="round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297680" y="2167128"/>
            <a:ext cx="475488" cy="475488"/>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2221992"/>
            <a:ext cx="475488" cy="274320"/>
          </a:xfrm>
          <a:prstGeom prst="rect">
            <a:avLst/>
          </a:prstGeom>
          <a:noFill/>
        </p:spPr>
        <p:txBody>
          <a:bodyPr wrap="square" lIns="18288" rIns="18288" tIns="18288" bIns="18288" anchor="t">
            <a:spAutoFit/>
          </a:bodyPr>
          <a:lstStyle/>
          <a:p>
            <a:pPr algn="ctr">
              <a:spcAft>
                <a:spcPts val="0"/>
              </a:spcAft>
            </a:pPr>
            <a:r>
              <a:rPr sz="1600" b="1" i="0">
                <a:solidFill>
                  <a:srgbClr val="FFFFFF"/>
                </a:solidFill>
                <a:latin typeface="Arial"/>
              </a:rPr>
              <a:t>2</a:t>
            </a:r>
          </a:p>
        </p:txBody>
      </p:sp>
      <p:sp>
        <p:nvSpPr>
          <p:cNvPr id="15" name="TextBox 14"/>
          <p:cNvSpPr txBox="1"/>
          <p:nvPr/>
        </p:nvSpPr>
        <p:spPr>
          <a:xfrm>
            <a:off x="4892040" y="2176272"/>
            <a:ext cx="2240280" cy="329184"/>
          </a:xfrm>
          <a:prstGeom prst="rect">
            <a:avLst/>
          </a:prstGeom>
          <a:noFill/>
        </p:spPr>
        <p:txBody>
          <a:bodyPr wrap="square" lIns="18288" rIns="18288" tIns="18288" bIns="18288" anchor="t">
            <a:spAutoFit/>
          </a:bodyPr>
          <a:lstStyle/>
          <a:p>
            <a:pPr algn="l">
              <a:spcAft>
                <a:spcPts val="0"/>
              </a:spcAft>
            </a:pPr>
            <a:r>
              <a:rPr sz="1900" b="1" i="0">
                <a:solidFill>
                  <a:srgbClr val="178681"/>
                </a:solidFill>
                <a:latin typeface="Arial"/>
              </a:rPr>
              <a:t>Use</a:t>
            </a:r>
          </a:p>
        </p:txBody>
      </p:sp>
      <p:sp>
        <p:nvSpPr>
          <p:cNvPr id="16" name="TextBox 15"/>
          <p:cNvSpPr txBox="1"/>
          <p:nvPr/>
        </p:nvSpPr>
        <p:spPr>
          <a:xfrm>
            <a:off x="4315968" y="2816352"/>
            <a:ext cx="2880360" cy="1216152"/>
          </a:xfrm>
          <a:prstGeom prst="rect">
            <a:avLst/>
          </a:prstGeom>
          <a:noFill/>
        </p:spPr>
        <p:txBody>
          <a:bodyPr wrap="square" lIns="18288" rIns="18288" tIns="18288" bIns="18288" anchor="t">
            <a:spAutoFit/>
          </a:bodyPr>
          <a:lstStyle/>
          <a:p>
            <a:pPr algn="l">
              <a:spcAft>
                <a:spcPts val="0"/>
              </a:spcAft>
            </a:pPr>
            <a:r>
              <a:rPr sz="1500" b="0" i="0">
                <a:solidFill>
                  <a:srgbClr val="263746"/>
                </a:solidFill>
                <a:latin typeface="Arial"/>
              </a:rPr>
              <a:t>Pooled augmentation failed. Tissue-specific ranking and low-weight training were more useful.</a:t>
            </a:r>
          </a:p>
        </p:txBody>
      </p:sp>
      <p:sp>
        <p:nvSpPr>
          <p:cNvPr id="17" name="Rounded Rectangle 16"/>
          <p:cNvSpPr/>
          <p:nvPr/>
        </p:nvSpPr>
        <p:spPr>
          <a:xfrm>
            <a:off x="7735824" y="1920240"/>
            <a:ext cx="3419856" cy="2487168"/>
          </a:xfrm>
          <a:prstGeom prst="roundRect">
            <a:avLst/>
          </a:prstGeom>
          <a:solidFill>
            <a:srgbClr val="F8F1E2"/>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973568" y="2167128"/>
            <a:ext cx="475488" cy="475488"/>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73568" y="2221992"/>
            <a:ext cx="475488" cy="274320"/>
          </a:xfrm>
          <a:prstGeom prst="rect">
            <a:avLst/>
          </a:prstGeom>
          <a:noFill/>
        </p:spPr>
        <p:txBody>
          <a:bodyPr wrap="square" lIns="18288" rIns="18288" tIns="18288" bIns="18288" anchor="t">
            <a:spAutoFit/>
          </a:bodyPr>
          <a:lstStyle/>
          <a:p>
            <a:pPr algn="ctr">
              <a:spcAft>
                <a:spcPts val="0"/>
              </a:spcAft>
            </a:pPr>
            <a:r>
              <a:rPr sz="1600" b="1" i="0">
                <a:solidFill>
                  <a:srgbClr val="FFFFFF"/>
                </a:solidFill>
                <a:latin typeface="Arial"/>
              </a:rPr>
              <a:t>3</a:t>
            </a:r>
          </a:p>
        </p:txBody>
      </p:sp>
      <p:sp>
        <p:nvSpPr>
          <p:cNvPr id="20" name="TextBox 19"/>
          <p:cNvSpPr txBox="1"/>
          <p:nvPr/>
        </p:nvSpPr>
        <p:spPr>
          <a:xfrm>
            <a:off x="8567928" y="2176272"/>
            <a:ext cx="2240280" cy="329184"/>
          </a:xfrm>
          <a:prstGeom prst="rect">
            <a:avLst/>
          </a:prstGeom>
          <a:noFill/>
        </p:spPr>
        <p:txBody>
          <a:bodyPr wrap="square" lIns="18288" rIns="18288" tIns="18288" bIns="18288" anchor="t">
            <a:spAutoFit/>
          </a:bodyPr>
          <a:lstStyle/>
          <a:p>
            <a:pPr algn="l">
              <a:spcAft>
                <a:spcPts val="0"/>
              </a:spcAft>
            </a:pPr>
            <a:r>
              <a:rPr sz="1900" b="1" i="0">
                <a:solidFill>
                  <a:srgbClr val="D37B00"/>
                </a:solidFill>
                <a:latin typeface="Arial"/>
              </a:rPr>
              <a:t>Interpret</a:t>
            </a:r>
          </a:p>
        </p:txBody>
      </p:sp>
      <p:sp>
        <p:nvSpPr>
          <p:cNvPr id="21" name="TextBox 20"/>
          <p:cNvSpPr txBox="1"/>
          <p:nvPr/>
        </p:nvSpPr>
        <p:spPr>
          <a:xfrm>
            <a:off x="7991856" y="2816352"/>
            <a:ext cx="2880360" cy="1216152"/>
          </a:xfrm>
          <a:prstGeom prst="rect">
            <a:avLst/>
          </a:prstGeom>
          <a:noFill/>
        </p:spPr>
        <p:txBody>
          <a:bodyPr wrap="square" lIns="18288" rIns="18288" tIns="18288" bIns="18288" anchor="t">
            <a:spAutoFit/>
          </a:bodyPr>
          <a:lstStyle/>
          <a:p>
            <a:pPr algn="l">
              <a:spcAft>
                <a:spcPts val="0"/>
              </a:spcAft>
            </a:pPr>
            <a:r>
              <a:rPr sz="1500" b="0" i="0">
                <a:solidFill>
                  <a:srgbClr val="263746"/>
                </a:solidFill>
                <a:latin typeface="Arial"/>
              </a:rPr>
              <a:t>Thymus and soleus were clearest. Literature review separated recovery from complementary hypotheses.</a:t>
            </a:r>
          </a:p>
        </p:txBody>
      </p:sp>
      <p:sp>
        <p:nvSpPr>
          <p:cNvPr id="22" name="Rounded Rectangle 21"/>
          <p:cNvSpPr/>
          <p:nvPr/>
        </p:nvSpPr>
        <p:spPr>
          <a:xfrm>
            <a:off x="384048" y="4709160"/>
            <a:ext cx="10972800" cy="1188720"/>
          </a:xfrm>
          <a:prstGeom prst="round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010912"/>
            <a:ext cx="1261872" cy="310896"/>
          </a:xfrm>
          <a:prstGeom prst="rect">
            <a:avLst/>
          </a:prstGeom>
          <a:noFill/>
        </p:spPr>
        <p:txBody>
          <a:bodyPr wrap="square" lIns="18288" rIns="18288" tIns="18288" bIns="18288" anchor="t">
            <a:spAutoFit/>
          </a:bodyPr>
          <a:lstStyle/>
          <a:p>
            <a:pPr algn="l">
              <a:spcAft>
                <a:spcPts val="0"/>
              </a:spcAft>
            </a:pPr>
            <a:r>
              <a:rPr sz="1700" b="1" i="0">
                <a:solidFill>
                  <a:srgbClr val="FFD69A"/>
                </a:solidFill>
                <a:latin typeface="Arial"/>
              </a:rPr>
              <a:t>Next test</a:t>
            </a:r>
          </a:p>
        </p:txBody>
      </p:sp>
      <p:sp>
        <p:nvSpPr>
          <p:cNvPr id="24" name="TextBox 23"/>
          <p:cNvSpPr txBox="1"/>
          <p:nvPr/>
        </p:nvSpPr>
        <p:spPr>
          <a:xfrm>
            <a:off x="1874519" y="4937760"/>
            <a:ext cx="9070848" cy="530352"/>
          </a:xfrm>
          <a:prstGeom prst="rect">
            <a:avLst/>
          </a:prstGeom>
          <a:noFill/>
        </p:spPr>
        <p:txBody>
          <a:bodyPr wrap="square" lIns="18288" rIns="18288" tIns="18288" bIns="18288" anchor="ctr">
            <a:spAutoFit/>
          </a:bodyPr>
          <a:lstStyle/>
          <a:p>
            <a:pPr algn="l">
              <a:spcAft>
                <a:spcPts val="0"/>
              </a:spcAft>
            </a:pPr>
            <a:r>
              <a:rPr sz="1600" b="0" i="0">
                <a:solidFill>
                  <a:srgbClr val="FFFFFF"/>
                </a:solidFill>
                <a:latin typeface="Arial"/>
              </a:rPr>
              <a:t>Use independent samples and cell-resolved assays to test thymus proliferation, soleus metabolism and prioritized candidates from additional tissues.</a:t>
            </a:r>
          </a:p>
        </p:txBody>
      </p:sp>
      <p:sp>
        <p:nvSpPr>
          <p:cNvPr id="25" name="TextBox 24"/>
          <p:cNvSpPr txBox="1"/>
          <p:nvPr/>
        </p:nvSpPr>
        <p:spPr>
          <a:xfrm>
            <a:off x="1874519" y="5532120"/>
            <a:ext cx="9070848" cy="256032"/>
          </a:xfrm>
          <a:prstGeom prst="rect">
            <a:avLst/>
          </a:prstGeom>
          <a:noFill/>
        </p:spPr>
        <p:txBody>
          <a:bodyPr wrap="square" lIns="18288" rIns="18288" tIns="18288" bIns="18288" anchor="t">
            <a:spAutoFit/>
          </a:bodyPr>
          <a:lstStyle/>
          <a:p>
            <a:pPr algn="l">
              <a:spcAft>
                <a:spcPts val="0"/>
              </a:spcAft>
            </a:pPr>
            <a:r>
              <a:rPr sz="1250" b="0" i="0">
                <a:solidFill>
                  <a:srgbClr val="BFD0E1"/>
                </a:solidFill>
                <a:latin typeface="Arial"/>
              </a:rPr>
              <a:t>Generated profiles never enter the biological sample count or the BH-FDR test.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Rectangle 3"/>
          <p:cNvSpPr/>
          <p:nvPr/>
        </p:nvSpPr>
        <p:spPr>
          <a:xfrm>
            <a:off x="0" y="347472"/>
            <a:ext cx="12191999" cy="651052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115568"/>
            <a:ext cx="4937760" cy="731520"/>
          </a:xfrm>
          <a:prstGeom prst="rect">
            <a:avLst/>
          </a:prstGeom>
          <a:noFill/>
        </p:spPr>
        <p:txBody>
          <a:bodyPr wrap="square" lIns="18288" rIns="18288" tIns="18288" bIns="18288" anchor="t">
            <a:spAutoFit/>
          </a:bodyPr>
          <a:lstStyle/>
          <a:p>
            <a:pPr algn="l">
              <a:spcAft>
                <a:spcPts val="0"/>
              </a:spcAft>
            </a:pPr>
            <a:r>
              <a:rPr sz="3400" b="1" i="0">
                <a:solidFill>
                  <a:srgbClr val="FFFFFF"/>
                </a:solidFill>
                <a:latin typeface="Arial"/>
              </a:rPr>
              <a:t>Thank you</a:t>
            </a:r>
          </a:p>
        </p:txBody>
      </p:sp>
      <p:sp>
        <p:nvSpPr>
          <p:cNvPr id="6" name="TextBox 5"/>
          <p:cNvSpPr txBox="1"/>
          <p:nvPr/>
        </p:nvSpPr>
        <p:spPr>
          <a:xfrm>
            <a:off x="612648" y="1920240"/>
            <a:ext cx="3657600" cy="411480"/>
          </a:xfrm>
          <a:prstGeom prst="rect">
            <a:avLst/>
          </a:prstGeom>
          <a:noFill/>
        </p:spPr>
        <p:txBody>
          <a:bodyPr wrap="square" lIns="18288" rIns="18288" tIns="18288" bIns="18288" anchor="t">
            <a:spAutoFit/>
          </a:bodyPr>
          <a:lstStyle/>
          <a:p>
            <a:pPr algn="l">
              <a:spcAft>
                <a:spcPts val="0"/>
              </a:spcAft>
            </a:pPr>
            <a:r>
              <a:rPr sz="2100" b="0" i="0">
                <a:solidFill>
                  <a:srgbClr val="BFD0E1"/>
                </a:solidFill>
                <a:latin typeface="Arial"/>
              </a:rPr>
              <a:t>Questions?</a:t>
            </a:r>
          </a:p>
        </p:txBody>
      </p:sp>
      <p:sp>
        <p:nvSpPr>
          <p:cNvPr id="7" name="Rectangle 6"/>
          <p:cNvSpPr/>
          <p:nvPr/>
        </p:nvSpPr>
        <p:spPr>
          <a:xfrm>
            <a:off x="621792" y="2596896"/>
            <a:ext cx="2743200"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2935224"/>
            <a:ext cx="2743200" cy="320040"/>
          </a:xfrm>
          <a:prstGeom prst="rect">
            <a:avLst/>
          </a:prstGeom>
          <a:noFill/>
        </p:spPr>
        <p:txBody>
          <a:bodyPr wrap="square" lIns="18288" rIns="18288" tIns="18288" bIns="18288" anchor="t">
            <a:spAutoFit/>
          </a:bodyPr>
          <a:lstStyle/>
          <a:p>
            <a:pPr algn="l">
              <a:spcAft>
                <a:spcPts val="0"/>
              </a:spcAft>
            </a:pPr>
            <a:r>
              <a:rPr sz="1800" b="1" i="0">
                <a:solidFill>
                  <a:srgbClr val="FFFFFF"/>
                </a:solidFill>
                <a:latin typeface="Arial"/>
              </a:rPr>
              <a:t>Jason Trinh</a:t>
            </a:r>
          </a:p>
        </p:txBody>
      </p:sp>
      <p:sp>
        <p:nvSpPr>
          <p:cNvPr id="9" name="TextBox 8"/>
          <p:cNvSpPr txBox="1"/>
          <p:nvPr/>
        </p:nvSpPr>
        <p:spPr>
          <a:xfrm>
            <a:off x="621792" y="3319272"/>
            <a:ext cx="3200400" cy="274320"/>
          </a:xfrm>
          <a:prstGeom prst="rect">
            <a:avLst/>
          </a:prstGeom>
          <a:noFill/>
        </p:spPr>
        <p:txBody>
          <a:bodyPr wrap="square" lIns="18288" rIns="18288" tIns="18288" bIns="18288" anchor="t">
            <a:spAutoFit/>
          </a:bodyPr>
          <a:lstStyle/>
          <a:p>
            <a:pPr algn="l">
              <a:spcAft>
                <a:spcPts val="0"/>
              </a:spcAft>
            </a:pPr>
            <a:r>
              <a:rPr sz="1400" b="0" i="0">
                <a:solidFill>
                  <a:srgbClr val="BFD0E1"/>
                </a:solidFill>
                <a:latin typeface="Arial"/>
              </a:rPr>
              <a:t>jasontrinh@berkeley.edu</a:t>
            </a:r>
          </a:p>
        </p:txBody>
      </p:sp>
      <p:sp>
        <p:nvSpPr>
          <p:cNvPr id="10" name="TextBox 9"/>
          <p:cNvSpPr txBox="1"/>
          <p:nvPr/>
        </p:nvSpPr>
        <p:spPr>
          <a:xfrm>
            <a:off x="5504688" y="13533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Mentor</a:t>
            </a:r>
          </a:p>
        </p:txBody>
      </p:sp>
      <p:sp>
        <p:nvSpPr>
          <p:cNvPr id="11" name="TextBox 10"/>
          <p:cNvSpPr txBox="1"/>
          <p:nvPr/>
        </p:nvSpPr>
        <p:spPr>
          <a:xfrm>
            <a:off x="6793992" y="1325880"/>
            <a:ext cx="4160520" cy="310896"/>
          </a:xfrm>
          <a:prstGeom prst="rect">
            <a:avLst/>
          </a:prstGeom>
          <a:noFill/>
        </p:spPr>
        <p:txBody>
          <a:bodyPr wrap="square" lIns="18288" rIns="18288" tIns="18288" bIns="18288" anchor="t">
            <a:spAutoFit/>
          </a:bodyPr>
          <a:lstStyle/>
          <a:p>
            <a:pPr algn="l">
              <a:spcAft>
                <a:spcPts val="0"/>
              </a:spcAft>
            </a:pPr>
            <a:r>
              <a:rPr sz="1700" b="1" i="0">
                <a:solidFill>
                  <a:srgbClr val="FFFFFF"/>
                </a:solidFill>
                <a:latin typeface="Arial"/>
              </a:rPr>
              <a:t>James Casaletto</a:t>
            </a:r>
          </a:p>
        </p:txBody>
      </p:sp>
      <p:sp>
        <p:nvSpPr>
          <p:cNvPr id="12" name="TextBox 11"/>
          <p:cNvSpPr txBox="1"/>
          <p:nvPr/>
        </p:nvSpPr>
        <p:spPr>
          <a:xfrm>
            <a:off x="5504688" y="1975104"/>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Program</a:t>
            </a:r>
          </a:p>
        </p:txBody>
      </p:sp>
      <p:sp>
        <p:nvSpPr>
          <p:cNvPr id="13" name="TextBox 12"/>
          <p:cNvSpPr txBox="1"/>
          <p:nvPr/>
        </p:nvSpPr>
        <p:spPr>
          <a:xfrm>
            <a:off x="6793992" y="1947672"/>
            <a:ext cx="4407408" cy="475488"/>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Space Life Sciences Training Program</a:t>
            </a:r>
          </a:p>
        </p:txBody>
      </p:sp>
      <p:sp>
        <p:nvSpPr>
          <p:cNvPr id="14" name="TextBox 13"/>
          <p:cNvSpPr txBox="1"/>
          <p:nvPr/>
        </p:nvSpPr>
        <p:spPr>
          <a:xfrm>
            <a:off x="5504688" y="2779776"/>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Data</a:t>
            </a:r>
          </a:p>
        </p:txBody>
      </p:sp>
      <p:sp>
        <p:nvSpPr>
          <p:cNvPr id="15" name="TextBox 14"/>
          <p:cNvSpPr txBox="1"/>
          <p:nvPr/>
        </p:nvSpPr>
        <p:spPr>
          <a:xfrm>
            <a:off x="6793992" y="2752344"/>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OSDR | ARCHS4 | Reactome</a:t>
            </a:r>
          </a:p>
        </p:txBody>
      </p:sp>
      <p:sp>
        <p:nvSpPr>
          <p:cNvPr id="16" name="TextBox 15"/>
          <p:cNvSpPr txBox="1"/>
          <p:nvPr/>
        </p:nvSpPr>
        <p:spPr>
          <a:xfrm>
            <a:off x="5504688" y="34107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Compute</a:t>
            </a:r>
          </a:p>
        </p:txBody>
      </p:sp>
      <p:sp>
        <p:nvSpPr>
          <p:cNvPr id="17" name="TextBox 16"/>
          <p:cNvSpPr txBox="1"/>
          <p:nvPr/>
        </p:nvSpPr>
        <p:spPr>
          <a:xfrm>
            <a:off x="6793992" y="338328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Ames Research Center</a:t>
            </a:r>
          </a:p>
        </p:txBody>
      </p:sp>
      <p:sp>
        <p:nvSpPr>
          <p:cNvPr id="18" name="TextBox 17"/>
          <p:cNvSpPr txBox="1"/>
          <p:nvPr/>
        </p:nvSpPr>
        <p:spPr>
          <a:xfrm>
            <a:off x="5504688" y="4041648"/>
            <a:ext cx="1188720" cy="365760"/>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Code and manuscript</a:t>
            </a:r>
          </a:p>
        </p:txBody>
      </p:sp>
      <p:sp>
        <p:nvSpPr>
          <p:cNvPr id="19" name="TextBox 18"/>
          <p:cNvSpPr txBox="1"/>
          <p:nvPr/>
        </p:nvSpPr>
        <p:spPr>
          <a:xfrm>
            <a:off x="6793992" y="402336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github.com/jasont314/nasa-mouse</a:t>
            </a:r>
          </a:p>
        </p:txBody>
      </p:sp>
      <p:sp>
        <p:nvSpPr>
          <p:cNvPr id="20" name="TextBox 19"/>
          <p:cNvSpPr txBox="1"/>
          <p:nvPr/>
        </p:nvSpPr>
        <p:spPr>
          <a:xfrm>
            <a:off x="5504688" y="5029200"/>
            <a:ext cx="5486400" cy="365760"/>
          </a:xfrm>
          <a:prstGeom prst="rect">
            <a:avLst/>
          </a:prstGeom>
          <a:noFill/>
        </p:spPr>
        <p:txBody>
          <a:bodyPr wrap="square" lIns="18288" rIns="18288" tIns="18288" bIns="18288" anchor="t">
            <a:spAutoFit/>
          </a:bodyPr>
          <a:lstStyle/>
          <a:p>
            <a:pPr algn="l">
              <a:spcAft>
                <a:spcPts val="0"/>
              </a:spcAft>
            </a:pPr>
            <a:r>
              <a:rPr sz="1350" b="0" i="1">
                <a:solidFill>
                  <a:srgbClr val="BFD0E1"/>
                </a:solidFill>
                <a:latin typeface="Arial"/>
              </a:rPr>
              <a:t>All biological associations were tested in observed OSDR profiles.</a:t>
            </a:r>
          </a:p>
        </p:txBody>
      </p:sp>
    </p:spTree>
  </p:cSld>
  <p:clrMapOvr>
    <a:masterClrMapping/>
  </p:clrMapOvr>
</p:sld>
</file>

<file path=ppt/theme/theme1.xml><?xml version="1.0" encoding="utf-8"?>
<a:theme xmlns:a="http://schemas.openxmlformats.org/drawingml/2006/main" name="1_Office Theme">
  <a:themeElements>
    <a:clrScheme name="BPS_2024_gold">
      <a:dk1>
        <a:srgbClr val="061F49"/>
      </a:dk1>
      <a:lt1>
        <a:srgbClr val="FFFFFF"/>
      </a:lt1>
      <a:dk2>
        <a:srgbClr val="061F49"/>
      </a:dk2>
      <a:lt2>
        <a:srgbClr val="E7E6E6"/>
      </a:lt2>
      <a:accent1>
        <a:srgbClr val="061F48"/>
      </a:accent1>
      <a:accent2>
        <a:srgbClr val="276644"/>
      </a:accent2>
      <a:accent3>
        <a:srgbClr val="D47800"/>
      </a:accent3>
      <a:accent4>
        <a:srgbClr val="D4BF88"/>
      </a:accent4>
      <a:accent5>
        <a:srgbClr val="8F6725"/>
      </a:accent5>
      <a:accent6>
        <a:srgbClr val="205391"/>
      </a:accent6>
      <a:hlink>
        <a:srgbClr val="205391"/>
      </a:hlink>
      <a:folHlink>
        <a:srgbClr val="0B3C91"/>
      </a:folHlink>
    </a:clrScheme>
    <a:fontScheme name="Arial Black-Arial">
      <a:majorFont>
        <a:latin typeface="Arial Black" panose="020B0A0402010202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24-01-24_BPS_PPT_Template" id="{F69818ED-1EB5-154C-9646-61EECBC32C17}" vid="{337BE73D-1FC8-8444-A6A2-B6928143BD4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43f8f0fe-7515-424d-86d7-0a337e4aa03f">
      <UserInfo>
        <DisplayName>Mangan, Keara L. (HQ-DP000)[BOOZ ALLEN &amp; HAMILTON INC]</DisplayName>
        <AccountId>13</AccountId>
        <AccountType/>
      </UserInfo>
      <UserInfo>
        <DisplayName>Gilbertson, Gamble (HQ-DP000)[EAST2]</DisplayName>
        <AccountId>15</AccountId>
        <AccountType/>
      </UserInfo>
      <UserInfo>
        <DisplayName>Lee, Jemie (HQ-DP000)[BOOZ ALLEN &amp; HAMILTON INC]</DisplayName>
        <AccountId>14</AccountId>
        <AccountType/>
      </UserInfo>
      <UserInfo>
        <DisplayName>White Lyons, Melanie M. (HQ-DP000)[BOOZ ALLEN &amp; HAMILTON INC]</DisplayName>
        <AccountId>12</AccountId>
        <AccountType/>
      </UserInfo>
      <UserInfo>
        <DisplayName>Lele, Julie (HQ-DM000)[BOOZ ALLEN &amp; HAMILTON INC]</DisplayName>
        <AccountId>10</AccountId>
        <AccountType/>
      </UserInfo>
      <UserInfo>
        <DisplayName>Burg, Joseph A. (HQ-DP000)[BOOZ ALLEN &amp; HAMILTON INC]</DisplayName>
        <AccountId>119</AccountId>
        <AccountType/>
      </UserInfo>
      <UserInfo>
        <DisplayName>Carnell, Lisa (HQ-DP000)</DisplayName>
        <AccountId>21</AccountId>
        <AccountType/>
      </UserInfo>
      <UserInfo>
        <DisplayName>Hertz, Paul (HQ-DA000)</DisplayName>
        <AccountId>100</AccountId>
        <AccountType/>
      </UserInfo>
      <UserInfo>
        <DisplayName>Fauntleroy, Haley (HQ-DP000)[BOOZ ALLEN &amp; HAMILTON INC]</DisplayName>
        <AccountId>22</AccountId>
        <AccountType/>
      </UserInfo>
      <UserInfo>
        <DisplayName>Cubberley, Hannah (HQ-DP000)[BOOZ ALLEN &amp; HAMILTON INC]</DisplayName>
        <AccountId>28</AccountId>
        <AccountType/>
      </UserInfo>
      <UserInfo>
        <DisplayName>Galazka, Jonathan M. (ARC-SC)</DisplayName>
        <AccountId>182</AccountId>
        <AccountType/>
      </UserInfo>
      <UserInfo>
        <DisplayName>Massa, Gioia D. (KSC-UBA00)</DisplayName>
        <AccountId>183</AccountId>
        <AccountType/>
      </UserInfo>
      <UserInfo>
        <DisplayName>Callas, John L (JPL-7500)[JPL Employee]</DisplayName>
        <AccountId>58</AccountId>
        <AccountType/>
      </UserInfo>
    </SharedWithUsers>
    <lcf76f155ced4ddcb4097134ff3c332f xmlns="6527ccf2-24c5-4a86-be07-80241091aeab">
      <Terms xmlns="http://schemas.microsoft.com/office/infopath/2007/PartnerControls"/>
    </lcf76f155ced4ddcb4097134ff3c332f>
    <TaxCatchAll xmlns="d900e117-17a0-4b24-9e47-511ef1d02c4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9211DFDB3DA3845BD556C40032E64D0" ma:contentTypeVersion="16" ma:contentTypeDescription="Create a new document." ma:contentTypeScope="" ma:versionID="6fb8bd780a822da7d8e3d3891ea50a85">
  <xsd:schema xmlns:xsd="http://www.w3.org/2001/XMLSchema" xmlns:xs="http://www.w3.org/2001/XMLSchema" xmlns:p="http://schemas.microsoft.com/office/2006/metadata/properties" xmlns:ns2="6527ccf2-24c5-4a86-be07-80241091aeab" xmlns:ns3="43f8f0fe-7515-424d-86d7-0a337e4aa03f" xmlns:ns4="d900e117-17a0-4b24-9e47-511ef1d02c43" targetNamespace="http://schemas.microsoft.com/office/2006/metadata/properties" ma:root="true" ma:fieldsID="cb6437ea38db5bccedba4b312cc29faa" ns2:_="" ns3:_="" ns4:_="">
    <xsd:import namespace="6527ccf2-24c5-4a86-be07-80241091aeab"/>
    <xsd:import namespace="43f8f0fe-7515-424d-86d7-0a337e4aa03f"/>
    <xsd:import namespace="d900e117-17a0-4b24-9e47-511ef1d02c43"/>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3:SharedWithUsers" minOccurs="0"/>
                <xsd:element ref="ns3:SharedWithDetails" minOccurs="0"/>
                <xsd:element ref="ns2:lcf76f155ced4ddcb4097134ff3c332f" minOccurs="0"/>
                <xsd:element ref="ns4:TaxCatchAll" minOccurs="0"/>
                <xsd:element ref="ns2:MediaLengthInSecond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527ccf2-24c5-4a86-be07-80241091aea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Location" ma:index="14" nillable="true" ma:displayName="Location" ma:internalName="MediaServiceLocation"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0fb68aea-d2ee-4a6c-85e6-e4b5686e96e8" ma:termSetId="09814cd3-568e-fe90-9814-8d621ff8fb84" ma:anchorId="fba54fb3-c3e1-fe81-a776-ca4b69148c4d" ma:open="true" ma:isKeyword="false">
      <xsd:complexType>
        <xsd:sequence>
          <xsd:element ref="pc:Terms" minOccurs="0" maxOccurs="1"/>
        </xsd:sequence>
      </xsd:complexType>
    </xsd:element>
    <xsd:element name="MediaLengthInSeconds" ma:index="20" nillable="true" ma:displayName="MediaLengthInSeconds" ma:hidden="true" ma:internalName="MediaLengthInSeconds" ma:readOnly="true">
      <xsd:simpleType>
        <xsd:restriction base="dms:Unknown"/>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3f8f0fe-7515-424d-86d7-0a337e4aa03f" elementFormDefault="qualified">
    <xsd:import namespace="http://schemas.microsoft.com/office/2006/documentManagement/types"/>
    <xsd:import namespace="http://schemas.microsoft.com/office/infopath/2007/PartnerControls"/>
    <xsd:element name="SharedWithUsers" ma:index="15"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d900e117-17a0-4b24-9e47-511ef1d02c43"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dea376dd-3888-4ec2-aac9-035288c88b0b}" ma:internalName="TaxCatchAll" ma:showField="CatchAllData" ma:web="43f8f0fe-7515-424d-86d7-0a337e4aa03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462A2FE-7911-4E6A-8BD5-16877A182B2F}">
  <ds:schemaRefs>
    <ds:schemaRef ds:uri="http://schemas.openxmlformats.org/package/2006/metadata/core-properties"/>
    <ds:schemaRef ds:uri="a3f7648c-ef34-4383-9913-3e4132c38d7f"/>
    <ds:schemaRef ds:uri="http://schemas.microsoft.com/office/infopath/2007/PartnerControls"/>
    <ds:schemaRef ds:uri="http://purl.org/dc/dcmitype/"/>
    <ds:schemaRef ds:uri="http://schemas.microsoft.com/office/2006/documentManagement/types"/>
    <ds:schemaRef ds:uri="http://purl.org/dc/elements/1.1/"/>
    <ds:schemaRef ds:uri="http://schemas.microsoft.com/office/2006/metadata/properties"/>
    <ds:schemaRef ds:uri="http://www.w3.org/XML/1998/namespace"/>
    <ds:schemaRef ds:uri="http://purl.org/dc/terms/"/>
    <ds:schemaRef ds:uri="c852713b-0caa-4ac0-ba75-048f00e27b76"/>
    <ds:schemaRef ds:uri="43f8f0fe-7515-424d-86d7-0a337e4aa03f"/>
    <ds:schemaRef ds:uri="6527ccf2-24c5-4a86-be07-80241091aeab"/>
    <ds:schemaRef ds:uri="d900e117-17a0-4b24-9e47-511ef1d02c43"/>
  </ds:schemaRefs>
</ds:datastoreItem>
</file>

<file path=customXml/itemProps2.xml><?xml version="1.0" encoding="utf-8"?>
<ds:datastoreItem xmlns:ds="http://schemas.openxmlformats.org/officeDocument/2006/customXml" ds:itemID="{2FDDDE26-D355-44FB-AB9E-19995162FF7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527ccf2-24c5-4a86-be07-80241091aeab"/>
    <ds:schemaRef ds:uri="43f8f0fe-7515-424d-86d7-0a337e4aa03f"/>
    <ds:schemaRef ds:uri="d900e117-17a0-4b24-9e47-511ef1d02c4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06B03FA-AE60-4B79-AD46-B79CDABDEAE0}">
  <ds:schemaRefs>
    <ds:schemaRef ds:uri="http://schemas.microsoft.com/sharepoint/v3/contenttype/forms"/>
  </ds:schemaRefs>
</ds:datastoreItem>
</file>

<file path=docMetadata/LabelInfo.xml><?xml version="1.0" encoding="utf-8"?>
<clbl:labelList xmlns:clbl="http://schemas.microsoft.com/office/2020/mipLabelMetadata">
  <clbl:label id="{7005d458-45be-48ae-8140-d43da96dd17b}" enabled="0" method="" siteId="{7005d458-45be-48ae-8140-d43da96dd17b}" removed="1"/>
</clbl:labelList>
</file>

<file path=docProps/app.xml><?xml version="1.0" encoding="utf-8"?>
<Properties xmlns="http://schemas.openxmlformats.org/officeDocument/2006/extended-properties" xmlns:vt="http://schemas.openxmlformats.org/officeDocument/2006/docPropsVTypes">
  <Template>2024-01-29_BPS_PPT_Template</Template>
  <TotalTime>5180</TotalTime>
  <Words>15</Words>
  <Application>Microsoft Office PowerPoint</Application>
  <PresentationFormat>Widescreen</PresentationFormat>
  <Paragraphs>6</Paragraphs>
  <Slides>2</Slides>
  <Notes>0</Notes>
  <HiddenSlides>0</HiddenSlides>
  <MMClips>0</MMClips>
  <ScaleCrop>false</ScaleCrop>
  <HeadingPairs>
    <vt:vector size="4" baseType="variant">
      <vt:variant>
        <vt:lpstr>Theme</vt:lpstr>
      </vt:variant>
      <vt:variant>
        <vt:i4>1</vt:i4>
      </vt:variant>
      <vt:variant>
        <vt:lpstr>Slide Titles</vt:lpstr>
      </vt:variant>
      <vt:variant>
        <vt:i4>2</vt:i4>
      </vt:variant>
    </vt:vector>
  </HeadingPairs>
  <TitlesOfParts>
    <vt:vector size="3" baseType="lpstr">
      <vt:lpstr>1_Office Theme</vt:lpstr>
      <vt:lpstr>PowerPoint Presentation</vt:lpstr>
      <vt:lpstr>PowerPoint Presentation</vt:lpstr>
    </vt:vector>
  </TitlesOfParts>
  <Company>NASA OCIO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Lele, Julie (HQ-DM000)[BOOZ ALLEN &amp; HAMILTON INC]</dc:creator>
  <cp:lastModifiedBy>Keller, Elizabeth E. (ARC-SC)[Amentum Services, Inc]</cp:lastModifiedBy>
  <cp:revision>178</cp:revision>
  <dcterms:created xsi:type="dcterms:W3CDTF">2024-01-29T19:52:06Z</dcterms:created>
  <dcterms:modified xsi:type="dcterms:W3CDTF">2026-06-29T22:38:13Z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0x01010019211DFDB3DA3845BD556C40032E64D0</vt:lpwstr>
  </property>
  <property fmtid="{D5CDD505-2E9C-101B-9397-08002B2CF9AE}" pid="3" name="MediaServiceImageTags">
    <vt:lpwstr/>
  </property>
</Properties>
</file>