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A reinforced gene is not automatically literature aligned, and an aligning gene can still be promoted.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The explicit P and R tags show promoted versus reinforced selection. Gene color independently shows aligning, complementary, ambiguous or unmatched literature. FLT-higher and FLT-lower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Read these as separate hypotheses, not as grouped biology.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24" name="Oval 23"/>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26" name="TextBox 25"/>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27" name="TextBox 26"/>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28" name="Oval 27"/>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30" name="TextBox 29"/>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31" name="TextBox 30"/>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32" name="Rounded Rectangle 31"/>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4" name="Oval 33"/>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36" name="TextBox 35"/>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37" name="TextBox 36"/>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38" name="Oval 37"/>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40" name="TextBox 39"/>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41" name="TextBox 40"/>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42" name="Oval 41"/>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4" name="TextBox 43"/>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45" name="TextBox 44"/>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46" name="Oval 45"/>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8" name="TextBox 47"/>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49" name="TextBox 48"/>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5 direct transcript-level matches and a 33-source inventory are in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75688"/>
            <a:ext cx="521207" cy="521207"/>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10</a:t>
            </a:r>
          </a:p>
        </p:txBody>
      </p:sp>
      <p:sp>
        <p:nvSpPr>
          <p:cNvPr id="10" name="TextBox 9"/>
          <p:cNvSpPr txBox="1"/>
          <p:nvPr/>
        </p:nvSpPr>
        <p:spPr>
          <a:xfrm>
            <a:off x="1289304"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Synthetic-informed</a:t>
            </a:r>
          </a:p>
        </p:txBody>
      </p:sp>
      <p:sp>
        <p:nvSpPr>
          <p:cNvPr id="11" name="TextBox 10"/>
          <p:cNvSpPr txBox="1"/>
          <p:nvPr/>
        </p:nvSpPr>
        <p:spPr>
          <a:xfrm>
            <a:off x="658368"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Promoted or reinforced BH-FDR gene</a:t>
            </a:r>
          </a:p>
        </p:txBody>
      </p:sp>
      <p:sp>
        <p:nvSpPr>
          <p:cNvPr id="12" name="TextBox 11"/>
          <p:cNvSpPr txBox="1"/>
          <p:nvPr/>
        </p:nvSpPr>
        <p:spPr>
          <a:xfrm>
            <a:off x="685800"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Adrenal Gland
Eye
Kidney
Skeletal muscle (pooled)
Skin
Spleen
Thymus
Gastrocnemius
Soleus
Tibialis Anterior</a:t>
            </a:r>
          </a:p>
        </p:txBody>
      </p:sp>
      <p:sp>
        <p:nvSpPr>
          <p:cNvPr id="13" name="Rounded Rectangle 12"/>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075688"/>
            <a:ext cx="521207" cy="521207"/>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5</a:t>
            </a:r>
          </a:p>
        </p:txBody>
      </p:sp>
      <p:sp>
        <p:nvSpPr>
          <p:cNvPr id="16" name="TextBox 15"/>
          <p:cNvSpPr txBox="1"/>
          <p:nvPr/>
        </p:nvSpPr>
        <p:spPr>
          <a:xfrm>
            <a:off x="5001768"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Real BH FDR only</a:t>
            </a:r>
          </a:p>
        </p:txBody>
      </p:sp>
      <p:sp>
        <p:nvSpPr>
          <p:cNvPr id="17" name="TextBox 16"/>
          <p:cNvSpPr txBox="1"/>
          <p:nvPr/>
        </p:nvSpPr>
        <p:spPr>
          <a:xfrm>
            <a:off x="4370832"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Real association, no synthetic-informed selection</a:t>
            </a:r>
          </a:p>
        </p:txBody>
      </p:sp>
      <p:sp>
        <p:nvSpPr>
          <p:cNvPr id="18" name="TextBox 17"/>
          <p:cNvSpPr txBox="1"/>
          <p:nvPr/>
        </p:nvSpPr>
        <p:spPr>
          <a:xfrm>
            <a:off x="4398264"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Heart
Liver
Retina
EDL
Quadriceps</a:t>
            </a:r>
          </a:p>
        </p:txBody>
      </p:sp>
      <p:sp>
        <p:nvSpPr>
          <p:cNvPr id="19" name="Rounded Rectangle 18"/>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0" y="2075688"/>
            <a:ext cx="521207" cy="521207"/>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12</a:t>
            </a:r>
          </a:p>
        </p:txBody>
      </p:sp>
      <p:sp>
        <p:nvSpPr>
          <p:cNvPr id="22" name="TextBox 21"/>
          <p:cNvSpPr txBox="1"/>
          <p:nvPr/>
        </p:nvSpPr>
        <p:spPr>
          <a:xfrm>
            <a:off x="8714232"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No panel BH-FDR gene</a:t>
            </a:r>
          </a:p>
        </p:txBody>
      </p:sp>
      <p:sp>
        <p:nvSpPr>
          <p:cNvPr id="23" name="TextBox 22"/>
          <p:cNvSpPr txBox="1"/>
          <p:nvPr/>
        </p:nvSpPr>
        <p:spPr>
          <a:xfrm>
            <a:off x="8083296"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No BH-FDR gene in the 974-gene panel</a:t>
            </a:r>
          </a:p>
        </p:txBody>
      </p:sp>
      <p:sp>
        <p:nvSpPr>
          <p:cNvPr id="24" name="TextBox 23"/>
          <p:cNvSpPr txBox="1"/>
          <p:nvPr/>
        </p:nvSpPr>
        <p:spPr>
          <a:xfrm>
            <a:off x="8110728"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Bone
Bone Marrow
Brain
Brown Adipose Tissue
Cecum
Cerebellum
Colon
Hippocampus
Lung
Mammary Gland
Optic Nerve
White Adipose Tissue</a:t>
            </a:r>
          </a:p>
        </p:txBody>
      </p:sp>
      <p:sp>
        <p:nvSpPr>
          <p:cNvPr id="25" name="TextBox 2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960120" cy="228600"/>
          </a:xfrm>
          <a:prstGeom prst="rect">
            <a:avLst/>
          </a:prstGeom>
          <a:noFill/>
        </p:spPr>
        <p:txBody>
          <a:bodyPr wrap="square" lIns="18288" rIns="18288" tIns="18288" bIns="18288" anchor="t">
            <a:spAutoFit/>
          </a:bodyPr>
          <a:lstStyle/>
          <a:p>
            <a:pPr algn="l">
              <a:spcAft>
                <a:spcPts val="0"/>
              </a:spcAft>
            </a:pPr>
            <a:r>
              <a:rPr sz="1019" b="1" i="0">
                <a:solidFill>
                  <a:srgbClr val="D96552"/>
                </a:solidFill>
                <a:latin typeface="Arial"/>
              </a:rPr>
              <a:t>[P] promoted</a:t>
            </a:r>
          </a:p>
        </p:txBody>
      </p:sp>
      <p:sp>
        <p:nvSpPr>
          <p:cNvPr id="8" name="TextBox 7"/>
          <p:cNvSpPr txBox="1"/>
          <p:nvPr/>
        </p:nvSpPr>
        <p:spPr>
          <a:xfrm>
            <a:off x="1417320" y="1709928"/>
            <a:ext cx="1078992" cy="228600"/>
          </a:xfrm>
          <a:prstGeom prst="rect">
            <a:avLst/>
          </a:prstGeom>
          <a:noFill/>
        </p:spPr>
        <p:txBody>
          <a:bodyPr wrap="square" lIns="18288" rIns="18288" tIns="18288" bIns="18288" anchor="t">
            <a:spAutoFit/>
          </a:bodyPr>
          <a:lstStyle/>
          <a:p>
            <a:pPr algn="l">
              <a:spcAft>
                <a:spcPts val="0"/>
              </a:spcAft>
            </a:pPr>
            <a:r>
              <a:rPr sz="1019" b="1" i="0">
                <a:solidFill>
                  <a:srgbClr val="178681"/>
                </a:solidFill>
                <a:latin typeface="Arial"/>
              </a:rPr>
              <a:t>[R] reinforced</a:t>
            </a:r>
          </a:p>
        </p:txBody>
      </p:sp>
      <p:sp>
        <p:nvSpPr>
          <p:cNvPr id="9" name="Rectangle 8"/>
          <p:cNvSpPr/>
          <p:nvPr/>
        </p:nvSpPr>
        <p:spPr>
          <a:xfrm>
            <a:off x="2660904"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1" name="Rectangle 10"/>
          <p:cNvSpPr/>
          <p:nvPr/>
        </p:nvSpPr>
        <p:spPr>
          <a:xfrm>
            <a:off x="3575304"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3" name="Rectangle 12"/>
          <p:cNvSpPr/>
          <p:nvPr/>
        </p:nvSpPr>
        <p:spPr>
          <a:xfrm>
            <a:off x="4791456"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5192"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5" name="Rectangle 14"/>
          <p:cNvSpPr/>
          <p:nvPr/>
        </p:nvSpPr>
        <p:spPr>
          <a:xfrm>
            <a:off x="583387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07608" y="1691640"/>
            <a:ext cx="96012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7" name="TextBox 16"/>
          <p:cNvSpPr txBox="1"/>
          <p:nvPr/>
        </p:nvSpPr>
        <p:spPr>
          <a:xfrm>
            <a:off x="8412480" y="1691640"/>
            <a:ext cx="3328416"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Tag = selection | Gene color = literature</a:t>
            </a:r>
          </a:p>
        </p:txBody>
      </p:sp>
      <p:sp>
        <p:nvSpPr>
          <p:cNvPr id="18" name="Rectangle 17"/>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0" name="TextBox 19"/>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1" name="TextBox 20"/>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Hsd17b11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Etv1</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Snx7</a:t>
            </a:r>
          </a:p>
        </p:txBody>
      </p:sp>
      <p:sp>
        <p:nvSpPr>
          <p:cNvPr id="22" name="TextBox 21"/>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3" name="TextBox 22"/>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Nusap1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Stmn1</a:t>
            </a:r>
            <a:r>
              <a:rPr sz="980" b="0" i="0">
                <a:solidFill>
                  <a:srgbClr val="8A969E"/>
                </a:solidFill>
                <a:latin typeface="Arial"/>
              </a:rPr>
              <a:t>, </a:t>
            </a:r>
            <a:r>
              <a:rPr sz="910" b="1" i="0">
                <a:solidFill>
                  <a:srgbClr val="D96552"/>
                </a:solidFill>
                <a:latin typeface="Arial"/>
              </a:rPr>
              <a:t>[P]</a:t>
            </a:r>
            <a:r>
              <a:rPr sz="980" b="1" i="1">
                <a:solidFill>
                  <a:srgbClr val="D37B00"/>
                </a:solidFill>
                <a:latin typeface="Arial"/>
              </a:rPr>
              <a:t>Birc5</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Cdk1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Top2a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Ccnb2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Aurka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Ccne2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Kif20a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Pcna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Ccnf</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Ube2c</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Gmnn</a:t>
            </a:r>
          </a:p>
        </p:txBody>
      </p:sp>
      <p:sp>
        <p:nvSpPr>
          <p:cNvPr id="24" name="Rectangle 2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6" name="TextBox 25"/>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7" name="TextBox 26"/>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Rai14</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Myl9</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Ptprk</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Loxl1</a:t>
            </a:r>
          </a:p>
        </p:txBody>
      </p:sp>
      <p:sp>
        <p:nvSpPr>
          <p:cNvPr id="28" name="TextBox 27"/>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9" name="TextBox 28"/>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0" name="Rectangle 29"/>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2" name="TextBox 31"/>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3" name="TextBox 32"/>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Inpp4b</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Slc37a4</a:t>
            </a:r>
          </a:p>
        </p:txBody>
      </p:sp>
      <p:sp>
        <p:nvSpPr>
          <p:cNvPr id="34" name="TextBox 33"/>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5" name="TextBox 34"/>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6" name="Rectangle 35"/>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8" name="TextBox 37"/>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9" name="TextBox 38"/>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Nfkbia</a:t>
            </a:r>
          </a:p>
        </p:txBody>
      </p:sp>
      <p:sp>
        <p:nvSpPr>
          <p:cNvPr id="40" name="TextBox 39"/>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1" name="TextBox 40"/>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Fhl2</a:t>
            </a:r>
          </a:p>
        </p:txBody>
      </p:sp>
      <p:sp>
        <p:nvSpPr>
          <p:cNvPr id="42" name="Rectangle 41"/>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4" name="TextBox 43"/>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5" name="TextBox 44"/>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6" name="TextBox 45"/>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7" name="TextBox 46"/>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Klhl21</a:t>
            </a:r>
          </a:p>
        </p:txBody>
      </p:sp>
      <p:sp>
        <p:nvSpPr>
          <p:cNvPr id="48" name="Rectangle 47"/>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0" name="TextBox 49"/>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1" name="TextBox 50"/>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Sox4</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Sh3bp5</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Prkcd</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Arid5b</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Sesn1</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Tle1</a:t>
            </a:r>
          </a:p>
        </p:txBody>
      </p:sp>
      <p:sp>
        <p:nvSpPr>
          <p:cNvPr id="52" name="TextBox 51"/>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3" name="TextBox 52"/>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Klhl21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Mapkapk5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Reep5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Itgb5</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Bphl</a:t>
            </a:r>
          </a:p>
        </p:txBody>
      </p:sp>
      <p:sp>
        <p:nvSpPr>
          <p:cNvPr id="54" name="Rectangle 53"/>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6" name="TextBox 55"/>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7" name="TextBox 56"/>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D37B00"/>
                </a:solidFill>
                <a:latin typeface="Arial"/>
              </a:rPr>
              <a:t>Tpm1</a:t>
            </a:r>
          </a:p>
        </p:txBody>
      </p:sp>
      <p:sp>
        <p:nvSpPr>
          <p:cNvPr id="58" name="TextBox 57"/>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9" name="TextBox 58"/>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Bdh1</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Ech1</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Bnip3</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Decr1</a:t>
            </a:r>
          </a:p>
        </p:txBody>
      </p:sp>
      <p:sp>
        <p:nvSpPr>
          <p:cNvPr id="60" name="Rectangle 59"/>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2" name="TextBox 61"/>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3" name="TextBox 62"/>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Cdkn1a</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St3gal5</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Bnip3</a:t>
            </a:r>
          </a:p>
        </p:txBody>
      </p:sp>
      <p:sp>
        <p:nvSpPr>
          <p:cNvPr id="64" name="TextBox 63"/>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5" name="TextBox 64"/>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6" name="Rectangle 65"/>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8" name="TextBox 67"/>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9" name="TextBox 68"/>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0" name="TextBox 69"/>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1" name="TextBox 70"/>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8063A6"/>
                </a:solidFill>
                <a:latin typeface="Arial"/>
              </a:rPr>
              <a:t>Psmb8</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Tspan4</a:t>
            </a:r>
          </a:p>
        </p:txBody>
      </p:sp>
      <p:sp>
        <p:nvSpPr>
          <p:cNvPr id="72" name="Rectangle 71"/>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4" name="TextBox 73"/>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5" name="TextBox 74"/>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Plscr1</a:t>
            </a:r>
          </a:p>
        </p:txBody>
      </p:sp>
      <p:sp>
        <p:nvSpPr>
          <p:cNvPr id="76" name="TextBox 75"/>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7" name="TextBox 76"/>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8" name="TextBox 7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tags report repeated feature selection;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