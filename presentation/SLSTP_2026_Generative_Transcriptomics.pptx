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59" r:id="rId4"/>
  </p:sldMasterIdLst>
  <p:notesMasterIdLst>
    <p:notesMasterId r:id="rId7"/>
  </p:notesMasterIdLst>
  <p:handoutMasterIdLst>
    <p:handoutMasterId r:id="rId8"/>
  </p:handoutMasterIdLst>
  <p:sldIdLst>
    <p:sldId id="287" r:id="rId5"/>
    <p:sldId id="289" r:id="rId6"/>
    <p:sldId id="290" r:id="rId14"/>
    <p:sldId id="291" r:id="rId15"/>
    <p:sldId id="292" r:id="rId16"/>
    <p:sldId id="293" r:id="rId17"/>
    <p:sldId id="294" r:id="rId18"/>
    <p:sldId id="295" r:id="rId19"/>
    <p:sldId id="296" r:id="rId20"/>
    <p:sldId id="297" r:id="rId21"/>
    <p:sldId id="298" r:id="rId22"/>
    <p:sldId id="299" r:id="rId23"/>
    <p:sldId id="300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4EBFE0"/>
    <a:srgbClr val="0311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7E6095-EDCC-4DCB-AAC0-188518B1781D}" v="1" dt="2026-06-23T20:42:39.6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892"/>
    <p:restoredTop sz="96327"/>
  </p:normalViewPr>
  <p:slideViewPr>
    <p:cSldViewPr snapToGrid="0">
      <p:cViewPr varScale="1">
        <p:scale>
          <a:sx n="81" d="100"/>
          <a:sy n="81" d="100"/>
        </p:scale>
        <p:origin x="94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5/10/relationships/revisionInfo" Target="revisionInfo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B92CBF8-18C8-31DD-F46C-61CCFF09E5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9C4E16-CF32-DCE9-CFBA-3D18F258B50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0638C3-A19C-B94C-9B49-D7DD60AEF655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9986E82-0F97-5470-C173-872D3CB07D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AEED87-86EF-9F01-82BC-41E7337896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865568-2AD1-0C41-AA57-6C66A98808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56021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D0CC5D-FA5D-CB42-BCB4-643101262201}" type="datetimeFigureOut">
              <a:rPr lang="en-US" smtClean="0"/>
              <a:t>6/29/2026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1039A1-DE79-214A-A305-FD855934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504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0:25</a:t>
            </a:r>
          </a:p>
          <a:p/>
          <a:p>
            <a:r>
              <a:t>Introduce the question. This talk asks whether generated expression can help analyze tissue-specific FLT versus GC biology without counting synthetic profiles as additional animals.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1:00</a:t>
            </a:r>
          </a:p>
          <a:p/>
          <a:p>
            <a:r>
              <a:t>OSDR gives broad tissue coverage, but the data are spread across 75 accessions with different mission and assay contexts. ARCHS4 supplies a much larger mouse reference. The challenge is to use that reference without letting study structure masquerade as spaceflight biology.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1:10</a:t>
            </a:r>
          </a:p>
          <a:p/>
          <a:p>
            <a:r>
              <a:t>The framework kept the published model architectures and varied the surrounding choices. GeneJEPA was useful for representation but had no expression decoder. WGAN-GP and DDIM could generate profiles. The chosen DDIM used TPM, 974 mouse landmarks, ARCHS4 pretraining and OSDR adaptation conditioned on tissue, FLT/GC, accession and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0:55</a:t>
            </a:r>
          </a:p>
          <a:p/>
          <a:p>
            <a:r>
              <a:t>Read the panels from left to right. The same generated profiles begin as noise, develop structure by timestep 200 and approach tissue-conditioned regions at timestep zero. The axes are shared, so the visual change is not caused by rescaling each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Both WGAN-GP and DDIM had high correlation and F1. DDIM had adversarial accuracy near 0.5 and a lower Frechet-distance ratio, so it was harder to separate from real profiles and closer in distribution. The metrics use each model's stated evaluation split, so this is a model-choice summary rather than a paired significance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Synthetic data can be used for direct training, mixed training or feature guidance. Each tissue could choose among five arms. The eligibility check used held-out real profiles. Once features were nominated, FLT/GC effects and BH FDR were computed from observed OSDR samples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1:10</a:t>
            </a:r>
          </a:p>
          <a:p/>
          <a:p>
            <a:r>
              <a:t>The simplest pooled augmentation test was negative: balanced accuracy fell from 0.754 to 0.737 with real plus synthetic training. Tissue-specific analysis changed the result. Different tissues benefited from different synthetic uses, which argues against one global augmentation policy.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1:05</a:t>
            </a:r>
          </a:p>
          <a:p/>
          <a:p>
            <a:r>
              <a:t>Reinforced genes were selected with and without synthetic guidance. Promoted genes crossed the stable-selection rule only with synthetic guidance. Promoted does not mean biologically novel. All 49 synthetic-informed tissue-gene associations also had a supporting effect and BH FDR below 0.05 in real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1:25</a:t>
            </a:r>
          </a:p>
          <a:p/>
          <a:p>
            <a:r>
              <a:t>Thymus produced the clearest promoted panel. The lower mitotic and DNA-replication genes agree with prior reports of thymic involution and altered cell-cycle expression after flight. Because this is bulk RNA-seq, the signal could reflect fewer cycling thymocytes, lower transcription within those cells or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1:15</a:t>
            </a:r>
          </a:p>
          <a:p/>
          <a:p>
            <a:r>
              <a:t>Soleus improved with real plus generated training. The selected genes were already stable in real-only analysis, so synthetic data reinforced rather than introduced the panel. Lower Bdh1, Ech1, Bnip3 and Decr1, with higher Tpm1, support altered oxidative metabolism and contractile remodeling.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1:00</a:t>
            </a:r>
          </a:p>
          <a:p/>
          <a:p>
            <a:r>
              <a:t>Kidney supplied the strongest secondary pair: promoted Inpp4b and reinforced Slc37a4. Spleen, skin and adrenal results are narrower. Lung and retina improved predictively without a synthetic-informed BH-FDR gene, while liver, EDL and quadriceps retained real-only models.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0:55</a:t>
            </a:r>
          </a:p>
          <a:p/>
          <a:p>
            <a:r>
              <a:t>The main result is not that synthetic samples increase biological n. The useful role was tissue-specific feature ranking or limited regularization. The next decisive test is complete-accession holdout followed by validation of the thymus, soleus and kidney hypotheses in independent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Target time: 0:10</a:t>
            </a:r>
          </a:p>
          <a:p/>
          <a:p>
            <a:r>
              <a:t>Acknowledge the mentor, SLSTP, NASA OSDR, ARCHS4, Reactome and NASA Ames compute.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Relationship Id="rId3" Type="http://schemas.openxmlformats.org/officeDocument/2006/relationships/image" Target="../media/image7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g"/><Relationship Id="rId3" Type="http://schemas.openxmlformats.org/officeDocument/2006/relationships/image" Target="../media/image7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g"/><Relationship Id="rId3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image" Target="../media/image23.png"/><Relationship Id="rId16" Type="http://schemas.openxmlformats.org/officeDocument/2006/relationships/image" Target="../media/image24.png"/><Relationship Id="rId17" Type="http://schemas.openxmlformats.org/officeDocument/2006/relationships/image" Target="../media/image25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Relationship Id="rId8" Type="http://schemas.openxmlformats.org/officeDocument/2006/relationships/image" Target="../media/image32.png"/><Relationship Id="rId9" Type="http://schemas.openxmlformats.org/officeDocument/2006/relationships/image" Target="../media/image33.png"/><Relationship Id="rId10" Type="http://schemas.openxmlformats.org/officeDocument/2006/relationships/image" Target="../media/image34.png"/><Relationship Id="rId11" Type="http://schemas.openxmlformats.org/officeDocument/2006/relationships/image" Target="../media/image35.png"/><Relationship Id="rId12" Type="http://schemas.openxmlformats.org/officeDocument/2006/relationships/image" Target="../media/image36.png"/><Relationship Id="rId13" Type="http://schemas.openxmlformats.org/officeDocument/2006/relationships/image" Target="../media/image37.png"/><Relationship Id="rId14" Type="http://schemas.openxmlformats.org/officeDocument/2006/relationships/image" Target="../media/image38.png"/><Relationship Id="rId15" Type="http://schemas.openxmlformats.org/officeDocument/2006/relationships/image" Target="../media/image39.png"/><Relationship Id="rId16" Type="http://schemas.openxmlformats.org/officeDocument/2006/relationships/image" Target="../media/image40.png"/><Relationship Id="rId17" Type="http://schemas.openxmlformats.org/officeDocument/2006/relationships/image" Target="../media/image4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Relationship Id="rId12" Type="http://schemas.openxmlformats.org/officeDocument/2006/relationships/image" Target="../media/image52.png"/><Relationship Id="rId13" Type="http://schemas.openxmlformats.org/officeDocument/2006/relationships/image" Target="../media/image53.png"/><Relationship Id="rId14" Type="http://schemas.openxmlformats.org/officeDocument/2006/relationships/image" Target="../media/image54.png"/><Relationship Id="rId15" Type="http://schemas.openxmlformats.org/officeDocument/2006/relationships/image" Target="../media/image55.png"/><Relationship Id="rId16" Type="http://schemas.openxmlformats.org/officeDocument/2006/relationships/image" Target="../media/image56.png"/><Relationship Id="rId17" Type="http://schemas.openxmlformats.org/officeDocument/2006/relationships/image" Target="../media/image57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66.png"/><Relationship Id="rId11" Type="http://schemas.openxmlformats.org/officeDocument/2006/relationships/image" Target="../media/image67.png"/><Relationship Id="rId12" Type="http://schemas.openxmlformats.org/officeDocument/2006/relationships/image" Target="../media/image68.png"/><Relationship Id="rId13" Type="http://schemas.openxmlformats.org/officeDocument/2006/relationships/image" Target="../media/image69.png"/><Relationship Id="rId14" Type="http://schemas.openxmlformats.org/officeDocument/2006/relationships/image" Target="../media/image70.png"/><Relationship Id="rId15" Type="http://schemas.openxmlformats.org/officeDocument/2006/relationships/image" Target="../media/image71.png"/><Relationship Id="rId16" Type="http://schemas.openxmlformats.org/officeDocument/2006/relationships/image" Target="../media/image72.png"/><Relationship Id="rId17" Type="http://schemas.openxmlformats.org/officeDocument/2006/relationships/image" Target="../media/image73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1403792-C452-45B8-A50E-5D7E7B3AF1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4277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E77D0F7-4A6B-4045-B534-3DB6A60EA85B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500101" y="3895025"/>
            <a:ext cx="4774425" cy="365125"/>
          </a:xfrm>
        </p:spPr>
        <p:txBody>
          <a:bodyPr wrap="square">
            <a:spAutoFit/>
          </a:bodyPr>
          <a:lstStyle>
            <a:lvl1pPr marL="0" indent="0" algn="l">
              <a:buNone/>
              <a:defRPr sz="1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Text Placeholder 27">
            <a:extLst>
              <a:ext uri="{FF2B5EF4-FFF2-40B4-BE49-F238E27FC236}">
                <a16:creationId xmlns:a16="http://schemas.microsoft.com/office/drawing/2014/main" id="{9EB2794A-5528-E000-6303-F23EDF3D2A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0102" y="1297175"/>
            <a:ext cx="4774425" cy="2374669"/>
          </a:xfrm>
        </p:spPr>
        <p:txBody>
          <a:bodyPr anchor="b"/>
          <a:lstStyle>
            <a:lvl1pPr marL="0" indent="0" algn="l">
              <a:buNone/>
              <a:defRPr sz="3600" b="1">
                <a:solidFill>
                  <a:schemeClr val="bg1"/>
                </a:solidFill>
              </a:defRPr>
            </a:lvl1pPr>
            <a:lvl2pPr algn="ctr">
              <a:defRPr>
                <a:solidFill>
                  <a:schemeClr val="bg1"/>
                </a:solidFill>
              </a:defRPr>
            </a:lvl2pPr>
            <a:lvl3pPr algn="ctr">
              <a:defRPr>
                <a:solidFill>
                  <a:schemeClr val="bg1"/>
                </a:solidFill>
              </a:defRPr>
            </a:lvl3pPr>
            <a:lvl4pPr algn="ctr">
              <a:defRPr>
                <a:solidFill>
                  <a:schemeClr val="bg1"/>
                </a:solidFill>
              </a:defRPr>
            </a:lvl4pPr>
            <a:lvl5pPr algn="ctr"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Title goes here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16713B4-5E0C-24BD-8049-E50B082A507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951262" y="398340"/>
            <a:ext cx="888827" cy="74069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8688442-0230-1582-A41F-57E75101CEF7}"/>
              </a:ext>
            </a:extLst>
          </p:cNvPr>
          <p:cNvSpPr txBox="1"/>
          <p:nvPr userDrawn="1"/>
        </p:nvSpPr>
        <p:spPr>
          <a:xfrm>
            <a:off x="8654144" y="537854"/>
            <a:ext cx="19226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0" dirty="0">
                <a:solidFill>
                  <a:schemeClr val="bg1"/>
                </a:solidFill>
                <a:effectLst>
                  <a:outerShdw blurRad="159992" dist="49945" dir="2700000" algn="tl" rotWithShape="0">
                    <a:srgbClr val="000000"/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National Aeronautics and Space Administration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3B95B80-9B88-7F4C-049E-8C0069365EA9}"/>
              </a:ext>
            </a:extLst>
          </p:cNvPr>
          <p:cNvCxnSpPr/>
          <p:nvPr userDrawn="1"/>
        </p:nvCxnSpPr>
        <p:spPr>
          <a:xfrm>
            <a:off x="10764013" y="537853"/>
            <a:ext cx="0" cy="461665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9BA426D5-CE2B-D46C-E493-D02FFAA865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 cstate="screen">
            <a:alphaModFix amt="2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2A5107-22C8-EFF2-D258-3F67CDB1A001}"/>
              </a:ext>
            </a:extLst>
          </p:cNvPr>
          <p:cNvSpPr txBox="1"/>
          <p:nvPr userDrawn="1"/>
        </p:nvSpPr>
        <p:spPr>
          <a:xfrm>
            <a:off x="500101" y="6296266"/>
            <a:ext cx="365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iological &amp; </a:t>
            </a:r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hysical </a:t>
            </a:r>
            <a:r>
              <a:rPr lang="en-US" sz="1600" b="1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</a:t>
            </a:r>
            <a:r>
              <a:rPr lang="en-US" sz="1600" b="0" dirty="0">
                <a:solidFill>
                  <a:schemeClr val="bg2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ciences</a:t>
            </a:r>
          </a:p>
        </p:txBody>
      </p:sp>
    </p:spTree>
    <p:extLst>
      <p:ext uri="{BB962C8B-B14F-4D97-AF65-F5344CB8AC3E}">
        <p14:creationId xmlns:p14="http://schemas.microsoft.com/office/powerpoint/2010/main" val="33909648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456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E8CFB-2DE8-BA24-FFBC-66F77875D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Agenda Title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3B3E43-6742-FF22-D2F2-033E1364C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26FCE7-3724-2CFD-0646-F383DB2F0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2148" y="100584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B466CDE3-4631-5FA9-337A-DF847EAAD5B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4652" y="2247900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25" name="Text Placeholder 21">
            <a:extLst>
              <a:ext uri="{FF2B5EF4-FFF2-40B4-BE49-F238E27FC236}">
                <a16:creationId xmlns:a16="http://schemas.microsoft.com/office/drawing/2014/main" id="{2A51E4DB-9ABE-A139-7B46-5FC55133039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34200" y="2247900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29" name="Text Placeholder 28">
            <a:extLst>
              <a:ext uri="{FF2B5EF4-FFF2-40B4-BE49-F238E27FC236}">
                <a16:creationId xmlns:a16="http://schemas.microsoft.com/office/drawing/2014/main" id="{7B35BDAA-D931-DC03-6B00-6EDF027908B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14400" y="2209800"/>
            <a:ext cx="685800" cy="685800"/>
          </a:xfrm>
          <a:noFill/>
        </p:spPr>
        <p:txBody>
          <a:bodyPr anchor="ctr">
            <a:normAutofit/>
          </a:bodyPr>
          <a:lstStyle>
            <a:lvl1pPr marL="0" indent="0" algn="ctr">
              <a:buNone/>
              <a:defRPr sz="4000">
                <a:gradFill>
                  <a:gsLst>
                    <a:gs pos="86000">
                      <a:schemeClr val="accent3"/>
                    </a:gs>
                    <a:gs pos="47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32" name="Text Placeholder 28">
            <a:extLst>
              <a:ext uri="{FF2B5EF4-FFF2-40B4-BE49-F238E27FC236}">
                <a16:creationId xmlns:a16="http://schemas.microsoft.com/office/drawing/2014/main" id="{EF503090-B911-7788-8B94-3F88CA4797F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23949" y="2209800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82000">
                      <a:schemeClr val="accent3"/>
                    </a:gs>
                    <a:gs pos="45000">
                      <a:schemeClr val="accent2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65D9DAC4-C562-9524-30AD-991D271FE6EF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24652" y="3627249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36" name="Text Placeholder 21">
            <a:extLst>
              <a:ext uri="{FF2B5EF4-FFF2-40B4-BE49-F238E27FC236}">
                <a16:creationId xmlns:a16="http://schemas.microsoft.com/office/drawing/2014/main" id="{7E647AC1-0BB7-0678-1B8A-177F4146A75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934200" y="3627249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37" name="Text Placeholder 28">
            <a:extLst>
              <a:ext uri="{FF2B5EF4-FFF2-40B4-BE49-F238E27FC236}">
                <a16:creationId xmlns:a16="http://schemas.microsoft.com/office/drawing/2014/main" id="{B55453C0-7B23-AC50-10FE-E961216AD9C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4400" y="358914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8000">
                      <a:schemeClr val="accent3"/>
                    </a:gs>
                    <a:gs pos="39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8" name="Text Placeholder 28">
            <a:extLst>
              <a:ext uri="{FF2B5EF4-FFF2-40B4-BE49-F238E27FC236}">
                <a16:creationId xmlns:a16="http://schemas.microsoft.com/office/drawing/2014/main" id="{1A5B7077-E4C0-3DD2-DCA8-E8A197F1C95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23949" y="358914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7000">
                      <a:schemeClr val="accent3"/>
                    </a:gs>
                    <a:gs pos="45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39" name="Text Placeholder 21">
            <a:extLst>
              <a:ext uri="{FF2B5EF4-FFF2-40B4-BE49-F238E27FC236}">
                <a16:creationId xmlns:a16="http://schemas.microsoft.com/office/drawing/2014/main" id="{B32EE1BF-44FE-201B-EF31-3ED8FF5BA7BC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824652" y="4913609"/>
            <a:ext cx="3974845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2F676D19-8F83-696C-ACFF-7F910A6C81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34200" y="4913609"/>
            <a:ext cx="4343400" cy="609600"/>
          </a:xfrm>
        </p:spPr>
        <p:txBody>
          <a:bodyPr anchor="ctr">
            <a:normAutofit/>
          </a:bodyPr>
          <a:lstStyle>
            <a:lvl1pPr marL="0" indent="0">
              <a:buNone/>
              <a:defRPr sz="2000"/>
            </a:lvl1pPr>
          </a:lstStyle>
          <a:p>
            <a:pPr lvl="0"/>
            <a:r>
              <a:rPr lang="en-US" dirty="0"/>
              <a:t>Click to add addenda item</a:t>
            </a:r>
          </a:p>
        </p:txBody>
      </p:sp>
      <p:sp>
        <p:nvSpPr>
          <p:cNvPr id="41" name="Text Placeholder 28">
            <a:extLst>
              <a:ext uri="{FF2B5EF4-FFF2-40B4-BE49-F238E27FC236}">
                <a16:creationId xmlns:a16="http://schemas.microsoft.com/office/drawing/2014/main" id="{4936C6BE-C8B8-20C6-9C05-FD330B16C05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14400" y="487550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87000">
                      <a:schemeClr val="accent3"/>
                    </a:gs>
                    <a:gs pos="45000">
                      <a:schemeClr val="accent2"/>
                    </a:gs>
                    <a:gs pos="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sp>
        <p:nvSpPr>
          <p:cNvPr id="42" name="Text Placeholder 28">
            <a:extLst>
              <a:ext uri="{FF2B5EF4-FFF2-40B4-BE49-F238E27FC236}">
                <a16:creationId xmlns:a16="http://schemas.microsoft.com/office/drawing/2014/main" id="{9DBD5D19-811F-095E-D5BA-1EE3AC8F9767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23949" y="4875509"/>
            <a:ext cx="685800" cy="685800"/>
          </a:xfrm>
          <a:noFill/>
        </p:spPr>
        <p:txBody>
          <a:bodyPr vert="horz" lIns="91440" tIns="45720" rIns="91440" bIns="45720" rtlCol="0" anchor="ctr">
            <a:normAutofit/>
          </a:bodyPr>
          <a:lstStyle>
            <a:lvl1pPr marL="0" indent="0" algn="r">
              <a:buNone/>
              <a:defRPr lang="en-US" sz="4000" dirty="0">
                <a:gradFill>
                  <a:gsLst>
                    <a:gs pos="72000">
                      <a:schemeClr val="accent3"/>
                    </a:gs>
                    <a:gs pos="45000">
                      <a:schemeClr val="accent2"/>
                    </a:gs>
                    <a:gs pos="4000">
                      <a:schemeClr val="tx1"/>
                    </a:gs>
                  </a:gsLst>
                  <a:lin ang="3600000" scaled="0"/>
                </a:gradFill>
                <a:latin typeface="+mj-lt"/>
              </a:defRPr>
            </a:lvl1pPr>
          </a:lstStyle>
          <a:p>
            <a:pPr marL="228600" lvl="0" indent="-228600" algn="ctr"/>
            <a:r>
              <a:rPr lang="en-US" dirty="0"/>
              <a:t>#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2FAC8BE-D606-2853-844A-E2C15955DC7D}"/>
              </a:ext>
            </a:extLst>
          </p:cNvPr>
          <p:cNvCxnSpPr/>
          <p:nvPr userDrawn="1"/>
        </p:nvCxnSpPr>
        <p:spPr>
          <a:xfrm>
            <a:off x="838200" y="219075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F8BB1695-58EE-644B-7EE8-11F922C6661D}"/>
              </a:ext>
            </a:extLst>
          </p:cNvPr>
          <p:cNvCxnSpPr>
            <a:cxnSpLocks/>
          </p:cNvCxnSpPr>
          <p:nvPr userDrawn="1"/>
        </p:nvCxnSpPr>
        <p:spPr>
          <a:xfrm>
            <a:off x="1600200" y="211455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52F9823-AA54-9873-16F2-263321455B45}"/>
              </a:ext>
            </a:extLst>
          </p:cNvPr>
          <p:cNvCxnSpPr/>
          <p:nvPr userDrawn="1"/>
        </p:nvCxnSpPr>
        <p:spPr>
          <a:xfrm>
            <a:off x="838200" y="3590925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FF1A9CBD-3464-B5A2-6E8D-EE3FD067EE09}"/>
              </a:ext>
            </a:extLst>
          </p:cNvPr>
          <p:cNvCxnSpPr>
            <a:cxnSpLocks/>
          </p:cNvCxnSpPr>
          <p:nvPr userDrawn="1"/>
        </p:nvCxnSpPr>
        <p:spPr>
          <a:xfrm>
            <a:off x="1600200" y="3514725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DEED8E47-E2B6-E0EF-495A-1545B3213F3D}"/>
              </a:ext>
            </a:extLst>
          </p:cNvPr>
          <p:cNvCxnSpPr/>
          <p:nvPr userDrawn="1"/>
        </p:nvCxnSpPr>
        <p:spPr>
          <a:xfrm>
            <a:off x="838200" y="487680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31607ECD-AA81-BC83-3C78-B9336CCDEEF0}"/>
              </a:ext>
            </a:extLst>
          </p:cNvPr>
          <p:cNvCxnSpPr>
            <a:cxnSpLocks/>
          </p:cNvCxnSpPr>
          <p:nvPr userDrawn="1"/>
        </p:nvCxnSpPr>
        <p:spPr>
          <a:xfrm>
            <a:off x="1600200" y="480060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45E098EB-268C-67D8-9802-3DFD2843FEB8}"/>
              </a:ext>
            </a:extLst>
          </p:cNvPr>
          <p:cNvCxnSpPr/>
          <p:nvPr userDrawn="1"/>
        </p:nvCxnSpPr>
        <p:spPr>
          <a:xfrm>
            <a:off x="5943600" y="219075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CC41966B-39B9-FA80-34EE-34DB2BBC90AA}"/>
              </a:ext>
            </a:extLst>
          </p:cNvPr>
          <p:cNvCxnSpPr>
            <a:cxnSpLocks/>
          </p:cNvCxnSpPr>
          <p:nvPr userDrawn="1"/>
        </p:nvCxnSpPr>
        <p:spPr>
          <a:xfrm>
            <a:off x="6705600" y="211455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567F3916-0A34-3DFE-C40C-9CE5F118C59D}"/>
              </a:ext>
            </a:extLst>
          </p:cNvPr>
          <p:cNvCxnSpPr/>
          <p:nvPr userDrawn="1"/>
        </p:nvCxnSpPr>
        <p:spPr>
          <a:xfrm>
            <a:off x="5943600" y="3590925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90580B0B-C3BC-E6B2-4F7A-A8BC4CBEC5D4}"/>
              </a:ext>
            </a:extLst>
          </p:cNvPr>
          <p:cNvCxnSpPr>
            <a:cxnSpLocks/>
          </p:cNvCxnSpPr>
          <p:nvPr userDrawn="1"/>
        </p:nvCxnSpPr>
        <p:spPr>
          <a:xfrm>
            <a:off x="6705600" y="3514725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F204EA6A-A0F1-4A1F-D752-01EC9413BD08}"/>
              </a:ext>
            </a:extLst>
          </p:cNvPr>
          <p:cNvCxnSpPr/>
          <p:nvPr userDrawn="1"/>
        </p:nvCxnSpPr>
        <p:spPr>
          <a:xfrm>
            <a:off x="5943600" y="4876800"/>
            <a:ext cx="8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2332F554-64FA-44EB-F6C0-65BB814F9D34}"/>
              </a:ext>
            </a:extLst>
          </p:cNvPr>
          <p:cNvCxnSpPr>
            <a:cxnSpLocks/>
          </p:cNvCxnSpPr>
          <p:nvPr userDrawn="1"/>
        </p:nvCxnSpPr>
        <p:spPr>
          <a:xfrm>
            <a:off x="6705600" y="4800600"/>
            <a:ext cx="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8533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6FEB-A7E9-41A9-BE32-02FF741C9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216430"/>
            <a:ext cx="103251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22C68-F3F1-F728-F8AB-7545FFD2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5FC8917-4CA3-53EC-49EA-1322608A3F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lvl1pPr algn="l">
              <a:defRPr sz="1100" b="1">
                <a:solidFill>
                  <a:schemeClr val="bg1"/>
                </a:solidFill>
              </a:defRPr>
            </a:lvl1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692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Dens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A6FEB-A7E9-41A9-BE32-02FF741C9A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2216430"/>
            <a:ext cx="10325100" cy="435133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422C68-F3F1-F728-F8AB-7545FFD23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A23E4-0FD3-1AC3-FD06-43716C74AFB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077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5627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51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51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2_Section Header - Biolog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93F2C-644C-9402-B8E1-8E0A86BA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7172" y="1672824"/>
            <a:ext cx="7616282" cy="2196649"/>
          </a:xfrm>
        </p:spPr>
        <p:txBody>
          <a:bodyPr vert="horz" lIns="91440" tIns="45720" rIns="91440" bIns="45720" rtlCol="0" anchor="b">
            <a:normAutofit/>
          </a:bodyPr>
          <a:lstStyle>
            <a:lvl1pPr algn="l"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D101CB-2432-9C1F-28C9-0741354D3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47171" y="4039593"/>
            <a:ext cx="7616283" cy="1500187"/>
          </a:xfrm>
        </p:spPr>
        <p:txBody>
          <a:bodyPr vert="horz" lIns="91440" tIns="45720" rIns="91440" bIns="45720" rtlCol="0" anchor="t">
            <a:normAutofit/>
          </a:bodyPr>
          <a:lstStyle>
            <a:lvl1pPr algn="l">
              <a:defRPr lang="en-US" sz="2400" b="0">
                <a:solidFill>
                  <a:schemeClr val="bg1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6E6D588-E497-F70E-167F-4EDACDAF3709}"/>
              </a:ext>
            </a:extLst>
          </p:cNvPr>
          <p:cNvSpPr txBox="1">
            <a:spLocks/>
          </p:cNvSpPr>
          <p:nvPr userDrawn="1"/>
        </p:nvSpPr>
        <p:spPr>
          <a:xfrm>
            <a:off x="11662148" y="100584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0383140C-6BE5-F602-5CA0-3D03E699639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3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168811"/>
            <a:ext cx="3884861" cy="1719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639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C8C6-C4E6-E1A4-9BB3-02E2E29D4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2270760"/>
            <a:ext cx="49149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605E9D-2162-ED5F-D5C4-2810CEA163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0" y="226758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818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Picture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3">
            <a:extLst>
              <a:ext uri="{FF2B5EF4-FFF2-40B4-BE49-F238E27FC236}">
                <a16:creationId xmlns:a16="http://schemas.microsoft.com/office/drawing/2014/main" id="{BC8566AA-00D7-499C-0F3E-2067A61875E1}"/>
              </a:ext>
            </a:extLst>
          </p:cNvPr>
          <p:cNvSpPr/>
          <p:nvPr userDrawn="1"/>
        </p:nvSpPr>
        <p:spPr>
          <a:xfrm>
            <a:off x="-22302" y="468351"/>
            <a:ext cx="7304048" cy="6400800"/>
          </a:xfrm>
          <a:custGeom>
            <a:avLst/>
            <a:gdLst>
              <a:gd name="connsiteX0" fmla="*/ 0 w 7304048"/>
              <a:gd name="connsiteY0" fmla="*/ 0 h 6400800"/>
              <a:gd name="connsiteX1" fmla="*/ 5832087 w 7304048"/>
              <a:gd name="connsiteY1" fmla="*/ 0 h 6400800"/>
              <a:gd name="connsiteX2" fmla="*/ 7304048 w 7304048"/>
              <a:gd name="connsiteY2" fmla="*/ 6400800 h 6400800"/>
              <a:gd name="connsiteX3" fmla="*/ 11151 w 7304048"/>
              <a:gd name="connsiteY3" fmla="*/ 6400800 h 6400800"/>
              <a:gd name="connsiteX4" fmla="*/ 11151 w 7304048"/>
              <a:gd name="connsiteY4" fmla="*/ 6300439 h 6400800"/>
              <a:gd name="connsiteX5" fmla="*/ 0 w 7304048"/>
              <a:gd name="connsiteY5" fmla="*/ 0 h 6400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304048" h="6400800">
                <a:moveTo>
                  <a:pt x="0" y="0"/>
                </a:moveTo>
                <a:lnTo>
                  <a:pt x="5832087" y="0"/>
                </a:lnTo>
                <a:lnTo>
                  <a:pt x="7304048" y="6400800"/>
                </a:lnTo>
                <a:lnTo>
                  <a:pt x="11151" y="6400800"/>
                </a:lnTo>
                <a:lnTo>
                  <a:pt x="11151" y="6300439"/>
                </a:lnTo>
                <a:lnTo>
                  <a:pt x="0" y="0"/>
                </a:lnTo>
                <a:close/>
              </a:path>
            </a:pathLst>
          </a:cu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EF21C4-1197-17A3-5E0D-4F7593E8A9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817279" y="484554"/>
            <a:ext cx="6369555" cy="6373446"/>
          </a:xfrm>
          <a:custGeom>
            <a:avLst/>
            <a:gdLst>
              <a:gd name="connsiteX0" fmla="*/ 0 w 6400800"/>
              <a:gd name="connsiteY0" fmla="*/ 6200317 h 6200317"/>
              <a:gd name="connsiteX1" fmla="*/ 1550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0 w 6400800"/>
              <a:gd name="connsiteY0" fmla="*/ 6200317 h 6200317"/>
              <a:gd name="connsiteX1" fmla="*/ 26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4824642 w 6374721"/>
              <a:gd name="connsiteY3" fmla="*/ 6200317 h 6228026"/>
              <a:gd name="connsiteX4" fmla="*/ 1470212 w 6374721"/>
              <a:gd name="connsiteY4" fmla="*/ 6228026 h 6228026"/>
              <a:gd name="connsiteX0" fmla="*/ 1470212 w 6374721"/>
              <a:gd name="connsiteY0" fmla="*/ 6228026 h 6255735"/>
              <a:gd name="connsiteX1" fmla="*/ 0 w 6374721"/>
              <a:gd name="connsiteY1" fmla="*/ 0 h 6255735"/>
              <a:gd name="connsiteX2" fmla="*/ 6374721 w 6374721"/>
              <a:gd name="connsiteY2" fmla="*/ 0 h 6255735"/>
              <a:gd name="connsiteX3" fmla="*/ 6362496 w 6374721"/>
              <a:gd name="connsiteY3" fmla="*/ 6255735 h 6255735"/>
              <a:gd name="connsiteX4" fmla="*/ 1470212 w 6374721"/>
              <a:gd name="connsiteY4" fmla="*/ 6228026 h 6255735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65046 w 6374721"/>
              <a:gd name="connsiteY0" fmla="*/ 6207361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65046 w 6374721"/>
              <a:gd name="connsiteY4" fmla="*/ 6207361 h 6228026"/>
              <a:gd name="connsiteX0" fmla="*/ 1465046 w 6374721"/>
              <a:gd name="connsiteY0" fmla="*/ 6207361 h 6207361"/>
              <a:gd name="connsiteX1" fmla="*/ 0 w 6374721"/>
              <a:gd name="connsiteY1" fmla="*/ 0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74721"/>
              <a:gd name="connsiteY0" fmla="*/ 6207361 h 6207361"/>
              <a:gd name="connsiteX1" fmla="*/ 0 w 6374721"/>
              <a:gd name="connsiteY1" fmla="*/ 5166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69555"/>
              <a:gd name="connsiteY0" fmla="*/ 6202195 h 6202195"/>
              <a:gd name="connsiteX1" fmla="*/ 0 w 6369555"/>
              <a:gd name="connsiteY1" fmla="*/ 0 h 6202195"/>
              <a:gd name="connsiteX2" fmla="*/ 6369555 w 6369555"/>
              <a:gd name="connsiteY2" fmla="*/ 0 h 6202195"/>
              <a:gd name="connsiteX3" fmla="*/ 6367662 w 6369555"/>
              <a:gd name="connsiteY3" fmla="*/ 6202195 h 6202195"/>
              <a:gd name="connsiteX4" fmla="*/ 1465046 w 6369555"/>
              <a:gd name="connsiteY4" fmla="*/ 6202195 h 6202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69555" h="6202195">
                <a:moveTo>
                  <a:pt x="1465046" y="6202195"/>
                </a:moveTo>
                <a:lnTo>
                  <a:pt x="0" y="0"/>
                </a:lnTo>
                <a:lnTo>
                  <a:pt x="6369555" y="0"/>
                </a:lnTo>
                <a:lnTo>
                  <a:pt x="6367662" y="6202195"/>
                </a:lnTo>
                <a:lnTo>
                  <a:pt x="1465046" y="6202195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8252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553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Picture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1EF21C4-1197-17A3-5E0D-4F7593E8A95F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573487" y="482551"/>
            <a:ext cx="6613348" cy="6375449"/>
          </a:xfrm>
          <a:custGeom>
            <a:avLst/>
            <a:gdLst>
              <a:gd name="connsiteX0" fmla="*/ 0 w 6400800"/>
              <a:gd name="connsiteY0" fmla="*/ 6200317 h 6200317"/>
              <a:gd name="connsiteX1" fmla="*/ 1550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0 w 6400800"/>
              <a:gd name="connsiteY0" fmla="*/ 6200317 h 6200317"/>
              <a:gd name="connsiteX1" fmla="*/ 26079 w 6400800"/>
              <a:gd name="connsiteY1" fmla="*/ 0 h 6200317"/>
              <a:gd name="connsiteX2" fmla="*/ 6400800 w 6400800"/>
              <a:gd name="connsiteY2" fmla="*/ 0 h 6200317"/>
              <a:gd name="connsiteX3" fmla="*/ 4850721 w 6400800"/>
              <a:gd name="connsiteY3" fmla="*/ 6200317 h 6200317"/>
              <a:gd name="connsiteX4" fmla="*/ 0 w 6400800"/>
              <a:gd name="connsiteY4" fmla="*/ 6200317 h 6200317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4824642 w 6374721"/>
              <a:gd name="connsiteY3" fmla="*/ 6200317 h 6228026"/>
              <a:gd name="connsiteX4" fmla="*/ 1470212 w 6374721"/>
              <a:gd name="connsiteY4" fmla="*/ 6228026 h 6228026"/>
              <a:gd name="connsiteX0" fmla="*/ 1470212 w 6374721"/>
              <a:gd name="connsiteY0" fmla="*/ 6228026 h 6255735"/>
              <a:gd name="connsiteX1" fmla="*/ 0 w 6374721"/>
              <a:gd name="connsiteY1" fmla="*/ 0 h 6255735"/>
              <a:gd name="connsiteX2" fmla="*/ 6374721 w 6374721"/>
              <a:gd name="connsiteY2" fmla="*/ 0 h 6255735"/>
              <a:gd name="connsiteX3" fmla="*/ 6362496 w 6374721"/>
              <a:gd name="connsiteY3" fmla="*/ 6255735 h 6255735"/>
              <a:gd name="connsiteX4" fmla="*/ 1470212 w 6374721"/>
              <a:gd name="connsiteY4" fmla="*/ 6228026 h 6255735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70212 w 6374721"/>
              <a:gd name="connsiteY0" fmla="*/ 6228026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70212 w 6374721"/>
              <a:gd name="connsiteY4" fmla="*/ 6228026 h 6228026"/>
              <a:gd name="connsiteX0" fmla="*/ 1465046 w 6374721"/>
              <a:gd name="connsiteY0" fmla="*/ 6207361 h 6228026"/>
              <a:gd name="connsiteX1" fmla="*/ 0 w 6374721"/>
              <a:gd name="connsiteY1" fmla="*/ 0 h 6228026"/>
              <a:gd name="connsiteX2" fmla="*/ 6374721 w 6374721"/>
              <a:gd name="connsiteY2" fmla="*/ 0 h 6228026"/>
              <a:gd name="connsiteX3" fmla="*/ 6362496 w 6374721"/>
              <a:gd name="connsiteY3" fmla="*/ 6228026 h 6228026"/>
              <a:gd name="connsiteX4" fmla="*/ 1465046 w 6374721"/>
              <a:gd name="connsiteY4" fmla="*/ 6207361 h 6228026"/>
              <a:gd name="connsiteX0" fmla="*/ 1465046 w 6374721"/>
              <a:gd name="connsiteY0" fmla="*/ 6207361 h 6207361"/>
              <a:gd name="connsiteX1" fmla="*/ 0 w 6374721"/>
              <a:gd name="connsiteY1" fmla="*/ 0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74721"/>
              <a:gd name="connsiteY0" fmla="*/ 6207361 h 6207361"/>
              <a:gd name="connsiteX1" fmla="*/ 0 w 6374721"/>
              <a:gd name="connsiteY1" fmla="*/ 5166 h 6207361"/>
              <a:gd name="connsiteX2" fmla="*/ 6374721 w 6374721"/>
              <a:gd name="connsiteY2" fmla="*/ 0 h 6207361"/>
              <a:gd name="connsiteX3" fmla="*/ 6367662 w 6374721"/>
              <a:gd name="connsiteY3" fmla="*/ 6207361 h 6207361"/>
              <a:gd name="connsiteX4" fmla="*/ 1465046 w 6374721"/>
              <a:gd name="connsiteY4" fmla="*/ 6207361 h 6207361"/>
              <a:gd name="connsiteX0" fmla="*/ 1465046 w 6369555"/>
              <a:gd name="connsiteY0" fmla="*/ 6202195 h 6202195"/>
              <a:gd name="connsiteX1" fmla="*/ 0 w 6369555"/>
              <a:gd name="connsiteY1" fmla="*/ 0 h 6202195"/>
              <a:gd name="connsiteX2" fmla="*/ 6369555 w 6369555"/>
              <a:gd name="connsiteY2" fmla="*/ 0 h 6202195"/>
              <a:gd name="connsiteX3" fmla="*/ 6367662 w 6369555"/>
              <a:gd name="connsiteY3" fmla="*/ 6202195 h 6202195"/>
              <a:gd name="connsiteX4" fmla="*/ 1465046 w 6369555"/>
              <a:gd name="connsiteY4" fmla="*/ 6202195 h 62021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69555" h="6202195">
                <a:moveTo>
                  <a:pt x="1465046" y="6202195"/>
                </a:moveTo>
                <a:lnTo>
                  <a:pt x="0" y="0"/>
                </a:lnTo>
                <a:lnTo>
                  <a:pt x="6369555" y="0"/>
                </a:lnTo>
                <a:lnTo>
                  <a:pt x="6367662" y="6202195"/>
                </a:lnTo>
                <a:lnTo>
                  <a:pt x="1465046" y="6202195"/>
                </a:lnTo>
                <a:close/>
              </a:path>
            </a:pathLst>
          </a:cu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9648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_Picture w/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04EC17A-0229-9D9E-4F3E-BBAF3C9EC60A}"/>
              </a:ext>
            </a:extLst>
          </p:cNvPr>
          <p:cNvSpPr/>
          <p:nvPr userDrawn="1"/>
        </p:nvSpPr>
        <p:spPr>
          <a:xfrm>
            <a:off x="6324600" y="750848"/>
            <a:ext cx="5562600" cy="5715000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7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162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93D01D-E4EE-57C8-4839-A436BF0AE87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477000" y="903248"/>
            <a:ext cx="5257800" cy="5410200"/>
          </a:xfrm>
          <a:prstGeom prst="roundRect">
            <a:avLst>
              <a:gd name="adj" fmla="val 6063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5529195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_2 Pictures w/Fr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D04EC17A-0229-9D9E-4F3E-BBAF3C9EC60A}"/>
              </a:ext>
            </a:extLst>
          </p:cNvPr>
          <p:cNvSpPr/>
          <p:nvPr userDrawn="1"/>
        </p:nvSpPr>
        <p:spPr>
          <a:xfrm>
            <a:off x="6781800" y="731195"/>
            <a:ext cx="5029200" cy="2873829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6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6959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12848"/>
            <a:ext cx="5562600" cy="3962400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tx1"/>
                </a:solidFill>
              </a:defRPr>
            </a:lvl1pPr>
            <a:lvl2pPr>
              <a:defRPr sz="2000">
                <a:solidFill>
                  <a:schemeClr val="tx1"/>
                </a:solidFill>
              </a:defRPr>
            </a:lvl2pPr>
            <a:lvl3pPr>
              <a:defRPr sz="18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093D01D-E4EE-57C8-4839-A436BF0AE87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934200" y="883595"/>
            <a:ext cx="4741817" cy="2586446"/>
          </a:xfrm>
          <a:prstGeom prst="roundRect">
            <a:avLst>
              <a:gd name="adj" fmla="val 2938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32B8DAB-353A-63A7-57E3-BC8771DAFC86}"/>
              </a:ext>
            </a:extLst>
          </p:cNvPr>
          <p:cNvSpPr/>
          <p:nvPr userDrawn="1"/>
        </p:nvSpPr>
        <p:spPr>
          <a:xfrm>
            <a:off x="6781800" y="3702995"/>
            <a:ext cx="5029200" cy="2873829"/>
          </a:xfrm>
          <a:prstGeom prst="roundRect">
            <a:avLst>
              <a:gd name="adj" fmla="val 6243"/>
            </a:avLst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7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7FD29A79-FC30-5176-80E7-A66A4921130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934200" y="3855395"/>
            <a:ext cx="4741817" cy="2586446"/>
          </a:xfrm>
          <a:prstGeom prst="roundRect">
            <a:avLst>
              <a:gd name="adj" fmla="val 2938"/>
            </a:avLst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11763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56197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074B9DF-7720-D18B-E48B-4C9CA784C7A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4400" y="2203704"/>
            <a:ext cx="5181600" cy="3962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61C1296F-E730-081D-E6F9-31BBE4D4325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324600" y="758952"/>
            <a:ext cx="5486400" cy="5486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81612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877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hart Placeholder 8">
            <a:extLst>
              <a:ext uri="{FF2B5EF4-FFF2-40B4-BE49-F238E27FC236}">
                <a16:creationId xmlns:a16="http://schemas.microsoft.com/office/drawing/2014/main" id="{61C1296F-E730-081D-E6F9-31BBE4D43254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6400800" y="2924869"/>
            <a:ext cx="5334000" cy="3505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3" name="Chart Placeholder 8">
            <a:extLst>
              <a:ext uri="{FF2B5EF4-FFF2-40B4-BE49-F238E27FC236}">
                <a16:creationId xmlns:a16="http://schemas.microsoft.com/office/drawing/2014/main" id="{47C9A64A-95DE-326D-AD27-2A9C89FC288F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914400" y="2924869"/>
            <a:ext cx="5334000" cy="35052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chart</a:t>
            </a:r>
            <a:endParaRPr lang="en-US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FD2497A-A32F-79B8-FD8B-B8AB61270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972800" cy="59531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457809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77BF-0101-859C-6217-36F8D6AEF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87755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E6673-C7A0-C2BA-8CF4-61A98DC28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0287EE-B1C0-D41F-430F-AE7AA63CD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FD2497A-A32F-79B8-FD8B-B8AB612705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972800" cy="595312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A5E00329-735F-25A4-8DAC-E98E4105FA19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4400" y="2912640"/>
            <a:ext cx="5334000" cy="35052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5D11F4B7-132E-FFAB-C5E1-A1A1DA78032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400800" y="2912640"/>
            <a:ext cx="5334000" cy="35052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5244866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 call 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465C986-E3D2-97E7-9111-0299F9C3B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51767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28190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564" y="4248614"/>
            <a:ext cx="2333063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FE922A-6A5A-4DA8-1E44-D80852772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01554" y="6203726"/>
            <a:ext cx="1827083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3D56C31D-5FDB-2235-FFF8-2AB6E04C9B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57600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16A2860-4464-B092-801E-255A6B7DF3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640500" y="4248614"/>
            <a:ext cx="2360857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6330766-86D4-F436-F65D-07EF389BF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02735" y="6203726"/>
            <a:ext cx="1836387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A540E06E-3F2B-A3DC-320A-8C968AC435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35141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51307C43-6072-93E9-BF1D-64D42AE2A5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419643" y="4248614"/>
            <a:ext cx="2357653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F51B736-1CC5-842A-AFEB-68B18931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684650" y="6203726"/>
            <a:ext cx="1827639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716EA8F4-B9C4-991F-0EBC-D79877AD46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61699" y="3135104"/>
            <a:ext cx="2326657" cy="768223"/>
          </a:xfrm>
        </p:spPr>
        <p:txBody>
          <a:bodyPr lIns="91440" tIns="0" anchor="b">
            <a:noAutofit/>
          </a:bodyPr>
          <a:lstStyle>
            <a:lvl1pPr marL="0" indent="0" algn="ctr">
              <a:buNone/>
              <a:defRPr sz="2000" b="0" cap="all" spc="0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5A57C80F-4C30-26E1-B38B-3D7238EC9A4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140053" y="4248614"/>
            <a:ext cx="2369948" cy="1676185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771B152-C165-EE9A-CF25-69B01D93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410840" y="6203726"/>
            <a:ext cx="1828375" cy="0"/>
          </a:xfrm>
          <a:prstGeom prst="straightConnector1">
            <a:avLst/>
          </a:prstGeom>
          <a:ln w="19050" cap="flat" cmpd="sng" algn="ctr">
            <a:solidFill>
              <a:schemeClr val="tx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3A788A64-F282-9CE1-4232-9EE355589D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34023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0782DED-E3BA-FB36-43E4-81DBB440C3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1564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D478D9-E1B0-6465-A4AE-A5FCFD483B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138122" y="4011416"/>
            <a:ext cx="2373810" cy="110198"/>
          </a:xfrm>
          <a:prstGeom prst="rect">
            <a:avLst/>
          </a:prstGeom>
          <a:gradFill>
            <a:gsLst>
              <a:gs pos="0">
                <a:schemeClr val="tx1"/>
              </a:gs>
              <a:gs pos="97000">
                <a:schemeClr val="accent3"/>
              </a:gs>
              <a:gs pos="48000">
                <a:schemeClr val="accent2"/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EA6892-F10F-164E-5109-ED84CE738A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3963" y="121602"/>
            <a:ext cx="4114800" cy="217173"/>
          </a:xfrm>
        </p:spPr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D13AE-FD08-9C1F-6E91-5682E73EC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62148" y="99559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1588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 circle callou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E89F04-8166-A3DC-744C-551C5EB87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6" name="그룹 1281">
            <a:extLst>
              <a:ext uri="{FF2B5EF4-FFF2-40B4-BE49-F238E27FC236}">
                <a16:creationId xmlns:a16="http://schemas.microsoft.com/office/drawing/2014/main" id="{65B4D3AB-B0EE-820C-F332-86B9B4FF4D7D}"/>
              </a:ext>
            </a:extLst>
          </p:cNvPr>
          <p:cNvGrpSpPr/>
          <p:nvPr userDrawn="1"/>
        </p:nvGrpSpPr>
        <p:grpSpPr>
          <a:xfrm>
            <a:off x="1143000" y="2505297"/>
            <a:ext cx="10056459" cy="2238357"/>
            <a:chOff x="1073086" y="2710034"/>
            <a:chExt cx="10056459" cy="2238357"/>
          </a:xfrm>
        </p:grpSpPr>
        <p:sp>
          <p:nvSpPr>
            <p:cNvPr id="8" name="Oval 6">
              <a:extLst>
                <a:ext uri="{FF2B5EF4-FFF2-40B4-BE49-F238E27FC236}">
                  <a16:creationId xmlns:a16="http://schemas.microsoft.com/office/drawing/2014/main" id="{1F23A632-C958-B035-7D29-4E36C3A8D927}"/>
                </a:ext>
              </a:extLst>
            </p:cNvPr>
            <p:cNvSpPr/>
            <p:nvPr/>
          </p:nvSpPr>
          <p:spPr>
            <a:xfrm rot="7200000" flipH="1">
              <a:off x="3914385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9" name="Oval 6">
              <a:extLst>
                <a:ext uri="{FF2B5EF4-FFF2-40B4-BE49-F238E27FC236}">
                  <a16:creationId xmlns:a16="http://schemas.microsoft.com/office/drawing/2014/main" id="{918FE6A1-233A-7F39-8799-6BFEF9149E32}"/>
                </a:ext>
              </a:extLst>
            </p:cNvPr>
            <p:cNvSpPr/>
            <p:nvPr/>
          </p:nvSpPr>
          <p:spPr>
            <a:xfrm rot="7200000" flipH="1">
              <a:off x="7460429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7E0B8266-3454-DEDE-28C4-30473AD029FF}"/>
                </a:ext>
              </a:extLst>
            </p:cNvPr>
            <p:cNvSpPr/>
            <p:nvPr/>
          </p:nvSpPr>
          <p:spPr>
            <a:xfrm rot="14400000">
              <a:off x="2141363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1" name="Oval 5">
              <a:extLst>
                <a:ext uri="{FF2B5EF4-FFF2-40B4-BE49-F238E27FC236}">
                  <a16:creationId xmlns:a16="http://schemas.microsoft.com/office/drawing/2014/main" id="{3229B04E-61C5-C43D-3D60-E218AEF16C01}"/>
                </a:ext>
              </a:extLst>
            </p:cNvPr>
            <p:cNvSpPr/>
            <p:nvPr/>
          </p:nvSpPr>
          <p:spPr>
            <a:xfrm>
              <a:off x="1073086" y="3714353"/>
              <a:ext cx="1234037" cy="123403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2" name="타원 1286">
              <a:extLst>
                <a:ext uri="{FF2B5EF4-FFF2-40B4-BE49-F238E27FC236}">
                  <a16:creationId xmlns:a16="http://schemas.microsoft.com/office/drawing/2014/main" id="{2EA6EF24-8749-8BEF-326C-C125ACB2C20A}"/>
                </a:ext>
              </a:extLst>
            </p:cNvPr>
            <p:cNvSpPr/>
            <p:nvPr/>
          </p:nvSpPr>
          <p:spPr>
            <a:xfrm>
              <a:off x="1137335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Oval 15">
              <a:extLst>
                <a:ext uri="{FF2B5EF4-FFF2-40B4-BE49-F238E27FC236}">
                  <a16:creationId xmlns:a16="http://schemas.microsoft.com/office/drawing/2014/main" id="{454E25E1-F59A-FADC-CD3F-CA7A84CCA1E2}"/>
                </a:ext>
              </a:extLst>
            </p:cNvPr>
            <p:cNvSpPr/>
            <p:nvPr/>
          </p:nvSpPr>
          <p:spPr>
            <a:xfrm>
              <a:off x="2837570" y="2710034"/>
              <a:ext cx="1234037" cy="1234038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4" name="Oval 6">
              <a:extLst>
                <a:ext uri="{FF2B5EF4-FFF2-40B4-BE49-F238E27FC236}">
                  <a16:creationId xmlns:a16="http://schemas.microsoft.com/office/drawing/2014/main" id="{FDA8283F-32E9-CA15-A705-995234E96ECB}"/>
                </a:ext>
              </a:extLst>
            </p:cNvPr>
            <p:cNvSpPr/>
            <p:nvPr/>
          </p:nvSpPr>
          <p:spPr>
            <a:xfrm rot="14400000">
              <a:off x="9209572" y="3041001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5" name="Oval 6">
              <a:extLst>
                <a:ext uri="{FF2B5EF4-FFF2-40B4-BE49-F238E27FC236}">
                  <a16:creationId xmlns:a16="http://schemas.microsoft.com/office/drawing/2014/main" id="{6613845B-FD2D-2942-2DAB-3AB4C444161F}"/>
                </a:ext>
              </a:extLst>
            </p:cNvPr>
            <p:cNvSpPr/>
            <p:nvPr/>
          </p:nvSpPr>
          <p:spPr>
            <a:xfrm rot="14400000">
              <a:off x="5687407" y="3078946"/>
              <a:ext cx="864000" cy="1564691"/>
            </a:xfrm>
            <a:custGeom>
              <a:avLst/>
              <a:gdLst/>
              <a:ahLst/>
              <a:cxnLst/>
              <a:rect l="l" t="t" r="r" b="b"/>
              <a:pathLst>
                <a:path w="890376" h="1440160">
                  <a:moveTo>
                    <a:pt x="445188" y="0"/>
                  </a:moveTo>
                  <a:cubicBezTo>
                    <a:pt x="614149" y="0"/>
                    <a:pt x="769519" y="58193"/>
                    <a:pt x="890376" y="158114"/>
                  </a:cubicBezTo>
                  <a:cubicBezTo>
                    <a:pt x="722128" y="287532"/>
                    <a:pt x="615484" y="491352"/>
                    <a:pt x="615484" y="720080"/>
                  </a:cubicBezTo>
                  <a:cubicBezTo>
                    <a:pt x="615484" y="948808"/>
                    <a:pt x="722128" y="1152628"/>
                    <a:pt x="890376" y="1282046"/>
                  </a:cubicBezTo>
                  <a:cubicBezTo>
                    <a:pt x="769519" y="1381967"/>
                    <a:pt x="614149" y="1440160"/>
                    <a:pt x="445188" y="1440160"/>
                  </a:cubicBezTo>
                  <a:cubicBezTo>
                    <a:pt x="276227" y="1440160"/>
                    <a:pt x="120857" y="1381967"/>
                    <a:pt x="0" y="1282046"/>
                  </a:cubicBezTo>
                  <a:cubicBezTo>
                    <a:pt x="168248" y="1152628"/>
                    <a:pt x="274891" y="948808"/>
                    <a:pt x="274891" y="720080"/>
                  </a:cubicBezTo>
                  <a:cubicBezTo>
                    <a:pt x="274891" y="491352"/>
                    <a:pt x="168248" y="287532"/>
                    <a:pt x="0" y="158114"/>
                  </a:cubicBezTo>
                  <a:cubicBezTo>
                    <a:pt x="120857" y="58193"/>
                    <a:pt x="276227" y="0"/>
                    <a:pt x="445188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6" name="Oval 5">
              <a:extLst>
                <a:ext uri="{FF2B5EF4-FFF2-40B4-BE49-F238E27FC236}">
                  <a16:creationId xmlns:a16="http://schemas.microsoft.com/office/drawing/2014/main" id="{D2062A16-1962-16F4-8023-92D9AE84B52E}"/>
                </a:ext>
              </a:extLst>
            </p:cNvPr>
            <p:cNvSpPr/>
            <p:nvPr/>
          </p:nvSpPr>
          <p:spPr>
            <a:xfrm>
              <a:off x="4602054" y="3714353"/>
              <a:ext cx="1234037" cy="123403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17" name="Oval 15">
              <a:extLst>
                <a:ext uri="{FF2B5EF4-FFF2-40B4-BE49-F238E27FC236}">
                  <a16:creationId xmlns:a16="http://schemas.microsoft.com/office/drawing/2014/main" id="{0ABE85E6-8EEE-628D-159D-8DE52BB344E7}"/>
                </a:ext>
              </a:extLst>
            </p:cNvPr>
            <p:cNvSpPr/>
            <p:nvPr/>
          </p:nvSpPr>
          <p:spPr>
            <a:xfrm>
              <a:off x="6366538" y="2710034"/>
              <a:ext cx="1234037" cy="1234038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8" name="Oval 18">
              <a:extLst>
                <a:ext uri="{FF2B5EF4-FFF2-40B4-BE49-F238E27FC236}">
                  <a16:creationId xmlns:a16="http://schemas.microsoft.com/office/drawing/2014/main" id="{8B1831B6-1987-F685-D305-1DFA4F6D16E4}"/>
                </a:ext>
              </a:extLst>
            </p:cNvPr>
            <p:cNvSpPr/>
            <p:nvPr/>
          </p:nvSpPr>
          <p:spPr>
            <a:xfrm>
              <a:off x="8131022" y="3714353"/>
              <a:ext cx="1234037" cy="12340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 dirty="0"/>
            </a:p>
          </p:txBody>
        </p:sp>
        <p:sp>
          <p:nvSpPr>
            <p:cNvPr id="19" name="Oval 21">
              <a:extLst>
                <a:ext uri="{FF2B5EF4-FFF2-40B4-BE49-F238E27FC236}">
                  <a16:creationId xmlns:a16="http://schemas.microsoft.com/office/drawing/2014/main" id="{753C5383-B157-55FB-8CE2-7456440E869D}"/>
                </a:ext>
              </a:extLst>
            </p:cNvPr>
            <p:cNvSpPr/>
            <p:nvPr/>
          </p:nvSpPr>
          <p:spPr>
            <a:xfrm>
              <a:off x="9895508" y="2710034"/>
              <a:ext cx="1234037" cy="123403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700"/>
            </a:p>
          </p:txBody>
        </p:sp>
        <p:sp>
          <p:nvSpPr>
            <p:cNvPr id="21" name="타원 1295">
              <a:extLst>
                <a:ext uri="{FF2B5EF4-FFF2-40B4-BE49-F238E27FC236}">
                  <a16:creationId xmlns:a16="http://schemas.microsoft.com/office/drawing/2014/main" id="{BB2B1159-F287-F4D0-972D-AEB57CCA3AC0}"/>
                </a:ext>
              </a:extLst>
            </p:cNvPr>
            <p:cNvSpPr/>
            <p:nvPr/>
          </p:nvSpPr>
          <p:spPr>
            <a:xfrm>
              <a:off x="2901819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accent5"/>
                </a:solidFill>
              </a:endParaRPr>
            </a:p>
          </p:txBody>
        </p:sp>
        <p:sp>
          <p:nvSpPr>
            <p:cNvPr id="22" name="타원 1296">
              <a:extLst>
                <a:ext uri="{FF2B5EF4-FFF2-40B4-BE49-F238E27FC236}">
                  <a16:creationId xmlns:a16="http://schemas.microsoft.com/office/drawing/2014/main" id="{3D44CC5B-C0AF-D2C2-BE76-D065ED9D3A38}"/>
                </a:ext>
              </a:extLst>
            </p:cNvPr>
            <p:cNvSpPr/>
            <p:nvPr/>
          </p:nvSpPr>
          <p:spPr>
            <a:xfrm>
              <a:off x="6430787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3" name="타원 1297">
              <a:extLst>
                <a:ext uri="{FF2B5EF4-FFF2-40B4-BE49-F238E27FC236}">
                  <a16:creationId xmlns:a16="http://schemas.microsoft.com/office/drawing/2014/main" id="{8E47600E-B996-E6EC-B833-93E90D5A2297}"/>
                </a:ext>
              </a:extLst>
            </p:cNvPr>
            <p:cNvSpPr/>
            <p:nvPr/>
          </p:nvSpPr>
          <p:spPr>
            <a:xfrm>
              <a:off x="9955227" y="2800818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4" name="타원 1298">
              <a:extLst>
                <a:ext uri="{FF2B5EF4-FFF2-40B4-BE49-F238E27FC236}">
                  <a16:creationId xmlns:a16="http://schemas.microsoft.com/office/drawing/2014/main" id="{047F897C-36C1-5E05-CC89-EBDFB90F4035}"/>
                </a:ext>
              </a:extLst>
            </p:cNvPr>
            <p:cNvSpPr/>
            <p:nvPr/>
          </p:nvSpPr>
          <p:spPr>
            <a:xfrm>
              <a:off x="8195271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타원 1299">
              <a:extLst>
                <a:ext uri="{FF2B5EF4-FFF2-40B4-BE49-F238E27FC236}">
                  <a16:creationId xmlns:a16="http://schemas.microsoft.com/office/drawing/2014/main" id="{54EBFDB8-3C81-B0D3-B25E-E3CC580BDD36}"/>
                </a:ext>
              </a:extLst>
            </p:cNvPr>
            <p:cNvSpPr/>
            <p:nvPr/>
          </p:nvSpPr>
          <p:spPr>
            <a:xfrm>
              <a:off x="4666303" y="3805137"/>
              <a:ext cx="1105538" cy="1052470"/>
            </a:xfrm>
            <a:prstGeom prst="ellipse">
              <a:avLst/>
            </a:prstGeom>
            <a:gradFill flip="none" rotWithShape="1">
              <a:gsLst>
                <a:gs pos="0">
                  <a:schemeClr val="bg1">
                    <a:lumMod val="87000"/>
                  </a:schemeClr>
                </a:gs>
                <a:gs pos="100000">
                  <a:schemeClr val="bg1"/>
                </a:gs>
              </a:gsLst>
              <a:lin ang="8100000" scaled="1"/>
              <a:tileRect/>
            </a:gradFill>
            <a:ln w="6350"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</p:grp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17B16F72-40BA-E998-2257-D54EE6CEBAE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430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AAB8F30F-2FFC-20DD-A8F6-71024DC03C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718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/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4" name="Text Placeholder 31">
            <a:extLst>
              <a:ext uri="{FF2B5EF4-FFF2-40B4-BE49-F238E27FC236}">
                <a16:creationId xmlns:a16="http://schemas.microsoft.com/office/drawing/2014/main" id="{9BFAAFBE-22E7-798D-C75E-C8E8289211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244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5" name="Text Placeholder 31">
            <a:extLst>
              <a:ext uri="{FF2B5EF4-FFF2-40B4-BE49-F238E27FC236}">
                <a16:creationId xmlns:a16="http://schemas.microsoft.com/office/drawing/2014/main" id="{AB5386A6-EBCF-BE3F-9C99-5AC05501DAA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4770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FF922E3-5C68-F6E3-0485-A0E67CC88D8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29600" y="36482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C910256D-A8C2-E46B-A929-3267D33AA46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82200" y="2657697"/>
            <a:ext cx="1143000" cy="9906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85000"/>
              </a:lnSpc>
              <a:spcBef>
                <a:spcPts val="0"/>
              </a:spcBef>
              <a:buNone/>
              <a:defRPr sz="16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Text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0C26EF43-A591-ACB9-95D5-D2A6C44F70E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144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2" name="Text Placeholder 38">
            <a:extLst>
              <a:ext uri="{FF2B5EF4-FFF2-40B4-BE49-F238E27FC236}">
                <a16:creationId xmlns:a16="http://schemas.microsoft.com/office/drawing/2014/main" id="{F2B1CEAB-5243-EF63-89D5-ADA49AA64D6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5908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3" name="Text Placeholder 38">
            <a:extLst>
              <a:ext uri="{FF2B5EF4-FFF2-40B4-BE49-F238E27FC236}">
                <a16:creationId xmlns:a16="http://schemas.microsoft.com/office/drawing/2014/main" id="{CDEDCD72-ECA0-F2D7-EC03-81843D0246E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4958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4" name="Text Placeholder 38">
            <a:extLst>
              <a:ext uri="{FF2B5EF4-FFF2-40B4-BE49-F238E27FC236}">
                <a16:creationId xmlns:a16="http://schemas.microsoft.com/office/drawing/2014/main" id="{2E0ED554-E380-3678-D783-DD39A107486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1722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3">
                    <a:lumMod val="7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5" name="Text Placeholder 38">
            <a:extLst>
              <a:ext uri="{FF2B5EF4-FFF2-40B4-BE49-F238E27FC236}">
                <a16:creationId xmlns:a16="http://schemas.microsoft.com/office/drawing/2014/main" id="{2DF7B12C-4A5F-2508-FCE7-35F125B54AD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677400" y="3876897"/>
            <a:ext cx="1828800" cy="18288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46" name="Text Placeholder 38">
            <a:extLst>
              <a:ext uri="{FF2B5EF4-FFF2-40B4-BE49-F238E27FC236}">
                <a16:creationId xmlns:a16="http://schemas.microsoft.com/office/drawing/2014/main" id="{93AFFB44-33B2-D0D0-24B9-36F37009010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77200" y="4867497"/>
            <a:ext cx="1524000" cy="1676400"/>
          </a:xfrm>
        </p:spPr>
        <p:txBody>
          <a:bodyPr>
            <a:noAutofit/>
          </a:bodyPr>
          <a:lstStyle>
            <a:lvl1pPr marL="0" indent="-91440" algn="ctr">
              <a:lnSpc>
                <a:spcPct val="85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400">
                <a:solidFill>
                  <a:schemeClr val="accent5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dirty="0"/>
              <a:t>Click here to add text </a:t>
            </a:r>
          </a:p>
        </p:txBody>
      </p:sp>
      <p:sp>
        <p:nvSpPr>
          <p:cNvPr id="20" name="Footer Placeholder 5">
            <a:extLst>
              <a:ext uri="{FF2B5EF4-FFF2-40B4-BE49-F238E27FC236}">
                <a16:creationId xmlns:a16="http://schemas.microsoft.com/office/drawing/2014/main" id="{BE884C74-6A18-2B76-2CF5-D95B284562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3963" y="121602"/>
            <a:ext cx="4114800" cy="217173"/>
          </a:xfrm>
        </p:spPr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26" name="Slide Number Placeholder 6">
            <a:extLst>
              <a:ext uri="{FF2B5EF4-FFF2-40B4-BE49-F238E27FC236}">
                <a16:creationId xmlns:a16="http://schemas.microsoft.com/office/drawing/2014/main" id="{229FCC9D-96AD-BA9E-BD6E-2A25D0A52792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>
          <a:xfrm>
            <a:off x="11662148" y="99559"/>
            <a:ext cx="1059704" cy="261258"/>
          </a:xfrm>
        </p:spPr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01918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7630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522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345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9384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2725BC-06A4-BA3F-329D-CCFE76B56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610600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55977AF-C60A-DDAC-F6C7-12C2309ECC7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8786577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883584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7827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76578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056593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191556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32725BC-06A4-BA3F-329D-CCFE76B565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73465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55977AF-C60A-DDAC-F6C7-12C2309ECC7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310322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0432080B-6328-C238-809D-F9FE08C793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290337" y="3026141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3BA1372-7071-371E-C28F-CBE6820DA6FE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27194" y="3330941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711E0B1-10A5-78B2-3136-3CD932F231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407209" y="2990688"/>
            <a:ext cx="2040528" cy="3201390"/>
          </a:xfrm>
          <a:prstGeom prst="roundRect">
            <a:avLst>
              <a:gd name="adj" fmla="val 7754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9ACE081D-D73A-A411-BCD4-2DCBE78B8CE8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544066" y="3295488"/>
            <a:ext cx="1766814" cy="2692078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28466609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 colored callout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5161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871138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6" name="Text Placeholder 2">
            <a:extLst>
              <a:ext uri="{FF2B5EF4-FFF2-40B4-BE49-F238E27FC236}">
                <a16:creationId xmlns:a16="http://schemas.microsoft.com/office/drawing/2014/main" id="{9ADD9A5C-AE9A-C65B-4505-483DE9A24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10543151" cy="550647"/>
          </a:xfrm>
        </p:spPr>
        <p:txBody>
          <a:bodyPr anchor="t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itle 1">
            <a:extLst>
              <a:ext uri="{FF2B5EF4-FFF2-40B4-BE49-F238E27FC236}">
                <a16:creationId xmlns:a16="http://schemas.microsoft.com/office/drawing/2014/main" id="{B7E68036-CDBD-FEF5-260D-DF24C6FF3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EAAA4E6-9CD8-0530-BD07-8498A1C997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562311" y="2990688"/>
            <a:ext cx="2992166" cy="3352800"/>
          </a:xfrm>
          <a:prstGeom prst="roundRect">
            <a:avLst>
              <a:gd name="adj" fmla="val 775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7A0B597-CF95-913E-7A66-71D440047E4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6757338" y="3295488"/>
            <a:ext cx="2590800" cy="2819400"/>
          </a:xfrm>
        </p:spPr>
        <p:txBody>
          <a:bodyPr lIns="91440" tIns="0" anchor="ctr">
            <a:noAutofit/>
          </a:bodyPr>
          <a:lstStyle>
            <a:lvl1pPr marL="0" indent="0" algn="ctr">
              <a:buNone/>
              <a:defRPr sz="18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C09864-2A01-120D-B0A0-3D47650A2281}"/>
              </a:ext>
            </a:extLst>
          </p:cNvPr>
          <p:cNvSpPr txBox="1">
            <a:spLocks/>
          </p:cNvSpPr>
          <p:nvPr userDrawn="1"/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900" kern="1200">
                <a:solidFill>
                  <a:schemeClr val="bg1">
                    <a:alpha val="75167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F24C74-96B8-1AEE-DED0-3FD6D128AAF5}"/>
              </a:ext>
            </a:extLst>
          </p:cNvPr>
          <p:cNvSpPr txBox="1">
            <a:spLocks/>
          </p:cNvSpPr>
          <p:nvPr userDrawn="1"/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1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8119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9C14A-6496-6376-2B3E-AD74A612C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21821F-FB3A-F9EE-D0DE-E887A37D6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2203704"/>
            <a:ext cx="498316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7C9A69-852A-95D0-640F-0A9AD66D09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" y="3173412"/>
            <a:ext cx="4983162" cy="34950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5212BA-716C-43F7-C564-5796945A18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3105" y="2203704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7DF0997-D7AA-3B69-46B5-3C52DC86C8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3105" y="3173412"/>
            <a:ext cx="5183188" cy="34950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455EE4-619A-8EFD-2C75-330D157D9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18C5AC-C080-2EB1-1F82-F057A282D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035756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50917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 descr="A white symbol on a brown circle&#10;&#10;Description automatically generated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13068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885217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3060551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E7BEB-3F95-F7BD-8C6B-C9CDE17AD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 dirty="0"/>
              <a:t>Icon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D41258-C225-30B8-4068-2B71A0ED38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FA1CED-BEE1-ACF5-8AEE-094C9B16F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2DBF73-78F1-5E34-BB47-F8D4315E883F}"/>
              </a:ext>
            </a:extLst>
          </p:cNvPr>
          <p:cNvGrpSpPr/>
          <p:nvPr userDrawn="1"/>
        </p:nvGrpSpPr>
        <p:grpSpPr>
          <a:xfrm>
            <a:off x="620138" y="1752600"/>
            <a:ext cx="1149675" cy="1160621"/>
            <a:chOff x="620138" y="1752600"/>
            <a:chExt cx="1149675" cy="116062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84DCB50-DA15-0746-CC36-3D6CE4CCBCE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C756196-4ADF-DF0C-EBDC-F9F2C81AC2F4}"/>
                </a:ext>
              </a:extLst>
            </p:cNvPr>
            <p:cNvSpPr txBox="1"/>
            <p:nvPr userDrawn="1"/>
          </p:nvSpPr>
          <p:spPr>
            <a:xfrm>
              <a:off x="620138" y="2667000"/>
              <a:ext cx="114967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Physical Science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11910B8-EFDC-F4BD-D871-01250E169D33}"/>
              </a:ext>
            </a:extLst>
          </p:cNvPr>
          <p:cNvGrpSpPr/>
          <p:nvPr userDrawn="1"/>
        </p:nvGrpSpPr>
        <p:grpSpPr>
          <a:xfrm>
            <a:off x="2119913" y="1752600"/>
            <a:ext cx="937550" cy="1160621"/>
            <a:chOff x="2276156" y="1752600"/>
            <a:chExt cx="937550" cy="1160621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E1E2990-A33D-309A-9F68-08D9A1E0E4D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490AC53-46B8-9208-4DAB-7EBDD1243E80}"/>
                </a:ext>
              </a:extLst>
            </p:cNvPr>
            <p:cNvSpPr txBox="1"/>
            <p:nvPr userDrawn="1"/>
          </p:nvSpPr>
          <p:spPr>
            <a:xfrm>
              <a:off x="2390507" y="2667000"/>
              <a:ext cx="708848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Quantum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3D160AB-747D-0C84-DB2C-12A72938449E}"/>
              </a:ext>
            </a:extLst>
          </p:cNvPr>
          <p:cNvGrpSpPr/>
          <p:nvPr userDrawn="1"/>
        </p:nvGrpSpPr>
        <p:grpSpPr>
          <a:xfrm>
            <a:off x="3500407" y="1752600"/>
            <a:ext cx="937550" cy="1160621"/>
            <a:chOff x="3328048" y="1752600"/>
            <a:chExt cx="937550" cy="1160621"/>
          </a:xfrm>
        </p:grpSpPr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9F58E307-692E-76E5-915A-6BE8C8A6C34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F976D59-973C-B3ED-21A7-6E1BF17E1F28}"/>
                </a:ext>
              </a:extLst>
            </p:cNvPr>
            <p:cNvSpPr txBox="1"/>
            <p:nvPr userDrawn="1"/>
          </p:nvSpPr>
          <p:spPr>
            <a:xfrm>
              <a:off x="3565830" y="2667000"/>
              <a:ext cx="46198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Fluid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DFEA1BB1-12A4-2E2E-1955-F3A8B5472743}"/>
              </a:ext>
            </a:extLst>
          </p:cNvPr>
          <p:cNvGrpSpPr/>
          <p:nvPr userDrawn="1"/>
        </p:nvGrpSpPr>
        <p:grpSpPr>
          <a:xfrm>
            <a:off x="4889029" y="1752600"/>
            <a:ext cx="937550" cy="1160621"/>
            <a:chOff x="4379940" y="1752600"/>
            <a:chExt cx="937550" cy="1160621"/>
          </a:xfrm>
        </p:grpSpPr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0E9DBB58-6406-2088-AE7D-CD856A1E7A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D472200-79FE-9C5A-93BA-31F52D3EE86F}"/>
                </a:ext>
              </a:extLst>
            </p:cNvPr>
            <p:cNvSpPr txBox="1"/>
            <p:nvPr userDrawn="1"/>
          </p:nvSpPr>
          <p:spPr>
            <a:xfrm>
              <a:off x="4483070" y="2667000"/>
              <a:ext cx="73129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Complete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BC30226-E85A-EAB4-EA3A-2F8AF418AC7A}"/>
              </a:ext>
            </a:extLst>
          </p:cNvPr>
          <p:cNvGrpSpPr/>
          <p:nvPr userDrawn="1"/>
        </p:nvGrpSpPr>
        <p:grpSpPr>
          <a:xfrm>
            <a:off x="6247355" y="1752600"/>
            <a:ext cx="937550" cy="1160621"/>
            <a:chOff x="5431831" y="1752600"/>
            <a:chExt cx="937550" cy="1160621"/>
          </a:xfrm>
        </p:grpSpPr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29FB4C8-0924-DD30-1DEA-0B2E407C2C9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E9D3CBF-9626-9176-B486-F34F15BE4A9E}"/>
                </a:ext>
              </a:extLst>
            </p:cNvPr>
            <p:cNvSpPr txBox="1"/>
            <p:nvPr userDrawn="1"/>
          </p:nvSpPr>
          <p:spPr>
            <a:xfrm>
              <a:off x="5530953" y="2667000"/>
              <a:ext cx="73930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Molecular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EC613B-9512-31BF-730B-49C7B41C44C6}"/>
              </a:ext>
            </a:extLst>
          </p:cNvPr>
          <p:cNvGrpSpPr/>
          <p:nvPr userDrawn="1"/>
        </p:nvGrpSpPr>
        <p:grpSpPr>
          <a:xfrm>
            <a:off x="7661269" y="1752600"/>
            <a:ext cx="937550" cy="1160621"/>
            <a:chOff x="5431831" y="1752600"/>
            <a:chExt cx="937550" cy="1160621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3EA005A4-9DA7-B0C3-08EE-98CB0CE9BA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5FE336D-FA97-22C9-55DC-079F3A53A069}"/>
                </a:ext>
              </a:extLst>
            </p:cNvPr>
            <p:cNvSpPr txBox="1"/>
            <p:nvPr userDrawn="1"/>
          </p:nvSpPr>
          <p:spPr>
            <a:xfrm>
              <a:off x="5607097" y="2667000"/>
              <a:ext cx="58702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Budget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6DF185E-4874-C556-B523-55B66CA67CA6}"/>
              </a:ext>
            </a:extLst>
          </p:cNvPr>
          <p:cNvGrpSpPr/>
          <p:nvPr userDrawn="1"/>
        </p:nvGrpSpPr>
        <p:grpSpPr>
          <a:xfrm>
            <a:off x="9037083" y="1752600"/>
            <a:ext cx="937550" cy="1160621"/>
            <a:chOff x="5431831" y="1752600"/>
            <a:chExt cx="937550" cy="1160621"/>
          </a:xfrm>
        </p:grpSpPr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63CE37AC-3781-BB31-177C-5CE7E2287CE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8C9462-D61D-BDFC-9D8E-41D0C89DE06F}"/>
                </a:ext>
              </a:extLst>
            </p:cNvPr>
            <p:cNvSpPr txBox="1"/>
            <p:nvPr userDrawn="1"/>
          </p:nvSpPr>
          <p:spPr>
            <a:xfrm>
              <a:off x="5684843" y="2667000"/>
              <a:ext cx="4315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Idea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CD12664-0486-A848-58F4-C28C560C54DC}"/>
              </a:ext>
            </a:extLst>
          </p:cNvPr>
          <p:cNvGrpSpPr/>
          <p:nvPr userDrawn="1"/>
        </p:nvGrpSpPr>
        <p:grpSpPr>
          <a:xfrm>
            <a:off x="10412895" y="1752600"/>
            <a:ext cx="937550" cy="1160621"/>
            <a:chOff x="5431831" y="1752600"/>
            <a:chExt cx="937550" cy="1160621"/>
          </a:xfrm>
        </p:grpSpPr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C49D6AE0-9F7E-5646-BBF2-3EB286B932C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1436932-7489-215B-A927-D94234ABE44F}"/>
                </a:ext>
              </a:extLst>
            </p:cNvPr>
            <p:cNvSpPr txBox="1"/>
            <p:nvPr userDrawn="1"/>
          </p:nvSpPr>
          <p:spPr>
            <a:xfrm>
              <a:off x="5485271" y="2667000"/>
              <a:ext cx="83067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2B0F299A-3739-E2C2-ADAB-FEB8CB19AA01}"/>
              </a:ext>
            </a:extLst>
          </p:cNvPr>
          <p:cNvGrpSpPr/>
          <p:nvPr userDrawn="1"/>
        </p:nvGrpSpPr>
        <p:grpSpPr>
          <a:xfrm>
            <a:off x="709105" y="3246863"/>
            <a:ext cx="971741" cy="1160621"/>
            <a:chOff x="709103" y="1752600"/>
            <a:chExt cx="971741" cy="1160621"/>
          </a:xfrm>
        </p:grpSpPr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D7CD17CB-B72B-50B2-32D5-1580EF58382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0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726198" y="1752600"/>
              <a:ext cx="937550" cy="937550"/>
            </a:xfrm>
            <a:prstGeom prst="rect">
              <a:avLst/>
            </a:prstGeom>
          </p:spPr>
        </p:pic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BBBB447-9DD9-51D6-7E1F-53FCEA69C8AE}"/>
                </a:ext>
              </a:extLst>
            </p:cNvPr>
            <p:cNvSpPr txBox="1"/>
            <p:nvPr userDrawn="1"/>
          </p:nvSpPr>
          <p:spPr>
            <a:xfrm>
              <a:off x="709103" y="2667000"/>
              <a:ext cx="9717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Attention/Risk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145483EF-BC35-2B72-DF14-F98491F5A878}"/>
              </a:ext>
            </a:extLst>
          </p:cNvPr>
          <p:cNvGrpSpPr/>
          <p:nvPr userDrawn="1"/>
        </p:nvGrpSpPr>
        <p:grpSpPr>
          <a:xfrm>
            <a:off x="2119913" y="3246863"/>
            <a:ext cx="937550" cy="1160621"/>
            <a:chOff x="2276156" y="1752600"/>
            <a:chExt cx="937550" cy="1160621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DC1CB1A3-CB6A-3F6F-D4C8-D0A375257F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2276156" y="1752600"/>
              <a:ext cx="937550" cy="937550"/>
            </a:xfrm>
            <a:prstGeom prst="rect">
              <a:avLst/>
            </a:prstGeom>
          </p:spPr>
        </p:pic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864AB0F9-D4AB-42DC-85C6-261EF3905EB7}"/>
                </a:ext>
              </a:extLst>
            </p:cNvPr>
            <p:cNvSpPr txBox="1"/>
            <p:nvPr userDrawn="1"/>
          </p:nvSpPr>
          <p:spPr>
            <a:xfrm>
              <a:off x="2368868" y="2667000"/>
              <a:ext cx="75212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List/To-do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1D7BD37-7B62-B0BE-B34B-FE7378F9CBAE}"/>
              </a:ext>
            </a:extLst>
          </p:cNvPr>
          <p:cNvGrpSpPr/>
          <p:nvPr userDrawn="1"/>
        </p:nvGrpSpPr>
        <p:grpSpPr>
          <a:xfrm>
            <a:off x="3376712" y="3246863"/>
            <a:ext cx="1184941" cy="1160621"/>
            <a:chOff x="3204355" y="1752600"/>
            <a:chExt cx="1184941" cy="1160621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016F2B6-B7E8-1132-2642-EA957F1761C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328048" y="1752600"/>
              <a:ext cx="937550" cy="937550"/>
            </a:xfrm>
            <a:prstGeom prst="rect">
              <a:avLst/>
            </a:prstGeom>
          </p:spPr>
        </p:pic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E880E60-8A4E-251D-C573-98A48CAF06AC}"/>
                </a:ext>
              </a:extLst>
            </p:cNvPr>
            <p:cNvSpPr txBox="1"/>
            <p:nvPr userDrawn="1"/>
          </p:nvSpPr>
          <p:spPr>
            <a:xfrm>
              <a:off x="3204355" y="2667000"/>
              <a:ext cx="118494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Report/Document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A6033F2C-0684-B356-46F6-D9BF89D9EBB8}"/>
              </a:ext>
            </a:extLst>
          </p:cNvPr>
          <p:cNvGrpSpPr/>
          <p:nvPr userDrawn="1"/>
        </p:nvGrpSpPr>
        <p:grpSpPr>
          <a:xfrm>
            <a:off x="6247355" y="3246863"/>
            <a:ext cx="937550" cy="1160621"/>
            <a:chOff x="4379940" y="1752600"/>
            <a:chExt cx="937550" cy="1160621"/>
          </a:xfrm>
        </p:grpSpPr>
        <p:pic>
          <p:nvPicPr>
            <p:cNvPr id="55" name="Picture 54">
              <a:extLst>
                <a:ext uri="{FF2B5EF4-FFF2-40B4-BE49-F238E27FC236}">
                  <a16:creationId xmlns:a16="http://schemas.microsoft.com/office/drawing/2014/main" id="{39BAD218-B5C9-34D3-5AF3-0CBB52EE323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379940" y="1752600"/>
              <a:ext cx="937550" cy="93755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E81308E-5F10-C3B2-DBCC-5B1B946E1E11}"/>
                </a:ext>
              </a:extLst>
            </p:cNvPr>
            <p:cNvSpPr txBox="1"/>
            <p:nvPr userDrawn="1"/>
          </p:nvSpPr>
          <p:spPr>
            <a:xfrm>
              <a:off x="4429371" y="2667000"/>
              <a:ext cx="83869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Microscope</a:t>
              </a:r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BCB13DA3-C4EA-FA14-E54A-64A7393C4797}"/>
              </a:ext>
            </a:extLst>
          </p:cNvPr>
          <p:cNvGrpSpPr/>
          <p:nvPr userDrawn="1"/>
        </p:nvGrpSpPr>
        <p:grpSpPr>
          <a:xfrm>
            <a:off x="10412895" y="3246863"/>
            <a:ext cx="937550" cy="1160621"/>
            <a:chOff x="5431831" y="1752600"/>
            <a:chExt cx="937550" cy="1160621"/>
          </a:xfrm>
        </p:grpSpPr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2E0CFCFC-C544-673F-AC06-758A8EEB54E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4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761C5F85-20F7-D144-95A9-0CE5C5D9B15C}"/>
                </a:ext>
              </a:extLst>
            </p:cNvPr>
            <p:cNvSpPr txBox="1"/>
            <p:nvPr userDrawn="1"/>
          </p:nvSpPr>
          <p:spPr>
            <a:xfrm>
              <a:off x="5485270" y="2667000"/>
              <a:ext cx="830676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Experiment</a:t>
              </a:r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B523C45-1411-FFA2-CDD6-030F8673413B}"/>
              </a:ext>
            </a:extLst>
          </p:cNvPr>
          <p:cNvGrpSpPr/>
          <p:nvPr userDrawn="1"/>
        </p:nvGrpSpPr>
        <p:grpSpPr>
          <a:xfrm>
            <a:off x="7661269" y="3246863"/>
            <a:ext cx="937550" cy="1160621"/>
            <a:chOff x="5431831" y="1752600"/>
            <a:chExt cx="937550" cy="1160621"/>
          </a:xfrm>
        </p:grpSpPr>
        <p:pic>
          <p:nvPicPr>
            <p:cNvPr id="61" name="Picture 60">
              <a:extLst>
                <a:ext uri="{FF2B5EF4-FFF2-40B4-BE49-F238E27FC236}">
                  <a16:creationId xmlns:a16="http://schemas.microsoft.com/office/drawing/2014/main" id="{CBAEB1D6-A0DB-C3DE-CEFD-60B96E05666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5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1DB68FE0-405B-2CB1-9B49-0529846D28AF}"/>
                </a:ext>
              </a:extLst>
            </p:cNvPr>
            <p:cNvSpPr txBox="1"/>
            <p:nvPr userDrawn="1"/>
          </p:nvSpPr>
          <p:spPr>
            <a:xfrm>
              <a:off x="5627937" y="2667000"/>
              <a:ext cx="54534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Space</a:t>
              </a:r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9C8573B0-C3E9-BD4A-12C6-2C05FEB654FB}"/>
              </a:ext>
            </a:extLst>
          </p:cNvPr>
          <p:cNvGrpSpPr/>
          <p:nvPr userDrawn="1"/>
        </p:nvGrpSpPr>
        <p:grpSpPr>
          <a:xfrm>
            <a:off x="4800600" y="3246863"/>
            <a:ext cx="1114409" cy="1160621"/>
            <a:chOff x="5343407" y="1752600"/>
            <a:chExt cx="1114409" cy="1160621"/>
          </a:xfrm>
        </p:grpSpPr>
        <p:pic>
          <p:nvPicPr>
            <p:cNvPr id="67" name="Picture 66">
              <a:extLst>
                <a:ext uri="{FF2B5EF4-FFF2-40B4-BE49-F238E27FC236}">
                  <a16:creationId xmlns:a16="http://schemas.microsoft.com/office/drawing/2014/main" id="{E7FB7A2A-2D14-1105-B15D-4F4C04A6FF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4CA22A94-509E-32C8-87A6-C41E8B1B2DEA}"/>
                </a:ext>
              </a:extLst>
            </p:cNvPr>
            <p:cNvSpPr txBox="1"/>
            <p:nvPr userDrawn="1"/>
          </p:nvSpPr>
          <p:spPr>
            <a:xfrm>
              <a:off x="5343407" y="2667000"/>
              <a:ext cx="111440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Report/Analytics</a:t>
              </a:r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46D9EA6-D0B5-18CC-6C05-63F3908918A0}"/>
              </a:ext>
            </a:extLst>
          </p:cNvPr>
          <p:cNvGrpSpPr/>
          <p:nvPr userDrawn="1"/>
        </p:nvGrpSpPr>
        <p:grpSpPr>
          <a:xfrm>
            <a:off x="9037083" y="3246863"/>
            <a:ext cx="937550" cy="1160621"/>
            <a:chOff x="5431831" y="1752600"/>
            <a:chExt cx="937550" cy="1160621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56CADE8A-6EC7-51D0-0CFE-1124AA9C6C5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5431831" y="1752600"/>
              <a:ext cx="937550" cy="937550"/>
            </a:xfrm>
            <a:prstGeom prst="rect">
              <a:avLst/>
            </a:prstGeom>
          </p:spPr>
        </p:pic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702BEAC-3F80-2061-C091-2E2DE37438D1}"/>
                </a:ext>
              </a:extLst>
            </p:cNvPr>
            <p:cNvSpPr txBox="1"/>
            <p:nvPr userDrawn="1"/>
          </p:nvSpPr>
          <p:spPr>
            <a:xfrm>
              <a:off x="5599081" y="2667000"/>
              <a:ext cx="60305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000" dirty="0"/>
                <a:t>Biology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9756687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8259536-D612-272A-D0AD-1D0145988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A510F-03EC-A6BB-D8AE-182AFD52C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77980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E54A3-AB3C-35BD-6098-13B595E84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3EF45-FFD0-8EC1-3E51-7B4572F3A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400" y="1103971"/>
            <a:ext cx="6556748" cy="521106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3246F-34BC-6307-9619-06751D531D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4399" y="2503449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21F7-6214-7E6B-A5E6-69AAAA3033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A02BA3-BB8A-AC85-A750-93E59432E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50471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9C9C3-CF27-8B06-2E66-2BB1FCAD7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8952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38B7967-4936-AE6D-0BBD-BCE482FF42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02352" y="1106424"/>
            <a:ext cx="6518834" cy="523537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91E6CC-1128-78C6-3309-EDCFE3E4C7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4400" y="2505456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FB39B1-5B40-FE1F-3045-DD90E2A822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77EE0B-14D8-097A-37A8-4FBF55301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73746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B7E2-6845-38D7-8C84-05645DB92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FDE4B-421A-55A0-7AEA-42BC2BDCD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340CA-3171-FB84-4A04-1522D74B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91174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5B7E2-6845-38D7-8C84-05645DB92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55930"/>
            <a:ext cx="103251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7FDE4B-421A-55A0-7AEA-42BC2BDCD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Biological &amp; Physical Sciences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340CA-3171-FB84-4A04-1522D74B5D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18032-BA8D-3D4D-8253-A70208A859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0717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theme" Target="../theme/theme1.xml"/><Relationship Id="rId33" Type="http://schemas.openxmlformats.org/officeDocument/2006/relationships/image" Target="../media/image1.jpeg"/><Relationship Id="rId3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>
          <a:gsLst>
            <a:gs pos="0">
              <a:srgbClr val="D4BF88">
                <a:alpha val="75162"/>
              </a:srgbClr>
            </a:gs>
            <a:gs pos="39000">
              <a:schemeClr val="bg1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F53D41-B3D9-0856-DEBB-57C725BD4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3450" y="755930"/>
            <a:ext cx="103251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7F6990-E15B-701E-55A2-00590A07CB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3450" y="2216430"/>
            <a:ext cx="103251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C0E2C12-EE6A-20CB-09F3-55836BC339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47324"/>
            <a:ext cx="12192000" cy="529216"/>
          </a:xfrm>
          <a:prstGeom prst="rect">
            <a:avLst/>
          </a:prstGeom>
        </p:spPr>
      </p:pic>
      <p:pic>
        <p:nvPicPr>
          <p:cNvPr id="8" name="Picture 7" descr="A black background with grey letters&#10;&#10;Description automatically generated">
            <a:extLst>
              <a:ext uri="{FF2B5EF4-FFF2-40B4-BE49-F238E27FC236}">
                <a16:creationId xmlns:a16="http://schemas.microsoft.com/office/drawing/2014/main" id="{119BBE9E-4D69-14CD-9511-13BB4AA55D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4" cstate="screen">
            <a:alphaModFix amt="23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50077"/>
            <a:ext cx="1201897" cy="53196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322777-339B-9F56-577C-65AD89F9C7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62148" y="99559"/>
            <a:ext cx="1059704" cy="261258"/>
          </a:xfrm>
          <a:prstGeom prst="roundRect">
            <a:avLst>
              <a:gd name="adj" fmla="val 50000"/>
            </a:avLst>
          </a:prstGeom>
          <a:solidFill>
            <a:srgbClr val="002060"/>
          </a:solidFill>
        </p:spPr>
        <p:txBody>
          <a:bodyPr vert="horz" lIns="91440" tIns="45720" rIns="91440" bIns="45720" rtlCol="0" anchor="ctr"/>
          <a:lstStyle>
            <a:lvl1pPr algn="l">
              <a:defRPr sz="1100" b="1">
                <a:solidFill>
                  <a:schemeClr val="bg1"/>
                </a:solidFill>
              </a:defRPr>
            </a:lvl1pPr>
          </a:lstStyle>
          <a:p>
            <a:fld id="{E8618032-BA8D-3D4D-8253-A70208A8597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538D45-6410-BA73-9765-65C75CDC47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43963" y="121602"/>
            <a:ext cx="4114800" cy="21717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bg1">
                    <a:alpha val="75167"/>
                  </a:schemeClr>
                </a:solidFill>
              </a:defRPr>
            </a:lvl1pPr>
          </a:lstStyle>
          <a:p>
            <a:r>
              <a:rPr lang="en-US" dirty="0"/>
              <a:t>Biological &amp; Physical Sciences</a:t>
            </a:r>
          </a:p>
        </p:txBody>
      </p:sp>
    </p:spTree>
    <p:extLst>
      <p:ext uri="{BB962C8B-B14F-4D97-AF65-F5344CB8AC3E}">
        <p14:creationId xmlns:p14="http://schemas.microsoft.com/office/powerpoint/2010/main" val="8891737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0" r:id="rId2"/>
    <p:sldLayoutId id="2147483661" r:id="rId3"/>
    <p:sldLayoutId id="2147483682" r:id="rId4"/>
    <p:sldLayoutId id="2147483691" r:id="rId5"/>
    <p:sldLayoutId id="2147483662" r:id="rId6"/>
    <p:sldLayoutId id="2147483692" r:id="rId7"/>
    <p:sldLayoutId id="2147483663" r:id="rId8"/>
    <p:sldLayoutId id="2147483674" r:id="rId9"/>
    <p:sldLayoutId id="2147483675" r:id="rId10"/>
    <p:sldLayoutId id="2147483676" r:id="rId11"/>
    <p:sldLayoutId id="2147483681" r:id="rId12"/>
    <p:sldLayoutId id="2147483677" r:id="rId13"/>
    <p:sldLayoutId id="2147483678" r:id="rId14"/>
    <p:sldLayoutId id="2147483683" r:id="rId15"/>
    <p:sldLayoutId id="2147483672" r:id="rId16"/>
    <p:sldLayoutId id="2147483679" r:id="rId17"/>
    <p:sldLayoutId id="2147483673" r:id="rId18"/>
    <p:sldLayoutId id="2147483690" r:id="rId19"/>
    <p:sldLayoutId id="2147483689" r:id="rId20"/>
    <p:sldLayoutId id="2147483664" r:id="rId21"/>
    <p:sldLayoutId id="2147483665" r:id="rId22"/>
    <p:sldLayoutId id="2147483684" r:id="rId23"/>
    <p:sldLayoutId id="2147483685" r:id="rId24"/>
    <p:sldLayoutId id="2147483686" r:id="rId25"/>
    <p:sldLayoutId id="2147483687" r:id="rId26"/>
    <p:sldLayoutId id="2147483666" r:id="rId27"/>
    <p:sldLayoutId id="2147483667" r:id="rId28"/>
    <p:sldLayoutId id="2147483668" r:id="rId29"/>
    <p:sldLayoutId id="2147483669" r:id="rId30"/>
    <p:sldLayoutId id="2147483658" r:id="rId3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5D3E717-6970-91B9-68BB-B9CE473EC2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101" y="3895025"/>
            <a:ext cx="4774425" cy="1429109"/>
          </a:xfrm>
        </p:spPr>
        <p:txBody>
          <a:bodyPr vert="horz" wrap="square" lIns="91440" tIns="45720" rIns="91440" bIns="45720" rtlCol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700" b="0">
                <a:solidFill>
                  <a:srgbClr val="D8E1EB"/>
                </a:solidFill>
                <a:latin typeface="Arial"/>
              </a:rPr>
              <a:t>Can generated RNA-seq improve tissue-specific FLT vs GC analysis?</a:t>
            </a:r>
          </a:p>
          <a:p>
            <a:pPr>
              <a:spcAft>
                <a:spcPts val="200"/>
              </a:spcAft>
            </a:pPr>
            <a:r>
              <a:rPr sz="500" b="0">
                <a:solidFill>
                  <a:srgbClr val="FFFFFF"/>
                </a:solidFill>
                <a:latin typeface="Arial"/>
              </a:rPr>
              <a:t/>
            </a:r>
          </a:p>
          <a:p>
            <a:pPr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Jason Trinh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B9C7D5"/>
                </a:solidFill>
                <a:latin typeface="Arial"/>
              </a:rPr>
              <a:t>EECS | UC Berkeley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B9C7D5"/>
                </a:solidFill>
                <a:latin typeface="Arial"/>
              </a:rPr>
              <a:t>Mentor: James Casaletto | August 2026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AAB492-0D30-3AB0-9C9C-3B7725AA34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Synthetic transcriptomics
for mouse spaceflight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93776" y="987552"/>
            <a:ext cx="347472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D5A64A"/>
                </a:solidFill>
                <a:latin typeface="Arial"/>
              </a:rPr>
              <a:t>SLSTP FINAL PRESENTATION</a:t>
            </a:r>
          </a:p>
        </p:txBody>
      </p:sp>
    </p:spTree>
    <p:extLst>
      <p:ext uri="{BB962C8B-B14F-4D97-AF65-F5344CB8AC3E}">
        <p14:creationId xmlns:p14="http://schemas.microsoft.com/office/powerpoint/2010/main" val="406897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15CCDA23-9C9B-2E3C-0808-97FA24C09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18" name="Content Placeholder 17">
            <a:extLst>
              <a:ext uri="{FF2B5EF4-FFF2-40B4-BE49-F238E27FC236}">
                <a16:creationId xmlns:a16="http://schemas.microsoft.com/office/drawing/2014/main" id="{EDF69EC4-28BB-B6B3-FB3D-0B6A7B68EA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6AED0D-F1B8-689C-34E4-C8599A320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Biological &amp; Physical Sciences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E25FE-C8CB-2ADC-D1BB-2BE7BB0DB77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131550" y="100013"/>
            <a:ext cx="1060450" cy="261937"/>
          </a:xfrm>
        </p:spPr>
        <p:txBody>
          <a:bodyPr/>
          <a:lstStyle/>
          <a:p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Small studies and study effects complicate tissue comparisons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Can a generator help rank spaceflight signal without pretending it creates new animals?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" y="1847088"/>
            <a:ext cx="5532120" cy="2148840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9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20040" y="1847088"/>
            <a:ext cx="5532120" cy="36576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2112264"/>
            <a:ext cx="20116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D6496"/>
                </a:solidFill>
                <a:latin typeface="Arial"/>
              </a:rPr>
              <a:t>NASA OSDR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2450592"/>
            <a:ext cx="205740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082B55"/>
                </a:solidFill>
                <a:latin typeface="Arial"/>
              </a:rPr>
              <a:t>1,610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35808"/>
            <a:ext cx="21031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biological profiles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16352" y="2468880"/>
            <a:ext cx="11887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082B55"/>
                </a:solidFill>
                <a:latin typeface="Arial"/>
              </a:rPr>
              <a:t>75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980944"/>
            <a:ext cx="13716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accessions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496312"/>
            <a:ext cx="12344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D96552"/>
                </a:solidFill>
                <a:latin typeface="Arial"/>
              </a:rPr>
              <a:t>835 FLT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4528" y="2944368"/>
            <a:ext cx="123444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D6496"/>
                </a:solidFill>
                <a:latin typeface="Arial"/>
              </a:rPr>
              <a:t>775 GC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44768" y="1847088"/>
            <a:ext cx="5715000" cy="2148840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C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1847088"/>
            <a:ext cx="5715000" cy="3657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2112264"/>
            <a:ext cx="22860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78681"/>
                </a:solidFill>
                <a:latin typeface="Arial"/>
              </a:rPr>
              <a:t>ARCHS4 mouse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2450592"/>
            <a:ext cx="224028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082B55"/>
                </a:solidFill>
                <a:latin typeface="Arial"/>
              </a:rPr>
              <a:t>997,515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28232" y="3035808"/>
            <a:ext cx="20116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profiles audited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2468880"/>
            <a:ext cx="17830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082B55"/>
                </a:solidFill>
                <a:latin typeface="Arial"/>
              </a:rPr>
              <a:t>17,244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14232" y="2980944"/>
            <a:ext cx="11430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9697A"/>
                </a:solidFill>
                <a:latin typeface="Arial"/>
              </a:rPr>
              <a:t>selected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2514600"/>
            <a:ext cx="13258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8681"/>
                </a:solidFill>
                <a:latin typeface="Arial"/>
              </a:rPr>
              <a:t>20 tissues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4270248"/>
            <a:ext cx="11539728" cy="16002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5800" y="462686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0392" y="451713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Mission, strain, material and assay differences can resemble a flight effect.</a:t>
            </a:r>
          </a:p>
        </p:txBody>
      </p:sp>
      <p:sp>
        <p:nvSpPr>
          <p:cNvPr id="42" name="Oval 41"/>
          <p:cNvSpPr/>
          <p:nvPr/>
        </p:nvSpPr>
        <p:spPr>
          <a:xfrm>
            <a:off x="685800" y="503834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" y="492861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The generator must preserve tissue and FLT/GC structure without memorizing samples.</a:t>
            </a:r>
          </a:p>
        </p:txBody>
      </p:sp>
      <p:sp>
        <p:nvSpPr>
          <p:cNvPr id="44" name="Oval 43"/>
          <p:cNvSpPr/>
          <p:nvPr/>
        </p:nvSpPr>
        <p:spPr>
          <a:xfrm>
            <a:off x="685800" y="5449824"/>
            <a:ext cx="91440" cy="91440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0392" y="5340096"/>
            <a:ext cx="10625328" cy="41148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Statistical evidence must still come from observed OSDR profiles.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Sources: NASA OSDR Biological Data API; ARCHS4 mouse v2.5.</a:t>
            </a:r>
          </a:p>
        </p:txBody>
      </p:sp>
    </p:spTree>
    <p:extLst>
      <p:ext uri="{BB962C8B-B14F-4D97-AF65-F5344CB8AC3E}">
        <p14:creationId xmlns:p14="http://schemas.microsoft.com/office/powerpoint/2010/main" val="2938554529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We compared three model families and used conditional diffusion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model architecture followed each paper; preprocessing, harmonization and conditioning remained configurable.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011680"/>
            <a:ext cx="2423160" cy="2057400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2011680"/>
            <a:ext cx="2423160" cy="36576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Expression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TPM
974 mouse landmarks
train-fitted MaxAbs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54096" y="2011680"/>
            <a:ext cx="2423160" cy="2057400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54096" y="2011680"/>
            <a:ext cx="2423160" cy="36576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5264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D37B00"/>
                </a:solidFill>
                <a:latin typeface="Arial"/>
              </a:rPr>
              <a:t>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WGAN-GP
DDIM
GeneJEPA screen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42432" y="2011680"/>
            <a:ext cx="2423160" cy="2057400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42432" y="2011680"/>
            <a:ext cx="2423160" cy="3657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2267712"/>
            <a:ext cx="202082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8681"/>
                </a:solidFill>
                <a:latin typeface="Arial"/>
              </a:rPr>
              <a:t>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734056"/>
            <a:ext cx="202082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ARCHS4 pretrain
OSDR adaptation
pooled tissue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0768" y="2011680"/>
            <a:ext cx="3383280" cy="2057400"/>
          </a:xfrm>
          <a:prstGeom prst="roundRect">
            <a:avLst/>
          </a:prstGeom>
          <a:solidFill>
            <a:srgbClr val="ECF4ED"/>
          </a:solidFill>
          <a:ln w="10160">
            <a:solidFill>
              <a:srgbClr val="478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30768" y="2011680"/>
            <a:ext cx="3383280" cy="36576"/>
          </a:xfrm>
          <a:prstGeom prst="rect">
            <a:avLst/>
          </a:prstGeom>
          <a:solidFill>
            <a:srgbClr val="478A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31936" y="2267712"/>
            <a:ext cx="2980944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478A64"/>
                </a:solidFill>
                <a:latin typeface="Arial"/>
              </a:rPr>
              <a:t>Conditions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1936" y="2734056"/>
            <a:ext cx="2980944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263746"/>
                </a:solidFill>
                <a:latin typeface="Arial"/>
              </a:rPr>
              <a:t>tissue + FLT/GC
accession + material
matched profile generation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2807208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5495544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183879" y="2788920"/>
            <a:ext cx="201168" cy="292608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5760" y="4370832"/>
            <a:ext cx="11448288" cy="1325880"/>
          </a:xfrm>
          <a:prstGeom prst="roundRect">
            <a:avLst/>
          </a:prstGeom>
          <a:solidFill>
            <a:srgbClr val="F7F9FA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608576"/>
            <a:ext cx="15544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9A6B20"/>
                </a:solidFill>
                <a:latin typeface="Arial"/>
              </a:rPr>
              <a:t>Selected branch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4562856"/>
            <a:ext cx="909828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>
              <a:spcAft>
                <a:spcPts val="0"/>
              </a:spcAft>
            </a:pPr>
            <a:r>
              <a:rPr sz="1550" b="1" i="0">
                <a:solidFill>
                  <a:srgbClr val="082B55"/>
                </a:solidFill>
                <a:latin typeface="Arial"/>
              </a:rPr>
              <a:t>No global batch correction. </a:t>
            </a:r>
            <a:r>
              <a:rPr sz="1550" b="0" i="0">
                <a:solidFill>
                  <a:srgbClr val="263746"/>
                </a:solidFill>
                <a:latin typeface="Arial"/>
              </a:rPr>
              <a:t>Accession was supplied as a model condition so study structure was represented instead of erased.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102352"/>
            <a:ext cx="909828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Nine liver harmonization arms and a 463-row experiment plan were screened before full training.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Model sources: Vinas et al., Bioinformatics (2022); Lacan et al., BMC Bioinformatics (2026); GeneJEPA (2025).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DIFFUSION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Diffusion learns tissue structure from noise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same PCA axes follow 1,024 generated profiles through reverse diffusion.</a:t>
            </a:r>
          </a:p>
        </p:txBody>
      </p:sp>
      <p:pic>
        <p:nvPicPr>
          <p:cNvPr id="7" name="DDIM reverse trajectory at timesteps 1000, 200 and 0" descr="DDIM reverse trajectory at timesteps 1000, 200 and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735579"/>
            <a:ext cx="11558016" cy="4100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3232" y="5943600"/>
            <a:ext cx="22860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697A"/>
                </a:solidFill>
                <a:latin typeface="Arial"/>
              </a:rPr>
              <a:t>t = 1000: noise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82312" y="5943600"/>
            <a:ext cx="26517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59697A"/>
                </a:solidFill>
                <a:latin typeface="Arial"/>
              </a:rPr>
              <a:t>t = 200: partial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5943600"/>
            <a:ext cx="31089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78681"/>
                </a:solidFill>
                <a:latin typeface="Arial"/>
              </a:rPr>
              <a:t>t = 0: tissue-conditioned profiles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Gray points are real ARCHS4 profiles; colors identify generated tissue conditions. PC1 and PC2 limits are shared across panels.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DDIM matched expression and was harder to distinguish from real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AA closer to 0.5 means a classifier has less success separating real and generated profiles; lower FD is better.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47088"/>
            <a:ext cx="3703320" cy="340156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C9DC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31546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ARCHS4 tissue probe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487168"/>
            <a:ext cx="30632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 on held-out real profiles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0976" y="3436845"/>
            <a:ext cx="786384" cy="1299746"/>
          </a:xfrm>
          <a:prstGeom prst="rect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107661"/>
            <a:ext cx="868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0.781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" y="4809744"/>
            <a:ext cx="1325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263746"/>
                </a:solidFill>
                <a:latin typeface="Arial"/>
              </a:rPr>
              <a:t>Real-trained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23744" y="3436845"/>
            <a:ext cx="786384" cy="1299746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6312" y="3107661"/>
            <a:ext cx="8686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0.781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9424" y="4809744"/>
            <a:ext cx="13258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263746"/>
                </a:solidFill>
                <a:latin typeface="Arial"/>
              </a:rPr>
              <a:t>Synthetic-trained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736592"/>
            <a:ext cx="2880360" cy="13716"/>
          </a:xfrm>
          <a:prstGeom prst="rect">
            <a:avLst/>
          </a:prstGeom>
          <a:solidFill>
            <a:srgbClr val="A9B5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15968" y="1847088"/>
            <a:ext cx="7525512" cy="34015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99432" y="2075688"/>
            <a:ext cx="1417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59697A"/>
                </a:solidFill>
                <a:latin typeface="Arial"/>
              </a:rPr>
              <a:t>Metric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075688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D96552"/>
                </a:solidFill>
                <a:latin typeface="Arial"/>
              </a:rPr>
              <a:t>WGAN-GP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075688"/>
            <a:ext cx="1234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78681"/>
                </a:solidFill>
                <a:latin typeface="Arial"/>
              </a:rPr>
              <a:t>DDIM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2368" y="2075688"/>
            <a:ext cx="16276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59697A"/>
                </a:solidFill>
                <a:latin typeface="Arial"/>
              </a:rPr>
              <a:t>Reading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17136" y="2478024"/>
            <a:ext cx="7059168" cy="484632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9432" y="2542032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Correlation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54203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0.976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38744" y="254203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0.974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0656" y="2542032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similar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99432" y="3118103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19672" y="3118103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0.985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38744" y="3118103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0.997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0656" y="3118103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higher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7136" y="3630168"/>
            <a:ext cx="7059168" cy="484632"/>
          </a:xfrm>
          <a:prstGeom prst="rect">
            <a:avLst/>
          </a:prstGeom>
          <a:solidFill>
            <a:srgbClr val="F5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9432" y="3694176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Adversarial accuracy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9672" y="3694176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0.636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38744" y="3694176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0.475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694176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closer to 0.5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99432" y="4270248"/>
            <a:ext cx="17830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FD / real P95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19672" y="4270248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D96552"/>
                </a:solidFill>
                <a:latin typeface="Arial"/>
              </a:rPr>
              <a:t>0.144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38744" y="4270248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0.074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0656" y="4270248"/>
            <a:ext cx="14813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lower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7472" y="5522976"/>
            <a:ext cx="11494008" cy="667512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" y="5660136"/>
            <a:ext cx="23317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Use DDIM downstream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52928" y="5669280"/>
            <a:ext cx="8394192" cy="29260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DCE7F2"/>
                </a:solidFill>
                <a:latin typeface="Arial"/>
              </a:rPr>
              <a:t>Lower separability and distributional distance, with comparable correlation and higher F1.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WGAN values use validation data and DDIM values use the stated OSDR test; they are not paired on one common split.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profiles entered the analysis in five different 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Every arm was judged on held-out real profiles before synthetic attribution was allowed.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74519"/>
            <a:ext cx="2212848" cy="117043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2103120"/>
            <a:ext cx="1719072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Real OSDR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505456"/>
            <a:ext cx="17190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observed FLT / GC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3319272"/>
            <a:ext cx="2212848" cy="1170432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D96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" y="3547872"/>
            <a:ext cx="1874519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D96552"/>
                </a:solidFill>
                <a:latin typeface="Arial"/>
              </a:rPr>
              <a:t>DDIM generated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3941063"/>
            <a:ext cx="171907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matched conditions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679192" y="2852928"/>
            <a:ext cx="475488" cy="347472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0128" y="1920240"/>
            <a:ext cx="1508760" cy="1170432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01568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2D6496"/>
                </a:solidFill>
                <a:latin typeface="Arial"/>
              </a:rPr>
              <a:t>Real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real
fit: real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01768" y="1920240"/>
            <a:ext cx="1508760" cy="1170432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D965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93207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D96552"/>
                </a:solidFill>
                <a:latin typeface="Arial"/>
              </a:rPr>
              <a:t>Generated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generated
fit: generated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93408" y="1920240"/>
            <a:ext cx="1508760" cy="1170432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84848" y="2084832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178681"/>
                </a:solidFill>
                <a:latin typeface="Arial"/>
              </a:rPr>
              <a:t>Real + generated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2523744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equal weight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60520" y="3410712"/>
            <a:ext cx="1508760" cy="1170432"/>
          </a:xfrm>
          <a:prstGeom prst="roundRect">
            <a:avLst/>
          </a:prstGeom>
          <a:solidFill>
            <a:srgbClr val="F0ECF6"/>
          </a:solidFill>
          <a:ln w="10160">
            <a:solidFill>
              <a:srgbClr val="80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51959" y="3575304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8063A6"/>
                </a:solidFill>
                <a:latin typeface="Arial"/>
              </a:rPr>
              <a:t>Guided, real fit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9392" y="4014215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real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410712"/>
            <a:ext cx="1508760" cy="1170432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3575304"/>
            <a:ext cx="132588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D37B00"/>
                </a:solidFill>
                <a:latin typeface="Arial"/>
              </a:rPr>
              <a:t>Guided, 5% synth.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71032" y="4014215"/>
            <a:ext cx="12710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263746"/>
                </a:solidFill>
                <a:latin typeface="Arial"/>
              </a:rPr>
              <a:t>rank: consensus
fit: real + 5%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8522208" y="2852928"/>
            <a:ext cx="475488" cy="347472"/>
          </a:xfrm>
          <a:prstGeom prst="rightArrow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0" y="2176272"/>
            <a:ext cx="2633472" cy="2057400"/>
          </a:xfrm>
          <a:prstGeom prst="roundRect">
            <a:avLst/>
          </a:prstGeom>
          <a:solidFill>
            <a:srgbClr val="ECF4ED"/>
          </a:solidFill>
          <a:ln w="10160">
            <a:solidFill>
              <a:srgbClr val="478A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2459736"/>
            <a:ext cx="2212848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478A64"/>
                </a:solidFill>
                <a:latin typeface="Arial"/>
              </a:rPr>
              <a:t>Held-out real profiles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0032" y="3063240"/>
            <a:ext cx="21031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82B55"/>
                </a:solidFill>
                <a:latin typeface="Arial"/>
              </a:rPr>
              <a:t>BA | AUROC | 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00032" y="3502152"/>
            <a:ext cx="210312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select one eligible arm
for each tissue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" y="4919472"/>
            <a:ext cx="11430000" cy="1051560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166360"/>
            <a:ext cx="16002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Biology check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04288" y="5175504"/>
            <a:ext cx="67665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DCE7F2"/>
                </a:solidFill>
                <a:latin typeface="Arial"/>
              </a:rPr>
              <a:t>FLT vs GC effects, random-effects meta-analysis and BH FDR use real OSDR profiles only.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89720" y="5065776"/>
            <a:ext cx="2249424" cy="512064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D69A"/>
                </a:solidFill>
                <a:latin typeface="Arial"/>
              </a:rPr>
              <a:t>Synthetic profiles never increase animal 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Pooling tissues hid useful signal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A single FLT/GC classifier did not improve, but tissue-specific synthetic use often did.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" y="1847088"/>
            <a:ext cx="3200400" cy="422452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E8D6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2103120"/>
            <a:ext cx="265176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9A6B20"/>
                </a:solidFill>
                <a:latin typeface="Arial"/>
              </a:rPr>
              <a:t>Pooled across tissues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5126766"/>
            <a:ext cx="566928" cy="359633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06726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0.754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Real 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91056" y="5312892"/>
            <a:ext cx="566928" cy="173507"/>
          </a:xfrm>
          <a:prstGeom prst="rect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17904" y="4992852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0.695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Generated only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68880" y="5180396"/>
            <a:ext cx="566928" cy="306003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4860356"/>
            <a:ext cx="713232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082B55"/>
                </a:solidFill>
                <a:latin typeface="Arial"/>
              </a:rPr>
              <a:t>0.737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5559552"/>
            <a:ext cx="960120" cy="5029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263746"/>
                </a:solidFill>
                <a:latin typeface="Arial"/>
              </a:rPr>
              <a:t>Real + synth.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" y="5486400"/>
            <a:ext cx="2697480" cy="13716"/>
          </a:xfrm>
          <a:prstGeom prst="rect">
            <a:avLst/>
          </a:prstGeom>
          <a:solidFill>
            <a:srgbClr val="A9B5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542032"/>
            <a:ext cx="254203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767328" y="1847088"/>
            <a:ext cx="8083296" cy="42245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41648" y="2093976"/>
            <a:ext cx="38404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178681"/>
                </a:solidFill>
                <a:latin typeface="Arial"/>
              </a:rPr>
              <a:t>Selected use within each tissue</a:t>
            </a:r>
          </a:p>
        </p:txBody>
      </p:sp>
      <p:pic>
        <p:nvPicPr>
          <p:cNvPr id="22" name="Balanced accuracy before and after tissue-specific synthetic use" descr="Balanced accuracy before and after tissue-specific synthetic u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130" y="2423160"/>
            <a:ext cx="6021963" cy="338328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059936" y="5715000"/>
            <a:ext cx="411480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1">
                <a:solidFill>
                  <a:srgbClr val="59697A"/>
                </a:solidFill>
                <a:latin typeface="Arial"/>
              </a:rPr>
              <a:t>The useful arm differed by tissue.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Development results with held-out profiles from represented accessions; they do not measure transfer to a new mission.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FEATURE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guidance changed ranking, not statistical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Promoted and reinforced describe repeated feature selection; both require a supporting effect in real OSDR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47088"/>
            <a:ext cx="3657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59697A"/>
                </a:solidFill>
                <a:latin typeface="Arial"/>
              </a:rPr>
              <a:t>Repeated stable selection</a:t>
            </a:r>
          </a:p>
        </p:txBody>
      </p:sp>
      <p:sp>
        <p:nvSpPr>
          <p:cNvPr id="8" name="Oval 7"/>
          <p:cNvSpPr/>
          <p:nvPr/>
        </p:nvSpPr>
        <p:spPr>
          <a:xfrm>
            <a:off x="566928" y="2304288"/>
            <a:ext cx="2743200" cy="2148840"/>
          </a:xfrm>
          <a:prstGeom prst="ellipse">
            <a:avLst/>
          </a:prstGeom>
          <a:noFill/>
          <a:ln w="3048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267712" y="2304288"/>
            <a:ext cx="2743200" cy="2148840"/>
          </a:xfrm>
          <a:prstGeom prst="ellipse">
            <a:avLst/>
          </a:prstGeom>
          <a:noFill/>
          <a:ln w="3048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770632"/>
            <a:ext cx="1234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2D6496"/>
                </a:solidFill>
                <a:latin typeface="Arial"/>
              </a:rPr>
              <a:t>Real-only
ranking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770632"/>
            <a:ext cx="1234440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Synthetic-informed
ranking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93392" y="2880360"/>
            <a:ext cx="1572768" cy="84124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6272" y="2999232"/>
            <a:ext cx="1207008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D37B00"/>
                </a:solidFill>
                <a:latin typeface="Arial"/>
              </a:rPr>
              <a:t>23
reinforced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4005072"/>
            <a:ext cx="1335024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178681"/>
                </a:solidFill>
                <a:latin typeface="Arial"/>
              </a:rPr>
              <a:t>26 promoted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0128" y="4334256"/>
            <a:ext cx="1517904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i="0">
                <a:solidFill>
                  <a:srgbClr val="59697A"/>
                </a:solidFill>
                <a:latin typeface="Arial"/>
              </a:rPr>
              <a:t>selected only with
synthetic guidance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285232" y="3017520"/>
            <a:ext cx="594360" cy="438912"/>
          </a:xfrm>
          <a:prstGeom prst="rightArrow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08192" y="2039112"/>
            <a:ext cx="5468112" cy="335584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304288"/>
            <a:ext cx="48463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2D6496"/>
                </a:solidFill>
                <a:latin typeface="Arial"/>
              </a:rPr>
              <a:t>Real OSDR association test</a:t>
            </a:r>
          </a:p>
        </p:txBody>
      </p:sp>
      <p:sp>
        <p:nvSpPr>
          <p:cNvPr id="19" name="Oval 18"/>
          <p:cNvSpPr/>
          <p:nvPr/>
        </p:nvSpPr>
        <p:spPr>
          <a:xfrm>
            <a:off x="6601968" y="3017520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59" y="2907792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Estimate FLT vs GC inside each accession</a:t>
            </a:r>
          </a:p>
        </p:txBody>
      </p:sp>
      <p:sp>
        <p:nvSpPr>
          <p:cNvPr id="21" name="Oval 20"/>
          <p:cNvSpPr/>
          <p:nvPr/>
        </p:nvSpPr>
        <p:spPr>
          <a:xfrm>
            <a:off x="6601968" y="3547872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59" y="3438144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Combine accession effects with a random-effects model</a:t>
            </a:r>
          </a:p>
        </p:txBody>
      </p:sp>
      <p:sp>
        <p:nvSpPr>
          <p:cNvPr id="23" name="Oval 22"/>
          <p:cNvSpPr/>
          <p:nvPr/>
        </p:nvSpPr>
        <p:spPr>
          <a:xfrm>
            <a:off x="6601968" y="4078224"/>
            <a:ext cx="91440" cy="91440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59" y="3968496"/>
            <a:ext cx="436168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Apply BH FDR within each tissue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47104" y="4681728"/>
            <a:ext cx="4572000" cy="475488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11696" y="4764024"/>
            <a:ext cx="425196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49 synthetic-informed associations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650992"/>
            <a:ext cx="11109960" cy="530352"/>
          </a:xfrm>
          <a:prstGeom prst="roundRect">
            <a:avLst/>
          </a:prstGeom>
          <a:solidFill>
            <a:srgbClr val="F7F9FA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769864"/>
            <a:ext cx="107442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 i="0">
                <a:solidFill>
                  <a:srgbClr val="59697A"/>
                </a:solidFill>
                <a:latin typeface="Arial"/>
              </a:rPr>
              <a:t>These are 49 tissue-gene associations among 459 BH-FDR rows. A gene can appear in more than one tissue.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THYMUS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Thymus points to lower proliferative renewal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Synthetic guidance organized real-data associations into a coherent mitotic and DNA-replication panel.</a:t>
            </a:r>
          </a:p>
        </p:txBody>
      </p:sp>
      <p:pic>
        <p:nvPicPr>
          <p:cNvPr id="7" name="Thymus gene effects and Reactome processes" descr="Thymus gene effects and Reactome process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895403"/>
            <a:ext cx="7818120" cy="410960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321040" y="1847088"/>
            <a:ext cx="3493008" cy="4178808"/>
          </a:xfrm>
          <a:prstGeom prst="roundRect">
            <a:avLst/>
          </a:prstGeom>
          <a:solidFill>
            <a:srgbClr val="F8ECE9"/>
          </a:solidFill>
          <a:ln w="10160">
            <a:solidFill>
              <a:srgbClr val="E8C9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22792" y="2139696"/>
            <a:ext cx="10058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500" b="1" i="0">
                <a:solidFill>
                  <a:srgbClr val="D96552"/>
                </a:solidFill>
                <a:latin typeface="Arial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91472" y="2176272"/>
            <a:ext cx="1938528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63746"/>
                </a:solidFill>
                <a:latin typeface="Arial"/>
              </a:rPr>
              <a:t>synthetic-informed
BH-FDR associations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1936" y="2862072"/>
            <a:ext cx="2788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78681"/>
                </a:solidFill>
                <a:latin typeface="Arial"/>
              </a:rPr>
              <a:t>13 promoted | 3 reinforced</a:t>
            </a:r>
          </a:p>
        </p:txBody>
      </p:sp>
      <p:sp>
        <p:nvSpPr>
          <p:cNvPr id="12" name="Oval 11"/>
          <p:cNvSpPr/>
          <p:nvPr/>
        </p:nvSpPr>
        <p:spPr>
          <a:xfrm>
            <a:off x="8631936" y="3419856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96528" y="3310128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Lower Nusap1, Stmn1, Birc5, Cdk1, Top2a and related genes</a:t>
            </a:r>
          </a:p>
        </p:txBody>
      </p:sp>
      <p:sp>
        <p:nvSpPr>
          <p:cNvPr id="14" name="Oval 13"/>
          <p:cNvSpPr/>
          <p:nvPr/>
        </p:nvSpPr>
        <p:spPr>
          <a:xfrm>
            <a:off x="8631936" y="4123944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96528" y="4014216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Cell cycle, DNA replication, APC/C and G2/M processes</a:t>
            </a:r>
          </a:p>
        </p:txBody>
      </p:sp>
      <p:sp>
        <p:nvSpPr>
          <p:cNvPr id="16" name="Oval 15"/>
          <p:cNvSpPr/>
          <p:nvPr/>
        </p:nvSpPr>
        <p:spPr>
          <a:xfrm>
            <a:off x="8631936" y="4828032"/>
            <a:ext cx="91440" cy="91440"/>
          </a:xfrm>
          <a:prstGeom prst="ellipse">
            <a:avLst/>
          </a:prstGeom>
          <a:solidFill>
            <a:srgbClr val="D965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6528" y="4718304"/>
            <a:ext cx="2606039" cy="704088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20" b="0" i="0">
                <a:solidFill>
                  <a:srgbClr val="263746"/>
                </a:solidFill>
                <a:latin typeface="Arial"/>
              </a:rPr>
              <a:t>Bulk RNA-seq cannot separate cell loss from lower transcription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Prior thymus studies report involution and altered cell-cycle expression after spaceflight (Gridley et al. 2013; Horie et al. 2019).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SOLEUS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Soleus reinforces a mitochondrial and lipid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This result strengthens an existing real-data pattern rather than promoting a new soleus gene.</a:t>
            </a:r>
          </a:p>
        </p:txBody>
      </p:sp>
      <p:pic>
        <p:nvPicPr>
          <p:cNvPr id="7" name="Soleus gene effects and Reactome processes" descr="Soleus gene effects and Reactome process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1984025"/>
            <a:ext cx="8366760" cy="391407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805672" y="1865376"/>
            <a:ext cx="2971800" cy="4133087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C7DD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43416" y="2139696"/>
            <a:ext cx="2487168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 i="0">
                <a:solidFill>
                  <a:srgbClr val="178681"/>
                </a:solidFill>
                <a:latin typeface="Arial"/>
              </a:rPr>
              <a:t>0.925 -&gt; 0.963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5712" y="2542032"/>
            <a:ext cx="23317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0">
                <a:solidFill>
                  <a:srgbClr val="59697A"/>
                </a:solidFill>
                <a:latin typeface="Arial"/>
              </a:rPr>
              <a:t>balanced 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2990088"/>
            <a:ext cx="253288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82B55"/>
                </a:solidFill>
                <a:latin typeface="Arial"/>
              </a:rPr>
              <a:t>5 reinforced | 0 promoted</a:t>
            </a:r>
          </a:p>
        </p:txBody>
      </p:sp>
      <p:sp>
        <p:nvSpPr>
          <p:cNvPr id="12" name="Oval 11"/>
          <p:cNvSpPr/>
          <p:nvPr/>
        </p:nvSpPr>
        <p:spPr>
          <a:xfrm>
            <a:off x="9089136" y="3566160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53728" y="3456432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Lower Bdh1, Ech1, Bnip3 and Decr1</a:t>
            </a:r>
          </a:p>
        </p:txBody>
      </p:sp>
      <p:sp>
        <p:nvSpPr>
          <p:cNvPr id="14" name="Oval 13"/>
          <p:cNvSpPr/>
          <p:nvPr/>
        </p:nvSpPr>
        <p:spPr>
          <a:xfrm>
            <a:off x="9089136" y="4096511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53728" y="3986783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Higher Tpm1</a:t>
            </a:r>
          </a:p>
        </p:txBody>
      </p:sp>
      <p:sp>
        <p:nvSpPr>
          <p:cNvPr id="16" name="Oval 15"/>
          <p:cNvSpPr/>
          <p:nvPr/>
        </p:nvSpPr>
        <p:spPr>
          <a:xfrm>
            <a:off x="9089136" y="4626864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4517136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Mitochondrial turnover and fatty-acid metabolism</a:t>
            </a:r>
          </a:p>
        </p:txBody>
      </p:sp>
      <p:sp>
        <p:nvSpPr>
          <p:cNvPr id="18" name="Oval 17"/>
          <p:cNvSpPr/>
          <p:nvPr/>
        </p:nvSpPr>
        <p:spPr>
          <a:xfrm>
            <a:off x="9089136" y="5157216"/>
            <a:ext cx="91440" cy="91440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3728" y="5047488"/>
            <a:ext cx="2157984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80" b="0" i="0">
                <a:solidFill>
                  <a:srgbClr val="263746"/>
                </a:solidFill>
                <a:latin typeface="Arial"/>
              </a:rPr>
              <a:t>Compatible with unloading and contractile remodeling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" y="6510528"/>
            <a:ext cx="10972800" cy="17373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 i="0">
                <a:solidFill>
                  <a:srgbClr val="8A969E"/>
                </a:solidFill>
                <a:latin typeface="Arial"/>
              </a:rPr>
              <a:t>Literature context: Gambara et al. (2017) and Stein et al. (2002).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OTHER TISSUES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Kidney adds a focused signal; other tissues remain exploratory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strongest process-level stories were thymus and soleus, but several tissues produced narrower candidates.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" y="1847088"/>
            <a:ext cx="11375136" cy="667512"/>
          </a:xfrm>
          <a:prstGeom prst="rect">
            <a:avLst/>
          </a:prstGeom>
          <a:solidFill>
            <a:srgbClr val="E9F1F7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93192" y="1847088"/>
            <a:ext cx="73152" cy="667512"/>
          </a:xfrm>
          <a:prstGeom prst="rect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002536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D6496"/>
                </a:solidFill>
                <a:latin typeface="Arial"/>
              </a:rPr>
              <a:t>Kidney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1176" y="1975104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Inpp4b promoted, Slc37a4 reinforced; both higher in flight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6648" y="1993392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2D6496"/>
                </a:solidFill>
                <a:latin typeface="Arial"/>
              </a:rPr>
              <a:t>Focused secondary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3192" y="2660904"/>
            <a:ext cx="11375136" cy="667512"/>
          </a:xfrm>
          <a:prstGeom prst="rect">
            <a:avLst/>
          </a:prstGeom>
          <a:solidFill>
            <a:srgbClr val="F0ECF6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3192" y="2660904"/>
            <a:ext cx="73152" cy="667512"/>
          </a:xfrm>
          <a:prstGeom prst="rect">
            <a:avLst/>
          </a:prstGeom>
          <a:solidFill>
            <a:srgbClr val="80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816352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063A6"/>
                </a:solidFill>
                <a:latin typeface="Arial"/>
              </a:rPr>
              <a:t>Spleen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51176" y="2788920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Rai14, Ptprk and Myl9 promoted; Loxl1 reinforced; no Reactome enrichment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56648" y="2807208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063A6"/>
                </a:solidFill>
                <a:latin typeface="Arial"/>
              </a:rPr>
              <a:t>Exploratory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" y="3474720"/>
            <a:ext cx="11375136" cy="667512"/>
          </a:xfrm>
          <a:prstGeom prst="rect">
            <a:avLst/>
          </a:prstGeom>
          <a:solidFill>
            <a:srgbClr val="F8F1E2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93192" y="3474720"/>
            <a:ext cx="73152" cy="667512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630168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D37B00"/>
                </a:solidFill>
                <a:latin typeface="Arial"/>
              </a:rPr>
              <a:t>Skin + adrenal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51176" y="3602736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Plscr1 higher in skin; Psmb8 and Tspan4 lower in adrenal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6648" y="3621024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D37B00"/>
                </a:solidFill>
                <a:latin typeface="Arial"/>
              </a:rPr>
              <a:t>Exploratory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" y="4288536"/>
            <a:ext cx="11375136" cy="667512"/>
          </a:xfrm>
          <a:prstGeom prst="rect">
            <a:avLst/>
          </a:prstGeom>
          <a:solidFill>
            <a:srgbClr val="E8F3F1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93192" y="4288536"/>
            <a:ext cx="73152" cy="667512"/>
          </a:xfrm>
          <a:prstGeom prst="rect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443983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78681"/>
                </a:solidFill>
                <a:latin typeface="Arial"/>
              </a:rPr>
              <a:t>Lung + retina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51176" y="4416551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Predictive gains without a synthetic-informed BH-FDR gene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6648" y="4434840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178681"/>
                </a:solidFill>
                <a:latin typeface="Arial"/>
              </a:rPr>
              <a:t>Prediction only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3192" y="5102352"/>
            <a:ext cx="11375136" cy="667512"/>
          </a:xfrm>
          <a:prstGeom prst="rect">
            <a:avLst/>
          </a:prstGeom>
          <a:solidFill>
            <a:srgbClr val="F2F4F5"/>
          </a:solidFill>
          <a:ln w="10160">
            <a:solidFill>
              <a:srgbClr val="DD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3192" y="5102352"/>
            <a:ext cx="73152" cy="667512"/>
          </a:xfrm>
          <a:prstGeom prst="rect">
            <a:avLst/>
          </a:prstGeom>
          <a:solidFill>
            <a:srgbClr val="8A96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257800"/>
            <a:ext cx="1938528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8A969E"/>
                </a:solidFill>
                <a:latin typeface="Arial"/>
              </a:rPr>
              <a:t>Liver + EDL + quadriceps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51176" y="5230368"/>
            <a:ext cx="7040880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263746"/>
                </a:solidFill>
                <a:latin typeface="Arial"/>
              </a:rPr>
              <a:t>Real-only arm retained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56648" y="5248656"/>
            <a:ext cx="1682496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8A969E"/>
                </a:solidFill>
                <a:latin typeface="Arial"/>
              </a:rPr>
              <a:t>No synthetic claim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035040"/>
            <a:ext cx="10789920" cy="3017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1">
                <a:solidFill>
                  <a:srgbClr val="59697A"/>
                </a:solidFill>
                <a:latin typeface="Arial"/>
              </a:rPr>
              <a:t>Independent missions are still needed before any candidate becomes a transferable spaceflight biomarker.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292608" y="530352"/>
            <a:ext cx="502920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9A6B20"/>
                </a:solidFill>
                <a:latin typeface="Arial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" y="786384"/>
            <a:ext cx="11430000" cy="5852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082B55"/>
                </a:solidFill>
                <a:latin typeface="Arial"/>
              </a:rPr>
              <a:t>Synthetic data helped most as a tissue-specific prior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" y="1353312"/>
            <a:ext cx="11247120" cy="31089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 i="0">
                <a:solidFill>
                  <a:srgbClr val="59697A"/>
                </a:solidFill>
                <a:latin typeface="Arial"/>
              </a:rPr>
              <a:t>The generator created useful structure, not new biological replication.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" y="1920240"/>
            <a:ext cx="3419856" cy="2487168"/>
          </a:xfrm>
          <a:prstGeom prst="roundRect">
            <a:avLst/>
          </a:prstGeom>
          <a:solidFill>
            <a:srgbClr val="E9F1F7"/>
          </a:solidFill>
          <a:ln w="10160">
            <a:solidFill>
              <a:srgbClr val="2D6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21792" y="2167128"/>
            <a:ext cx="475488" cy="475488"/>
          </a:xfrm>
          <a:prstGeom prst="ellipse">
            <a:avLst/>
          </a:prstGeom>
          <a:solidFill>
            <a:srgbClr val="2D64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2D6496"/>
                </a:solidFill>
                <a:latin typeface="Arial"/>
              </a:rPr>
              <a:t>Generate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Conditional DDIM produced high-fidelity profiles with near-chance real-versus-synthetic separation.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59936" y="1920240"/>
            <a:ext cx="3419856" cy="2487168"/>
          </a:xfrm>
          <a:prstGeom prst="roundRect">
            <a:avLst/>
          </a:prstGeom>
          <a:solidFill>
            <a:srgbClr val="E8F3F1"/>
          </a:solidFill>
          <a:ln w="10160">
            <a:solidFill>
              <a:srgbClr val="1786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297680" y="2167128"/>
            <a:ext cx="475488" cy="475488"/>
          </a:xfrm>
          <a:prstGeom prst="ellipse">
            <a:avLst/>
          </a:prstGeom>
          <a:solidFill>
            <a:srgbClr val="1786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78681"/>
                </a:solidFill>
                <a:latin typeface="Arial"/>
              </a:rPr>
              <a:t>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Pooled augmentation failed. Tissue-specific ranking and low-weight training were more useful.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35824" y="1920240"/>
            <a:ext cx="3419856" cy="2487168"/>
          </a:xfrm>
          <a:prstGeom prst="roundRect">
            <a:avLst/>
          </a:prstGeom>
          <a:solidFill>
            <a:srgbClr val="F8F1E2"/>
          </a:solidFill>
          <a:ln w="10160">
            <a:solidFill>
              <a:srgbClr val="D37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973568" y="2167128"/>
            <a:ext cx="475488" cy="475488"/>
          </a:xfrm>
          <a:prstGeom prst="ellipse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73568" y="2221992"/>
            <a:ext cx="47548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67928" y="2176272"/>
            <a:ext cx="224028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D37B00"/>
                </a:solidFill>
                <a:latin typeface="Arial"/>
              </a:rPr>
              <a:t>Interpret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91856" y="2816352"/>
            <a:ext cx="2880360" cy="121615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263746"/>
                </a:solidFill>
                <a:latin typeface="Arial"/>
              </a:rPr>
              <a:t>Thymus and soleus formed the clearest programs; kidney supplied a focused secondary pair.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4048" y="4709160"/>
            <a:ext cx="10972800" cy="1188720"/>
          </a:xfrm>
          <a:prstGeom prst="roundRect">
            <a:avLst/>
          </a:prstGeom>
          <a:solidFill>
            <a:srgbClr val="082B55"/>
          </a:solidFill>
          <a:ln w="10160">
            <a:solidFill>
              <a:srgbClr val="082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010912"/>
            <a:ext cx="1261872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D69A"/>
                </a:solidFill>
                <a:latin typeface="Arial"/>
              </a:rPr>
              <a:t>Next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4937760"/>
            <a:ext cx="9070848" cy="53035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Hold out complete accessions, then validate the thymus panel, soleus metabolism and kidney Inpp4b / Slc37a4 in independent data.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532120"/>
            <a:ext cx="907084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 i="0">
                <a:solidFill>
                  <a:srgbClr val="BFD0E1"/>
                </a:solidFill>
                <a:latin typeface="Arial"/>
              </a:rPr>
              <a:t>Generated profiles never enter the biological sample count or the BH-FDR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347472"/>
            <a:ext cx="12191999" cy="6510528"/>
          </a:xfrm>
          <a:prstGeom prst="rect">
            <a:avLst/>
          </a:prstGeom>
          <a:solidFill>
            <a:srgbClr val="08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115568"/>
            <a:ext cx="4937760" cy="7315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" y="1920240"/>
            <a:ext cx="36576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BFD0E1"/>
                </a:solidFill>
                <a:latin typeface="Arial"/>
              </a:rPr>
              <a:t>Questions?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596896"/>
            <a:ext cx="2743200" cy="45720"/>
          </a:xfrm>
          <a:prstGeom prst="rect">
            <a:avLst/>
          </a:prstGeom>
          <a:solidFill>
            <a:srgbClr val="D3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2935224"/>
            <a:ext cx="274320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Jason Trinh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3319272"/>
            <a:ext cx="320040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FD0E1"/>
                </a:solidFill>
                <a:latin typeface="Arial"/>
              </a:rPr>
              <a:t>jasontrinh@berkeley.edu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04688" y="1353312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Mentor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93992" y="132588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James Casaletto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04688" y="1975104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3992" y="1947672"/>
            <a:ext cx="4407408" cy="4754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Space Life Sciences Training Program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04688" y="2779776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93992" y="2752344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OSDR | ARCHS4 | Reactome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04688" y="3410712"/>
            <a:ext cx="1188720" cy="24688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Compute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3992" y="338328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NASA Ames Research Center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4688" y="4041648"/>
            <a:ext cx="11887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7FA0BC"/>
                </a:solidFill>
                <a:latin typeface="Arial"/>
              </a:rPr>
              <a:t>Code and manuscript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4023360"/>
            <a:ext cx="416052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github.com/jasont314/nasa-mouse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04688" y="5029200"/>
            <a:ext cx="54864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 i="1">
                <a:solidFill>
                  <a:srgbClr val="BFD0E1"/>
                </a:solidFill>
                <a:latin typeface="Arial"/>
              </a:rPr>
              <a:t>All biological associations were tested in observed OSDR profiles.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BPS_2024_gold">
      <a:dk1>
        <a:srgbClr val="061F49"/>
      </a:dk1>
      <a:lt1>
        <a:srgbClr val="FFFFFF"/>
      </a:lt1>
      <a:dk2>
        <a:srgbClr val="061F49"/>
      </a:dk2>
      <a:lt2>
        <a:srgbClr val="E7E6E6"/>
      </a:lt2>
      <a:accent1>
        <a:srgbClr val="061F48"/>
      </a:accent1>
      <a:accent2>
        <a:srgbClr val="276644"/>
      </a:accent2>
      <a:accent3>
        <a:srgbClr val="D47800"/>
      </a:accent3>
      <a:accent4>
        <a:srgbClr val="D4BF88"/>
      </a:accent4>
      <a:accent5>
        <a:srgbClr val="8F6725"/>
      </a:accent5>
      <a:accent6>
        <a:srgbClr val="205391"/>
      </a:accent6>
      <a:hlink>
        <a:srgbClr val="205391"/>
      </a:hlink>
      <a:folHlink>
        <a:srgbClr val="0B3C91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2024-01-24_BPS_PPT_Template" id="{F69818ED-1EB5-154C-9646-61EECBC32C17}" vid="{337BE73D-1FC8-8444-A6A2-B6928143BD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43f8f0fe-7515-424d-86d7-0a337e4aa03f">
      <UserInfo>
        <DisplayName>Mangan, Keara L. (HQ-DP000)[BOOZ ALLEN &amp; HAMILTON INC]</DisplayName>
        <AccountId>13</AccountId>
        <AccountType/>
      </UserInfo>
      <UserInfo>
        <DisplayName>Gilbertson, Gamble (HQ-DP000)[EAST2]</DisplayName>
        <AccountId>15</AccountId>
        <AccountType/>
      </UserInfo>
      <UserInfo>
        <DisplayName>Lee, Jemie (HQ-DP000)[BOOZ ALLEN &amp; HAMILTON INC]</DisplayName>
        <AccountId>14</AccountId>
        <AccountType/>
      </UserInfo>
      <UserInfo>
        <DisplayName>White Lyons, Melanie M. (HQ-DP000)[BOOZ ALLEN &amp; HAMILTON INC]</DisplayName>
        <AccountId>12</AccountId>
        <AccountType/>
      </UserInfo>
      <UserInfo>
        <DisplayName>Lele, Julie (HQ-DM000)[BOOZ ALLEN &amp; HAMILTON INC]</DisplayName>
        <AccountId>10</AccountId>
        <AccountType/>
      </UserInfo>
      <UserInfo>
        <DisplayName>Burg, Joseph A. (HQ-DP000)[BOOZ ALLEN &amp; HAMILTON INC]</DisplayName>
        <AccountId>119</AccountId>
        <AccountType/>
      </UserInfo>
      <UserInfo>
        <DisplayName>Carnell, Lisa (HQ-DP000)</DisplayName>
        <AccountId>21</AccountId>
        <AccountType/>
      </UserInfo>
      <UserInfo>
        <DisplayName>Hertz, Paul (HQ-DA000)</DisplayName>
        <AccountId>100</AccountId>
        <AccountType/>
      </UserInfo>
      <UserInfo>
        <DisplayName>Fauntleroy, Haley (HQ-DP000)[BOOZ ALLEN &amp; HAMILTON INC]</DisplayName>
        <AccountId>22</AccountId>
        <AccountType/>
      </UserInfo>
      <UserInfo>
        <DisplayName>Cubberley, Hannah (HQ-DP000)[BOOZ ALLEN &amp; HAMILTON INC]</DisplayName>
        <AccountId>28</AccountId>
        <AccountType/>
      </UserInfo>
      <UserInfo>
        <DisplayName>Galazka, Jonathan M. (ARC-SC)</DisplayName>
        <AccountId>182</AccountId>
        <AccountType/>
      </UserInfo>
      <UserInfo>
        <DisplayName>Massa, Gioia D. (KSC-UBA00)</DisplayName>
        <AccountId>183</AccountId>
        <AccountType/>
      </UserInfo>
      <UserInfo>
        <DisplayName>Callas, John L (JPL-7500)[JPL Employee]</DisplayName>
        <AccountId>58</AccountId>
        <AccountType/>
      </UserInfo>
    </SharedWithUsers>
    <lcf76f155ced4ddcb4097134ff3c332f xmlns="6527ccf2-24c5-4a86-be07-80241091aeab">
      <Terms xmlns="http://schemas.microsoft.com/office/infopath/2007/PartnerControls"/>
    </lcf76f155ced4ddcb4097134ff3c332f>
    <TaxCatchAll xmlns="d900e117-17a0-4b24-9e47-511ef1d02c4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211DFDB3DA3845BD556C40032E64D0" ma:contentTypeVersion="16" ma:contentTypeDescription="Create a new document." ma:contentTypeScope="" ma:versionID="6fb8bd780a822da7d8e3d3891ea50a85">
  <xsd:schema xmlns:xsd="http://www.w3.org/2001/XMLSchema" xmlns:xs="http://www.w3.org/2001/XMLSchema" xmlns:p="http://schemas.microsoft.com/office/2006/metadata/properties" xmlns:ns2="6527ccf2-24c5-4a86-be07-80241091aeab" xmlns:ns3="43f8f0fe-7515-424d-86d7-0a337e4aa03f" xmlns:ns4="d900e117-17a0-4b24-9e47-511ef1d02c43" targetNamespace="http://schemas.microsoft.com/office/2006/metadata/properties" ma:root="true" ma:fieldsID="cb6437ea38db5bccedba4b312cc29faa" ns2:_="" ns3:_="" ns4:_="">
    <xsd:import namespace="6527ccf2-24c5-4a86-be07-80241091aeab"/>
    <xsd:import namespace="43f8f0fe-7515-424d-86d7-0a337e4aa03f"/>
    <xsd:import namespace="d900e117-17a0-4b24-9e47-511ef1d02c4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4:TaxCatchAll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527ccf2-24c5-4a86-be07-80241091aea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0fb68aea-d2ee-4a6c-85e6-e4b5686e96e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3f8f0fe-7515-424d-86d7-0a337e4aa03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00e117-17a0-4b24-9e47-511ef1d02c43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dea376dd-3888-4ec2-aac9-035288c88b0b}" ma:internalName="TaxCatchAll" ma:showField="CatchAllData" ma:web="43f8f0fe-7515-424d-86d7-0a337e4aa03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462A2FE-7911-4E6A-8BD5-16877A182B2F}">
  <ds:schemaRefs>
    <ds:schemaRef ds:uri="http://schemas.openxmlformats.org/package/2006/metadata/core-properties"/>
    <ds:schemaRef ds:uri="a3f7648c-ef34-4383-9913-3e4132c38d7f"/>
    <ds:schemaRef ds:uri="http://schemas.microsoft.com/office/infopath/2007/PartnerControls"/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http://purl.org/dc/terms/"/>
    <ds:schemaRef ds:uri="c852713b-0caa-4ac0-ba75-048f00e27b76"/>
    <ds:schemaRef ds:uri="43f8f0fe-7515-424d-86d7-0a337e4aa03f"/>
    <ds:schemaRef ds:uri="6527ccf2-24c5-4a86-be07-80241091aeab"/>
    <ds:schemaRef ds:uri="d900e117-17a0-4b24-9e47-511ef1d02c43"/>
  </ds:schemaRefs>
</ds:datastoreItem>
</file>

<file path=customXml/itemProps2.xml><?xml version="1.0" encoding="utf-8"?>
<ds:datastoreItem xmlns:ds="http://schemas.openxmlformats.org/officeDocument/2006/customXml" ds:itemID="{2FDDDE26-D355-44FB-AB9E-19995162FF7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527ccf2-24c5-4a86-be07-80241091aeab"/>
    <ds:schemaRef ds:uri="43f8f0fe-7515-424d-86d7-0a337e4aa03f"/>
    <ds:schemaRef ds:uri="d900e117-17a0-4b24-9e47-511ef1d02c4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6B03FA-AE60-4B79-AD46-B79CDABDEAE0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7005d458-45be-48ae-8140-d43da96dd17b}" enabled="0" method="" siteId="{7005d458-45be-48ae-8140-d43da96dd17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2024-01-29_BPS_PPT_Template</Template>
  <TotalTime>5180</TotalTime>
  <Words>15</Words>
  <Application>Microsoft Office PowerPoint</Application>
  <PresentationFormat>Widescreen</PresentationFormat>
  <Paragraphs>6</Paragraphs>
  <Slides>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1_Office Theme</vt:lpstr>
      <vt:lpstr>PowerPoint Presentation</vt:lpstr>
      <vt:lpstr>PowerPoint Presentation</vt:lpstr>
    </vt:vector>
  </TitlesOfParts>
  <Company>NASA OCIO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Lele, Julie (HQ-DM000)[BOOZ ALLEN &amp; HAMILTON INC]</dc:creator>
  <cp:lastModifiedBy>Keller, Elizabeth E. (ARC-SC)[Amentum Services, Inc]</cp:lastModifiedBy>
  <cp:revision>178</cp:revision>
  <dcterms:created xsi:type="dcterms:W3CDTF">2024-01-29T19:52:06Z</dcterms:created>
  <dcterms:modified xsi:type="dcterms:W3CDTF">2026-06-29T22:38:13Z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0x01010019211DFDB3DA3845BD556C40032E64D0</vt:lpwstr>
  </property>
  <property fmtid="{D5CDD505-2E9C-101B-9397-08002B2CF9AE}" pid="3" name="MediaServiceImageTags">
    <vt:lpwstr/>
  </property>
</Properties>
</file>