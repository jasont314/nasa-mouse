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The first model asks which pathways change. The second asks whether realistic synthetic profiles can improve a tissue-specific FLT versus GC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begin with the same OSDR flight and ground-control data. expiMap organizes expression into interpretable Reactome programs. The generative pipeline models the expression distribution and then tests whether generated profiles improve classification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takes a high-dimensional gene-expression profile, compresses it into a small set of latent variables, and reconstructs the original profile. Nearby points in latent space have similar expression. In a standard autoencoder those axes may have no clear biological meaning. expiMap constrains them with known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For each tissue, ARCHS4 supplies a non-spaceflight reference and Reactome supplies the gene-program mask. expiMap learns the reference, then maps OSDR flight and ground samples as an accession-conditioned query. The analysis used about two thousand highly variable genes and several hundred Reactome programs per tissue. The implementation is under src/expiMap_scarches/nasa_mouse_expimap.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the distribution of measured expression and samples new numeric profiles for a chosen tissue and FLT or GC context. We use those profiles to test classifiers and rank genes. They are model output,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covers many tissues, but its 1,610 profiles are spread across 75 accessions. ARCHS4 supplies a much larger mouse reference. The model must preserve tissue and condition structure without simply learning study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pipeline can change data scope, transformation, harmonization, model, training source, and conditioning. The branch used here applies TPM, MaxAbs scaling, 974 landmarks, ARCHS4 pretraining, OSDR adaptation, and conditioning on tissue, FLT or GC,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We compared WGAN-GP with the conditional diffusion model. Both matched expression well. DDIM had higher F1, adversarial accuracy close to chance, and lower distributional distance, so the remaining analysis uses DDIM.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generated profiles begin as noise, develop structure by timestep 200, and reach their tissue-conditioned regions at timestep zero. All three panels share PCA axes.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These panels use the same locked coordinates. The left panel colors each profile by tissue, while the right colors it by OSDR accession. Circles are observed profiles and crosses are matched DDIM profiles. Both tissue and study structure are reproduced in the generated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left panel now colors the same profiles by flight or ground-control condition, while the right repeats the accession view. FLT and GC overlap much more than the study clusters. This is why the downstream analysis estimates FLT-GC effects within accession rather than treating the pooled separation as biology.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Every matched classifier uses all 974 genes, the same real-fitted scaler, the same outer split, and one regularization value selected from real training data. Real-only, synthetic-only, and real-plus-synthetic models are evaluated on the same held-out real profiles. This isolates training source within the classifier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rank the same 974 genes. Combining those rankings can move a gene into or out of a compact top-k panel. This is useful for pathway interpretation, but it does not isolate training source as directly as the matched all-gene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Suppose several genes carry the same pathway signal. Ridge can divide weight among them. If I shuffle Gene A, Genes B and C remain, so held-out performance changes little and Gene A receives low permutation importance. Consensus ranking can still retain the group. Low individual importance means replaceable in this classifier, not biologically irrelevant.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pooled multi-tissue classifier declined with augmentation. In separate tissue models, real plus synthetic passed all pooled and accession-macro balanced-accuracy, AUROC, and average-precision checks in 18 of 27 analyses. The coral examples show why a balanced-accuracy gain alone is not enough when another metric declines.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matched analysis retained 21 BH-FDR tissue-gene associations, and consensus ranking retained 49. Eleven appear in both. Matched results are primary evidence that synthetic training changes classifier behavior. Consensus-only results are secondary panel evidence.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For the 49 consensus associations, promoted or reinforced describes feature selection. Aligning, complementary, ambiguous, or unmatched describes the literature review. These labels answer different questions and can occur in any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Four tissues had both matched utility and retained BH-FDR genes. Fourteen more passed the utility gate without a retained gene. Nine failed at least one mean metric. Predictive improvement does not automatically produce a biological candidate.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This slide lists all 49 consensus associations. Rows separate FLT direction and selection status. Gene color gives the independent literature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matched analysis retained 15 thymus genes, seven promoted after augmentation, and 26 significant Reactome terms led by mitotic cell cycle. Nine genes overlap the 16-gene consensus panel, which adds correlated cell-cycle members. Together they support lower proliferative renewal or fewer cycling thymocytes in flight.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consensus analysis reinforces lower Bdh1, Ech1, Bnip3, and Decr1 with higher Tpm1, a coherent mitochondrial and lipid-metabolism panel. In the fixed all-gene comparison, balanced accuracy rose slightly but AUROC and average precision fell, so the matched gate did not pass.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Liver contributes four flight-lower shared-importance genes without pathway enrichment. Skin Plscr1 and spleen Loxl1 are supported by both analyses. Pooled muscle improves prediction in the matched classifier, but its individual gene interpretation remains consensus-level.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Kidney, adrenal gland, gastrocnemius, and tibialis anterior add smaller tissue-specific consensus candidates. They did not pass the matched gene gate, so they remain exploratory panel-level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Conditional DDIM produced realistic profiles. Matched classifiers show where synthetic training changes held-out-real prediction and gene importance. Consensus ranking organizes correlated biological panels. Thymus is strongest across both; all association statistics still come from observed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matched expression profiles by tissue, study context,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expression into a latent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0" name="Rectangle 9"/>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313639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13639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639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3639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13639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3639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3639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3639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3639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359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59359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59359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9359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9359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59359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59359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59359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59359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55371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5371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55371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55371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5371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5371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55371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5371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5371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44982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44982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44982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44982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44982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44982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44982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44982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44982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74" name="Oval 73"/>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169663" y="4462272"/>
            <a:ext cx="768096" cy="438912"/>
          </a:xfrm>
          <a:prstGeom prst="rect">
            <a:avLst/>
          </a:prstGeom>
          <a:noFill/>
        </p:spPr>
        <p:txBody>
          <a:bodyPr wrap="square" lIns="0" rIns="0" tIns="0" bIns="0" anchor="t">
            <a:spAutoFit/>
          </a:bodyPr>
          <a:lstStyle/>
          <a:p>
            <a:pPr algn="ctr">
              <a:spcAft>
                <a:spcPts val="0"/>
              </a:spcAft>
            </a:pPr>
            <a:r>
              <a:rPr sz="1019" b="1" i="0">
                <a:solidFill>
                  <a:srgbClr val="D37B00"/>
                </a:solidFill>
                <a:latin typeface="Arial"/>
              </a:rPr>
              <a:t>latent
variables</a:t>
            </a:r>
          </a:p>
        </p:txBody>
      </p:sp>
      <p:sp>
        <p:nvSpPr>
          <p:cNvPr id="78" name="Oval 77"/>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87" name="Right Arrow 86"/>
          <p:cNvSpPr/>
          <p:nvPr/>
        </p:nvSpPr>
        <p:spPr>
          <a:xfrm>
            <a:off x="6291072"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47104" y="3401568"/>
            <a:ext cx="493776" cy="512064"/>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output
profile</a:t>
            </a:r>
          </a:p>
        </p:txBody>
      </p:sp>
      <p:sp>
        <p:nvSpPr>
          <p:cNvPr id="89" name="TextBox 88"/>
          <p:cNvSpPr txBox="1"/>
          <p:nvPr/>
        </p:nvSpPr>
        <p:spPr>
          <a:xfrm>
            <a:off x="7589520" y="1874519"/>
            <a:ext cx="1225296"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LATENT SPACE</a:t>
            </a:r>
          </a:p>
        </p:txBody>
      </p:sp>
      <p:sp>
        <p:nvSpPr>
          <p:cNvPr id="90" name="Rectangle 89"/>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109" name="Rectangle 108"/>
          <p:cNvSpPr/>
          <p:nvPr/>
        </p:nvSpPr>
        <p:spPr>
          <a:xfrm>
            <a:off x="457200" y="5852160"/>
            <a:ext cx="1124712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9808" y="5980176"/>
            <a:ext cx="841248"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a:t>
            </a:r>
          </a:p>
        </p:txBody>
      </p:sp>
      <p:sp>
        <p:nvSpPr>
          <p:cNvPr id="111" name="TextBox 110"/>
          <p:cNvSpPr txBox="1"/>
          <p:nvPr/>
        </p:nvSpPr>
        <p:spPr>
          <a:xfrm>
            <a:off x="1655064" y="5980176"/>
            <a:ext cx="9509760"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constrained latent variable corresponds to a Reactome gene program.</a:t>
            </a:r>
          </a:p>
        </p:txBody>
      </p:sp>
      <p:sp>
        <p:nvSpPr>
          <p:cNvPr id="112" name="TextBox 11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Reactome pathways make the latent space interpretable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Tissue-matched ARCHS4 references define the background; OSDR FLT and GC samples are mapped as queries.</a:t>
            </a:r>
          </a:p>
        </p:txBody>
      </p:sp>
      <p:pic>
        <p:nvPicPr>
          <p:cNvPr id="7" name="expiMap ARCHS4 reference training, Reactome mask, and OSDR query workflow" descr="expiMap ARCHS4 reference training, Reactome mask, and OSDR query workflow"/>
          <p:cNvPicPr>
            <a:picLocks noChangeAspect="1"/>
          </p:cNvPicPr>
          <p:nvPr/>
        </p:nvPicPr>
        <p:blipFill>
          <a:blip r:embed="rId2"/>
          <a:stretch>
            <a:fillRect/>
          </a:stretch>
        </p:blipFill>
        <p:spPr>
          <a:xfrm>
            <a:off x="704972" y="1755648"/>
            <a:ext cx="6965958" cy="4498848"/>
          </a:xfrm>
          <a:prstGeom prst="rect">
            <a:avLst/>
          </a:prstGeom>
        </p:spPr>
      </p:pic>
      <p:sp>
        <p:nvSpPr>
          <p:cNvPr id="8" name="Rectangle 7"/>
          <p:cNvSpPr/>
          <p:nvPr/>
        </p:nvSpPr>
        <p:spPr>
          <a:xfrm>
            <a:off x="8229600" y="1847088"/>
            <a:ext cx="13716" cy="420624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920240"/>
            <a:ext cx="122529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MODEL SCOPE</a:t>
            </a:r>
          </a:p>
        </p:txBody>
      </p:sp>
      <p:sp>
        <p:nvSpPr>
          <p:cNvPr id="10" name="TextBox 9"/>
          <p:cNvSpPr txBox="1"/>
          <p:nvPr/>
        </p:nvSpPr>
        <p:spPr>
          <a:xfrm>
            <a:off x="8540496" y="2331720"/>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17,708</a:t>
            </a:r>
          </a:p>
        </p:txBody>
      </p:sp>
      <p:sp>
        <p:nvSpPr>
          <p:cNvPr id="11" name="TextBox 10"/>
          <p:cNvSpPr txBox="1"/>
          <p:nvPr/>
        </p:nvSpPr>
        <p:spPr>
          <a:xfrm>
            <a:off x="9738360" y="2350008"/>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ARCHS4 reference profiles</a:t>
            </a:r>
          </a:p>
        </p:txBody>
      </p:sp>
      <p:sp>
        <p:nvSpPr>
          <p:cNvPr id="12" name="Rectangle 11"/>
          <p:cNvSpPr/>
          <p:nvPr/>
        </p:nvSpPr>
        <p:spPr>
          <a:xfrm>
            <a:off x="8540496" y="2971799"/>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0496" y="3118103"/>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700</a:t>
            </a:r>
          </a:p>
        </p:txBody>
      </p:sp>
      <p:sp>
        <p:nvSpPr>
          <p:cNvPr id="14" name="TextBox 13"/>
          <p:cNvSpPr txBox="1"/>
          <p:nvPr/>
        </p:nvSpPr>
        <p:spPr>
          <a:xfrm>
            <a:off x="9738360" y="3136391"/>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OSDR profiles in the primary effects</a:t>
            </a:r>
          </a:p>
        </p:txBody>
      </p:sp>
      <p:sp>
        <p:nvSpPr>
          <p:cNvPr id="15" name="Rectangle 14"/>
          <p:cNvSpPr/>
          <p:nvPr/>
        </p:nvSpPr>
        <p:spPr>
          <a:xfrm>
            <a:off x="8540496" y="3758183"/>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0496" y="3904487"/>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~2,000</a:t>
            </a:r>
          </a:p>
        </p:txBody>
      </p:sp>
      <p:sp>
        <p:nvSpPr>
          <p:cNvPr id="17" name="TextBox 16"/>
          <p:cNvSpPr txBox="1"/>
          <p:nvPr/>
        </p:nvSpPr>
        <p:spPr>
          <a:xfrm>
            <a:off x="9738360" y="3922775"/>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highly variable genes per tissue</a:t>
            </a:r>
          </a:p>
        </p:txBody>
      </p:sp>
      <p:sp>
        <p:nvSpPr>
          <p:cNvPr id="18" name="Rectangle 17"/>
          <p:cNvSpPr/>
          <p:nvPr/>
        </p:nvSpPr>
        <p:spPr>
          <a:xfrm>
            <a:off x="8540496" y="4544568"/>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4690872"/>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319-387</a:t>
            </a:r>
          </a:p>
        </p:txBody>
      </p:sp>
      <p:sp>
        <p:nvSpPr>
          <p:cNvPr id="20" name="TextBox 19"/>
          <p:cNvSpPr txBox="1"/>
          <p:nvPr/>
        </p:nvSpPr>
        <p:spPr>
          <a:xfrm>
            <a:off x="9738360" y="4709159"/>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Reactome programs per primary model</a:t>
            </a:r>
          </a:p>
        </p:txBody>
      </p:sp>
      <p:sp>
        <p:nvSpPr>
          <p:cNvPr id="21" name="TextBox 20"/>
          <p:cNvSpPr txBox="1"/>
          <p:nvPr/>
        </p:nvSpPr>
        <p:spPr>
          <a:xfrm>
            <a:off x="8540496" y="5541264"/>
            <a:ext cx="2743200" cy="457200"/>
          </a:xfrm>
          <a:prstGeom prst="rect">
            <a:avLst/>
          </a:prstGeom>
          <a:noFill/>
        </p:spPr>
        <p:txBody>
          <a:bodyPr wrap="square" lIns="0" rIns="0" tIns="0" bIns="0" anchor="t">
            <a:spAutoFit/>
          </a:bodyPr>
          <a:lstStyle/>
          <a:p>
            <a:pPr algn="l">
              <a:spcAft>
                <a:spcPts val="0"/>
              </a:spcAft>
            </a:pPr>
            <a:r>
              <a:rPr sz="1130" b="0" i="0">
                <a:solidFill>
                  <a:srgbClr val="59697A"/>
                </a:solidFill>
                <a:latin typeface="Arial"/>
              </a:rPr>
              <a:t>Reference training and query mapping were run separately for each tissue.</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 1 and Tables 1/S25. Implementation: src/expiMap_scarches/nasa_mouse_expimap/.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Effects were estimated within each project before the project-level shifts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latent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Tissue and study structure dominate the PCA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tissue. Right: OSDR accession. Circles are observed profiles; crosses are matched DDIM profiles.</a:t>
            </a:r>
          </a:p>
        </p:txBody>
      </p:sp>
      <p:pic>
        <p:nvPicPr>
          <p:cNvPr id="7" name="PCA of observed and matched DDIM profiles colored by tissue and OSDR accession" descr="PCA of observed and matched DDIM profiles colored by tissue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Tissue and accession clusters are visible across both observed and generated profiles.</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Same 293 observed and 293 seed-5020 generated profiles; PCA was fitted once to the combined locked expression space.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Flight condition is subtler than study structure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FLT or GC. Right: OSDR accession. Circles are observed profiles; crosses are matched DDIM profiles.</a:t>
            </a:r>
          </a:p>
        </p:txBody>
      </p:sp>
      <p:pic>
        <p:nvPicPr>
          <p:cNvPr id="7" name="PCA of observed and matched DDIM profiles colored by condition and OSDR accession" descr="PCA of observed and matched DDIM profiles colored by condition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Flight and ground-control profiles overlap within the larger accession-defined structure.</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The 74 accession colors are shared across slides 11 and 12; FLT-GC effects are evaluated within study.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Change the training source; hold the classifier fixed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arms use the same 974 genes, data splits, preprocessing, and ridge regularization.</a:t>
            </a:r>
          </a:p>
        </p:txBody>
      </p:sp>
      <p:sp>
        <p:nvSpPr>
          <p:cNvPr id="7" name="Rectangle 6"/>
          <p:cNvSpPr/>
          <p:nvPr/>
        </p:nvSpPr>
        <p:spPr>
          <a:xfrm>
            <a:off x="429768" y="1810512"/>
            <a:ext cx="11137392" cy="658368"/>
          </a:xfrm>
          <a:prstGeom prst="rect">
            <a:avLst/>
          </a:prstGeom>
          <a:solidFill>
            <a:srgbClr val="F2F5F7"/>
          </a:solidFill>
          <a:ln w="10160">
            <a:solidFill>
              <a:srgbClr val="D3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974 genes</a:t>
            </a:r>
          </a:p>
        </p:txBody>
      </p:sp>
      <p:sp>
        <p:nvSpPr>
          <p:cNvPr id="9" name="Rectangle 8"/>
          <p:cNvSpPr/>
          <p:nvPr/>
        </p:nvSpPr>
        <p:spPr>
          <a:xfrm>
            <a:off x="2734056"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0088"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outer splits</a:t>
            </a:r>
          </a:p>
        </p:txBody>
      </p:sp>
      <p:sp>
        <p:nvSpPr>
          <p:cNvPr id="11" name="Rectangle 10"/>
          <p:cNvSpPr/>
          <p:nvPr/>
        </p:nvSpPr>
        <p:spPr>
          <a:xfrm>
            <a:off x="5358383"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14416"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Real-fitted scaler</a:t>
            </a:r>
          </a:p>
        </p:txBody>
      </p:sp>
      <p:sp>
        <p:nvSpPr>
          <p:cNvPr id="13" name="Rectangle 12"/>
          <p:cNvSpPr/>
          <p:nvPr/>
        </p:nvSpPr>
        <p:spPr>
          <a:xfrm>
            <a:off x="8138160"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ridge penalty</a:t>
            </a:r>
          </a:p>
        </p:txBody>
      </p:sp>
      <p:sp>
        <p:nvSpPr>
          <p:cNvPr id="15" name="Rectangle 14"/>
          <p:cNvSpPr/>
          <p:nvPr/>
        </p:nvSpPr>
        <p:spPr>
          <a:xfrm>
            <a:off x="438912" y="2679192"/>
            <a:ext cx="3328416" cy="126187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679192"/>
            <a:ext cx="3328416" cy="502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7" y="2898648"/>
            <a:ext cx="2980944" cy="237744"/>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 ONLY</a:t>
            </a:r>
          </a:p>
        </p:txBody>
      </p:sp>
      <p:sp>
        <p:nvSpPr>
          <p:cNvPr id="18" name="Oval 17"/>
          <p:cNvSpPr/>
          <p:nvPr/>
        </p:nvSpPr>
        <p:spPr>
          <a:xfrm>
            <a:off x="1856232"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56232"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0" name="TextBox 19"/>
          <p:cNvSpPr txBox="1"/>
          <p:nvPr/>
        </p:nvSpPr>
        <p:spPr>
          <a:xfrm>
            <a:off x="621792"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Reference classifier</a:t>
            </a:r>
          </a:p>
        </p:txBody>
      </p:sp>
      <p:sp>
        <p:nvSpPr>
          <p:cNvPr id="21" name="Right Arrow 20"/>
          <p:cNvSpPr/>
          <p:nvPr/>
        </p:nvSpPr>
        <p:spPr>
          <a:xfrm>
            <a:off x="1865376"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2679192"/>
            <a:ext cx="3328416" cy="1261872"/>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0" y="2679192"/>
            <a:ext cx="3328416" cy="5029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88536" y="2898648"/>
            <a:ext cx="2980944" cy="237744"/>
          </a:xfrm>
          <a:prstGeom prst="rect">
            <a:avLst/>
          </a:prstGeom>
          <a:noFill/>
        </p:spPr>
        <p:txBody>
          <a:bodyPr wrap="square" lIns="0" rIns="0" tIns="0" bIns="0" anchor="t">
            <a:spAutoFit/>
          </a:bodyPr>
          <a:lstStyle/>
          <a:p>
            <a:pPr algn="ctr">
              <a:spcAft>
                <a:spcPts val="0"/>
              </a:spcAft>
            </a:pPr>
            <a:r>
              <a:rPr sz="1300" b="1" i="0">
                <a:solidFill>
                  <a:srgbClr val="D96552"/>
                </a:solidFill>
                <a:latin typeface="Arial"/>
              </a:rPr>
              <a:t>SYNTHETIC ONLY</a:t>
            </a:r>
          </a:p>
        </p:txBody>
      </p:sp>
      <p:sp>
        <p:nvSpPr>
          <p:cNvPr id="25" name="Oval 24"/>
          <p:cNvSpPr/>
          <p:nvPr/>
        </p:nvSpPr>
        <p:spPr>
          <a:xfrm>
            <a:off x="5532120"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32120"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27" name="TextBox 26"/>
          <p:cNvSpPr txBox="1"/>
          <p:nvPr/>
        </p:nvSpPr>
        <p:spPr>
          <a:xfrm>
            <a:off x="4297680"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Generator transfer test</a:t>
            </a:r>
          </a:p>
        </p:txBody>
      </p:sp>
      <p:sp>
        <p:nvSpPr>
          <p:cNvPr id="28" name="Right Arrow 27"/>
          <p:cNvSpPr/>
          <p:nvPr/>
        </p:nvSpPr>
        <p:spPr>
          <a:xfrm>
            <a:off x="5541264"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90688" y="2679192"/>
            <a:ext cx="3328416" cy="126187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90688" y="2679192"/>
            <a:ext cx="3328416" cy="502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64423" y="2898648"/>
            <a:ext cx="2980944" cy="237744"/>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REAL + SYNTHETIC</a:t>
            </a:r>
          </a:p>
        </p:txBody>
      </p:sp>
      <p:sp>
        <p:nvSpPr>
          <p:cNvPr id="32" name="Oval 31"/>
          <p:cNvSpPr/>
          <p:nvPr/>
        </p:nvSpPr>
        <p:spPr>
          <a:xfrm>
            <a:off x="8933688"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33688"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4" name="TextBox 33"/>
          <p:cNvSpPr txBox="1"/>
          <p:nvPr/>
        </p:nvSpPr>
        <p:spPr>
          <a:xfrm>
            <a:off x="9226296" y="3273552"/>
            <a:ext cx="210312" cy="201168"/>
          </a:xfrm>
          <a:prstGeom prst="rect">
            <a:avLst/>
          </a:prstGeom>
          <a:noFill/>
        </p:spPr>
        <p:txBody>
          <a:bodyPr wrap="square" lIns="0" rIns="0" tIns="0" bIns="0" anchor="t">
            <a:spAutoFit/>
          </a:bodyPr>
          <a:lstStyle/>
          <a:p>
            <a:pPr algn="ctr">
              <a:spcAft>
                <a:spcPts val="0"/>
              </a:spcAft>
            </a:pPr>
            <a:r>
              <a:rPr sz="1100" b="1" i="0">
                <a:solidFill>
                  <a:srgbClr val="59697A"/>
                </a:solidFill>
                <a:latin typeface="Arial"/>
              </a:rPr>
              <a:t>+</a:t>
            </a:r>
          </a:p>
        </p:txBody>
      </p:sp>
      <p:sp>
        <p:nvSpPr>
          <p:cNvPr id="35" name="Oval 34"/>
          <p:cNvSpPr/>
          <p:nvPr/>
        </p:nvSpPr>
        <p:spPr>
          <a:xfrm>
            <a:off x="9473184"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73184"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7" name="TextBox 36"/>
          <p:cNvSpPr txBox="1"/>
          <p:nvPr/>
        </p:nvSpPr>
        <p:spPr>
          <a:xfrm>
            <a:off x="7973567"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Synthetic augmentation</a:t>
            </a:r>
          </a:p>
        </p:txBody>
      </p:sp>
      <p:sp>
        <p:nvSpPr>
          <p:cNvPr id="38" name="Right Arrow 37"/>
          <p:cNvSpPr/>
          <p:nvPr/>
        </p:nvSpPr>
        <p:spPr>
          <a:xfrm>
            <a:off x="9217152"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9768" y="4352544"/>
            <a:ext cx="11137392" cy="786384"/>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544568"/>
            <a:ext cx="3017520" cy="274320"/>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Same held-out real profiles</a:t>
            </a:r>
          </a:p>
        </p:txBody>
      </p:sp>
      <p:sp>
        <p:nvSpPr>
          <p:cNvPr id="41" name="Rectangle 40"/>
          <p:cNvSpPr/>
          <p:nvPr/>
        </p:nvSpPr>
        <p:spPr>
          <a:xfrm>
            <a:off x="3904487"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15384" y="4498848"/>
            <a:ext cx="205740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Pooled metrics</a:t>
            </a:r>
          </a:p>
        </p:txBody>
      </p:sp>
      <p:sp>
        <p:nvSpPr>
          <p:cNvPr id="43" name="TextBox 42"/>
          <p:cNvSpPr txBox="1"/>
          <p:nvPr/>
        </p:nvSpPr>
        <p:spPr>
          <a:xfrm>
            <a:off x="4215384" y="4754880"/>
            <a:ext cx="2057400" cy="201168"/>
          </a:xfrm>
          <a:prstGeom prst="rect">
            <a:avLst/>
          </a:prstGeom>
          <a:noFill/>
        </p:spPr>
        <p:txBody>
          <a:bodyPr wrap="square" lIns="0" rIns="0" tIns="0" bIns="0" anchor="t">
            <a:spAutoFit/>
          </a:bodyPr>
          <a:lstStyle/>
          <a:p>
            <a:pPr algn="ctr">
              <a:spcAft>
                <a:spcPts val="0"/>
              </a:spcAft>
            </a:pPr>
            <a:r>
              <a:rPr sz="1040" b="0" i="0">
                <a:solidFill>
                  <a:srgbClr val="59697A"/>
                </a:solidFill>
                <a:latin typeface="Arial"/>
              </a:rPr>
              <a:t>BA  |  AUROC  |  AP</a:t>
            </a:r>
          </a:p>
        </p:txBody>
      </p:sp>
      <p:sp>
        <p:nvSpPr>
          <p:cNvPr id="44" name="Rectangle 43"/>
          <p:cNvSpPr/>
          <p:nvPr/>
        </p:nvSpPr>
        <p:spPr>
          <a:xfrm>
            <a:off x="6464808"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57416" y="4498848"/>
            <a:ext cx="242316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Accession-macro metrics</a:t>
            </a:r>
          </a:p>
        </p:txBody>
      </p:sp>
      <p:sp>
        <p:nvSpPr>
          <p:cNvPr id="46" name="TextBox 45"/>
          <p:cNvSpPr txBox="1"/>
          <p:nvPr/>
        </p:nvSpPr>
        <p:spPr>
          <a:xfrm>
            <a:off x="6757416" y="4754880"/>
            <a:ext cx="2423160" cy="201168"/>
          </a:xfrm>
          <a:prstGeom prst="rect">
            <a:avLst/>
          </a:prstGeom>
          <a:noFill/>
        </p:spPr>
        <p:txBody>
          <a:bodyPr wrap="square" lIns="0" rIns="0" tIns="0" bIns="0" anchor="t">
            <a:spAutoFit/>
          </a:bodyPr>
          <a:lstStyle/>
          <a:p>
            <a:pPr algn="ctr">
              <a:spcAft>
                <a:spcPts val="0"/>
              </a:spcAft>
            </a:pPr>
            <a:r>
              <a:rPr sz="1040" b="0" i="0">
                <a:solidFill>
                  <a:srgbClr val="59697A"/>
                </a:solidFill>
                <a:latin typeface="Arial"/>
              </a:rPr>
              <a:t>BA  |  AUROC  |  AP</a:t>
            </a:r>
          </a:p>
        </p:txBody>
      </p:sp>
      <p:sp>
        <p:nvSpPr>
          <p:cNvPr id="47" name="TextBox 46"/>
          <p:cNvSpPr txBox="1"/>
          <p:nvPr/>
        </p:nvSpPr>
        <p:spPr>
          <a:xfrm>
            <a:off x="9262872" y="4498848"/>
            <a:ext cx="2029968" cy="438912"/>
          </a:xfrm>
          <a:prstGeom prst="rect">
            <a:avLst/>
          </a:prstGeom>
          <a:noFill/>
        </p:spPr>
        <p:txBody>
          <a:bodyPr wrap="square" lIns="0" rIns="0" tIns="0" bIns="0" anchor="ctr">
            <a:spAutoFit/>
          </a:bodyPr>
          <a:lstStyle/>
          <a:p>
            <a:pPr algn="ctr">
              <a:spcAft>
                <a:spcPts val="0"/>
              </a:spcAft>
            </a:pPr>
            <a:r>
              <a:rPr sz="1120" b="1" i="0">
                <a:solidFill>
                  <a:srgbClr val="178681"/>
                </a:solidFill>
                <a:latin typeface="Arial"/>
              </a:rPr>
              <a:t>Pass only if all six means are nonworse</a:t>
            </a:r>
          </a:p>
        </p:txBody>
      </p:sp>
      <p:sp>
        <p:nvSpPr>
          <p:cNvPr id="48" name="Rectangle 47"/>
          <p:cNvSpPr/>
          <p:nvPr/>
        </p:nvSpPr>
        <p:spPr>
          <a:xfrm>
            <a:off x="429768" y="5404104"/>
            <a:ext cx="11137392" cy="731520"/>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596128"/>
            <a:ext cx="1965960" cy="256032"/>
          </a:xfrm>
          <a:prstGeom prst="rect">
            <a:avLst/>
          </a:prstGeom>
          <a:noFill/>
        </p:spPr>
        <p:txBody>
          <a:bodyPr wrap="square" lIns="0" rIns="0" tIns="0" bIns="0" anchor="t">
            <a:spAutoFit/>
          </a:bodyPr>
          <a:lstStyle/>
          <a:p>
            <a:pPr algn="l">
              <a:spcAft>
                <a:spcPts val="0"/>
              </a:spcAft>
            </a:pPr>
            <a:r>
              <a:rPr sz="1420" b="1" i="0">
                <a:solidFill>
                  <a:srgbClr val="FFFFFF"/>
                </a:solidFill>
                <a:latin typeface="Arial"/>
              </a:rPr>
              <a:t>Gene-level follow-up</a:t>
            </a:r>
          </a:p>
        </p:txBody>
      </p:sp>
      <p:sp>
        <p:nvSpPr>
          <p:cNvPr id="50" name="TextBox 49"/>
          <p:cNvSpPr txBox="1"/>
          <p:nvPr/>
        </p:nvSpPr>
        <p:spPr>
          <a:xfrm>
            <a:off x="2770632" y="5577840"/>
            <a:ext cx="4956048" cy="274320"/>
          </a:xfrm>
          <a:prstGeom prst="rect">
            <a:avLst/>
          </a:prstGeom>
          <a:noFill/>
        </p:spPr>
        <p:txBody>
          <a:bodyPr wrap="square" lIns="0" rIns="0" tIns="0" bIns="0" anchor="t">
            <a:spAutoFit/>
          </a:bodyPr>
          <a:lstStyle/>
          <a:p>
            <a:pPr algn="l">
              <a:spcAft>
                <a:spcPts val="0"/>
              </a:spcAft>
            </a:pPr>
            <a:r>
              <a:rPr sz="1240" b="0" i="0">
                <a:solidFill>
                  <a:srgbClr val="DCE7F2"/>
                </a:solidFill>
                <a:latin typeface="Arial"/>
              </a:rPr>
              <a:t>Blocked permutation + linear SHAP on held-out real profiles</a:t>
            </a:r>
          </a:p>
        </p:txBody>
      </p:sp>
      <p:sp>
        <p:nvSpPr>
          <p:cNvPr id="51" name="TextBox 50"/>
          <p:cNvSpPr txBox="1"/>
          <p:nvPr/>
        </p:nvSpPr>
        <p:spPr>
          <a:xfrm>
            <a:off x="7964424" y="5577840"/>
            <a:ext cx="3273552" cy="274320"/>
          </a:xfrm>
          <a:prstGeom prst="rect">
            <a:avLst/>
          </a:prstGeom>
          <a:noFill/>
        </p:spPr>
        <p:txBody>
          <a:bodyPr wrap="square" lIns="0" rIns="0" tIns="0" bIns="0" anchor="t">
            <a:spAutoFit/>
          </a:bodyPr>
          <a:lstStyle/>
          <a:p>
            <a:pPr algn="r">
              <a:spcAft>
                <a:spcPts val="0"/>
              </a:spcAft>
            </a:pPr>
            <a:r>
              <a:rPr sz="1240" b="1" i="0">
                <a:solidFill>
                  <a:srgbClr val="FFD69A"/>
                </a:solidFill>
                <a:latin typeface="Arial"/>
              </a:rPr>
              <a:t>BH FDR still uses real OSDR only</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Primary matched analysis: 27 tissue units, eight outer splits, 648 fitted classifiers; generated profiles do not increase animal 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Correlated genes dilute one-at-a-time importance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pathway can matter even when no single member causes a large permutation loss.</a:t>
            </a:r>
          </a:p>
        </p:txBody>
      </p:sp>
      <p:sp>
        <p:nvSpPr>
          <p:cNvPr id="7" name="Rectangle 6"/>
          <p:cNvSpPr/>
          <p:nvPr/>
        </p:nvSpPr>
        <p:spPr>
          <a:xfrm>
            <a:off x="420624" y="1856231"/>
            <a:ext cx="3337560" cy="352958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029968"/>
            <a:ext cx="384048" cy="310896"/>
          </a:xfrm>
          <a:prstGeom prst="rect">
            <a:avLst/>
          </a:prstGeom>
          <a:noFill/>
        </p:spPr>
        <p:txBody>
          <a:bodyPr wrap="square" lIns="0" rIns="0" tIns="0" bIns="0" anchor="t">
            <a:spAutoFit/>
          </a:bodyPr>
          <a:lstStyle/>
          <a:p>
            <a:pPr algn="l">
              <a:spcAft>
                <a:spcPts val="0"/>
              </a:spcAft>
            </a:pPr>
            <a:r>
              <a:rPr sz="1800" b="1" i="0">
                <a:solidFill>
                  <a:srgbClr val="2D6496"/>
                </a:solidFill>
                <a:latin typeface="Arial"/>
              </a:rPr>
              <a:t>1</a:t>
            </a:r>
          </a:p>
        </p:txBody>
      </p:sp>
      <p:sp>
        <p:nvSpPr>
          <p:cNvPr id="9" name="TextBox 8"/>
          <p:cNvSpPr txBox="1"/>
          <p:nvPr/>
        </p:nvSpPr>
        <p:spPr>
          <a:xfrm>
            <a:off x="1051560"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CORRELATED MODULE</a:t>
            </a:r>
          </a:p>
        </p:txBody>
      </p:sp>
      <p:sp>
        <p:nvSpPr>
          <p:cNvPr id="10" name="Rectangle 9"/>
          <p:cNvSpPr/>
          <p:nvPr/>
        </p:nvSpPr>
        <p:spPr>
          <a:xfrm>
            <a:off x="4096512" y="1856231"/>
            <a:ext cx="3337560" cy="352958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2029968"/>
            <a:ext cx="384048" cy="310896"/>
          </a:xfrm>
          <a:prstGeom prst="rect">
            <a:avLst/>
          </a:prstGeom>
          <a:noFill/>
        </p:spPr>
        <p:txBody>
          <a:bodyPr wrap="square" lIns="0" rIns="0" tIns="0" bIns="0" anchor="t">
            <a:spAutoFit/>
          </a:bodyPr>
          <a:lstStyle/>
          <a:p>
            <a:pPr algn="l">
              <a:spcAft>
                <a:spcPts val="0"/>
              </a:spcAft>
            </a:pPr>
            <a:r>
              <a:rPr sz="1800" b="1" i="0">
                <a:solidFill>
                  <a:srgbClr val="D96552"/>
                </a:solidFill>
                <a:latin typeface="Arial"/>
              </a:rPr>
              <a:t>2</a:t>
            </a:r>
          </a:p>
        </p:txBody>
      </p:sp>
      <p:sp>
        <p:nvSpPr>
          <p:cNvPr id="12" name="TextBox 11"/>
          <p:cNvSpPr txBox="1"/>
          <p:nvPr/>
        </p:nvSpPr>
        <p:spPr>
          <a:xfrm>
            <a:off x="4727448"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SHUFFLE ONE GENE</a:t>
            </a:r>
          </a:p>
        </p:txBody>
      </p:sp>
      <p:sp>
        <p:nvSpPr>
          <p:cNvPr id="13" name="Rectangle 12"/>
          <p:cNvSpPr/>
          <p:nvPr/>
        </p:nvSpPr>
        <p:spPr>
          <a:xfrm>
            <a:off x="7772400" y="1856231"/>
            <a:ext cx="3337560" cy="352958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029968"/>
            <a:ext cx="384048" cy="310896"/>
          </a:xfrm>
          <a:prstGeom prst="rect">
            <a:avLst/>
          </a:prstGeom>
          <a:noFill/>
        </p:spPr>
        <p:txBody>
          <a:bodyPr wrap="square" lIns="0" rIns="0" tIns="0" bIns="0" anchor="t">
            <a:spAutoFit/>
          </a:bodyPr>
          <a:lstStyle/>
          <a:p>
            <a:pPr algn="l">
              <a:spcAft>
                <a:spcPts val="0"/>
              </a:spcAft>
            </a:pPr>
            <a:r>
              <a:rPr sz="1800" b="1" i="0">
                <a:solidFill>
                  <a:srgbClr val="178681"/>
                </a:solidFill>
                <a:latin typeface="Arial"/>
              </a:rPr>
              <a:t>3</a:t>
            </a:r>
          </a:p>
        </p:txBody>
      </p:sp>
      <p:sp>
        <p:nvSpPr>
          <p:cNvPr id="15" name="TextBox 14"/>
          <p:cNvSpPr txBox="1"/>
          <p:nvPr/>
        </p:nvSpPr>
        <p:spPr>
          <a:xfrm>
            <a:off x="8403336"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CONSENSUS PANEL</a:t>
            </a:r>
          </a:p>
        </p:txBody>
      </p:sp>
      <p:sp>
        <p:nvSpPr>
          <p:cNvPr id="16" name="Rectangle 15"/>
          <p:cNvSpPr/>
          <p:nvPr/>
        </p:nvSpPr>
        <p:spPr>
          <a:xfrm>
            <a:off x="749808"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18" name="Right Arrow 17"/>
          <p:cNvSpPr/>
          <p:nvPr/>
        </p:nvSpPr>
        <p:spPr>
          <a:xfrm>
            <a:off x="1847088" y="2788920"/>
            <a:ext cx="475488" cy="210312"/>
          </a:xfrm>
          <a:prstGeom prst="rightArrow">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21" name="Right Arrow 20"/>
          <p:cNvSpPr/>
          <p:nvPr/>
        </p:nvSpPr>
        <p:spPr>
          <a:xfrm>
            <a:off x="1847088"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24" name="Right Arrow 23"/>
          <p:cNvSpPr/>
          <p:nvPr/>
        </p:nvSpPr>
        <p:spPr>
          <a:xfrm>
            <a:off x="1847088"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68880"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51176"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classifier</a:t>
            </a:r>
          </a:p>
        </p:txBody>
      </p:sp>
      <p:sp>
        <p:nvSpPr>
          <p:cNvPr id="27" name="TextBox 26"/>
          <p:cNvSpPr txBox="1"/>
          <p:nvPr/>
        </p:nvSpPr>
        <p:spPr>
          <a:xfrm>
            <a:off x="713232" y="4709160"/>
            <a:ext cx="281635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Similar expression lets these genes share predictive weight.</a:t>
            </a:r>
          </a:p>
        </p:txBody>
      </p:sp>
      <p:sp>
        <p:nvSpPr>
          <p:cNvPr id="28" name="Rectangle 27"/>
          <p:cNvSpPr/>
          <p:nvPr/>
        </p:nvSpPr>
        <p:spPr>
          <a:xfrm>
            <a:off x="4425696"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98848"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30" name="Rectangle 29"/>
          <p:cNvSpPr/>
          <p:nvPr/>
        </p:nvSpPr>
        <p:spPr>
          <a:xfrm>
            <a:off x="4425696"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32" name="Right Arrow 31"/>
          <p:cNvSpPr/>
          <p:nvPr/>
        </p:nvSpPr>
        <p:spPr>
          <a:xfrm>
            <a:off x="5522976"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25696"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98848"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35" name="Right Arrow 34"/>
          <p:cNvSpPr/>
          <p:nvPr/>
        </p:nvSpPr>
        <p:spPr>
          <a:xfrm>
            <a:off x="5522976"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0" y="2578608"/>
            <a:ext cx="292608" cy="274320"/>
          </a:xfrm>
          <a:prstGeom prst="rect">
            <a:avLst/>
          </a:prstGeom>
          <a:noFill/>
        </p:spPr>
        <p:txBody>
          <a:bodyPr wrap="square" lIns="0" rIns="0" tIns="0" bIns="0" anchor="t">
            <a:spAutoFit/>
          </a:bodyPr>
          <a:lstStyle/>
          <a:p>
            <a:pPr algn="ctr">
              <a:spcAft>
                <a:spcPts val="0"/>
              </a:spcAft>
            </a:pPr>
            <a:r>
              <a:rPr sz="2000" b="1" i="0">
                <a:solidFill>
                  <a:srgbClr val="D96552"/>
                </a:solidFill>
                <a:latin typeface="Arial"/>
              </a:rPr>
              <a:t>x</a:t>
            </a:r>
          </a:p>
        </p:txBody>
      </p:sp>
      <p:sp>
        <p:nvSpPr>
          <p:cNvPr id="37" name="Rectangle 36"/>
          <p:cNvSpPr/>
          <p:nvPr/>
        </p:nvSpPr>
        <p:spPr>
          <a:xfrm>
            <a:off x="6144768"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27064"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classifier</a:t>
            </a:r>
          </a:p>
        </p:txBody>
      </p:sp>
      <p:sp>
        <p:nvSpPr>
          <p:cNvPr id="39" name="TextBox 38"/>
          <p:cNvSpPr txBox="1"/>
          <p:nvPr/>
        </p:nvSpPr>
        <p:spPr>
          <a:xfrm>
            <a:off x="4370832" y="4709160"/>
            <a:ext cx="290779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Genes B and C retain the shared signal, so the score changes little.</a:t>
            </a:r>
          </a:p>
        </p:txBody>
      </p:sp>
      <p:sp>
        <p:nvSpPr>
          <p:cNvPr id="40" name="TextBox 39"/>
          <p:cNvSpPr txBox="1"/>
          <p:nvPr/>
        </p:nvSpPr>
        <p:spPr>
          <a:xfrm>
            <a:off x="8101583" y="2660904"/>
            <a:ext cx="832104" cy="210312"/>
          </a:xfrm>
          <a:prstGeom prst="rect">
            <a:avLst/>
          </a:prstGeom>
          <a:noFill/>
        </p:spPr>
        <p:txBody>
          <a:bodyPr wrap="square" lIns="0" rIns="0" tIns="0" bIns="0" anchor="t">
            <a:spAutoFit/>
          </a:bodyPr>
          <a:lstStyle/>
          <a:p>
            <a:pPr algn="l">
              <a:spcAft>
                <a:spcPts val="0"/>
              </a:spcAft>
            </a:pPr>
            <a:r>
              <a:rPr sz="1030" b="1" i="0">
                <a:solidFill>
                  <a:srgbClr val="2D6496"/>
                </a:solidFill>
                <a:latin typeface="Arial"/>
              </a:rPr>
              <a:t>Real rank</a:t>
            </a:r>
          </a:p>
        </p:txBody>
      </p:sp>
      <p:sp>
        <p:nvSpPr>
          <p:cNvPr id="41" name="TextBox 40"/>
          <p:cNvSpPr txBox="1"/>
          <p:nvPr/>
        </p:nvSpPr>
        <p:spPr>
          <a:xfrm>
            <a:off x="9418320" y="2660904"/>
            <a:ext cx="1106424" cy="210312"/>
          </a:xfrm>
          <a:prstGeom prst="rect">
            <a:avLst/>
          </a:prstGeom>
          <a:noFill/>
        </p:spPr>
        <p:txBody>
          <a:bodyPr wrap="square" lIns="0" rIns="0" tIns="0" bIns="0" anchor="t">
            <a:spAutoFit/>
          </a:bodyPr>
          <a:lstStyle/>
          <a:p>
            <a:pPr algn="l">
              <a:spcAft>
                <a:spcPts val="0"/>
              </a:spcAft>
            </a:pPr>
            <a:r>
              <a:rPr sz="1030" b="1" i="0">
                <a:solidFill>
                  <a:srgbClr val="D96552"/>
                </a:solidFill>
                <a:latin typeface="Arial"/>
              </a:rPr>
              <a:t>Generated rank</a:t>
            </a:r>
          </a:p>
        </p:txBody>
      </p:sp>
      <p:sp>
        <p:nvSpPr>
          <p:cNvPr id="42" name="TextBox 41"/>
          <p:cNvSpPr txBox="1"/>
          <p:nvPr/>
        </p:nvSpPr>
        <p:spPr>
          <a:xfrm>
            <a:off x="8083296" y="3044952"/>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A</a:t>
            </a:r>
          </a:p>
        </p:txBody>
      </p:sp>
      <p:sp>
        <p:nvSpPr>
          <p:cNvPr id="43" name="Rectangle 42"/>
          <p:cNvSpPr/>
          <p:nvPr/>
        </p:nvSpPr>
        <p:spPr>
          <a:xfrm>
            <a:off x="8833104" y="3136392"/>
            <a:ext cx="74066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021824" y="3136392"/>
            <a:ext cx="691286"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08208" y="3044952"/>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46" name="TextBox 45"/>
          <p:cNvSpPr txBox="1"/>
          <p:nvPr/>
        </p:nvSpPr>
        <p:spPr>
          <a:xfrm>
            <a:off x="8083296" y="3483864"/>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B</a:t>
            </a:r>
          </a:p>
        </p:txBody>
      </p:sp>
      <p:sp>
        <p:nvSpPr>
          <p:cNvPr id="47" name="Rectangle 46"/>
          <p:cNvSpPr/>
          <p:nvPr/>
        </p:nvSpPr>
        <p:spPr>
          <a:xfrm>
            <a:off x="8833104" y="3575304"/>
            <a:ext cx="683056"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21824" y="3575304"/>
            <a:ext cx="724204"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08208" y="3483864"/>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0" name="TextBox 49"/>
          <p:cNvSpPr txBox="1"/>
          <p:nvPr/>
        </p:nvSpPr>
        <p:spPr>
          <a:xfrm>
            <a:off x="8083296" y="3922776"/>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C</a:t>
            </a:r>
          </a:p>
        </p:txBody>
      </p:sp>
      <p:sp>
        <p:nvSpPr>
          <p:cNvPr id="51" name="Rectangle 50"/>
          <p:cNvSpPr/>
          <p:nvPr/>
        </p:nvSpPr>
        <p:spPr>
          <a:xfrm>
            <a:off x="8833104" y="4014215"/>
            <a:ext cx="641908"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21824" y="4014215"/>
            <a:ext cx="66659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808208" y="3922776"/>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4" name="TextBox 53"/>
          <p:cNvSpPr txBox="1"/>
          <p:nvPr/>
        </p:nvSpPr>
        <p:spPr>
          <a:xfrm>
            <a:off x="8083296" y="4361688"/>
            <a:ext cx="694944" cy="219456"/>
          </a:xfrm>
          <a:prstGeom prst="rect">
            <a:avLst/>
          </a:prstGeom>
          <a:noFill/>
        </p:spPr>
        <p:txBody>
          <a:bodyPr wrap="square" lIns="0" rIns="0" tIns="0" bIns="0" anchor="t">
            <a:spAutoFit/>
          </a:bodyPr>
          <a:lstStyle/>
          <a:p>
            <a:pPr algn="l">
              <a:spcAft>
                <a:spcPts val="0"/>
              </a:spcAft>
            </a:pPr>
            <a:r>
              <a:rPr sz="1019" b="0" i="0">
                <a:solidFill>
                  <a:srgbClr val="8A969E"/>
                </a:solidFill>
                <a:latin typeface="Arial"/>
              </a:rPr>
              <a:t>Gene D</a:t>
            </a:r>
          </a:p>
        </p:txBody>
      </p:sp>
      <p:sp>
        <p:nvSpPr>
          <p:cNvPr id="55" name="Rectangle 54"/>
          <p:cNvSpPr/>
          <p:nvPr/>
        </p:nvSpPr>
        <p:spPr>
          <a:xfrm>
            <a:off x="8833104" y="4453127"/>
            <a:ext cx="32918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021824" y="4453127"/>
            <a:ext cx="26334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08208" y="4361688"/>
            <a:ext cx="566928" cy="219456"/>
          </a:xfrm>
          <a:prstGeom prst="rect">
            <a:avLst/>
          </a:prstGeom>
          <a:noFill/>
        </p:spPr>
        <p:txBody>
          <a:bodyPr wrap="square" lIns="0" rIns="0" tIns="0" bIns="0" anchor="t">
            <a:spAutoFit/>
          </a:bodyPr>
          <a:lstStyle/>
          <a:p>
            <a:pPr algn="r">
              <a:spcAft>
                <a:spcPts val="0"/>
              </a:spcAft>
            </a:pPr>
            <a:r>
              <a:rPr sz="819" b="0" i="0">
                <a:solidFill>
                  <a:srgbClr val="8A969E"/>
                </a:solidFill>
                <a:latin typeface="Arial"/>
              </a:rPr>
              <a:t>not selected</a:t>
            </a:r>
          </a:p>
        </p:txBody>
      </p:sp>
      <p:sp>
        <p:nvSpPr>
          <p:cNvPr id="58" name="TextBox 57"/>
          <p:cNvSpPr txBox="1"/>
          <p:nvPr/>
        </p:nvSpPr>
        <p:spPr>
          <a:xfrm>
            <a:off x="8065008" y="4892040"/>
            <a:ext cx="3145536"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Repeated support keeps the correlated genes together as one panel.</a:t>
            </a:r>
          </a:p>
        </p:txBody>
      </p:sp>
      <p:sp>
        <p:nvSpPr>
          <p:cNvPr id="59" name="Rectangle 58"/>
          <p:cNvSpPr/>
          <p:nvPr/>
        </p:nvSpPr>
        <p:spPr>
          <a:xfrm>
            <a:off x="429768" y="5605272"/>
            <a:ext cx="11137392"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4944" y="5751576"/>
            <a:ext cx="10607040" cy="246888"/>
          </a:xfrm>
          <a:prstGeom prst="rect">
            <a:avLst/>
          </a:prstGeom>
          <a:noFill/>
        </p:spPr>
        <p:txBody>
          <a:bodyPr wrap="square" lIns="0" rIns="0" tIns="0" bIns="0" anchor="t">
            <a:spAutoFit/>
          </a:bodyPr>
          <a:lstStyle/>
          <a:p>
            <a:pPr algn="ctr">
              <a:spcAft>
                <a:spcPts val="0"/>
              </a:spcAft>
            </a:pPr>
            <a:r>
              <a:rPr sz="1250" b="1" i="0">
                <a:solidFill>
                  <a:srgbClr val="FFFFFF"/>
                </a:solidFill>
                <a:latin typeface="Arial"/>
              </a:rPr>
              <a:t>Low marginal importance means a gene was replaceable in this classifier; it does not make the gene or pathway biologically irrelevant.</a:t>
            </a:r>
          </a:p>
        </p:txBody>
      </p:sp>
      <p:sp>
        <p:nvSpPr>
          <p:cNvPr id="61" name="TextBox 6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explanation of permutation importance in a correlated expression feature space.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Matched augmentation helped many tissues, but not all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One pooled classifier declined; tissue-specific real-plus-synthetic models were compared with fixed all-gene baselines.</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457200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Matched real + synthetic by tissue</a:t>
            </a:r>
          </a:p>
        </p:txBody>
      </p:sp>
      <p:pic>
        <p:nvPicPr>
          <p:cNvPr id="29" name="Balanced accuracy before and after matched real-plus-synthetic training" descr="Balanced accuracy before and after matched real-plus-synthetic training"/>
          <p:cNvPicPr>
            <a:picLocks noChangeAspect="1"/>
          </p:cNvPicPr>
          <p:nvPr/>
        </p:nvPicPr>
        <p:blipFill>
          <a:blip r:embed="rId2"/>
          <a:stretch>
            <a:fillRect/>
          </a:stretch>
        </p:blipFill>
        <p:spPr>
          <a:xfrm>
            <a:off x="4865185" y="2423160"/>
            <a:ext cx="5777853" cy="3383280"/>
          </a:xfrm>
          <a:prstGeom prst="rect">
            <a:avLst/>
          </a:prstGeom>
        </p:spPr>
      </p:pic>
      <p:sp>
        <p:nvSpPr>
          <p:cNvPr id="30" name="TextBox 29"/>
          <p:cNvSpPr txBox="1"/>
          <p:nvPr/>
        </p:nvSpPr>
        <p:spPr>
          <a:xfrm>
            <a:off x="4059936" y="5715000"/>
            <a:ext cx="6583680" cy="246888"/>
          </a:xfrm>
          <a:prstGeom prst="rect">
            <a:avLst/>
          </a:prstGeom>
          <a:noFill/>
        </p:spPr>
        <p:txBody>
          <a:bodyPr wrap="square" lIns="18288" rIns="18288" tIns="18288" bIns="18288" anchor="t">
            <a:spAutoFit/>
          </a:bodyPr>
          <a:lstStyle/>
          <a:p>
            <a:pPr algn="l">
              <a:spcAft>
                <a:spcPts val="0"/>
              </a:spcAft>
            </a:pPr>
            <a:r>
              <a:rPr sz="1170" b="0" i="1">
                <a:solidFill>
                  <a:srgbClr val="59697A"/>
                </a:solidFill>
                <a:latin typeface="Arial"/>
              </a:rPr>
              <a:t>Teal passed all pooled and accession-macro metrics; coral did not.</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Matched analysis on held-out real profiles from represented accessions; all arms use the same 974 genes and ridge setting.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Matched and consensus analyses answer different questions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importance tests synthetic contribution; consensus ranking organizes compact correlated panels.</a:t>
            </a:r>
          </a:p>
        </p:txBody>
      </p:sp>
      <p:sp>
        <p:nvSpPr>
          <p:cNvPr id="7" name="TextBox 6"/>
          <p:cNvSpPr txBox="1"/>
          <p:nvPr/>
        </p:nvSpPr>
        <p:spPr>
          <a:xfrm>
            <a:off x="576072" y="1874519"/>
            <a:ext cx="5257800" cy="283464"/>
          </a:xfrm>
          <a:prstGeom prst="rect">
            <a:avLst/>
          </a:prstGeom>
          <a:noFill/>
        </p:spPr>
        <p:txBody>
          <a:bodyPr wrap="square" lIns="0" rIns="0" tIns="0" bIns="0" anchor="t">
            <a:spAutoFit/>
          </a:bodyPr>
          <a:lstStyle/>
          <a:p>
            <a:pPr algn="ctr">
              <a:spcAft>
                <a:spcPts val="0"/>
              </a:spcAft>
            </a:pPr>
            <a:r>
              <a:rPr sz="1600" b="1" i="0">
                <a:solidFill>
                  <a:srgbClr val="082B55"/>
                </a:solidFill>
                <a:latin typeface="Arial"/>
              </a:rPr>
              <a:t>BH-FDR tissue-gene associations</a:t>
            </a:r>
          </a:p>
        </p:txBody>
      </p:sp>
      <p:sp>
        <p:nvSpPr>
          <p:cNvPr id="8" name="Oval 7"/>
          <p:cNvSpPr/>
          <p:nvPr/>
        </p:nvSpPr>
        <p:spPr>
          <a:xfrm>
            <a:off x="658368" y="2395728"/>
            <a:ext cx="3456432" cy="2468880"/>
          </a:xfrm>
          <a:prstGeom prst="ellipse">
            <a:avLst/>
          </a:prstGeom>
          <a:solidFill>
            <a:srgbClr val="D96552">
              <a:alpha val="22000"/>
            </a:srgbClr>
          </a:solidFill>
          <a:ln w="3048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679192" y="2395728"/>
            <a:ext cx="3456432" cy="2468880"/>
          </a:xfrm>
          <a:prstGeom prst="ellipse">
            <a:avLst/>
          </a:prstGeom>
          <a:solidFill>
            <a:srgbClr val="2D6496">
              <a:alpha val="20000"/>
            </a:srgbClr>
          </a:solid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76272"/>
            <a:ext cx="1965960" cy="246888"/>
          </a:xfrm>
          <a:prstGeom prst="rect">
            <a:avLst/>
          </a:prstGeom>
          <a:noFill/>
        </p:spPr>
        <p:txBody>
          <a:bodyPr wrap="square" lIns="0" rIns="0" tIns="0" bIns="0" anchor="t">
            <a:spAutoFit/>
          </a:bodyPr>
          <a:lstStyle/>
          <a:p>
            <a:pPr algn="ctr">
              <a:spcAft>
                <a:spcPts val="0"/>
              </a:spcAft>
            </a:pPr>
            <a:r>
              <a:rPr sz="1220" b="1" i="0">
                <a:solidFill>
                  <a:srgbClr val="D96552"/>
                </a:solidFill>
                <a:latin typeface="Arial"/>
              </a:rPr>
              <a:t>Matched all-gene</a:t>
            </a:r>
          </a:p>
        </p:txBody>
      </p:sp>
      <p:sp>
        <p:nvSpPr>
          <p:cNvPr id="11" name="TextBox 10"/>
          <p:cNvSpPr txBox="1"/>
          <p:nvPr/>
        </p:nvSpPr>
        <p:spPr>
          <a:xfrm>
            <a:off x="4041648" y="2176272"/>
            <a:ext cx="1965960" cy="246888"/>
          </a:xfrm>
          <a:prstGeom prst="rect">
            <a:avLst/>
          </a:prstGeom>
          <a:noFill/>
        </p:spPr>
        <p:txBody>
          <a:bodyPr wrap="square" lIns="0" rIns="0" tIns="0" bIns="0" anchor="t">
            <a:spAutoFit/>
          </a:bodyPr>
          <a:lstStyle/>
          <a:p>
            <a:pPr algn="ctr">
              <a:spcAft>
                <a:spcPts val="0"/>
              </a:spcAft>
            </a:pPr>
            <a:r>
              <a:rPr sz="1220" b="1" i="0">
                <a:solidFill>
                  <a:srgbClr val="2D6496"/>
                </a:solidFill>
                <a:latin typeface="Arial"/>
              </a:rPr>
              <a:t>Consensus panels</a:t>
            </a:r>
          </a:p>
        </p:txBody>
      </p:sp>
      <p:sp>
        <p:nvSpPr>
          <p:cNvPr id="12" name="TextBox 11"/>
          <p:cNvSpPr txBox="1"/>
          <p:nvPr/>
        </p:nvSpPr>
        <p:spPr>
          <a:xfrm>
            <a:off x="1143000" y="3172968"/>
            <a:ext cx="1097280" cy="457200"/>
          </a:xfrm>
          <a:prstGeom prst="rect">
            <a:avLst/>
          </a:prstGeom>
          <a:noFill/>
        </p:spPr>
        <p:txBody>
          <a:bodyPr wrap="square" lIns="0" rIns="0" tIns="0" bIns="0" anchor="t">
            <a:spAutoFit/>
          </a:bodyPr>
          <a:lstStyle/>
          <a:p>
            <a:pPr algn="ctr">
              <a:spcAft>
                <a:spcPts val="0"/>
              </a:spcAft>
            </a:pPr>
            <a:r>
              <a:rPr sz="2900" b="1" i="0">
                <a:solidFill>
                  <a:srgbClr val="D96552"/>
                </a:solidFill>
                <a:latin typeface="Arial"/>
              </a:rPr>
              <a:t>10</a:t>
            </a:r>
          </a:p>
        </p:txBody>
      </p:sp>
      <p:sp>
        <p:nvSpPr>
          <p:cNvPr id="13" name="TextBox 12"/>
          <p:cNvSpPr txBox="1"/>
          <p:nvPr/>
        </p:nvSpPr>
        <p:spPr>
          <a:xfrm>
            <a:off x="1051560" y="3685032"/>
            <a:ext cx="128016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matched only</a:t>
            </a:r>
          </a:p>
        </p:txBody>
      </p:sp>
      <p:sp>
        <p:nvSpPr>
          <p:cNvPr id="14" name="TextBox 13"/>
          <p:cNvSpPr txBox="1"/>
          <p:nvPr/>
        </p:nvSpPr>
        <p:spPr>
          <a:xfrm>
            <a:off x="2834640" y="3172968"/>
            <a:ext cx="1097280" cy="457200"/>
          </a:xfrm>
          <a:prstGeom prst="rect">
            <a:avLst/>
          </a:prstGeom>
          <a:noFill/>
        </p:spPr>
        <p:txBody>
          <a:bodyPr wrap="square" lIns="0" rIns="0" tIns="0" bIns="0" anchor="t">
            <a:spAutoFit/>
          </a:bodyPr>
          <a:lstStyle/>
          <a:p>
            <a:pPr algn="ctr">
              <a:spcAft>
                <a:spcPts val="0"/>
              </a:spcAft>
            </a:pPr>
            <a:r>
              <a:rPr sz="2900" b="1" i="0">
                <a:solidFill>
                  <a:srgbClr val="082B55"/>
                </a:solidFill>
                <a:latin typeface="Arial"/>
              </a:rPr>
              <a:t>11</a:t>
            </a:r>
          </a:p>
        </p:txBody>
      </p:sp>
      <p:sp>
        <p:nvSpPr>
          <p:cNvPr id="15" name="TextBox 14"/>
          <p:cNvSpPr txBox="1"/>
          <p:nvPr/>
        </p:nvSpPr>
        <p:spPr>
          <a:xfrm>
            <a:off x="2834640" y="3685032"/>
            <a:ext cx="109728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both</a:t>
            </a:r>
          </a:p>
        </p:txBody>
      </p:sp>
      <p:sp>
        <p:nvSpPr>
          <p:cNvPr id="16" name="TextBox 15"/>
          <p:cNvSpPr txBox="1"/>
          <p:nvPr/>
        </p:nvSpPr>
        <p:spPr>
          <a:xfrm>
            <a:off x="4544568" y="3172968"/>
            <a:ext cx="1097280" cy="457200"/>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38</a:t>
            </a:r>
          </a:p>
        </p:txBody>
      </p:sp>
      <p:sp>
        <p:nvSpPr>
          <p:cNvPr id="17" name="TextBox 16"/>
          <p:cNvSpPr txBox="1"/>
          <p:nvPr/>
        </p:nvSpPr>
        <p:spPr>
          <a:xfrm>
            <a:off x="4398264" y="3685032"/>
            <a:ext cx="1389888"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consensus only</a:t>
            </a:r>
          </a:p>
        </p:txBody>
      </p:sp>
      <p:sp>
        <p:nvSpPr>
          <p:cNvPr id="18" name="TextBox 17"/>
          <p:cNvSpPr txBox="1"/>
          <p:nvPr/>
        </p:nvSpPr>
        <p:spPr>
          <a:xfrm>
            <a:off x="1435608" y="4617720"/>
            <a:ext cx="1417320" cy="256032"/>
          </a:xfrm>
          <a:prstGeom prst="rect">
            <a:avLst/>
          </a:prstGeom>
          <a:noFill/>
        </p:spPr>
        <p:txBody>
          <a:bodyPr wrap="square" lIns="0" rIns="0" tIns="0" bIns="0" anchor="t">
            <a:spAutoFit/>
          </a:bodyPr>
          <a:lstStyle/>
          <a:p>
            <a:pPr algn="ctr">
              <a:spcAft>
                <a:spcPts val="0"/>
              </a:spcAft>
            </a:pPr>
            <a:r>
              <a:rPr sz="1200" b="1" i="0">
                <a:solidFill>
                  <a:srgbClr val="D96552"/>
                </a:solidFill>
                <a:latin typeface="Arial"/>
              </a:rPr>
              <a:t>21 total</a:t>
            </a:r>
          </a:p>
        </p:txBody>
      </p:sp>
      <p:sp>
        <p:nvSpPr>
          <p:cNvPr id="19" name="TextBox 18"/>
          <p:cNvSpPr txBox="1"/>
          <p:nvPr/>
        </p:nvSpPr>
        <p:spPr>
          <a:xfrm>
            <a:off x="3950208" y="4617720"/>
            <a:ext cx="1417320" cy="256032"/>
          </a:xfrm>
          <a:prstGeom prst="rect">
            <a:avLst/>
          </a:prstGeom>
          <a:noFill/>
        </p:spPr>
        <p:txBody>
          <a:bodyPr wrap="square" lIns="0" rIns="0" tIns="0" bIns="0" anchor="t">
            <a:spAutoFit/>
          </a:bodyPr>
          <a:lstStyle/>
          <a:p>
            <a:pPr algn="ctr">
              <a:spcAft>
                <a:spcPts val="0"/>
              </a:spcAft>
            </a:pPr>
            <a:r>
              <a:rPr sz="1200" b="1" i="0">
                <a:solidFill>
                  <a:srgbClr val="2D6496"/>
                </a:solidFill>
                <a:latin typeface="Arial"/>
              </a:rPr>
              <a:t>49 total</a:t>
            </a:r>
          </a:p>
        </p:txBody>
      </p:sp>
      <p:sp>
        <p:nvSpPr>
          <p:cNvPr id="20" name="Rectangle 19"/>
          <p:cNvSpPr/>
          <p:nvPr/>
        </p:nvSpPr>
        <p:spPr>
          <a:xfrm>
            <a:off x="6492240" y="1874519"/>
            <a:ext cx="13716" cy="402336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1984248"/>
            <a:ext cx="4663440" cy="96926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22592" y="2148840"/>
            <a:ext cx="914400" cy="210312"/>
          </a:xfrm>
          <a:prstGeom prst="rect">
            <a:avLst/>
          </a:prstGeom>
          <a:noFill/>
        </p:spPr>
        <p:txBody>
          <a:bodyPr wrap="square" lIns="0" rIns="0" tIns="0" bIns="0" anchor="t">
            <a:spAutoFit/>
          </a:bodyPr>
          <a:lstStyle/>
          <a:p>
            <a:pPr algn="l">
              <a:spcAft>
                <a:spcPts val="0"/>
              </a:spcAft>
            </a:pPr>
            <a:r>
              <a:rPr sz="919" b="1" i="0">
                <a:solidFill>
                  <a:srgbClr val="D96552"/>
                </a:solidFill>
                <a:latin typeface="Arial"/>
              </a:rPr>
              <a:t>PRIMARY</a:t>
            </a:r>
          </a:p>
        </p:txBody>
      </p:sp>
      <p:sp>
        <p:nvSpPr>
          <p:cNvPr id="23" name="TextBox 22"/>
          <p:cNvSpPr txBox="1"/>
          <p:nvPr/>
        </p:nvSpPr>
        <p:spPr>
          <a:xfrm>
            <a:off x="8074152" y="2112264"/>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Matched all-gene</a:t>
            </a:r>
          </a:p>
        </p:txBody>
      </p:sp>
      <p:sp>
        <p:nvSpPr>
          <p:cNvPr id="24" name="TextBox 23"/>
          <p:cNvSpPr txBox="1"/>
          <p:nvPr/>
        </p:nvSpPr>
        <p:spPr>
          <a:xfrm>
            <a:off x="7022592" y="2450591"/>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Same genes and classifier; asks whether training source changes held-out-real utility or importance.</a:t>
            </a:r>
          </a:p>
        </p:txBody>
      </p:sp>
      <p:sp>
        <p:nvSpPr>
          <p:cNvPr id="25" name="Rectangle 24"/>
          <p:cNvSpPr/>
          <p:nvPr/>
        </p:nvSpPr>
        <p:spPr>
          <a:xfrm>
            <a:off x="6784848" y="3200400"/>
            <a:ext cx="4663440" cy="96926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22592" y="3364992"/>
            <a:ext cx="914400" cy="21031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SECONDARY</a:t>
            </a:r>
          </a:p>
        </p:txBody>
      </p:sp>
      <p:sp>
        <p:nvSpPr>
          <p:cNvPr id="27" name="TextBox 26"/>
          <p:cNvSpPr txBox="1"/>
          <p:nvPr/>
        </p:nvSpPr>
        <p:spPr>
          <a:xfrm>
            <a:off x="8074152" y="3328416"/>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Consensus panel</a:t>
            </a:r>
          </a:p>
        </p:txBody>
      </p:sp>
      <p:sp>
        <p:nvSpPr>
          <p:cNvPr id="28" name="TextBox 27"/>
          <p:cNvSpPr txBox="1"/>
          <p:nvPr/>
        </p:nvSpPr>
        <p:spPr>
          <a:xfrm>
            <a:off x="7022592" y="3666744"/>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Ranks compact top-k panels; preserves groups of correlated genes that can replace one another.</a:t>
            </a:r>
          </a:p>
        </p:txBody>
      </p:sp>
      <p:sp>
        <p:nvSpPr>
          <p:cNvPr id="29" name="Rectangle 28"/>
          <p:cNvSpPr/>
          <p:nvPr/>
        </p:nvSpPr>
        <p:spPr>
          <a:xfrm>
            <a:off x="6784848" y="4416552"/>
            <a:ext cx="4663440" cy="96926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22592" y="4581144"/>
            <a:ext cx="914400" cy="210312"/>
          </a:xfrm>
          <a:prstGeom prst="rect">
            <a:avLst/>
          </a:prstGeom>
          <a:noFill/>
        </p:spPr>
        <p:txBody>
          <a:bodyPr wrap="square" lIns="0" rIns="0" tIns="0" bIns="0" anchor="t">
            <a:spAutoFit/>
          </a:bodyPr>
          <a:lstStyle/>
          <a:p>
            <a:pPr algn="l">
              <a:spcAft>
                <a:spcPts val="0"/>
              </a:spcAft>
            </a:pPr>
            <a:r>
              <a:rPr sz="919" b="1" i="0">
                <a:solidFill>
                  <a:srgbClr val="178681"/>
                </a:solidFill>
                <a:latin typeface="Arial"/>
              </a:rPr>
              <a:t>SHARED</a:t>
            </a:r>
          </a:p>
        </p:txBody>
      </p:sp>
      <p:sp>
        <p:nvSpPr>
          <p:cNvPr id="31" name="TextBox 30"/>
          <p:cNvSpPr txBox="1"/>
          <p:nvPr/>
        </p:nvSpPr>
        <p:spPr>
          <a:xfrm>
            <a:off x="8074152" y="4544568"/>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Real association gate</a:t>
            </a:r>
          </a:p>
        </p:txBody>
      </p:sp>
      <p:sp>
        <p:nvSpPr>
          <p:cNvPr id="32" name="TextBox 31"/>
          <p:cNvSpPr txBox="1"/>
          <p:nvPr/>
        </p:nvSpPr>
        <p:spPr>
          <a:xfrm>
            <a:off x="7022592" y="4882896"/>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FLT-GC effects and BH FDR are estimated from observed OSDR profiles only.</a:t>
            </a:r>
          </a:p>
        </p:txBody>
      </p:sp>
      <p:sp>
        <p:nvSpPr>
          <p:cNvPr id="33" name="Rectangle 32"/>
          <p:cNvSpPr/>
          <p:nvPr/>
        </p:nvSpPr>
        <p:spPr>
          <a:xfrm>
            <a:off x="530352" y="5367528"/>
            <a:ext cx="10991088" cy="585216"/>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532120"/>
            <a:ext cx="10497312" cy="256032"/>
          </a:xfrm>
          <a:prstGeom prst="rect">
            <a:avLst/>
          </a:prstGeom>
          <a:noFill/>
        </p:spPr>
        <p:txBody>
          <a:bodyPr wrap="square" lIns="0" rIns="0" tIns="0" bIns="0" anchor="t">
            <a:spAutoFit/>
          </a:bodyPr>
          <a:lstStyle/>
          <a:p>
            <a:pPr algn="ctr">
              <a:spcAft>
                <a:spcPts val="0"/>
              </a:spcAft>
            </a:pPr>
            <a:r>
              <a:rPr sz="1350" b="1" i="0">
                <a:solidFill>
                  <a:srgbClr val="FFFFFF"/>
                </a:solidFill>
                <a:latin typeface="Arial"/>
              </a:rPr>
              <a:t>Thymus is strongest because matched importance and the consensus cell-cycle panel converge.</a:t>
            </a:r>
          </a:p>
        </p:txBody>
      </p:sp>
      <p:sp>
        <p:nvSpPr>
          <p:cNvPr id="35" name="TextBox 3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Crosswalk: 21 matched associations, 49 consensus associations, and 11 supported by both analyses.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secondary consensus associations received a selection status and an independent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matched screen covered all 27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Predictive utility and gene-level support are separate outcomes.</a:t>
            </a:r>
          </a:p>
        </p:txBody>
      </p:sp>
      <p:sp>
        <p:nvSpPr>
          <p:cNvPr id="7" name="Rectangle 6"/>
          <p:cNvSpPr/>
          <p:nvPr/>
        </p:nvSpPr>
        <p:spPr>
          <a:xfrm>
            <a:off x="393192" y="1865376"/>
            <a:ext cx="3337560"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D96552"/>
                </a:solidFill>
                <a:latin typeface="Arial"/>
              </a:rPr>
              <a:t>4</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Matched genes</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Utility passed + BH-FDR gene importance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65041"/>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Liver</a:t>
            </a:r>
          </a:p>
        </p:txBody>
      </p:sp>
      <p:sp>
        <p:nvSpPr>
          <p:cNvPr id="15" name="Rectangle 14"/>
          <p:cNvSpPr/>
          <p:nvPr/>
        </p:nvSpPr>
        <p:spPr>
          <a:xfrm>
            <a:off x="420623" y="4094226"/>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950208"/>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Skin</a:t>
            </a:r>
          </a:p>
        </p:txBody>
      </p:sp>
      <p:sp>
        <p:nvSpPr>
          <p:cNvPr id="17" name="Rectangle 16"/>
          <p:cNvSpPr/>
          <p:nvPr/>
        </p:nvSpPr>
        <p:spPr>
          <a:xfrm>
            <a:off x="420623" y="4423409"/>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279392"/>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Spleen</a:t>
            </a:r>
          </a:p>
        </p:txBody>
      </p:sp>
      <p:sp>
        <p:nvSpPr>
          <p:cNvPr id="19" name="Rectangle 18"/>
          <p:cNvSpPr/>
          <p:nvPr/>
        </p:nvSpPr>
        <p:spPr>
          <a:xfrm>
            <a:off x="420623" y="4752594"/>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608576"/>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Thymus</a:t>
            </a:r>
          </a:p>
        </p:txBody>
      </p:sp>
      <p:sp>
        <p:nvSpPr>
          <p:cNvPr id="21" name="Rectangle 20"/>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05656"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14</a:t>
            </a:r>
          </a:p>
        </p:txBody>
      </p:sp>
      <p:sp>
        <p:nvSpPr>
          <p:cNvPr id="24" name="TextBox 23"/>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Utility only</a:t>
            </a:r>
          </a:p>
        </p:txBody>
      </p:sp>
      <p:sp>
        <p:nvSpPr>
          <p:cNvPr id="25" name="TextBox 24"/>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All six metrics passed; no retained gene</a:t>
            </a:r>
          </a:p>
        </p:txBody>
      </p:sp>
      <p:sp>
        <p:nvSpPr>
          <p:cNvPr id="26" name="Rectangle 25"/>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28" name="Rectangle 27"/>
          <p:cNvSpPr/>
          <p:nvPr/>
        </p:nvSpPr>
        <p:spPr>
          <a:xfrm>
            <a:off x="4133088" y="367948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362102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EDL</a:t>
            </a:r>
          </a:p>
        </p:txBody>
      </p:sp>
      <p:sp>
        <p:nvSpPr>
          <p:cNvPr id="30" name="Rectangle 29"/>
          <p:cNvSpPr/>
          <p:nvPr/>
        </p:nvSpPr>
        <p:spPr>
          <a:xfrm>
            <a:off x="4133088" y="383754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34256" y="377908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Adrenal Gland</a:t>
            </a:r>
          </a:p>
        </p:txBody>
      </p:sp>
      <p:sp>
        <p:nvSpPr>
          <p:cNvPr id="32" name="Rectangle 31"/>
          <p:cNvSpPr/>
          <p:nvPr/>
        </p:nvSpPr>
        <p:spPr>
          <a:xfrm>
            <a:off x="4133088" y="39956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34256" y="393714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Bone Marrow</a:t>
            </a:r>
          </a:p>
        </p:txBody>
      </p:sp>
      <p:sp>
        <p:nvSpPr>
          <p:cNvPr id="34" name="Rectangle 33"/>
          <p:cNvSpPr/>
          <p:nvPr/>
        </p:nvSpPr>
        <p:spPr>
          <a:xfrm>
            <a:off x="4133088" y="415366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34256" y="409520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Brain</a:t>
            </a:r>
          </a:p>
        </p:txBody>
      </p:sp>
      <p:sp>
        <p:nvSpPr>
          <p:cNvPr id="36" name="Rectangle 35"/>
          <p:cNvSpPr/>
          <p:nvPr/>
        </p:nvSpPr>
        <p:spPr>
          <a:xfrm>
            <a:off x="4133088" y="431172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34256" y="425326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Brown adipose tissue</a:t>
            </a:r>
          </a:p>
        </p:txBody>
      </p:sp>
      <p:sp>
        <p:nvSpPr>
          <p:cNvPr id="38" name="Rectangle 37"/>
          <p:cNvSpPr/>
          <p:nvPr/>
        </p:nvSpPr>
        <p:spPr>
          <a:xfrm>
            <a:off x="4133088" y="446978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441132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Cerebellum</a:t>
            </a:r>
          </a:p>
        </p:txBody>
      </p:sp>
      <p:sp>
        <p:nvSpPr>
          <p:cNvPr id="40" name="Rectangle 39"/>
          <p:cNvSpPr/>
          <p:nvPr/>
        </p:nvSpPr>
        <p:spPr>
          <a:xfrm>
            <a:off x="4133088" y="462784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4569387"/>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Colon</a:t>
            </a:r>
          </a:p>
        </p:txBody>
      </p:sp>
      <p:sp>
        <p:nvSpPr>
          <p:cNvPr id="42" name="Rectangle 41"/>
          <p:cNvSpPr/>
          <p:nvPr/>
        </p:nvSpPr>
        <p:spPr>
          <a:xfrm>
            <a:off x="4133088" y="478590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472744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Eye</a:t>
            </a:r>
          </a:p>
        </p:txBody>
      </p:sp>
      <p:sp>
        <p:nvSpPr>
          <p:cNvPr id="44" name="Rectangle 43"/>
          <p:cNvSpPr/>
          <p:nvPr/>
        </p:nvSpPr>
        <p:spPr>
          <a:xfrm>
            <a:off x="4133088" y="494396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88550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Lung</a:t>
            </a:r>
          </a:p>
        </p:txBody>
      </p:sp>
      <p:sp>
        <p:nvSpPr>
          <p:cNvPr id="46" name="Rectangle 45"/>
          <p:cNvSpPr/>
          <p:nvPr/>
        </p:nvSpPr>
        <p:spPr>
          <a:xfrm>
            <a:off x="4133088" y="510202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504356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Mammary Gland</a:t>
            </a:r>
          </a:p>
        </p:txBody>
      </p:sp>
      <p:sp>
        <p:nvSpPr>
          <p:cNvPr id="48" name="Rectangle 47"/>
          <p:cNvSpPr/>
          <p:nvPr/>
        </p:nvSpPr>
        <p:spPr>
          <a:xfrm>
            <a:off x="4133088"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520162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Optic Nerve</a:t>
            </a:r>
          </a:p>
        </p:txBody>
      </p:sp>
      <p:sp>
        <p:nvSpPr>
          <p:cNvPr id="50" name="Rectangle 49"/>
          <p:cNvSpPr/>
          <p:nvPr/>
        </p:nvSpPr>
        <p:spPr>
          <a:xfrm>
            <a:off x="4133088" y="54181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34256" y="535969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Retina</a:t>
            </a:r>
          </a:p>
        </p:txBody>
      </p:sp>
      <p:sp>
        <p:nvSpPr>
          <p:cNvPr id="52" name="Rectangle 51"/>
          <p:cNvSpPr/>
          <p:nvPr/>
        </p:nvSpPr>
        <p:spPr>
          <a:xfrm>
            <a:off x="4133088" y="557620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34256" y="551775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Skeletal muscle (pooled)</a:t>
            </a:r>
          </a:p>
        </p:txBody>
      </p:sp>
      <p:sp>
        <p:nvSpPr>
          <p:cNvPr id="54" name="Rectangle 53"/>
          <p:cNvSpPr/>
          <p:nvPr/>
        </p:nvSpPr>
        <p:spPr>
          <a:xfrm>
            <a:off x="4133088" y="573426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334256" y="5675811"/>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White adipose tissue</a:t>
            </a:r>
          </a:p>
        </p:txBody>
      </p:sp>
      <p:sp>
        <p:nvSpPr>
          <p:cNvPr id="56" name="Rectangle 55"/>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818120"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9</a:t>
            </a:r>
          </a:p>
        </p:txBody>
      </p:sp>
      <p:sp>
        <p:nvSpPr>
          <p:cNvPr id="59" name="TextBox 58"/>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Gate not passed</a:t>
            </a:r>
          </a:p>
        </p:txBody>
      </p:sp>
      <p:sp>
        <p:nvSpPr>
          <p:cNvPr id="60" name="TextBox 59"/>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At least one mean metric was worse</a:t>
            </a:r>
          </a:p>
        </p:txBody>
      </p:sp>
      <p:sp>
        <p:nvSpPr>
          <p:cNvPr id="61" name="Rectangle 60"/>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63" name="Rectangle 62"/>
          <p:cNvSpPr/>
          <p:nvPr/>
        </p:nvSpPr>
        <p:spPr>
          <a:xfrm>
            <a:off x="7845552" y="372338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362102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Gastrocnemius</a:t>
            </a:r>
          </a:p>
        </p:txBody>
      </p:sp>
      <p:sp>
        <p:nvSpPr>
          <p:cNvPr id="65" name="Rectangle 64"/>
          <p:cNvSpPr/>
          <p:nvPr/>
        </p:nvSpPr>
        <p:spPr>
          <a:xfrm>
            <a:off x="7845552" y="396925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386689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Quadriceps</a:t>
            </a:r>
          </a:p>
        </p:txBody>
      </p:sp>
      <p:sp>
        <p:nvSpPr>
          <p:cNvPr id="67" name="Rectangle 66"/>
          <p:cNvSpPr/>
          <p:nvPr/>
        </p:nvSpPr>
        <p:spPr>
          <a:xfrm>
            <a:off x="7845552" y="421512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112767"/>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Soleus</a:t>
            </a:r>
          </a:p>
        </p:txBody>
      </p:sp>
      <p:sp>
        <p:nvSpPr>
          <p:cNvPr id="69" name="Rectangle 68"/>
          <p:cNvSpPr/>
          <p:nvPr/>
        </p:nvSpPr>
        <p:spPr>
          <a:xfrm>
            <a:off x="7845552" y="4461002"/>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35864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Tibialis Anterior</a:t>
            </a:r>
          </a:p>
        </p:txBody>
      </p:sp>
      <p:sp>
        <p:nvSpPr>
          <p:cNvPr id="71" name="Rectangle 70"/>
          <p:cNvSpPr/>
          <p:nvPr/>
        </p:nvSpPr>
        <p:spPr>
          <a:xfrm>
            <a:off x="7845552" y="470687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604512"/>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Bone</a:t>
            </a:r>
          </a:p>
        </p:txBody>
      </p:sp>
      <p:sp>
        <p:nvSpPr>
          <p:cNvPr id="73" name="Rectangle 72"/>
          <p:cNvSpPr/>
          <p:nvPr/>
        </p:nvSpPr>
        <p:spPr>
          <a:xfrm>
            <a:off x="7845552" y="495274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485038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Cecum</a:t>
            </a:r>
          </a:p>
        </p:txBody>
      </p:sp>
      <p:sp>
        <p:nvSpPr>
          <p:cNvPr id="75" name="Rectangle 74"/>
          <p:cNvSpPr/>
          <p:nvPr/>
        </p:nvSpPr>
        <p:spPr>
          <a:xfrm>
            <a:off x="7845552" y="519861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09625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Heart</a:t>
            </a:r>
          </a:p>
        </p:txBody>
      </p:sp>
      <p:sp>
        <p:nvSpPr>
          <p:cNvPr id="77" name="Rectangle 76"/>
          <p:cNvSpPr/>
          <p:nvPr/>
        </p:nvSpPr>
        <p:spPr>
          <a:xfrm>
            <a:off x="7845552" y="5444490"/>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342128"/>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Hippocampus</a:t>
            </a:r>
          </a:p>
        </p:txBody>
      </p:sp>
      <p:sp>
        <p:nvSpPr>
          <p:cNvPr id="79" name="Rectangle 78"/>
          <p:cNvSpPr/>
          <p:nvPr/>
        </p:nvSpPr>
        <p:spPr>
          <a:xfrm>
            <a:off x="7845552" y="569036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58800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Kidney</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Real-plus-synthetic matched arm across 22 canonical tissues and five anatomical muscle groups.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SECONDARY CONSENSUS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consensus-selected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consensus ranking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consensus set: rows report FLT direction and selection status; gene color independently reports literature interpretation.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is strongest across both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importance supports synthetic contribution; consensus ranking expands the correlated cell-cycle panel.</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075688"/>
            <a:ext cx="2697480" cy="210312"/>
          </a:xfrm>
          <a:prstGeom prst="rect">
            <a:avLst/>
          </a:prstGeom>
          <a:noFill/>
        </p:spPr>
        <p:txBody>
          <a:bodyPr wrap="square" lIns="0" rIns="0" tIns="0" bIns="0" anchor="t">
            <a:spAutoFit/>
          </a:bodyPr>
          <a:lstStyle/>
          <a:p>
            <a:pPr algn="l">
              <a:spcAft>
                <a:spcPts val="0"/>
              </a:spcAft>
            </a:pPr>
            <a:r>
              <a:rPr sz="950" b="1" i="0">
                <a:solidFill>
                  <a:srgbClr val="D96552"/>
                </a:solidFill>
                <a:latin typeface="Arial"/>
              </a:rPr>
              <a:t>MATCHED ALL-GENE</a:t>
            </a:r>
          </a:p>
        </p:txBody>
      </p:sp>
      <p:sp>
        <p:nvSpPr>
          <p:cNvPr id="10" name="TextBox 9"/>
          <p:cNvSpPr txBox="1"/>
          <p:nvPr/>
        </p:nvSpPr>
        <p:spPr>
          <a:xfrm>
            <a:off x="8622792" y="2340864"/>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15</a:t>
            </a:r>
          </a:p>
        </p:txBody>
      </p:sp>
      <p:sp>
        <p:nvSpPr>
          <p:cNvPr id="11" name="TextBox 10"/>
          <p:cNvSpPr txBox="1"/>
          <p:nvPr/>
        </p:nvSpPr>
        <p:spPr>
          <a:xfrm>
            <a:off x="9491472" y="2359152"/>
            <a:ext cx="1938528" cy="566928"/>
          </a:xfrm>
          <a:prstGeom prst="rect">
            <a:avLst/>
          </a:prstGeom>
          <a:noFill/>
        </p:spPr>
        <p:txBody>
          <a:bodyPr wrap="square" lIns="18288" rIns="18288" tIns="18288" bIns="18288" anchor="t">
            <a:spAutoFit/>
          </a:bodyPr>
          <a:lstStyle/>
          <a:p>
            <a:pPr algn="l">
              <a:spcAft>
                <a:spcPts val="0"/>
              </a:spcAft>
            </a:pPr>
            <a:r>
              <a:rPr sz="1270" b="1" i="0">
                <a:solidFill>
                  <a:srgbClr val="263746"/>
                </a:solidFill>
                <a:latin typeface="Arial"/>
              </a:rPr>
              <a:t>BH-FDR genes with
synthetic-supported importance</a:t>
            </a:r>
          </a:p>
        </p:txBody>
      </p:sp>
      <p:sp>
        <p:nvSpPr>
          <p:cNvPr id="12" name="TextBox 11"/>
          <p:cNvSpPr txBox="1"/>
          <p:nvPr/>
        </p:nvSpPr>
        <p:spPr>
          <a:xfrm>
            <a:off x="8631936" y="3054096"/>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7 promoted | 8 shared</a:t>
            </a:r>
          </a:p>
        </p:txBody>
      </p:sp>
      <p:sp>
        <p:nvSpPr>
          <p:cNvPr id="13" name="Oval 12"/>
          <p:cNvSpPr/>
          <p:nvPr/>
        </p:nvSpPr>
        <p:spPr>
          <a:xfrm>
            <a:off x="8631936" y="3538728"/>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4815" y="3447288"/>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26 significant Reactome terms; mitotic cell cycle leads</a:t>
            </a:r>
          </a:p>
        </p:txBody>
      </p:sp>
      <p:sp>
        <p:nvSpPr>
          <p:cNvPr id="15" name="Oval 14"/>
          <p:cNvSpPr/>
          <p:nvPr/>
        </p:nvSpPr>
        <p:spPr>
          <a:xfrm>
            <a:off x="8631936" y="4096511"/>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14815" y="4005072"/>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Nine genes overlap the 16-gene consensus panel</a:t>
            </a:r>
          </a:p>
        </p:txBody>
      </p:sp>
      <p:sp>
        <p:nvSpPr>
          <p:cNvPr id="17" name="Oval 16"/>
          <p:cNvSpPr/>
          <p:nvPr/>
        </p:nvSpPr>
        <p:spPr>
          <a:xfrm>
            <a:off x="8631936" y="465429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14815" y="4562856"/>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Consensus adds correlated Cdk1, Top2a, Aurka, Ccne2, Pcna and Ccnf</a:t>
            </a:r>
          </a:p>
        </p:txBody>
      </p:sp>
      <p:sp>
        <p:nvSpPr>
          <p:cNvPr id="19" name="Oval 18"/>
          <p:cNvSpPr/>
          <p:nvPr/>
        </p:nvSpPr>
        <p:spPr>
          <a:xfrm>
            <a:off x="8631936" y="521207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14815" y="5120640"/>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Lower mitotic renewal or fewer cycling thymocytes in flight</a:t>
            </a:r>
          </a:p>
        </p:txBody>
      </p:sp>
      <p:sp>
        <p:nvSpPr>
          <p:cNvPr id="21" name="TextBox 2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Figure shows the secondary consensus panel; matched genes and Reactome crosswalk are in Tables S19-S20. Context: Gridley et al. (2013); Horie et al. (2019).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is a coherent secondary consensus result</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five-gene program is biologically interpretable, but the matched all-gene gate did not pass.</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25128" y="2103120"/>
            <a:ext cx="2532888" cy="566928"/>
          </a:xfrm>
          <a:prstGeom prst="rect">
            <a:avLst/>
          </a:prstGeom>
          <a:noFill/>
        </p:spPr>
        <p:txBody>
          <a:bodyPr wrap="square" lIns="18288" rIns="18288" tIns="18288" bIns="18288" anchor="t">
            <a:spAutoFit/>
          </a:bodyPr>
          <a:lstStyle/>
          <a:p>
            <a:pPr algn="ctr">
              <a:spcAft>
                <a:spcPts val="0"/>
              </a:spcAft>
            </a:pPr>
            <a:r>
              <a:rPr sz="1700" b="1" i="0">
                <a:solidFill>
                  <a:srgbClr val="178681"/>
                </a:solidFill>
                <a:latin typeface="Arial"/>
              </a:rPr>
              <a:t>5-gene consensus panel</a:t>
            </a:r>
          </a:p>
        </p:txBody>
      </p:sp>
      <p:sp>
        <p:nvSpPr>
          <p:cNvPr id="10" name="TextBox 9"/>
          <p:cNvSpPr txBox="1"/>
          <p:nvPr/>
        </p:nvSpPr>
        <p:spPr>
          <a:xfrm>
            <a:off x="9052560" y="2706624"/>
            <a:ext cx="2468880" cy="329184"/>
          </a:xfrm>
          <a:prstGeom prst="rect">
            <a:avLst/>
          </a:prstGeom>
          <a:noFill/>
        </p:spPr>
        <p:txBody>
          <a:bodyPr wrap="square" lIns="18288" rIns="18288" tIns="18288" bIns="18288" anchor="t">
            <a:spAutoFit/>
          </a:bodyPr>
          <a:lstStyle/>
          <a:p>
            <a:pPr algn="ctr">
              <a:spcAft>
                <a:spcPts val="0"/>
              </a:spcAft>
            </a:pPr>
            <a:r>
              <a:rPr sz="1080" b="0" i="0">
                <a:solidFill>
                  <a:srgbClr val="59697A"/>
                </a:solidFill>
                <a:latin typeface="Arial"/>
              </a:rPr>
              <a:t>reinforced in real and consensus rankings</a:t>
            </a:r>
          </a:p>
        </p:txBody>
      </p:sp>
      <p:sp>
        <p:nvSpPr>
          <p:cNvPr id="11" name="Rectangle 10"/>
          <p:cNvSpPr/>
          <p:nvPr/>
        </p:nvSpPr>
        <p:spPr>
          <a:xfrm>
            <a:off x="9070848" y="3099816"/>
            <a:ext cx="2423160" cy="676656"/>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0" y="3200400"/>
            <a:ext cx="2103120" cy="228600"/>
          </a:xfrm>
          <a:prstGeom prst="rect">
            <a:avLst/>
          </a:prstGeom>
          <a:noFill/>
        </p:spPr>
        <p:txBody>
          <a:bodyPr wrap="square" lIns="0" rIns="0" tIns="0" bIns="0" anchor="t">
            <a:spAutoFit/>
          </a:bodyPr>
          <a:lstStyle/>
          <a:p>
            <a:pPr algn="ctr">
              <a:spcAft>
                <a:spcPts val="0"/>
              </a:spcAft>
            </a:pPr>
            <a:r>
              <a:rPr sz="1220" b="1" i="0">
                <a:solidFill>
                  <a:srgbClr val="D96552"/>
                </a:solidFill>
                <a:latin typeface="Arial"/>
              </a:rPr>
              <a:t>Matched gate not passed</a:t>
            </a:r>
          </a:p>
        </p:txBody>
      </p:sp>
      <p:sp>
        <p:nvSpPr>
          <p:cNvPr id="13" name="TextBox 12"/>
          <p:cNvSpPr txBox="1"/>
          <p:nvPr/>
        </p:nvSpPr>
        <p:spPr>
          <a:xfrm>
            <a:off x="9171432" y="3465576"/>
            <a:ext cx="2231136" cy="182880"/>
          </a:xfrm>
          <a:prstGeom prst="rect">
            <a:avLst/>
          </a:prstGeom>
          <a:noFill/>
        </p:spPr>
        <p:txBody>
          <a:bodyPr wrap="square" lIns="0" rIns="0" tIns="0" bIns="0" anchor="t">
            <a:spAutoFit/>
          </a:bodyPr>
          <a:lstStyle/>
          <a:p>
            <a:pPr algn="ctr">
              <a:spcAft>
                <a:spcPts val="0"/>
              </a:spcAft>
            </a:pPr>
            <a:r>
              <a:rPr sz="850" b="0" i="0">
                <a:solidFill>
                  <a:srgbClr val="263746"/>
                </a:solidFill>
                <a:latin typeface="Arial"/>
              </a:rPr>
              <a:t>BA +0.013 | AUROC -0.015 | AP -0.009</a:t>
            </a:r>
          </a:p>
        </p:txBody>
      </p:sp>
      <p:sp>
        <p:nvSpPr>
          <p:cNvPr id="14" name="Oval 13"/>
          <p:cNvSpPr/>
          <p:nvPr/>
        </p:nvSpPr>
        <p:spPr>
          <a:xfrm>
            <a:off x="9089136" y="403250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41063"/>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Lower Bdh1, Ech1, Bnip3 and Decr1</a:t>
            </a:r>
          </a:p>
        </p:txBody>
      </p:sp>
      <p:sp>
        <p:nvSpPr>
          <p:cNvPr id="16" name="Oval 15"/>
          <p:cNvSpPr/>
          <p:nvPr/>
        </p:nvSpPr>
        <p:spPr>
          <a:xfrm>
            <a:off x="9089136" y="450799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416552"/>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Higher Tpm1</a:t>
            </a:r>
          </a:p>
        </p:txBody>
      </p:sp>
      <p:sp>
        <p:nvSpPr>
          <p:cNvPr id="18" name="Oval 17"/>
          <p:cNvSpPr/>
          <p:nvPr/>
        </p:nvSpPr>
        <p:spPr>
          <a:xfrm>
            <a:off x="9089136" y="4983479"/>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4892040"/>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Mitochondrial turnover and fatty-acid metabolism</a:t>
            </a:r>
          </a:p>
        </p:txBody>
      </p:sp>
      <p:sp>
        <p:nvSpPr>
          <p:cNvPr id="20" name="Oval 19"/>
          <p:cNvSpPr/>
          <p:nvPr/>
        </p:nvSpPr>
        <p:spPr>
          <a:xfrm>
            <a:off x="9089136" y="545896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2015" y="5367527"/>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Panel-level hypothesis, not matched synthetic contribution</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MATCHED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Liver, skin and spleen add narrower gene-level results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Pooled muscle improves prediction, while its gene panel remains secondary consensus evidence.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Evidence</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Liver</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Grb10, Ppic, H2-DMa, Gtf2a2</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 retained panel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Four shared-importance candidates; no significant Reactome set enrichment.</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Skin</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Plscr1</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Plscr1 plus broader selected pathways</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Matched and consensus support the same gene; broader cell-cycle and DNA-repair context is panel-level.</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Loxl1</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Loxl1, Rai14, Ptprk, Myl9</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Loxl1 is the matched anchor; the four-gene adhesion and cytoskeletal panel is tentative.</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Pooled muscle</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All six metrics passed; no gene passed the full gate</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12-gene interferon and sialic-acid panel</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Predictive utility is matched; individual gene interpretation comes from the secondary consensus analysis.</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Matched genes pass real-data BH FDR and synthetic-supported marginal importance; consensus rows provide secondary panel context.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CONSENSUS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Several narrower panels did not pass the matched gene gate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These remain tissue-specific hypotheses from the secondary ranking analysis.</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Kidney</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consensus results and independent literature annotations are reported in Tables S10 and S16.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Use matched tests for contribution; consensus for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classifiers test utility; consensus ranking explains correlated programs; biological claims still use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Test</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Matched real-plus-synthetic classifiers passed all six metric checks in 18 of 27 tissue analyses and retained 21 BH-FDR associations.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Consensus ranking recovered broader correlated panels. Thymus was strongest across both analyses; soleus remained secondary.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