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column shows the alternatives available at one pipeline stage;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left image is Figure 1C from Lacan and colleagues. It shows their residual dense denoiser, conditioned on diffusion timestep and tissue, which predicts the noise added to a sample. Our implementation follows that architecture and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This is a weight, not a 5% increase in animal count. Held-out real profiles determine eligibility, and FLT/GC effects and BH FDR are computed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evidence scope and source IDs; Table S17 records citations, DOI or URL and whether the evidence is independent, overlapping or mechanistic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discussion focuses later, but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so the process-level result did not depend on that label.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matched no-material sensitivity model, soleus selected the real-only arm and the synthetic attribution disappeared. The real OSDR association remains, but the contribution attributed to generated profiles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The rows share a slide for presentation space; each remains a separate hypothesis.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TextBox 21"/>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23" name="TextBox 22"/>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24" name="TextBox 23"/>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25" name="TextBox 24"/>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26" name="TextBox 25"/>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27" name="TextBox 26"/>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28" name="TextBox 27"/>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29" name="TextBox 28"/>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30" name="Rectangle 29"/>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34" name="TextBox 33"/>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35" name="TextBox 34"/>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36" name="TextBox 35"/>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37" name="Right Arrow 36"/>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9" name="TextBox 38"/>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40" name="TextBox 39"/>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41" name="Rectangle 40"/>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43" name="TextBox 42"/>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44" name="TextBox 43"/>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45" name="TextBox 44"/>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46" name="TextBox 45"/>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47" name="TextBox 46"/>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48" name="TextBox 47"/>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49" name="TextBox 4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5097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782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859536" y="5559552"/>
            <a:ext cx="749808" cy="502920"/>
          </a:xfrm>
          <a:prstGeom prst="rect">
            <a:avLst/>
          </a:prstGeom>
          <a:noFill/>
        </p:spPr>
        <p:txBody>
          <a:bodyPr wrap="square" lIns="18288" rIns="18288" tIns="18288" bIns="18288" anchor="t">
            <a:spAutoFit/>
          </a:bodyPr>
          <a:lstStyle/>
          <a:p>
            <a:pPr algn="ctr">
              <a:spcAft>
                <a:spcPts val="0"/>
              </a:spcAft>
            </a:pPr>
            <a:r>
              <a:rPr sz="960" b="0" i="0">
                <a:solidFill>
                  <a:srgbClr val="263746"/>
                </a:solidFill>
                <a:latin typeface="Arial"/>
              </a:rPr>
              <a:t>Real
only</a:t>
            </a:r>
          </a:p>
        </p:txBody>
      </p:sp>
      <p:sp>
        <p:nvSpPr>
          <p:cNvPr id="19" name="Rectangle 18"/>
          <p:cNvSpPr/>
          <p:nvPr/>
        </p:nvSpPr>
        <p:spPr>
          <a:xfrm>
            <a:off x="1737360"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64207"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45919" y="5559552"/>
            <a:ext cx="749808" cy="502920"/>
          </a:xfrm>
          <a:prstGeom prst="rect">
            <a:avLst/>
          </a:prstGeom>
          <a:noFill/>
        </p:spPr>
        <p:txBody>
          <a:bodyPr wrap="square" lIns="18288" rIns="18288" tIns="18288" bIns="18288" anchor="t">
            <a:spAutoFit/>
          </a:bodyPr>
          <a:lstStyle/>
          <a:p>
            <a:pPr algn="ctr">
              <a:spcAft>
                <a:spcPts val="0"/>
              </a:spcAft>
            </a:pPr>
            <a:r>
              <a:rPr sz="960" b="0" i="0">
                <a:solidFill>
                  <a:srgbClr val="263746"/>
                </a:solidFill>
                <a:latin typeface="Arial"/>
              </a:rPr>
              <a:t>Generated
only</a:t>
            </a:r>
          </a:p>
        </p:txBody>
      </p:sp>
      <p:sp>
        <p:nvSpPr>
          <p:cNvPr id="22" name="Rectangle 21"/>
          <p:cNvSpPr/>
          <p:nvPr/>
        </p:nvSpPr>
        <p:spPr>
          <a:xfrm>
            <a:off x="2523744"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0591"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32303" y="5559552"/>
            <a:ext cx="749808" cy="502920"/>
          </a:xfrm>
          <a:prstGeom prst="rect">
            <a:avLst/>
          </a:prstGeom>
          <a:noFill/>
        </p:spPr>
        <p:txBody>
          <a:bodyPr wrap="square" lIns="18288" rIns="18288" tIns="18288" bIns="18288" anchor="t">
            <a:spAutoFit/>
          </a:bodyPr>
          <a:lstStyle/>
          <a:p>
            <a:pPr algn="ctr">
              <a:spcAft>
                <a:spcPts val="0"/>
              </a:spcAft>
            </a:pPr>
            <a:r>
              <a:rPr sz="96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3968496"/>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07408"/>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46320"/>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285231"/>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