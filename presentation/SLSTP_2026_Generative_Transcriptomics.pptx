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For each tissue, ARCHS4 supplies a non-spaceflight reference and Reactome supplies the gene-program mask. expiMap learns the reference, then maps OSDR flight and ground samples as an accession-conditioned query. The analysis used about two thousand highly variable genes and several hundred Reactome programs per tissue. The implementation is under src/expiMap_scarches/nasa_mouse_expimap.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heatmap separates directional checks from conventional GSEA FDR. Spleen was the strongest multi-pathway result: all three programs passed FDR below 0.05 and all five checks. Skin had three FDR-supported programs, thymus had strong DNA-repair support, and the liver immune programs were consistent in direction but did not cross the 0.05 FDR threshold.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occupy the same broad tissue branches. FLT and GC remain much closer because the condition effect is smaller than the tissue effect.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five arms vary which profiles rank genes and which profiles fit the classifier. The guided arms use real and generated rankings together. One then fits on real profiles only; the other gives generated profiles five percent of the training weight. Association tests still use observed OSDR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the selected top set. The classifier is then trained using only the selected expression columns.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Opaque points are training profiles and transparent points are held-out real profiles. The panels use the same held-out samples. A useful synthetic-guided feature set changes the fitted boundary so that more held-out labels fall on the correct side.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One classifier across all tissues did not improve with generated profiles. Tissue-specific classifiers gave a different result because the useful synthetic arm varied by tissue.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Twenty-three associations were selected with and without guidance, so we call them reinforced. Twenty-six crossed the repeated selection threshold only with guidance, so we call them promoted. All 49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The full screen includes 22 canonical tissues and five anatomical muscle groups. Ten analyses had a synthetic-informed BH-FDR association, five had real-data BH-FDR genes without synthetic support, and 12 had no BH-FDR gene in the landmark panel.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synthetic-informed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Thymus produced the clearest promoted panel. Lower mitotic and DNA-replication genes fit prior reports of thymic involution. Hsd17b11 and Etv1 add lipid-handling and T-cell-state hypotheses. Bulk RNA-seq cannot separate transcriptional regulation from cell-composition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Soleus improved with real plus generated training. Lower Bdh1, Ech1, Bnip3, and Decr1 with higher Tpm1 support altered oxidative metabolism and contractile remodeling. The real association remains, but its synthetic reinforcement was sensitive to material conditioning.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Pooled muscle, kidney, spleen, and skin each produced a separate result. Promoted and reinforced genes are kept on separate rows so the selection claim stays clear.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Eye, adrenal gland, gastrocnemius, and tibialis anterior add smaller tissue-specific candidates. These are follow-up hypotheses rather than one shared systemic signature.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Conditional DDIM produced realistic profiles. Tissue-specific ranking and light synthetic training improved held-out prediction in selected tissues. The final biological associations and FDR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26" name="Right Arrow 25"/>
          <p:cNvSpPr/>
          <p:nvPr/>
        </p:nvSpPr>
        <p:spPr>
          <a:xfrm>
            <a:off x="3977639"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31" name="Right Arrow 30"/>
          <p:cNvSpPr/>
          <p:nvPr/>
        </p:nvSpPr>
        <p:spPr>
          <a:xfrm>
            <a:off x="4892040"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41" name="Right Arrow 40"/>
          <p:cNvSpPr/>
          <p:nvPr/>
        </p:nvSpPr>
        <p:spPr>
          <a:xfrm>
            <a:off x="6291072"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19672" y="3383280"/>
            <a:ext cx="530352" cy="566928"/>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reconstructed
profile</a:t>
            </a:r>
          </a:p>
        </p:txBody>
      </p:sp>
      <p:sp>
        <p:nvSpPr>
          <p:cNvPr id="43" name="TextBox 42"/>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44" name="Rectangle 43"/>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63" name="Rectangle 62"/>
          <p:cNvSpPr/>
          <p:nvPr/>
        </p:nvSpPr>
        <p:spPr>
          <a:xfrm>
            <a:off x="457200" y="5897880"/>
            <a:ext cx="11247120" cy="42976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49808" y="5998464"/>
            <a:ext cx="2057400"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 adds interpretation:</a:t>
            </a:r>
          </a:p>
        </p:txBody>
      </p:sp>
      <p:sp>
        <p:nvSpPr>
          <p:cNvPr id="65" name="TextBox 64"/>
          <p:cNvSpPr txBox="1"/>
          <p:nvPr/>
        </p:nvSpPr>
        <p:spPr>
          <a:xfrm>
            <a:off x="2907792" y="5998464"/>
            <a:ext cx="8119872"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66" name="TextBox 6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Reactome pathways make the latent space interpretable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Tissue-matched ARCHS4 references define the background; OSDR FLT and GC samples are mapped as queries.</a:t>
            </a:r>
          </a:p>
        </p:txBody>
      </p:sp>
      <p:pic>
        <p:nvPicPr>
          <p:cNvPr id="7" name="expiMap ARCHS4 reference training, Reactome mask, and OSDR query workflow" descr="expiMap ARCHS4 reference training, Reactome mask, and OSDR query workflow"/>
          <p:cNvPicPr>
            <a:picLocks noChangeAspect="1"/>
          </p:cNvPicPr>
          <p:nvPr/>
        </p:nvPicPr>
        <p:blipFill>
          <a:blip r:embed="rId2"/>
          <a:stretch>
            <a:fillRect/>
          </a:stretch>
        </p:blipFill>
        <p:spPr>
          <a:xfrm>
            <a:off x="704972" y="1755648"/>
            <a:ext cx="6965958" cy="4498848"/>
          </a:xfrm>
          <a:prstGeom prst="rect">
            <a:avLst/>
          </a:prstGeom>
        </p:spPr>
      </p:pic>
      <p:sp>
        <p:nvSpPr>
          <p:cNvPr id="8" name="Rectangle 7"/>
          <p:cNvSpPr/>
          <p:nvPr/>
        </p:nvSpPr>
        <p:spPr>
          <a:xfrm>
            <a:off x="8229600" y="1847088"/>
            <a:ext cx="13716" cy="420624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920240"/>
            <a:ext cx="122529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MODEL SCOPE</a:t>
            </a:r>
          </a:p>
        </p:txBody>
      </p:sp>
      <p:sp>
        <p:nvSpPr>
          <p:cNvPr id="10" name="TextBox 9"/>
          <p:cNvSpPr txBox="1"/>
          <p:nvPr/>
        </p:nvSpPr>
        <p:spPr>
          <a:xfrm>
            <a:off x="8540496" y="2331720"/>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17,708</a:t>
            </a:r>
          </a:p>
        </p:txBody>
      </p:sp>
      <p:sp>
        <p:nvSpPr>
          <p:cNvPr id="11" name="TextBox 10"/>
          <p:cNvSpPr txBox="1"/>
          <p:nvPr/>
        </p:nvSpPr>
        <p:spPr>
          <a:xfrm>
            <a:off x="9738360" y="2350008"/>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ARCHS4 reference profiles</a:t>
            </a:r>
          </a:p>
        </p:txBody>
      </p:sp>
      <p:sp>
        <p:nvSpPr>
          <p:cNvPr id="12" name="Rectangle 11"/>
          <p:cNvSpPr/>
          <p:nvPr/>
        </p:nvSpPr>
        <p:spPr>
          <a:xfrm>
            <a:off x="8540496" y="2971799"/>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0496" y="3118103"/>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700</a:t>
            </a:r>
          </a:p>
        </p:txBody>
      </p:sp>
      <p:sp>
        <p:nvSpPr>
          <p:cNvPr id="14" name="TextBox 13"/>
          <p:cNvSpPr txBox="1"/>
          <p:nvPr/>
        </p:nvSpPr>
        <p:spPr>
          <a:xfrm>
            <a:off x="9738360" y="3136391"/>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OSDR profiles in the primary effects</a:t>
            </a:r>
          </a:p>
        </p:txBody>
      </p:sp>
      <p:sp>
        <p:nvSpPr>
          <p:cNvPr id="15" name="Rectangle 14"/>
          <p:cNvSpPr/>
          <p:nvPr/>
        </p:nvSpPr>
        <p:spPr>
          <a:xfrm>
            <a:off x="8540496" y="3758183"/>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3904487"/>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~2,000</a:t>
            </a:r>
          </a:p>
        </p:txBody>
      </p:sp>
      <p:sp>
        <p:nvSpPr>
          <p:cNvPr id="17" name="TextBox 16"/>
          <p:cNvSpPr txBox="1"/>
          <p:nvPr/>
        </p:nvSpPr>
        <p:spPr>
          <a:xfrm>
            <a:off x="9738360" y="3922775"/>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highly variable genes per tissue</a:t>
            </a:r>
          </a:p>
        </p:txBody>
      </p:sp>
      <p:sp>
        <p:nvSpPr>
          <p:cNvPr id="18" name="Rectangle 17"/>
          <p:cNvSpPr/>
          <p:nvPr/>
        </p:nvSpPr>
        <p:spPr>
          <a:xfrm>
            <a:off x="8540496" y="4544568"/>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4690872"/>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319-387</a:t>
            </a:r>
          </a:p>
        </p:txBody>
      </p:sp>
      <p:sp>
        <p:nvSpPr>
          <p:cNvPr id="20" name="TextBox 19"/>
          <p:cNvSpPr txBox="1"/>
          <p:nvPr/>
        </p:nvSpPr>
        <p:spPr>
          <a:xfrm>
            <a:off x="9738360" y="4709159"/>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Reactome programs per primary model</a:t>
            </a:r>
          </a:p>
        </p:txBody>
      </p:sp>
      <p:sp>
        <p:nvSpPr>
          <p:cNvPr id="21" name="TextBox 20"/>
          <p:cNvSpPr txBox="1"/>
          <p:nvPr/>
        </p:nvSpPr>
        <p:spPr>
          <a:xfrm>
            <a:off x="8540496" y="5541264"/>
            <a:ext cx="2743200" cy="457200"/>
          </a:xfrm>
          <a:prstGeom prst="rect">
            <a:avLst/>
          </a:prstGeom>
          <a:noFill/>
        </p:spPr>
        <p:txBody>
          <a:bodyPr wrap="square" lIns="0" rIns="0" tIns="0" bIns="0" anchor="t">
            <a:spAutoFit/>
          </a:bodyPr>
          <a:lstStyle/>
          <a:p>
            <a:pPr algn="l">
              <a:spcAft>
                <a:spcPts val="0"/>
              </a:spcAft>
            </a:pPr>
            <a:r>
              <a:rPr sz="1130" b="0" i="0">
                <a:solidFill>
                  <a:srgbClr val="59697A"/>
                </a:solidFill>
                <a:latin typeface="Arial"/>
              </a:rPr>
              <a:t>Reference training and query mapping were run separately for each tissue.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 1 and Tables 1/S25. Implementation: src/expiMap_scarches/nasa_mouse_expimap/.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EVIDENCE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Cross-checks narrowed the biological interpretation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cells mark directional support. Conventional GSEA FDR is reported separately.</a:t>
            </a:r>
          </a:p>
        </p:txBody>
      </p:sp>
      <p:sp>
        <p:nvSpPr>
          <p:cNvPr id="7" name="TextBox 6"/>
          <p:cNvSpPr txBox="1"/>
          <p:nvPr/>
        </p:nvSpPr>
        <p:spPr>
          <a:xfrm>
            <a:off x="438912" y="1828800"/>
            <a:ext cx="2834640" cy="219456"/>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Tissue and pathway</a:t>
            </a:r>
          </a:p>
        </p:txBody>
      </p:sp>
      <p:sp>
        <p:nvSpPr>
          <p:cNvPr id="8" name="TextBox 7"/>
          <p:cNvSpPr txBox="1"/>
          <p:nvPr/>
        </p:nvSpPr>
        <p:spPr>
          <a:xfrm>
            <a:off x="3410712" y="1810512"/>
            <a:ext cx="640080" cy="292608"/>
          </a:xfrm>
          <a:prstGeom prst="rect">
            <a:avLst/>
          </a:prstGeom>
          <a:noFill/>
        </p:spPr>
        <p:txBody>
          <a:bodyPr wrap="square" lIns="0" rIns="0" tIns="0" bIns="0" anchor="t">
            <a:spAutoFit/>
          </a:bodyPr>
          <a:lstStyle/>
          <a:p>
            <a:pPr algn="ctr">
              <a:spcAft>
                <a:spcPts val="0"/>
              </a:spcAft>
            </a:pPr>
            <a:r>
              <a:rPr sz="819" b="1" i="0">
                <a:solidFill>
                  <a:srgbClr val="59697A"/>
                </a:solidFill>
                <a:latin typeface="Arial"/>
              </a:rPr>
              <a:t>ssGSEA</a:t>
            </a:r>
          </a:p>
        </p:txBody>
      </p:sp>
      <p:sp>
        <p:nvSpPr>
          <p:cNvPr id="9" name="TextBox 8"/>
          <p:cNvSpPr txBox="1"/>
          <p:nvPr/>
        </p:nvSpPr>
        <p:spPr>
          <a:xfrm>
            <a:off x="3959352" y="1810512"/>
            <a:ext cx="640080" cy="292608"/>
          </a:xfrm>
          <a:prstGeom prst="rect">
            <a:avLst/>
          </a:prstGeom>
          <a:noFill/>
        </p:spPr>
        <p:txBody>
          <a:bodyPr wrap="square" lIns="0" rIns="0" tIns="0" bIns="0" anchor="t">
            <a:spAutoFit/>
          </a:bodyPr>
          <a:lstStyle/>
          <a:p>
            <a:pPr algn="ctr">
              <a:spcAft>
                <a:spcPts val="0"/>
              </a:spcAft>
            </a:pPr>
            <a:r>
              <a:rPr sz="819" b="1" i="0">
                <a:solidFill>
                  <a:srgbClr val="59697A"/>
                </a:solidFill>
                <a:latin typeface="Arial"/>
              </a:rPr>
              <a:t>GSEA</a:t>
            </a:r>
          </a:p>
        </p:txBody>
      </p:sp>
      <p:sp>
        <p:nvSpPr>
          <p:cNvPr id="10" name="TextBox 9"/>
          <p:cNvSpPr txBox="1"/>
          <p:nvPr/>
        </p:nvSpPr>
        <p:spPr>
          <a:xfrm>
            <a:off x="4507992" y="1810512"/>
            <a:ext cx="640080" cy="292608"/>
          </a:xfrm>
          <a:prstGeom prst="rect">
            <a:avLst/>
          </a:prstGeom>
          <a:noFill/>
        </p:spPr>
        <p:txBody>
          <a:bodyPr wrap="square" lIns="0" rIns="0" tIns="0" bIns="0" anchor="t">
            <a:spAutoFit/>
          </a:bodyPr>
          <a:lstStyle/>
          <a:p>
            <a:pPr algn="ctr">
              <a:spcAft>
                <a:spcPts val="0"/>
              </a:spcAft>
            </a:pPr>
            <a:r>
              <a:rPr sz="819" b="1" i="0">
                <a:solidFill>
                  <a:srgbClr val="59697A"/>
                </a:solidFill>
                <a:latin typeface="Arial"/>
              </a:rPr>
              <a:t>Held-out</a:t>
            </a:r>
          </a:p>
        </p:txBody>
      </p:sp>
      <p:sp>
        <p:nvSpPr>
          <p:cNvPr id="11" name="TextBox 10"/>
          <p:cNvSpPr txBox="1"/>
          <p:nvPr/>
        </p:nvSpPr>
        <p:spPr>
          <a:xfrm>
            <a:off x="5056632" y="1810512"/>
            <a:ext cx="640080" cy="292608"/>
          </a:xfrm>
          <a:prstGeom prst="rect">
            <a:avLst/>
          </a:prstGeom>
          <a:noFill/>
        </p:spPr>
        <p:txBody>
          <a:bodyPr wrap="square" lIns="0" rIns="0" tIns="0" bIns="0" anchor="t">
            <a:spAutoFit/>
          </a:bodyPr>
          <a:lstStyle/>
          <a:p>
            <a:pPr algn="ctr">
              <a:spcAft>
                <a:spcPts val="0"/>
              </a:spcAft>
            </a:pPr>
            <a:r>
              <a:rPr sz="819" b="1" i="0">
                <a:solidFill>
                  <a:srgbClr val="59697A"/>
                </a:solidFill>
                <a:latin typeface="Arial"/>
              </a:rPr>
              <a:t>3 seeds</a:t>
            </a:r>
          </a:p>
        </p:txBody>
      </p:sp>
      <p:sp>
        <p:nvSpPr>
          <p:cNvPr id="12" name="TextBox 11"/>
          <p:cNvSpPr txBox="1"/>
          <p:nvPr/>
        </p:nvSpPr>
        <p:spPr>
          <a:xfrm>
            <a:off x="5605272" y="1810512"/>
            <a:ext cx="640080" cy="292608"/>
          </a:xfrm>
          <a:prstGeom prst="rect">
            <a:avLst/>
          </a:prstGeom>
          <a:noFill/>
        </p:spPr>
        <p:txBody>
          <a:bodyPr wrap="square" lIns="0" rIns="0" tIns="0" bIns="0" anchor="t">
            <a:spAutoFit/>
          </a:bodyPr>
          <a:lstStyle/>
          <a:p>
            <a:pPr algn="ctr">
              <a:spcAft>
                <a:spcPts val="0"/>
              </a:spcAft>
            </a:pPr>
            <a:r>
              <a:rPr sz="819" b="1" i="0">
                <a:solidFill>
                  <a:srgbClr val="59697A"/>
                </a:solidFill>
                <a:latin typeface="Arial"/>
              </a:rPr>
              <a:t>Composition</a:t>
            </a:r>
          </a:p>
        </p:txBody>
      </p:sp>
      <p:sp>
        <p:nvSpPr>
          <p:cNvPr id="13" name="TextBox 12"/>
          <p:cNvSpPr txBox="1"/>
          <p:nvPr/>
        </p:nvSpPr>
        <p:spPr>
          <a:xfrm>
            <a:off x="6336792" y="1828800"/>
            <a:ext cx="731520" cy="219456"/>
          </a:xfrm>
          <a:prstGeom prst="rect">
            <a:avLst/>
          </a:prstGeom>
          <a:noFill/>
        </p:spPr>
        <p:txBody>
          <a:bodyPr wrap="square" lIns="0" rIns="0" tIns="0" bIns="0" anchor="t">
            <a:spAutoFit/>
          </a:bodyPr>
          <a:lstStyle/>
          <a:p>
            <a:pPr algn="ctr">
              <a:spcAft>
                <a:spcPts val="0"/>
              </a:spcAft>
            </a:pPr>
            <a:r>
              <a:rPr sz="880" b="1" i="0">
                <a:solidFill>
                  <a:srgbClr val="59697A"/>
                </a:solidFill>
                <a:latin typeface="Arial"/>
              </a:rPr>
              <a:t>GSEA FDR</a:t>
            </a:r>
          </a:p>
        </p:txBody>
      </p:sp>
      <p:sp>
        <p:nvSpPr>
          <p:cNvPr id="14" name="Rectangle 13"/>
          <p:cNvSpPr/>
          <p:nvPr/>
        </p:nvSpPr>
        <p:spPr>
          <a:xfrm>
            <a:off x="438912" y="2139696"/>
            <a:ext cx="665683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2235708"/>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345436"/>
            <a:ext cx="109728" cy="4114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281428"/>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Thymus: DNA repair</a:t>
            </a:r>
          </a:p>
        </p:txBody>
      </p:sp>
      <p:sp>
        <p:nvSpPr>
          <p:cNvPr id="18" name="Rectangle 17"/>
          <p:cNvSpPr/>
          <p:nvPr/>
        </p:nvSpPr>
        <p:spPr>
          <a:xfrm>
            <a:off x="3575303" y="227228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75303" y="227228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20" name="Rectangle 19"/>
          <p:cNvSpPr/>
          <p:nvPr/>
        </p:nvSpPr>
        <p:spPr>
          <a:xfrm>
            <a:off x="4123944" y="227228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23944" y="227228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22" name="Rectangle 21"/>
          <p:cNvSpPr/>
          <p:nvPr/>
        </p:nvSpPr>
        <p:spPr>
          <a:xfrm>
            <a:off x="4672583" y="227228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72583" y="227228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24" name="Rectangle 23"/>
          <p:cNvSpPr/>
          <p:nvPr/>
        </p:nvSpPr>
        <p:spPr>
          <a:xfrm>
            <a:off x="5221224" y="227228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21224" y="227228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26" name="Rectangle 25"/>
          <p:cNvSpPr/>
          <p:nvPr/>
        </p:nvSpPr>
        <p:spPr>
          <a:xfrm>
            <a:off x="5769864" y="227228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9864" y="227228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28" name="TextBox 27"/>
          <p:cNvSpPr txBox="1"/>
          <p:nvPr/>
        </p:nvSpPr>
        <p:spPr>
          <a:xfrm>
            <a:off x="6336792" y="2281428"/>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&lt;0.001</a:t>
            </a:r>
          </a:p>
        </p:txBody>
      </p:sp>
      <p:sp>
        <p:nvSpPr>
          <p:cNvPr id="29" name="Rectangle 28"/>
          <p:cNvSpPr/>
          <p:nvPr/>
        </p:nvSpPr>
        <p:spPr>
          <a:xfrm>
            <a:off x="466344" y="2628900"/>
            <a:ext cx="109728" cy="4114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 y="2564892"/>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Thymus: Lymphoid-stromal interactions</a:t>
            </a:r>
          </a:p>
        </p:txBody>
      </p:sp>
      <p:sp>
        <p:nvSpPr>
          <p:cNvPr id="31" name="Rectangle 30"/>
          <p:cNvSpPr/>
          <p:nvPr/>
        </p:nvSpPr>
        <p:spPr>
          <a:xfrm>
            <a:off x="3575303" y="2555748"/>
            <a:ext cx="310896" cy="219456"/>
          </a:xfrm>
          <a:prstGeom prst="rect">
            <a:avLst/>
          </a:prstGeom>
          <a:solidFill>
            <a:srgbClr val="E7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3" y="2555748"/>
            <a:ext cx="310896" cy="219456"/>
          </a:xfrm>
          <a:prstGeom prst="rect">
            <a:avLst/>
          </a:prstGeom>
          <a:noFill/>
        </p:spPr>
        <p:txBody>
          <a:bodyPr wrap="square" lIns="0" rIns="0" tIns="0" bIns="0" anchor="ctr">
            <a:spAutoFit/>
          </a:bodyPr>
          <a:lstStyle/>
          <a:p>
            <a:pPr algn="ctr">
              <a:spcAft>
                <a:spcPts val="0"/>
              </a:spcAft>
            </a:pPr>
            <a:r>
              <a:rPr sz="900" b="1" i="0">
                <a:solidFill>
                  <a:srgbClr val="8A969E"/>
                </a:solidFill>
                <a:latin typeface="Arial"/>
              </a:rPr>
              <a:t>-</a:t>
            </a:r>
          </a:p>
        </p:txBody>
      </p:sp>
      <p:sp>
        <p:nvSpPr>
          <p:cNvPr id="33" name="Rectangle 32"/>
          <p:cNvSpPr/>
          <p:nvPr/>
        </p:nvSpPr>
        <p:spPr>
          <a:xfrm>
            <a:off x="4123944" y="2555748"/>
            <a:ext cx="310896" cy="219456"/>
          </a:xfrm>
          <a:prstGeom prst="rect">
            <a:avLst/>
          </a:prstGeom>
          <a:solidFill>
            <a:srgbClr val="E7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23944" y="2555748"/>
            <a:ext cx="310896" cy="219456"/>
          </a:xfrm>
          <a:prstGeom prst="rect">
            <a:avLst/>
          </a:prstGeom>
          <a:noFill/>
        </p:spPr>
        <p:txBody>
          <a:bodyPr wrap="square" lIns="0" rIns="0" tIns="0" bIns="0" anchor="ctr">
            <a:spAutoFit/>
          </a:bodyPr>
          <a:lstStyle/>
          <a:p>
            <a:pPr algn="ctr">
              <a:spcAft>
                <a:spcPts val="0"/>
              </a:spcAft>
            </a:pPr>
            <a:r>
              <a:rPr sz="900" b="1" i="0">
                <a:solidFill>
                  <a:srgbClr val="8A969E"/>
                </a:solidFill>
                <a:latin typeface="Arial"/>
              </a:rPr>
              <a:t>-</a:t>
            </a:r>
          </a:p>
        </p:txBody>
      </p:sp>
      <p:sp>
        <p:nvSpPr>
          <p:cNvPr id="35" name="Rectangle 34"/>
          <p:cNvSpPr/>
          <p:nvPr/>
        </p:nvSpPr>
        <p:spPr>
          <a:xfrm>
            <a:off x="4672583" y="255574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2583" y="255574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37" name="Rectangle 36"/>
          <p:cNvSpPr/>
          <p:nvPr/>
        </p:nvSpPr>
        <p:spPr>
          <a:xfrm>
            <a:off x="5221224" y="255574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21224" y="255574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39" name="Rectangle 38"/>
          <p:cNvSpPr/>
          <p:nvPr/>
        </p:nvSpPr>
        <p:spPr>
          <a:xfrm>
            <a:off x="5769864" y="255574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69864" y="255574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41" name="TextBox 40"/>
          <p:cNvSpPr txBox="1"/>
          <p:nvPr/>
        </p:nvSpPr>
        <p:spPr>
          <a:xfrm>
            <a:off x="6336792" y="2564892"/>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1.000</a:t>
            </a:r>
          </a:p>
        </p:txBody>
      </p:sp>
      <p:sp>
        <p:nvSpPr>
          <p:cNvPr id="42" name="Rectangle 41"/>
          <p:cNvSpPr/>
          <p:nvPr/>
        </p:nvSpPr>
        <p:spPr>
          <a:xfrm>
            <a:off x="438912" y="2802636"/>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66344" y="2912364"/>
            <a:ext cx="109728" cy="4114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 y="2848356"/>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Thymus: RHOA cytoskeletal cycle</a:t>
            </a:r>
          </a:p>
        </p:txBody>
      </p:sp>
      <p:sp>
        <p:nvSpPr>
          <p:cNvPr id="45" name="Rectangle 44"/>
          <p:cNvSpPr/>
          <p:nvPr/>
        </p:nvSpPr>
        <p:spPr>
          <a:xfrm>
            <a:off x="3575303" y="283921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75303" y="283921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47" name="Rectangle 46"/>
          <p:cNvSpPr/>
          <p:nvPr/>
        </p:nvSpPr>
        <p:spPr>
          <a:xfrm>
            <a:off x="4123944" y="283921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23944" y="283921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49" name="Rectangle 48"/>
          <p:cNvSpPr/>
          <p:nvPr/>
        </p:nvSpPr>
        <p:spPr>
          <a:xfrm>
            <a:off x="4672583" y="283921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72583" y="283921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51" name="Rectangle 50"/>
          <p:cNvSpPr/>
          <p:nvPr/>
        </p:nvSpPr>
        <p:spPr>
          <a:xfrm>
            <a:off x="5221224" y="283921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21224" y="283921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53" name="Rectangle 52"/>
          <p:cNvSpPr/>
          <p:nvPr/>
        </p:nvSpPr>
        <p:spPr>
          <a:xfrm>
            <a:off x="5769864" y="283921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69864" y="283921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55" name="TextBox 54"/>
          <p:cNvSpPr txBox="1"/>
          <p:nvPr/>
        </p:nvSpPr>
        <p:spPr>
          <a:xfrm>
            <a:off x="6336792" y="2848356"/>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0.154</a:t>
            </a:r>
          </a:p>
        </p:txBody>
      </p:sp>
      <p:sp>
        <p:nvSpPr>
          <p:cNvPr id="56" name="Rectangle 55"/>
          <p:cNvSpPr/>
          <p:nvPr/>
        </p:nvSpPr>
        <p:spPr>
          <a:xfrm>
            <a:off x="438912" y="3058668"/>
            <a:ext cx="6656832" cy="16459"/>
          </a:xfrm>
          <a:prstGeom prst="rect">
            <a:avLst/>
          </a:prstGeom>
          <a:solidFill>
            <a:srgbClr val="BBC7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344" y="3195827"/>
            <a:ext cx="109728"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9224" y="3131820"/>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Skin: Cell-cell junction organization</a:t>
            </a:r>
          </a:p>
        </p:txBody>
      </p:sp>
      <p:sp>
        <p:nvSpPr>
          <p:cNvPr id="59" name="Rectangle 58"/>
          <p:cNvSpPr/>
          <p:nvPr/>
        </p:nvSpPr>
        <p:spPr>
          <a:xfrm>
            <a:off x="3575303" y="3122675"/>
            <a:ext cx="310896" cy="219456"/>
          </a:xfrm>
          <a:prstGeom prst="rect">
            <a:avLst/>
          </a:prstGeom>
          <a:solidFill>
            <a:srgbClr val="E7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75303" y="3122675"/>
            <a:ext cx="310896" cy="219456"/>
          </a:xfrm>
          <a:prstGeom prst="rect">
            <a:avLst/>
          </a:prstGeom>
          <a:noFill/>
        </p:spPr>
        <p:txBody>
          <a:bodyPr wrap="square" lIns="0" rIns="0" tIns="0" bIns="0" anchor="ctr">
            <a:spAutoFit/>
          </a:bodyPr>
          <a:lstStyle/>
          <a:p>
            <a:pPr algn="ctr">
              <a:spcAft>
                <a:spcPts val="0"/>
              </a:spcAft>
            </a:pPr>
            <a:r>
              <a:rPr sz="900" b="1" i="0">
                <a:solidFill>
                  <a:srgbClr val="8A969E"/>
                </a:solidFill>
                <a:latin typeface="Arial"/>
              </a:rPr>
              <a:t>-</a:t>
            </a:r>
          </a:p>
        </p:txBody>
      </p:sp>
      <p:sp>
        <p:nvSpPr>
          <p:cNvPr id="61" name="Rectangle 60"/>
          <p:cNvSpPr/>
          <p:nvPr/>
        </p:nvSpPr>
        <p:spPr>
          <a:xfrm>
            <a:off x="4123944" y="3122675"/>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23944" y="3122675"/>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63" name="Rectangle 62"/>
          <p:cNvSpPr/>
          <p:nvPr/>
        </p:nvSpPr>
        <p:spPr>
          <a:xfrm>
            <a:off x="4672583" y="3122675"/>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72583" y="3122675"/>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65" name="Rectangle 64"/>
          <p:cNvSpPr/>
          <p:nvPr/>
        </p:nvSpPr>
        <p:spPr>
          <a:xfrm>
            <a:off x="5221224" y="3122675"/>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221224" y="3122675"/>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67" name="Rectangle 66"/>
          <p:cNvSpPr/>
          <p:nvPr/>
        </p:nvSpPr>
        <p:spPr>
          <a:xfrm>
            <a:off x="5769864" y="3122675"/>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769864" y="3122675"/>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69" name="TextBox 68"/>
          <p:cNvSpPr txBox="1"/>
          <p:nvPr/>
        </p:nvSpPr>
        <p:spPr>
          <a:xfrm>
            <a:off x="6336792" y="3131820"/>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0.007</a:t>
            </a:r>
          </a:p>
        </p:txBody>
      </p:sp>
      <p:sp>
        <p:nvSpPr>
          <p:cNvPr id="70" name="Rectangle 69"/>
          <p:cNvSpPr/>
          <p:nvPr/>
        </p:nvSpPr>
        <p:spPr>
          <a:xfrm>
            <a:off x="438912" y="3369564"/>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66344" y="3479292"/>
            <a:ext cx="109728"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 y="3415284"/>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Skin: Chromatin-modifying enzymes</a:t>
            </a:r>
          </a:p>
        </p:txBody>
      </p:sp>
      <p:sp>
        <p:nvSpPr>
          <p:cNvPr id="73" name="Rectangle 72"/>
          <p:cNvSpPr/>
          <p:nvPr/>
        </p:nvSpPr>
        <p:spPr>
          <a:xfrm>
            <a:off x="3575303" y="340614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575303" y="340614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75" name="Rectangle 74"/>
          <p:cNvSpPr/>
          <p:nvPr/>
        </p:nvSpPr>
        <p:spPr>
          <a:xfrm>
            <a:off x="4123944" y="340614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23944" y="340614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77" name="Rectangle 76"/>
          <p:cNvSpPr/>
          <p:nvPr/>
        </p:nvSpPr>
        <p:spPr>
          <a:xfrm>
            <a:off x="4672583" y="340614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72583" y="340614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79" name="Rectangle 78"/>
          <p:cNvSpPr/>
          <p:nvPr/>
        </p:nvSpPr>
        <p:spPr>
          <a:xfrm>
            <a:off x="5221224" y="340614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21224" y="340614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81" name="Rectangle 80"/>
          <p:cNvSpPr/>
          <p:nvPr/>
        </p:nvSpPr>
        <p:spPr>
          <a:xfrm>
            <a:off x="5769864" y="340614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69864" y="340614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83" name="TextBox 82"/>
          <p:cNvSpPr txBox="1"/>
          <p:nvPr/>
        </p:nvSpPr>
        <p:spPr>
          <a:xfrm>
            <a:off x="6336792" y="3415284"/>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&lt;0.001</a:t>
            </a:r>
          </a:p>
        </p:txBody>
      </p:sp>
      <p:sp>
        <p:nvSpPr>
          <p:cNvPr id="84" name="Rectangle 83"/>
          <p:cNvSpPr/>
          <p:nvPr/>
        </p:nvSpPr>
        <p:spPr>
          <a:xfrm>
            <a:off x="466344" y="3762756"/>
            <a:ext cx="109728"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49224" y="3698748"/>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Skin: DNA repair</a:t>
            </a:r>
          </a:p>
        </p:txBody>
      </p:sp>
      <p:sp>
        <p:nvSpPr>
          <p:cNvPr id="86" name="Rectangle 85"/>
          <p:cNvSpPr/>
          <p:nvPr/>
        </p:nvSpPr>
        <p:spPr>
          <a:xfrm>
            <a:off x="3575303" y="368960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575303" y="368960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88" name="Rectangle 87"/>
          <p:cNvSpPr/>
          <p:nvPr/>
        </p:nvSpPr>
        <p:spPr>
          <a:xfrm>
            <a:off x="4123944" y="368960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123944" y="368960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90" name="Rectangle 89"/>
          <p:cNvSpPr/>
          <p:nvPr/>
        </p:nvSpPr>
        <p:spPr>
          <a:xfrm>
            <a:off x="4672583" y="368960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672583" y="368960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92" name="Rectangle 91"/>
          <p:cNvSpPr/>
          <p:nvPr/>
        </p:nvSpPr>
        <p:spPr>
          <a:xfrm>
            <a:off x="5221224" y="368960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221224" y="368960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94" name="Rectangle 93"/>
          <p:cNvSpPr/>
          <p:nvPr/>
        </p:nvSpPr>
        <p:spPr>
          <a:xfrm>
            <a:off x="5769864" y="368960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769864" y="368960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96" name="TextBox 95"/>
          <p:cNvSpPr txBox="1"/>
          <p:nvPr/>
        </p:nvSpPr>
        <p:spPr>
          <a:xfrm>
            <a:off x="6336792" y="3698748"/>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&lt;0.001</a:t>
            </a:r>
          </a:p>
        </p:txBody>
      </p:sp>
      <p:sp>
        <p:nvSpPr>
          <p:cNvPr id="97" name="Rectangle 96"/>
          <p:cNvSpPr/>
          <p:nvPr/>
        </p:nvSpPr>
        <p:spPr>
          <a:xfrm>
            <a:off x="438912" y="3936492"/>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66344" y="4046220"/>
            <a:ext cx="109728"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9224" y="3982212"/>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Skin: Hedgehog signaling</a:t>
            </a:r>
          </a:p>
        </p:txBody>
      </p:sp>
      <p:sp>
        <p:nvSpPr>
          <p:cNvPr id="100" name="Rectangle 99"/>
          <p:cNvSpPr/>
          <p:nvPr/>
        </p:nvSpPr>
        <p:spPr>
          <a:xfrm>
            <a:off x="3575303" y="397306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3575303" y="397306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02" name="Rectangle 101"/>
          <p:cNvSpPr/>
          <p:nvPr/>
        </p:nvSpPr>
        <p:spPr>
          <a:xfrm>
            <a:off x="4123944" y="397306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123944" y="397306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04" name="Rectangle 103"/>
          <p:cNvSpPr/>
          <p:nvPr/>
        </p:nvSpPr>
        <p:spPr>
          <a:xfrm>
            <a:off x="4672583" y="397306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672583" y="397306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06" name="Rectangle 105"/>
          <p:cNvSpPr/>
          <p:nvPr/>
        </p:nvSpPr>
        <p:spPr>
          <a:xfrm>
            <a:off x="5221224" y="397306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221224" y="397306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08" name="Rectangle 107"/>
          <p:cNvSpPr/>
          <p:nvPr/>
        </p:nvSpPr>
        <p:spPr>
          <a:xfrm>
            <a:off x="5769864" y="397306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769864" y="397306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10" name="TextBox 109"/>
          <p:cNvSpPr txBox="1"/>
          <p:nvPr/>
        </p:nvSpPr>
        <p:spPr>
          <a:xfrm>
            <a:off x="6336792" y="3982212"/>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0.280</a:t>
            </a:r>
          </a:p>
        </p:txBody>
      </p:sp>
      <p:sp>
        <p:nvSpPr>
          <p:cNvPr id="111" name="Rectangle 110"/>
          <p:cNvSpPr/>
          <p:nvPr/>
        </p:nvSpPr>
        <p:spPr>
          <a:xfrm>
            <a:off x="466344" y="4329684"/>
            <a:ext cx="109728"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49224" y="4265676"/>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Skin: Sphingolipid metabolism</a:t>
            </a:r>
          </a:p>
        </p:txBody>
      </p:sp>
      <p:sp>
        <p:nvSpPr>
          <p:cNvPr id="113" name="Rectangle 112"/>
          <p:cNvSpPr/>
          <p:nvPr/>
        </p:nvSpPr>
        <p:spPr>
          <a:xfrm>
            <a:off x="3575303" y="425653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75303" y="425653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15" name="Rectangle 114"/>
          <p:cNvSpPr/>
          <p:nvPr/>
        </p:nvSpPr>
        <p:spPr>
          <a:xfrm>
            <a:off x="4123944" y="425653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123944" y="425653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17" name="Rectangle 116"/>
          <p:cNvSpPr/>
          <p:nvPr/>
        </p:nvSpPr>
        <p:spPr>
          <a:xfrm>
            <a:off x="4672583" y="425653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4672583" y="425653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19" name="Rectangle 118"/>
          <p:cNvSpPr/>
          <p:nvPr/>
        </p:nvSpPr>
        <p:spPr>
          <a:xfrm>
            <a:off x="5221224" y="425653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221224" y="425653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21" name="Rectangle 120"/>
          <p:cNvSpPr/>
          <p:nvPr/>
        </p:nvSpPr>
        <p:spPr>
          <a:xfrm>
            <a:off x="5769864" y="425653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769864" y="425653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23" name="TextBox 122"/>
          <p:cNvSpPr txBox="1"/>
          <p:nvPr/>
        </p:nvSpPr>
        <p:spPr>
          <a:xfrm>
            <a:off x="6336792" y="4265676"/>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0.897</a:t>
            </a:r>
          </a:p>
        </p:txBody>
      </p:sp>
      <p:sp>
        <p:nvSpPr>
          <p:cNvPr id="124" name="Rectangle 123"/>
          <p:cNvSpPr/>
          <p:nvPr/>
        </p:nvSpPr>
        <p:spPr>
          <a:xfrm>
            <a:off x="438912" y="4503420"/>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438912" y="4475988"/>
            <a:ext cx="6656832" cy="16459"/>
          </a:xfrm>
          <a:prstGeom prst="rect">
            <a:avLst/>
          </a:prstGeom>
          <a:solidFill>
            <a:srgbClr val="BBC7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466344" y="4613148"/>
            <a:ext cx="109728"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49224" y="4549140"/>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Liver: MHC class II antigen presentation</a:t>
            </a:r>
          </a:p>
        </p:txBody>
      </p:sp>
      <p:sp>
        <p:nvSpPr>
          <p:cNvPr id="128" name="Rectangle 127"/>
          <p:cNvSpPr/>
          <p:nvPr/>
        </p:nvSpPr>
        <p:spPr>
          <a:xfrm>
            <a:off x="3575303" y="4539996"/>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575303" y="4539996"/>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30" name="Rectangle 129"/>
          <p:cNvSpPr/>
          <p:nvPr/>
        </p:nvSpPr>
        <p:spPr>
          <a:xfrm>
            <a:off x="4123944" y="4539996"/>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4123944" y="4539996"/>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32" name="Rectangle 131"/>
          <p:cNvSpPr/>
          <p:nvPr/>
        </p:nvSpPr>
        <p:spPr>
          <a:xfrm>
            <a:off x="4672583" y="4539996"/>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672583" y="4539996"/>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34" name="Rectangle 133"/>
          <p:cNvSpPr/>
          <p:nvPr/>
        </p:nvSpPr>
        <p:spPr>
          <a:xfrm>
            <a:off x="5221224" y="4539996"/>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221224" y="4539996"/>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36" name="Rectangle 135"/>
          <p:cNvSpPr/>
          <p:nvPr/>
        </p:nvSpPr>
        <p:spPr>
          <a:xfrm>
            <a:off x="5769864" y="4539996"/>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769864" y="4539996"/>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38" name="TextBox 137"/>
          <p:cNvSpPr txBox="1"/>
          <p:nvPr/>
        </p:nvSpPr>
        <p:spPr>
          <a:xfrm>
            <a:off x="6336792" y="4549140"/>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0.121</a:t>
            </a:r>
          </a:p>
        </p:txBody>
      </p:sp>
      <p:sp>
        <p:nvSpPr>
          <p:cNvPr id="139" name="Rectangle 138"/>
          <p:cNvSpPr/>
          <p:nvPr/>
        </p:nvSpPr>
        <p:spPr>
          <a:xfrm>
            <a:off x="466344" y="4896612"/>
            <a:ext cx="109728"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49224" y="4832604"/>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Liver: T-cell receptor signaling</a:t>
            </a:r>
          </a:p>
        </p:txBody>
      </p:sp>
      <p:sp>
        <p:nvSpPr>
          <p:cNvPr id="141" name="Rectangle 140"/>
          <p:cNvSpPr/>
          <p:nvPr/>
        </p:nvSpPr>
        <p:spPr>
          <a:xfrm>
            <a:off x="3575303" y="482346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3575303" y="482346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43" name="Rectangle 142"/>
          <p:cNvSpPr/>
          <p:nvPr/>
        </p:nvSpPr>
        <p:spPr>
          <a:xfrm>
            <a:off x="4123944" y="482346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123944" y="482346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45" name="Rectangle 144"/>
          <p:cNvSpPr/>
          <p:nvPr/>
        </p:nvSpPr>
        <p:spPr>
          <a:xfrm>
            <a:off x="4672583" y="482346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4672583" y="482346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47" name="Rectangle 146"/>
          <p:cNvSpPr/>
          <p:nvPr/>
        </p:nvSpPr>
        <p:spPr>
          <a:xfrm>
            <a:off x="5221224" y="482346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221224" y="482346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49" name="Rectangle 148"/>
          <p:cNvSpPr/>
          <p:nvPr/>
        </p:nvSpPr>
        <p:spPr>
          <a:xfrm>
            <a:off x="5769864" y="4823460"/>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5769864" y="4823460"/>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51" name="TextBox 150"/>
          <p:cNvSpPr txBox="1"/>
          <p:nvPr/>
        </p:nvSpPr>
        <p:spPr>
          <a:xfrm>
            <a:off x="6336792" y="4832604"/>
            <a:ext cx="731520" cy="201168"/>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0.051</a:t>
            </a:r>
          </a:p>
        </p:txBody>
      </p:sp>
      <p:sp>
        <p:nvSpPr>
          <p:cNvPr id="152" name="Rectangle 151"/>
          <p:cNvSpPr/>
          <p:nvPr/>
        </p:nvSpPr>
        <p:spPr>
          <a:xfrm>
            <a:off x="438912" y="5070348"/>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438912" y="5042916"/>
            <a:ext cx="6656832" cy="16459"/>
          </a:xfrm>
          <a:prstGeom prst="rect">
            <a:avLst/>
          </a:prstGeom>
          <a:solidFill>
            <a:srgbClr val="BBC7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466344" y="5180076"/>
            <a:ext cx="109728"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9224" y="5116068"/>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Spleen: C-type lectin receptor signaling</a:t>
            </a:r>
          </a:p>
        </p:txBody>
      </p:sp>
      <p:sp>
        <p:nvSpPr>
          <p:cNvPr id="156" name="Rectangle 155"/>
          <p:cNvSpPr/>
          <p:nvPr/>
        </p:nvSpPr>
        <p:spPr>
          <a:xfrm>
            <a:off x="3575303" y="510692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575303" y="510692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58" name="Rectangle 157"/>
          <p:cNvSpPr/>
          <p:nvPr/>
        </p:nvSpPr>
        <p:spPr>
          <a:xfrm>
            <a:off x="4123944" y="510692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4123944" y="510692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60" name="Rectangle 159"/>
          <p:cNvSpPr/>
          <p:nvPr/>
        </p:nvSpPr>
        <p:spPr>
          <a:xfrm>
            <a:off x="4672583" y="510692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672583" y="510692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62" name="Rectangle 161"/>
          <p:cNvSpPr/>
          <p:nvPr/>
        </p:nvSpPr>
        <p:spPr>
          <a:xfrm>
            <a:off x="5221224" y="510692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221224" y="510692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64" name="Rectangle 163"/>
          <p:cNvSpPr/>
          <p:nvPr/>
        </p:nvSpPr>
        <p:spPr>
          <a:xfrm>
            <a:off x="5769864" y="5106924"/>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5769864" y="5106924"/>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66" name="TextBox 165"/>
          <p:cNvSpPr txBox="1"/>
          <p:nvPr/>
        </p:nvSpPr>
        <p:spPr>
          <a:xfrm>
            <a:off x="6336792" y="5116068"/>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0.017</a:t>
            </a:r>
          </a:p>
        </p:txBody>
      </p:sp>
      <p:sp>
        <p:nvSpPr>
          <p:cNvPr id="167" name="Rectangle 166"/>
          <p:cNvSpPr/>
          <p:nvPr/>
        </p:nvSpPr>
        <p:spPr>
          <a:xfrm>
            <a:off x="466344" y="5463540"/>
            <a:ext cx="109728"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649224" y="5399532"/>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Spleen: Neutrophil degranulation program</a:t>
            </a:r>
          </a:p>
        </p:txBody>
      </p:sp>
      <p:sp>
        <p:nvSpPr>
          <p:cNvPr id="169" name="Rectangle 168"/>
          <p:cNvSpPr/>
          <p:nvPr/>
        </p:nvSpPr>
        <p:spPr>
          <a:xfrm>
            <a:off x="3575303" y="539038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3575303" y="539038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71" name="Rectangle 170"/>
          <p:cNvSpPr/>
          <p:nvPr/>
        </p:nvSpPr>
        <p:spPr>
          <a:xfrm>
            <a:off x="4123944" y="539038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4123944" y="539038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73" name="Rectangle 172"/>
          <p:cNvSpPr/>
          <p:nvPr/>
        </p:nvSpPr>
        <p:spPr>
          <a:xfrm>
            <a:off x="4672583" y="539038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672583" y="539038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75" name="Rectangle 174"/>
          <p:cNvSpPr/>
          <p:nvPr/>
        </p:nvSpPr>
        <p:spPr>
          <a:xfrm>
            <a:off x="5221224" y="539038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5221224" y="539038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77" name="Rectangle 176"/>
          <p:cNvSpPr/>
          <p:nvPr/>
        </p:nvSpPr>
        <p:spPr>
          <a:xfrm>
            <a:off x="5769864" y="5390388"/>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5769864" y="5390388"/>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79" name="TextBox 178"/>
          <p:cNvSpPr txBox="1"/>
          <p:nvPr/>
        </p:nvSpPr>
        <p:spPr>
          <a:xfrm>
            <a:off x="6336792" y="5399532"/>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&lt;0.001</a:t>
            </a:r>
          </a:p>
        </p:txBody>
      </p:sp>
      <p:sp>
        <p:nvSpPr>
          <p:cNvPr id="180" name="Rectangle 179"/>
          <p:cNvSpPr/>
          <p:nvPr/>
        </p:nvSpPr>
        <p:spPr>
          <a:xfrm>
            <a:off x="438912" y="5637276"/>
            <a:ext cx="6656832" cy="274320"/>
          </a:xfrm>
          <a:prstGeom prst="rect">
            <a:avLst/>
          </a:prstGeom>
          <a:solidFill>
            <a:srgbClr val="F6F8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466344" y="5747004"/>
            <a:ext cx="109728"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49224" y="5682996"/>
            <a:ext cx="2651760" cy="210312"/>
          </a:xfrm>
          <a:prstGeom prst="rect">
            <a:avLst/>
          </a:prstGeom>
          <a:noFill/>
        </p:spPr>
        <p:txBody>
          <a:bodyPr wrap="square" lIns="0" rIns="0" tIns="0" bIns="0" anchor="t">
            <a:spAutoFit/>
          </a:bodyPr>
          <a:lstStyle/>
          <a:p>
            <a:pPr algn="l">
              <a:spcAft>
                <a:spcPts val="0"/>
              </a:spcAft>
            </a:pPr>
            <a:r>
              <a:rPr sz="880" b="0" i="0">
                <a:solidFill>
                  <a:srgbClr val="263746"/>
                </a:solidFill>
                <a:latin typeface="Arial"/>
              </a:rPr>
              <a:t>Spleen: T-cell receptor signaling</a:t>
            </a:r>
          </a:p>
        </p:txBody>
      </p:sp>
      <p:sp>
        <p:nvSpPr>
          <p:cNvPr id="183" name="Rectangle 182"/>
          <p:cNvSpPr/>
          <p:nvPr/>
        </p:nvSpPr>
        <p:spPr>
          <a:xfrm>
            <a:off x="3575303" y="567385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3575303" y="567385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85" name="Rectangle 184"/>
          <p:cNvSpPr/>
          <p:nvPr/>
        </p:nvSpPr>
        <p:spPr>
          <a:xfrm>
            <a:off x="4123944" y="567385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4123944" y="567385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87" name="Rectangle 186"/>
          <p:cNvSpPr/>
          <p:nvPr/>
        </p:nvSpPr>
        <p:spPr>
          <a:xfrm>
            <a:off x="4672583" y="567385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4672583" y="567385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89" name="Rectangle 188"/>
          <p:cNvSpPr/>
          <p:nvPr/>
        </p:nvSpPr>
        <p:spPr>
          <a:xfrm>
            <a:off x="5221224" y="567385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5221224" y="567385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91" name="Rectangle 190"/>
          <p:cNvSpPr/>
          <p:nvPr/>
        </p:nvSpPr>
        <p:spPr>
          <a:xfrm>
            <a:off x="5769864" y="5673852"/>
            <a:ext cx="310896" cy="21945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5769864" y="5673852"/>
            <a:ext cx="310896" cy="219456"/>
          </a:xfrm>
          <a:prstGeom prst="rect">
            <a:avLst/>
          </a:prstGeom>
          <a:noFill/>
        </p:spPr>
        <p:txBody>
          <a:bodyPr wrap="square" lIns="0" rIns="0" tIns="0" bIns="0" anchor="ctr">
            <a:spAutoFit/>
          </a:bodyPr>
          <a:lstStyle/>
          <a:p>
            <a:pPr algn="ctr">
              <a:spcAft>
                <a:spcPts val="0"/>
              </a:spcAft>
            </a:pPr>
            <a:r>
              <a:rPr sz="900" b="1" i="0">
                <a:solidFill>
                  <a:srgbClr val="FFFFFF"/>
                </a:solidFill>
                <a:latin typeface="Arial"/>
              </a:rPr>
              <a:t>+</a:t>
            </a:r>
          </a:p>
        </p:txBody>
      </p:sp>
      <p:sp>
        <p:nvSpPr>
          <p:cNvPr id="193" name="TextBox 192"/>
          <p:cNvSpPr txBox="1"/>
          <p:nvPr/>
        </p:nvSpPr>
        <p:spPr>
          <a:xfrm>
            <a:off x="6336792" y="5682996"/>
            <a:ext cx="731520" cy="201168"/>
          </a:xfrm>
          <a:prstGeom prst="rect">
            <a:avLst/>
          </a:prstGeom>
          <a:noFill/>
        </p:spPr>
        <p:txBody>
          <a:bodyPr wrap="square" lIns="0" rIns="0" tIns="0" bIns="0" anchor="t">
            <a:spAutoFit/>
          </a:bodyPr>
          <a:lstStyle/>
          <a:p>
            <a:pPr algn="ctr">
              <a:spcAft>
                <a:spcPts val="0"/>
              </a:spcAft>
            </a:pPr>
            <a:r>
              <a:rPr sz="880" b="1" i="0">
                <a:solidFill>
                  <a:srgbClr val="082B55"/>
                </a:solidFill>
                <a:latin typeface="Arial"/>
              </a:rPr>
              <a:t>0.042</a:t>
            </a:r>
          </a:p>
        </p:txBody>
      </p:sp>
      <p:sp>
        <p:nvSpPr>
          <p:cNvPr id="194" name="Rectangle 193"/>
          <p:cNvSpPr/>
          <p:nvPr/>
        </p:nvSpPr>
        <p:spPr>
          <a:xfrm>
            <a:off x="7333488" y="1901952"/>
            <a:ext cx="13716" cy="400507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662672" y="1920240"/>
            <a:ext cx="1481328"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WHAT REMAINED</a:t>
            </a:r>
          </a:p>
        </p:txBody>
      </p:sp>
      <p:sp>
        <p:nvSpPr>
          <p:cNvPr id="196" name="TextBox 195"/>
          <p:cNvSpPr txBox="1"/>
          <p:nvPr/>
        </p:nvSpPr>
        <p:spPr>
          <a:xfrm>
            <a:off x="7662672" y="2368296"/>
            <a:ext cx="1024128" cy="237744"/>
          </a:xfrm>
          <a:prstGeom prst="rect">
            <a:avLst/>
          </a:prstGeom>
          <a:noFill/>
        </p:spPr>
        <p:txBody>
          <a:bodyPr wrap="square" lIns="0" rIns="0" tIns="0" bIns="0" anchor="t">
            <a:spAutoFit/>
          </a:bodyPr>
          <a:lstStyle/>
          <a:p>
            <a:pPr algn="l">
              <a:spcAft>
                <a:spcPts val="0"/>
              </a:spcAft>
            </a:pPr>
            <a:r>
              <a:rPr sz="1350" b="1" i="0">
                <a:solidFill>
                  <a:srgbClr val="D96552"/>
                </a:solidFill>
                <a:latin typeface="Arial"/>
              </a:rPr>
              <a:t>Spleen</a:t>
            </a:r>
          </a:p>
        </p:txBody>
      </p:sp>
      <p:sp>
        <p:nvSpPr>
          <p:cNvPr id="197" name="TextBox 196"/>
          <p:cNvSpPr txBox="1"/>
          <p:nvPr/>
        </p:nvSpPr>
        <p:spPr>
          <a:xfrm>
            <a:off x="8741664" y="2350008"/>
            <a:ext cx="2596896" cy="576072"/>
          </a:xfrm>
          <a:prstGeom prst="rect">
            <a:avLst/>
          </a:prstGeom>
          <a:noFill/>
        </p:spPr>
        <p:txBody>
          <a:bodyPr wrap="square" lIns="0" rIns="0" tIns="0" bIns="0" anchor="t">
            <a:spAutoFit/>
          </a:bodyPr>
          <a:lstStyle/>
          <a:p>
            <a:pPr algn="l">
              <a:spcAft>
                <a:spcPts val="0"/>
              </a:spcAft>
            </a:pPr>
            <a:r>
              <a:rPr sz="1080" b="0" i="0">
                <a:solidFill>
                  <a:srgbClr val="263746"/>
                </a:solidFill>
                <a:latin typeface="Arial"/>
              </a:rPr>
              <a:t>All three programs passed GSEA FDR &lt; 0.05 and all five directional checks.</a:t>
            </a:r>
          </a:p>
        </p:txBody>
      </p:sp>
      <p:sp>
        <p:nvSpPr>
          <p:cNvPr id="198" name="Rectangle 197"/>
          <p:cNvSpPr/>
          <p:nvPr/>
        </p:nvSpPr>
        <p:spPr>
          <a:xfrm>
            <a:off x="7662672" y="3044951"/>
            <a:ext cx="3675887"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7662672" y="3191256"/>
            <a:ext cx="1024128" cy="237744"/>
          </a:xfrm>
          <a:prstGeom prst="rect">
            <a:avLst/>
          </a:prstGeom>
          <a:noFill/>
        </p:spPr>
        <p:txBody>
          <a:bodyPr wrap="square" lIns="0" rIns="0" tIns="0" bIns="0" anchor="t">
            <a:spAutoFit/>
          </a:bodyPr>
          <a:lstStyle/>
          <a:p>
            <a:pPr algn="l">
              <a:spcAft>
                <a:spcPts val="0"/>
              </a:spcAft>
            </a:pPr>
            <a:r>
              <a:rPr sz="1350" b="1" i="0">
                <a:solidFill>
                  <a:srgbClr val="D37B00"/>
                </a:solidFill>
                <a:latin typeface="Arial"/>
              </a:rPr>
              <a:t>Skin</a:t>
            </a:r>
          </a:p>
        </p:txBody>
      </p:sp>
      <p:sp>
        <p:nvSpPr>
          <p:cNvPr id="200" name="TextBox 199"/>
          <p:cNvSpPr txBox="1"/>
          <p:nvPr/>
        </p:nvSpPr>
        <p:spPr>
          <a:xfrm>
            <a:off x="8741664" y="3172968"/>
            <a:ext cx="2596896" cy="576072"/>
          </a:xfrm>
          <a:prstGeom prst="rect">
            <a:avLst/>
          </a:prstGeom>
          <a:noFill/>
        </p:spPr>
        <p:txBody>
          <a:bodyPr wrap="square" lIns="0" rIns="0" tIns="0" bIns="0" anchor="t">
            <a:spAutoFit/>
          </a:bodyPr>
          <a:lstStyle/>
          <a:p>
            <a:pPr algn="l">
              <a:spcAft>
                <a:spcPts val="0"/>
              </a:spcAft>
            </a:pPr>
            <a:r>
              <a:rPr sz="1080" b="0" i="0">
                <a:solidFill>
                  <a:srgbClr val="263746"/>
                </a:solidFill>
                <a:latin typeface="Arial"/>
              </a:rPr>
              <a:t>Chromatin, DNA repair, and cell-junction programs passed GSEA FDR &lt; 0.05.</a:t>
            </a:r>
          </a:p>
        </p:txBody>
      </p:sp>
      <p:sp>
        <p:nvSpPr>
          <p:cNvPr id="201" name="Rectangle 200"/>
          <p:cNvSpPr/>
          <p:nvPr/>
        </p:nvSpPr>
        <p:spPr>
          <a:xfrm>
            <a:off x="7662672" y="3867911"/>
            <a:ext cx="3675887"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7662672" y="4014215"/>
            <a:ext cx="1024128" cy="237744"/>
          </a:xfrm>
          <a:prstGeom prst="rect">
            <a:avLst/>
          </a:prstGeom>
          <a:noFill/>
        </p:spPr>
        <p:txBody>
          <a:bodyPr wrap="square" lIns="0" rIns="0" tIns="0" bIns="0" anchor="t">
            <a:spAutoFit/>
          </a:bodyPr>
          <a:lstStyle/>
          <a:p>
            <a:pPr algn="l">
              <a:spcAft>
                <a:spcPts val="0"/>
              </a:spcAft>
            </a:pPr>
            <a:r>
              <a:rPr sz="1350" b="1" i="0">
                <a:solidFill>
                  <a:srgbClr val="8063A6"/>
                </a:solidFill>
                <a:latin typeface="Arial"/>
              </a:rPr>
              <a:t>Thymus</a:t>
            </a:r>
          </a:p>
        </p:txBody>
      </p:sp>
      <p:sp>
        <p:nvSpPr>
          <p:cNvPr id="203" name="TextBox 202"/>
          <p:cNvSpPr txBox="1"/>
          <p:nvPr/>
        </p:nvSpPr>
        <p:spPr>
          <a:xfrm>
            <a:off x="8741664" y="3995928"/>
            <a:ext cx="2596896" cy="576072"/>
          </a:xfrm>
          <a:prstGeom prst="rect">
            <a:avLst/>
          </a:prstGeom>
          <a:noFill/>
        </p:spPr>
        <p:txBody>
          <a:bodyPr wrap="square" lIns="0" rIns="0" tIns="0" bIns="0" anchor="t">
            <a:spAutoFit/>
          </a:bodyPr>
          <a:lstStyle/>
          <a:p>
            <a:pPr algn="l">
              <a:spcAft>
                <a:spcPts val="0"/>
              </a:spcAft>
            </a:pPr>
            <a:r>
              <a:rPr sz="1080" b="0" i="0">
                <a:solidFill>
                  <a:srgbClr val="263746"/>
                </a:solidFill>
                <a:latin typeface="Arial"/>
              </a:rPr>
              <a:t>DNA repair passed GSEA FDR &lt; 0.001; the cytoskeletal and niche programs had directional support.</a:t>
            </a:r>
          </a:p>
        </p:txBody>
      </p:sp>
      <p:sp>
        <p:nvSpPr>
          <p:cNvPr id="204" name="Rectangle 203"/>
          <p:cNvSpPr/>
          <p:nvPr/>
        </p:nvSpPr>
        <p:spPr>
          <a:xfrm>
            <a:off x="7662672" y="4690872"/>
            <a:ext cx="3675887"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7662672" y="4837176"/>
            <a:ext cx="1024128" cy="237744"/>
          </a:xfrm>
          <a:prstGeom prst="rect">
            <a:avLst/>
          </a:prstGeom>
          <a:noFill/>
        </p:spPr>
        <p:txBody>
          <a:bodyPr wrap="square" lIns="0" rIns="0" tIns="0" bIns="0" anchor="t">
            <a:spAutoFit/>
          </a:bodyPr>
          <a:lstStyle/>
          <a:p>
            <a:pPr algn="l">
              <a:spcAft>
                <a:spcPts val="0"/>
              </a:spcAft>
            </a:pPr>
            <a:r>
              <a:rPr sz="1350" b="1" i="0">
                <a:solidFill>
                  <a:srgbClr val="178681"/>
                </a:solidFill>
                <a:latin typeface="Arial"/>
              </a:rPr>
              <a:t>Liver</a:t>
            </a:r>
          </a:p>
        </p:txBody>
      </p:sp>
      <p:sp>
        <p:nvSpPr>
          <p:cNvPr id="206" name="TextBox 205"/>
          <p:cNvSpPr txBox="1"/>
          <p:nvPr/>
        </p:nvSpPr>
        <p:spPr>
          <a:xfrm>
            <a:off x="8741664" y="4818888"/>
            <a:ext cx="2596896" cy="576072"/>
          </a:xfrm>
          <a:prstGeom prst="rect">
            <a:avLst/>
          </a:prstGeom>
          <a:noFill/>
        </p:spPr>
        <p:txBody>
          <a:bodyPr wrap="square" lIns="0" rIns="0" tIns="0" bIns="0" anchor="t">
            <a:spAutoFit/>
          </a:bodyPr>
          <a:lstStyle/>
          <a:p>
            <a:pPr algn="l">
              <a:spcAft>
                <a:spcPts val="0"/>
              </a:spcAft>
            </a:pPr>
            <a:r>
              <a:rPr sz="1080" b="0" i="0">
                <a:solidFill>
                  <a:srgbClr val="263746"/>
                </a:solidFill>
                <a:latin typeface="Arial"/>
              </a:rPr>
              <a:t>MHC II and T-cell receptor scores were lower, but conventional FDR was 0.121 and 0.051.</a:t>
            </a:r>
          </a:p>
        </p:txBody>
      </p:sp>
      <p:sp>
        <p:nvSpPr>
          <p:cNvPr id="207" name="Rectangle 206"/>
          <p:cNvSpPr/>
          <p:nvPr/>
        </p:nvSpPr>
        <p:spPr>
          <a:xfrm>
            <a:off x="7653527" y="5660136"/>
            <a:ext cx="3703320" cy="42062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extBox 207"/>
          <p:cNvSpPr txBox="1"/>
          <p:nvPr/>
        </p:nvSpPr>
        <p:spPr>
          <a:xfrm>
            <a:off x="7845552" y="5751576"/>
            <a:ext cx="3310128" cy="219456"/>
          </a:xfrm>
          <a:prstGeom prst="rect">
            <a:avLst/>
          </a:prstGeom>
          <a:noFill/>
        </p:spPr>
        <p:txBody>
          <a:bodyPr wrap="square" lIns="0" rIns="0" tIns="0" bIns="0" anchor="t">
            <a:spAutoFit/>
          </a:bodyPr>
          <a:lstStyle/>
          <a:p>
            <a:pPr algn="ctr">
              <a:spcAft>
                <a:spcPts val="0"/>
              </a:spcAft>
            </a:pPr>
            <a:r>
              <a:rPr sz="1150" b="1" i="0">
                <a:solidFill>
                  <a:srgbClr val="082B55"/>
                </a:solidFill>
                <a:latin typeface="Arial"/>
              </a:rPr>
              <a:t>Spleen was the strongest multi-pathway result.</a:t>
            </a:r>
          </a:p>
        </p:txBody>
      </p:sp>
      <p:sp>
        <p:nvSpPr>
          <p:cNvPr id="209" name="TextBox 20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Table 2 and Table S24. Held-out checks are internal project-wise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can shift the FLT/GC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Opaque points train the classifier; transparent points are the same held-out real profiles in both panels.</a:t>
            </a:r>
          </a:p>
        </p:txBody>
      </p:sp>
      <p:sp>
        <p:nvSpPr>
          <p:cNvPr id="7" name="Oval 6"/>
          <p:cNvSpPr/>
          <p:nvPr/>
        </p:nvSpPr>
        <p:spPr>
          <a:xfrm>
            <a:off x="8037575" y="17922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11312" y="1755648"/>
            <a:ext cx="329184"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FLT</a:t>
            </a:r>
          </a:p>
        </p:txBody>
      </p:sp>
      <p:sp>
        <p:nvSpPr>
          <p:cNvPr id="9" name="Oval 8"/>
          <p:cNvSpPr/>
          <p:nvPr/>
        </p:nvSpPr>
        <p:spPr>
          <a:xfrm>
            <a:off x="8686800" y="179222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0536" y="1755648"/>
            <a:ext cx="310896"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GC</a:t>
            </a:r>
          </a:p>
        </p:txBody>
      </p:sp>
      <p:sp>
        <p:nvSpPr>
          <p:cNvPr id="11" name="Oval 10"/>
          <p:cNvSpPr/>
          <p:nvPr/>
        </p:nvSpPr>
        <p:spPr>
          <a:xfrm>
            <a:off x="9418320" y="1792224"/>
            <a:ext cx="118872" cy="118872"/>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92056" y="1755648"/>
            <a:ext cx="56692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training</a:t>
            </a:r>
          </a:p>
        </p:txBody>
      </p:sp>
      <p:sp>
        <p:nvSpPr>
          <p:cNvPr id="13" name="Oval 12"/>
          <p:cNvSpPr/>
          <p:nvPr/>
        </p:nvSpPr>
        <p:spPr>
          <a:xfrm>
            <a:off x="10314432" y="1773936"/>
            <a:ext cx="146304" cy="146304"/>
          </a:xfrm>
          <a:prstGeom prst="ellipse">
            <a:avLst/>
          </a:prstGeom>
          <a:solidFill>
            <a:srgbClr val="8A969E">
              <a:alpha val="42000"/>
            </a:srgbClr>
          </a:solidFill>
          <a:ln w="12700">
            <a:solidFill>
              <a:srgbClr val="8A96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33888" y="1755648"/>
            <a:ext cx="65836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held-out</a:t>
            </a:r>
          </a:p>
        </p:txBody>
      </p:sp>
      <p:sp>
        <p:nvSpPr>
          <p:cNvPr id="15" name="TextBox 14"/>
          <p:cNvSpPr txBox="1"/>
          <p:nvPr/>
        </p:nvSpPr>
        <p:spPr>
          <a:xfrm>
            <a:off x="658368" y="2039112"/>
            <a:ext cx="4343400"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6" name="TextBox 15"/>
          <p:cNvSpPr txBox="1"/>
          <p:nvPr/>
        </p:nvSpPr>
        <p:spPr>
          <a:xfrm>
            <a:off x="7178040" y="2039112"/>
            <a:ext cx="4343400"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7" name="Rectangle 16"/>
          <p:cNvSpPr/>
          <p:nvPr/>
        </p:nvSpPr>
        <p:spPr>
          <a:xfrm>
            <a:off x="658368"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69848"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8176"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55648"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075688"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58568"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264408"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38728"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858768"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224528"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44568"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532887"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43200"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17520"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218687"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50008" y="2560320"/>
            <a:ext cx="32004" cy="2724912"/>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35" name="TextBox 34"/>
          <p:cNvSpPr txBox="1"/>
          <p:nvPr/>
        </p:nvSpPr>
        <p:spPr>
          <a:xfrm>
            <a:off x="3840480"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36" name="Rectangle 35"/>
          <p:cNvSpPr/>
          <p:nvPr/>
        </p:nvSpPr>
        <p:spPr>
          <a:xfrm>
            <a:off x="7178040"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78040"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89519"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927848"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75319"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595360"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778240"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784080"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378440"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744200"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064240"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052559"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262872"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537192"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738359"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90888" y="2560320"/>
            <a:ext cx="41148" cy="2724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87768"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54" name="TextBox 53"/>
          <p:cNvSpPr txBox="1"/>
          <p:nvPr/>
        </p:nvSpPr>
        <p:spPr>
          <a:xfrm>
            <a:off x="10360152"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55" name="Right Arrow 54"/>
          <p:cNvSpPr/>
          <p:nvPr/>
        </p:nvSpPr>
        <p:spPr>
          <a:xfrm>
            <a:off x="5367528" y="3547872"/>
            <a:ext cx="749808" cy="4023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93208" y="4069080"/>
            <a:ext cx="1298448" cy="356616"/>
          </a:xfrm>
          <a:prstGeom prst="rect">
            <a:avLst/>
          </a:prstGeom>
          <a:noFill/>
        </p:spPr>
        <p:txBody>
          <a:bodyPr wrap="square" lIns="0" rIns="0" tIns="0" bIns="0" anchor="t">
            <a:spAutoFit/>
          </a:bodyPr>
          <a:lstStyle/>
          <a:p>
            <a:pPr algn="ctr">
              <a:spcAft>
                <a:spcPts val="0"/>
              </a:spcAft>
            </a:pPr>
            <a:r>
              <a:rPr sz="960" b="1" i="0">
                <a:solidFill>
                  <a:srgbClr val="59697A"/>
                </a:solidFill>
                <a:latin typeface="Arial"/>
              </a:rPr>
              <a:t>same held-out profiles</a:t>
            </a:r>
          </a:p>
        </p:txBody>
      </p:sp>
      <p:sp>
        <p:nvSpPr>
          <p:cNvPr id="57" name="TextBox 5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of the held-out evaluation used for each tissue-specific classifier candidate.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Tissue-specific consensus ranking and light synthetic regularization improved held-out prediction in selected tissues.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Promoted and reinforced genes supported tissue-specific hypotheses. Literature review separated prior alignment from complementary findings.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