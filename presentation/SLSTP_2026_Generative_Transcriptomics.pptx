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markers are positions in ranked gene lists, not expression values. Real OSDR profiles rank all 974 genes by FLT versus GC separation. The generated profiles rank the same genes in each matched draw, and the middle generated position is used so one unusual draw cannot dominate. Genes near the top of both lists move up in the shared ranking; a gene supported by only one source is held back. The implementation normalizes both rank positions and takes their geometric mean, while the effect-based version also checks direction and stability.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held-out real samples appear in both schematic panels, so the dots are fixed and only the boundary changes. Under the hood, consensus ranking changes which genes enter the model, and the guided arm may also use low-weight generated profiles during fitting. In thymus, Cdk1 and Nusap1 went from zero of eight real-only selections to eight of eight guided selections. Effects and BH FDR still come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combines two gene leaderboards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 moves up only when it ranks near the top in both real OSDR and generated data.</a:t>
            </a:r>
          </a:p>
        </p:txBody>
      </p:sp>
      <p:sp>
        <p:nvSpPr>
          <p:cNvPr id="7" name="Rectangle 6"/>
          <p:cNvSpPr/>
          <p:nvPr/>
        </p:nvSpPr>
        <p:spPr>
          <a:xfrm>
            <a:off x="438912" y="1874519"/>
            <a:ext cx="3300984" cy="221284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536192"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OSDR</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by FLT-GC separation</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948939"/>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13" name="Rectangle 12"/>
          <p:cNvSpPr/>
          <p:nvPr/>
        </p:nvSpPr>
        <p:spPr>
          <a:xfrm>
            <a:off x="1481328" y="303123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676814" y="297637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323844"/>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16" name="Rectangle 15"/>
          <p:cNvSpPr/>
          <p:nvPr/>
        </p:nvSpPr>
        <p:spPr>
          <a:xfrm>
            <a:off x="1481328" y="3406140"/>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606588" y="3351276"/>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68289" y="2889504"/>
            <a:ext cx="20116" cy="7315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0592" y="3730752"/>
            <a:ext cx="960120" cy="164592"/>
          </a:xfrm>
          <a:prstGeom prst="rect">
            <a:avLst/>
          </a:prstGeom>
          <a:noFill/>
        </p:spPr>
        <p:txBody>
          <a:bodyPr wrap="square" lIns="0" rIns="0" tIns="0" bIns="0" anchor="t">
            <a:spAutoFit/>
          </a:bodyPr>
          <a:lstStyle/>
          <a:p>
            <a:pPr algn="r">
              <a:spcAft>
                <a:spcPts val="0"/>
              </a:spcAft>
            </a:pPr>
            <a:r>
              <a:rPr sz="850" b="0" i="1">
                <a:solidFill>
                  <a:srgbClr val="2D6496"/>
                </a:solidFill>
                <a:latin typeface="Arial"/>
              </a:rPr>
              <a:t>selection cutoff</a:t>
            </a:r>
          </a:p>
        </p:txBody>
      </p:sp>
      <p:sp>
        <p:nvSpPr>
          <p:cNvPr id="20" name="Right Arrow 19"/>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1874519"/>
            <a:ext cx="3300984" cy="2212848"/>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34256" y="2075688"/>
            <a:ext cx="2148840"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DRAWS</a:t>
            </a:r>
          </a:p>
        </p:txBody>
      </p:sp>
      <p:sp>
        <p:nvSpPr>
          <p:cNvPr id="23" name="TextBox 22"/>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genes in every matched draw</a:t>
            </a:r>
          </a:p>
        </p:txBody>
      </p:sp>
      <p:sp>
        <p:nvSpPr>
          <p:cNvPr id="24" name="TextBox 23"/>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25" name="TextBox 24"/>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26" name="TextBox 25"/>
          <p:cNvSpPr txBox="1"/>
          <p:nvPr/>
        </p:nvSpPr>
        <p:spPr>
          <a:xfrm>
            <a:off x="4334256" y="2948939"/>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27" name="Rectangle 26"/>
          <p:cNvSpPr/>
          <p:nvPr/>
        </p:nvSpPr>
        <p:spPr>
          <a:xfrm>
            <a:off x="5157216" y="303123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756501" y="297637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323844"/>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30" name="Rectangle 29"/>
          <p:cNvSpPr/>
          <p:nvPr/>
        </p:nvSpPr>
        <p:spPr>
          <a:xfrm>
            <a:off x="5157216" y="3406140"/>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68719" y="3351276"/>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379976" y="3730752"/>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81144" y="3730752"/>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782312" y="3730752"/>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983480" y="3730752"/>
            <a:ext cx="100584" cy="100584"/>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184648" y="3730752"/>
            <a:ext cx="100584" cy="100584"/>
          </a:xfrm>
          <a:prstGeom prst="ellipse">
            <a:avLst/>
          </a:prstGeom>
          <a:solidFill>
            <a:srgbClr val="E7B5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0" y="3694176"/>
            <a:ext cx="1627632" cy="192024"/>
          </a:xfrm>
          <a:prstGeom prst="rect">
            <a:avLst/>
          </a:prstGeom>
          <a:noFill/>
        </p:spPr>
        <p:txBody>
          <a:bodyPr wrap="square" lIns="0" rIns="0" tIns="0" bIns="0" anchor="t">
            <a:spAutoFit/>
          </a:bodyPr>
          <a:lstStyle/>
          <a:p>
            <a:pPr algn="r">
              <a:spcAft>
                <a:spcPts val="0"/>
              </a:spcAft>
            </a:pPr>
            <a:r>
              <a:rPr sz="880" b="0" i="1">
                <a:solidFill>
                  <a:srgbClr val="D96552"/>
                </a:solidFill>
                <a:latin typeface="Arial"/>
              </a:rPr>
              <a:t>Use the middle position across draws</a:t>
            </a:r>
          </a:p>
        </p:txBody>
      </p:sp>
      <p:sp>
        <p:nvSpPr>
          <p:cNvPr id="38" name="Right Arrow 3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790688" y="1874519"/>
            <a:ext cx="3776472" cy="2212848"/>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10144" y="2075688"/>
            <a:ext cx="2039112"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SHARED RANKING</a:t>
            </a:r>
          </a:p>
        </p:txBody>
      </p:sp>
      <p:sp>
        <p:nvSpPr>
          <p:cNvPr id="41" name="TextBox 4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Both lists must support the gene</a:t>
            </a:r>
          </a:p>
        </p:txBody>
      </p:sp>
      <p:sp>
        <p:nvSpPr>
          <p:cNvPr id="42" name="TextBox 4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43" name="TextBox 4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44" name="TextBox 43"/>
          <p:cNvSpPr txBox="1"/>
          <p:nvPr/>
        </p:nvSpPr>
        <p:spPr>
          <a:xfrm>
            <a:off x="8010144" y="2921508"/>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Cdk1</a:t>
            </a:r>
          </a:p>
        </p:txBody>
      </p:sp>
      <p:sp>
        <p:nvSpPr>
          <p:cNvPr id="45" name="Rectangle 44"/>
          <p:cNvSpPr/>
          <p:nvPr/>
        </p:nvSpPr>
        <p:spPr>
          <a:xfrm>
            <a:off x="8833104" y="3003804"/>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291937" y="2948940"/>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826496" y="2921508"/>
            <a:ext cx="557784" cy="192024"/>
          </a:xfrm>
          <a:prstGeom prst="rect">
            <a:avLst/>
          </a:prstGeom>
          <a:noFill/>
        </p:spPr>
        <p:txBody>
          <a:bodyPr wrap="square" lIns="0" rIns="0" tIns="0" bIns="0" anchor="t">
            <a:spAutoFit/>
          </a:bodyPr>
          <a:lstStyle/>
          <a:p>
            <a:pPr algn="r">
              <a:spcAft>
                <a:spcPts val="0"/>
              </a:spcAft>
            </a:pPr>
            <a:r>
              <a:rPr sz="840" b="1" i="0">
                <a:solidFill>
                  <a:srgbClr val="178681"/>
                </a:solidFill>
                <a:latin typeface="Arial"/>
              </a:rPr>
              <a:t>selected</a:t>
            </a:r>
          </a:p>
        </p:txBody>
      </p:sp>
      <p:sp>
        <p:nvSpPr>
          <p:cNvPr id="48" name="TextBox 47"/>
          <p:cNvSpPr txBox="1"/>
          <p:nvPr/>
        </p:nvSpPr>
        <p:spPr>
          <a:xfrm>
            <a:off x="8010144" y="3250691"/>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Nusap1</a:t>
            </a:r>
          </a:p>
        </p:txBody>
      </p:sp>
      <p:sp>
        <p:nvSpPr>
          <p:cNvPr id="49" name="Rectangle 48"/>
          <p:cNvSpPr/>
          <p:nvPr/>
        </p:nvSpPr>
        <p:spPr>
          <a:xfrm>
            <a:off x="8833104" y="3332988"/>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221711" y="3278124"/>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826496" y="3250691"/>
            <a:ext cx="557784" cy="192024"/>
          </a:xfrm>
          <a:prstGeom prst="rect">
            <a:avLst/>
          </a:prstGeom>
          <a:noFill/>
        </p:spPr>
        <p:txBody>
          <a:bodyPr wrap="square" lIns="0" rIns="0" tIns="0" bIns="0" anchor="t">
            <a:spAutoFit/>
          </a:bodyPr>
          <a:lstStyle/>
          <a:p>
            <a:pPr algn="r">
              <a:spcAft>
                <a:spcPts val="0"/>
              </a:spcAft>
            </a:pPr>
            <a:r>
              <a:rPr sz="840" b="1" i="0">
                <a:solidFill>
                  <a:srgbClr val="178681"/>
                </a:solidFill>
                <a:latin typeface="Arial"/>
              </a:rPr>
              <a:t>selected</a:t>
            </a:r>
          </a:p>
        </p:txBody>
      </p:sp>
      <p:sp>
        <p:nvSpPr>
          <p:cNvPr id="52" name="TextBox 51"/>
          <p:cNvSpPr txBox="1"/>
          <p:nvPr/>
        </p:nvSpPr>
        <p:spPr>
          <a:xfrm>
            <a:off x="8010144" y="3579875"/>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one-sided</a:t>
            </a:r>
          </a:p>
        </p:txBody>
      </p:sp>
      <p:sp>
        <p:nvSpPr>
          <p:cNvPr id="53" name="Rectangle 52"/>
          <p:cNvSpPr/>
          <p:nvPr/>
        </p:nvSpPr>
        <p:spPr>
          <a:xfrm>
            <a:off x="8833104" y="3662172"/>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554565" y="3607308"/>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826496" y="3579875"/>
            <a:ext cx="557784" cy="192024"/>
          </a:xfrm>
          <a:prstGeom prst="rect">
            <a:avLst/>
          </a:prstGeom>
          <a:noFill/>
        </p:spPr>
        <p:txBody>
          <a:bodyPr wrap="square" lIns="0" rIns="0" tIns="0" bIns="0" anchor="t">
            <a:spAutoFit/>
          </a:bodyPr>
          <a:lstStyle/>
          <a:p>
            <a:pPr algn="r">
              <a:spcAft>
                <a:spcPts val="0"/>
              </a:spcAft>
            </a:pPr>
            <a:r>
              <a:rPr sz="840" b="1" i="0">
                <a:solidFill>
                  <a:srgbClr val="8A969E"/>
                </a:solidFill>
                <a:latin typeface="Arial"/>
              </a:rPr>
              <a:t>held back</a:t>
            </a:r>
          </a:p>
        </p:txBody>
      </p:sp>
      <p:sp>
        <p:nvSpPr>
          <p:cNvPr id="56" name="Rectangle 55"/>
          <p:cNvSpPr/>
          <p:nvPr/>
        </p:nvSpPr>
        <p:spPr>
          <a:xfrm>
            <a:off x="10149840" y="2880360"/>
            <a:ext cx="20116" cy="96012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195560" y="3840480"/>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58" name="TextBox 57"/>
          <p:cNvSpPr txBox="1"/>
          <p:nvPr/>
        </p:nvSpPr>
        <p:spPr>
          <a:xfrm>
            <a:off x="475488" y="4315968"/>
            <a:ext cx="2871216"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How to read the ranking</a:t>
            </a:r>
          </a:p>
        </p:txBody>
      </p:sp>
      <p:sp>
        <p:nvSpPr>
          <p:cNvPr id="59" name="Rectangle 58"/>
          <p:cNvSpPr/>
          <p:nvPr/>
        </p:nvSpPr>
        <p:spPr>
          <a:xfrm>
            <a:off x="466344" y="4617720"/>
            <a:ext cx="5376672" cy="9418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13232" y="4791456"/>
            <a:ext cx="676656" cy="228600"/>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Cdk1</a:t>
            </a:r>
          </a:p>
        </p:txBody>
      </p:sp>
      <p:sp>
        <p:nvSpPr>
          <p:cNvPr id="61" name="Oval 60"/>
          <p:cNvSpPr/>
          <p:nvPr/>
        </p:nvSpPr>
        <p:spPr>
          <a:xfrm>
            <a:off x="1581912" y="48280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792224" y="4782312"/>
            <a:ext cx="1161288" cy="219456"/>
          </a:xfrm>
          <a:prstGeom prst="rect">
            <a:avLst/>
          </a:prstGeom>
          <a:noFill/>
        </p:spPr>
        <p:txBody>
          <a:bodyPr wrap="square" lIns="0" rIns="0" tIns="0" bIns="0" anchor="t">
            <a:spAutoFit/>
          </a:bodyPr>
          <a:lstStyle/>
          <a:p>
            <a:pPr algn="l">
              <a:spcAft>
                <a:spcPts val="0"/>
              </a:spcAft>
            </a:pPr>
            <a:r>
              <a:rPr sz="980" b="1" i="0">
                <a:solidFill>
                  <a:srgbClr val="2D6496"/>
                </a:solidFill>
                <a:latin typeface="Arial"/>
              </a:rPr>
              <a:t>near top in real</a:t>
            </a:r>
          </a:p>
        </p:txBody>
      </p:sp>
      <p:sp>
        <p:nvSpPr>
          <p:cNvPr id="63" name="TextBox 62"/>
          <p:cNvSpPr txBox="1"/>
          <p:nvPr/>
        </p:nvSpPr>
        <p:spPr>
          <a:xfrm>
            <a:off x="2935224" y="4773168"/>
            <a:ext cx="219456" cy="219456"/>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64" name="Oval 63"/>
          <p:cNvSpPr/>
          <p:nvPr/>
        </p:nvSpPr>
        <p:spPr>
          <a:xfrm>
            <a:off x="3236976" y="48280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447288" y="4782312"/>
            <a:ext cx="1261872" cy="219456"/>
          </a:xfrm>
          <a:prstGeom prst="rect">
            <a:avLst/>
          </a:prstGeom>
          <a:noFill/>
        </p:spPr>
        <p:txBody>
          <a:bodyPr wrap="square" lIns="0" rIns="0" tIns="0" bIns="0" anchor="t">
            <a:spAutoFit/>
          </a:bodyPr>
          <a:lstStyle/>
          <a:p>
            <a:pPr algn="l">
              <a:spcAft>
                <a:spcPts val="0"/>
              </a:spcAft>
            </a:pPr>
            <a:r>
              <a:rPr sz="980" b="1" i="0">
                <a:solidFill>
                  <a:srgbClr val="D96552"/>
                </a:solidFill>
                <a:latin typeface="Arial"/>
              </a:rPr>
              <a:t>near top in draws</a:t>
            </a:r>
          </a:p>
        </p:txBody>
      </p:sp>
      <p:sp>
        <p:nvSpPr>
          <p:cNvPr id="66" name="Right Arrow 65"/>
          <p:cNvSpPr/>
          <p:nvPr/>
        </p:nvSpPr>
        <p:spPr>
          <a:xfrm>
            <a:off x="4736592" y="4800600"/>
            <a:ext cx="256032" cy="16459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074920" y="4773168"/>
            <a:ext cx="557784" cy="228600"/>
          </a:xfrm>
          <a:prstGeom prst="rect">
            <a:avLst/>
          </a:prstGeom>
          <a:noFill/>
        </p:spPr>
        <p:txBody>
          <a:bodyPr wrap="square" lIns="0" rIns="0" tIns="0" bIns="0" anchor="t">
            <a:spAutoFit/>
          </a:bodyPr>
          <a:lstStyle/>
          <a:p>
            <a:pPr algn="ctr">
              <a:spcAft>
                <a:spcPts val="0"/>
              </a:spcAft>
            </a:pPr>
            <a:r>
              <a:rPr sz="1019" b="1" i="0">
                <a:solidFill>
                  <a:srgbClr val="178681"/>
                </a:solidFill>
                <a:latin typeface="Arial"/>
              </a:rPr>
              <a:t>SELECT</a:t>
            </a:r>
          </a:p>
        </p:txBody>
      </p:sp>
      <p:sp>
        <p:nvSpPr>
          <p:cNvPr id="68" name="TextBox 67"/>
          <p:cNvSpPr txBox="1"/>
          <p:nvPr/>
        </p:nvSpPr>
        <p:spPr>
          <a:xfrm>
            <a:off x="713232" y="5148072"/>
            <a:ext cx="4736592" cy="201168"/>
          </a:xfrm>
          <a:prstGeom prst="rect">
            <a:avLst/>
          </a:prstGeom>
          <a:noFill/>
        </p:spPr>
        <p:txBody>
          <a:bodyPr wrap="square" lIns="0" rIns="0" tIns="0" bIns="0" anchor="t">
            <a:spAutoFit/>
          </a:bodyPr>
          <a:lstStyle/>
          <a:p>
            <a:pPr algn="l">
              <a:spcAft>
                <a:spcPts val="0"/>
              </a:spcAft>
            </a:pPr>
            <a:r>
              <a:rPr sz="950" b="0" i="0">
                <a:solidFill>
                  <a:srgbClr val="263746"/>
                </a:solidFill>
                <a:latin typeface="Arial"/>
              </a:rPr>
              <a:t>Agreement moves the gene above the cutoff.</a:t>
            </a:r>
          </a:p>
        </p:txBody>
      </p:sp>
      <p:sp>
        <p:nvSpPr>
          <p:cNvPr id="69" name="Rectangle 68"/>
          <p:cNvSpPr/>
          <p:nvPr/>
        </p:nvSpPr>
        <p:spPr>
          <a:xfrm>
            <a:off x="6089904" y="4617720"/>
            <a:ext cx="5477256" cy="9418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27648" y="4791456"/>
            <a:ext cx="1078992" cy="228600"/>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One-sided gene</a:t>
            </a:r>
          </a:p>
        </p:txBody>
      </p:sp>
      <p:sp>
        <p:nvSpPr>
          <p:cNvPr id="71" name="Oval 70"/>
          <p:cNvSpPr/>
          <p:nvPr/>
        </p:nvSpPr>
        <p:spPr>
          <a:xfrm>
            <a:off x="7534656" y="48280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44968" y="4782312"/>
            <a:ext cx="804672" cy="219456"/>
          </a:xfrm>
          <a:prstGeom prst="rect">
            <a:avLst/>
          </a:prstGeom>
          <a:noFill/>
        </p:spPr>
        <p:txBody>
          <a:bodyPr wrap="square" lIns="0" rIns="0" tIns="0" bIns="0" anchor="t">
            <a:spAutoFit/>
          </a:bodyPr>
          <a:lstStyle/>
          <a:p>
            <a:pPr algn="l">
              <a:spcAft>
                <a:spcPts val="0"/>
              </a:spcAft>
            </a:pPr>
            <a:r>
              <a:rPr sz="980" b="1" i="0">
                <a:solidFill>
                  <a:srgbClr val="2D6496"/>
                </a:solidFill>
                <a:latin typeface="Arial"/>
              </a:rPr>
              <a:t>top in real</a:t>
            </a:r>
          </a:p>
        </p:txBody>
      </p:sp>
      <p:sp>
        <p:nvSpPr>
          <p:cNvPr id="73" name="TextBox 72"/>
          <p:cNvSpPr txBox="1"/>
          <p:nvPr/>
        </p:nvSpPr>
        <p:spPr>
          <a:xfrm>
            <a:off x="8567928" y="4773168"/>
            <a:ext cx="219456" cy="219456"/>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74" name="Oval 73"/>
          <p:cNvSpPr/>
          <p:nvPr/>
        </p:nvSpPr>
        <p:spPr>
          <a:xfrm>
            <a:off x="8869680" y="4828032"/>
            <a:ext cx="137160" cy="137160"/>
          </a:xfrm>
          <a:prstGeom prst="ellipse">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079992" y="4782312"/>
            <a:ext cx="932688" cy="219456"/>
          </a:xfrm>
          <a:prstGeom prst="rect">
            <a:avLst/>
          </a:prstGeom>
          <a:noFill/>
        </p:spPr>
        <p:txBody>
          <a:bodyPr wrap="square" lIns="0" rIns="0" tIns="0" bIns="0" anchor="t">
            <a:spAutoFit/>
          </a:bodyPr>
          <a:lstStyle/>
          <a:p>
            <a:pPr algn="l">
              <a:spcAft>
                <a:spcPts val="0"/>
              </a:spcAft>
            </a:pPr>
            <a:r>
              <a:rPr sz="980" b="1" i="0">
                <a:solidFill>
                  <a:srgbClr val="59697A"/>
                </a:solidFill>
                <a:latin typeface="Arial"/>
              </a:rPr>
              <a:t>low in draws</a:t>
            </a:r>
          </a:p>
        </p:txBody>
      </p:sp>
      <p:sp>
        <p:nvSpPr>
          <p:cNvPr id="76" name="Right Arrow 75"/>
          <p:cNvSpPr/>
          <p:nvPr/>
        </p:nvSpPr>
        <p:spPr>
          <a:xfrm>
            <a:off x="10076688" y="4800600"/>
            <a:ext cx="256032" cy="16459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405872" y="4773168"/>
            <a:ext cx="694944" cy="228600"/>
          </a:xfrm>
          <a:prstGeom prst="rect">
            <a:avLst/>
          </a:prstGeom>
          <a:noFill/>
        </p:spPr>
        <p:txBody>
          <a:bodyPr wrap="square" lIns="0" rIns="0" tIns="0" bIns="0" anchor="t">
            <a:spAutoFit/>
          </a:bodyPr>
          <a:lstStyle/>
          <a:p>
            <a:pPr algn="ctr">
              <a:spcAft>
                <a:spcPts val="0"/>
              </a:spcAft>
            </a:pPr>
            <a:r>
              <a:rPr sz="1019" b="1" i="0">
                <a:solidFill>
                  <a:srgbClr val="59697A"/>
                </a:solidFill>
                <a:latin typeface="Arial"/>
              </a:rPr>
              <a:t>HOLD</a:t>
            </a:r>
          </a:p>
        </p:txBody>
      </p:sp>
      <p:sp>
        <p:nvSpPr>
          <p:cNvPr id="78" name="TextBox 77"/>
          <p:cNvSpPr txBox="1"/>
          <p:nvPr/>
        </p:nvSpPr>
        <p:spPr>
          <a:xfrm>
            <a:off x="6327648" y="5148072"/>
            <a:ext cx="4873752" cy="201168"/>
          </a:xfrm>
          <a:prstGeom prst="rect">
            <a:avLst/>
          </a:prstGeom>
          <a:noFill/>
        </p:spPr>
        <p:txBody>
          <a:bodyPr wrap="square" lIns="0" rIns="0" tIns="0" bIns="0" anchor="t">
            <a:spAutoFit/>
          </a:bodyPr>
          <a:lstStyle/>
          <a:p>
            <a:pPr algn="l">
              <a:spcAft>
                <a:spcPts val="0"/>
              </a:spcAft>
            </a:pPr>
            <a:r>
              <a:rPr sz="950" b="0" i="0">
                <a:solidFill>
                  <a:srgbClr val="263746"/>
                </a:solidFill>
                <a:latin typeface="Arial"/>
              </a:rPr>
              <a:t>One weak ranking keeps the gene below the cutoff.</a:t>
            </a:r>
          </a:p>
        </p:txBody>
      </p:sp>
      <p:sp>
        <p:nvSpPr>
          <p:cNvPr id="79" name="Rectangle 78"/>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40080" y="5797296"/>
            <a:ext cx="517550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Marker position = rank among genes, not expression level.</a:t>
            </a:r>
          </a:p>
        </p:txBody>
      </p:sp>
      <p:sp>
        <p:nvSpPr>
          <p:cNvPr id="81" name="TextBox 80"/>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A low position in either list pulls the consensus down.</a:t>
            </a:r>
          </a:p>
        </p:txBody>
      </p:sp>
      <p:sp>
        <p:nvSpPr>
          <p:cNvPr id="82" name="TextBox 8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Rank positions are schematic. The implementation combines normalized real and generated ranks.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shifts the FLT-GC decision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held-out real samples are shown in both panels; guidance changes the selected genes and fitted boundary.</a:t>
            </a:r>
          </a:p>
        </p:txBody>
      </p:sp>
      <p:sp>
        <p:nvSpPr>
          <p:cNvPr id="7" name="Oval 6"/>
          <p:cNvSpPr/>
          <p:nvPr/>
        </p:nvSpPr>
        <p:spPr>
          <a:xfrm>
            <a:off x="9592056" y="17830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65792" y="1746504"/>
            <a:ext cx="365760"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FLT</a:t>
            </a:r>
          </a:p>
        </p:txBody>
      </p:sp>
      <p:sp>
        <p:nvSpPr>
          <p:cNvPr id="9" name="Oval 8"/>
          <p:cNvSpPr/>
          <p:nvPr/>
        </p:nvSpPr>
        <p:spPr>
          <a:xfrm>
            <a:off x="10241280" y="178308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15016" y="1746504"/>
            <a:ext cx="34747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GC</a:t>
            </a:r>
          </a:p>
        </p:txBody>
      </p:sp>
      <p:sp>
        <p:nvSpPr>
          <p:cNvPr id="11" name="TextBox 10"/>
          <p:cNvSpPr txBox="1"/>
          <p:nvPr/>
        </p:nvSpPr>
        <p:spPr>
          <a:xfrm>
            <a:off x="813816" y="2029968"/>
            <a:ext cx="3913632"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2" name="TextBox 11"/>
          <p:cNvSpPr txBox="1"/>
          <p:nvPr/>
        </p:nvSpPr>
        <p:spPr>
          <a:xfrm>
            <a:off x="6437376" y="2029968"/>
            <a:ext cx="3913632"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3" name="Rectangle 12"/>
          <p:cNvSpPr/>
          <p:nvPr/>
        </p:nvSpPr>
        <p:spPr>
          <a:xfrm>
            <a:off x="81381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0020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12140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6946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99923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35584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7451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0136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9514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7977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4728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050791"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14553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0624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480000">
            <a:off x="2825496" y="2514600"/>
            <a:ext cx="32004" cy="1517904"/>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3737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1228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6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74496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19302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62279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97940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49807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42492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1870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333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07084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674352"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76909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82980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20880000">
            <a:off x="8522208" y="2514600"/>
            <a:ext cx="41148" cy="15179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ight Arrow 46"/>
          <p:cNvSpPr/>
          <p:nvPr/>
        </p:nvSpPr>
        <p:spPr>
          <a:xfrm>
            <a:off x="5047488" y="2962656"/>
            <a:ext cx="640080" cy="3566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09744" y="3419856"/>
            <a:ext cx="1115568"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guided model</a:t>
            </a:r>
          </a:p>
        </p:txBody>
      </p:sp>
      <p:sp>
        <p:nvSpPr>
          <p:cNvPr id="49" name="TextBox 48"/>
          <p:cNvSpPr txBox="1"/>
          <p:nvPr/>
        </p:nvSpPr>
        <p:spPr>
          <a:xfrm>
            <a:off x="813816" y="4325112"/>
            <a:ext cx="9537192" cy="228600"/>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Dots are held fixed to isolate the boundary change</a:t>
            </a:r>
          </a:p>
        </p:txBody>
      </p:sp>
      <p:sp>
        <p:nvSpPr>
          <p:cNvPr id="50" name="Rectangle 49"/>
          <p:cNvSpPr/>
          <p:nvPr/>
        </p:nvSpPr>
        <p:spPr>
          <a:xfrm>
            <a:off x="521207" y="4663440"/>
            <a:ext cx="11045952" cy="914400"/>
          </a:xfrm>
          <a:prstGeom prst="rect">
            <a:avLst/>
          </a:prstGeom>
          <a:solidFill>
            <a:srgbClr val="F5F7F8"/>
          </a:solidFill>
          <a:ln w="1016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9808" y="4809744"/>
            <a:ext cx="1664208" cy="228600"/>
          </a:xfrm>
          <a:prstGeom prst="rect">
            <a:avLst/>
          </a:prstGeom>
          <a:noFill/>
        </p:spPr>
        <p:txBody>
          <a:bodyPr wrap="square" lIns="0" rIns="0" tIns="0" bIns="0" anchor="t">
            <a:spAutoFit/>
          </a:bodyPr>
          <a:lstStyle/>
          <a:p>
            <a:pPr algn="l">
              <a:spcAft>
                <a:spcPts val="0"/>
              </a:spcAft>
            </a:pPr>
            <a:r>
              <a:rPr sz="1320" b="1" i="0">
                <a:solidFill>
                  <a:srgbClr val="082B55"/>
                </a:solidFill>
                <a:latin typeface="Arial"/>
              </a:rPr>
              <a:t>Thymus result</a:t>
            </a:r>
          </a:p>
        </p:txBody>
      </p:sp>
      <p:sp>
        <p:nvSpPr>
          <p:cNvPr id="52" name="TextBox 51"/>
          <p:cNvSpPr txBox="1"/>
          <p:nvPr/>
        </p:nvSpPr>
        <p:spPr>
          <a:xfrm>
            <a:off x="749808" y="5093208"/>
            <a:ext cx="1664208"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8 repeated splits</a:t>
            </a:r>
          </a:p>
        </p:txBody>
      </p:sp>
      <p:sp>
        <p:nvSpPr>
          <p:cNvPr id="53" name="TextBox 52"/>
          <p:cNvSpPr txBox="1"/>
          <p:nvPr/>
        </p:nvSpPr>
        <p:spPr>
          <a:xfrm>
            <a:off x="2880360" y="4800600"/>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Cdk1</a:t>
            </a:r>
          </a:p>
        </p:txBody>
      </p:sp>
      <p:sp>
        <p:nvSpPr>
          <p:cNvPr id="54" name="TextBox 53"/>
          <p:cNvSpPr txBox="1"/>
          <p:nvPr/>
        </p:nvSpPr>
        <p:spPr>
          <a:xfrm>
            <a:off x="3675887" y="4800600"/>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55" name="Oval 54"/>
          <p:cNvSpPr/>
          <p:nvPr/>
        </p:nvSpPr>
        <p:spPr>
          <a:xfrm>
            <a:off x="434340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49884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65429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809744"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65192"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12064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27608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43153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14416" y="4800600"/>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64" name="Right Arrow 63"/>
          <p:cNvSpPr/>
          <p:nvPr/>
        </p:nvSpPr>
        <p:spPr>
          <a:xfrm>
            <a:off x="6062472" y="4832604"/>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00600"/>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66" name="Oval 65"/>
          <p:cNvSpPr/>
          <p:nvPr/>
        </p:nvSpPr>
        <p:spPr>
          <a:xfrm>
            <a:off x="703173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18718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34263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498080"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653528"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80897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96442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11987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302752" y="4800600"/>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75" name="TextBox 74"/>
          <p:cNvSpPr txBox="1"/>
          <p:nvPr/>
        </p:nvSpPr>
        <p:spPr>
          <a:xfrm>
            <a:off x="2880360" y="5129784"/>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Nusap1</a:t>
            </a:r>
          </a:p>
        </p:txBody>
      </p:sp>
      <p:sp>
        <p:nvSpPr>
          <p:cNvPr id="76" name="TextBox 75"/>
          <p:cNvSpPr txBox="1"/>
          <p:nvPr/>
        </p:nvSpPr>
        <p:spPr>
          <a:xfrm>
            <a:off x="3675887" y="5129784"/>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77" name="Oval 76"/>
          <p:cNvSpPr/>
          <p:nvPr/>
        </p:nvSpPr>
        <p:spPr>
          <a:xfrm>
            <a:off x="434340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49884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65429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809744"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965192"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12064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27608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43153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14416" y="5129784"/>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86" name="Right Arrow 85"/>
          <p:cNvSpPr/>
          <p:nvPr/>
        </p:nvSpPr>
        <p:spPr>
          <a:xfrm>
            <a:off x="6062472" y="5161788"/>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37376" y="5129784"/>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88" name="Oval 87"/>
          <p:cNvSpPr/>
          <p:nvPr/>
        </p:nvSpPr>
        <p:spPr>
          <a:xfrm>
            <a:off x="703173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718718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34263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498080"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653528"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80897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96442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11987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302752" y="5129784"/>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97" name="TextBox 96"/>
          <p:cNvSpPr txBox="1"/>
          <p:nvPr/>
        </p:nvSpPr>
        <p:spPr>
          <a:xfrm>
            <a:off x="8887968" y="4855464"/>
            <a:ext cx="2286000" cy="420624"/>
          </a:xfrm>
          <a:prstGeom prst="rect">
            <a:avLst/>
          </a:prstGeom>
          <a:noFill/>
        </p:spPr>
        <p:txBody>
          <a:bodyPr wrap="square" lIns="0" rIns="0" tIns="0" bIns="0" anchor="ctr">
            <a:spAutoFit/>
          </a:bodyPr>
          <a:lstStyle/>
          <a:p>
            <a:pPr algn="l">
              <a:spcAft>
                <a:spcPts val="0"/>
              </a:spcAft>
            </a:pPr>
            <a:r>
              <a:rPr sz="1019" b="1" i="0">
                <a:solidFill>
                  <a:srgbClr val="263746"/>
                </a:solidFill>
                <a:latin typeface="Arial"/>
              </a:rPr>
              <a:t>Cdk1 and Nusap1 crossed the stability rule only with guidance.</a:t>
            </a:r>
          </a:p>
        </p:txBody>
      </p:sp>
      <p:sp>
        <p:nvSpPr>
          <p:cNvPr id="98" name="Rectangle 97"/>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40080" y="5797296"/>
            <a:ext cx="526694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Synthetic profiles change feature priority, not biological sample size.</a:t>
            </a:r>
          </a:p>
        </p:txBody>
      </p:sp>
      <p:sp>
        <p:nvSpPr>
          <p:cNvPr id="100" name="TextBox 99"/>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FLT-GC effects and BH FDR still use observed OSDR profiles.</a:t>
            </a:r>
          </a:p>
        </p:txBody>
      </p:sp>
      <p:sp>
        <p:nvSpPr>
          <p:cNvPr id="101" name="TextBox 10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Common 2D classifier view is schematic; underlying models use different selected genes. Thymus counts are observed results from Table S10.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