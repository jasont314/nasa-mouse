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4"/>
  </p:sldMasterIdLst>
  <p:notesMasterIdLst>
    <p:notesMasterId r:id="rId7"/>
  </p:notesMasterIdLst>
  <p:handoutMasterIdLst>
    <p:handoutMasterId r:id="rId8"/>
  </p:handoutMasterIdLst>
  <p:sldIdLst>
    <p:sldId id="287" r:id="rId5"/>
    <p:sldId id="289" r:id="rId6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98" r:id="rId22"/>
    <p:sldId id="299" r:id="rId23"/>
    <p:sldId id="3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4EBFE0"/>
    <a:srgbClr val="031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7E6095-EDCC-4DCB-AAC0-188518B1781D}" v="1" dt="2026-06-23T20:42:39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2"/>
    <p:restoredTop sz="96327"/>
  </p:normalViewPr>
  <p:slideViewPr>
    <p:cSldViewPr snapToGrid="0">
      <p:cViewPr varScale="1">
        <p:scale>
          <a:sx n="81" d="100"/>
          <a:sy n="81" d="100"/>
        </p:scale>
        <p:origin x="9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92CBF8-18C8-31DD-F46C-61CCFF09E5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9C4E16-CF32-DCE9-CFBA-3D18F258B5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638C3-A19C-B94C-9B49-D7DD60AEF655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86E82-0F97-5470-C173-872D3CB07D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EED87-86EF-9F01-82BC-41E7337896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65568-2AD1-0C41-AA57-6C66A98808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560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0CC5D-FA5D-CB42-BCB4-643101262201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039A1-DE79-214A-A305-FD855934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4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0:25</a:t>
            </a:r>
          </a:p>
          <a:p/>
          <a:p>
            <a:r>
              <a:t>Introduce the question. This talk asks whether generated expression can help analyze tissue-specific FLT versus GC biology without counting synthetic profiles as additional animals.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OSDR gives broad tissue coverage, but the data are spread across 75 accessions with different mission and assay contexts. ARCHS4 supplies a much larger mouse reference. The challenge is to use that reference without letting study structure masquerade as spaceflight biology.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framework kept the published model architectures and varied the surrounding choices. GeneJEPA was useful for representation but had no expression decoder. WGAN-GP and DDIM could generate profiles. The chosen DDIM used TPM, 974 mouse landmarks, ARCHS4 pretraining and OSDR adaptation conditioned on tissue, FLT/GC, accession and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Read the panels from left to right. The same generated profiles begin as noise, develop structure by timestep 200 and approach tissue-conditioned regions at timestep zero. The axes are shared, so the visual change is not caused by rescaling each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Both WGAN-GP and DDIM had high correlation and F1. DDIM had adversarial accuracy near 0.5 and a lower Frechet-distance ratio, so it was harder to separate from real profiles and closer in distribution. The metrics use each model's stated evaluation split, so this is a model-choice summary rather than a paired significance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Synthetic data can be used for direct training, mixed training or feature guidance. Each tissue could choose among five arms. The eligibility check used held-out real profiles. Once features were nominated, FLT/GC effects and BH FDR were computed from observed OSDR samples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simplest pooled augmentation test was negative: balanced accuracy fell from 0.754 to 0.737 with real plus synthetic training. Tissue-specific analysis changed the result. Different tissues benefited from different synthetic uses, which argues against one global augmentation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1:05</a:t>
            </a:r>
          </a:p>
          <a:p/>
          <a:p>
            <a:r>
              <a:t>Reinforced genes were selected with and without synthetic guidance. Promoted genes crossed the stable-selection rule only with synthetic guidance. Promoted does not mean biologically novel. All 49 synthetic-informed tissue-gene associations also had a supporting effect and BH FDR below 0.05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1:25</a:t>
            </a:r>
          </a:p>
          <a:p/>
          <a:p>
            <a:r>
              <a:t>Thymus produced the clearest promoted panel. The lower mitotic and DNA-replication genes agree with prior reports of thymic involution and altered cell-cycle expression after flight. Because this is bulk RNA-seq, the signal could reflect fewer cycling thymocytes, lower transcription within those cells 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Soleus improved with real plus generated training. The selected genes were already stable in real-only analysis, so synthetic data reinforced rather than introduced the panel. Lower Bdh1, Ech1, Bnip3 and Decr1, with higher Tpm1, support altered oxidative metabolism and contractile remodeling.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Kidney supplied the strongest secondary pair: promoted Inpp4b and reinforced Slc37a4. Spleen, skin and adrenal results are narrower. Lung and retina improved predictively without a synthetic-informed BH-FDR gene, while liver, EDL and quadriceps retained real-only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The main result is not that synthetic samples increase biological n. The useful role was tissue-specific feature ranking or limited regularization. The next decisive test is complete-accession holdout followed by validation of the thymus, soleus and kidney hypotheses in independent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0:10</a:t>
            </a:r>
          </a:p>
          <a:p/>
          <a:p>
            <a:r>
              <a:t>Acknowledge the mentor, SLSTP, NASA OSDR, ARCHS4, Reactome and NASA Ames compute.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0.png"/><Relationship Id="rId15" Type="http://schemas.openxmlformats.org/officeDocument/2006/relationships/image" Target="../media/image71.png"/><Relationship Id="rId16" Type="http://schemas.openxmlformats.org/officeDocument/2006/relationships/image" Target="../media/image72.png"/><Relationship Id="rId17" Type="http://schemas.openxmlformats.org/officeDocument/2006/relationships/image" Target="../media/image7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403792-C452-45B8-A50E-5D7E7B3AF1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27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E77D0F7-4A6B-4045-B534-3DB6A60EA85B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500101" y="3895025"/>
            <a:ext cx="4774425" cy="365125"/>
          </a:xfrm>
        </p:spPr>
        <p:txBody>
          <a:bodyPr wrap="square">
            <a:sp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9EB2794A-5528-E000-6303-F23EDF3D2A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2" y="1297175"/>
            <a:ext cx="4774425" cy="2374669"/>
          </a:xfrm>
        </p:spPr>
        <p:txBody>
          <a:bodyPr anchor="b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6713B4-5E0C-24BD-8049-E50B082A50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51262" y="398340"/>
            <a:ext cx="888827" cy="7406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688442-0230-1582-A41F-57E75101CEF7}"/>
              </a:ext>
            </a:extLst>
          </p:cNvPr>
          <p:cNvSpPr txBox="1"/>
          <p:nvPr userDrawn="1"/>
        </p:nvSpPr>
        <p:spPr>
          <a:xfrm>
            <a:off x="8654144" y="537854"/>
            <a:ext cx="1922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0" dirty="0">
                <a:solidFill>
                  <a:schemeClr val="bg1"/>
                </a:solidFill>
                <a:effectLst>
                  <a:outerShdw blurRad="159992" dist="49945" dir="2700000" algn="tl" rotWithShape="0">
                    <a:srgbClr val="000000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National Aeronautics and Space Administration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B95B80-9B88-7F4C-049E-8C0069365EA9}"/>
              </a:ext>
            </a:extLst>
          </p:cNvPr>
          <p:cNvCxnSpPr/>
          <p:nvPr userDrawn="1"/>
        </p:nvCxnSpPr>
        <p:spPr>
          <a:xfrm>
            <a:off x="10764013" y="537853"/>
            <a:ext cx="0" cy="46166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9BA426D5-CE2B-D46C-E493-D02FFAA865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2A5107-22C8-EFF2-D258-3F67CDB1A001}"/>
              </a:ext>
            </a:extLst>
          </p:cNvPr>
          <p:cNvSpPr txBox="1"/>
          <p:nvPr userDrawn="1"/>
        </p:nvSpPr>
        <p:spPr>
          <a:xfrm>
            <a:off x="500101" y="6296266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iological &amp;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hysical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ciences</a:t>
            </a:r>
          </a:p>
        </p:txBody>
      </p:sp>
    </p:spTree>
    <p:extLst>
      <p:ext uri="{BB962C8B-B14F-4D97-AF65-F5344CB8AC3E}">
        <p14:creationId xmlns:p14="http://schemas.microsoft.com/office/powerpoint/2010/main" val="3390964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8CFB-2DE8-BA24-FFBC-66F77875D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Agenda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B3E43-6742-FF22-D2F2-033E1364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FCE7-3724-2CFD-0646-F383DB2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100584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466CDE3-4631-5FA9-337A-DF847EAAD5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4652" y="2247900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5" name="Text Placeholder 21">
            <a:extLst>
              <a:ext uri="{FF2B5EF4-FFF2-40B4-BE49-F238E27FC236}">
                <a16:creationId xmlns:a16="http://schemas.microsoft.com/office/drawing/2014/main" id="{2A51E4DB-9ABE-A139-7B46-5FC5513303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247900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B35BDAA-D931-DC03-6B00-6EDF027908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400" y="2209800"/>
            <a:ext cx="685800" cy="68580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4000">
                <a:gradFill>
                  <a:gsLst>
                    <a:gs pos="86000">
                      <a:schemeClr val="accent3"/>
                    </a:gs>
                    <a:gs pos="47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EF503090-B911-7788-8B94-3F88CA4797F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3949" y="2209800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2000">
                      <a:schemeClr val="accent3"/>
                    </a:gs>
                    <a:gs pos="45000">
                      <a:schemeClr val="accent2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65D9DAC4-C562-9524-30AD-991D271FE6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4652" y="362724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6" name="Text Placeholder 21">
            <a:extLst>
              <a:ext uri="{FF2B5EF4-FFF2-40B4-BE49-F238E27FC236}">
                <a16:creationId xmlns:a16="http://schemas.microsoft.com/office/drawing/2014/main" id="{7E647AC1-0BB7-0678-1B8A-177F4146A75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34200" y="362724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7" name="Text Placeholder 28">
            <a:extLst>
              <a:ext uri="{FF2B5EF4-FFF2-40B4-BE49-F238E27FC236}">
                <a16:creationId xmlns:a16="http://schemas.microsoft.com/office/drawing/2014/main" id="{B55453C0-7B23-AC50-10FE-E961216AD9C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4400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8000">
                      <a:schemeClr val="accent3"/>
                    </a:gs>
                    <a:gs pos="39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8" name="Text Placeholder 28">
            <a:extLst>
              <a:ext uri="{FF2B5EF4-FFF2-40B4-BE49-F238E27FC236}">
                <a16:creationId xmlns:a16="http://schemas.microsoft.com/office/drawing/2014/main" id="{1A5B7077-E4C0-3DD2-DCA8-E8A197F1C95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23949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9" name="Text Placeholder 21">
            <a:extLst>
              <a:ext uri="{FF2B5EF4-FFF2-40B4-BE49-F238E27FC236}">
                <a16:creationId xmlns:a16="http://schemas.microsoft.com/office/drawing/2014/main" id="{B32EE1BF-44FE-201B-EF31-3ED8FF5BA7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24652" y="491360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2F676D19-8F83-696C-ACFF-7F910A6C8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34200" y="491360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4936C6BE-C8B8-20C6-9C05-FD330B16C05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400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9DBD5D19-811F-095E-D5BA-1EE3AC8F976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3949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2000">
                      <a:schemeClr val="accent3"/>
                    </a:gs>
                    <a:gs pos="45000">
                      <a:schemeClr val="accent2"/>
                    </a:gs>
                    <a:gs pos="400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FAC8BE-D606-2853-844A-E2C15955DC7D}"/>
              </a:ext>
            </a:extLst>
          </p:cNvPr>
          <p:cNvCxnSpPr/>
          <p:nvPr userDrawn="1"/>
        </p:nvCxnSpPr>
        <p:spPr>
          <a:xfrm>
            <a:off x="8382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BB1695-58EE-644B-7EE8-11F922C6661D}"/>
              </a:ext>
            </a:extLst>
          </p:cNvPr>
          <p:cNvCxnSpPr>
            <a:cxnSpLocks/>
          </p:cNvCxnSpPr>
          <p:nvPr userDrawn="1"/>
        </p:nvCxnSpPr>
        <p:spPr>
          <a:xfrm>
            <a:off x="16002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52F9823-AA54-9873-16F2-263321455B45}"/>
              </a:ext>
            </a:extLst>
          </p:cNvPr>
          <p:cNvCxnSpPr/>
          <p:nvPr userDrawn="1"/>
        </p:nvCxnSpPr>
        <p:spPr>
          <a:xfrm>
            <a:off x="8382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F1A9CBD-3464-B5A2-6E8D-EE3FD067EE09}"/>
              </a:ext>
            </a:extLst>
          </p:cNvPr>
          <p:cNvCxnSpPr>
            <a:cxnSpLocks/>
          </p:cNvCxnSpPr>
          <p:nvPr userDrawn="1"/>
        </p:nvCxnSpPr>
        <p:spPr>
          <a:xfrm>
            <a:off x="16002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ED8E47-E2B6-E0EF-495A-1545B3213F3D}"/>
              </a:ext>
            </a:extLst>
          </p:cNvPr>
          <p:cNvCxnSpPr/>
          <p:nvPr userDrawn="1"/>
        </p:nvCxnSpPr>
        <p:spPr>
          <a:xfrm>
            <a:off x="8382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1607ECD-AA81-BC83-3C78-B9336CCDEEF0}"/>
              </a:ext>
            </a:extLst>
          </p:cNvPr>
          <p:cNvCxnSpPr>
            <a:cxnSpLocks/>
          </p:cNvCxnSpPr>
          <p:nvPr userDrawn="1"/>
        </p:nvCxnSpPr>
        <p:spPr>
          <a:xfrm>
            <a:off x="16002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5E098EB-268C-67D8-9802-3DFD2843FEB8}"/>
              </a:ext>
            </a:extLst>
          </p:cNvPr>
          <p:cNvCxnSpPr/>
          <p:nvPr userDrawn="1"/>
        </p:nvCxnSpPr>
        <p:spPr>
          <a:xfrm>
            <a:off x="59436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C41966B-39B9-FA80-34EE-34DB2BBC90AA}"/>
              </a:ext>
            </a:extLst>
          </p:cNvPr>
          <p:cNvCxnSpPr>
            <a:cxnSpLocks/>
          </p:cNvCxnSpPr>
          <p:nvPr userDrawn="1"/>
        </p:nvCxnSpPr>
        <p:spPr>
          <a:xfrm>
            <a:off x="67056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67F3916-0A34-3DFE-C40C-9CE5F118C59D}"/>
              </a:ext>
            </a:extLst>
          </p:cNvPr>
          <p:cNvCxnSpPr/>
          <p:nvPr userDrawn="1"/>
        </p:nvCxnSpPr>
        <p:spPr>
          <a:xfrm>
            <a:off x="59436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0580B0B-C3BC-E6B2-4F7A-A8BC4CBEC5D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04EA6A-A0F1-4A1F-D752-01EC9413BD08}"/>
              </a:ext>
            </a:extLst>
          </p:cNvPr>
          <p:cNvCxnSpPr/>
          <p:nvPr userDrawn="1"/>
        </p:nvCxnSpPr>
        <p:spPr>
          <a:xfrm>
            <a:off x="59436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332F554-64FA-44EB-F6C0-65BB814F9D3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853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5FC8917-4CA3-53EC-49EA-1322608A3F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92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Dens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A23E4-0FD3-1AC3-FD06-43716C74AFB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7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6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39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C8C6-C4E6-E1A4-9BB3-02E2E29D4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270760"/>
            <a:ext cx="49149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E9D-2162-ED5F-D5C4-2810CEA16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6758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18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BC8566AA-00D7-499C-0F3E-2067A61875E1}"/>
              </a:ext>
            </a:extLst>
          </p:cNvPr>
          <p:cNvSpPr/>
          <p:nvPr userDrawn="1"/>
        </p:nvSpPr>
        <p:spPr>
          <a:xfrm>
            <a:off x="-22302" y="468351"/>
            <a:ext cx="7304048" cy="6400800"/>
          </a:xfrm>
          <a:custGeom>
            <a:avLst/>
            <a:gdLst>
              <a:gd name="connsiteX0" fmla="*/ 0 w 7304048"/>
              <a:gd name="connsiteY0" fmla="*/ 0 h 6400800"/>
              <a:gd name="connsiteX1" fmla="*/ 5832087 w 7304048"/>
              <a:gd name="connsiteY1" fmla="*/ 0 h 6400800"/>
              <a:gd name="connsiteX2" fmla="*/ 7304048 w 7304048"/>
              <a:gd name="connsiteY2" fmla="*/ 6400800 h 6400800"/>
              <a:gd name="connsiteX3" fmla="*/ 11151 w 7304048"/>
              <a:gd name="connsiteY3" fmla="*/ 6400800 h 6400800"/>
              <a:gd name="connsiteX4" fmla="*/ 11151 w 7304048"/>
              <a:gd name="connsiteY4" fmla="*/ 6300439 h 6400800"/>
              <a:gd name="connsiteX5" fmla="*/ 0 w 7304048"/>
              <a:gd name="connsiteY5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304048" h="6400800">
                <a:moveTo>
                  <a:pt x="0" y="0"/>
                </a:moveTo>
                <a:lnTo>
                  <a:pt x="5832087" y="0"/>
                </a:lnTo>
                <a:lnTo>
                  <a:pt x="7304048" y="6400800"/>
                </a:lnTo>
                <a:lnTo>
                  <a:pt x="11151" y="6400800"/>
                </a:lnTo>
                <a:lnTo>
                  <a:pt x="11151" y="630043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17279" y="484554"/>
            <a:ext cx="6369555" cy="6373446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8252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53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73487" y="482551"/>
            <a:ext cx="6613348" cy="6375449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48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_Picture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324600" y="750848"/>
            <a:ext cx="5562600" cy="5715000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77000" y="903248"/>
            <a:ext cx="5257800" cy="5410200"/>
          </a:xfrm>
          <a:prstGeom prst="roundRect">
            <a:avLst>
              <a:gd name="adj" fmla="val 6063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52919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_2 Pictures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781800" y="7311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6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959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12848"/>
            <a:ext cx="5562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4200" y="8835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2B8DAB-353A-63A7-57E3-BC8771DAFC86}"/>
              </a:ext>
            </a:extLst>
          </p:cNvPr>
          <p:cNvSpPr/>
          <p:nvPr userDrawn="1"/>
        </p:nvSpPr>
        <p:spPr>
          <a:xfrm>
            <a:off x="6781800" y="37029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7FD29A79-FC30-5176-80E7-A66A492113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34200" y="38553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176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197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324600" y="758952"/>
            <a:ext cx="5486400" cy="5486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1612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4008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3" name="Chart Placeholder 8">
            <a:extLst>
              <a:ext uri="{FF2B5EF4-FFF2-40B4-BE49-F238E27FC236}">
                <a16:creationId xmlns:a16="http://schemas.microsoft.com/office/drawing/2014/main" id="{47C9A64A-95DE-326D-AD27-2A9C89FC288F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5780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E00329-735F-25A4-8DAC-E98E4105FA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44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D11F4B7-132E-FFAB-C5E1-A1A1DA78032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008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24486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call 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1767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8190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564" y="4248614"/>
            <a:ext cx="233306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1554" y="6203726"/>
            <a:ext cx="1827083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57600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40500" y="4248614"/>
            <a:ext cx="2360857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02735" y="6203726"/>
            <a:ext cx="1836387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5141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9643" y="4248614"/>
            <a:ext cx="235765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684650" y="6203726"/>
            <a:ext cx="1827639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61699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0053" y="4248614"/>
            <a:ext cx="2369948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410840" y="6203726"/>
            <a:ext cx="1828375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788A64-F282-9CE1-4232-9EE355589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34023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782DED-E3BA-FB36-43E4-81DBB440C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1564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D478D9-E1B0-6465-A4AE-A5FCFD483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38122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A6892-F10F-164E-5109-ED84CE738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D13AE-FD08-9C1F-6E91-5682E73E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88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circle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그룹 1281">
            <a:extLst>
              <a:ext uri="{FF2B5EF4-FFF2-40B4-BE49-F238E27FC236}">
                <a16:creationId xmlns:a16="http://schemas.microsoft.com/office/drawing/2014/main" id="{65B4D3AB-B0EE-820C-F332-86B9B4FF4D7D}"/>
              </a:ext>
            </a:extLst>
          </p:cNvPr>
          <p:cNvGrpSpPr/>
          <p:nvPr userDrawn="1"/>
        </p:nvGrpSpPr>
        <p:grpSpPr>
          <a:xfrm>
            <a:off x="1143000" y="2505297"/>
            <a:ext cx="10056459" cy="2238357"/>
            <a:chOff x="1073086" y="2710034"/>
            <a:chExt cx="10056459" cy="2238357"/>
          </a:xfrm>
        </p:grpSpPr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1F23A632-C958-B035-7D29-4E36C3A8D927}"/>
                </a:ext>
              </a:extLst>
            </p:cNvPr>
            <p:cNvSpPr/>
            <p:nvPr/>
          </p:nvSpPr>
          <p:spPr>
            <a:xfrm rot="7200000" flipH="1">
              <a:off x="3914385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918FE6A1-233A-7F39-8799-6BFEF9149E32}"/>
                </a:ext>
              </a:extLst>
            </p:cNvPr>
            <p:cNvSpPr/>
            <p:nvPr/>
          </p:nvSpPr>
          <p:spPr>
            <a:xfrm rot="7200000" flipH="1">
              <a:off x="7460429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7E0B8266-3454-DEDE-28C4-30473AD029FF}"/>
                </a:ext>
              </a:extLst>
            </p:cNvPr>
            <p:cNvSpPr/>
            <p:nvPr/>
          </p:nvSpPr>
          <p:spPr>
            <a:xfrm rot="14400000">
              <a:off x="2141363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3229B04E-61C5-C43D-3D60-E218AEF16C01}"/>
                </a:ext>
              </a:extLst>
            </p:cNvPr>
            <p:cNvSpPr/>
            <p:nvPr/>
          </p:nvSpPr>
          <p:spPr>
            <a:xfrm>
              <a:off x="1073086" y="3714353"/>
              <a:ext cx="1234037" cy="123403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2" name="타원 1286">
              <a:extLst>
                <a:ext uri="{FF2B5EF4-FFF2-40B4-BE49-F238E27FC236}">
                  <a16:creationId xmlns:a16="http://schemas.microsoft.com/office/drawing/2014/main" id="{2EA6EF24-8749-8BEF-326C-C125ACB2C20A}"/>
                </a:ext>
              </a:extLst>
            </p:cNvPr>
            <p:cNvSpPr/>
            <p:nvPr/>
          </p:nvSpPr>
          <p:spPr>
            <a:xfrm>
              <a:off x="1137335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454E25E1-F59A-FADC-CD3F-CA7A84CCA1E2}"/>
                </a:ext>
              </a:extLst>
            </p:cNvPr>
            <p:cNvSpPr/>
            <p:nvPr/>
          </p:nvSpPr>
          <p:spPr>
            <a:xfrm>
              <a:off x="2837570" y="2710034"/>
              <a:ext cx="1234037" cy="123403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FDA8283F-32E9-CA15-A705-995234E96ECB}"/>
                </a:ext>
              </a:extLst>
            </p:cNvPr>
            <p:cNvSpPr/>
            <p:nvPr/>
          </p:nvSpPr>
          <p:spPr>
            <a:xfrm rot="14400000">
              <a:off x="9209572" y="3041001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5" name="Oval 6">
              <a:extLst>
                <a:ext uri="{FF2B5EF4-FFF2-40B4-BE49-F238E27FC236}">
                  <a16:creationId xmlns:a16="http://schemas.microsoft.com/office/drawing/2014/main" id="{6613845B-FD2D-2942-2DAB-3AB4C444161F}"/>
                </a:ext>
              </a:extLst>
            </p:cNvPr>
            <p:cNvSpPr/>
            <p:nvPr/>
          </p:nvSpPr>
          <p:spPr>
            <a:xfrm rot="14400000">
              <a:off x="5687407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6" name="Oval 5">
              <a:extLst>
                <a:ext uri="{FF2B5EF4-FFF2-40B4-BE49-F238E27FC236}">
                  <a16:creationId xmlns:a16="http://schemas.microsoft.com/office/drawing/2014/main" id="{D2062A16-1962-16F4-8023-92D9AE84B52E}"/>
                </a:ext>
              </a:extLst>
            </p:cNvPr>
            <p:cNvSpPr/>
            <p:nvPr/>
          </p:nvSpPr>
          <p:spPr>
            <a:xfrm>
              <a:off x="4602054" y="3714353"/>
              <a:ext cx="1234037" cy="123403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0ABE85E6-8EEE-628D-159D-8DE52BB344E7}"/>
                </a:ext>
              </a:extLst>
            </p:cNvPr>
            <p:cNvSpPr/>
            <p:nvPr/>
          </p:nvSpPr>
          <p:spPr>
            <a:xfrm>
              <a:off x="6366538" y="2710034"/>
              <a:ext cx="1234037" cy="1234038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8" name="Oval 18">
              <a:extLst>
                <a:ext uri="{FF2B5EF4-FFF2-40B4-BE49-F238E27FC236}">
                  <a16:creationId xmlns:a16="http://schemas.microsoft.com/office/drawing/2014/main" id="{8B1831B6-1987-F685-D305-1DFA4F6D16E4}"/>
                </a:ext>
              </a:extLst>
            </p:cNvPr>
            <p:cNvSpPr/>
            <p:nvPr/>
          </p:nvSpPr>
          <p:spPr>
            <a:xfrm>
              <a:off x="8131022" y="3714353"/>
              <a:ext cx="1234037" cy="1234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753C5383-B157-55FB-8CE2-7456440E869D}"/>
                </a:ext>
              </a:extLst>
            </p:cNvPr>
            <p:cNvSpPr/>
            <p:nvPr/>
          </p:nvSpPr>
          <p:spPr>
            <a:xfrm>
              <a:off x="9895508" y="2710034"/>
              <a:ext cx="1234037" cy="123403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21" name="타원 1295">
              <a:extLst>
                <a:ext uri="{FF2B5EF4-FFF2-40B4-BE49-F238E27FC236}">
                  <a16:creationId xmlns:a16="http://schemas.microsoft.com/office/drawing/2014/main" id="{BB2B1159-F287-F4D0-972D-AEB57CCA3AC0}"/>
                </a:ext>
              </a:extLst>
            </p:cNvPr>
            <p:cNvSpPr/>
            <p:nvPr/>
          </p:nvSpPr>
          <p:spPr>
            <a:xfrm>
              <a:off x="2901819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accent5"/>
                </a:solidFill>
              </a:endParaRPr>
            </a:p>
          </p:txBody>
        </p:sp>
        <p:sp>
          <p:nvSpPr>
            <p:cNvPr id="22" name="타원 1296">
              <a:extLst>
                <a:ext uri="{FF2B5EF4-FFF2-40B4-BE49-F238E27FC236}">
                  <a16:creationId xmlns:a16="http://schemas.microsoft.com/office/drawing/2014/main" id="{3D44CC5B-C0AF-D2C2-BE76-D065ED9D3A38}"/>
                </a:ext>
              </a:extLst>
            </p:cNvPr>
            <p:cNvSpPr/>
            <p:nvPr/>
          </p:nvSpPr>
          <p:spPr>
            <a:xfrm>
              <a:off x="643078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타원 1297">
              <a:extLst>
                <a:ext uri="{FF2B5EF4-FFF2-40B4-BE49-F238E27FC236}">
                  <a16:creationId xmlns:a16="http://schemas.microsoft.com/office/drawing/2014/main" id="{8E47600E-B996-E6EC-B833-93E90D5A2297}"/>
                </a:ext>
              </a:extLst>
            </p:cNvPr>
            <p:cNvSpPr/>
            <p:nvPr/>
          </p:nvSpPr>
          <p:spPr>
            <a:xfrm>
              <a:off x="995522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타원 1298">
              <a:extLst>
                <a:ext uri="{FF2B5EF4-FFF2-40B4-BE49-F238E27FC236}">
                  <a16:creationId xmlns:a16="http://schemas.microsoft.com/office/drawing/2014/main" id="{047F897C-36C1-5E05-CC89-EBDFB90F4035}"/>
                </a:ext>
              </a:extLst>
            </p:cNvPr>
            <p:cNvSpPr/>
            <p:nvPr/>
          </p:nvSpPr>
          <p:spPr>
            <a:xfrm>
              <a:off x="8195271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타원 1299">
              <a:extLst>
                <a:ext uri="{FF2B5EF4-FFF2-40B4-BE49-F238E27FC236}">
                  <a16:creationId xmlns:a16="http://schemas.microsoft.com/office/drawing/2014/main" id="{54EBFDB8-3C81-B0D3-B25E-E3CC580BDD36}"/>
                </a:ext>
              </a:extLst>
            </p:cNvPr>
            <p:cNvSpPr/>
            <p:nvPr/>
          </p:nvSpPr>
          <p:spPr>
            <a:xfrm>
              <a:off x="4666303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7B16F72-40BA-E998-2257-D54EE6CEBA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30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AAB8F30F-2FFC-20DD-A8F6-71024DC03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718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9BFAAFBE-22E7-798D-C75E-C8E8289211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AB5386A6-EBCF-BE3F-9C99-5AC05501DA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70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FF922E3-5C68-F6E3-0485-A0E67CC88D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C910256D-A8C2-E46B-A929-3267D33AA4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822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C26EF43-A591-ACB9-95D5-D2A6C44F70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4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2" name="Text Placeholder 38">
            <a:extLst>
              <a:ext uri="{FF2B5EF4-FFF2-40B4-BE49-F238E27FC236}">
                <a16:creationId xmlns:a16="http://schemas.microsoft.com/office/drawing/2014/main" id="{F2B1CEAB-5243-EF63-89D5-ADA49AA64D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908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3" name="Text Placeholder 38">
            <a:extLst>
              <a:ext uri="{FF2B5EF4-FFF2-40B4-BE49-F238E27FC236}">
                <a16:creationId xmlns:a16="http://schemas.microsoft.com/office/drawing/2014/main" id="{CDEDCD72-ECA0-F2D7-EC03-81843D0246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958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4" name="Text Placeholder 38">
            <a:extLst>
              <a:ext uri="{FF2B5EF4-FFF2-40B4-BE49-F238E27FC236}">
                <a16:creationId xmlns:a16="http://schemas.microsoft.com/office/drawing/2014/main" id="{2E0ED554-E380-3678-D783-DD39A107486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22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3">
                    <a:lumMod val="7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5" name="Text Placeholder 38">
            <a:extLst>
              <a:ext uri="{FF2B5EF4-FFF2-40B4-BE49-F238E27FC236}">
                <a16:creationId xmlns:a16="http://schemas.microsoft.com/office/drawing/2014/main" id="{2DF7B12C-4A5F-2508-FCE7-35F125B54A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774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6" name="Text Placeholder 38">
            <a:extLst>
              <a:ext uri="{FF2B5EF4-FFF2-40B4-BE49-F238E27FC236}">
                <a16:creationId xmlns:a16="http://schemas.microsoft.com/office/drawing/2014/main" id="{93AFFB44-33B2-D0D0-24B9-36F3700901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772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BE884C74-6A18-2B76-2CF5-D95B2845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229FCC9D-96AD-BA9E-BD6E-2A25D0A5279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191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63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345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9384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865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35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7827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6578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6593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19155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3465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310322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432080B-6328-C238-809D-F9FE08C79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337" y="3026141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3BA1372-7071-371E-C28F-CBE6820DA6F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27194" y="3330941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711E0B1-10A5-78B2-3136-3CD932F23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07209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ACE081D-D73A-A411-BCD4-2DCBE78B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4406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284666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516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11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31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7573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11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9C14A-6496-6376-2B3E-AD74A612C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1821F-FB3A-F9EE-D0DE-E887A37D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498316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C9A69-852A-95D0-640F-0A9AD66D0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3173412"/>
            <a:ext cx="4983162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212BA-716C-43F7-C564-5796945A18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3105" y="220370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F0997-D7AA-3B69-46B5-3C52DC86C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3105" y="3173412"/>
            <a:ext cx="5183188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55EE4-619A-8EFD-2C75-330D15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18C5AC-C080-2EB1-1F82-F057A282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575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091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 descr="A white symbol on a brown circle&#10;&#10;Description automatically generated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1306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85217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06055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75668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259536-D612-272A-D0AD-1D014598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A510F-03EC-A6BB-D8AE-182AFD52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798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54A3-AB3C-35BD-6098-13B595E8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EF45-FFD0-8EC1-3E51-7B4572F3A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400" y="1103971"/>
            <a:ext cx="6556748" cy="52110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3246F-34BC-6307-9619-06751D531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399" y="250344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21F7-6214-7E6B-A5E6-69AAAA30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02BA3-BB8A-AC85-A750-93E59432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047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C9C3-CF27-8B06-2E66-2BB1FCAD7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8B7967-4936-AE6D-0BBD-BCE482FF4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02352" y="1106424"/>
            <a:ext cx="6518834" cy="52353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1E6CC-1128-78C6-3309-EDCFE3E4C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400" y="250545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B39B1-5B40-FE1F-3045-DD90E2A8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7EE0B-14D8-097A-37A8-4FBF55301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374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17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717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33" Type="http://schemas.openxmlformats.org/officeDocument/2006/relationships/image" Target="../media/image1.jpeg"/><Relationship Id="rId3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D4BF88">
                <a:alpha val="75162"/>
              </a:srgbClr>
            </a:gs>
            <a:gs pos="39000">
              <a:schemeClr val="bg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F53D41-B3D9-0856-DEBB-57C725BD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450" y="755930"/>
            <a:ext cx="10325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F6990-E15B-701E-55A2-00590A07C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450" y="2216430"/>
            <a:ext cx="103251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E2C12-EE6A-20CB-09F3-55836BC339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47324"/>
            <a:ext cx="12192000" cy="529216"/>
          </a:xfrm>
          <a:prstGeom prst="rect">
            <a:avLst/>
          </a:prstGeom>
        </p:spPr>
      </p:pic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119BBE9E-4D69-14CD-9511-13BB4AA55D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50077"/>
            <a:ext cx="1201897" cy="5319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22777-339B-9F56-577C-65AD89F9C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38D45-6410-BA73-9765-65C75CDC4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75167"/>
                  </a:schemeClr>
                </a:solidFill>
              </a:defRPr>
            </a:lvl1pPr>
          </a:lstStyle>
          <a:p>
            <a:r>
              <a:rPr lang="en-US" dirty="0"/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88917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61" r:id="rId3"/>
    <p:sldLayoutId id="2147483682" r:id="rId4"/>
    <p:sldLayoutId id="2147483691" r:id="rId5"/>
    <p:sldLayoutId id="2147483662" r:id="rId6"/>
    <p:sldLayoutId id="2147483692" r:id="rId7"/>
    <p:sldLayoutId id="2147483663" r:id="rId8"/>
    <p:sldLayoutId id="2147483674" r:id="rId9"/>
    <p:sldLayoutId id="2147483675" r:id="rId10"/>
    <p:sldLayoutId id="2147483676" r:id="rId11"/>
    <p:sldLayoutId id="2147483681" r:id="rId12"/>
    <p:sldLayoutId id="2147483677" r:id="rId13"/>
    <p:sldLayoutId id="2147483678" r:id="rId14"/>
    <p:sldLayoutId id="2147483683" r:id="rId15"/>
    <p:sldLayoutId id="2147483672" r:id="rId16"/>
    <p:sldLayoutId id="2147483679" r:id="rId17"/>
    <p:sldLayoutId id="2147483673" r:id="rId18"/>
    <p:sldLayoutId id="2147483690" r:id="rId19"/>
    <p:sldLayoutId id="2147483689" r:id="rId20"/>
    <p:sldLayoutId id="2147483664" r:id="rId21"/>
    <p:sldLayoutId id="2147483665" r:id="rId22"/>
    <p:sldLayoutId id="2147483684" r:id="rId23"/>
    <p:sldLayoutId id="2147483685" r:id="rId24"/>
    <p:sldLayoutId id="2147483686" r:id="rId25"/>
    <p:sldLayoutId id="2147483687" r:id="rId26"/>
    <p:sldLayoutId id="2147483666" r:id="rId27"/>
    <p:sldLayoutId id="2147483667" r:id="rId28"/>
    <p:sldLayoutId id="2147483668" r:id="rId29"/>
    <p:sldLayoutId id="2147483669" r:id="rId30"/>
    <p:sldLayoutId id="2147483658" r:id="rId3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background artifact mask"/>
          <p:cNvSpPr/>
          <p:nvPr/>
        </p:nvSpPr>
        <p:spPr>
          <a:xfrm>
            <a:off x="0" y="4956048"/>
            <a:ext cx="3931920" cy="19019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E5D3E717-6970-91B9-68BB-B9CE473EC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101" y="3895025"/>
            <a:ext cx="4774425" cy="1429109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D8E1EB"/>
                </a:solidFill>
                <a:latin typeface="Arial"/>
              </a:rPr>
              <a:t>Can generated RNA-seq improve FLT vs GC analysis within each tissue?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Jason Trinh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EECS | UC Berkeley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Mentor: James Casaletto | August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AB492-0D30-3AB0-9C9C-3B7725AA34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Synthetic transcriptomics
for mouse spaceflight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87552"/>
            <a:ext cx="3474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5A64A"/>
                </a:solidFill>
                <a:latin typeface="Arial"/>
              </a:rPr>
              <a:t>SLSTP FINAL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3017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7D5"/>
                </a:solidFill>
                <a:latin typeface="Arial"/>
              </a:rPr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406897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15CCDA23-9C9B-2E3C-0808-97FA24C09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DF69EC4-28BB-B6B3-FB3D-0B6A7B68E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AED0D-F1B8-689C-34E4-C8599A32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E25FE-C8CB-2ADC-D1BB-2BE7BB0DB77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1550" y="100013"/>
            <a:ext cx="1060450" cy="261937"/>
          </a:xfrm>
        </p:spPr>
        <p:txBody>
          <a:bodyPr/>
          <a:lstStyle/>
          <a:p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Small studies and study effects complicate tissue comparisons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Can a generator help rank spaceflight signal without pretending it creates new animals?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847088"/>
            <a:ext cx="5532120" cy="214884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847088"/>
            <a:ext cx="553212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12264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D6496"/>
                </a:solidFill>
                <a:latin typeface="Arial"/>
              </a:rPr>
              <a:t>NASA OSDR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50592"/>
            <a:ext cx="205740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82B55"/>
                </a:solidFill>
                <a:latin typeface="Arial"/>
              </a:rPr>
              <a:t>1,610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35808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biological profiles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2468880"/>
            <a:ext cx="1188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82B55"/>
                </a:solidFill>
                <a:latin typeface="Arial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980944"/>
            <a:ext cx="13716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accessions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496312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D96552"/>
                </a:solidFill>
                <a:latin typeface="Arial"/>
              </a:rPr>
              <a:t>835 FLT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4528" y="2944368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775 GC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847088"/>
            <a:ext cx="5715000" cy="214884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1847088"/>
            <a:ext cx="571500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12264"/>
            <a:ext cx="2286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8681"/>
                </a:solidFill>
                <a:latin typeface="Arial"/>
              </a:rPr>
              <a:t>ARCHS4 mouse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50592"/>
            <a:ext cx="22402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82B55"/>
                </a:solidFill>
                <a:latin typeface="Arial"/>
              </a:rPr>
              <a:t>997,515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3035808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profiles audited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468880"/>
            <a:ext cx="1783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082B55"/>
                </a:solidFill>
                <a:latin typeface="Arial"/>
              </a:rPr>
              <a:t>17,244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2980944"/>
            <a:ext cx="1143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selected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2514600"/>
            <a:ext cx="13258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20 tissues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4270248"/>
            <a:ext cx="11539728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462686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" y="451713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Mission, strain, material and assay differences can resemble a flight effect.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503834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492861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The generator must preserve tissue and FLT/GC structure without memorizing samples.</a:t>
            </a:r>
          </a:p>
        </p:txBody>
      </p:sp>
      <p:sp>
        <p:nvSpPr>
          <p:cNvPr id="44" name="Oval 43"/>
          <p:cNvSpPr/>
          <p:nvPr/>
        </p:nvSpPr>
        <p:spPr>
          <a:xfrm>
            <a:off x="685800" y="544982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34009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Statistical evidence must still come from observed OSDR profiles.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Sources: NASA OSDR Biological Data API; ARCHS4 mouse v2.5.</a:t>
            </a:r>
          </a:p>
        </p:txBody>
      </p:sp>
    </p:spTree>
    <p:extLst>
      <p:ext uri="{BB962C8B-B14F-4D97-AF65-F5344CB8AC3E}">
        <p14:creationId xmlns:p14="http://schemas.microsoft.com/office/powerpoint/2010/main" val="293855452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We compared three model families and used conditional diffusion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model architecture followed each paper; preprocessing, harmonization and conditioning remained configurable.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11680"/>
            <a:ext cx="2423160" cy="205740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242316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Expression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TPM
974 mouse landmarks
train-fitted MaxAbs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2011680"/>
            <a:ext cx="2423160" cy="2057400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54096" y="2011680"/>
            <a:ext cx="2423160" cy="36576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WGAN-GP
DDIM
GeneJEPA screen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2" y="2011680"/>
            <a:ext cx="2423160" cy="205740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2011680"/>
            <a:ext cx="242316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ARCHS4 pretrain
OSDR adaptation
pooled tissue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011680"/>
            <a:ext cx="3383280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2011680"/>
            <a:ext cx="3383280" cy="36576"/>
          </a:xfrm>
          <a:prstGeom prst="rect">
            <a:avLst/>
          </a:prstGeom>
          <a:solidFill>
            <a:srgbClr val="478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1936" y="2267712"/>
            <a:ext cx="298094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734056"/>
            <a:ext cx="298094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tissue + FLT/GC
accession + material
matched profile generation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807208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495544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183879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4370832"/>
            <a:ext cx="11448288" cy="1325880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08576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9A6B20"/>
                </a:solidFill>
                <a:latin typeface="Arial"/>
              </a:rPr>
              <a:t>Selected branch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562856"/>
            <a:ext cx="9098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550" b="1" i="0">
                <a:solidFill>
                  <a:srgbClr val="082B55"/>
                </a:solidFill>
                <a:latin typeface="Arial"/>
              </a:rPr>
              <a:t>No global batch correction. </a:t>
            </a:r>
            <a:r>
              <a:rPr sz="1550" b="0" i="0">
                <a:solidFill>
                  <a:srgbClr val="263746"/>
                </a:solidFill>
                <a:latin typeface="Arial"/>
              </a:rPr>
              <a:t>Accession was supplied as a model condition so study structure was represented instead of erased.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02352"/>
            <a:ext cx="909828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Nine liver harmonization arms and a 463-row experiment plan were screened before full training.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Model sources: Vinas et al., Bioinformatics (2022); Lacan et al., BMC Bioinformatics (2026); GeneJEPA (2025).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Diffusion learns tissue structure from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same PCA axes follow 1,024 generated profiles through reverse diffusion.</a:t>
            </a:r>
          </a:p>
        </p:txBody>
      </p:sp>
      <p:pic>
        <p:nvPicPr>
          <p:cNvPr id="7" name="DDIM reverse trajectory at timesteps 1000, 200 and 0" descr="DDIM reverse trajectory at timesteps 1000, 200 and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735579"/>
            <a:ext cx="11558016" cy="4100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943600"/>
            <a:ext cx="2286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1000: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5943600"/>
            <a:ext cx="2651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200: partial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594360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78681"/>
                </a:solidFill>
                <a:latin typeface="Arial"/>
              </a:rPr>
              <a:t>t = 0: tissue-conditioned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Gray points are real ARCHS4 profiles; colors identify generated tissue conditions. PC1 and PC2 limits are shared across panels.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DDIM matched expression and reduced separability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AA closer to 0.5 means a classifier has less success separating real and generated profiles; lower FD is better.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703320" cy="34015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ARCHS4 tissue 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487168"/>
            <a:ext cx="3063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 on held-out real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3436845"/>
            <a:ext cx="786384" cy="1299746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Real-trained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3436845"/>
            <a:ext cx="786384" cy="129974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Synthetic-trained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736592"/>
            <a:ext cx="288036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1847088"/>
            <a:ext cx="7525512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7568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96552"/>
                </a:solidFill>
                <a:latin typeface="Arial"/>
              </a:rPr>
              <a:t>WGAN-GP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DDIM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075688"/>
            <a:ext cx="16276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Reading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7136" y="2478024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2542032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0.974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542032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similar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118103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3118103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higher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7136" y="3630168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694176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Adversarial 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0.636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0.475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694176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closer to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4270248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FD / real 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8744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0.074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6" y="4270248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lower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" y="5522976"/>
            <a:ext cx="11494008" cy="667512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660136"/>
            <a:ext cx="23317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Use DDIM downstream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2928" y="5669280"/>
            <a:ext cx="83941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DCE7F2"/>
                </a:solidFill>
                <a:latin typeface="Arial"/>
              </a:rPr>
              <a:t>Lower separability and distributional distance, with comparable correlation and higher F1.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WGAN values use validation data and DDIM values use the stated OSDR test; they are not paired on one common split.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profiles entered the analysis in five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Every arm was judged on held-out real profiles before synthetic attribution was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74519"/>
            <a:ext cx="2212848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3120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 OSDR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05456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observed FLT / GC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3319272"/>
            <a:ext cx="2212848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3547872"/>
            <a:ext cx="187451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6552"/>
                </a:solidFill>
                <a:latin typeface="Arial"/>
              </a:rPr>
              <a:t>DDIM generated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941063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matched conditions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79192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0128" y="1920240"/>
            <a:ext cx="1508760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D6496"/>
                </a:solidFill>
                <a:latin typeface="Arial"/>
              </a:rPr>
              <a:t>Real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real
fit: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920240"/>
            <a:ext cx="1508760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96552"/>
                </a:solidFill>
                <a:latin typeface="Arial"/>
              </a:rPr>
              <a:t>Generated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generated
fit: generated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3408" y="1920240"/>
            <a:ext cx="1508760" cy="11704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Real + generated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equal weight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3410712"/>
            <a:ext cx="1508760" cy="1170432"/>
          </a:xfrm>
          <a:prstGeom prst="roundRect">
            <a:avLst/>
          </a:prstGeom>
          <a:solidFill>
            <a:srgbClr val="F0ECF6"/>
          </a:solidFill>
          <a:ln w="10160">
            <a:solidFill>
              <a:srgbClr val="80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59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063A6"/>
                </a:solidFill>
                <a:latin typeface="Arial"/>
              </a:rPr>
              <a:t>Guided, real 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410712"/>
            <a:ext cx="1508760" cy="1170432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37B00"/>
                </a:solidFill>
                <a:latin typeface="Arial"/>
              </a:rPr>
              <a:t>Guided, 5% synth.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103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 + 5%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2208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2176272"/>
            <a:ext cx="2633472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2459736"/>
            <a:ext cx="221284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Held-out real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3063240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BA | AUROC | 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502152"/>
            <a:ext cx="21031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select one eligible arm
for each tissue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4919472"/>
            <a:ext cx="11430000" cy="105156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166360"/>
            <a:ext cx="1600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Biology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5175504"/>
            <a:ext cx="6766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DCE7F2"/>
                </a:solidFill>
                <a:latin typeface="Arial"/>
              </a:rPr>
              <a:t>FLT vs GC effects, random-effects meta-analysis and BH FDR use real OSDR profiles 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065776"/>
            <a:ext cx="2249424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D69A"/>
                </a:solidFill>
                <a:latin typeface="Arial"/>
              </a:rPr>
              <a:t>Synthetic profiles never increase animal 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Pooling tissues hid useful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 single FLT/GC classifier did not improve, but tissue-specific synthetic use often did.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200400" cy="422452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E8D6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26517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9A6B20"/>
                </a:solidFill>
                <a:latin typeface="Arial"/>
              </a:rPr>
              <a:t>Pooled across tissues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26766"/>
            <a:ext cx="566928" cy="359633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672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91056" y="5312892"/>
            <a:ext cx="566928" cy="173507"/>
          </a:xfrm>
          <a:prstGeom prst="rect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7904" y="4992852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0.695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Generated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5180396"/>
            <a:ext cx="566928" cy="306003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486035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+ synth.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" y="5486400"/>
            <a:ext cx="269748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542032"/>
            <a:ext cx="25420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1847088"/>
            <a:ext cx="8083296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1648" y="2093976"/>
            <a:ext cx="3840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Selected use within each tissue</a:t>
            </a:r>
          </a:p>
        </p:txBody>
      </p:sp>
      <p:pic>
        <p:nvPicPr>
          <p:cNvPr id="22" name="Balanced accuracy before and after tissue-specific synthetic use" descr="Balanced accuracy before and after tissue-specific synthetic u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30" y="2423160"/>
            <a:ext cx="6021963" cy="3383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59936" y="5715000"/>
            <a:ext cx="41148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9697A"/>
                </a:solidFill>
                <a:latin typeface="Arial"/>
              </a:rPr>
              <a:t>The useful arm differed by tissue.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Development results with held-out profiles from represented accessions; they do not measure transfer to a new mission.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FEATURE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guidance changed ranking, not statistical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Promoted and reinforced describe repeated feature selection; both require a supporting effect in real OSDR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3657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9697A"/>
                </a:solidFill>
                <a:latin typeface="Arial"/>
              </a:rPr>
              <a:t>Repeated stable selection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304288"/>
            <a:ext cx="2743200" cy="2148840"/>
          </a:xfrm>
          <a:prstGeom prst="ellipse">
            <a:avLst/>
          </a:prstGeom>
          <a:noFill/>
          <a:ln w="3048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67712" y="2304288"/>
            <a:ext cx="2743200" cy="2148840"/>
          </a:xfrm>
          <a:prstGeom prst="ellipse">
            <a:avLst/>
          </a:prstGeom>
          <a:noFill/>
          <a:ln w="3048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Real-only
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Synthetic-informed
ranking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93392" y="2880360"/>
            <a:ext cx="1572768" cy="84124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6272" y="2999232"/>
            <a:ext cx="120700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23
reinforced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8688" y="4535424"/>
            <a:ext cx="1700784" cy="7132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4626864"/>
            <a:ext cx="14447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26 promoted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4882896"/>
            <a:ext cx="1408176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59697A"/>
                </a:solidFill>
                <a:latin typeface="Arial"/>
              </a:rPr>
              <a:t>selected only with
synthetic guidance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85232" y="3017520"/>
            <a:ext cx="594360" cy="438912"/>
          </a:xfrm>
          <a:prstGeom prst="rightArrow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08192" y="2039112"/>
            <a:ext cx="5468112" cy="33558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2304288"/>
            <a:ext cx="48463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Real OSDR association test</a:t>
            </a:r>
          </a:p>
        </p:txBody>
      </p:sp>
      <p:sp>
        <p:nvSpPr>
          <p:cNvPr id="20" name="Oval 19"/>
          <p:cNvSpPr/>
          <p:nvPr/>
        </p:nvSpPr>
        <p:spPr>
          <a:xfrm>
            <a:off x="6601968" y="3017520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907792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Estimate FLT vs GC inside each accession</a:t>
            </a:r>
          </a:p>
        </p:txBody>
      </p:sp>
      <p:sp>
        <p:nvSpPr>
          <p:cNvPr id="22" name="Oval 21"/>
          <p:cNvSpPr/>
          <p:nvPr/>
        </p:nvSpPr>
        <p:spPr>
          <a:xfrm>
            <a:off x="6601968" y="3547872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9" y="3438144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Combine accession effects with a random-effects model</a:t>
            </a:r>
          </a:p>
        </p:txBody>
      </p:sp>
      <p:sp>
        <p:nvSpPr>
          <p:cNvPr id="24" name="Oval 23"/>
          <p:cNvSpPr/>
          <p:nvPr/>
        </p:nvSpPr>
        <p:spPr>
          <a:xfrm>
            <a:off x="6601968" y="4078224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59" y="3968496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Apply BH FDR within each tissue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47104" y="4681728"/>
            <a:ext cx="4572000" cy="475488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4764024"/>
            <a:ext cx="42519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49 synthetic-informed associations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650992"/>
            <a:ext cx="11109960" cy="530352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769864"/>
            <a:ext cx="10744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These are 49 tissue-gene associations among 459 BH-FDR rows. A gene can appear in more than one tissue.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THYMUS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Thymus points to lower proliferative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Synthetic guidance organized real-data associations into a coherent mitotic and DNA-replication panel.</a:t>
            </a:r>
          </a:p>
        </p:txBody>
      </p:sp>
      <p:pic>
        <p:nvPicPr>
          <p:cNvPr id="7" name="Thymus gene effects and Reactome processes" descr="Thym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95403"/>
            <a:ext cx="7818120" cy="4109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847088"/>
            <a:ext cx="3493008" cy="4178808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E8C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9696"/>
            <a:ext cx="10058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 i="0">
                <a:solidFill>
                  <a:srgbClr val="D965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2176272"/>
            <a:ext cx="193852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synthetic-informed
BH-FDR associations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1936" y="2862072"/>
            <a:ext cx="2788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8681"/>
                </a:solidFill>
                <a:latin typeface="Arial"/>
              </a:rPr>
              <a:t>13 promoted | 3 reinforced</a:t>
            </a:r>
          </a:p>
        </p:txBody>
      </p:sp>
      <p:sp>
        <p:nvSpPr>
          <p:cNvPr id="12" name="Oval 11"/>
          <p:cNvSpPr/>
          <p:nvPr/>
        </p:nvSpPr>
        <p:spPr>
          <a:xfrm>
            <a:off x="8631936" y="3419856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3310128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Lower Nusap1, Stmn1, Birc5, Cdk1, Top2a and related genes</a:t>
            </a:r>
          </a:p>
        </p:txBody>
      </p:sp>
      <p:sp>
        <p:nvSpPr>
          <p:cNvPr id="14" name="Oval 13"/>
          <p:cNvSpPr/>
          <p:nvPr/>
        </p:nvSpPr>
        <p:spPr>
          <a:xfrm>
            <a:off x="8631936" y="4123944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96528" y="4014216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Cell cycle, DNA replication, APC/C and G2/M processes</a:t>
            </a:r>
          </a:p>
        </p:txBody>
      </p:sp>
      <p:sp>
        <p:nvSpPr>
          <p:cNvPr id="16" name="Oval 15"/>
          <p:cNvSpPr/>
          <p:nvPr/>
        </p:nvSpPr>
        <p:spPr>
          <a:xfrm>
            <a:off x="8631936" y="4828032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4718304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Bulk RNA-seq cannot separate cell loss from lower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Prior thymus studies report involution and altered cell-cycle expression after spaceflight (Gridley et al. 2013; Horie et al. 2019).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SOLEUS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Soleus reinforces a mitochondrial and lipid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This result strengthens an existing real-data pattern rather than promoting a new soleus gene.</a:t>
            </a:r>
          </a:p>
        </p:txBody>
      </p:sp>
      <p:pic>
        <p:nvPicPr>
          <p:cNvPr id="7" name="Soleus gene effects and Reactome processes" descr="Sole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984025"/>
            <a:ext cx="8366760" cy="39140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05672" y="1865376"/>
            <a:ext cx="2971800" cy="4133087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3416" y="2139696"/>
            <a:ext cx="248716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78681"/>
                </a:solidFill>
                <a:latin typeface="Arial"/>
              </a:rPr>
              <a:t>0.925 -&gt; 0.963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254203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2990088"/>
            <a:ext cx="25328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82B55"/>
                </a:solidFill>
                <a:latin typeface="Arial"/>
              </a:rPr>
              <a:t>5 reinforced | 0 promoted</a:t>
            </a:r>
          </a:p>
        </p:txBody>
      </p:sp>
      <p:sp>
        <p:nvSpPr>
          <p:cNvPr id="12" name="Oval 11"/>
          <p:cNvSpPr/>
          <p:nvPr/>
        </p:nvSpPr>
        <p:spPr>
          <a:xfrm>
            <a:off x="9089136" y="3566160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3728" y="3456432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Lower Bdh1, Ech1, Bnip3 and Decr1</a:t>
            </a:r>
          </a:p>
        </p:txBody>
      </p:sp>
      <p:sp>
        <p:nvSpPr>
          <p:cNvPr id="14" name="Oval 13"/>
          <p:cNvSpPr/>
          <p:nvPr/>
        </p:nvSpPr>
        <p:spPr>
          <a:xfrm>
            <a:off x="9089136" y="4096511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3986783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Higher Tpm1</a:t>
            </a:r>
          </a:p>
        </p:txBody>
      </p:sp>
      <p:sp>
        <p:nvSpPr>
          <p:cNvPr id="16" name="Oval 15"/>
          <p:cNvSpPr/>
          <p:nvPr/>
        </p:nvSpPr>
        <p:spPr>
          <a:xfrm>
            <a:off x="9089136" y="4626864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4517136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Mitochondrial turnover and fatty-acid metabolism</a:t>
            </a:r>
          </a:p>
        </p:txBody>
      </p:sp>
      <p:sp>
        <p:nvSpPr>
          <p:cNvPr id="18" name="Oval 17"/>
          <p:cNvSpPr/>
          <p:nvPr/>
        </p:nvSpPr>
        <p:spPr>
          <a:xfrm>
            <a:off x="9089136" y="5157216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5047488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Compatible with unloading and contractile remodeling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Literature context: Gambara et al. (2017) and Stein et al. (2002).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OTHER TISSUES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Kidney adds a focused signal; other tissues are exploratory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strongest process-level stories were thymus and soleus, but several tissues produced narrower candidates.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1847088"/>
            <a:ext cx="11375136" cy="667512"/>
          </a:xfrm>
          <a:prstGeom prst="rect">
            <a:avLst/>
          </a:prstGeom>
          <a:solidFill>
            <a:srgbClr val="E9F1F7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3192" y="1847088"/>
            <a:ext cx="73152" cy="667512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02536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D6496"/>
                </a:solidFill>
                <a:latin typeface="Arial"/>
              </a:rPr>
              <a:t>Kidney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975104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Inpp4b promoted, Slc37a4 reinforced; both higher in 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6648" y="1993392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2D6496"/>
                </a:solidFill>
                <a:latin typeface="Arial"/>
              </a:rPr>
              <a:t>Focused secondary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" y="2660904"/>
            <a:ext cx="11375136" cy="667512"/>
          </a:xfrm>
          <a:prstGeom prst="rect">
            <a:avLst/>
          </a:prstGeom>
          <a:solidFill>
            <a:srgbClr val="F0ECF6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" y="2660904"/>
            <a:ext cx="73152" cy="667512"/>
          </a:xfrm>
          <a:prstGeom prst="rect">
            <a:avLst/>
          </a:prstGeom>
          <a:solidFill>
            <a:srgbClr val="80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16352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063A6"/>
                </a:solidFill>
                <a:latin typeface="Arial"/>
              </a:rPr>
              <a:t>Spleen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788920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Rai14, Ptprk and Myl9 promoted; Loxl1 reinforced; no Reactome enrichment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807208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063A6"/>
                </a:solidFill>
                <a:latin typeface="Arial"/>
              </a:rPr>
              <a:t>Exploratory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" y="3474720"/>
            <a:ext cx="11375136" cy="667512"/>
          </a:xfrm>
          <a:prstGeom prst="rect">
            <a:avLst/>
          </a:prstGeom>
          <a:solidFill>
            <a:srgbClr val="F8F1E2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3192" y="3474720"/>
            <a:ext cx="73152" cy="667512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30168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D37B00"/>
                </a:solidFill>
                <a:latin typeface="Arial"/>
              </a:rPr>
              <a:t>Skin + adrenal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1176" y="3602736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Plscr1 higher in skin; Psmb8 and Tspan4 lower in adrenal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3621024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37B00"/>
                </a:solidFill>
                <a:latin typeface="Arial"/>
              </a:rPr>
              <a:t>Exploratory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288536"/>
            <a:ext cx="11375136" cy="667512"/>
          </a:xfrm>
          <a:prstGeom prst="rect">
            <a:avLst/>
          </a:prstGeom>
          <a:solidFill>
            <a:srgbClr val="E8F3F1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" y="4288536"/>
            <a:ext cx="73152" cy="667512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Lung + retina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4416551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Predictive gains without a synthetic-informed BH-FDR gene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4434840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Prediction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5102352"/>
            <a:ext cx="11375136" cy="667512"/>
          </a:xfrm>
          <a:prstGeom prst="rect">
            <a:avLst/>
          </a:prstGeom>
          <a:solidFill>
            <a:srgbClr val="F2F4F5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" y="5102352"/>
            <a:ext cx="73152" cy="667512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969E"/>
                </a:solidFill>
                <a:latin typeface="Arial"/>
              </a:rPr>
              <a:t>Liver + EDL + quadriceps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51176" y="5230368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Real-only arm retained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6648" y="5248656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A969E"/>
                </a:solidFill>
                <a:latin typeface="Arial"/>
              </a:rPr>
              <a:t>No synthetic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35040"/>
            <a:ext cx="1078992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59697A"/>
                </a:solidFill>
                <a:latin typeface="Arial"/>
              </a:rPr>
              <a:t>Independent missions are still needed before any candidate becomes a transferable spaceflight biomarker.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data helped most as a tissue-specific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generator created useful structure, not new biological replication.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920240"/>
            <a:ext cx="3419856" cy="24871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67128"/>
            <a:ext cx="475488" cy="475488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D6496"/>
                </a:solidFill>
                <a:latin typeface="Arial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Conditional DDIM produced high-fidelity profiles with near-chance real-versus-synthetic separation.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59936" y="1920240"/>
            <a:ext cx="3419856" cy="24871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97680" y="2167128"/>
            <a:ext cx="475488" cy="475488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Pooled augmentation failed. Tissue-specific ranking and low-weight training were more useful.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35824" y="1920240"/>
            <a:ext cx="3419856" cy="248716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73568" y="2167128"/>
            <a:ext cx="475488" cy="475488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D37B00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Thymus and soleus formed the clearest programs; kidney supplied a focused secondary 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709160"/>
            <a:ext cx="10972800" cy="118872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1091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D69A"/>
                </a:solidFill>
                <a:latin typeface="Arial"/>
              </a:rPr>
              <a:t>Next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937760"/>
            <a:ext cx="907084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Hold out complete accessions, then validate the thymus panel, soleus metabolism and kidney Inpp4b / Slc37a4 in independent data.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532120"/>
            <a:ext cx="90708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D0E1"/>
                </a:solidFill>
                <a:latin typeface="Arial"/>
              </a:rPr>
              <a:t>Generated profiles never enter the biological sample count or the BH-FDR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347472"/>
            <a:ext cx="12191999" cy="6510528"/>
          </a:xfrm>
          <a:prstGeom prst="rect">
            <a:avLst/>
          </a:prstGeom>
          <a:solidFill>
            <a:srgbClr val="08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15568"/>
            <a:ext cx="49377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3657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FD0E1"/>
                </a:solidFill>
                <a:latin typeface="Arial"/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596896"/>
            <a:ext cx="2743200" cy="45720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935224"/>
            <a:ext cx="27432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Jason Trinh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FD0E1"/>
                </a:solidFill>
                <a:latin typeface="Arial"/>
              </a:rPr>
              <a:t>jasontrinh@berkeley.edu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3533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992" y="13258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James Casaletto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975104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947672"/>
            <a:ext cx="440740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Space Life Sciences Training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779776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752344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OSDR | ARCHS4 | Reactome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4107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33832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Ames Research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4041648"/>
            <a:ext cx="1188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Code and manuscript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402336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github.com/jasont314/nasa-mouse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502920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BFD0E1"/>
                </a:solidFill>
                <a:latin typeface="Arial"/>
              </a:rPr>
              <a:t>All biological associations were tested in observed OSDR profiles.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PS_2024_gold">
      <a:dk1>
        <a:srgbClr val="061F49"/>
      </a:dk1>
      <a:lt1>
        <a:srgbClr val="FFFFFF"/>
      </a:lt1>
      <a:dk2>
        <a:srgbClr val="061F49"/>
      </a:dk2>
      <a:lt2>
        <a:srgbClr val="E7E6E6"/>
      </a:lt2>
      <a:accent1>
        <a:srgbClr val="061F48"/>
      </a:accent1>
      <a:accent2>
        <a:srgbClr val="276644"/>
      </a:accent2>
      <a:accent3>
        <a:srgbClr val="D47800"/>
      </a:accent3>
      <a:accent4>
        <a:srgbClr val="D4BF88"/>
      </a:accent4>
      <a:accent5>
        <a:srgbClr val="8F6725"/>
      </a:accent5>
      <a:accent6>
        <a:srgbClr val="205391"/>
      </a:accent6>
      <a:hlink>
        <a:srgbClr val="205391"/>
      </a:hlink>
      <a:folHlink>
        <a:srgbClr val="0B3C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4-01-24_BPS_PPT_Template" id="{F69818ED-1EB5-154C-9646-61EECBC32C17}" vid="{337BE73D-1FC8-8444-A6A2-B6928143BD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43f8f0fe-7515-424d-86d7-0a337e4aa03f">
      <UserInfo>
        <DisplayName>Mangan, Keara L. (HQ-DP000)[BOOZ ALLEN &amp; HAMILTON INC]</DisplayName>
        <AccountId>13</AccountId>
        <AccountType/>
      </UserInfo>
      <UserInfo>
        <DisplayName>Gilbertson, Gamble (HQ-DP000)[EAST2]</DisplayName>
        <AccountId>15</AccountId>
        <AccountType/>
      </UserInfo>
      <UserInfo>
        <DisplayName>Lee, Jemie (HQ-DP000)[BOOZ ALLEN &amp; HAMILTON INC]</DisplayName>
        <AccountId>14</AccountId>
        <AccountType/>
      </UserInfo>
      <UserInfo>
        <DisplayName>White Lyons, Melanie M. (HQ-DP000)[BOOZ ALLEN &amp; HAMILTON INC]</DisplayName>
        <AccountId>12</AccountId>
        <AccountType/>
      </UserInfo>
      <UserInfo>
        <DisplayName>Lele, Julie (HQ-DM000)[BOOZ ALLEN &amp; HAMILTON INC]</DisplayName>
        <AccountId>10</AccountId>
        <AccountType/>
      </UserInfo>
      <UserInfo>
        <DisplayName>Burg, Joseph A. (HQ-DP000)[BOOZ ALLEN &amp; HAMILTON INC]</DisplayName>
        <AccountId>119</AccountId>
        <AccountType/>
      </UserInfo>
      <UserInfo>
        <DisplayName>Carnell, Lisa (HQ-DP000)</DisplayName>
        <AccountId>21</AccountId>
        <AccountType/>
      </UserInfo>
      <UserInfo>
        <DisplayName>Hertz, Paul (HQ-DA000)</DisplayName>
        <AccountId>100</AccountId>
        <AccountType/>
      </UserInfo>
      <UserInfo>
        <DisplayName>Fauntleroy, Haley (HQ-DP000)[BOOZ ALLEN &amp; HAMILTON INC]</DisplayName>
        <AccountId>22</AccountId>
        <AccountType/>
      </UserInfo>
      <UserInfo>
        <DisplayName>Cubberley, Hannah (HQ-DP000)[BOOZ ALLEN &amp; HAMILTON INC]</DisplayName>
        <AccountId>28</AccountId>
        <AccountType/>
      </UserInfo>
      <UserInfo>
        <DisplayName>Galazka, Jonathan M. (ARC-SC)</DisplayName>
        <AccountId>182</AccountId>
        <AccountType/>
      </UserInfo>
      <UserInfo>
        <DisplayName>Massa, Gioia D. (KSC-UBA00)</DisplayName>
        <AccountId>183</AccountId>
        <AccountType/>
      </UserInfo>
      <UserInfo>
        <DisplayName>Callas, John L (JPL-7500)[JPL Employee]</DisplayName>
        <AccountId>58</AccountId>
        <AccountType/>
      </UserInfo>
    </SharedWithUsers>
    <lcf76f155ced4ddcb4097134ff3c332f xmlns="6527ccf2-24c5-4a86-be07-80241091aeab">
      <Terms xmlns="http://schemas.microsoft.com/office/infopath/2007/PartnerControls"/>
    </lcf76f155ced4ddcb4097134ff3c332f>
    <TaxCatchAll xmlns="d900e117-17a0-4b24-9e47-511ef1d02c4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211DFDB3DA3845BD556C40032E64D0" ma:contentTypeVersion="16" ma:contentTypeDescription="Create a new document." ma:contentTypeScope="" ma:versionID="6fb8bd780a822da7d8e3d3891ea50a85">
  <xsd:schema xmlns:xsd="http://www.w3.org/2001/XMLSchema" xmlns:xs="http://www.w3.org/2001/XMLSchema" xmlns:p="http://schemas.microsoft.com/office/2006/metadata/properties" xmlns:ns2="6527ccf2-24c5-4a86-be07-80241091aeab" xmlns:ns3="43f8f0fe-7515-424d-86d7-0a337e4aa03f" xmlns:ns4="d900e117-17a0-4b24-9e47-511ef1d02c43" targetNamespace="http://schemas.microsoft.com/office/2006/metadata/properties" ma:root="true" ma:fieldsID="cb6437ea38db5bccedba4b312cc29faa" ns2:_="" ns3:_="" ns4:_="">
    <xsd:import namespace="6527ccf2-24c5-4a86-be07-80241091aeab"/>
    <xsd:import namespace="43f8f0fe-7515-424d-86d7-0a337e4aa03f"/>
    <xsd:import namespace="d900e117-17a0-4b24-9e47-511ef1d02c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27ccf2-24c5-4a86-be07-80241091ae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0fb68aea-d2ee-4a6c-85e6-e4b5686e96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f8f0fe-7515-424d-86d7-0a337e4aa03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00e117-17a0-4b24-9e47-511ef1d02c43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dea376dd-3888-4ec2-aac9-035288c88b0b}" ma:internalName="TaxCatchAll" ma:showField="CatchAllData" ma:web="43f8f0fe-7515-424d-86d7-0a337e4aa0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62A2FE-7911-4E6A-8BD5-16877A182B2F}">
  <ds:schemaRefs>
    <ds:schemaRef ds:uri="http://schemas.openxmlformats.org/package/2006/metadata/core-properties"/>
    <ds:schemaRef ds:uri="a3f7648c-ef34-4383-9913-3e4132c38d7f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c852713b-0caa-4ac0-ba75-048f00e27b76"/>
    <ds:schemaRef ds:uri="43f8f0fe-7515-424d-86d7-0a337e4aa03f"/>
    <ds:schemaRef ds:uri="6527ccf2-24c5-4a86-be07-80241091aeab"/>
    <ds:schemaRef ds:uri="d900e117-17a0-4b24-9e47-511ef1d02c43"/>
  </ds:schemaRefs>
</ds:datastoreItem>
</file>

<file path=customXml/itemProps2.xml><?xml version="1.0" encoding="utf-8"?>
<ds:datastoreItem xmlns:ds="http://schemas.openxmlformats.org/officeDocument/2006/customXml" ds:itemID="{2FDDDE26-D355-44FB-AB9E-19995162FF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27ccf2-24c5-4a86-be07-80241091aeab"/>
    <ds:schemaRef ds:uri="43f8f0fe-7515-424d-86d7-0a337e4aa03f"/>
    <ds:schemaRef ds:uri="d900e117-17a0-4b24-9e47-511ef1d02c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6B03FA-AE60-4B79-AD46-B79CDABDEAE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005d458-45be-48ae-8140-d43da96dd17b}" enabled="0" method="" siteId="{7005d458-45be-48ae-8140-d43da96dd17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2024-01-29_BPS_PPT_Template</Template>
  <TotalTime>5180</TotalTime>
  <Words>15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1_Office Theme</vt:lpstr>
      <vt:lpstr>PowerPoint Presentation</vt:lpstr>
      <vt:lpstr>PowerPoint Presentation</vt:lpstr>
    </vt:vector>
  </TitlesOfParts>
  <Company>NASA OCIO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Lele, Julie (HQ-DM000)[BOOZ ALLEN &amp; HAMILTON INC]</dc:creator>
  <cp:lastModifiedBy>Keller, Elizabeth E. (ARC-SC)[Amentum Services, Inc]</cp:lastModifiedBy>
  <cp:revision>178</cp:revision>
  <dcterms:created xsi:type="dcterms:W3CDTF">2024-01-29T19:52:06Z</dcterms:created>
  <dcterms:modified xsi:type="dcterms:W3CDTF">2026-06-29T22:38:13Z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0x01010019211DFDB3DA3845BD556C40032E64D0</vt:lpwstr>
  </property>
  <property fmtid="{D5CDD505-2E9C-101B-9397-08002B2CF9AE}" pid="3" name="MediaServiceImageTags">
    <vt:lpwstr/>
  </property>
</Properties>
</file>