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These are observed OSDR examples from the expiMap analysis. Each sample receives a latent score for each Reactome program. The table shows project-centered mean scores for flight and ground control, followed by flight minus ground. The formal analysis estimates the change inside each project and then combines project effects. All four examples are lower in flight; a lower latent score does not by itself prove biochemical inhibition.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A WGAN-GP alternates between two updates. The generator turns noise and biological conditions into an expression profile. The critic compares measured and generated profiles. Their competition teaches the generator to match the observed distribution while retaining the requested tissue, flight or ground-control, accession, and material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This teaching animation starts from random points. During reverse diffusion, the model repeatedly predicts and removes noise while receiving the requested condition. In the RNA-seq model, the output is a vector of 974 gene values conditioned on tissue, flight or ground control,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These panels use the same locked coordinates. The left panel colors each profile by tissue, while the right colors it by OSDR accession. Circles are observed profiles and crosses are matched DDIM profiles. Both tissue and study structure are reproduced in the generated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now colors the same profiles by flight or ground-control condition, while the right repeats the accession view. FLT and GC overlap much more than the study clusters. This is why the downstream analysis estimates FLT-GC effects within accession rather than treating the pooled separation as biology.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Every matched classifier uses all 974 genes, the same real-fitted scaler, the same outer split, and one regularization value selected from real training data. Real-only, synthetic-only, and real-plus-synthetic models are evaluated on the same held-out real profiles. This isolates training source within the classifier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a compact top-k panel. This is useful for pathway interpretation, but it does not isolate training source as directly as the matched all-gene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Suppose several genes carry the same pathway signal. Ridge can divide weight among them. If I shuffle Gene A, Genes B and C remain, so held-out performance changes little and Gene A receives low permutation importance. Consensus ranking can still retain the group. Low individual importance means replaceable in this classifier, not biologically irrelevant.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multi-tissue classifier declined with augmentation. In separate tissue models, real plus synthetic passed all pooled and accession-macro balanced-accuracy, AUROC, and average-precision checks in 18 of 27 analyses. The coral examples show why a balanced-accuracy gain alone is not enough when another metric declines.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matched analysis retained 21 BH-FDR tissue-gene associations, and consensus ranking retained 49. Eleven appear in both. Matched results are primary evidence that synthetic training changes classifier behavior. Consensus-only results are secondary panel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For the 49 consensus associations, 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Four tissues had both matched utility and retained BH-FDR genes. Fourteen more passed the utility gate without a retained gene. Nine failed at least one mean metric. Predictive improvement does not automatically produce a biological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consensus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matched analysis retained 15 thymus genes, seven promoted after augmentation, and 26 significant Reactome terms led by mitotic cell cycle. Nine genes overlap the 16-gene consensus panel, which adds correlated cell-cycle members. Together they support lower proliferative renewal or fewer cycling thymocytes in flight.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consensus analysis reinforces lower Bdh1, Ech1, Bnip3, and Decr1 with higher Tpm1, a coherent mitochondrial and lipid-metabolism panel. In the fixed all-gene comparison, balanced accuracy rose slightly but AUROC and average precision fell, so the matched gate did not pass.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Liver contributes four flight-lower shared-importance genes without pathway enrichment. Skin Plscr1 and spleen Loxl1 are supported by both analyses. Pooled muscle improves prediction in the matched classifier, but its individual gene interpretation remains consensus-level.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Kidney, adrenal gland, gastrocnemius, and tibialis anterior add smaller tissue-specific consensus candidates. They did not pass the matched gene gate, so they remain exploratory panel-level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Conditional DDIM produced realistic profiles. Matched classifiers show where synthetic training changes held-out-real prediction and gene importance. Consensus ranking organizes correlated biological panels. Thymus is strongest across both; all association statistics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gif"/><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gif"/><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rPr>
                <a:latin typeface="Arial"/>
              </a:rP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36208" y="3529584"/>
            <a:ext cx="274320"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675120" y="3401568"/>
            <a:ext cx="438912"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SCORES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Program scores turn expression into pathway-level changes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sample receives a Reactome program score; FLT minus GC gives the direction of change.</a:t>
            </a:r>
          </a:p>
        </p:txBody>
      </p:sp>
      <p:sp>
        <p:nvSpPr>
          <p:cNvPr id="7" name="Rectangle 6"/>
          <p:cNvSpPr/>
          <p:nvPr/>
        </p:nvSpPr>
        <p:spPr>
          <a:xfrm>
            <a:off x="429768" y="1865376"/>
            <a:ext cx="8065008"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057400"/>
            <a:ext cx="3291840" cy="210312"/>
          </a:xfrm>
          <a:prstGeom prst="rect">
            <a:avLst/>
          </a:prstGeom>
          <a:noFill/>
        </p:spPr>
        <p:txBody>
          <a:bodyPr wrap="square" lIns="0" rIns="0" tIns="0" bIns="0" anchor="t">
            <a:spAutoFit/>
          </a:bodyPr>
          <a:lstStyle/>
          <a:p>
            <a:pPr algn="l">
              <a:spcAft>
                <a:spcPts val="0"/>
              </a:spcAft>
            </a:pPr>
            <a:r>
              <a:rPr sz="930" b="1" i="0">
                <a:solidFill>
                  <a:srgbClr val="2D6496"/>
                </a:solidFill>
                <a:latin typeface="Arial"/>
              </a:rPr>
              <a:t>REPRESENTATIVE OBSERVED OSDR PROGRAMS</a:t>
            </a:r>
          </a:p>
        </p:txBody>
      </p:sp>
      <p:sp>
        <p:nvSpPr>
          <p:cNvPr id="9" name="TextBox 8"/>
          <p:cNvSpPr txBox="1"/>
          <p:nvPr/>
        </p:nvSpPr>
        <p:spPr>
          <a:xfrm>
            <a:off x="4133087" y="2258568"/>
            <a:ext cx="987552" cy="237744"/>
          </a:xfrm>
          <a:prstGeom prst="rect">
            <a:avLst/>
          </a:prstGeom>
          <a:noFill/>
        </p:spPr>
        <p:txBody>
          <a:bodyPr wrap="square" lIns="0" rIns="0" tIns="0" bIns="0" anchor="t">
            <a:spAutoFit/>
          </a:bodyPr>
          <a:lstStyle/>
          <a:p>
            <a:pPr algn="ctr">
              <a:spcAft>
                <a:spcPts val="0"/>
              </a:spcAft>
            </a:pPr>
            <a:r>
              <a:rPr sz="1050" b="1" i="0">
                <a:solidFill>
                  <a:srgbClr val="D37B00"/>
                </a:solidFill>
                <a:latin typeface="Arial"/>
              </a:rPr>
              <a:t>FLT score</a:t>
            </a:r>
          </a:p>
        </p:txBody>
      </p:sp>
      <p:sp>
        <p:nvSpPr>
          <p:cNvPr id="10" name="TextBox 9"/>
          <p:cNvSpPr txBox="1"/>
          <p:nvPr/>
        </p:nvSpPr>
        <p:spPr>
          <a:xfrm>
            <a:off x="5650992" y="2258568"/>
            <a:ext cx="987552" cy="237744"/>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GC score</a:t>
            </a:r>
          </a:p>
        </p:txBody>
      </p:sp>
      <p:sp>
        <p:nvSpPr>
          <p:cNvPr id="11" name="TextBox 10"/>
          <p:cNvSpPr txBox="1"/>
          <p:nvPr/>
        </p:nvSpPr>
        <p:spPr>
          <a:xfrm>
            <a:off x="7196328" y="2258568"/>
            <a:ext cx="987552" cy="237744"/>
          </a:xfrm>
          <a:prstGeom prst="rect">
            <a:avLst/>
          </a:prstGeom>
          <a:noFill/>
        </p:spPr>
        <p:txBody>
          <a:bodyPr wrap="square" lIns="0" rIns="0" tIns="0" bIns="0" anchor="t">
            <a:spAutoFit/>
          </a:bodyPr>
          <a:lstStyle/>
          <a:p>
            <a:pPr algn="ctr">
              <a:spcAft>
                <a:spcPts val="0"/>
              </a:spcAft>
            </a:pPr>
            <a:r>
              <a:rPr sz="1050" b="1" i="0">
                <a:solidFill>
                  <a:srgbClr val="178681"/>
                </a:solidFill>
                <a:latin typeface="Arial"/>
              </a:rPr>
              <a:t>FLT - GC</a:t>
            </a:r>
          </a:p>
        </p:txBody>
      </p:sp>
      <p:sp>
        <p:nvSpPr>
          <p:cNvPr id="12" name="TextBox 11"/>
          <p:cNvSpPr txBox="1"/>
          <p:nvPr/>
        </p:nvSpPr>
        <p:spPr>
          <a:xfrm>
            <a:off x="5303520" y="2258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13" name="TextBox 12"/>
          <p:cNvSpPr txBox="1"/>
          <p:nvPr/>
        </p:nvSpPr>
        <p:spPr>
          <a:xfrm>
            <a:off x="6821424" y="2258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14" name="Rectangle 13"/>
          <p:cNvSpPr/>
          <p:nvPr/>
        </p:nvSpPr>
        <p:spPr>
          <a:xfrm>
            <a:off x="704088" y="2715768"/>
            <a:ext cx="54864" cy="4389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660904"/>
            <a:ext cx="859536" cy="219456"/>
          </a:xfrm>
          <a:prstGeom prst="rect">
            <a:avLst/>
          </a:prstGeom>
          <a:noFill/>
        </p:spPr>
        <p:txBody>
          <a:bodyPr wrap="square" lIns="0" rIns="0" tIns="0" bIns="0" anchor="t">
            <a:spAutoFit/>
          </a:bodyPr>
          <a:lstStyle/>
          <a:p>
            <a:pPr algn="l">
              <a:spcAft>
                <a:spcPts val="0"/>
              </a:spcAft>
            </a:pPr>
            <a:r>
              <a:rPr sz="1100" b="1" i="0">
                <a:solidFill>
                  <a:srgbClr val="8063A6"/>
                </a:solidFill>
                <a:latin typeface="Arial"/>
              </a:rPr>
              <a:t>Thymus</a:t>
            </a:r>
          </a:p>
        </p:txBody>
      </p:sp>
      <p:sp>
        <p:nvSpPr>
          <p:cNvPr id="16" name="TextBox 15"/>
          <p:cNvSpPr txBox="1"/>
          <p:nvPr/>
        </p:nvSpPr>
        <p:spPr>
          <a:xfrm>
            <a:off x="1746504" y="2660904"/>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DNA repair</a:t>
            </a:r>
          </a:p>
        </p:txBody>
      </p:sp>
      <p:sp>
        <p:nvSpPr>
          <p:cNvPr id="17" name="Rectangle 16"/>
          <p:cNvSpPr/>
          <p:nvPr/>
        </p:nvSpPr>
        <p:spPr>
          <a:xfrm>
            <a:off x="4133087" y="2642616"/>
            <a:ext cx="987552" cy="438912"/>
          </a:xfrm>
          <a:prstGeom prst="rect">
            <a:avLst/>
          </a:prstGeom>
          <a:solidFill>
            <a:srgbClr val="A4BCD1"/>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-0.45</a:t>
            </a:r>
          </a:p>
        </p:txBody>
      </p:sp>
      <p:sp>
        <p:nvSpPr>
          <p:cNvPr id="19" name="Rectangle 18"/>
          <p:cNvSpPr/>
          <p:nvPr/>
        </p:nvSpPr>
        <p:spPr>
          <a:xfrm>
            <a:off x="5650992" y="2642616"/>
            <a:ext cx="987552" cy="438912"/>
          </a:xfrm>
          <a:prstGeom prst="rect">
            <a:avLst/>
          </a:prstGeom>
          <a:solidFill>
            <a:srgbClr val="E8B978"/>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+0.55</a:t>
            </a:r>
          </a:p>
        </p:txBody>
      </p:sp>
      <p:sp>
        <p:nvSpPr>
          <p:cNvPr id="21" name="Rectangle 20"/>
          <p:cNvSpPr/>
          <p:nvPr/>
        </p:nvSpPr>
        <p:spPr>
          <a:xfrm>
            <a:off x="7196328" y="2642616"/>
            <a:ext cx="987552" cy="438912"/>
          </a:xfrm>
          <a:prstGeom prst="rect">
            <a:avLst/>
          </a:prstGeom>
          <a:solidFill>
            <a:srgbClr val="356A9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8" y="2724912"/>
            <a:ext cx="987552" cy="219456"/>
          </a:xfrm>
          <a:prstGeom prst="rect">
            <a:avLst/>
          </a:prstGeom>
          <a:noFill/>
        </p:spPr>
        <p:txBody>
          <a:bodyPr wrap="square" lIns="0" rIns="0" tIns="0" bIns="0" anchor="t">
            <a:spAutoFit/>
          </a:bodyPr>
          <a:lstStyle/>
          <a:p>
            <a:pPr algn="ctr">
              <a:spcAft>
                <a:spcPts val="0"/>
              </a:spcAft>
            </a:pPr>
            <a:r>
              <a:rPr sz="1100" b="1" i="0">
                <a:solidFill>
                  <a:srgbClr val="FFFFFF"/>
                </a:solidFill>
                <a:latin typeface="Arial"/>
              </a:rPr>
              <a:t>-1.01</a:t>
            </a:r>
          </a:p>
        </p:txBody>
      </p:sp>
      <p:sp>
        <p:nvSpPr>
          <p:cNvPr id="23" name="TextBox 22"/>
          <p:cNvSpPr txBox="1"/>
          <p:nvPr/>
        </p:nvSpPr>
        <p:spPr>
          <a:xfrm>
            <a:off x="5303520" y="2706624"/>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24" name="TextBox 23"/>
          <p:cNvSpPr txBox="1"/>
          <p:nvPr/>
        </p:nvSpPr>
        <p:spPr>
          <a:xfrm>
            <a:off x="6821424" y="2706624"/>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25" name="Rectangle 24"/>
          <p:cNvSpPr/>
          <p:nvPr/>
        </p:nvSpPr>
        <p:spPr>
          <a:xfrm>
            <a:off x="704088" y="3255263"/>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4088" y="3410711"/>
            <a:ext cx="54864" cy="4389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355848"/>
            <a:ext cx="859536" cy="219456"/>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Skin</a:t>
            </a:r>
          </a:p>
        </p:txBody>
      </p:sp>
      <p:sp>
        <p:nvSpPr>
          <p:cNvPr id="28" name="TextBox 27"/>
          <p:cNvSpPr txBox="1"/>
          <p:nvPr/>
        </p:nvSpPr>
        <p:spPr>
          <a:xfrm>
            <a:off x="1746504" y="3355848"/>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Cell-cell junction organization</a:t>
            </a:r>
          </a:p>
        </p:txBody>
      </p:sp>
      <p:sp>
        <p:nvSpPr>
          <p:cNvPr id="29" name="Rectangle 28"/>
          <p:cNvSpPr/>
          <p:nvPr/>
        </p:nvSpPr>
        <p:spPr>
          <a:xfrm>
            <a:off x="4133087" y="3337560"/>
            <a:ext cx="987552" cy="438912"/>
          </a:xfrm>
          <a:prstGeom prst="rect">
            <a:avLst/>
          </a:prstGeom>
          <a:solidFill>
            <a:srgbClr val="ECF1F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31" name="Rectangle 30"/>
          <p:cNvSpPr/>
          <p:nvPr/>
        </p:nvSpPr>
        <p:spPr>
          <a:xfrm>
            <a:off x="5650992" y="3337560"/>
            <a:ext cx="987552" cy="438912"/>
          </a:xfrm>
          <a:prstGeom prst="rect">
            <a:avLst/>
          </a:prstGeom>
          <a:solidFill>
            <a:srgbClr val="FBF2E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50992"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+0.11</a:t>
            </a:r>
          </a:p>
        </p:txBody>
      </p:sp>
      <p:sp>
        <p:nvSpPr>
          <p:cNvPr id="33" name="Rectangle 32"/>
          <p:cNvSpPr/>
          <p:nvPr/>
        </p:nvSpPr>
        <p:spPr>
          <a:xfrm>
            <a:off x="7196328" y="3337560"/>
            <a:ext cx="987552" cy="438912"/>
          </a:xfrm>
          <a:prstGeom prst="rect">
            <a:avLst/>
          </a:prstGeom>
          <a:solidFill>
            <a:srgbClr val="D8E2E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-0.20</a:t>
            </a:r>
          </a:p>
        </p:txBody>
      </p:sp>
      <p:sp>
        <p:nvSpPr>
          <p:cNvPr id="35" name="TextBox 34"/>
          <p:cNvSpPr txBox="1"/>
          <p:nvPr/>
        </p:nvSpPr>
        <p:spPr>
          <a:xfrm>
            <a:off x="5303520" y="3401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36" name="TextBox 35"/>
          <p:cNvSpPr txBox="1"/>
          <p:nvPr/>
        </p:nvSpPr>
        <p:spPr>
          <a:xfrm>
            <a:off x="6821424" y="3401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37" name="Rectangle 36"/>
          <p:cNvSpPr/>
          <p:nvPr/>
        </p:nvSpPr>
        <p:spPr>
          <a:xfrm>
            <a:off x="704088" y="3950207"/>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4088" y="4105655"/>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050791"/>
            <a:ext cx="859536" cy="219456"/>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Liver</a:t>
            </a:r>
          </a:p>
        </p:txBody>
      </p:sp>
      <p:sp>
        <p:nvSpPr>
          <p:cNvPr id="40" name="TextBox 39"/>
          <p:cNvSpPr txBox="1"/>
          <p:nvPr/>
        </p:nvSpPr>
        <p:spPr>
          <a:xfrm>
            <a:off x="1746504" y="4050791"/>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MHC class II antigen presentation</a:t>
            </a:r>
          </a:p>
        </p:txBody>
      </p:sp>
      <p:sp>
        <p:nvSpPr>
          <p:cNvPr id="41" name="Rectangle 40"/>
          <p:cNvSpPr/>
          <p:nvPr/>
        </p:nvSpPr>
        <p:spPr>
          <a:xfrm>
            <a:off x="4133087" y="4032503"/>
            <a:ext cx="987552" cy="438912"/>
          </a:xfrm>
          <a:prstGeom prst="rect">
            <a:avLst/>
          </a:prstGeom>
          <a:solidFill>
            <a:srgbClr val="EFF3F7"/>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-0.07</a:t>
            </a:r>
          </a:p>
        </p:txBody>
      </p:sp>
      <p:sp>
        <p:nvSpPr>
          <p:cNvPr id="43" name="Rectangle 42"/>
          <p:cNvSpPr/>
          <p:nvPr/>
        </p:nvSpPr>
        <p:spPr>
          <a:xfrm>
            <a:off x="5650992" y="4032503"/>
            <a:ext cx="987552" cy="438912"/>
          </a:xfrm>
          <a:prstGeom prst="rect">
            <a:avLst/>
          </a:prstGeom>
          <a:solidFill>
            <a:srgbClr val="FBF4E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50992"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45" name="Rectangle 44"/>
          <p:cNvSpPr/>
          <p:nvPr/>
        </p:nvSpPr>
        <p:spPr>
          <a:xfrm>
            <a:off x="7196328" y="4032503"/>
            <a:ext cx="987552" cy="438912"/>
          </a:xfrm>
          <a:prstGeom prst="rect">
            <a:avLst/>
          </a:prstGeom>
          <a:solidFill>
            <a:srgbClr val="DFE7EF"/>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6328"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-0.16</a:t>
            </a:r>
          </a:p>
        </p:txBody>
      </p:sp>
      <p:sp>
        <p:nvSpPr>
          <p:cNvPr id="47" name="TextBox 46"/>
          <p:cNvSpPr txBox="1"/>
          <p:nvPr/>
        </p:nvSpPr>
        <p:spPr>
          <a:xfrm>
            <a:off x="5303520" y="4096511"/>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48" name="TextBox 47"/>
          <p:cNvSpPr txBox="1"/>
          <p:nvPr/>
        </p:nvSpPr>
        <p:spPr>
          <a:xfrm>
            <a:off x="6821424" y="4096511"/>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49" name="Rectangle 48"/>
          <p:cNvSpPr/>
          <p:nvPr/>
        </p:nvSpPr>
        <p:spPr>
          <a:xfrm>
            <a:off x="704088" y="4645152"/>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4088" y="4800600"/>
            <a:ext cx="54864" cy="4389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4745736"/>
            <a:ext cx="859536" cy="219456"/>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Spleen</a:t>
            </a:r>
          </a:p>
        </p:txBody>
      </p:sp>
      <p:sp>
        <p:nvSpPr>
          <p:cNvPr id="52" name="TextBox 51"/>
          <p:cNvSpPr txBox="1"/>
          <p:nvPr/>
        </p:nvSpPr>
        <p:spPr>
          <a:xfrm>
            <a:off x="1746504" y="4745736"/>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T-cell receptor signaling</a:t>
            </a:r>
          </a:p>
        </p:txBody>
      </p:sp>
      <p:sp>
        <p:nvSpPr>
          <p:cNvPr id="53" name="Rectangle 52"/>
          <p:cNvSpPr/>
          <p:nvPr/>
        </p:nvSpPr>
        <p:spPr>
          <a:xfrm>
            <a:off x="4133087" y="4727448"/>
            <a:ext cx="987552" cy="438912"/>
          </a:xfrm>
          <a:prstGeom prst="rect">
            <a:avLst/>
          </a:prstGeom>
          <a:solidFill>
            <a:srgbClr val="E5ECF2"/>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33087"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5" name="Rectangle 54"/>
          <p:cNvSpPr/>
          <p:nvPr/>
        </p:nvSpPr>
        <p:spPr>
          <a:xfrm>
            <a:off x="5650992" y="4727448"/>
            <a:ext cx="987552" cy="438912"/>
          </a:xfrm>
          <a:prstGeom prst="rect">
            <a:avLst/>
          </a:prstGeom>
          <a:solidFill>
            <a:srgbClr val="FAEFE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50992"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7" name="Rectangle 56"/>
          <p:cNvSpPr/>
          <p:nvPr/>
        </p:nvSpPr>
        <p:spPr>
          <a:xfrm>
            <a:off x="7196328" y="4727448"/>
            <a:ext cx="987552" cy="438912"/>
          </a:xfrm>
          <a:prstGeom prst="rect">
            <a:avLst/>
          </a:prstGeom>
          <a:solidFill>
            <a:srgbClr val="CBD9E5"/>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96328"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-0.26</a:t>
            </a:r>
          </a:p>
        </p:txBody>
      </p:sp>
      <p:sp>
        <p:nvSpPr>
          <p:cNvPr id="59" name="TextBox 58"/>
          <p:cNvSpPr txBox="1"/>
          <p:nvPr/>
        </p:nvSpPr>
        <p:spPr>
          <a:xfrm>
            <a:off x="5303520" y="4791456"/>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0" name="TextBox 59"/>
          <p:cNvSpPr txBox="1"/>
          <p:nvPr/>
        </p:nvSpPr>
        <p:spPr>
          <a:xfrm>
            <a:off x="6821424" y="4791456"/>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61" name="Rectangle 60"/>
          <p:cNvSpPr/>
          <p:nvPr/>
        </p:nvSpPr>
        <p:spPr>
          <a:xfrm>
            <a:off x="3017520" y="5650992"/>
            <a:ext cx="228600" cy="164592"/>
          </a:xfrm>
          <a:prstGeom prst="rect">
            <a:avLst/>
          </a:prstGeom>
          <a:solidFill>
            <a:srgbClr val="2D649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0098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lower</a:t>
            </a:r>
          </a:p>
        </p:txBody>
      </p:sp>
      <p:sp>
        <p:nvSpPr>
          <p:cNvPr id="63" name="Rectangle 62"/>
          <p:cNvSpPr/>
          <p:nvPr/>
        </p:nvSpPr>
        <p:spPr>
          <a:xfrm>
            <a:off x="4114800" y="5650992"/>
            <a:ext cx="228600" cy="164592"/>
          </a:xfrm>
          <a:prstGeom prst="rect">
            <a:avLst/>
          </a:prstGeom>
          <a:solidFill>
            <a:srgbClr val="FFFEFE"/>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39826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no shift</a:t>
            </a:r>
          </a:p>
        </p:txBody>
      </p:sp>
      <p:sp>
        <p:nvSpPr>
          <p:cNvPr id="65" name="Rectangle 64"/>
          <p:cNvSpPr/>
          <p:nvPr/>
        </p:nvSpPr>
        <p:spPr>
          <a:xfrm>
            <a:off x="5212079" y="5650992"/>
            <a:ext cx="228600" cy="164592"/>
          </a:xfrm>
          <a:prstGeom prst="rect">
            <a:avLst/>
          </a:prstGeom>
          <a:solidFill>
            <a:srgbClr val="D37B0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95543"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higher</a:t>
            </a:r>
          </a:p>
        </p:txBody>
      </p:sp>
      <p:sp>
        <p:nvSpPr>
          <p:cNvPr id="67" name="Rectangle 66"/>
          <p:cNvSpPr/>
          <p:nvPr/>
        </p:nvSpPr>
        <p:spPr>
          <a:xfrm>
            <a:off x="8796528" y="1938528"/>
            <a:ext cx="13716" cy="399592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70848" y="2048256"/>
            <a:ext cx="1901952"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HOW TO READ IT</a:t>
            </a:r>
          </a:p>
        </p:txBody>
      </p:sp>
      <p:sp>
        <p:nvSpPr>
          <p:cNvPr id="69" name="Oval 68"/>
          <p:cNvSpPr/>
          <p:nvPr/>
        </p:nvSpPr>
        <p:spPr>
          <a:xfrm>
            <a:off x="9079992" y="2532888"/>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79992" y="2569464"/>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1</a:t>
            </a:r>
          </a:p>
        </p:txBody>
      </p:sp>
      <p:sp>
        <p:nvSpPr>
          <p:cNvPr id="71" name="TextBox 70"/>
          <p:cNvSpPr txBox="1"/>
          <p:nvPr/>
        </p:nvSpPr>
        <p:spPr>
          <a:xfrm>
            <a:off x="9500616" y="2514600"/>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Score each sample</a:t>
            </a:r>
          </a:p>
        </p:txBody>
      </p:sp>
      <p:sp>
        <p:nvSpPr>
          <p:cNvPr id="72" name="TextBox 71"/>
          <p:cNvSpPr txBox="1"/>
          <p:nvPr/>
        </p:nvSpPr>
        <p:spPr>
          <a:xfrm>
            <a:off x="9500616" y="2825496"/>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The constrained latent value represents one Reactome program.</a:t>
            </a:r>
          </a:p>
        </p:txBody>
      </p:sp>
      <p:sp>
        <p:nvSpPr>
          <p:cNvPr id="73" name="Oval 72"/>
          <p:cNvSpPr/>
          <p:nvPr/>
        </p:nvSpPr>
        <p:spPr>
          <a:xfrm>
            <a:off x="9079992" y="3474720"/>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79992" y="3511296"/>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2</a:t>
            </a:r>
          </a:p>
        </p:txBody>
      </p:sp>
      <p:sp>
        <p:nvSpPr>
          <p:cNvPr id="75" name="TextBox 74"/>
          <p:cNvSpPr txBox="1"/>
          <p:nvPr/>
        </p:nvSpPr>
        <p:spPr>
          <a:xfrm>
            <a:off x="9500616" y="3456432"/>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Compare within project</a:t>
            </a:r>
          </a:p>
        </p:txBody>
      </p:sp>
      <p:sp>
        <p:nvSpPr>
          <p:cNvPr id="76" name="TextBox 75"/>
          <p:cNvSpPr txBox="1"/>
          <p:nvPr/>
        </p:nvSpPr>
        <p:spPr>
          <a:xfrm>
            <a:off x="9500616" y="3767328"/>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Flight samples are compared with ground controls from the same study.</a:t>
            </a:r>
          </a:p>
        </p:txBody>
      </p:sp>
      <p:sp>
        <p:nvSpPr>
          <p:cNvPr id="77" name="Oval 76"/>
          <p:cNvSpPr/>
          <p:nvPr/>
        </p:nvSpPr>
        <p:spPr>
          <a:xfrm>
            <a:off x="9079992" y="4416552"/>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079992" y="4453128"/>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3</a:t>
            </a:r>
          </a:p>
        </p:txBody>
      </p:sp>
      <p:sp>
        <p:nvSpPr>
          <p:cNvPr id="79" name="TextBox 78"/>
          <p:cNvSpPr txBox="1"/>
          <p:nvPr/>
        </p:nvSpPr>
        <p:spPr>
          <a:xfrm>
            <a:off x="9500616" y="4398264"/>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Combine project shifts</a:t>
            </a:r>
          </a:p>
        </p:txBody>
      </p:sp>
      <p:sp>
        <p:nvSpPr>
          <p:cNvPr id="80" name="TextBox 79"/>
          <p:cNvSpPr txBox="1"/>
          <p:nvPr/>
        </p:nvSpPr>
        <p:spPr>
          <a:xfrm>
            <a:off x="9500616" y="4709160"/>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Project-level changes are integrated across the available missions.</a:t>
            </a:r>
          </a:p>
        </p:txBody>
      </p:sp>
      <p:sp>
        <p:nvSpPr>
          <p:cNvPr id="81" name="Rectangle 80"/>
          <p:cNvSpPr/>
          <p:nvPr/>
        </p:nvSpPr>
        <p:spPr>
          <a:xfrm>
            <a:off x="9061704" y="5413248"/>
            <a:ext cx="2432304" cy="484632"/>
          </a:xfrm>
          <a:prstGeom prst="rect">
            <a:avLst/>
          </a:prstGeom>
          <a:solidFill>
            <a:srgbClr val="E9F1F7"/>
          </a:solidFill>
          <a:ln w="10160">
            <a:solidFill>
              <a:srgbClr val="CBDD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17152" y="5513832"/>
            <a:ext cx="2121408" cy="256032"/>
          </a:xfrm>
          <a:prstGeom prst="rect">
            <a:avLst/>
          </a:prstGeom>
          <a:noFill/>
        </p:spPr>
        <p:txBody>
          <a:bodyPr wrap="square" lIns="0" rIns="0" tIns="0" bIns="0" anchor="t">
            <a:spAutoFit/>
          </a:bodyPr>
          <a:lstStyle/>
          <a:p>
            <a:pPr algn="ctr">
              <a:spcAft>
                <a:spcPts val="0"/>
              </a:spcAft>
            </a:pPr>
            <a:r>
              <a:rPr sz="1050" b="1" i="0">
                <a:solidFill>
                  <a:srgbClr val="082B55"/>
                </a:solidFill>
                <a:latin typeface="Arial"/>
              </a:rPr>
              <a:t>Negative change = lower program score in flight</a:t>
            </a:r>
          </a:p>
        </p:txBody>
      </p:sp>
      <p:sp>
        <p:nvSpPr>
          <p:cNvPr id="83" name="TextBox 8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Observed example scores: expiMap manuscript Table S33. Formal effects are estimated within project; lower scores do not prove biochemical inhibition.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WGAN-GP</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 generator learns by competing with a critic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makes conditioned expression profiles; the critic compares them with measured RNA-seq.</a:t>
            </a:r>
          </a:p>
        </p:txBody>
      </p:sp>
      <p:sp>
        <p:nvSpPr>
          <p:cNvPr id="7" name="Rectangle 6"/>
          <p:cNvSpPr/>
          <p:nvPr/>
        </p:nvSpPr>
        <p:spPr>
          <a:xfrm>
            <a:off x="438912" y="1773936"/>
            <a:ext cx="4937760" cy="4462272"/>
          </a:xfrm>
          <a:prstGeom prst="rect">
            <a:avLst/>
          </a:prstGeom>
          <a:solidFill>
            <a:srgbClr val="EEF2F6"/>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Animated teaching diagram of a WGAN generator competing with a critic" descr="Animated teaching diagram of a WGAN generator competing with a critic"/>
          <p:cNvPicPr>
            <a:picLocks noChangeAspect="1"/>
          </p:cNvPicPr>
          <p:nvPr/>
        </p:nvPicPr>
        <p:blipFill>
          <a:blip r:embed="rId2"/>
          <a:stretch>
            <a:fillRect/>
          </a:stretch>
        </p:blipFill>
        <p:spPr>
          <a:xfrm>
            <a:off x="986180" y="1856231"/>
            <a:ext cx="3843223" cy="4270248"/>
          </a:xfrm>
          <a:prstGeom prst="rect">
            <a:avLst/>
          </a:prstGeom>
        </p:spPr>
      </p:pic>
      <p:sp>
        <p:nvSpPr>
          <p:cNvPr id="9" name="TextBox 8"/>
          <p:cNvSpPr txBox="1"/>
          <p:nvPr/>
        </p:nvSpPr>
        <p:spPr>
          <a:xfrm>
            <a:off x="5760720" y="1856231"/>
            <a:ext cx="1417320"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TRAINING LOOP</a:t>
            </a:r>
          </a:p>
        </p:txBody>
      </p:sp>
      <p:sp>
        <p:nvSpPr>
          <p:cNvPr id="10" name="TextBox 9"/>
          <p:cNvSpPr txBox="1"/>
          <p:nvPr/>
        </p:nvSpPr>
        <p:spPr>
          <a:xfrm>
            <a:off x="5760720" y="2304288"/>
            <a:ext cx="365760" cy="228600"/>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11" name="Rectangle 10"/>
          <p:cNvSpPr/>
          <p:nvPr/>
        </p:nvSpPr>
        <p:spPr>
          <a:xfrm>
            <a:off x="6236208" y="2350008"/>
            <a:ext cx="50292" cy="65836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86000"/>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Generate</a:t>
            </a:r>
          </a:p>
        </p:txBody>
      </p:sp>
      <p:sp>
        <p:nvSpPr>
          <p:cNvPr id="13" name="TextBox 12"/>
          <p:cNvSpPr txBox="1"/>
          <p:nvPr/>
        </p:nvSpPr>
        <p:spPr>
          <a:xfrm>
            <a:off x="7918704" y="2267712"/>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Noise and a requested condition become one synthetic expression profile.</a:t>
            </a:r>
          </a:p>
        </p:txBody>
      </p:sp>
      <p:sp>
        <p:nvSpPr>
          <p:cNvPr id="14" name="Down Arrow 13"/>
          <p:cNvSpPr/>
          <p:nvPr/>
        </p:nvSpPr>
        <p:spPr>
          <a:xfrm>
            <a:off x="6894576" y="3044952"/>
            <a:ext cx="201168" cy="256032"/>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474720"/>
            <a:ext cx="365760"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02</a:t>
            </a:r>
          </a:p>
        </p:txBody>
      </p:sp>
      <p:sp>
        <p:nvSpPr>
          <p:cNvPr id="16" name="Rectangle 15"/>
          <p:cNvSpPr/>
          <p:nvPr/>
        </p:nvSpPr>
        <p:spPr>
          <a:xfrm>
            <a:off x="6236208" y="3520439"/>
            <a:ext cx="50292" cy="65836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Score</a:t>
            </a:r>
          </a:p>
        </p:txBody>
      </p:sp>
      <p:sp>
        <p:nvSpPr>
          <p:cNvPr id="18" name="TextBox 17"/>
          <p:cNvSpPr txBox="1"/>
          <p:nvPr/>
        </p:nvSpPr>
        <p:spPr>
          <a:xfrm>
            <a:off x="7918704" y="3438144"/>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The critic scores measured and generated profiles without seeing their labels.</a:t>
            </a:r>
          </a:p>
        </p:txBody>
      </p:sp>
      <p:sp>
        <p:nvSpPr>
          <p:cNvPr id="19" name="Down Arrow 18"/>
          <p:cNvSpPr/>
          <p:nvPr/>
        </p:nvSpPr>
        <p:spPr>
          <a:xfrm>
            <a:off x="6894576" y="4215383"/>
            <a:ext cx="201168" cy="256032"/>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0720" y="4645151"/>
            <a:ext cx="365760"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03</a:t>
            </a:r>
          </a:p>
        </p:txBody>
      </p:sp>
      <p:sp>
        <p:nvSpPr>
          <p:cNvPr id="21" name="Rectangle 20"/>
          <p:cNvSpPr/>
          <p:nvPr/>
        </p:nvSpPr>
        <p:spPr>
          <a:xfrm>
            <a:off x="6236208" y="4690872"/>
            <a:ext cx="50292" cy="65836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626864"/>
            <a:ext cx="1417320" cy="274320"/>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Update</a:t>
            </a:r>
          </a:p>
        </p:txBody>
      </p:sp>
      <p:sp>
        <p:nvSpPr>
          <p:cNvPr id="23" name="TextBox 22"/>
          <p:cNvSpPr txBox="1"/>
          <p:nvPr/>
        </p:nvSpPr>
        <p:spPr>
          <a:xfrm>
            <a:off x="7918704" y="4608576"/>
            <a:ext cx="3456432" cy="621792"/>
          </a:xfrm>
          <a:prstGeom prst="rect">
            <a:avLst/>
          </a:prstGeom>
          <a:noFill/>
        </p:spPr>
        <p:txBody>
          <a:bodyPr wrap="square" lIns="0" rIns="0" tIns="0" bIns="0" anchor="ctr">
            <a:spAutoFit/>
          </a:bodyPr>
          <a:lstStyle/>
          <a:p>
            <a:pPr algn="l">
              <a:spcAft>
                <a:spcPts val="0"/>
              </a:spcAft>
            </a:pPr>
            <a:r>
              <a:rPr sz="1140" b="0" i="0">
                <a:solidFill>
                  <a:srgbClr val="263746"/>
                </a:solidFill>
                <a:latin typeface="Arial"/>
              </a:rPr>
              <a:t>The critic sharpens the comparison; the generator learns to close the gap.</a:t>
            </a:r>
          </a:p>
        </p:txBody>
      </p:sp>
      <p:sp>
        <p:nvSpPr>
          <p:cNvPr id="24" name="Rectangle 23"/>
          <p:cNvSpPr/>
          <p:nvPr/>
        </p:nvSpPr>
        <p:spPr>
          <a:xfrm>
            <a:off x="5742432" y="5650992"/>
            <a:ext cx="5687568"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9864" y="5843016"/>
            <a:ext cx="841248" cy="164592"/>
          </a:xfrm>
          <a:prstGeom prst="rect">
            <a:avLst/>
          </a:prstGeom>
          <a:noFill/>
        </p:spPr>
        <p:txBody>
          <a:bodyPr wrap="square" lIns="0" rIns="0" tIns="0" bIns="0" anchor="t">
            <a:spAutoFit/>
          </a:bodyPr>
          <a:lstStyle/>
          <a:p>
            <a:pPr algn="l">
              <a:spcAft>
                <a:spcPts val="0"/>
              </a:spcAft>
            </a:pPr>
            <a:r>
              <a:rPr sz="850" b="1" i="0">
                <a:solidFill>
                  <a:srgbClr val="178681"/>
                </a:solidFill>
                <a:latin typeface="Arial"/>
              </a:rPr>
              <a:t>CONDITION</a:t>
            </a:r>
          </a:p>
        </p:txBody>
      </p:sp>
      <p:sp>
        <p:nvSpPr>
          <p:cNvPr id="26" name="Rectangle 25"/>
          <p:cNvSpPr/>
          <p:nvPr/>
        </p:nvSpPr>
        <p:spPr>
          <a:xfrm>
            <a:off x="6711696" y="5751576"/>
            <a:ext cx="941832"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5843016"/>
            <a:ext cx="941832"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Tissue</a:t>
            </a:r>
          </a:p>
        </p:txBody>
      </p:sp>
      <p:sp>
        <p:nvSpPr>
          <p:cNvPr id="28" name="Rectangle 27"/>
          <p:cNvSpPr/>
          <p:nvPr/>
        </p:nvSpPr>
        <p:spPr>
          <a:xfrm>
            <a:off x="7754112" y="5751576"/>
            <a:ext cx="1024128"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54112" y="5843016"/>
            <a:ext cx="1024128"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FLT / GC</a:t>
            </a:r>
          </a:p>
        </p:txBody>
      </p:sp>
      <p:sp>
        <p:nvSpPr>
          <p:cNvPr id="30" name="Rectangle 29"/>
          <p:cNvSpPr/>
          <p:nvPr/>
        </p:nvSpPr>
        <p:spPr>
          <a:xfrm>
            <a:off x="8878824" y="5751576"/>
            <a:ext cx="1051560"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78824" y="5843016"/>
            <a:ext cx="1051560"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Accession</a:t>
            </a:r>
          </a:p>
        </p:txBody>
      </p:sp>
      <p:sp>
        <p:nvSpPr>
          <p:cNvPr id="32" name="Rectangle 31"/>
          <p:cNvSpPr/>
          <p:nvPr/>
        </p:nvSpPr>
        <p:spPr>
          <a:xfrm>
            <a:off x="10030968" y="5751576"/>
            <a:ext cx="1298448" cy="3474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30968" y="5843016"/>
            <a:ext cx="1298448" cy="146304"/>
          </a:xfrm>
          <a:prstGeom prst="rect">
            <a:avLst/>
          </a:prstGeom>
          <a:noFill/>
        </p:spPr>
        <p:txBody>
          <a:bodyPr wrap="square" lIns="0" rIns="0" tIns="0" bIns="0" anchor="t">
            <a:spAutoFit/>
          </a:bodyPr>
          <a:lstStyle/>
          <a:p>
            <a:pPr algn="ctr">
              <a:spcAft>
                <a:spcPts val="0"/>
              </a:spcAft>
            </a:pPr>
            <a:r>
              <a:rPr sz="850" b="1" i="0">
                <a:solidFill>
                  <a:srgbClr val="178681"/>
                </a:solidFill>
                <a:latin typeface="Arial"/>
              </a:rPr>
              <a:t>Material type</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Animation reused from the project midpoint presentation. WGAN-GP follows the adversarial RNA-seq framework of Vinas et al. (2022).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turns noise into a conditioned sample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model repeatedly removes predicted noise while following the requested biological context.</a:t>
            </a:r>
          </a:p>
        </p:txBody>
      </p:sp>
      <p:sp>
        <p:nvSpPr>
          <p:cNvPr id="7" name="Rectangle 6"/>
          <p:cNvSpPr/>
          <p:nvPr/>
        </p:nvSpPr>
        <p:spPr>
          <a:xfrm>
            <a:off x="438912" y="1810512"/>
            <a:ext cx="4846320" cy="4352544"/>
          </a:xfrm>
          <a:prstGeom prst="rect">
            <a:avLst/>
          </a:prstGeom>
          <a:solidFill>
            <a:srgbClr val="EEF2F6"/>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Animated two-dimensional teaching example of FLT- and GC-conditioned reverse diffusion" descr="Animated two-dimensional teaching example of FLT- and GC-conditioned reverse diffusion"/>
          <p:cNvPicPr>
            <a:picLocks noChangeAspect="1"/>
          </p:cNvPicPr>
          <p:nvPr/>
        </p:nvPicPr>
        <p:blipFill>
          <a:blip r:embed="rId2"/>
          <a:stretch>
            <a:fillRect/>
          </a:stretch>
        </p:blipFill>
        <p:spPr>
          <a:xfrm>
            <a:off x="1023702" y="1892807"/>
            <a:ext cx="3676738" cy="4160520"/>
          </a:xfrm>
          <a:prstGeom prst="rect">
            <a:avLst/>
          </a:prstGeom>
        </p:spPr>
      </p:pic>
      <p:sp>
        <p:nvSpPr>
          <p:cNvPr id="9" name="TextBox 8"/>
          <p:cNvSpPr txBox="1"/>
          <p:nvPr/>
        </p:nvSpPr>
        <p:spPr>
          <a:xfrm>
            <a:off x="5650992" y="1883664"/>
            <a:ext cx="1389888"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FOR RNA-SEQ</a:t>
            </a:r>
          </a:p>
        </p:txBody>
      </p:sp>
      <p:sp>
        <p:nvSpPr>
          <p:cNvPr id="10" name="Rectangle 9"/>
          <p:cNvSpPr/>
          <p:nvPr/>
        </p:nvSpPr>
        <p:spPr>
          <a:xfrm>
            <a:off x="5751576" y="2386584"/>
            <a:ext cx="64008" cy="62179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16752" y="2322576"/>
            <a:ext cx="1225296" cy="182880"/>
          </a:xfrm>
          <a:prstGeom prst="rect">
            <a:avLst/>
          </a:prstGeom>
          <a:noFill/>
        </p:spPr>
        <p:txBody>
          <a:bodyPr wrap="square" lIns="0" rIns="0" tIns="0" bIns="0" anchor="t">
            <a:spAutoFit/>
          </a:bodyPr>
          <a:lstStyle/>
          <a:p>
            <a:pPr algn="l">
              <a:spcAft>
                <a:spcPts val="0"/>
              </a:spcAft>
            </a:pPr>
            <a:r>
              <a:rPr sz="850" b="1" i="0">
                <a:solidFill>
                  <a:srgbClr val="8A969E"/>
                </a:solidFill>
                <a:latin typeface="Arial"/>
              </a:rPr>
              <a:t>T = 1000</a:t>
            </a:r>
          </a:p>
        </p:txBody>
      </p:sp>
      <p:sp>
        <p:nvSpPr>
          <p:cNvPr id="12" name="TextBox 11"/>
          <p:cNvSpPr txBox="1"/>
          <p:nvPr/>
        </p:nvSpPr>
        <p:spPr>
          <a:xfrm>
            <a:off x="6016752" y="2560320"/>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Random noise</a:t>
            </a:r>
          </a:p>
        </p:txBody>
      </p:sp>
      <p:sp>
        <p:nvSpPr>
          <p:cNvPr id="13" name="TextBox 12"/>
          <p:cNvSpPr txBox="1"/>
          <p:nvPr/>
        </p:nvSpPr>
        <p:spPr>
          <a:xfrm>
            <a:off x="8275320" y="2514600"/>
            <a:ext cx="1920240" cy="393192"/>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974 unconstrained gene values</a:t>
            </a:r>
          </a:p>
        </p:txBody>
      </p:sp>
      <p:sp>
        <p:nvSpPr>
          <p:cNvPr id="14" name="Oval 13"/>
          <p:cNvSpPr/>
          <p:nvPr/>
        </p:nvSpPr>
        <p:spPr>
          <a:xfrm>
            <a:off x="10315477" y="273219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626586" y="2621333"/>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05360" y="2794162"/>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99050" y="2541857"/>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826757" y="2591625"/>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165752" y="2847379"/>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08507" y="277861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678254" y="2808719"/>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6207" y="260829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422259" y="256201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89760" y="2646191"/>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837974" y="2474163"/>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05474" y="2619144"/>
            <a:ext cx="54864" cy="54864"/>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51576" y="3520439"/>
            <a:ext cx="64008" cy="6217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16752" y="3456432"/>
            <a:ext cx="1225296" cy="182880"/>
          </a:xfrm>
          <a:prstGeom prst="rect">
            <a:avLst/>
          </a:prstGeom>
          <a:noFill/>
        </p:spPr>
        <p:txBody>
          <a:bodyPr wrap="square" lIns="0" rIns="0" tIns="0" bIns="0" anchor="t">
            <a:spAutoFit/>
          </a:bodyPr>
          <a:lstStyle/>
          <a:p>
            <a:pPr algn="l">
              <a:spcAft>
                <a:spcPts val="0"/>
              </a:spcAft>
            </a:pPr>
            <a:r>
              <a:rPr sz="850" b="1" i="0">
                <a:solidFill>
                  <a:srgbClr val="178681"/>
                </a:solidFill>
                <a:latin typeface="Arial"/>
              </a:rPr>
              <a:t>REVERSE STEPS</a:t>
            </a:r>
          </a:p>
        </p:txBody>
      </p:sp>
      <p:sp>
        <p:nvSpPr>
          <p:cNvPr id="29" name="TextBox 28"/>
          <p:cNvSpPr txBox="1"/>
          <p:nvPr/>
        </p:nvSpPr>
        <p:spPr>
          <a:xfrm>
            <a:off x="6016752" y="3694176"/>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Conditional denoising</a:t>
            </a:r>
          </a:p>
        </p:txBody>
      </p:sp>
      <p:sp>
        <p:nvSpPr>
          <p:cNvPr id="30" name="Rectangle 29"/>
          <p:cNvSpPr/>
          <p:nvPr/>
        </p:nvSpPr>
        <p:spPr>
          <a:xfrm>
            <a:off x="8439912" y="3529584"/>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9912" y="3575303"/>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Tissue</a:t>
            </a:r>
          </a:p>
        </p:txBody>
      </p:sp>
      <p:sp>
        <p:nvSpPr>
          <p:cNvPr id="32" name="Rectangle 31"/>
          <p:cNvSpPr/>
          <p:nvPr/>
        </p:nvSpPr>
        <p:spPr>
          <a:xfrm>
            <a:off x="9829800" y="3529584"/>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29800" y="3575303"/>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FLT / GC</a:t>
            </a:r>
          </a:p>
        </p:txBody>
      </p:sp>
      <p:sp>
        <p:nvSpPr>
          <p:cNvPr id="34" name="Rectangle 33"/>
          <p:cNvSpPr/>
          <p:nvPr/>
        </p:nvSpPr>
        <p:spPr>
          <a:xfrm>
            <a:off x="8439912" y="3840480"/>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9912" y="3886200"/>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Study</a:t>
            </a:r>
          </a:p>
        </p:txBody>
      </p:sp>
      <p:sp>
        <p:nvSpPr>
          <p:cNvPr id="36" name="Rectangle 35"/>
          <p:cNvSpPr/>
          <p:nvPr/>
        </p:nvSpPr>
        <p:spPr>
          <a:xfrm>
            <a:off x="9829800" y="3840480"/>
            <a:ext cx="1234440" cy="237744"/>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29800" y="3886200"/>
            <a:ext cx="1234440" cy="137160"/>
          </a:xfrm>
          <a:prstGeom prst="rect">
            <a:avLst/>
          </a:prstGeom>
          <a:noFill/>
        </p:spPr>
        <p:txBody>
          <a:bodyPr wrap="square" lIns="0" rIns="0" tIns="0" bIns="0" anchor="t">
            <a:spAutoFit/>
          </a:bodyPr>
          <a:lstStyle/>
          <a:p>
            <a:pPr algn="ctr">
              <a:spcAft>
                <a:spcPts val="0"/>
              </a:spcAft>
            </a:pPr>
            <a:r>
              <a:rPr sz="800" b="1" i="0">
                <a:solidFill>
                  <a:srgbClr val="178681"/>
                </a:solidFill>
                <a:latin typeface="Arial"/>
              </a:rPr>
              <a:t>Material</a:t>
            </a:r>
          </a:p>
        </p:txBody>
      </p:sp>
      <p:sp>
        <p:nvSpPr>
          <p:cNvPr id="38" name="Rectangle 37"/>
          <p:cNvSpPr/>
          <p:nvPr/>
        </p:nvSpPr>
        <p:spPr>
          <a:xfrm>
            <a:off x="5751576" y="4773168"/>
            <a:ext cx="64008" cy="62179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16752" y="4709160"/>
            <a:ext cx="1225296" cy="182880"/>
          </a:xfrm>
          <a:prstGeom prst="rect">
            <a:avLst/>
          </a:prstGeom>
          <a:noFill/>
        </p:spPr>
        <p:txBody>
          <a:bodyPr wrap="square" lIns="0" rIns="0" tIns="0" bIns="0" anchor="t">
            <a:spAutoFit/>
          </a:bodyPr>
          <a:lstStyle/>
          <a:p>
            <a:pPr algn="l">
              <a:spcAft>
                <a:spcPts val="0"/>
              </a:spcAft>
            </a:pPr>
            <a:r>
              <a:rPr sz="850" b="1" i="0">
                <a:solidFill>
                  <a:srgbClr val="D37B00"/>
                </a:solidFill>
                <a:latin typeface="Arial"/>
              </a:rPr>
              <a:t>T = 0</a:t>
            </a:r>
          </a:p>
        </p:txBody>
      </p:sp>
      <p:sp>
        <p:nvSpPr>
          <p:cNvPr id="40" name="TextBox 39"/>
          <p:cNvSpPr txBox="1"/>
          <p:nvPr/>
        </p:nvSpPr>
        <p:spPr>
          <a:xfrm>
            <a:off x="6016752" y="4946904"/>
            <a:ext cx="2121408" cy="274320"/>
          </a:xfrm>
          <a:prstGeom prst="rect">
            <a:avLst/>
          </a:prstGeom>
          <a:noFill/>
        </p:spPr>
        <p:txBody>
          <a:bodyPr wrap="square" lIns="0" rIns="0" tIns="0" bIns="0" anchor="t">
            <a:spAutoFit/>
          </a:bodyPr>
          <a:lstStyle/>
          <a:p>
            <a:pPr algn="l">
              <a:spcAft>
                <a:spcPts val="0"/>
              </a:spcAft>
            </a:pPr>
            <a:r>
              <a:rPr sz="1500" b="1" i="0">
                <a:solidFill>
                  <a:srgbClr val="082B55"/>
                </a:solidFill>
                <a:latin typeface="Arial"/>
              </a:rPr>
              <a:t>Synthetic expression</a:t>
            </a:r>
          </a:p>
        </p:txBody>
      </p:sp>
      <p:sp>
        <p:nvSpPr>
          <p:cNvPr id="41" name="TextBox 40"/>
          <p:cNvSpPr txBox="1"/>
          <p:nvPr/>
        </p:nvSpPr>
        <p:spPr>
          <a:xfrm>
            <a:off x="8275320" y="4901184"/>
            <a:ext cx="1920240" cy="393192"/>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One generated 974-gene profile</a:t>
            </a:r>
          </a:p>
        </p:txBody>
      </p:sp>
      <p:sp>
        <p:nvSpPr>
          <p:cNvPr id="42" name="Rectangle 41"/>
          <p:cNvSpPr/>
          <p:nvPr/>
        </p:nvSpPr>
        <p:spPr>
          <a:xfrm>
            <a:off x="10469880" y="5038344"/>
            <a:ext cx="91440" cy="25603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616184" y="4828032"/>
            <a:ext cx="91440" cy="466344"/>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762488" y="4965192"/>
            <a:ext cx="91440"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08792" y="4727448"/>
            <a:ext cx="91440" cy="566928"/>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055096" y="4892040"/>
            <a:ext cx="91440" cy="40233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1201400" y="5093208"/>
            <a:ext cx="91440" cy="201168"/>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1347704" y="4791456"/>
            <a:ext cx="91440" cy="5029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494008" y="5010912"/>
            <a:ext cx="91440" cy="283464"/>
          </a:xfrm>
          <a:prstGeom prst="rect">
            <a:avLst/>
          </a:prstGeom>
          <a:solidFill>
            <a:srgbClr val="E0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6144768" y="3081528"/>
            <a:ext cx="201168" cy="283464"/>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6144768" y="4325112"/>
            <a:ext cx="201168" cy="283464"/>
          </a:xfrm>
          <a:prstGeom prst="down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Animation reused from the project midpoint presentation. The 2-D spiral is explanatory; the trained model generates 974-gene vectors.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OSDR accession. Circles are observed profiles; crosses are matched DDIM profiles.</a:t>
            </a:r>
          </a:p>
        </p:txBody>
      </p:sp>
      <p:pic>
        <p:nvPicPr>
          <p:cNvPr id="7" name="PCA of observed and matched DDIM profiles colored by tissue and OSDR accession" descr="PCA of observed and matched DDIM profiles colored by tissue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Tissue and accession clusters are visible across both observed and generated profiles.</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observed and 293 seed-5020 generated profiles; PCA was fitted once to the combined locked expression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OSDR accession. Circles are observed profiles; crosses are matched DDIM profiles.</a:t>
            </a:r>
          </a:p>
        </p:txBody>
      </p:sp>
      <p:pic>
        <p:nvPicPr>
          <p:cNvPr id="7" name="PCA of observed and matched DDIM profiles colored by condition and OSDR accession" descr="PCA of observed and matched DDIM profiles colored by condition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Flight and ground-control profiles overlap within the larger accession-defined structure.</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The accession colors are shared across the two PCA slides; FLT-GC effects are evaluated within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Change the training source; hold the classifier fixed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arms use the same 974 genes, data splits, preprocessing, and ridge regularization.</a:t>
            </a:r>
          </a:p>
        </p:txBody>
      </p:sp>
      <p:sp>
        <p:nvSpPr>
          <p:cNvPr id="7" name="Rectangle 6"/>
          <p:cNvSpPr/>
          <p:nvPr/>
        </p:nvSpPr>
        <p:spPr>
          <a:xfrm>
            <a:off x="429768" y="1810512"/>
            <a:ext cx="11137392" cy="658368"/>
          </a:xfrm>
          <a:prstGeom prst="rect">
            <a:avLst/>
          </a:prstGeom>
          <a:solidFill>
            <a:srgbClr val="F2F5F7"/>
          </a:solidFill>
          <a:ln w="10160">
            <a:solidFill>
              <a:srgbClr val="D3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974 genes</a:t>
            </a:r>
          </a:p>
        </p:txBody>
      </p:sp>
      <p:sp>
        <p:nvSpPr>
          <p:cNvPr id="9" name="Rectangle 8"/>
          <p:cNvSpPr/>
          <p:nvPr/>
        </p:nvSpPr>
        <p:spPr>
          <a:xfrm>
            <a:off x="2734056"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088"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outer splits</a:t>
            </a:r>
          </a:p>
        </p:txBody>
      </p:sp>
      <p:sp>
        <p:nvSpPr>
          <p:cNvPr id="11" name="Rectangle 10"/>
          <p:cNvSpPr/>
          <p:nvPr/>
        </p:nvSpPr>
        <p:spPr>
          <a:xfrm>
            <a:off x="5358383"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14416"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Real-fitted scaler</a:t>
            </a:r>
          </a:p>
        </p:txBody>
      </p:sp>
      <p:sp>
        <p:nvSpPr>
          <p:cNvPr id="13" name="Rectangle 12"/>
          <p:cNvSpPr/>
          <p:nvPr/>
        </p:nvSpPr>
        <p:spPr>
          <a:xfrm>
            <a:off x="8138160"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ridge penalty</a:t>
            </a:r>
          </a:p>
        </p:txBody>
      </p:sp>
      <p:sp>
        <p:nvSpPr>
          <p:cNvPr id="15" name="Rectangle 14"/>
          <p:cNvSpPr/>
          <p:nvPr/>
        </p:nvSpPr>
        <p:spPr>
          <a:xfrm>
            <a:off x="438912" y="2679192"/>
            <a:ext cx="3328416" cy="126187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79192"/>
            <a:ext cx="3328416"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2898648"/>
            <a:ext cx="2980944" cy="237744"/>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 ONLY</a:t>
            </a:r>
          </a:p>
        </p:txBody>
      </p:sp>
      <p:sp>
        <p:nvSpPr>
          <p:cNvPr id="18" name="Oval 17"/>
          <p:cNvSpPr/>
          <p:nvPr/>
        </p:nvSpPr>
        <p:spPr>
          <a:xfrm>
            <a:off x="1856232"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0" name="TextBox 19"/>
          <p:cNvSpPr txBox="1"/>
          <p:nvPr/>
        </p:nvSpPr>
        <p:spPr>
          <a:xfrm>
            <a:off x="621792"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Reference classifier</a:t>
            </a:r>
          </a:p>
        </p:txBody>
      </p:sp>
      <p:sp>
        <p:nvSpPr>
          <p:cNvPr id="21" name="Right Arrow 20"/>
          <p:cNvSpPr/>
          <p:nvPr/>
        </p:nvSpPr>
        <p:spPr>
          <a:xfrm>
            <a:off x="1865376"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2679192"/>
            <a:ext cx="3328416" cy="1261872"/>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0" y="2679192"/>
            <a:ext cx="3328416" cy="5029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88536" y="2898648"/>
            <a:ext cx="2980944" cy="237744"/>
          </a:xfrm>
          <a:prstGeom prst="rect">
            <a:avLst/>
          </a:prstGeom>
          <a:noFill/>
        </p:spPr>
        <p:txBody>
          <a:bodyPr wrap="square" lIns="0" rIns="0" tIns="0" bIns="0" anchor="t">
            <a:spAutoFit/>
          </a:bodyPr>
          <a:lstStyle/>
          <a:p>
            <a:pPr algn="ctr">
              <a:spcAft>
                <a:spcPts val="0"/>
              </a:spcAft>
            </a:pPr>
            <a:r>
              <a:rPr sz="1300" b="1" i="0">
                <a:solidFill>
                  <a:srgbClr val="D96552"/>
                </a:solidFill>
                <a:latin typeface="Arial"/>
              </a:rPr>
              <a:t>SYNTHETIC ONLY</a:t>
            </a:r>
          </a:p>
        </p:txBody>
      </p:sp>
      <p:sp>
        <p:nvSpPr>
          <p:cNvPr id="25" name="Oval 24"/>
          <p:cNvSpPr/>
          <p:nvPr/>
        </p:nvSpPr>
        <p:spPr>
          <a:xfrm>
            <a:off x="5532120"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27" name="TextBox 26"/>
          <p:cNvSpPr txBox="1"/>
          <p:nvPr/>
        </p:nvSpPr>
        <p:spPr>
          <a:xfrm>
            <a:off x="4297680"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Generator transfer test</a:t>
            </a:r>
          </a:p>
        </p:txBody>
      </p:sp>
      <p:sp>
        <p:nvSpPr>
          <p:cNvPr id="28" name="Right Arrow 27"/>
          <p:cNvSpPr/>
          <p:nvPr/>
        </p:nvSpPr>
        <p:spPr>
          <a:xfrm>
            <a:off x="5541264"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90688" y="2679192"/>
            <a:ext cx="3328416" cy="126187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90688" y="2679192"/>
            <a:ext cx="3328416"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64423" y="2898648"/>
            <a:ext cx="2980944" cy="237744"/>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REAL + SYNTHETIC</a:t>
            </a:r>
          </a:p>
        </p:txBody>
      </p:sp>
      <p:sp>
        <p:nvSpPr>
          <p:cNvPr id="32" name="Oval 31"/>
          <p:cNvSpPr/>
          <p:nvPr/>
        </p:nvSpPr>
        <p:spPr>
          <a:xfrm>
            <a:off x="8933688"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33688"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4" name="TextBox 33"/>
          <p:cNvSpPr txBox="1"/>
          <p:nvPr/>
        </p:nvSpPr>
        <p:spPr>
          <a:xfrm>
            <a:off x="9226296" y="3273552"/>
            <a:ext cx="210312" cy="201168"/>
          </a:xfrm>
          <a:prstGeom prst="rect">
            <a:avLst/>
          </a:prstGeom>
          <a:noFill/>
        </p:spPr>
        <p:txBody>
          <a:bodyPr wrap="square" lIns="0" rIns="0" tIns="0" bIns="0" anchor="t">
            <a:spAutoFit/>
          </a:bodyPr>
          <a:lstStyle/>
          <a:p>
            <a:pPr algn="ctr">
              <a:spcAft>
                <a:spcPts val="0"/>
              </a:spcAft>
            </a:pPr>
            <a:r>
              <a:rPr sz="1100" b="1" i="0">
                <a:solidFill>
                  <a:srgbClr val="59697A"/>
                </a:solidFill>
                <a:latin typeface="Arial"/>
              </a:rPr>
              <a:t>+</a:t>
            </a:r>
          </a:p>
        </p:txBody>
      </p:sp>
      <p:sp>
        <p:nvSpPr>
          <p:cNvPr id="35" name="Oval 34"/>
          <p:cNvSpPr/>
          <p:nvPr/>
        </p:nvSpPr>
        <p:spPr>
          <a:xfrm>
            <a:off x="9473184"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73184"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7" name="TextBox 36"/>
          <p:cNvSpPr txBox="1"/>
          <p:nvPr/>
        </p:nvSpPr>
        <p:spPr>
          <a:xfrm>
            <a:off x="7973567"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Synthetic augmentation</a:t>
            </a:r>
          </a:p>
        </p:txBody>
      </p:sp>
      <p:sp>
        <p:nvSpPr>
          <p:cNvPr id="38" name="Right Arrow 37"/>
          <p:cNvSpPr/>
          <p:nvPr/>
        </p:nvSpPr>
        <p:spPr>
          <a:xfrm>
            <a:off x="9217152"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9768" y="4352544"/>
            <a:ext cx="11137392" cy="78638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544568"/>
            <a:ext cx="3017520" cy="274320"/>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Same held-out real profiles</a:t>
            </a:r>
          </a:p>
        </p:txBody>
      </p:sp>
      <p:sp>
        <p:nvSpPr>
          <p:cNvPr id="41" name="Rectangle 40"/>
          <p:cNvSpPr/>
          <p:nvPr/>
        </p:nvSpPr>
        <p:spPr>
          <a:xfrm>
            <a:off x="3904487"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15384" y="4498848"/>
            <a:ext cx="205740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Pooled metrics</a:t>
            </a:r>
          </a:p>
        </p:txBody>
      </p:sp>
      <p:sp>
        <p:nvSpPr>
          <p:cNvPr id="43" name="TextBox 42"/>
          <p:cNvSpPr txBox="1"/>
          <p:nvPr/>
        </p:nvSpPr>
        <p:spPr>
          <a:xfrm>
            <a:off x="4215384" y="4754880"/>
            <a:ext cx="205740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4" name="Rectangle 43"/>
          <p:cNvSpPr/>
          <p:nvPr/>
        </p:nvSpPr>
        <p:spPr>
          <a:xfrm>
            <a:off x="6464808"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57416" y="4498848"/>
            <a:ext cx="242316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Accession-macro metrics</a:t>
            </a:r>
          </a:p>
        </p:txBody>
      </p:sp>
      <p:sp>
        <p:nvSpPr>
          <p:cNvPr id="46" name="TextBox 45"/>
          <p:cNvSpPr txBox="1"/>
          <p:nvPr/>
        </p:nvSpPr>
        <p:spPr>
          <a:xfrm>
            <a:off x="6757416" y="4754880"/>
            <a:ext cx="242316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7" name="TextBox 46"/>
          <p:cNvSpPr txBox="1"/>
          <p:nvPr/>
        </p:nvSpPr>
        <p:spPr>
          <a:xfrm>
            <a:off x="9262872" y="4498848"/>
            <a:ext cx="2029968" cy="438912"/>
          </a:xfrm>
          <a:prstGeom prst="rect">
            <a:avLst/>
          </a:prstGeom>
          <a:noFill/>
        </p:spPr>
        <p:txBody>
          <a:bodyPr wrap="square" lIns="0" rIns="0" tIns="0" bIns="0" anchor="ctr">
            <a:spAutoFit/>
          </a:bodyPr>
          <a:lstStyle/>
          <a:p>
            <a:pPr algn="ctr">
              <a:spcAft>
                <a:spcPts val="0"/>
              </a:spcAft>
            </a:pPr>
            <a:r>
              <a:rPr sz="1120" b="1" i="0">
                <a:solidFill>
                  <a:srgbClr val="178681"/>
                </a:solidFill>
                <a:latin typeface="Arial"/>
              </a:rPr>
              <a:t>Pass only if all six means are nonworse</a:t>
            </a:r>
          </a:p>
        </p:txBody>
      </p:sp>
      <p:sp>
        <p:nvSpPr>
          <p:cNvPr id="48" name="Rectangle 47"/>
          <p:cNvSpPr/>
          <p:nvPr/>
        </p:nvSpPr>
        <p:spPr>
          <a:xfrm>
            <a:off x="429768" y="5404104"/>
            <a:ext cx="11137392" cy="731520"/>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96128"/>
            <a:ext cx="1965960" cy="256032"/>
          </a:xfrm>
          <a:prstGeom prst="rect">
            <a:avLst/>
          </a:prstGeom>
          <a:noFill/>
        </p:spPr>
        <p:txBody>
          <a:bodyPr wrap="square" lIns="0" rIns="0" tIns="0" bIns="0" anchor="t">
            <a:spAutoFit/>
          </a:bodyPr>
          <a:lstStyle/>
          <a:p>
            <a:pPr algn="l">
              <a:spcAft>
                <a:spcPts val="0"/>
              </a:spcAft>
            </a:pPr>
            <a:r>
              <a:rPr sz="1420" b="1" i="0">
                <a:solidFill>
                  <a:srgbClr val="FFFFFF"/>
                </a:solidFill>
                <a:latin typeface="Arial"/>
              </a:rPr>
              <a:t>Gene-level follow-up</a:t>
            </a:r>
          </a:p>
        </p:txBody>
      </p:sp>
      <p:sp>
        <p:nvSpPr>
          <p:cNvPr id="50" name="TextBox 49"/>
          <p:cNvSpPr txBox="1"/>
          <p:nvPr/>
        </p:nvSpPr>
        <p:spPr>
          <a:xfrm>
            <a:off x="2770632" y="5577840"/>
            <a:ext cx="4956048" cy="274320"/>
          </a:xfrm>
          <a:prstGeom prst="rect">
            <a:avLst/>
          </a:prstGeom>
          <a:noFill/>
        </p:spPr>
        <p:txBody>
          <a:bodyPr wrap="square" lIns="0" rIns="0" tIns="0" bIns="0" anchor="t">
            <a:spAutoFit/>
          </a:bodyPr>
          <a:lstStyle/>
          <a:p>
            <a:pPr algn="l">
              <a:spcAft>
                <a:spcPts val="0"/>
              </a:spcAft>
            </a:pPr>
            <a:r>
              <a:rPr sz="1240" b="0" i="0">
                <a:solidFill>
                  <a:srgbClr val="DCE7F2"/>
                </a:solidFill>
                <a:latin typeface="Arial"/>
              </a:rPr>
              <a:t>Blocked permutation + linear SHAP on held-out real profiles</a:t>
            </a:r>
          </a:p>
        </p:txBody>
      </p:sp>
      <p:sp>
        <p:nvSpPr>
          <p:cNvPr id="51" name="TextBox 50"/>
          <p:cNvSpPr txBox="1"/>
          <p:nvPr/>
        </p:nvSpPr>
        <p:spPr>
          <a:xfrm>
            <a:off x="7964424" y="5577840"/>
            <a:ext cx="3273552" cy="274320"/>
          </a:xfrm>
          <a:prstGeom prst="rect">
            <a:avLst/>
          </a:prstGeom>
          <a:noFill/>
        </p:spPr>
        <p:txBody>
          <a:bodyPr wrap="square" lIns="0" rIns="0" tIns="0" bIns="0" anchor="t">
            <a:spAutoFit/>
          </a:bodyPr>
          <a:lstStyle/>
          <a:p>
            <a:pPr algn="r">
              <a:spcAft>
                <a:spcPts val="0"/>
              </a:spcAft>
            </a:pPr>
            <a:r>
              <a:rPr sz="1240" b="1" i="0">
                <a:solidFill>
                  <a:srgbClr val="FFD69A"/>
                </a:solidFill>
                <a:latin typeface="Arial"/>
              </a:rPr>
              <a:t>BH FDR still uses real OSDR only</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Primary matched analysis: 27 tissue units, eight outer splits, 648 fitted classifiers; generated profiles do not increase animal 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Correlated genes dilute one-at-a-time importance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pathway can matter even when no single member causes a large permutation loss.</a:t>
            </a:r>
          </a:p>
        </p:txBody>
      </p:sp>
      <p:sp>
        <p:nvSpPr>
          <p:cNvPr id="7" name="Rectangle 6"/>
          <p:cNvSpPr/>
          <p:nvPr/>
        </p:nvSpPr>
        <p:spPr>
          <a:xfrm>
            <a:off x="420624" y="1856231"/>
            <a:ext cx="3337560" cy="352958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029968"/>
            <a:ext cx="384048" cy="310896"/>
          </a:xfrm>
          <a:prstGeom prst="rect">
            <a:avLst/>
          </a:prstGeom>
          <a:noFill/>
        </p:spPr>
        <p:txBody>
          <a:bodyPr wrap="square" lIns="0" rIns="0" tIns="0" bIns="0" anchor="t">
            <a:spAutoFit/>
          </a:bodyPr>
          <a:lstStyle/>
          <a:p>
            <a:pPr algn="l">
              <a:spcAft>
                <a:spcPts val="0"/>
              </a:spcAft>
            </a:pPr>
            <a:r>
              <a:rPr sz="1800" b="1" i="0">
                <a:solidFill>
                  <a:srgbClr val="2D6496"/>
                </a:solidFill>
                <a:latin typeface="Arial"/>
              </a:rPr>
              <a:t>1</a:t>
            </a:r>
          </a:p>
        </p:txBody>
      </p:sp>
      <p:sp>
        <p:nvSpPr>
          <p:cNvPr id="9" name="TextBox 8"/>
          <p:cNvSpPr txBox="1"/>
          <p:nvPr/>
        </p:nvSpPr>
        <p:spPr>
          <a:xfrm>
            <a:off x="1051560"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CORRELATED MODULE</a:t>
            </a:r>
          </a:p>
        </p:txBody>
      </p:sp>
      <p:sp>
        <p:nvSpPr>
          <p:cNvPr id="10" name="Rectangle 9"/>
          <p:cNvSpPr/>
          <p:nvPr/>
        </p:nvSpPr>
        <p:spPr>
          <a:xfrm>
            <a:off x="4096512" y="1856231"/>
            <a:ext cx="3337560" cy="352958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2029968"/>
            <a:ext cx="384048" cy="310896"/>
          </a:xfrm>
          <a:prstGeom prst="rect">
            <a:avLst/>
          </a:prstGeom>
          <a:noFill/>
        </p:spPr>
        <p:txBody>
          <a:bodyPr wrap="square" lIns="0" rIns="0" tIns="0" bIns="0" anchor="t">
            <a:spAutoFit/>
          </a:bodyPr>
          <a:lstStyle/>
          <a:p>
            <a:pPr algn="l">
              <a:spcAft>
                <a:spcPts val="0"/>
              </a:spcAft>
            </a:pPr>
            <a:r>
              <a:rPr sz="1800" b="1" i="0">
                <a:solidFill>
                  <a:srgbClr val="D96552"/>
                </a:solidFill>
                <a:latin typeface="Arial"/>
              </a:rPr>
              <a:t>2</a:t>
            </a:r>
          </a:p>
        </p:txBody>
      </p:sp>
      <p:sp>
        <p:nvSpPr>
          <p:cNvPr id="12" name="TextBox 11"/>
          <p:cNvSpPr txBox="1"/>
          <p:nvPr/>
        </p:nvSpPr>
        <p:spPr>
          <a:xfrm>
            <a:off x="4727448"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SHUFFLE ONE GENE</a:t>
            </a:r>
          </a:p>
        </p:txBody>
      </p:sp>
      <p:sp>
        <p:nvSpPr>
          <p:cNvPr id="13" name="Rectangle 12"/>
          <p:cNvSpPr/>
          <p:nvPr/>
        </p:nvSpPr>
        <p:spPr>
          <a:xfrm>
            <a:off x="7772400" y="1856231"/>
            <a:ext cx="3337560" cy="352958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29968"/>
            <a:ext cx="384048" cy="310896"/>
          </a:xfrm>
          <a:prstGeom prst="rect">
            <a:avLst/>
          </a:prstGeom>
          <a:noFill/>
        </p:spPr>
        <p:txBody>
          <a:bodyPr wrap="square" lIns="0" rIns="0" tIns="0" bIns="0" anchor="t">
            <a:spAutoFit/>
          </a:bodyPr>
          <a:lstStyle/>
          <a:p>
            <a:pPr algn="l">
              <a:spcAft>
                <a:spcPts val="0"/>
              </a:spcAft>
            </a:pPr>
            <a:r>
              <a:rPr sz="1800" b="1" i="0">
                <a:solidFill>
                  <a:srgbClr val="178681"/>
                </a:solidFill>
                <a:latin typeface="Arial"/>
              </a:rPr>
              <a:t>3</a:t>
            </a:r>
          </a:p>
        </p:txBody>
      </p:sp>
      <p:sp>
        <p:nvSpPr>
          <p:cNvPr id="15" name="TextBox 14"/>
          <p:cNvSpPr txBox="1"/>
          <p:nvPr/>
        </p:nvSpPr>
        <p:spPr>
          <a:xfrm>
            <a:off x="8403336"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CONSENSUS PANEL</a:t>
            </a:r>
          </a:p>
        </p:txBody>
      </p:sp>
      <p:sp>
        <p:nvSpPr>
          <p:cNvPr id="16" name="Rectangle 15"/>
          <p:cNvSpPr/>
          <p:nvPr/>
        </p:nvSpPr>
        <p:spPr>
          <a:xfrm>
            <a:off x="749808"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18" name="Right Arrow 17"/>
          <p:cNvSpPr/>
          <p:nvPr/>
        </p:nvSpPr>
        <p:spPr>
          <a:xfrm>
            <a:off x="1847088" y="2788920"/>
            <a:ext cx="475488" cy="21031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21" name="Right Arrow 20"/>
          <p:cNvSpPr/>
          <p:nvPr/>
        </p:nvSpPr>
        <p:spPr>
          <a:xfrm>
            <a:off x="1847088"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24" name="Right Arrow 23"/>
          <p:cNvSpPr/>
          <p:nvPr/>
        </p:nvSpPr>
        <p:spPr>
          <a:xfrm>
            <a:off x="1847088"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27" name="TextBox 26"/>
          <p:cNvSpPr txBox="1"/>
          <p:nvPr/>
        </p:nvSpPr>
        <p:spPr>
          <a:xfrm>
            <a:off x="713232" y="4709160"/>
            <a:ext cx="281635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Similar expression lets these genes share predictive weight.</a:t>
            </a:r>
          </a:p>
        </p:txBody>
      </p:sp>
      <p:sp>
        <p:nvSpPr>
          <p:cNvPr id="28" name="Rectangle 27"/>
          <p:cNvSpPr/>
          <p:nvPr/>
        </p:nvSpPr>
        <p:spPr>
          <a:xfrm>
            <a:off x="4425696"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8848"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30" name="Rectangle 29"/>
          <p:cNvSpPr/>
          <p:nvPr/>
        </p:nvSpPr>
        <p:spPr>
          <a:xfrm>
            <a:off x="4425696"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32" name="Right Arrow 31"/>
          <p:cNvSpPr/>
          <p:nvPr/>
        </p:nvSpPr>
        <p:spPr>
          <a:xfrm>
            <a:off x="5522976"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25696"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98848"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35" name="Right Arrow 34"/>
          <p:cNvSpPr/>
          <p:nvPr/>
        </p:nvSpPr>
        <p:spPr>
          <a:xfrm>
            <a:off x="5522976"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0" y="2578608"/>
            <a:ext cx="292608" cy="274320"/>
          </a:xfrm>
          <a:prstGeom prst="rect">
            <a:avLst/>
          </a:prstGeom>
          <a:noFill/>
        </p:spPr>
        <p:txBody>
          <a:bodyPr wrap="square" lIns="0" rIns="0" tIns="0" bIns="0" anchor="t">
            <a:spAutoFit/>
          </a:bodyPr>
          <a:lstStyle/>
          <a:p>
            <a:pPr algn="ctr">
              <a:spcAft>
                <a:spcPts val="0"/>
              </a:spcAft>
            </a:pPr>
            <a:r>
              <a:rPr sz="2000" b="1" i="0">
                <a:solidFill>
                  <a:srgbClr val="D96552"/>
                </a:solidFill>
                <a:latin typeface="Arial"/>
              </a:rPr>
              <a:t>x</a:t>
            </a:r>
          </a:p>
        </p:txBody>
      </p:sp>
      <p:sp>
        <p:nvSpPr>
          <p:cNvPr id="37" name="Rectangle 36"/>
          <p:cNvSpPr/>
          <p:nvPr/>
        </p:nvSpPr>
        <p:spPr>
          <a:xfrm>
            <a:off x="6144768"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27064"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39" name="TextBox 38"/>
          <p:cNvSpPr txBox="1"/>
          <p:nvPr/>
        </p:nvSpPr>
        <p:spPr>
          <a:xfrm>
            <a:off x="4370832" y="4709160"/>
            <a:ext cx="290779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Genes B and C retain the shared signal, so the score changes little.</a:t>
            </a:r>
          </a:p>
        </p:txBody>
      </p:sp>
      <p:sp>
        <p:nvSpPr>
          <p:cNvPr id="40" name="TextBox 39"/>
          <p:cNvSpPr txBox="1"/>
          <p:nvPr/>
        </p:nvSpPr>
        <p:spPr>
          <a:xfrm>
            <a:off x="8101583" y="2660904"/>
            <a:ext cx="832104" cy="210312"/>
          </a:xfrm>
          <a:prstGeom prst="rect">
            <a:avLst/>
          </a:prstGeom>
          <a:noFill/>
        </p:spPr>
        <p:txBody>
          <a:bodyPr wrap="square" lIns="0" rIns="0" tIns="0" bIns="0" anchor="t">
            <a:spAutoFit/>
          </a:bodyPr>
          <a:lstStyle/>
          <a:p>
            <a:pPr algn="l">
              <a:spcAft>
                <a:spcPts val="0"/>
              </a:spcAft>
            </a:pPr>
            <a:r>
              <a:rPr sz="1030" b="1" i="0">
                <a:solidFill>
                  <a:srgbClr val="2D6496"/>
                </a:solidFill>
                <a:latin typeface="Arial"/>
              </a:rPr>
              <a:t>Real rank</a:t>
            </a:r>
          </a:p>
        </p:txBody>
      </p:sp>
      <p:sp>
        <p:nvSpPr>
          <p:cNvPr id="41" name="TextBox 40"/>
          <p:cNvSpPr txBox="1"/>
          <p:nvPr/>
        </p:nvSpPr>
        <p:spPr>
          <a:xfrm>
            <a:off x="9418320" y="2660904"/>
            <a:ext cx="1106424" cy="210312"/>
          </a:xfrm>
          <a:prstGeom prst="rect">
            <a:avLst/>
          </a:prstGeom>
          <a:noFill/>
        </p:spPr>
        <p:txBody>
          <a:bodyPr wrap="square" lIns="0" rIns="0" tIns="0" bIns="0" anchor="t">
            <a:spAutoFit/>
          </a:bodyPr>
          <a:lstStyle/>
          <a:p>
            <a:pPr algn="l">
              <a:spcAft>
                <a:spcPts val="0"/>
              </a:spcAft>
            </a:pPr>
            <a:r>
              <a:rPr sz="1030" b="1" i="0">
                <a:solidFill>
                  <a:srgbClr val="D96552"/>
                </a:solidFill>
                <a:latin typeface="Arial"/>
              </a:rPr>
              <a:t>Generated rank</a:t>
            </a:r>
          </a:p>
        </p:txBody>
      </p:sp>
      <p:sp>
        <p:nvSpPr>
          <p:cNvPr id="42" name="TextBox 41"/>
          <p:cNvSpPr txBox="1"/>
          <p:nvPr/>
        </p:nvSpPr>
        <p:spPr>
          <a:xfrm>
            <a:off x="8083296" y="3044952"/>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A</a:t>
            </a:r>
          </a:p>
        </p:txBody>
      </p:sp>
      <p:sp>
        <p:nvSpPr>
          <p:cNvPr id="43" name="Rectangle 42"/>
          <p:cNvSpPr/>
          <p:nvPr/>
        </p:nvSpPr>
        <p:spPr>
          <a:xfrm>
            <a:off x="8833104" y="3136392"/>
            <a:ext cx="74066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21824" y="3136392"/>
            <a:ext cx="691286"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08208" y="3044952"/>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46" name="TextBox 45"/>
          <p:cNvSpPr txBox="1"/>
          <p:nvPr/>
        </p:nvSpPr>
        <p:spPr>
          <a:xfrm>
            <a:off x="8083296" y="3483864"/>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B</a:t>
            </a:r>
          </a:p>
        </p:txBody>
      </p:sp>
      <p:sp>
        <p:nvSpPr>
          <p:cNvPr id="47" name="Rectangle 46"/>
          <p:cNvSpPr/>
          <p:nvPr/>
        </p:nvSpPr>
        <p:spPr>
          <a:xfrm>
            <a:off x="8833104" y="3575304"/>
            <a:ext cx="683056"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21824" y="3575304"/>
            <a:ext cx="724204"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08208" y="3483864"/>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0" name="TextBox 49"/>
          <p:cNvSpPr txBox="1"/>
          <p:nvPr/>
        </p:nvSpPr>
        <p:spPr>
          <a:xfrm>
            <a:off x="8083296" y="3922776"/>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C</a:t>
            </a:r>
          </a:p>
        </p:txBody>
      </p:sp>
      <p:sp>
        <p:nvSpPr>
          <p:cNvPr id="51" name="Rectangle 50"/>
          <p:cNvSpPr/>
          <p:nvPr/>
        </p:nvSpPr>
        <p:spPr>
          <a:xfrm>
            <a:off x="8833104" y="4014215"/>
            <a:ext cx="641908"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21824" y="4014215"/>
            <a:ext cx="66659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08208" y="3922776"/>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4" name="TextBox 53"/>
          <p:cNvSpPr txBox="1"/>
          <p:nvPr/>
        </p:nvSpPr>
        <p:spPr>
          <a:xfrm>
            <a:off x="8083296" y="4361688"/>
            <a:ext cx="694944" cy="219456"/>
          </a:xfrm>
          <a:prstGeom prst="rect">
            <a:avLst/>
          </a:prstGeom>
          <a:noFill/>
        </p:spPr>
        <p:txBody>
          <a:bodyPr wrap="square" lIns="0" rIns="0" tIns="0" bIns="0" anchor="t">
            <a:spAutoFit/>
          </a:bodyPr>
          <a:lstStyle/>
          <a:p>
            <a:pPr algn="l">
              <a:spcAft>
                <a:spcPts val="0"/>
              </a:spcAft>
            </a:pPr>
            <a:r>
              <a:rPr sz="1019" b="0" i="0">
                <a:solidFill>
                  <a:srgbClr val="8A969E"/>
                </a:solidFill>
                <a:latin typeface="Arial"/>
              </a:rPr>
              <a:t>Gene D</a:t>
            </a:r>
          </a:p>
        </p:txBody>
      </p:sp>
      <p:sp>
        <p:nvSpPr>
          <p:cNvPr id="55" name="Rectangle 54"/>
          <p:cNvSpPr/>
          <p:nvPr/>
        </p:nvSpPr>
        <p:spPr>
          <a:xfrm>
            <a:off x="8833104" y="4453127"/>
            <a:ext cx="32918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021824" y="4453127"/>
            <a:ext cx="26334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08208" y="4361688"/>
            <a:ext cx="566928" cy="219456"/>
          </a:xfrm>
          <a:prstGeom prst="rect">
            <a:avLst/>
          </a:prstGeom>
          <a:noFill/>
        </p:spPr>
        <p:txBody>
          <a:bodyPr wrap="square" lIns="0" rIns="0" tIns="0" bIns="0" anchor="t">
            <a:spAutoFit/>
          </a:bodyPr>
          <a:lstStyle/>
          <a:p>
            <a:pPr algn="r">
              <a:spcAft>
                <a:spcPts val="0"/>
              </a:spcAft>
            </a:pPr>
            <a:r>
              <a:rPr sz="819" b="0" i="0">
                <a:solidFill>
                  <a:srgbClr val="8A969E"/>
                </a:solidFill>
                <a:latin typeface="Arial"/>
              </a:rPr>
              <a:t>not selected</a:t>
            </a:r>
          </a:p>
        </p:txBody>
      </p:sp>
      <p:sp>
        <p:nvSpPr>
          <p:cNvPr id="58" name="TextBox 57"/>
          <p:cNvSpPr txBox="1"/>
          <p:nvPr/>
        </p:nvSpPr>
        <p:spPr>
          <a:xfrm>
            <a:off x="8065008" y="4892040"/>
            <a:ext cx="3145536"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Repeated support keeps the correlated genes together as one panel.</a:t>
            </a:r>
          </a:p>
        </p:txBody>
      </p:sp>
      <p:sp>
        <p:nvSpPr>
          <p:cNvPr id="59" name="Rectangle 58"/>
          <p:cNvSpPr/>
          <p:nvPr/>
        </p:nvSpPr>
        <p:spPr>
          <a:xfrm>
            <a:off x="429768" y="5605272"/>
            <a:ext cx="11137392"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4944" y="5751576"/>
            <a:ext cx="10607040" cy="246888"/>
          </a:xfrm>
          <a:prstGeom prst="rect">
            <a:avLst/>
          </a:prstGeom>
          <a:noFill/>
        </p:spPr>
        <p:txBody>
          <a:bodyPr wrap="square" lIns="0" rIns="0" tIns="0" bIns="0" anchor="t">
            <a:spAutoFit/>
          </a:bodyPr>
          <a:lstStyle/>
          <a:p>
            <a:pPr algn="ctr">
              <a:spcAft>
                <a:spcPts val="0"/>
              </a:spcAft>
            </a:pPr>
            <a:r>
              <a:rPr sz="1250" b="1" i="0">
                <a:solidFill>
                  <a:srgbClr val="FFFFFF"/>
                </a:solidFill>
                <a:latin typeface="Arial"/>
              </a:rPr>
              <a:t>Low marginal importance means a gene was replaceable in this classifier; it does not make the gene or pathway biologically irrelevant.</a:t>
            </a:r>
          </a:p>
        </p:txBody>
      </p:sp>
      <p:sp>
        <p:nvSpPr>
          <p:cNvPr id="61" name="TextBox 6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explanation of permutation importance in a correlated expression feature space.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augmentation helped many tissues, but not all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One pooled classifier declined; tissue-specific real-plus-synthetic models were compared with fixed all-gene baselines.</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0" y="3977639"/>
            <a:ext cx="1188720" cy="256032"/>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Balanced accuracy</a:t>
            </a:r>
          </a:p>
        </p:txBody>
      </p:sp>
      <p:sp>
        <p:nvSpPr>
          <p:cNvPr id="10" name="Rectangle 9"/>
          <p:cNvSpPr/>
          <p:nvPr/>
        </p:nvSpPr>
        <p:spPr>
          <a:xfrm>
            <a:off x="1005840" y="54864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1005840" y="41148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1005840" y="27432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1042415"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3"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923543"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828800"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55648"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709928"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615184"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2032"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96312"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1005840" y="5486400"/>
            <a:ext cx="2304288"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Matched real + synthetic by tissue</a:t>
            </a:r>
          </a:p>
        </p:txBody>
      </p:sp>
      <p:pic>
        <p:nvPicPr>
          <p:cNvPr id="29" name="Balanced accuracy before and after matched real-plus-synthetic training" descr="Balanced accuracy before and after matched real-plus-synthetic training"/>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Teal passed all pooled and accession-macro metrics; coral did not.</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analysis on held-out real profiles from represented accessions; all arms use the same 974 genes and ridge setting.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and consensus analyses answer different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tests synthetic contribution; consensus ranking organizes compact correlated panels.</a:t>
            </a:r>
          </a:p>
        </p:txBody>
      </p:sp>
      <p:sp>
        <p:nvSpPr>
          <p:cNvPr id="7" name="TextBox 6"/>
          <p:cNvSpPr txBox="1"/>
          <p:nvPr/>
        </p:nvSpPr>
        <p:spPr>
          <a:xfrm>
            <a:off x="576072" y="1874519"/>
            <a:ext cx="5257800" cy="283464"/>
          </a:xfrm>
          <a:prstGeom prst="rect">
            <a:avLst/>
          </a:prstGeom>
          <a:noFill/>
        </p:spPr>
        <p:txBody>
          <a:bodyPr wrap="square" lIns="0" rIns="0" tIns="0" bIns="0" anchor="t">
            <a:spAutoFit/>
          </a:bodyPr>
          <a:lstStyle/>
          <a:p>
            <a:pPr algn="ctr">
              <a:spcAft>
                <a:spcPts val="0"/>
              </a:spcAft>
            </a:pPr>
            <a:r>
              <a:rPr sz="1600" b="1" i="0">
                <a:solidFill>
                  <a:srgbClr val="082B55"/>
                </a:solidFill>
                <a:latin typeface="Arial"/>
              </a:rPr>
              <a:t>BH-FDR tissue-gene associations</a:t>
            </a:r>
          </a:p>
        </p:txBody>
      </p:sp>
      <p:sp>
        <p:nvSpPr>
          <p:cNvPr id="8" name="Oval 7"/>
          <p:cNvSpPr/>
          <p:nvPr/>
        </p:nvSpPr>
        <p:spPr>
          <a:xfrm>
            <a:off x="658368" y="2395728"/>
            <a:ext cx="3456432" cy="2468880"/>
          </a:xfrm>
          <a:prstGeom prst="ellipse">
            <a:avLst/>
          </a:prstGeom>
          <a:solidFill>
            <a:srgbClr val="D96552">
              <a:alpha val="22000"/>
            </a:srgbClr>
          </a:solidFill>
          <a:ln w="3048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79192" y="2395728"/>
            <a:ext cx="3456432" cy="2468880"/>
          </a:xfrm>
          <a:prstGeom prst="ellipse">
            <a:avLst/>
          </a:prstGeom>
          <a:solidFill>
            <a:srgbClr val="2D6496">
              <a:alpha val="20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76272"/>
            <a:ext cx="1965960" cy="246888"/>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all-gene</a:t>
            </a:r>
          </a:p>
        </p:txBody>
      </p:sp>
      <p:sp>
        <p:nvSpPr>
          <p:cNvPr id="11" name="TextBox 10"/>
          <p:cNvSpPr txBox="1"/>
          <p:nvPr/>
        </p:nvSpPr>
        <p:spPr>
          <a:xfrm>
            <a:off x="4041648" y="2176272"/>
            <a:ext cx="1965960" cy="246888"/>
          </a:xfrm>
          <a:prstGeom prst="rect">
            <a:avLst/>
          </a:prstGeom>
          <a:noFill/>
        </p:spPr>
        <p:txBody>
          <a:bodyPr wrap="square" lIns="0" rIns="0" tIns="0" bIns="0" anchor="t">
            <a:spAutoFit/>
          </a:bodyPr>
          <a:lstStyle/>
          <a:p>
            <a:pPr algn="ctr">
              <a:spcAft>
                <a:spcPts val="0"/>
              </a:spcAft>
            </a:pPr>
            <a:r>
              <a:rPr sz="1220" b="1" i="0">
                <a:solidFill>
                  <a:srgbClr val="2D6496"/>
                </a:solidFill>
                <a:latin typeface="Arial"/>
              </a:rPr>
              <a:t>Consensus panels</a:t>
            </a:r>
          </a:p>
        </p:txBody>
      </p:sp>
      <p:sp>
        <p:nvSpPr>
          <p:cNvPr id="12" name="TextBox 11"/>
          <p:cNvSpPr txBox="1"/>
          <p:nvPr/>
        </p:nvSpPr>
        <p:spPr>
          <a:xfrm>
            <a:off x="1143000" y="3172968"/>
            <a:ext cx="1097280" cy="457200"/>
          </a:xfrm>
          <a:prstGeom prst="rect">
            <a:avLst/>
          </a:prstGeom>
          <a:noFill/>
        </p:spPr>
        <p:txBody>
          <a:bodyPr wrap="square" lIns="0" rIns="0" tIns="0" bIns="0" anchor="t">
            <a:spAutoFit/>
          </a:bodyPr>
          <a:lstStyle/>
          <a:p>
            <a:pPr algn="ctr">
              <a:spcAft>
                <a:spcPts val="0"/>
              </a:spcAft>
            </a:pPr>
            <a:r>
              <a:rPr sz="2900" b="1" i="0">
                <a:solidFill>
                  <a:srgbClr val="D96552"/>
                </a:solidFill>
                <a:latin typeface="Arial"/>
              </a:rPr>
              <a:t>10</a:t>
            </a:r>
          </a:p>
        </p:txBody>
      </p:sp>
      <p:sp>
        <p:nvSpPr>
          <p:cNvPr id="13" name="TextBox 12"/>
          <p:cNvSpPr txBox="1"/>
          <p:nvPr/>
        </p:nvSpPr>
        <p:spPr>
          <a:xfrm>
            <a:off x="1051560" y="3685032"/>
            <a:ext cx="128016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matched only</a:t>
            </a:r>
          </a:p>
        </p:txBody>
      </p:sp>
      <p:sp>
        <p:nvSpPr>
          <p:cNvPr id="14" name="TextBox 13"/>
          <p:cNvSpPr txBox="1"/>
          <p:nvPr/>
        </p:nvSpPr>
        <p:spPr>
          <a:xfrm>
            <a:off x="2834640" y="3172968"/>
            <a:ext cx="1097280" cy="457200"/>
          </a:xfrm>
          <a:prstGeom prst="rect">
            <a:avLst/>
          </a:prstGeom>
          <a:noFill/>
        </p:spPr>
        <p:txBody>
          <a:bodyPr wrap="square" lIns="0" rIns="0" tIns="0" bIns="0" anchor="t">
            <a:spAutoFit/>
          </a:bodyPr>
          <a:lstStyle/>
          <a:p>
            <a:pPr algn="ctr">
              <a:spcAft>
                <a:spcPts val="0"/>
              </a:spcAft>
            </a:pPr>
            <a:r>
              <a:rPr sz="2900" b="1" i="0">
                <a:solidFill>
                  <a:srgbClr val="082B55"/>
                </a:solidFill>
                <a:latin typeface="Arial"/>
              </a:rPr>
              <a:t>11</a:t>
            </a:r>
          </a:p>
        </p:txBody>
      </p:sp>
      <p:sp>
        <p:nvSpPr>
          <p:cNvPr id="15" name="TextBox 14"/>
          <p:cNvSpPr txBox="1"/>
          <p:nvPr/>
        </p:nvSpPr>
        <p:spPr>
          <a:xfrm>
            <a:off x="2834640" y="3685032"/>
            <a:ext cx="109728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both</a:t>
            </a:r>
          </a:p>
        </p:txBody>
      </p:sp>
      <p:sp>
        <p:nvSpPr>
          <p:cNvPr id="16" name="TextBox 15"/>
          <p:cNvSpPr txBox="1"/>
          <p:nvPr/>
        </p:nvSpPr>
        <p:spPr>
          <a:xfrm>
            <a:off x="4544568" y="3172968"/>
            <a:ext cx="1097280" cy="457200"/>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38</a:t>
            </a:r>
          </a:p>
        </p:txBody>
      </p:sp>
      <p:sp>
        <p:nvSpPr>
          <p:cNvPr id="17" name="TextBox 16"/>
          <p:cNvSpPr txBox="1"/>
          <p:nvPr/>
        </p:nvSpPr>
        <p:spPr>
          <a:xfrm>
            <a:off x="4398264" y="3685032"/>
            <a:ext cx="1389888"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consensus only</a:t>
            </a:r>
          </a:p>
        </p:txBody>
      </p:sp>
      <p:sp>
        <p:nvSpPr>
          <p:cNvPr id="18" name="TextBox 17"/>
          <p:cNvSpPr txBox="1"/>
          <p:nvPr/>
        </p:nvSpPr>
        <p:spPr>
          <a:xfrm>
            <a:off x="1435608" y="4617720"/>
            <a:ext cx="1417320" cy="256032"/>
          </a:xfrm>
          <a:prstGeom prst="rect">
            <a:avLst/>
          </a:prstGeom>
          <a:noFill/>
        </p:spPr>
        <p:txBody>
          <a:bodyPr wrap="square" lIns="0" rIns="0" tIns="0" bIns="0" anchor="t">
            <a:spAutoFit/>
          </a:bodyPr>
          <a:lstStyle/>
          <a:p>
            <a:pPr algn="ctr">
              <a:spcAft>
                <a:spcPts val="0"/>
              </a:spcAft>
            </a:pPr>
            <a:r>
              <a:rPr sz="1200" b="1" i="0">
                <a:solidFill>
                  <a:srgbClr val="D96552"/>
                </a:solidFill>
                <a:latin typeface="Arial"/>
              </a:rPr>
              <a:t>21 total</a:t>
            </a:r>
          </a:p>
        </p:txBody>
      </p:sp>
      <p:sp>
        <p:nvSpPr>
          <p:cNvPr id="19" name="TextBox 18"/>
          <p:cNvSpPr txBox="1"/>
          <p:nvPr/>
        </p:nvSpPr>
        <p:spPr>
          <a:xfrm>
            <a:off x="3950208" y="4617720"/>
            <a:ext cx="1417320" cy="256032"/>
          </a:xfrm>
          <a:prstGeom prst="rect">
            <a:avLst/>
          </a:prstGeom>
          <a:noFill/>
        </p:spPr>
        <p:txBody>
          <a:bodyPr wrap="square" lIns="0" rIns="0" tIns="0" bIns="0" anchor="t">
            <a:spAutoFit/>
          </a:bodyPr>
          <a:lstStyle/>
          <a:p>
            <a:pPr algn="ctr">
              <a:spcAft>
                <a:spcPts val="0"/>
              </a:spcAft>
            </a:pPr>
            <a:r>
              <a:rPr sz="1200" b="1" i="0">
                <a:solidFill>
                  <a:srgbClr val="2D6496"/>
                </a:solidFill>
                <a:latin typeface="Arial"/>
              </a:rPr>
              <a:t>49 total</a:t>
            </a:r>
          </a:p>
        </p:txBody>
      </p:sp>
      <p:sp>
        <p:nvSpPr>
          <p:cNvPr id="20" name="Rectangle 19"/>
          <p:cNvSpPr/>
          <p:nvPr/>
        </p:nvSpPr>
        <p:spPr>
          <a:xfrm>
            <a:off x="6492240" y="1874519"/>
            <a:ext cx="13716" cy="402336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1984248"/>
            <a:ext cx="4663440" cy="96926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2148840"/>
            <a:ext cx="91440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PRIMARY</a:t>
            </a:r>
          </a:p>
        </p:txBody>
      </p:sp>
      <p:sp>
        <p:nvSpPr>
          <p:cNvPr id="23" name="TextBox 22"/>
          <p:cNvSpPr txBox="1"/>
          <p:nvPr/>
        </p:nvSpPr>
        <p:spPr>
          <a:xfrm>
            <a:off x="8074152" y="2112264"/>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Matched all-gene</a:t>
            </a:r>
          </a:p>
        </p:txBody>
      </p:sp>
      <p:sp>
        <p:nvSpPr>
          <p:cNvPr id="24" name="TextBox 23"/>
          <p:cNvSpPr txBox="1"/>
          <p:nvPr/>
        </p:nvSpPr>
        <p:spPr>
          <a:xfrm>
            <a:off x="7022592" y="2450591"/>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Same genes and classifier; asks whether training source changes held-out-real utility or importance.</a:t>
            </a:r>
          </a:p>
        </p:txBody>
      </p:sp>
      <p:sp>
        <p:nvSpPr>
          <p:cNvPr id="25" name="Rectangle 24"/>
          <p:cNvSpPr/>
          <p:nvPr/>
        </p:nvSpPr>
        <p:spPr>
          <a:xfrm>
            <a:off x="6784848" y="3200400"/>
            <a:ext cx="4663440" cy="96926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364992"/>
            <a:ext cx="914400" cy="21031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SECONDARY</a:t>
            </a:r>
          </a:p>
        </p:txBody>
      </p:sp>
      <p:sp>
        <p:nvSpPr>
          <p:cNvPr id="27" name="TextBox 26"/>
          <p:cNvSpPr txBox="1"/>
          <p:nvPr/>
        </p:nvSpPr>
        <p:spPr>
          <a:xfrm>
            <a:off x="8074152" y="3328416"/>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Consensus panel</a:t>
            </a:r>
          </a:p>
        </p:txBody>
      </p:sp>
      <p:sp>
        <p:nvSpPr>
          <p:cNvPr id="28" name="TextBox 27"/>
          <p:cNvSpPr txBox="1"/>
          <p:nvPr/>
        </p:nvSpPr>
        <p:spPr>
          <a:xfrm>
            <a:off x="7022592" y="3666744"/>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Ranks compact top-k panels; preserves groups of correlated genes that can replace one another.</a:t>
            </a:r>
          </a:p>
        </p:txBody>
      </p:sp>
      <p:sp>
        <p:nvSpPr>
          <p:cNvPr id="29" name="Rectangle 28"/>
          <p:cNvSpPr/>
          <p:nvPr/>
        </p:nvSpPr>
        <p:spPr>
          <a:xfrm>
            <a:off x="6784848" y="4416552"/>
            <a:ext cx="4663440" cy="96926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581144"/>
            <a:ext cx="914400" cy="210312"/>
          </a:xfrm>
          <a:prstGeom prst="rect">
            <a:avLst/>
          </a:prstGeom>
          <a:noFill/>
        </p:spPr>
        <p:txBody>
          <a:bodyPr wrap="square" lIns="0" rIns="0" tIns="0" bIns="0" anchor="t">
            <a:spAutoFit/>
          </a:bodyPr>
          <a:lstStyle/>
          <a:p>
            <a:pPr algn="l">
              <a:spcAft>
                <a:spcPts val="0"/>
              </a:spcAft>
            </a:pPr>
            <a:r>
              <a:rPr sz="919" b="1" i="0">
                <a:solidFill>
                  <a:srgbClr val="178681"/>
                </a:solidFill>
                <a:latin typeface="Arial"/>
              </a:rPr>
              <a:t>SHARED</a:t>
            </a:r>
          </a:p>
        </p:txBody>
      </p:sp>
      <p:sp>
        <p:nvSpPr>
          <p:cNvPr id="31" name="TextBox 30"/>
          <p:cNvSpPr txBox="1"/>
          <p:nvPr/>
        </p:nvSpPr>
        <p:spPr>
          <a:xfrm>
            <a:off x="8074152" y="4544568"/>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Real association gate</a:t>
            </a:r>
          </a:p>
        </p:txBody>
      </p:sp>
      <p:sp>
        <p:nvSpPr>
          <p:cNvPr id="32" name="TextBox 31"/>
          <p:cNvSpPr txBox="1"/>
          <p:nvPr/>
        </p:nvSpPr>
        <p:spPr>
          <a:xfrm>
            <a:off x="7022592" y="4882896"/>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FLT-GC effects and BH FDR are estimated from observed OSDR profiles only.</a:t>
            </a:r>
          </a:p>
        </p:txBody>
      </p:sp>
      <p:sp>
        <p:nvSpPr>
          <p:cNvPr id="33" name="Rectangle 32"/>
          <p:cNvSpPr/>
          <p:nvPr/>
        </p:nvSpPr>
        <p:spPr>
          <a:xfrm>
            <a:off x="530352" y="5367528"/>
            <a:ext cx="10991088" cy="585216"/>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32120"/>
            <a:ext cx="10497312" cy="256032"/>
          </a:xfrm>
          <a:prstGeom prst="rect">
            <a:avLst/>
          </a:prstGeom>
          <a:noFill/>
        </p:spPr>
        <p:txBody>
          <a:bodyPr wrap="square" lIns="0" rIns="0" tIns="0" bIns="0" anchor="t">
            <a:spAutoFit/>
          </a:bodyPr>
          <a:lstStyle/>
          <a:p>
            <a:pPr algn="ctr">
              <a:spcAft>
                <a:spcPts val="0"/>
              </a:spcAft>
            </a:pPr>
            <a:r>
              <a:rPr sz="1350" b="1" i="0">
                <a:solidFill>
                  <a:srgbClr val="FFFFFF"/>
                </a:solidFill>
                <a:latin typeface="Arial"/>
              </a:rPr>
              <a:t>Thymus is strongest because matched importance and the consensus cell-cycle panel converge.</a:t>
            </a:r>
          </a:p>
        </p:txBody>
      </p:sp>
      <p:sp>
        <p:nvSpPr>
          <p:cNvPr id="35" name="TextBox 3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Crosswalk: 21 matched associations, 49 consensus associations, and 11 supported by both analyses.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secondary consensus associations received a selection status and an independent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matched screen covered all 27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Predictive utility and gene-level support are separate outcomes.</a:t>
            </a:r>
          </a:p>
        </p:txBody>
      </p:sp>
      <p:sp>
        <p:nvSpPr>
          <p:cNvPr id="7" name="Rectangle 6"/>
          <p:cNvSpPr/>
          <p:nvPr/>
        </p:nvSpPr>
        <p:spPr>
          <a:xfrm>
            <a:off x="393192" y="1865376"/>
            <a:ext cx="3337560"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D96552"/>
                </a:solidFill>
                <a:latin typeface="Arial"/>
              </a:rPr>
              <a:t>4</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Matched genes</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Utility passed + BH-FDR gene importance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65041"/>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Liver</a:t>
            </a:r>
          </a:p>
        </p:txBody>
      </p:sp>
      <p:sp>
        <p:nvSpPr>
          <p:cNvPr id="15" name="Rectangle 14"/>
          <p:cNvSpPr/>
          <p:nvPr/>
        </p:nvSpPr>
        <p:spPr>
          <a:xfrm>
            <a:off x="420623" y="4094226"/>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50208"/>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Skin</a:t>
            </a:r>
          </a:p>
        </p:txBody>
      </p:sp>
      <p:sp>
        <p:nvSpPr>
          <p:cNvPr id="17" name="Rectangle 16"/>
          <p:cNvSpPr/>
          <p:nvPr/>
        </p:nvSpPr>
        <p:spPr>
          <a:xfrm>
            <a:off x="420623" y="4423409"/>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279392"/>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Spleen</a:t>
            </a:r>
          </a:p>
        </p:txBody>
      </p:sp>
      <p:sp>
        <p:nvSpPr>
          <p:cNvPr id="19" name="Rectangle 18"/>
          <p:cNvSpPr/>
          <p:nvPr/>
        </p:nvSpPr>
        <p:spPr>
          <a:xfrm>
            <a:off x="420623" y="4752594"/>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608576"/>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Thymus</a:t>
            </a:r>
          </a:p>
        </p:txBody>
      </p:sp>
      <p:sp>
        <p:nvSpPr>
          <p:cNvPr id="21" name="Rectangle 20"/>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05656"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14</a:t>
            </a:r>
          </a:p>
        </p:txBody>
      </p:sp>
      <p:sp>
        <p:nvSpPr>
          <p:cNvPr id="24" name="TextBox 23"/>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Utility only</a:t>
            </a:r>
          </a:p>
        </p:txBody>
      </p:sp>
      <p:sp>
        <p:nvSpPr>
          <p:cNvPr id="25" name="TextBox 24"/>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metrics passed; no retained gene</a:t>
            </a:r>
          </a:p>
        </p:txBody>
      </p:sp>
      <p:sp>
        <p:nvSpPr>
          <p:cNvPr id="26" name="Rectangle 25"/>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28" name="Rectangle 27"/>
          <p:cNvSpPr/>
          <p:nvPr/>
        </p:nvSpPr>
        <p:spPr>
          <a:xfrm>
            <a:off x="4133088" y="367948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62102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EDL</a:t>
            </a:r>
          </a:p>
        </p:txBody>
      </p:sp>
      <p:sp>
        <p:nvSpPr>
          <p:cNvPr id="30" name="Rectangle 29"/>
          <p:cNvSpPr/>
          <p:nvPr/>
        </p:nvSpPr>
        <p:spPr>
          <a:xfrm>
            <a:off x="4133088" y="383754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34256" y="377908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Adrenal Gland</a:t>
            </a:r>
          </a:p>
        </p:txBody>
      </p:sp>
      <p:sp>
        <p:nvSpPr>
          <p:cNvPr id="32" name="Rectangle 31"/>
          <p:cNvSpPr/>
          <p:nvPr/>
        </p:nvSpPr>
        <p:spPr>
          <a:xfrm>
            <a:off x="4133088" y="39956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34256" y="393714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Bone Marrow</a:t>
            </a:r>
          </a:p>
        </p:txBody>
      </p:sp>
      <p:sp>
        <p:nvSpPr>
          <p:cNvPr id="34" name="Rectangle 33"/>
          <p:cNvSpPr/>
          <p:nvPr/>
        </p:nvSpPr>
        <p:spPr>
          <a:xfrm>
            <a:off x="4133088" y="415366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409520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Brain</a:t>
            </a:r>
          </a:p>
        </p:txBody>
      </p:sp>
      <p:sp>
        <p:nvSpPr>
          <p:cNvPr id="36" name="Rectangle 35"/>
          <p:cNvSpPr/>
          <p:nvPr/>
        </p:nvSpPr>
        <p:spPr>
          <a:xfrm>
            <a:off x="4133088" y="431172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34256" y="425326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Brown adipose tissue</a:t>
            </a:r>
          </a:p>
        </p:txBody>
      </p:sp>
      <p:sp>
        <p:nvSpPr>
          <p:cNvPr id="38" name="Rectangle 37"/>
          <p:cNvSpPr/>
          <p:nvPr/>
        </p:nvSpPr>
        <p:spPr>
          <a:xfrm>
            <a:off x="4133088" y="446978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441132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Cerebellum</a:t>
            </a:r>
          </a:p>
        </p:txBody>
      </p:sp>
      <p:sp>
        <p:nvSpPr>
          <p:cNvPr id="40" name="Rectangle 39"/>
          <p:cNvSpPr/>
          <p:nvPr/>
        </p:nvSpPr>
        <p:spPr>
          <a:xfrm>
            <a:off x="4133088" y="462784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4569387"/>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Colon</a:t>
            </a:r>
          </a:p>
        </p:txBody>
      </p:sp>
      <p:sp>
        <p:nvSpPr>
          <p:cNvPr id="42" name="Rectangle 41"/>
          <p:cNvSpPr/>
          <p:nvPr/>
        </p:nvSpPr>
        <p:spPr>
          <a:xfrm>
            <a:off x="4133088" y="478590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72744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Eye</a:t>
            </a:r>
          </a:p>
        </p:txBody>
      </p:sp>
      <p:sp>
        <p:nvSpPr>
          <p:cNvPr id="44" name="Rectangle 43"/>
          <p:cNvSpPr/>
          <p:nvPr/>
        </p:nvSpPr>
        <p:spPr>
          <a:xfrm>
            <a:off x="4133088" y="494396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88550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Lung</a:t>
            </a:r>
          </a:p>
        </p:txBody>
      </p:sp>
      <p:sp>
        <p:nvSpPr>
          <p:cNvPr id="46" name="Rectangle 45"/>
          <p:cNvSpPr/>
          <p:nvPr/>
        </p:nvSpPr>
        <p:spPr>
          <a:xfrm>
            <a:off x="4133088" y="510202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504356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Mammary Gland</a:t>
            </a:r>
          </a:p>
        </p:txBody>
      </p:sp>
      <p:sp>
        <p:nvSpPr>
          <p:cNvPr id="48" name="Rectangle 47"/>
          <p:cNvSpPr/>
          <p:nvPr/>
        </p:nvSpPr>
        <p:spPr>
          <a:xfrm>
            <a:off x="4133088"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520162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Optic Nerve</a:t>
            </a:r>
          </a:p>
        </p:txBody>
      </p:sp>
      <p:sp>
        <p:nvSpPr>
          <p:cNvPr id="50" name="Rectangle 49"/>
          <p:cNvSpPr/>
          <p:nvPr/>
        </p:nvSpPr>
        <p:spPr>
          <a:xfrm>
            <a:off x="4133088" y="54181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5969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Retina</a:t>
            </a:r>
          </a:p>
        </p:txBody>
      </p:sp>
      <p:sp>
        <p:nvSpPr>
          <p:cNvPr id="52" name="Rectangle 51"/>
          <p:cNvSpPr/>
          <p:nvPr/>
        </p:nvSpPr>
        <p:spPr>
          <a:xfrm>
            <a:off x="4133088" y="557620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551775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Skeletal muscle (pooled)</a:t>
            </a:r>
          </a:p>
        </p:txBody>
      </p:sp>
      <p:sp>
        <p:nvSpPr>
          <p:cNvPr id="54" name="Rectangle 53"/>
          <p:cNvSpPr/>
          <p:nvPr/>
        </p:nvSpPr>
        <p:spPr>
          <a:xfrm>
            <a:off x="4133088" y="573426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34256" y="5675811"/>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White adipose tissue</a:t>
            </a:r>
          </a:p>
        </p:txBody>
      </p:sp>
      <p:sp>
        <p:nvSpPr>
          <p:cNvPr id="56" name="Rectangle 55"/>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818120"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9</a:t>
            </a:r>
          </a:p>
        </p:txBody>
      </p:sp>
      <p:sp>
        <p:nvSpPr>
          <p:cNvPr id="59" name="TextBox 58"/>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Gate not passed</a:t>
            </a:r>
          </a:p>
        </p:txBody>
      </p:sp>
      <p:sp>
        <p:nvSpPr>
          <p:cNvPr id="60" name="TextBox 59"/>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At least one mean metric was worse</a:t>
            </a:r>
          </a:p>
        </p:txBody>
      </p:sp>
      <p:sp>
        <p:nvSpPr>
          <p:cNvPr id="61" name="Rectangle 60"/>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3" name="Rectangle 62"/>
          <p:cNvSpPr/>
          <p:nvPr/>
        </p:nvSpPr>
        <p:spPr>
          <a:xfrm>
            <a:off x="7845552" y="372338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362102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Gastrocnemius</a:t>
            </a:r>
          </a:p>
        </p:txBody>
      </p:sp>
      <p:sp>
        <p:nvSpPr>
          <p:cNvPr id="65" name="Rectangle 64"/>
          <p:cNvSpPr/>
          <p:nvPr/>
        </p:nvSpPr>
        <p:spPr>
          <a:xfrm>
            <a:off x="7845552" y="396925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386689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Quadriceps</a:t>
            </a:r>
          </a:p>
        </p:txBody>
      </p:sp>
      <p:sp>
        <p:nvSpPr>
          <p:cNvPr id="67" name="Rectangle 66"/>
          <p:cNvSpPr/>
          <p:nvPr/>
        </p:nvSpPr>
        <p:spPr>
          <a:xfrm>
            <a:off x="7845552" y="421512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112767"/>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Soleus</a:t>
            </a:r>
          </a:p>
        </p:txBody>
      </p:sp>
      <p:sp>
        <p:nvSpPr>
          <p:cNvPr id="69" name="Rectangle 68"/>
          <p:cNvSpPr/>
          <p:nvPr/>
        </p:nvSpPr>
        <p:spPr>
          <a:xfrm>
            <a:off x="7845552" y="4461002"/>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35864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Tibialis Anterior</a:t>
            </a:r>
          </a:p>
        </p:txBody>
      </p:sp>
      <p:sp>
        <p:nvSpPr>
          <p:cNvPr id="71" name="Rectangle 70"/>
          <p:cNvSpPr/>
          <p:nvPr/>
        </p:nvSpPr>
        <p:spPr>
          <a:xfrm>
            <a:off x="7845552" y="470687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604512"/>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Bone</a:t>
            </a:r>
          </a:p>
        </p:txBody>
      </p:sp>
      <p:sp>
        <p:nvSpPr>
          <p:cNvPr id="73" name="Rectangle 72"/>
          <p:cNvSpPr/>
          <p:nvPr/>
        </p:nvSpPr>
        <p:spPr>
          <a:xfrm>
            <a:off x="7845552" y="495274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485038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Cecum</a:t>
            </a:r>
          </a:p>
        </p:txBody>
      </p:sp>
      <p:sp>
        <p:nvSpPr>
          <p:cNvPr id="75" name="Rectangle 74"/>
          <p:cNvSpPr/>
          <p:nvPr/>
        </p:nvSpPr>
        <p:spPr>
          <a:xfrm>
            <a:off x="7845552" y="519861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09625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Heart</a:t>
            </a:r>
          </a:p>
        </p:txBody>
      </p:sp>
      <p:sp>
        <p:nvSpPr>
          <p:cNvPr id="77" name="Rectangle 76"/>
          <p:cNvSpPr/>
          <p:nvPr/>
        </p:nvSpPr>
        <p:spPr>
          <a:xfrm>
            <a:off x="7845552" y="5444490"/>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342128"/>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Hippocampus</a:t>
            </a:r>
          </a:p>
        </p:txBody>
      </p:sp>
      <p:sp>
        <p:nvSpPr>
          <p:cNvPr id="79" name="Rectangle 78"/>
          <p:cNvSpPr/>
          <p:nvPr/>
        </p:nvSpPr>
        <p:spPr>
          <a:xfrm>
            <a:off x="7845552" y="569036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58800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Kidney</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Real-plus-synthetic matched arm across 22 canonical tissues and five anatomical muscle groups.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SECONDARY CONSENSUS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consensus-selected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consensus ranking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set: rows report FLT direction and selection status; gene color independently reports literature interpretation.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is strongest across both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supports synthetic contribution; consensus ranking expands the correlated cell-cycle panel.</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075688"/>
            <a:ext cx="2697480" cy="210312"/>
          </a:xfrm>
          <a:prstGeom prst="rect">
            <a:avLst/>
          </a:prstGeom>
          <a:noFill/>
        </p:spPr>
        <p:txBody>
          <a:bodyPr wrap="square" lIns="0" rIns="0" tIns="0" bIns="0" anchor="t">
            <a:spAutoFit/>
          </a:bodyPr>
          <a:lstStyle/>
          <a:p>
            <a:pPr algn="l">
              <a:spcAft>
                <a:spcPts val="0"/>
              </a:spcAft>
            </a:pPr>
            <a:r>
              <a:rPr sz="950" b="1" i="0">
                <a:solidFill>
                  <a:srgbClr val="D96552"/>
                </a:solidFill>
                <a:latin typeface="Arial"/>
              </a:rPr>
              <a:t>MATCHED ALL-GENE</a:t>
            </a:r>
          </a:p>
        </p:txBody>
      </p:sp>
      <p:sp>
        <p:nvSpPr>
          <p:cNvPr id="10" name="TextBox 9"/>
          <p:cNvSpPr txBox="1"/>
          <p:nvPr/>
        </p:nvSpPr>
        <p:spPr>
          <a:xfrm>
            <a:off x="8622792" y="2340864"/>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15</a:t>
            </a:r>
          </a:p>
        </p:txBody>
      </p:sp>
      <p:sp>
        <p:nvSpPr>
          <p:cNvPr id="11" name="TextBox 10"/>
          <p:cNvSpPr txBox="1"/>
          <p:nvPr/>
        </p:nvSpPr>
        <p:spPr>
          <a:xfrm>
            <a:off x="9491472" y="2359152"/>
            <a:ext cx="1938528" cy="566928"/>
          </a:xfrm>
          <a:prstGeom prst="rect">
            <a:avLst/>
          </a:prstGeom>
          <a:noFill/>
        </p:spPr>
        <p:txBody>
          <a:bodyPr wrap="square" lIns="18288" rIns="18288" tIns="18288" bIns="18288" anchor="t">
            <a:spAutoFit/>
          </a:bodyPr>
          <a:lstStyle/>
          <a:p>
            <a:pPr algn="l">
              <a:spcAft>
                <a:spcPts val="0"/>
              </a:spcAft>
            </a:pPr>
            <a:r>
              <a:rPr sz="1270" b="1" i="0">
                <a:solidFill>
                  <a:srgbClr val="263746"/>
                </a:solidFill>
                <a:latin typeface="Arial"/>
              </a:rPr>
              <a:t>BH-FDR genes with
synthetic-supported importance</a:t>
            </a:r>
          </a:p>
        </p:txBody>
      </p:sp>
      <p:sp>
        <p:nvSpPr>
          <p:cNvPr id="12" name="TextBox 11"/>
          <p:cNvSpPr txBox="1"/>
          <p:nvPr/>
        </p:nvSpPr>
        <p:spPr>
          <a:xfrm>
            <a:off x="8631936" y="3054096"/>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7 promoted | 8 shared</a:t>
            </a:r>
          </a:p>
        </p:txBody>
      </p:sp>
      <p:sp>
        <p:nvSpPr>
          <p:cNvPr id="13" name="Oval 12"/>
          <p:cNvSpPr/>
          <p:nvPr/>
        </p:nvSpPr>
        <p:spPr>
          <a:xfrm>
            <a:off x="8631936" y="3538728"/>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4815" y="3447288"/>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26 significant Reactome terms; mitotic cell cycle leads</a:t>
            </a:r>
          </a:p>
        </p:txBody>
      </p:sp>
      <p:sp>
        <p:nvSpPr>
          <p:cNvPr id="15" name="Oval 14"/>
          <p:cNvSpPr/>
          <p:nvPr/>
        </p:nvSpPr>
        <p:spPr>
          <a:xfrm>
            <a:off x="8631936" y="4096511"/>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14815" y="4005072"/>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Nine genes overlap the 16-gene consensus panel</a:t>
            </a:r>
          </a:p>
        </p:txBody>
      </p:sp>
      <p:sp>
        <p:nvSpPr>
          <p:cNvPr id="17" name="Oval 16"/>
          <p:cNvSpPr/>
          <p:nvPr/>
        </p:nvSpPr>
        <p:spPr>
          <a:xfrm>
            <a:off x="8631936" y="465429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4815" y="4562856"/>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Consensus adds correlated Cdk1, Top2a, Aurka, Ccne2, Pcna and Ccnf</a:t>
            </a:r>
          </a:p>
        </p:txBody>
      </p:sp>
      <p:sp>
        <p:nvSpPr>
          <p:cNvPr id="19" name="Oval 18"/>
          <p:cNvSpPr/>
          <p:nvPr/>
        </p:nvSpPr>
        <p:spPr>
          <a:xfrm>
            <a:off x="8631936" y="521207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14815" y="5120640"/>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Lower mitotic renewal or fewer cycling thymocytes in flight</a:t>
            </a:r>
          </a:p>
        </p:txBody>
      </p:sp>
      <p:sp>
        <p:nvSpPr>
          <p:cNvPr id="21" name="TextBox 2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Figure shows the secondary consensus panel; matched genes and Reactome crosswalk are in Tables S19-S20. Context: Gridley et al. (2013); Horie et al.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is a coherent secondary consensus result</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five-gene program is biologically interpretable, but the matched all-gene gate did not pass.</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25128" y="2103120"/>
            <a:ext cx="2532888" cy="566928"/>
          </a:xfrm>
          <a:prstGeom prst="rect">
            <a:avLst/>
          </a:prstGeom>
          <a:noFill/>
        </p:spPr>
        <p:txBody>
          <a:bodyPr wrap="square" lIns="18288" rIns="18288" tIns="18288" bIns="18288" anchor="t">
            <a:spAutoFit/>
          </a:bodyPr>
          <a:lstStyle/>
          <a:p>
            <a:pPr algn="ctr">
              <a:spcAft>
                <a:spcPts val="0"/>
              </a:spcAft>
            </a:pPr>
            <a:r>
              <a:rPr sz="1700" b="1" i="0">
                <a:solidFill>
                  <a:srgbClr val="178681"/>
                </a:solidFill>
                <a:latin typeface="Arial"/>
              </a:rPr>
              <a:t>5-gene consensus panel</a:t>
            </a:r>
          </a:p>
        </p:txBody>
      </p:sp>
      <p:sp>
        <p:nvSpPr>
          <p:cNvPr id="10" name="TextBox 9"/>
          <p:cNvSpPr txBox="1"/>
          <p:nvPr/>
        </p:nvSpPr>
        <p:spPr>
          <a:xfrm>
            <a:off x="9052560" y="2706624"/>
            <a:ext cx="2468880" cy="329184"/>
          </a:xfrm>
          <a:prstGeom prst="rect">
            <a:avLst/>
          </a:prstGeom>
          <a:noFill/>
        </p:spPr>
        <p:txBody>
          <a:bodyPr wrap="square" lIns="18288" rIns="18288" tIns="18288" bIns="18288" anchor="t">
            <a:spAutoFit/>
          </a:bodyPr>
          <a:lstStyle/>
          <a:p>
            <a:pPr algn="ctr">
              <a:spcAft>
                <a:spcPts val="0"/>
              </a:spcAft>
            </a:pPr>
            <a:r>
              <a:rPr sz="1080" b="0" i="0">
                <a:solidFill>
                  <a:srgbClr val="59697A"/>
                </a:solidFill>
                <a:latin typeface="Arial"/>
              </a:rPr>
              <a:t>reinforced in real and consensus rankings</a:t>
            </a:r>
          </a:p>
        </p:txBody>
      </p:sp>
      <p:sp>
        <p:nvSpPr>
          <p:cNvPr id="11" name="Rectangle 10"/>
          <p:cNvSpPr/>
          <p:nvPr/>
        </p:nvSpPr>
        <p:spPr>
          <a:xfrm>
            <a:off x="9070848" y="3099816"/>
            <a:ext cx="2423160" cy="676656"/>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3200400"/>
            <a:ext cx="2103120" cy="228600"/>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gate not passed</a:t>
            </a:r>
          </a:p>
        </p:txBody>
      </p:sp>
      <p:sp>
        <p:nvSpPr>
          <p:cNvPr id="13" name="TextBox 12"/>
          <p:cNvSpPr txBox="1"/>
          <p:nvPr/>
        </p:nvSpPr>
        <p:spPr>
          <a:xfrm>
            <a:off x="9171432" y="3465576"/>
            <a:ext cx="2231136" cy="182880"/>
          </a:xfrm>
          <a:prstGeom prst="rect">
            <a:avLst/>
          </a:prstGeom>
          <a:noFill/>
        </p:spPr>
        <p:txBody>
          <a:bodyPr wrap="square" lIns="0" rIns="0" tIns="0" bIns="0" anchor="t">
            <a:spAutoFit/>
          </a:bodyPr>
          <a:lstStyle/>
          <a:p>
            <a:pPr algn="ctr">
              <a:spcAft>
                <a:spcPts val="0"/>
              </a:spcAft>
            </a:pPr>
            <a:r>
              <a:rPr sz="850" b="0" i="0">
                <a:solidFill>
                  <a:srgbClr val="263746"/>
                </a:solidFill>
                <a:latin typeface="Arial"/>
              </a:rPr>
              <a:t>BA +0.013 | AUROC -0.015 | AP -0.009</a:t>
            </a:r>
          </a:p>
        </p:txBody>
      </p:sp>
      <p:sp>
        <p:nvSpPr>
          <p:cNvPr id="14" name="Oval 13"/>
          <p:cNvSpPr/>
          <p:nvPr/>
        </p:nvSpPr>
        <p:spPr>
          <a:xfrm>
            <a:off x="9089136" y="403250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41063"/>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Lower Bdh1, Ech1, Bnip3 and Decr1</a:t>
            </a:r>
          </a:p>
        </p:txBody>
      </p:sp>
      <p:sp>
        <p:nvSpPr>
          <p:cNvPr id="16" name="Oval 15"/>
          <p:cNvSpPr/>
          <p:nvPr/>
        </p:nvSpPr>
        <p:spPr>
          <a:xfrm>
            <a:off x="9089136" y="450799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416552"/>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Higher Tpm1</a:t>
            </a:r>
          </a:p>
        </p:txBody>
      </p:sp>
      <p:sp>
        <p:nvSpPr>
          <p:cNvPr id="18" name="Oval 17"/>
          <p:cNvSpPr/>
          <p:nvPr/>
        </p:nvSpPr>
        <p:spPr>
          <a:xfrm>
            <a:off x="9089136" y="4983479"/>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4892040"/>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Mitochondrial turnover and fatty-acid metabolism</a:t>
            </a:r>
          </a:p>
        </p:txBody>
      </p:sp>
      <p:sp>
        <p:nvSpPr>
          <p:cNvPr id="20" name="Oval 19"/>
          <p:cNvSpPr/>
          <p:nvPr/>
        </p:nvSpPr>
        <p:spPr>
          <a:xfrm>
            <a:off x="9089136" y="545896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2015" y="5367527"/>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Panel-level hypothesis, not matched synthetic contribution</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MATCHED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Liver, skin and spleen add narrower gene-level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Pooled muscle improves prediction, while its gene panel remains secondary consensus evidence.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Evidence</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Liver</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Grb10, Ppic, H2-DMa, Gtf2a2</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 retained panel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Four shared-importance candidates; no significant Reactome set enrichment.</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Skin</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 plus broader selected pathways</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Matched and consensus support the same gene; broader cell-cycle and DNA-repair context is panel-level.</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 Rai14, Ptprk, Myl9</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Loxl1 is the matched anchor; the four-gene adhesion and cytoskeletal panel is tentative.</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Pooled muscle</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All six metrics passed; no gene passed the full gate</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12-gene interferon and sialic-acid panel</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Predictive utility is matched; individual gene interpretation comes from the secondary consensus analysis.</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genes pass real-data BH FDR and synthetic-supported marginal importance; consensus rows provide secondary panel context.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CONSENSUS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Several narrower panels did not pass the matched gene gate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remain tissue-specific hypotheses from the secondary ranking analysis.</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Kidney</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results and independent literature annotations are reported in Tables S10 and S16.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Use matched tests for contribution; consensus for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classifiers test utility; consensus ranking explains correlated programs; biological claims still use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Test</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Matched real-plus-synthetic classifiers passed all six metric checks in 18 of 27 tissue analyses and retained 21 BH-FDR associations.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Consensus ranking recovered broader correlated panels. Thymus was strongest across both analyses; soleus remained secondary.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