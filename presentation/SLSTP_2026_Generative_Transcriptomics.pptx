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 id="310" r:id="rId34"/>
    <p:sldId id="311" r:id="rId35"/>
    <p:sldId id="312" r:id="rId36"/>
    <p:sldId id="313"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This project uses machine learning to study mouse bulk RNA-seq from NASA spaceflight experiments. The first model asks which pathways change. The second asks whether realistic synthetic profiles can improve a tissue-specific FLT versus GC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Both parts begin with the same OSDR flight and ground-control data. expiMap organizes expression into interpretable Reactome programs. The generative pipeline models the expression distribution and then tests whether generated profiles improve classification and gene ranking.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An autoencoder takes a high-dimensional gene-expression profile, compresses it into a small set of latent variables, and reconstructs the original profile. Nearby points in latent space have similar expression. In a standard autoencoder those axes may have no clear biological meaning. expiMap constrains them with known gene programs.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For each tissue, ARCHS4 supplies a non-spaceflight reference and Reactome supplies the gene-program mask. expiMap learns the reference, then maps OSDR flight and ground samples as an accession-conditioned query. The analysis used about two thousand highly variable genes and several hundred Reactome programs per tissue. The implementation is under src/expiMap_scarches/nasa_mouse_expimap.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Thymus showed lower repair, cytoskeletal, and stromal-interaction programs. Skin showed lower chromatin regulation, repair, Hedgehog, sphingolipid, and cell-junction programs. Liver showed lower MHC class II and T-cell receptor scores. Spleen combined lower T-cell receptor, neutrophil-degranulation, and C-type lectin programs.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A generator learns the distribution of measured expression and samples new numeric profiles for a chosen tissue and FLT or GC context. We use those profiles to test classifiers and rank genes. They are model output, not new animals or independent biological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OSDR covers many tissues, but its 1,610 profiles are spread across 75 accessions. ARCHS4 supplies a much larger mouse reference. The model must preserve tissue and condition structure without simply learning study identity.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pipeline can change data scope, transformation, harmonization, model, training source, and conditioning. The branch used here applies TPM, MaxAbs scaling, 974 landmarks, ARCHS4 pretraining, OSDR adaptation, and conditioning on tissue, FLT or GC, accession, and material type.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We compared WGAN-GP with the conditional diffusion model. Both matched expression well. DDIM had higher F1, adversarial accuracy close to chance, and lower distributional distance, so the remaining analysis uses DDIM.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generated profiles begin as noise, develop structure by timestep 200, and reach their tissue-conditioned regions at timestep zero. All three panels share PCA axes.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Real and generated profiles occupy the same broad tissue branches. FLT and GC remain much closer because the condition effect is smaller than the tissue effect.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Here the same locked PCA coordinates are colored by accession rather than tissue or condition. Each of the 74 studies has one color shared between the observed and generated panels. Similar clusters show that the accession-conditioned model retained study context. This is a conditional-fidelity check, not evidence that batch effects were removed.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The five arms vary which profiles rank genes and which profiles fit the classifier. The guided arms use real and generated rankings together. One then fits on real profiles only; the other gives generated profiles five percent of the training weight. Association tests still use observed OSDR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Real and generated profiles rank the same 974 genes. Combining those rankings can move a gene into or out of the selected top set. The classifier is then trained using only the selected expression columns.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Opaque points are training profiles and transparent points are held-out real profiles. The panels use the same held-out samples. A useful synthetic-guided feature set changes the fitted boundary so that more held-out labels fall on the correct side.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pooled classifier declined with generated profiles. Within tissues, the best synthetic-informed candidate improved balanced accuracy in examples such as spleen, thymus, and skin, but declined in cecum, colon, and slightly in liver. The selection rule retained a synthetic arm only when balanced accuracy, AUROC, and average precision were all non-worse than real-only training.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Twenty-three associations were selected with and without guidance, so we call them reinforced. Twenty-six crossed the repeated selection threshold only with guidance, so we call them promoted. All 49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Promoted or reinforced describes feature selection. Aligning, complementary, ambiguous, or unmatched describes the literature review. These labels answer different questions and can occur in any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The full screen includes 22 canonical tissues and five anatomical muscle groups. Ten analyses had a synthetic-informed BH-FDR association, five had real-data BH-FDR genes without synthetic support, and 12 had no BH-FDR gene in the landmark panel.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This slide lists all 49 synthetic-informed associations. Rows separate FLT direction and selection status. Gene color gives the independent literature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Thymus produced the clearest promoted panel. Lower mitotic and DNA-replication genes fit prior reports of thymic involution. Hsd17b11 and Etv1 add lipid-handling and T-cell-state hypotheses. Bulk RNA-seq cannot separate transcriptional regulation from cell-composition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Soleus improved with real plus generated training. Lower Bdh1, Ech1, Bnip3, and Decr1 with higher Tpm1 support altered oxidative metabolism and contractile remodeling. The real association remains, but its synthetic reinforcement was sensitive to material conditioning.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Pooled muscle, kidney, spleen, and skin each produced a separate result. Promoted and reinforced genes are kept on separate rows so the selection claim stays clear.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Eye, adrenal gland, gastrocnemius, and tibialis anterior add smaller tissue-specific candidates. These are follow-up hypotheses rather than one shared systemic signature.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Conditional DDIM produced realistic profiles. Tissue-specific ranking and light synthetic training improved held-out prediction in selected tissues. The final biological associations and FDR still come from observed OSDR samples.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James Casaletto, SLSTP, NASA OSDR, ARCHS4, Reactome, and NASA Ames compute,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Interpretable and generative models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PROJECT</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One dataset, two machine-learning questions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We used mouse bulk RNA-seq to study how spaceflight changes genes, pathways, and tissue state.</a:t>
            </a:r>
          </a:p>
        </p:txBody>
      </p:sp>
      <p:sp>
        <p:nvSpPr>
          <p:cNvPr id="22" name="Rectangle 21"/>
          <p:cNvSpPr/>
          <p:nvPr/>
        </p:nvSpPr>
        <p:spPr>
          <a:xfrm>
            <a:off x="502920" y="1874519"/>
            <a:ext cx="11192256" cy="69494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011680"/>
            <a:ext cx="1627632" cy="283464"/>
          </a:xfrm>
          <a:prstGeom prst="rect">
            <a:avLst/>
          </a:prstGeom>
          <a:noFill/>
        </p:spPr>
        <p:txBody>
          <a:bodyPr wrap="square" lIns="0" rIns="0" tIns="0" bIns="0" anchor="t">
            <a:spAutoFit/>
          </a:bodyPr>
          <a:lstStyle/>
          <a:p>
            <a:pPr algn="l">
              <a:spcAft>
                <a:spcPts val="0"/>
              </a:spcAft>
            </a:pPr>
            <a:r>
              <a:rPr sz="1600" b="1" i="0">
                <a:solidFill>
                  <a:srgbClr val="FFFFFF"/>
                </a:solidFill>
                <a:latin typeface="Arial"/>
              </a:rPr>
              <a:t>NASA OSDR API</a:t>
            </a:r>
          </a:p>
        </p:txBody>
      </p:sp>
      <p:sp>
        <p:nvSpPr>
          <p:cNvPr id="24" name="TextBox 23"/>
          <p:cNvSpPr txBox="1"/>
          <p:nvPr/>
        </p:nvSpPr>
        <p:spPr>
          <a:xfrm>
            <a:off x="2487168" y="1993392"/>
            <a:ext cx="8759952" cy="310896"/>
          </a:xfrm>
          <a:prstGeom prst="rect">
            <a:avLst/>
          </a:prstGeom>
          <a:noFill/>
        </p:spPr>
        <p:txBody>
          <a:bodyPr wrap="square" lIns="0" rIns="0" tIns="0" bIns="0" anchor="ctr">
            <a:spAutoFit/>
          </a:bodyPr>
          <a:lstStyle/>
          <a:p>
            <a:pPr algn="l">
              <a:spcAft>
                <a:spcPts val="0"/>
              </a:spcAft>
            </a:pPr>
            <a:r>
              <a:rPr sz="1320" b="0" i="0">
                <a:solidFill>
                  <a:srgbClr val="DCE7F2"/>
                </a:solidFill>
                <a:latin typeface="Arial"/>
              </a:rPr>
              <a:t>Mus musculus bulk RNA-seq | spaceflight (FLT) and ground control (GC) | multiple missions and tissues</a:t>
            </a:r>
          </a:p>
        </p:txBody>
      </p:sp>
      <p:sp>
        <p:nvSpPr>
          <p:cNvPr id="25" name="Rectangle 24"/>
          <p:cNvSpPr/>
          <p:nvPr/>
        </p:nvSpPr>
        <p:spPr>
          <a:xfrm>
            <a:off x="502920" y="2944368"/>
            <a:ext cx="5449824" cy="2926080"/>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3182112"/>
            <a:ext cx="411480"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7" name="TextBox 26"/>
          <p:cNvSpPr txBox="1"/>
          <p:nvPr/>
        </p:nvSpPr>
        <p:spPr>
          <a:xfrm>
            <a:off x="1252728"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Which biological programs change?</a:t>
            </a:r>
          </a:p>
        </p:txBody>
      </p:sp>
      <p:sp>
        <p:nvSpPr>
          <p:cNvPr id="28" name="Rectangle 27"/>
          <p:cNvSpPr/>
          <p:nvPr/>
        </p:nvSpPr>
        <p:spPr>
          <a:xfrm>
            <a:off x="731520" y="3767328"/>
            <a:ext cx="4965192"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995928"/>
            <a:ext cx="4846320" cy="310896"/>
          </a:xfrm>
          <a:prstGeom prst="rect">
            <a:avLst/>
          </a:prstGeom>
          <a:noFill/>
        </p:spPr>
        <p:txBody>
          <a:bodyPr wrap="square" lIns="0" rIns="0" tIns="0" bIns="0" anchor="t">
            <a:spAutoFit/>
          </a:bodyPr>
          <a:lstStyle/>
          <a:p>
            <a:pPr algn="l">
              <a:spcAft>
                <a:spcPts val="0"/>
              </a:spcAft>
            </a:pPr>
            <a:r>
              <a:rPr sz="1540" b="1" i="0">
                <a:solidFill>
                  <a:srgbClr val="2D6496"/>
                </a:solidFill>
                <a:latin typeface="Arial"/>
              </a:rPr>
              <a:t>expiMap</a:t>
            </a:r>
          </a:p>
        </p:txBody>
      </p:sp>
      <p:sp>
        <p:nvSpPr>
          <p:cNvPr id="30" name="TextBox 29"/>
          <p:cNvSpPr txBox="1"/>
          <p:nvPr/>
        </p:nvSpPr>
        <p:spPr>
          <a:xfrm>
            <a:off x="731520"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Train a pathway-constrained reference on ARCHS4, then map OSDR samples into mouse Reactome programs.</a:t>
            </a:r>
          </a:p>
        </p:txBody>
      </p:sp>
      <p:sp>
        <p:nvSpPr>
          <p:cNvPr id="31" name="TextBox 30"/>
          <p:cNvSpPr txBox="1"/>
          <p:nvPr/>
        </p:nvSpPr>
        <p:spPr>
          <a:xfrm>
            <a:off x="731520"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tissue-specific pathway shifts</a:t>
            </a:r>
          </a:p>
        </p:txBody>
      </p:sp>
      <p:sp>
        <p:nvSpPr>
          <p:cNvPr id="32" name="Rectangle 31"/>
          <p:cNvSpPr/>
          <p:nvPr/>
        </p:nvSpPr>
        <p:spPr>
          <a:xfrm>
            <a:off x="6245352" y="2944368"/>
            <a:ext cx="5449824" cy="2926080"/>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4808" y="3182112"/>
            <a:ext cx="411480"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02</a:t>
            </a:r>
          </a:p>
        </p:txBody>
      </p:sp>
      <p:sp>
        <p:nvSpPr>
          <p:cNvPr id="34" name="TextBox 33"/>
          <p:cNvSpPr txBox="1"/>
          <p:nvPr/>
        </p:nvSpPr>
        <p:spPr>
          <a:xfrm>
            <a:off x="6995160"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Can synthetic profiles sharpen the analysis?</a:t>
            </a:r>
          </a:p>
        </p:txBody>
      </p:sp>
      <p:sp>
        <p:nvSpPr>
          <p:cNvPr id="35" name="Rectangle 34"/>
          <p:cNvSpPr/>
          <p:nvPr/>
        </p:nvSpPr>
        <p:spPr>
          <a:xfrm>
            <a:off x="6473952" y="3767328"/>
            <a:ext cx="49651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3952" y="3995928"/>
            <a:ext cx="4846320" cy="310896"/>
          </a:xfrm>
          <a:prstGeom prst="rect">
            <a:avLst/>
          </a:prstGeom>
          <a:noFill/>
        </p:spPr>
        <p:txBody>
          <a:bodyPr wrap="square" lIns="0" rIns="0" tIns="0" bIns="0" anchor="t">
            <a:spAutoFit/>
          </a:bodyPr>
          <a:lstStyle/>
          <a:p>
            <a:pPr algn="l">
              <a:spcAft>
                <a:spcPts val="0"/>
              </a:spcAft>
            </a:pPr>
            <a:r>
              <a:rPr sz="1540" b="1" i="0">
                <a:solidFill>
                  <a:srgbClr val="178681"/>
                </a:solidFill>
                <a:latin typeface="Arial"/>
              </a:rPr>
              <a:t>Conditional generation</a:t>
            </a:r>
          </a:p>
        </p:txBody>
      </p:sp>
      <p:sp>
        <p:nvSpPr>
          <p:cNvPr id="37" name="TextBox 36"/>
          <p:cNvSpPr txBox="1"/>
          <p:nvPr/>
        </p:nvSpPr>
        <p:spPr>
          <a:xfrm>
            <a:off x="6473952"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Generate matched expression profiles by tissue, study context, and FLT or GC condition.</a:t>
            </a:r>
          </a:p>
        </p:txBody>
      </p:sp>
      <p:sp>
        <p:nvSpPr>
          <p:cNvPr id="38" name="TextBox 37"/>
          <p:cNvSpPr txBox="1"/>
          <p:nvPr/>
        </p:nvSpPr>
        <p:spPr>
          <a:xfrm>
            <a:off x="6473952"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validated profiles and gene ranking</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Data source: NASA Open Science Data Repository Biological Data API.</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NEURAL NETWORKS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Autoencoders compress expression into a latent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encoder summarizes a gene profile; the decoder learns enough structure to reconstruct it.</a:t>
            </a:r>
          </a:p>
        </p:txBody>
      </p:sp>
      <p:sp>
        <p:nvSpPr>
          <p:cNvPr id="7" name="TextBox 6"/>
          <p:cNvSpPr txBox="1"/>
          <p:nvPr/>
        </p:nvSpPr>
        <p:spPr>
          <a:xfrm>
            <a:off x="530352" y="1874519"/>
            <a:ext cx="131673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AUTOENCODER</a:t>
            </a:r>
          </a:p>
        </p:txBody>
      </p:sp>
      <p:sp>
        <p:nvSpPr>
          <p:cNvPr id="8" name="Rectangle 7"/>
          <p:cNvSpPr/>
          <p:nvPr/>
        </p:nvSpPr>
        <p:spPr>
          <a:xfrm>
            <a:off x="457200" y="2157984"/>
            <a:ext cx="6748272" cy="3547872"/>
          </a:xfrm>
          <a:prstGeom prst="rect">
            <a:avLst/>
          </a:prstGeom>
          <a:solidFill>
            <a:srgbClr val="F7F9FA"/>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493008"/>
            <a:ext cx="658368" cy="475488"/>
          </a:xfrm>
          <a:prstGeom prst="rect">
            <a:avLst/>
          </a:prstGeom>
          <a:noFill/>
        </p:spPr>
        <p:txBody>
          <a:bodyPr wrap="square" lIns="0" rIns="0" tIns="0" bIns="0" anchor="t">
            <a:spAutoFit/>
          </a:bodyPr>
          <a:lstStyle/>
          <a:p>
            <a:pPr algn="ctr">
              <a:spcAft>
                <a:spcPts val="0"/>
              </a:spcAft>
            </a:pPr>
            <a:r>
              <a:rPr sz="1120" b="1" i="0">
                <a:solidFill>
                  <a:srgbClr val="59697A"/>
                </a:solidFill>
                <a:latin typeface="Arial"/>
              </a:rPr>
              <a:t>gene
profile</a:t>
            </a:r>
          </a:p>
        </p:txBody>
      </p:sp>
      <p:sp>
        <p:nvSpPr>
          <p:cNvPr id="10" name="Rectangle 9"/>
          <p:cNvSpPr/>
          <p:nvPr/>
        </p:nvSpPr>
        <p:spPr>
          <a:xfrm>
            <a:off x="1499616" y="3785615"/>
            <a:ext cx="100584" cy="53035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673351" y="3337559"/>
            <a:ext cx="100584" cy="9784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47088" y="3648456"/>
            <a:ext cx="100584"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020824" y="3108959"/>
            <a:ext cx="100584" cy="12070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94560" y="3493008"/>
            <a:ext cx="100584" cy="8229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368296" y="3895344"/>
            <a:ext cx="100584" cy="420624"/>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2615184"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3136392"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136392"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136392"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136392"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136392"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136392"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36392"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36392"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36392"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3592" y="2816352"/>
            <a:ext cx="960120"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593592" y="2816352"/>
            <a:ext cx="960120"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593592" y="2816352"/>
            <a:ext cx="960120"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93592" y="3236976"/>
            <a:ext cx="960120"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93592" y="3639312"/>
            <a:ext cx="960120"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593592" y="3739896"/>
            <a:ext cx="960120"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593592" y="3236976"/>
            <a:ext cx="960120"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593592" y="3639312"/>
            <a:ext cx="960120"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593592" y="4041648"/>
            <a:ext cx="960120"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553712" y="2816352"/>
            <a:ext cx="896112"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553712" y="3236976"/>
            <a:ext cx="896112"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553712" y="3236976"/>
            <a:ext cx="896112"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553712" y="2816352"/>
            <a:ext cx="896112"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553712" y="3639312"/>
            <a:ext cx="896112"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553712" y="3639312"/>
            <a:ext cx="896112"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553712" y="2816352"/>
            <a:ext cx="896112"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553712" y="3739896"/>
            <a:ext cx="896112"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553712" y="4041648"/>
            <a:ext cx="896112"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449824"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449824"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449824"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449824"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449824"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449824"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5449824"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449824"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449824"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3063240"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063240"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063240"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3063240"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3063240"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3520440"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520440"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520440"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907792"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encoder</a:t>
            </a:r>
          </a:p>
        </p:txBody>
      </p:sp>
      <p:sp>
        <p:nvSpPr>
          <p:cNvPr id="74" name="Oval 73"/>
          <p:cNvSpPr/>
          <p:nvPr/>
        </p:nvSpPr>
        <p:spPr>
          <a:xfrm>
            <a:off x="4462272" y="3145536"/>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4462272" y="3547872"/>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4462272" y="3950208"/>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169663" y="4462272"/>
            <a:ext cx="768096" cy="438912"/>
          </a:xfrm>
          <a:prstGeom prst="rect">
            <a:avLst/>
          </a:prstGeom>
          <a:noFill/>
        </p:spPr>
        <p:txBody>
          <a:bodyPr wrap="square" lIns="0" rIns="0" tIns="0" bIns="0" anchor="t">
            <a:spAutoFit/>
          </a:bodyPr>
          <a:lstStyle/>
          <a:p>
            <a:pPr algn="ctr">
              <a:spcAft>
                <a:spcPts val="0"/>
              </a:spcAft>
            </a:pPr>
            <a:r>
              <a:rPr sz="1019" b="1" i="0">
                <a:solidFill>
                  <a:srgbClr val="D37B00"/>
                </a:solidFill>
                <a:latin typeface="Arial"/>
              </a:rPr>
              <a:t>latent
variables</a:t>
            </a:r>
          </a:p>
        </p:txBody>
      </p:sp>
      <p:sp>
        <p:nvSpPr>
          <p:cNvPr id="78" name="Oval 77"/>
          <p:cNvSpPr/>
          <p:nvPr/>
        </p:nvSpPr>
        <p:spPr>
          <a:xfrm>
            <a:off x="5376672"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5376672"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5376672"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5833872"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833872"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833872"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833872"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833872"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212080"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decoder</a:t>
            </a:r>
          </a:p>
        </p:txBody>
      </p:sp>
      <p:sp>
        <p:nvSpPr>
          <p:cNvPr id="87" name="Right Arrow 86"/>
          <p:cNvSpPr/>
          <p:nvPr/>
        </p:nvSpPr>
        <p:spPr>
          <a:xfrm>
            <a:off x="6291072"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547104" y="3401568"/>
            <a:ext cx="493776" cy="512064"/>
          </a:xfrm>
          <a:prstGeom prst="rect">
            <a:avLst/>
          </a:prstGeom>
          <a:noFill/>
        </p:spPr>
        <p:txBody>
          <a:bodyPr wrap="square" lIns="0" rIns="0" tIns="0" bIns="0" anchor="t">
            <a:spAutoFit/>
          </a:bodyPr>
          <a:lstStyle/>
          <a:p>
            <a:pPr algn="ctr">
              <a:spcAft>
                <a:spcPts val="0"/>
              </a:spcAft>
            </a:pPr>
            <a:r>
              <a:rPr sz="1000" b="1" i="0">
                <a:solidFill>
                  <a:srgbClr val="59697A"/>
                </a:solidFill>
                <a:latin typeface="Arial"/>
              </a:rPr>
              <a:t>output
profile</a:t>
            </a:r>
          </a:p>
        </p:txBody>
      </p:sp>
      <p:sp>
        <p:nvSpPr>
          <p:cNvPr id="89" name="TextBox 88"/>
          <p:cNvSpPr txBox="1"/>
          <p:nvPr/>
        </p:nvSpPr>
        <p:spPr>
          <a:xfrm>
            <a:off x="7589520" y="1874519"/>
            <a:ext cx="1225296"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LATENT SPACE</a:t>
            </a:r>
          </a:p>
        </p:txBody>
      </p:sp>
      <p:sp>
        <p:nvSpPr>
          <p:cNvPr id="90" name="Rectangle 89"/>
          <p:cNvSpPr/>
          <p:nvPr/>
        </p:nvSpPr>
        <p:spPr>
          <a:xfrm>
            <a:off x="7516368" y="2157984"/>
            <a:ext cx="4187952" cy="35478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973568" y="5074920"/>
            <a:ext cx="3136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973568" y="2615184"/>
            <a:ext cx="16459" cy="2478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357616" y="4169663"/>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04504" y="408736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714232" y="427939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8476488" y="43982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549640" y="4251959"/>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400032" y="32826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9646920" y="320040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756648" y="339242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518904" y="35112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9592056" y="336499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0323576" y="43068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570464" y="422452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680192" y="441655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0442448" y="45354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10515600" y="438912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165592" y="5230368"/>
            <a:ext cx="2834640" cy="384048"/>
          </a:xfrm>
          <a:prstGeom prst="rect">
            <a:avLst/>
          </a:prstGeom>
          <a:noFill/>
        </p:spPr>
        <p:txBody>
          <a:bodyPr wrap="square" lIns="0" rIns="0" tIns="0" bIns="0" anchor="t">
            <a:spAutoFit/>
          </a:bodyPr>
          <a:lstStyle/>
          <a:p>
            <a:pPr algn="ctr">
              <a:spcAft>
                <a:spcPts val="0"/>
              </a:spcAft>
            </a:pPr>
            <a:r>
              <a:rPr sz="1050" b="0" i="0">
                <a:solidFill>
                  <a:srgbClr val="59697A"/>
                </a:solidFill>
                <a:latin typeface="Arial"/>
              </a:rPr>
              <a:t>profiles with similar expression
occupy nearby regions</a:t>
            </a:r>
          </a:p>
        </p:txBody>
      </p:sp>
      <p:sp>
        <p:nvSpPr>
          <p:cNvPr id="109" name="Rectangle 108"/>
          <p:cNvSpPr/>
          <p:nvPr/>
        </p:nvSpPr>
        <p:spPr>
          <a:xfrm>
            <a:off x="457200" y="5852160"/>
            <a:ext cx="11247120" cy="47548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749808" y="5980176"/>
            <a:ext cx="841248" cy="210312"/>
          </a:xfrm>
          <a:prstGeom prst="rect">
            <a:avLst/>
          </a:prstGeom>
          <a:noFill/>
        </p:spPr>
        <p:txBody>
          <a:bodyPr wrap="square" lIns="0" rIns="0" tIns="0" bIns="0" anchor="t">
            <a:spAutoFit/>
          </a:bodyPr>
          <a:lstStyle/>
          <a:p>
            <a:pPr algn="l">
              <a:spcAft>
                <a:spcPts val="0"/>
              </a:spcAft>
            </a:pPr>
            <a:r>
              <a:rPr sz="1220" b="1" i="0">
                <a:solidFill>
                  <a:srgbClr val="FFFFFF"/>
                </a:solidFill>
                <a:latin typeface="Arial"/>
              </a:rPr>
              <a:t>expiMap:</a:t>
            </a:r>
          </a:p>
        </p:txBody>
      </p:sp>
      <p:sp>
        <p:nvSpPr>
          <p:cNvPr id="111" name="TextBox 110"/>
          <p:cNvSpPr txBox="1"/>
          <p:nvPr/>
        </p:nvSpPr>
        <p:spPr>
          <a:xfrm>
            <a:off x="1655064" y="5980176"/>
            <a:ext cx="9509760" cy="210312"/>
          </a:xfrm>
          <a:prstGeom prst="rect">
            <a:avLst/>
          </a:prstGeom>
          <a:noFill/>
        </p:spPr>
        <p:txBody>
          <a:bodyPr wrap="square" lIns="0" rIns="0" tIns="0" bIns="0" anchor="t">
            <a:spAutoFit/>
          </a:bodyPr>
          <a:lstStyle/>
          <a:p>
            <a:pPr algn="l">
              <a:spcAft>
                <a:spcPts val="0"/>
              </a:spcAft>
            </a:pPr>
            <a:r>
              <a:rPr sz="1220" b="0" i="0">
                <a:solidFill>
                  <a:srgbClr val="DCE7F2"/>
                </a:solidFill>
                <a:latin typeface="Arial"/>
              </a:rPr>
              <a:t>each constrained latent variable corresponds to a Reactome gene program.</a:t>
            </a:r>
          </a:p>
        </p:txBody>
      </p:sp>
      <p:sp>
        <p:nvSpPr>
          <p:cNvPr id="112" name="TextBox 11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Concept adapted from the midpoint presentation. expiMap: Lotfollahi et al., Nature Cell Biology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Reactome pathways make the latent space interpretable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Tissue-matched ARCHS4 references define the background; OSDR FLT and GC samples are mapped as queries.</a:t>
            </a:r>
          </a:p>
        </p:txBody>
      </p:sp>
      <p:pic>
        <p:nvPicPr>
          <p:cNvPr id="7" name="expiMap ARCHS4 reference training, Reactome mask, and OSDR query workflow" descr="expiMap ARCHS4 reference training, Reactome mask, and OSDR query workflow"/>
          <p:cNvPicPr>
            <a:picLocks noChangeAspect="1"/>
          </p:cNvPicPr>
          <p:nvPr/>
        </p:nvPicPr>
        <p:blipFill>
          <a:blip r:embed="rId2"/>
          <a:stretch>
            <a:fillRect/>
          </a:stretch>
        </p:blipFill>
        <p:spPr>
          <a:xfrm>
            <a:off x="704972" y="1755648"/>
            <a:ext cx="6965958" cy="4498848"/>
          </a:xfrm>
          <a:prstGeom prst="rect">
            <a:avLst/>
          </a:prstGeom>
        </p:spPr>
      </p:pic>
      <p:sp>
        <p:nvSpPr>
          <p:cNvPr id="8" name="Rectangle 7"/>
          <p:cNvSpPr/>
          <p:nvPr/>
        </p:nvSpPr>
        <p:spPr>
          <a:xfrm>
            <a:off x="8229600" y="1847088"/>
            <a:ext cx="13716" cy="420624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40496" y="1920240"/>
            <a:ext cx="122529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MODEL SCOPE</a:t>
            </a:r>
          </a:p>
        </p:txBody>
      </p:sp>
      <p:sp>
        <p:nvSpPr>
          <p:cNvPr id="10" name="TextBox 9"/>
          <p:cNvSpPr txBox="1"/>
          <p:nvPr/>
        </p:nvSpPr>
        <p:spPr>
          <a:xfrm>
            <a:off x="8540496" y="2331720"/>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17,708</a:t>
            </a:r>
          </a:p>
        </p:txBody>
      </p:sp>
      <p:sp>
        <p:nvSpPr>
          <p:cNvPr id="11" name="TextBox 10"/>
          <p:cNvSpPr txBox="1"/>
          <p:nvPr/>
        </p:nvSpPr>
        <p:spPr>
          <a:xfrm>
            <a:off x="9738360" y="2350008"/>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ARCHS4 reference profiles</a:t>
            </a:r>
          </a:p>
        </p:txBody>
      </p:sp>
      <p:sp>
        <p:nvSpPr>
          <p:cNvPr id="12" name="Rectangle 11"/>
          <p:cNvSpPr/>
          <p:nvPr/>
        </p:nvSpPr>
        <p:spPr>
          <a:xfrm>
            <a:off x="8540496" y="2971799"/>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40496" y="3118103"/>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700</a:t>
            </a:r>
          </a:p>
        </p:txBody>
      </p:sp>
      <p:sp>
        <p:nvSpPr>
          <p:cNvPr id="14" name="TextBox 13"/>
          <p:cNvSpPr txBox="1"/>
          <p:nvPr/>
        </p:nvSpPr>
        <p:spPr>
          <a:xfrm>
            <a:off x="9738360" y="3136391"/>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OSDR profiles in the primary effects</a:t>
            </a:r>
          </a:p>
        </p:txBody>
      </p:sp>
      <p:sp>
        <p:nvSpPr>
          <p:cNvPr id="15" name="Rectangle 14"/>
          <p:cNvSpPr/>
          <p:nvPr/>
        </p:nvSpPr>
        <p:spPr>
          <a:xfrm>
            <a:off x="8540496" y="3758183"/>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0496" y="3904487"/>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~2,000</a:t>
            </a:r>
          </a:p>
        </p:txBody>
      </p:sp>
      <p:sp>
        <p:nvSpPr>
          <p:cNvPr id="17" name="TextBox 16"/>
          <p:cNvSpPr txBox="1"/>
          <p:nvPr/>
        </p:nvSpPr>
        <p:spPr>
          <a:xfrm>
            <a:off x="9738360" y="3922775"/>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highly variable genes per tissue</a:t>
            </a:r>
          </a:p>
        </p:txBody>
      </p:sp>
      <p:sp>
        <p:nvSpPr>
          <p:cNvPr id="18" name="Rectangle 17"/>
          <p:cNvSpPr/>
          <p:nvPr/>
        </p:nvSpPr>
        <p:spPr>
          <a:xfrm>
            <a:off x="8540496" y="4544568"/>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0496" y="4690872"/>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319-387</a:t>
            </a:r>
          </a:p>
        </p:txBody>
      </p:sp>
      <p:sp>
        <p:nvSpPr>
          <p:cNvPr id="20" name="TextBox 19"/>
          <p:cNvSpPr txBox="1"/>
          <p:nvPr/>
        </p:nvSpPr>
        <p:spPr>
          <a:xfrm>
            <a:off x="9738360" y="4709159"/>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Reactome programs per primary model</a:t>
            </a:r>
          </a:p>
        </p:txBody>
      </p:sp>
      <p:sp>
        <p:nvSpPr>
          <p:cNvPr id="21" name="TextBox 20"/>
          <p:cNvSpPr txBox="1"/>
          <p:nvPr/>
        </p:nvSpPr>
        <p:spPr>
          <a:xfrm>
            <a:off x="8540496" y="5541264"/>
            <a:ext cx="2743200" cy="457200"/>
          </a:xfrm>
          <a:prstGeom prst="rect">
            <a:avLst/>
          </a:prstGeom>
          <a:noFill/>
        </p:spPr>
        <p:txBody>
          <a:bodyPr wrap="square" lIns="0" rIns="0" tIns="0" bIns="0" anchor="t">
            <a:spAutoFit/>
          </a:bodyPr>
          <a:lstStyle/>
          <a:p>
            <a:pPr algn="l">
              <a:spcAft>
                <a:spcPts val="0"/>
              </a:spcAft>
            </a:pPr>
            <a:r>
              <a:rPr sz="1130" b="0" i="0">
                <a:solidFill>
                  <a:srgbClr val="59697A"/>
                </a:solidFill>
                <a:latin typeface="Arial"/>
              </a:rPr>
              <a:t>Reference training and query mapping were run separately for each tissue.</a:t>
            </a:r>
          </a:p>
        </p:txBody>
      </p:sp>
      <p:sp>
        <p:nvSpPr>
          <p:cNvPr id="22" name="TextBox 2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 1 and Tables 1/S25. Implementation: src/expiMap_scarches/nasa_mouse_expimap/.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RESULTS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Four tissues produced the clearest pathway patterns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Effects were estimated within each project before the project-level shifts were combined.</a:t>
            </a:r>
          </a:p>
        </p:txBody>
      </p:sp>
      <p:sp>
        <p:nvSpPr>
          <p:cNvPr id="7" name="Rectangle 6"/>
          <p:cNvSpPr/>
          <p:nvPr/>
        </p:nvSpPr>
        <p:spPr>
          <a:xfrm>
            <a:off x="438912" y="1847088"/>
            <a:ext cx="11320272" cy="896112"/>
          </a:xfrm>
          <a:prstGeom prst="rect">
            <a:avLst/>
          </a:prstGeom>
          <a:solidFill>
            <a:srgbClr val="F1EDF7"/>
          </a:solidFill>
          <a:ln w="10160">
            <a:solidFill>
              <a:srgbClr val="F1ED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847088"/>
            <a:ext cx="68580" cy="8961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011680"/>
            <a:ext cx="1298448" cy="292608"/>
          </a:xfrm>
          <a:prstGeom prst="rect">
            <a:avLst/>
          </a:prstGeom>
          <a:noFill/>
        </p:spPr>
        <p:txBody>
          <a:bodyPr wrap="square" lIns="0" rIns="0" tIns="0" bIns="0" anchor="t">
            <a:spAutoFit/>
          </a:bodyPr>
          <a:lstStyle/>
          <a:p>
            <a:pPr algn="l">
              <a:spcAft>
                <a:spcPts val="0"/>
              </a:spcAft>
            </a:pPr>
            <a:r>
              <a:rPr sz="1700" b="1" i="0">
                <a:solidFill>
                  <a:srgbClr val="8063A6"/>
                </a:solidFill>
                <a:latin typeface="Arial"/>
              </a:rPr>
              <a:t>Thymus</a:t>
            </a:r>
          </a:p>
        </p:txBody>
      </p:sp>
      <p:sp>
        <p:nvSpPr>
          <p:cNvPr id="10" name="TextBox 9"/>
          <p:cNvSpPr txBox="1"/>
          <p:nvPr/>
        </p:nvSpPr>
        <p:spPr>
          <a:xfrm>
            <a:off x="694944" y="2359152"/>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117 samples | 5 projects</a:t>
            </a:r>
          </a:p>
        </p:txBody>
      </p:sp>
      <p:sp>
        <p:nvSpPr>
          <p:cNvPr id="11" name="TextBox 10"/>
          <p:cNvSpPr txBox="1"/>
          <p:nvPr/>
        </p:nvSpPr>
        <p:spPr>
          <a:xfrm>
            <a:off x="2322576" y="1993392"/>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12" name="TextBox 11"/>
          <p:cNvSpPr txBox="1"/>
          <p:nvPr/>
        </p:nvSpPr>
        <p:spPr>
          <a:xfrm>
            <a:off x="2322576" y="2240280"/>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DNA repair; RHOA cytoskeletal cycle; lymphoid-stromal interactions</a:t>
            </a:r>
          </a:p>
        </p:txBody>
      </p:sp>
      <p:sp>
        <p:nvSpPr>
          <p:cNvPr id="13" name="Rectangle 12"/>
          <p:cNvSpPr/>
          <p:nvPr/>
        </p:nvSpPr>
        <p:spPr>
          <a:xfrm>
            <a:off x="6419088" y="1993392"/>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020824"/>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Known involution may also involve lower repair, motility, and niche coordination.</a:t>
            </a:r>
          </a:p>
        </p:txBody>
      </p:sp>
      <p:sp>
        <p:nvSpPr>
          <p:cNvPr id="15" name="Rectangle 14"/>
          <p:cNvSpPr/>
          <p:nvPr/>
        </p:nvSpPr>
        <p:spPr>
          <a:xfrm>
            <a:off x="438912" y="2916936"/>
            <a:ext cx="11320272" cy="896112"/>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916936"/>
            <a:ext cx="68580" cy="8961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3081528"/>
            <a:ext cx="1298448" cy="292608"/>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Skin</a:t>
            </a:r>
          </a:p>
        </p:txBody>
      </p:sp>
      <p:sp>
        <p:nvSpPr>
          <p:cNvPr id="18" name="TextBox 17"/>
          <p:cNvSpPr txBox="1"/>
          <p:nvPr/>
        </p:nvSpPr>
        <p:spPr>
          <a:xfrm>
            <a:off x="694944" y="3429000"/>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151 samples | 4 projects</a:t>
            </a:r>
          </a:p>
        </p:txBody>
      </p:sp>
      <p:sp>
        <p:nvSpPr>
          <p:cNvPr id="19" name="TextBox 18"/>
          <p:cNvSpPr txBox="1"/>
          <p:nvPr/>
        </p:nvSpPr>
        <p:spPr>
          <a:xfrm>
            <a:off x="2322576" y="3063240"/>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0" name="TextBox 19"/>
          <p:cNvSpPr txBox="1"/>
          <p:nvPr/>
        </p:nvSpPr>
        <p:spPr>
          <a:xfrm>
            <a:off x="2322576" y="3310128"/>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Chromatin regulation; DNA repair; Hedgehog; sphingolipids; cell junctions</a:t>
            </a:r>
          </a:p>
        </p:txBody>
      </p:sp>
      <p:sp>
        <p:nvSpPr>
          <p:cNvPr id="21" name="Rectangle 20"/>
          <p:cNvSpPr/>
          <p:nvPr/>
        </p:nvSpPr>
        <p:spPr>
          <a:xfrm>
            <a:off x="6419088" y="3063240"/>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3090672"/>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Barrier injury may include a broader loss of tissue maintenance and coordination.</a:t>
            </a:r>
          </a:p>
        </p:txBody>
      </p:sp>
      <p:sp>
        <p:nvSpPr>
          <p:cNvPr id="23" name="Rectangle 22"/>
          <p:cNvSpPr/>
          <p:nvPr/>
        </p:nvSpPr>
        <p:spPr>
          <a:xfrm>
            <a:off x="438912" y="3986783"/>
            <a:ext cx="11320272" cy="896112"/>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8912" y="3986783"/>
            <a:ext cx="68580" cy="8961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 y="4151375"/>
            <a:ext cx="1298448" cy="292608"/>
          </a:xfrm>
          <a:prstGeom prst="rect">
            <a:avLst/>
          </a:prstGeom>
          <a:noFill/>
        </p:spPr>
        <p:txBody>
          <a:bodyPr wrap="square" lIns="0" rIns="0" tIns="0" bIns="0" anchor="t">
            <a:spAutoFit/>
          </a:bodyPr>
          <a:lstStyle/>
          <a:p>
            <a:pPr algn="l">
              <a:spcAft>
                <a:spcPts val="0"/>
              </a:spcAft>
            </a:pPr>
            <a:r>
              <a:rPr sz="1700" b="1" i="0">
                <a:solidFill>
                  <a:srgbClr val="178681"/>
                </a:solidFill>
                <a:latin typeface="Arial"/>
              </a:rPr>
              <a:t>Liver</a:t>
            </a:r>
          </a:p>
        </p:txBody>
      </p:sp>
      <p:sp>
        <p:nvSpPr>
          <p:cNvPr id="26" name="TextBox 25"/>
          <p:cNvSpPr txBox="1"/>
          <p:nvPr/>
        </p:nvSpPr>
        <p:spPr>
          <a:xfrm>
            <a:off x="694944" y="4498848"/>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197 samples | 9 projects</a:t>
            </a:r>
          </a:p>
        </p:txBody>
      </p:sp>
      <p:sp>
        <p:nvSpPr>
          <p:cNvPr id="27" name="TextBox 26"/>
          <p:cNvSpPr txBox="1"/>
          <p:nvPr/>
        </p:nvSpPr>
        <p:spPr>
          <a:xfrm>
            <a:off x="2322576" y="4133087"/>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8" name="TextBox 27"/>
          <p:cNvSpPr txBox="1"/>
          <p:nvPr/>
        </p:nvSpPr>
        <p:spPr>
          <a:xfrm>
            <a:off x="2322576" y="4379975"/>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MHC class II antigen presentation; T-cell receptor signaling</a:t>
            </a:r>
          </a:p>
        </p:txBody>
      </p:sp>
      <p:sp>
        <p:nvSpPr>
          <p:cNvPr id="29" name="Rectangle 28"/>
          <p:cNvSpPr/>
          <p:nvPr/>
        </p:nvSpPr>
        <p:spPr>
          <a:xfrm>
            <a:off x="6419088" y="4133087"/>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4160520"/>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Metabolic heterogeneity coexisted with lower adaptive immune communication.</a:t>
            </a:r>
          </a:p>
        </p:txBody>
      </p:sp>
      <p:sp>
        <p:nvSpPr>
          <p:cNvPr id="31" name="Rectangle 30"/>
          <p:cNvSpPr/>
          <p:nvPr/>
        </p:nvSpPr>
        <p:spPr>
          <a:xfrm>
            <a:off x="438912" y="5056631"/>
            <a:ext cx="11320272" cy="896112"/>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 y="5056631"/>
            <a:ext cx="68580" cy="89611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5221223"/>
            <a:ext cx="1298448" cy="292608"/>
          </a:xfrm>
          <a:prstGeom prst="rect">
            <a:avLst/>
          </a:prstGeom>
          <a:noFill/>
        </p:spPr>
        <p:txBody>
          <a:bodyPr wrap="square" lIns="0" rIns="0" tIns="0" bIns="0" anchor="t">
            <a:spAutoFit/>
          </a:bodyPr>
          <a:lstStyle/>
          <a:p>
            <a:pPr algn="l">
              <a:spcAft>
                <a:spcPts val="0"/>
              </a:spcAft>
            </a:pPr>
            <a:r>
              <a:rPr sz="1700" b="1" i="0">
                <a:solidFill>
                  <a:srgbClr val="D96552"/>
                </a:solidFill>
                <a:latin typeface="Arial"/>
              </a:rPr>
              <a:t>Spleen</a:t>
            </a:r>
          </a:p>
        </p:txBody>
      </p:sp>
      <p:sp>
        <p:nvSpPr>
          <p:cNvPr id="34" name="TextBox 33"/>
          <p:cNvSpPr txBox="1"/>
          <p:nvPr/>
        </p:nvSpPr>
        <p:spPr>
          <a:xfrm>
            <a:off x="694944" y="5568696"/>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100 samples | 5 projects</a:t>
            </a:r>
          </a:p>
        </p:txBody>
      </p:sp>
      <p:sp>
        <p:nvSpPr>
          <p:cNvPr id="35" name="TextBox 34"/>
          <p:cNvSpPr txBox="1"/>
          <p:nvPr/>
        </p:nvSpPr>
        <p:spPr>
          <a:xfrm>
            <a:off x="2322576" y="5202936"/>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36" name="TextBox 35"/>
          <p:cNvSpPr txBox="1"/>
          <p:nvPr/>
        </p:nvSpPr>
        <p:spPr>
          <a:xfrm>
            <a:off x="2322576" y="5449823"/>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T-cell receptor signaling; neutrophil degranulation; C-type lectin signaling</a:t>
            </a:r>
          </a:p>
        </p:txBody>
      </p:sp>
      <p:sp>
        <p:nvSpPr>
          <p:cNvPr id="37" name="Rectangle 36"/>
          <p:cNvSpPr/>
          <p:nvPr/>
        </p:nvSpPr>
        <p:spPr>
          <a:xfrm>
            <a:off x="6419088" y="5202936"/>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5230368"/>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The most consistent multi-pathway result joined adaptive and innate immune changes.</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Figures 3 and 6. Lower latent scores do not by themselves prove biochemical inhibition.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7" name="TextBox 6"/>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8" name="TextBox 7"/>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9" name="Rectangle 8"/>
          <p:cNvSpPr/>
          <p:nvPr/>
        </p:nvSpPr>
        <p:spPr>
          <a:xfrm>
            <a:off x="457200" y="2359152"/>
            <a:ext cx="3273552" cy="340156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2144"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790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4942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51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52144"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1790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8366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49424"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151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63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5214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17904"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8366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49424"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51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863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5214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517904"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88366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4942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6151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63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214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51790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83664"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4942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6151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6384"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41" name="TextBox 40"/>
          <p:cNvSpPr txBox="1"/>
          <p:nvPr/>
        </p:nvSpPr>
        <p:spPr>
          <a:xfrm>
            <a:off x="2962656"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42" name="Rectangle 41"/>
          <p:cNvSpPr/>
          <p:nvPr/>
        </p:nvSpPr>
        <p:spPr>
          <a:xfrm>
            <a:off x="713232"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Measured gene expression from real mouse tissue</a:t>
            </a:r>
          </a:p>
        </p:txBody>
      </p:sp>
      <p:sp>
        <p:nvSpPr>
          <p:cNvPr id="44" name="Right Arrow 43"/>
          <p:cNvSpPr/>
          <p:nvPr/>
        </p:nvSpPr>
        <p:spPr>
          <a:xfrm>
            <a:off x="3794760"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46" name="TextBox 45"/>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47" name="Rectangle 46"/>
          <p:cNvSpPr/>
          <p:nvPr/>
        </p:nvSpPr>
        <p:spPr>
          <a:xfrm>
            <a:off x="4224528" y="2359152"/>
            <a:ext cx="3273552" cy="3401568"/>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4626864" y="2999232"/>
            <a:ext cx="612648" cy="475488"/>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626864" y="3474720"/>
            <a:ext cx="612648" cy="512064"/>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239512" y="2999232"/>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39512" y="3493008"/>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5907024" y="2999232"/>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907024" y="3493008"/>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565392" y="2999232"/>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565392" y="3493008"/>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4553712" y="3401568"/>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16636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16636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5833872"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49224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49224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040880"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480560"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498848"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Capture gene relationships and variation by tissue and FLT/GC condition</a:t>
            </a:r>
          </a:p>
        </p:txBody>
      </p:sp>
      <p:sp>
        <p:nvSpPr>
          <p:cNvPr id="65" name="Right Arrow 64"/>
          <p:cNvSpPr/>
          <p:nvPr/>
        </p:nvSpPr>
        <p:spPr>
          <a:xfrm>
            <a:off x="7562088"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67" name="TextBox 66"/>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68" name="Rectangle 67"/>
          <p:cNvSpPr/>
          <p:nvPr/>
        </p:nvSpPr>
        <p:spPr>
          <a:xfrm>
            <a:off x="7991856" y="2359152"/>
            <a:ext cx="3273552" cy="3401568"/>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86800"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05256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1832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784080"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01498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3210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68680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052560"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784080"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1498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3210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68680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052560"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41832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78408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01498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3210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68680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905256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418320"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78408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01498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3210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686800"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905256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9418320"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78408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1498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321040"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100" name="TextBox 99"/>
          <p:cNvSpPr txBox="1"/>
          <p:nvPr/>
        </p:nvSpPr>
        <p:spPr>
          <a:xfrm>
            <a:off x="10497312"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101" name="Rectangle 100"/>
          <p:cNvSpPr/>
          <p:nvPr/>
        </p:nvSpPr>
        <p:spPr>
          <a:xfrm>
            <a:off x="8247888"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266176"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Sample new numeric expression vectors for a selected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preserves study-specific structure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locked PCA coordinates are recolored by OSDR accession, with one shared color per study.</a:t>
            </a:r>
          </a:p>
        </p:txBody>
      </p:sp>
      <p:pic>
        <p:nvPicPr>
          <p:cNvPr id="7" name="Aligned PCA panels of observed and matched DDIM profiles colored by OSDR accession" descr="Aligned PCA panels of observed and matched DDIM profiles colored by OSDR accession"/>
          <p:cNvPicPr>
            <a:picLocks noChangeAspect="1"/>
          </p:cNvPicPr>
          <p:nvPr/>
        </p:nvPicPr>
        <p:blipFill>
          <a:blip r:embed="rId2"/>
          <a:stretch>
            <a:fillRect/>
          </a:stretch>
        </p:blipFill>
        <p:spPr>
          <a:xfrm>
            <a:off x="347472" y="1713098"/>
            <a:ext cx="11448288" cy="4108458"/>
          </a:xfrm>
          <a:prstGeom prst="rect">
            <a:avLst/>
          </a:prstGeom>
        </p:spPr>
      </p:pic>
      <p:sp>
        <p:nvSpPr>
          <p:cNvPr id="8" name="Rectangle 7"/>
          <p:cNvSpPr/>
          <p:nvPr/>
        </p:nvSpPr>
        <p:spPr>
          <a:xfrm>
            <a:off x="438912" y="5916168"/>
            <a:ext cx="11311128" cy="42976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998464"/>
            <a:ext cx="10789920" cy="237744"/>
          </a:xfrm>
          <a:prstGeom prst="rect">
            <a:avLst/>
          </a:prstGeom>
          <a:noFill/>
        </p:spPr>
        <p:txBody>
          <a:bodyPr wrap="square" lIns="18288" rIns="18288" tIns="18288" bIns="18288" anchor="t">
            <a:spAutoFit/>
          </a:bodyPr>
          <a:lstStyle/>
          <a:p>
            <a:pPr algn="ctr">
              <a:spcAft>
                <a:spcPts val="0"/>
              </a:spcAft>
            </a:pPr>
            <a:r>
              <a:rPr sz="1300" b="1" i="0">
                <a:solidFill>
                  <a:srgbClr val="082B55"/>
                </a:solidFill>
                <a:latin typeface="Arial"/>
              </a:rPr>
              <a:t>Each color is one of 74 OSDR studies. Similar patterns across panels show that the generated profiles retain accession context.</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Accession was an explicit model condition; this figure checks preservation of study context, not batch removal.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chooses the classifier input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Real and generated rankings combine, then only the top k genes are used for FLT-GC classification.</a:t>
            </a:r>
          </a:p>
        </p:txBody>
      </p:sp>
      <p:sp>
        <p:nvSpPr>
          <p:cNvPr id="7" name="Rectangle 6"/>
          <p:cNvSpPr/>
          <p:nvPr/>
        </p:nvSpPr>
        <p:spPr>
          <a:xfrm>
            <a:off x="438912" y="1874519"/>
            <a:ext cx="3300984" cy="2377440"/>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1700784" cy="228600"/>
          </a:xfrm>
          <a:prstGeom prst="rect">
            <a:avLst/>
          </a:prstGeom>
          <a:noFill/>
        </p:spPr>
        <p:txBody>
          <a:bodyPr wrap="square" lIns="0" rIns="0" tIns="0" bIns="0" anchor="t">
            <a:spAutoFit/>
          </a:bodyPr>
          <a:lstStyle/>
          <a:p>
            <a:pPr algn="l">
              <a:spcAft>
                <a:spcPts val="0"/>
              </a:spcAft>
            </a:pPr>
            <a:r>
              <a:rPr sz="1400" b="1" i="0">
                <a:solidFill>
                  <a:srgbClr val="2D6496"/>
                </a:solidFill>
                <a:latin typeface="Arial"/>
              </a:rPr>
              <a:t>1  REAL RANKING</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using real OSDR</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13" name="Rectangle 12"/>
          <p:cNvSpPr/>
          <p:nvPr/>
        </p:nvSpPr>
        <p:spPr>
          <a:xfrm>
            <a:off x="1481328"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992831" y="28849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16" name="Rectangle 15"/>
          <p:cNvSpPr/>
          <p:nvPr/>
        </p:nvSpPr>
        <p:spPr>
          <a:xfrm>
            <a:off x="1481328"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52379" y="31135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19" name="Rectangle 18"/>
          <p:cNvSpPr/>
          <p:nvPr/>
        </p:nvSpPr>
        <p:spPr>
          <a:xfrm>
            <a:off x="1481328"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676814" y="33421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22" name="Rectangle 21"/>
          <p:cNvSpPr/>
          <p:nvPr/>
        </p:nvSpPr>
        <p:spPr>
          <a:xfrm>
            <a:off x="1481328"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95910" y="35707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25" name="Rectangle 24"/>
          <p:cNvSpPr/>
          <p:nvPr/>
        </p:nvSpPr>
        <p:spPr>
          <a:xfrm>
            <a:off x="1481328"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027224" y="3799331"/>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0" y="1874519"/>
            <a:ext cx="3300984" cy="2377440"/>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2075688"/>
            <a:ext cx="2267712" cy="228600"/>
          </a:xfrm>
          <a:prstGeom prst="rect">
            <a:avLst/>
          </a:prstGeom>
          <a:noFill/>
        </p:spPr>
        <p:txBody>
          <a:bodyPr wrap="square" lIns="0" rIns="0" tIns="0" bIns="0" anchor="t">
            <a:spAutoFit/>
          </a:bodyPr>
          <a:lstStyle/>
          <a:p>
            <a:pPr algn="l">
              <a:spcAft>
                <a:spcPts val="0"/>
              </a:spcAft>
            </a:pPr>
            <a:r>
              <a:rPr sz="1400" b="1" i="0">
                <a:solidFill>
                  <a:srgbClr val="D96552"/>
                </a:solidFill>
                <a:latin typeface="Arial"/>
              </a:rPr>
              <a:t>2  GENERATED RANKING</a:t>
            </a:r>
          </a:p>
        </p:txBody>
      </p:sp>
      <p:sp>
        <p:nvSpPr>
          <p:cNvPr id="30" name="TextBox 29"/>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the same 974 genes using generated profiles</a:t>
            </a:r>
          </a:p>
        </p:txBody>
      </p:sp>
      <p:sp>
        <p:nvSpPr>
          <p:cNvPr id="31" name="TextBox 30"/>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32" name="TextBox 31"/>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33" name="TextBox 32"/>
          <p:cNvSpPr txBox="1"/>
          <p:nvPr/>
        </p:nvSpPr>
        <p:spPr>
          <a:xfrm>
            <a:off x="4334256"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34" name="Rectangle 33"/>
          <p:cNvSpPr/>
          <p:nvPr/>
        </p:nvSpPr>
        <p:spPr>
          <a:xfrm>
            <a:off x="5157216"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33606" y="28849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34256"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37" name="Rectangle 36"/>
          <p:cNvSpPr/>
          <p:nvPr/>
        </p:nvSpPr>
        <p:spPr>
          <a:xfrm>
            <a:off x="5157216"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78677" y="31135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40" name="Rectangle 39"/>
          <p:cNvSpPr/>
          <p:nvPr/>
        </p:nvSpPr>
        <p:spPr>
          <a:xfrm>
            <a:off x="5157216"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98493" y="33421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34256"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43" name="Rectangle 42"/>
          <p:cNvSpPr/>
          <p:nvPr/>
        </p:nvSpPr>
        <p:spPr>
          <a:xfrm>
            <a:off x="5157216"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282476" y="35707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46" name="Rectangle 45"/>
          <p:cNvSpPr/>
          <p:nvPr/>
        </p:nvSpPr>
        <p:spPr>
          <a:xfrm>
            <a:off x="5157216"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650443" y="3799331"/>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90688" y="1874519"/>
            <a:ext cx="3776472" cy="2377440"/>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10144" y="2075688"/>
            <a:ext cx="2331720" cy="228600"/>
          </a:xfrm>
          <a:prstGeom prst="rect">
            <a:avLst/>
          </a:prstGeom>
          <a:noFill/>
        </p:spPr>
        <p:txBody>
          <a:bodyPr wrap="square" lIns="0" rIns="0" tIns="0" bIns="0" anchor="t">
            <a:spAutoFit/>
          </a:bodyPr>
          <a:lstStyle/>
          <a:p>
            <a:pPr algn="l">
              <a:spcAft>
                <a:spcPts val="0"/>
              </a:spcAft>
            </a:pPr>
            <a:r>
              <a:rPr sz="1400" b="1" i="0">
                <a:solidFill>
                  <a:srgbClr val="178681"/>
                </a:solidFill>
                <a:latin typeface="Arial"/>
              </a:rPr>
              <a:t>3  CONSENSUS RANKING</a:t>
            </a:r>
          </a:p>
        </p:txBody>
      </p:sp>
      <p:sp>
        <p:nvSpPr>
          <p:cNvPr id="51" name="TextBox 50"/>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Genes supported by both move upward</a:t>
            </a:r>
          </a:p>
        </p:txBody>
      </p:sp>
      <p:sp>
        <p:nvSpPr>
          <p:cNvPr id="52" name="TextBox 51"/>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53" name="TextBox 52"/>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54" name="TextBox 53"/>
          <p:cNvSpPr txBox="1"/>
          <p:nvPr/>
        </p:nvSpPr>
        <p:spPr>
          <a:xfrm>
            <a:off x="8010144"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55" name="Rectangle 54"/>
          <p:cNvSpPr/>
          <p:nvPr/>
        </p:nvSpPr>
        <p:spPr>
          <a:xfrm>
            <a:off x="8833104"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327050" y="28849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16768" y="28575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58" name="TextBox 57"/>
          <p:cNvSpPr txBox="1"/>
          <p:nvPr/>
        </p:nvSpPr>
        <p:spPr>
          <a:xfrm>
            <a:off x="8010144"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59" name="Rectangle 58"/>
          <p:cNvSpPr/>
          <p:nvPr/>
        </p:nvSpPr>
        <p:spPr>
          <a:xfrm>
            <a:off x="8833104"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9835469" y="31135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716768" y="30861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62" name="TextBox 61"/>
          <p:cNvSpPr txBox="1"/>
          <p:nvPr/>
        </p:nvSpPr>
        <p:spPr>
          <a:xfrm>
            <a:off x="8010144"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63" name="Rectangle 62"/>
          <p:cNvSpPr/>
          <p:nvPr/>
        </p:nvSpPr>
        <p:spPr>
          <a:xfrm>
            <a:off x="8833104"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151485" y="33421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16768" y="33147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66" name="TextBox 65"/>
          <p:cNvSpPr txBox="1"/>
          <p:nvPr/>
        </p:nvSpPr>
        <p:spPr>
          <a:xfrm>
            <a:off x="8010144"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67" name="Rectangle 66"/>
          <p:cNvSpPr/>
          <p:nvPr/>
        </p:nvSpPr>
        <p:spPr>
          <a:xfrm>
            <a:off x="8833104"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853025" y="35707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716768" y="35433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0" name="TextBox 69"/>
          <p:cNvSpPr txBox="1"/>
          <p:nvPr/>
        </p:nvSpPr>
        <p:spPr>
          <a:xfrm>
            <a:off x="8010144"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71" name="Rectangle 70"/>
          <p:cNvSpPr/>
          <p:nvPr/>
        </p:nvSpPr>
        <p:spPr>
          <a:xfrm>
            <a:off x="8833104"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9343887" y="3799331"/>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716768" y="37719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4" name="Rectangle 73"/>
          <p:cNvSpPr/>
          <p:nvPr/>
        </p:nvSpPr>
        <p:spPr>
          <a:xfrm>
            <a:off x="10149840" y="2834640"/>
            <a:ext cx="20116" cy="116128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195560" y="4041648"/>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76" name="TextBox 75"/>
          <p:cNvSpPr txBox="1"/>
          <p:nvPr/>
        </p:nvSpPr>
        <p:spPr>
          <a:xfrm>
            <a:off x="475488" y="4425696"/>
            <a:ext cx="4251960"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Top-ranked genes become classifier inputs</a:t>
            </a:r>
          </a:p>
        </p:txBody>
      </p:sp>
      <p:sp>
        <p:nvSpPr>
          <p:cNvPr id="77" name="Rectangle 76"/>
          <p:cNvSpPr/>
          <p:nvPr/>
        </p:nvSpPr>
        <p:spPr>
          <a:xfrm>
            <a:off x="466344" y="4736592"/>
            <a:ext cx="3081528" cy="11704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04088" y="4983480"/>
            <a:ext cx="2596896" cy="228600"/>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Rank 974 genes</a:t>
            </a:r>
          </a:p>
        </p:txBody>
      </p:sp>
      <p:sp>
        <p:nvSpPr>
          <p:cNvPr id="79" name="TextBox 78"/>
          <p:cNvSpPr txBox="1"/>
          <p:nvPr/>
        </p:nvSpPr>
        <p:spPr>
          <a:xfrm>
            <a:off x="704088" y="5376672"/>
            <a:ext cx="2596896" cy="201168"/>
          </a:xfrm>
          <a:prstGeom prst="rect">
            <a:avLst/>
          </a:prstGeom>
          <a:noFill/>
        </p:spPr>
        <p:txBody>
          <a:bodyPr wrap="square" lIns="0" rIns="0" tIns="0" bIns="0" anchor="t">
            <a:spAutoFit/>
          </a:bodyPr>
          <a:lstStyle/>
          <a:p>
            <a:pPr algn="ctr">
              <a:spcAft>
                <a:spcPts val="0"/>
              </a:spcAft>
            </a:pPr>
            <a:r>
              <a:rPr sz="1000" b="0" i="0">
                <a:solidFill>
                  <a:srgbClr val="59697A"/>
                </a:solidFill>
                <a:latin typeface="Arial"/>
              </a:rPr>
              <a:t>real, generated, or consensus</a:t>
            </a:r>
          </a:p>
        </p:txBody>
      </p:sp>
      <p:sp>
        <p:nvSpPr>
          <p:cNvPr id="80" name="Right Arrow 79"/>
          <p:cNvSpPr/>
          <p:nvPr/>
        </p:nvSpPr>
        <p:spPr>
          <a:xfrm>
            <a:off x="364845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032504" y="4736592"/>
            <a:ext cx="3081528" cy="117043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70248" y="4928616"/>
            <a:ext cx="2596896" cy="228600"/>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Keep the top k</a:t>
            </a:r>
          </a:p>
        </p:txBody>
      </p:sp>
      <p:sp>
        <p:nvSpPr>
          <p:cNvPr id="83" name="TextBox 82"/>
          <p:cNvSpPr txBox="1"/>
          <p:nvPr/>
        </p:nvSpPr>
        <p:spPr>
          <a:xfrm>
            <a:off x="4270248" y="5266944"/>
            <a:ext cx="2596896"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k = 10, 25, 50, or 100</a:t>
            </a:r>
          </a:p>
        </p:txBody>
      </p:sp>
      <p:sp>
        <p:nvSpPr>
          <p:cNvPr id="84" name="TextBox 83"/>
          <p:cNvSpPr txBox="1"/>
          <p:nvPr/>
        </p:nvSpPr>
        <p:spPr>
          <a:xfrm>
            <a:off x="4270248" y="5541264"/>
            <a:ext cx="2596896" cy="164592"/>
          </a:xfrm>
          <a:prstGeom prst="rect">
            <a:avLst/>
          </a:prstGeom>
          <a:noFill/>
        </p:spPr>
        <p:txBody>
          <a:bodyPr wrap="square" lIns="0" rIns="0" tIns="0" bIns="0" anchor="t">
            <a:spAutoFit/>
          </a:bodyPr>
          <a:lstStyle/>
          <a:p>
            <a:pPr algn="ctr">
              <a:spcAft>
                <a:spcPts val="0"/>
              </a:spcAft>
            </a:pPr>
            <a:r>
              <a:rPr sz="880" b="0" i="1">
                <a:solidFill>
                  <a:srgbClr val="59697A"/>
                </a:solidFill>
                <a:latin typeface="Arial"/>
              </a:rPr>
              <a:t>validation chooses k</a:t>
            </a:r>
          </a:p>
        </p:txBody>
      </p:sp>
      <p:sp>
        <p:nvSpPr>
          <p:cNvPr id="85" name="Right Arrow 84"/>
          <p:cNvSpPr/>
          <p:nvPr/>
        </p:nvSpPr>
        <p:spPr>
          <a:xfrm>
            <a:off x="721461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98664" y="4736592"/>
            <a:ext cx="3968496" cy="11704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836408" y="4983480"/>
            <a:ext cx="3493008" cy="228600"/>
          </a:xfrm>
          <a:prstGeom prst="rect">
            <a:avLst/>
          </a:prstGeom>
          <a:noFill/>
        </p:spPr>
        <p:txBody>
          <a:bodyPr wrap="square" lIns="0" rIns="0" tIns="0" bIns="0" anchor="t">
            <a:spAutoFit/>
          </a:bodyPr>
          <a:lstStyle/>
          <a:p>
            <a:pPr algn="ctr">
              <a:spcAft>
                <a:spcPts val="0"/>
              </a:spcAft>
            </a:pPr>
            <a:r>
              <a:rPr sz="1300" b="1" i="0">
                <a:solidFill>
                  <a:srgbClr val="082B55"/>
                </a:solidFill>
                <a:latin typeface="Arial"/>
              </a:rPr>
              <a:t>Fit FLT-GC classifier</a:t>
            </a:r>
          </a:p>
        </p:txBody>
      </p:sp>
      <p:sp>
        <p:nvSpPr>
          <p:cNvPr id="88" name="TextBox 87"/>
          <p:cNvSpPr txBox="1"/>
          <p:nvPr/>
        </p:nvSpPr>
        <p:spPr>
          <a:xfrm>
            <a:off x="7836408" y="5376672"/>
            <a:ext cx="3493008" cy="201168"/>
          </a:xfrm>
          <a:prstGeom prst="rect">
            <a:avLst/>
          </a:prstGeom>
          <a:noFill/>
        </p:spPr>
        <p:txBody>
          <a:bodyPr wrap="square" lIns="0" rIns="0" tIns="0" bIns="0" anchor="t">
            <a:spAutoFit/>
          </a:bodyPr>
          <a:lstStyle/>
          <a:p>
            <a:pPr algn="ctr">
              <a:spcAft>
                <a:spcPts val="0"/>
              </a:spcAft>
            </a:pPr>
            <a:r>
              <a:rPr sz="1000" b="0" i="0">
                <a:solidFill>
                  <a:srgbClr val="263746"/>
                </a:solidFill>
                <a:latin typeface="Arial"/>
              </a:rPr>
              <a:t>using only the selected gene columns</a:t>
            </a:r>
          </a:p>
        </p:txBody>
      </p:sp>
      <p:sp>
        <p:nvSpPr>
          <p:cNvPr id="89" name="TextBox 8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Five genes are schematic examples from the 974-gene ranking. Real and generated normalized ranks are combined.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can shift the FLT/GC boundary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Opaque points train the classifier; transparent points are the same held-out real profiles in both panels.</a:t>
            </a:r>
          </a:p>
        </p:txBody>
      </p:sp>
      <p:sp>
        <p:nvSpPr>
          <p:cNvPr id="7" name="Oval 6"/>
          <p:cNvSpPr/>
          <p:nvPr/>
        </p:nvSpPr>
        <p:spPr>
          <a:xfrm>
            <a:off x="8037575" y="1792224"/>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11312" y="1755648"/>
            <a:ext cx="329184"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FLT</a:t>
            </a:r>
          </a:p>
        </p:txBody>
      </p:sp>
      <p:sp>
        <p:nvSpPr>
          <p:cNvPr id="9" name="Oval 8"/>
          <p:cNvSpPr/>
          <p:nvPr/>
        </p:nvSpPr>
        <p:spPr>
          <a:xfrm>
            <a:off x="8686800" y="179222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0536" y="1755648"/>
            <a:ext cx="310896"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GC</a:t>
            </a:r>
          </a:p>
        </p:txBody>
      </p:sp>
      <p:sp>
        <p:nvSpPr>
          <p:cNvPr id="11" name="Oval 10"/>
          <p:cNvSpPr/>
          <p:nvPr/>
        </p:nvSpPr>
        <p:spPr>
          <a:xfrm>
            <a:off x="9418320" y="1792224"/>
            <a:ext cx="118872" cy="118872"/>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92056" y="1755648"/>
            <a:ext cx="566928"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training</a:t>
            </a:r>
          </a:p>
        </p:txBody>
      </p:sp>
      <p:sp>
        <p:nvSpPr>
          <p:cNvPr id="13" name="Oval 12"/>
          <p:cNvSpPr/>
          <p:nvPr/>
        </p:nvSpPr>
        <p:spPr>
          <a:xfrm>
            <a:off x="10314432" y="1773936"/>
            <a:ext cx="146304" cy="146304"/>
          </a:xfrm>
          <a:prstGeom prst="ellipse">
            <a:avLst/>
          </a:prstGeom>
          <a:solidFill>
            <a:srgbClr val="8A969E">
              <a:alpha val="42000"/>
            </a:srgbClr>
          </a:solidFill>
          <a:ln w="12700">
            <a:solidFill>
              <a:srgbClr val="8A96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33888" y="1755648"/>
            <a:ext cx="658368"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held-out</a:t>
            </a:r>
          </a:p>
        </p:txBody>
      </p:sp>
      <p:sp>
        <p:nvSpPr>
          <p:cNvPr id="15" name="TextBox 14"/>
          <p:cNvSpPr txBox="1"/>
          <p:nvPr/>
        </p:nvSpPr>
        <p:spPr>
          <a:xfrm>
            <a:off x="658368" y="2039112"/>
            <a:ext cx="4343400" cy="246888"/>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REAL-ONLY CLASSIFIER</a:t>
            </a:r>
          </a:p>
        </p:txBody>
      </p:sp>
      <p:sp>
        <p:nvSpPr>
          <p:cNvPr id="16" name="TextBox 15"/>
          <p:cNvSpPr txBox="1"/>
          <p:nvPr/>
        </p:nvSpPr>
        <p:spPr>
          <a:xfrm>
            <a:off x="7178040" y="2039112"/>
            <a:ext cx="4343400" cy="246888"/>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SYNTHETIC-GUIDED CLASSIFIER</a:t>
            </a:r>
          </a:p>
        </p:txBody>
      </p:sp>
      <p:sp>
        <p:nvSpPr>
          <p:cNvPr id="17" name="Rectangle 16"/>
          <p:cNvSpPr/>
          <p:nvPr/>
        </p:nvSpPr>
        <p:spPr>
          <a:xfrm>
            <a:off x="658368" y="5504688"/>
            <a:ext cx="4343400"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395728"/>
            <a:ext cx="20116" cy="312724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69848" y="287121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408176" y="445312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755648" y="363016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075688" y="50932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58568" y="30358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264408" y="28986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38728" y="44531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858768" y="35844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224528" y="509320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544568" y="30815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532887" y="38130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743200" y="47274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17520" y="33101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218687" y="49103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350008" y="2560320"/>
            <a:ext cx="32004" cy="2724912"/>
          </a:xfrm>
          <a:prstGeom prst="rect">
            <a:avLst/>
          </a:prstGeom>
          <a:solidFill>
            <a:srgbClr val="596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5614416"/>
            <a:ext cx="1024128" cy="182880"/>
          </a:xfrm>
          <a:prstGeom prst="rect">
            <a:avLst/>
          </a:prstGeom>
          <a:noFill/>
        </p:spPr>
        <p:txBody>
          <a:bodyPr wrap="square" lIns="0" rIns="0" tIns="0" bIns="0" anchor="t">
            <a:spAutoFit/>
          </a:bodyPr>
          <a:lstStyle/>
          <a:p>
            <a:pPr algn="l">
              <a:spcAft>
                <a:spcPts val="0"/>
              </a:spcAft>
            </a:pPr>
            <a:r>
              <a:rPr sz="919" b="0" i="0">
                <a:solidFill>
                  <a:srgbClr val="D96552"/>
                </a:solidFill>
                <a:latin typeface="Arial"/>
              </a:rPr>
              <a:t>predicted FLT</a:t>
            </a:r>
          </a:p>
        </p:txBody>
      </p:sp>
      <p:sp>
        <p:nvSpPr>
          <p:cNvPr id="35" name="TextBox 34"/>
          <p:cNvSpPr txBox="1"/>
          <p:nvPr/>
        </p:nvSpPr>
        <p:spPr>
          <a:xfrm>
            <a:off x="3840480" y="5614416"/>
            <a:ext cx="1024128" cy="182880"/>
          </a:xfrm>
          <a:prstGeom prst="rect">
            <a:avLst/>
          </a:prstGeom>
          <a:noFill/>
        </p:spPr>
        <p:txBody>
          <a:bodyPr wrap="square" lIns="0" rIns="0" tIns="0" bIns="0" anchor="t">
            <a:spAutoFit/>
          </a:bodyPr>
          <a:lstStyle/>
          <a:p>
            <a:pPr algn="r">
              <a:spcAft>
                <a:spcPts val="0"/>
              </a:spcAft>
            </a:pPr>
            <a:r>
              <a:rPr sz="919" b="0" i="0">
                <a:solidFill>
                  <a:srgbClr val="2D6496"/>
                </a:solidFill>
                <a:latin typeface="Arial"/>
              </a:rPr>
              <a:t>predicted GC</a:t>
            </a:r>
          </a:p>
        </p:txBody>
      </p:sp>
      <p:sp>
        <p:nvSpPr>
          <p:cNvPr id="36" name="Rectangle 35"/>
          <p:cNvSpPr/>
          <p:nvPr/>
        </p:nvSpPr>
        <p:spPr>
          <a:xfrm>
            <a:off x="7178040" y="5504688"/>
            <a:ext cx="4343400"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78040" y="2395728"/>
            <a:ext cx="20116" cy="312724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89519" y="287121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927848" y="445312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275319" y="363016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595360" y="50932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778240" y="30358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784080" y="28986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058400" y="44531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378440" y="35844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744200" y="509320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1064240" y="30815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052559" y="38130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262872" y="47274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537192" y="33101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738359" y="49103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390888" y="2560320"/>
            <a:ext cx="41148" cy="27249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87768" y="5614416"/>
            <a:ext cx="1024128" cy="182880"/>
          </a:xfrm>
          <a:prstGeom prst="rect">
            <a:avLst/>
          </a:prstGeom>
          <a:noFill/>
        </p:spPr>
        <p:txBody>
          <a:bodyPr wrap="square" lIns="0" rIns="0" tIns="0" bIns="0" anchor="t">
            <a:spAutoFit/>
          </a:bodyPr>
          <a:lstStyle/>
          <a:p>
            <a:pPr algn="l">
              <a:spcAft>
                <a:spcPts val="0"/>
              </a:spcAft>
            </a:pPr>
            <a:r>
              <a:rPr sz="919" b="0" i="0">
                <a:solidFill>
                  <a:srgbClr val="D96552"/>
                </a:solidFill>
                <a:latin typeface="Arial"/>
              </a:rPr>
              <a:t>predicted FLT</a:t>
            </a:r>
          </a:p>
        </p:txBody>
      </p:sp>
      <p:sp>
        <p:nvSpPr>
          <p:cNvPr id="54" name="TextBox 53"/>
          <p:cNvSpPr txBox="1"/>
          <p:nvPr/>
        </p:nvSpPr>
        <p:spPr>
          <a:xfrm>
            <a:off x="10360152" y="5614416"/>
            <a:ext cx="1024128" cy="182880"/>
          </a:xfrm>
          <a:prstGeom prst="rect">
            <a:avLst/>
          </a:prstGeom>
          <a:noFill/>
        </p:spPr>
        <p:txBody>
          <a:bodyPr wrap="square" lIns="0" rIns="0" tIns="0" bIns="0" anchor="t">
            <a:spAutoFit/>
          </a:bodyPr>
          <a:lstStyle/>
          <a:p>
            <a:pPr algn="r">
              <a:spcAft>
                <a:spcPts val="0"/>
              </a:spcAft>
            </a:pPr>
            <a:r>
              <a:rPr sz="919" b="0" i="0">
                <a:solidFill>
                  <a:srgbClr val="2D6496"/>
                </a:solidFill>
                <a:latin typeface="Arial"/>
              </a:rPr>
              <a:t>predicted GC</a:t>
            </a:r>
          </a:p>
        </p:txBody>
      </p:sp>
      <p:sp>
        <p:nvSpPr>
          <p:cNvPr id="55" name="Right Arrow 54"/>
          <p:cNvSpPr/>
          <p:nvPr/>
        </p:nvSpPr>
        <p:spPr>
          <a:xfrm>
            <a:off x="5367528" y="3547872"/>
            <a:ext cx="749808" cy="4023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093208" y="4069080"/>
            <a:ext cx="1298448" cy="356616"/>
          </a:xfrm>
          <a:prstGeom prst="rect">
            <a:avLst/>
          </a:prstGeom>
          <a:noFill/>
        </p:spPr>
        <p:txBody>
          <a:bodyPr wrap="square" lIns="0" rIns="0" tIns="0" bIns="0" anchor="t">
            <a:spAutoFit/>
          </a:bodyPr>
          <a:lstStyle/>
          <a:p>
            <a:pPr algn="ctr">
              <a:spcAft>
                <a:spcPts val="0"/>
              </a:spcAft>
            </a:pPr>
            <a:r>
              <a:rPr sz="960" b="1" i="0">
                <a:solidFill>
                  <a:srgbClr val="59697A"/>
                </a:solidFill>
                <a:latin typeface="Arial"/>
              </a:rPr>
              <a:t>same held-out profiles</a:t>
            </a:r>
          </a:p>
        </p:txBody>
      </p:sp>
      <p:sp>
        <p:nvSpPr>
          <p:cNvPr id="57" name="TextBox 5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Schematic of the held-out evaluation used for each tissue-specific classifier candidate.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use helped some tissues and hurt others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classifier declined, and even the best tissue-specific synthetic candidate was not always better than real-only training.</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457200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Best synthetic-informed candidate by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865185" y="2423160"/>
            <a:ext cx="5777853" cy="3383280"/>
          </a:xfrm>
          <a:prstGeom prst="rect">
            <a:avLst/>
          </a:prstGeom>
        </p:spPr>
      </p:pic>
      <p:sp>
        <p:nvSpPr>
          <p:cNvPr id="30" name="TextBox 29"/>
          <p:cNvSpPr txBox="1"/>
          <p:nvPr/>
        </p:nvSpPr>
        <p:spPr>
          <a:xfrm>
            <a:off x="4059936" y="5715000"/>
            <a:ext cx="6583680" cy="246888"/>
          </a:xfrm>
          <a:prstGeom prst="rect">
            <a:avLst/>
          </a:prstGeom>
          <a:noFill/>
        </p:spPr>
        <p:txBody>
          <a:bodyPr wrap="square" lIns="18288" rIns="18288" tIns="18288" bIns="18288" anchor="t">
            <a:spAutoFit/>
          </a:bodyPr>
          <a:lstStyle/>
          <a:p>
            <a:pPr algn="l">
              <a:spcAft>
                <a:spcPts val="0"/>
              </a:spcAft>
            </a:pPr>
            <a:r>
              <a:rPr sz="1170" b="0" i="1">
                <a:solidFill>
                  <a:srgbClr val="59697A"/>
                </a:solidFill>
                <a:latin typeface="Arial"/>
              </a:rPr>
              <a:t>Only candidates that were non-worse on BA, AUROC, and AP were retained.</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Tissue-specific consensus ranking and light synthetic regularization improved held-out prediction in selected tissues.</a:t>
            </a:r>
          </a:p>
        </p:txBody>
      </p:sp>
      <p:sp>
        <p:nvSpPr>
          <p:cNvPr id="16" name="Rectangle 15"/>
          <p:cNvSpPr/>
          <p:nvPr/>
        </p:nvSpPr>
        <p:spPr>
          <a:xfrm>
            <a:off x="7552944"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Promoted and reinforced genes supported tissue-specific hypotheses. Literature review separated prior alignment from complementary findings.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