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scatterplots are schematic. Synthetic profiles first contribute to a consensus gene ranking. The classifier is then refit on real profiles, or on real profiles plus a small synthetic weight, so the selected features and sometimes the boundary can change. The thymus bars are observed workflow results: Nusap1 and Cdk1 were not stable in repeated real-only selection but reached 100 percent with guidance, while Ube2c and Gmnn were reinforced. Held-out real profiles choose the arm, and real OSDR data supply the biological effect and FDR.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can change which genes define FLT versus GC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Consensus ranking changes the feature set; low-weight synthetic fitting can also nudge the classifier boundary.</a:t>
            </a:r>
          </a:p>
        </p:txBody>
      </p:sp>
      <p:sp>
        <p:nvSpPr>
          <p:cNvPr id="7" name="TextBox 6"/>
          <p:cNvSpPr txBox="1"/>
          <p:nvPr/>
        </p:nvSpPr>
        <p:spPr>
          <a:xfrm>
            <a:off x="475488" y="1847088"/>
            <a:ext cx="1920240" cy="274320"/>
          </a:xfrm>
          <a:prstGeom prst="rect">
            <a:avLst/>
          </a:prstGeom>
          <a:noFill/>
        </p:spPr>
        <p:txBody>
          <a:bodyPr wrap="square" lIns="0" rIns="0" tIns="0" bIns="0" anchor="t">
            <a:spAutoFit/>
          </a:bodyPr>
          <a:lstStyle/>
          <a:p>
            <a:pPr algn="l">
              <a:spcAft>
                <a:spcPts val="0"/>
              </a:spcAft>
            </a:pPr>
            <a:r>
              <a:rPr sz="1700" b="1" i="0">
                <a:solidFill>
                  <a:srgbClr val="082B55"/>
                </a:solidFill>
                <a:latin typeface="Arial"/>
              </a:rPr>
              <a:t>Classifier view</a:t>
            </a:r>
          </a:p>
        </p:txBody>
      </p:sp>
      <p:sp>
        <p:nvSpPr>
          <p:cNvPr id="8" name="TextBox 7"/>
          <p:cNvSpPr txBox="1"/>
          <p:nvPr/>
        </p:nvSpPr>
        <p:spPr>
          <a:xfrm>
            <a:off x="2139696" y="1892807"/>
            <a:ext cx="749808" cy="201168"/>
          </a:xfrm>
          <a:prstGeom prst="rect">
            <a:avLst/>
          </a:prstGeom>
          <a:noFill/>
        </p:spPr>
        <p:txBody>
          <a:bodyPr wrap="square" lIns="0" rIns="0" tIns="0" bIns="0" anchor="t">
            <a:spAutoFit/>
          </a:bodyPr>
          <a:lstStyle/>
          <a:p>
            <a:pPr algn="l">
              <a:spcAft>
                <a:spcPts val="0"/>
              </a:spcAft>
            </a:pPr>
            <a:r>
              <a:rPr sz="950" b="0" i="1">
                <a:solidFill>
                  <a:srgbClr val="8A969E"/>
                </a:solidFill>
                <a:latin typeface="Arial"/>
              </a:rPr>
              <a:t>schematic</a:t>
            </a:r>
          </a:p>
        </p:txBody>
      </p:sp>
      <p:sp>
        <p:nvSpPr>
          <p:cNvPr id="9" name="Oval 8"/>
          <p:cNvSpPr/>
          <p:nvPr/>
        </p:nvSpPr>
        <p:spPr>
          <a:xfrm>
            <a:off x="2971800" y="1874519"/>
            <a:ext cx="109728" cy="10972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36392" y="1847088"/>
            <a:ext cx="713232" cy="201168"/>
          </a:xfrm>
          <a:prstGeom prst="rect">
            <a:avLst/>
          </a:prstGeom>
          <a:noFill/>
        </p:spPr>
        <p:txBody>
          <a:bodyPr wrap="square" lIns="0" rIns="0" tIns="0" bIns="0" anchor="t">
            <a:spAutoFit/>
          </a:bodyPr>
          <a:lstStyle/>
          <a:p>
            <a:pPr algn="l">
              <a:spcAft>
                <a:spcPts val="0"/>
              </a:spcAft>
            </a:pPr>
            <a:r>
              <a:rPr sz="930" b="0" i="0">
                <a:solidFill>
                  <a:srgbClr val="59697A"/>
                </a:solidFill>
                <a:latin typeface="Arial"/>
              </a:rPr>
              <a:t>real FLT</a:t>
            </a:r>
          </a:p>
        </p:txBody>
      </p:sp>
      <p:sp>
        <p:nvSpPr>
          <p:cNvPr id="11" name="Oval 10"/>
          <p:cNvSpPr/>
          <p:nvPr/>
        </p:nvSpPr>
        <p:spPr>
          <a:xfrm>
            <a:off x="3877056" y="1874519"/>
            <a:ext cx="109728" cy="1097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41648" y="1847088"/>
            <a:ext cx="658368" cy="201168"/>
          </a:xfrm>
          <a:prstGeom prst="rect">
            <a:avLst/>
          </a:prstGeom>
          <a:noFill/>
        </p:spPr>
        <p:txBody>
          <a:bodyPr wrap="square" lIns="0" rIns="0" tIns="0" bIns="0" anchor="t">
            <a:spAutoFit/>
          </a:bodyPr>
          <a:lstStyle/>
          <a:p>
            <a:pPr algn="l">
              <a:spcAft>
                <a:spcPts val="0"/>
              </a:spcAft>
            </a:pPr>
            <a:r>
              <a:rPr sz="930" b="0" i="0">
                <a:solidFill>
                  <a:srgbClr val="59697A"/>
                </a:solidFill>
                <a:latin typeface="Arial"/>
              </a:rPr>
              <a:t>real GC</a:t>
            </a:r>
          </a:p>
        </p:txBody>
      </p:sp>
      <p:sp>
        <p:nvSpPr>
          <p:cNvPr id="13" name="Rectangle 12"/>
          <p:cNvSpPr/>
          <p:nvPr/>
        </p:nvSpPr>
        <p:spPr>
          <a:xfrm rot="2700000">
            <a:off x="4736592" y="1906524"/>
            <a:ext cx="146304"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4736592" y="1906524"/>
            <a:ext cx="146304"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847088"/>
            <a:ext cx="822960" cy="201168"/>
          </a:xfrm>
          <a:prstGeom prst="rect">
            <a:avLst/>
          </a:prstGeom>
          <a:noFill/>
        </p:spPr>
        <p:txBody>
          <a:bodyPr wrap="square" lIns="0" rIns="0" tIns="0" bIns="0" anchor="t">
            <a:spAutoFit/>
          </a:bodyPr>
          <a:lstStyle/>
          <a:p>
            <a:pPr algn="l">
              <a:spcAft>
                <a:spcPts val="0"/>
              </a:spcAft>
            </a:pPr>
            <a:r>
              <a:rPr sz="930" b="0" i="0">
                <a:solidFill>
                  <a:srgbClr val="59697A"/>
                </a:solidFill>
                <a:latin typeface="Arial"/>
              </a:rPr>
              <a:t>generated</a:t>
            </a:r>
          </a:p>
        </p:txBody>
      </p:sp>
      <p:sp>
        <p:nvSpPr>
          <p:cNvPr id="16" name="TextBox 15"/>
          <p:cNvSpPr txBox="1"/>
          <p:nvPr/>
        </p:nvSpPr>
        <p:spPr>
          <a:xfrm>
            <a:off x="713232" y="2258568"/>
            <a:ext cx="2103120" cy="219456"/>
          </a:xfrm>
          <a:prstGeom prst="rect">
            <a:avLst/>
          </a:prstGeom>
          <a:noFill/>
        </p:spPr>
        <p:txBody>
          <a:bodyPr wrap="square" lIns="0" rIns="0" tIns="0" bIns="0" anchor="t">
            <a:spAutoFit/>
          </a:bodyPr>
          <a:lstStyle/>
          <a:p>
            <a:pPr algn="ctr">
              <a:spcAft>
                <a:spcPts val="0"/>
              </a:spcAft>
            </a:pPr>
            <a:r>
              <a:rPr sz="1050" b="1" i="0">
                <a:solidFill>
                  <a:srgbClr val="2D6496"/>
                </a:solidFill>
                <a:latin typeface="Arial"/>
              </a:rPr>
              <a:t>REAL ONLY</a:t>
            </a:r>
          </a:p>
        </p:txBody>
      </p:sp>
      <p:sp>
        <p:nvSpPr>
          <p:cNvPr id="17" name="TextBox 16"/>
          <p:cNvSpPr txBox="1"/>
          <p:nvPr/>
        </p:nvSpPr>
        <p:spPr>
          <a:xfrm>
            <a:off x="3529584" y="2258568"/>
            <a:ext cx="2359152" cy="219456"/>
          </a:xfrm>
          <a:prstGeom prst="rect">
            <a:avLst/>
          </a:prstGeom>
          <a:noFill/>
        </p:spPr>
        <p:txBody>
          <a:bodyPr wrap="square" lIns="0" rIns="0" tIns="0" bIns="0" anchor="t">
            <a:spAutoFit/>
          </a:bodyPr>
          <a:lstStyle/>
          <a:p>
            <a:pPr algn="ctr">
              <a:spcAft>
                <a:spcPts val="0"/>
              </a:spcAft>
            </a:pPr>
            <a:r>
              <a:rPr sz="1050" b="1" i="0">
                <a:solidFill>
                  <a:srgbClr val="178681"/>
                </a:solidFill>
                <a:latin typeface="Arial"/>
              </a:rPr>
              <a:t>SYNTHETIC GUIDED</a:t>
            </a:r>
          </a:p>
        </p:txBody>
      </p:sp>
      <p:sp>
        <p:nvSpPr>
          <p:cNvPr id="18" name="Rectangle 17"/>
          <p:cNvSpPr/>
          <p:nvPr/>
        </p:nvSpPr>
        <p:spPr>
          <a:xfrm>
            <a:off x="768096" y="4050791"/>
            <a:ext cx="1993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 y="2587752"/>
            <a:ext cx="16459" cy="148132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42415" y="2862072"/>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07007" y="319125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08176" y="341985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563624" y="298094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09928" y="36118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73936" y="30266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02536" y="330098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212848" y="286207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432304" y="353872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11095" y="372160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300000">
            <a:off x="1783080" y="2660904"/>
            <a:ext cx="23774" cy="1307592"/>
          </a:xfrm>
          <a:prstGeom prst="rect">
            <a:avLst/>
          </a:prstGeom>
          <a:solidFill>
            <a:srgbClr val="B4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56231" y="2624328"/>
            <a:ext cx="566928" cy="164592"/>
          </a:xfrm>
          <a:prstGeom prst="rect">
            <a:avLst/>
          </a:prstGeom>
          <a:noFill/>
        </p:spPr>
        <p:txBody>
          <a:bodyPr wrap="square" lIns="0" rIns="0" tIns="0" bIns="0" anchor="t">
            <a:spAutoFit/>
          </a:bodyPr>
          <a:lstStyle/>
          <a:p>
            <a:pPr algn="l">
              <a:spcAft>
                <a:spcPts val="0"/>
              </a:spcAft>
            </a:pPr>
            <a:r>
              <a:rPr sz="819" b="0" i="0">
                <a:solidFill>
                  <a:srgbClr val="59697A"/>
                </a:solidFill>
                <a:latin typeface="Arial"/>
              </a:rPr>
              <a:t>boundary</a:t>
            </a:r>
          </a:p>
        </p:txBody>
      </p:sp>
      <p:sp>
        <p:nvSpPr>
          <p:cNvPr id="32" name="Right Arrow 31"/>
          <p:cNvSpPr/>
          <p:nvPr/>
        </p:nvSpPr>
        <p:spPr>
          <a:xfrm>
            <a:off x="2962656" y="3200400"/>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75304" y="4050791"/>
            <a:ext cx="1993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575304" y="2587752"/>
            <a:ext cx="16459" cy="148132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849624" y="2862072"/>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014216" y="319125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215384" y="341985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370832" y="298094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517136" y="36118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581144" y="30266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809744" y="330098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20056" y="286207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239512" y="353872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718304" y="372160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300000">
            <a:off x="4590288" y="2660904"/>
            <a:ext cx="23774" cy="1307592"/>
          </a:xfrm>
          <a:prstGeom prst="rect">
            <a:avLst/>
          </a:prstGeom>
          <a:solidFill>
            <a:srgbClr val="B4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2700000">
            <a:off x="3749039" y="3003804"/>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rot="18900000">
            <a:off x="3749039" y="3003804"/>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3913632" y="3332988"/>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3913632" y="3332988"/>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rot="2700000">
            <a:off x="4114800" y="3561588"/>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rot="18900000">
            <a:off x="4114800" y="3561588"/>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rot="2700000">
            <a:off x="4270248" y="3122676"/>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rot="18900000">
            <a:off x="4270248" y="3122676"/>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2700000">
            <a:off x="4416552" y="3753611"/>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rot="18900000">
            <a:off x="4416552" y="3753611"/>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rot="2700000">
            <a:off x="4663440" y="300380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rot="18900000">
            <a:off x="4663440" y="300380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rot="2700000">
            <a:off x="4892040" y="327812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rot="18900000">
            <a:off x="4892040" y="327812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rot="2700000">
            <a:off x="5102352" y="2839212"/>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rot="18900000">
            <a:off x="5102352" y="2839212"/>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rot="2700000">
            <a:off x="5321808" y="3515868"/>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rot="18900000">
            <a:off x="5321808" y="3515868"/>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rot="2700000">
            <a:off x="4800600" y="3698748"/>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rot="18900000">
            <a:off x="4800600" y="3698748"/>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rot="21420000">
            <a:off x="4700016" y="2660904"/>
            <a:ext cx="32004" cy="13075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800600" y="2624328"/>
            <a:ext cx="566928" cy="164592"/>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68" name="TextBox 67"/>
          <p:cNvSpPr txBox="1"/>
          <p:nvPr/>
        </p:nvSpPr>
        <p:spPr>
          <a:xfrm>
            <a:off x="768096" y="4233672"/>
            <a:ext cx="1993392"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Rank from real</a:t>
            </a:r>
          </a:p>
        </p:txBody>
      </p:sp>
      <p:sp>
        <p:nvSpPr>
          <p:cNvPr id="69" name="TextBox 68"/>
          <p:cNvSpPr txBox="1"/>
          <p:nvPr/>
        </p:nvSpPr>
        <p:spPr>
          <a:xfrm>
            <a:off x="768096" y="4498848"/>
            <a:ext cx="1993392" cy="201168"/>
          </a:xfrm>
          <a:prstGeom prst="rect">
            <a:avLst/>
          </a:prstGeom>
          <a:noFill/>
        </p:spPr>
        <p:txBody>
          <a:bodyPr wrap="square" lIns="0" rIns="0" tIns="0" bIns="0" anchor="t">
            <a:spAutoFit/>
          </a:bodyPr>
          <a:lstStyle/>
          <a:p>
            <a:pPr algn="ctr">
              <a:spcAft>
                <a:spcPts val="0"/>
              </a:spcAft>
            </a:pPr>
            <a:r>
              <a:rPr sz="1019" b="0" i="0">
                <a:solidFill>
                  <a:srgbClr val="59697A"/>
                </a:solidFill>
                <a:latin typeface="Arial"/>
              </a:rPr>
              <a:t>Fit on real</a:t>
            </a:r>
          </a:p>
        </p:txBody>
      </p:sp>
      <p:sp>
        <p:nvSpPr>
          <p:cNvPr id="70" name="TextBox 69"/>
          <p:cNvSpPr txBox="1"/>
          <p:nvPr/>
        </p:nvSpPr>
        <p:spPr>
          <a:xfrm>
            <a:off x="3538728" y="4233672"/>
            <a:ext cx="2103120"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Rank from real + generated</a:t>
            </a:r>
          </a:p>
        </p:txBody>
      </p:sp>
      <p:sp>
        <p:nvSpPr>
          <p:cNvPr id="71" name="TextBox 70"/>
          <p:cNvSpPr txBox="1"/>
          <p:nvPr/>
        </p:nvSpPr>
        <p:spPr>
          <a:xfrm>
            <a:off x="3410712" y="4498848"/>
            <a:ext cx="2395728" cy="310896"/>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Fit on real, or real + low-weight generated</a:t>
            </a:r>
          </a:p>
        </p:txBody>
      </p:sp>
      <p:sp>
        <p:nvSpPr>
          <p:cNvPr id="72" name="Rectangle 71"/>
          <p:cNvSpPr/>
          <p:nvPr/>
        </p:nvSpPr>
        <p:spPr>
          <a:xfrm>
            <a:off x="630936" y="4937760"/>
            <a:ext cx="5385816" cy="53035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50392" y="5065776"/>
            <a:ext cx="4956048" cy="256032"/>
          </a:xfrm>
          <a:prstGeom prst="rect">
            <a:avLst/>
          </a:prstGeom>
          <a:noFill/>
        </p:spPr>
        <p:txBody>
          <a:bodyPr wrap="square" lIns="0" rIns="0" tIns="0" bIns="0" anchor="t">
            <a:spAutoFit/>
          </a:bodyPr>
          <a:lstStyle/>
          <a:p>
            <a:pPr algn="ctr">
              <a:spcAft>
                <a:spcPts val="0"/>
              </a:spcAft>
            </a:pPr>
            <a:r>
              <a:rPr sz="1160" b="1" i="0">
                <a:solidFill>
                  <a:srgbClr val="082B55"/>
                </a:solidFill>
                <a:latin typeface="Arial"/>
              </a:rPr>
              <a:t>A changed feature set can move the boundary even when the fit still uses real profiles only.</a:t>
            </a:r>
          </a:p>
        </p:txBody>
      </p:sp>
      <p:sp>
        <p:nvSpPr>
          <p:cNvPr id="74" name="Rectangle 73"/>
          <p:cNvSpPr/>
          <p:nvPr/>
        </p:nvSpPr>
        <p:spPr>
          <a:xfrm>
            <a:off x="6245352" y="1856231"/>
            <a:ext cx="13716" cy="361188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65392" y="1847088"/>
            <a:ext cx="2788920" cy="274320"/>
          </a:xfrm>
          <a:prstGeom prst="rect">
            <a:avLst/>
          </a:prstGeom>
          <a:noFill/>
        </p:spPr>
        <p:txBody>
          <a:bodyPr wrap="square" lIns="0" rIns="0" tIns="0" bIns="0" anchor="t">
            <a:spAutoFit/>
          </a:bodyPr>
          <a:lstStyle/>
          <a:p>
            <a:pPr algn="l">
              <a:spcAft>
                <a:spcPts val="0"/>
              </a:spcAft>
            </a:pPr>
            <a:r>
              <a:rPr sz="1700" b="1" i="0">
                <a:solidFill>
                  <a:srgbClr val="082B55"/>
                </a:solidFill>
                <a:latin typeface="Arial"/>
              </a:rPr>
              <a:t>Thymus feature stability</a:t>
            </a:r>
          </a:p>
        </p:txBody>
      </p:sp>
      <p:sp>
        <p:nvSpPr>
          <p:cNvPr id="76" name="TextBox 75"/>
          <p:cNvSpPr txBox="1"/>
          <p:nvPr/>
        </p:nvSpPr>
        <p:spPr>
          <a:xfrm>
            <a:off x="6565392" y="2157984"/>
            <a:ext cx="3319272" cy="219456"/>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selection frequency across 8 repeated splits</a:t>
            </a:r>
          </a:p>
        </p:txBody>
      </p:sp>
      <p:sp>
        <p:nvSpPr>
          <p:cNvPr id="77" name="Rectangle 76"/>
          <p:cNvSpPr/>
          <p:nvPr/>
        </p:nvSpPr>
        <p:spPr>
          <a:xfrm>
            <a:off x="9747504" y="1965960"/>
            <a:ext cx="128016" cy="8229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39528" y="1911095"/>
            <a:ext cx="658368" cy="201168"/>
          </a:xfrm>
          <a:prstGeom prst="rect">
            <a:avLst/>
          </a:prstGeom>
          <a:noFill/>
        </p:spPr>
        <p:txBody>
          <a:bodyPr wrap="square" lIns="0" rIns="0" tIns="0" bIns="0" anchor="t">
            <a:spAutoFit/>
          </a:bodyPr>
          <a:lstStyle/>
          <a:p>
            <a:pPr algn="l">
              <a:spcAft>
                <a:spcPts val="0"/>
              </a:spcAft>
            </a:pPr>
            <a:r>
              <a:rPr sz="900" b="0" i="0">
                <a:solidFill>
                  <a:srgbClr val="59697A"/>
                </a:solidFill>
                <a:latin typeface="Arial"/>
              </a:rPr>
              <a:t>real only</a:t>
            </a:r>
          </a:p>
        </p:txBody>
      </p:sp>
      <p:sp>
        <p:nvSpPr>
          <p:cNvPr id="79" name="Rectangle 78"/>
          <p:cNvSpPr/>
          <p:nvPr/>
        </p:nvSpPr>
        <p:spPr>
          <a:xfrm>
            <a:off x="10661904" y="1965960"/>
            <a:ext cx="128016" cy="8229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853928" y="1911095"/>
            <a:ext cx="530352" cy="201168"/>
          </a:xfrm>
          <a:prstGeom prst="rect">
            <a:avLst/>
          </a:prstGeom>
          <a:noFill/>
        </p:spPr>
        <p:txBody>
          <a:bodyPr wrap="square" lIns="0" rIns="0" tIns="0" bIns="0" anchor="t">
            <a:spAutoFit/>
          </a:bodyPr>
          <a:lstStyle/>
          <a:p>
            <a:pPr algn="l">
              <a:spcAft>
                <a:spcPts val="0"/>
              </a:spcAft>
            </a:pPr>
            <a:r>
              <a:rPr sz="900" b="0" i="0">
                <a:solidFill>
                  <a:srgbClr val="59697A"/>
                </a:solidFill>
                <a:latin typeface="Arial"/>
              </a:rPr>
              <a:t>guided</a:t>
            </a:r>
          </a:p>
        </p:txBody>
      </p:sp>
      <p:sp>
        <p:nvSpPr>
          <p:cNvPr id="81" name="TextBox 80"/>
          <p:cNvSpPr txBox="1"/>
          <p:nvPr/>
        </p:nvSpPr>
        <p:spPr>
          <a:xfrm>
            <a:off x="6583680" y="2651760"/>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Nusap1</a:t>
            </a:r>
          </a:p>
        </p:txBody>
      </p:sp>
      <p:sp>
        <p:nvSpPr>
          <p:cNvPr id="82" name="TextBox 81"/>
          <p:cNvSpPr txBox="1"/>
          <p:nvPr/>
        </p:nvSpPr>
        <p:spPr>
          <a:xfrm>
            <a:off x="7516368" y="2670048"/>
            <a:ext cx="1024128" cy="192024"/>
          </a:xfrm>
          <a:prstGeom prst="rect">
            <a:avLst/>
          </a:prstGeom>
          <a:noFill/>
        </p:spPr>
        <p:txBody>
          <a:bodyPr wrap="square" lIns="0" rIns="0" tIns="0" bIns="0" anchor="t">
            <a:spAutoFit/>
          </a:bodyPr>
          <a:lstStyle/>
          <a:p>
            <a:pPr algn="l">
              <a:spcAft>
                <a:spcPts val="0"/>
              </a:spcAft>
            </a:pPr>
            <a:r>
              <a:rPr sz="880" b="1" i="0">
                <a:solidFill>
                  <a:srgbClr val="D96552"/>
                </a:solidFill>
                <a:latin typeface="Arial"/>
              </a:rPr>
              <a:t>promoted</a:t>
            </a:r>
          </a:p>
        </p:txBody>
      </p:sp>
      <p:sp>
        <p:nvSpPr>
          <p:cNvPr id="83" name="Rectangle 82"/>
          <p:cNvSpPr/>
          <p:nvPr/>
        </p:nvSpPr>
        <p:spPr>
          <a:xfrm>
            <a:off x="8805672" y="2633472"/>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963656" y="2596896"/>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0%</a:t>
            </a:r>
          </a:p>
        </p:txBody>
      </p:sp>
      <p:sp>
        <p:nvSpPr>
          <p:cNvPr id="85" name="Rectangle 84"/>
          <p:cNvSpPr/>
          <p:nvPr/>
        </p:nvSpPr>
        <p:spPr>
          <a:xfrm>
            <a:off x="8805672" y="2862072"/>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8805672" y="2862072"/>
            <a:ext cx="2084831"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963656" y="2825496"/>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100%</a:t>
            </a:r>
          </a:p>
        </p:txBody>
      </p:sp>
      <p:sp>
        <p:nvSpPr>
          <p:cNvPr id="88" name="TextBox 87"/>
          <p:cNvSpPr txBox="1"/>
          <p:nvPr/>
        </p:nvSpPr>
        <p:spPr>
          <a:xfrm>
            <a:off x="6583680" y="3282696"/>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Cdk1</a:t>
            </a:r>
          </a:p>
        </p:txBody>
      </p:sp>
      <p:sp>
        <p:nvSpPr>
          <p:cNvPr id="89" name="TextBox 88"/>
          <p:cNvSpPr txBox="1"/>
          <p:nvPr/>
        </p:nvSpPr>
        <p:spPr>
          <a:xfrm>
            <a:off x="7516368" y="3300984"/>
            <a:ext cx="1024128" cy="192024"/>
          </a:xfrm>
          <a:prstGeom prst="rect">
            <a:avLst/>
          </a:prstGeom>
          <a:noFill/>
        </p:spPr>
        <p:txBody>
          <a:bodyPr wrap="square" lIns="0" rIns="0" tIns="0" bIns="0" anchor="t">
            <a:spAutoFit/>
          </a:bodyPr>
          <a:lstStyle/>
          <a:p>
            <a:pPr algn="l">
              <a:spcAft>
                <a:spcPts val="0"/>
              </a:spcAft>
            </a:pPr>
            <a:r>
              <a:rPr sz="880" b="1" i="0">
                <a:solidFill>
                  <a:srgbClr val="D96552"/>
                </a:solidFill>
                <a:latin typeface="Arial"/>
              </a:rPr>
              <a:t>promoted</a:t>
            </a:r>
          </a:p>
        </p:txBody>
      </p:sp>
      <p:sp>
        <p:nvSpPr>
          <p:cNvPr id="90" name="Rectangle 89"/>
          <p:cNvSpPr/>
          <p:nvPr/>
        </p:nvSpPr>
        <p:spPr>
          <a:xfrm>
            <a:off x="8805672" y="3264408"/>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963656" y="3227832"/>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0%</a:t>
            </a:r>
          </a:p>
        </p:txBody>
      </p:sp>
      <p:sp>
        <p:nvSpPr>
          <p:cNvPr id="92" name="Rectangle 91"/>
          <p:cNvSpPr/>
          <p:nvPr/>
        </p:nvSpPr>
        <p:spPr>
          <a:xfrm>
            <a:off x="8805672" y="3493008"/>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805672" y="3493008"/>
            <a:ext cx="2084831"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0963656" y="3456432"/>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100%</a:t>
            </a:r>
          </a:p>
        </p:txBody>
      </p:sp>
      <p:sp>
        <p:nvSpPr>
          <p:cNvPr id="95" name="TextBox 94"/>
          <p:cNvSpPr txBox="1"/>
          <p:nvPr/>
        </p:nvSpPr>
        <p:spPr>
          <a:xfrm>
            <a:off x="6583680" y="3913631"/>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Ube2c</a:t>
            </a:r>
          </a:p>
        </p:txBody>
      </p:sp>
      <p:sp>
        <p:nvSpPr>
          <p:cNvPr id="96" name="TextBox 95"/>
          <p:cNvSpPr txBox="1"/>
          <p:nvPr/>
        </p:nvSpPr>
        <p:spPr>
          <a:xfrm>
            <a:off x="7516368" y="3931920"/>
            <a:ext cx="1024128" cy="192024"/>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reinforced</a:t>
            </a:r>
          </a:p>
        </p:txBody>
      </p:sp>
      <p:sp>
        <p:nvSpPr>
          <p:cNvPr id="97" name="Rectangle 96"/>
          <p:cNvSpPr/>
          <p:nvPr/>
        </p:nvSpPr>
        <p:spPr>
          <a:xfrm>
            <a:off x="8805672" y="3895344"/>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8805672" y="3895344"/>
            <a:ext cx="1042415" cy="9144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963656" y="3858768"/>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50%</a:t>
            </a:r>
          </a:p>
        </p:txBody>
      </p:sp>
      <p:sp>
        <p:nvSpPr>
          <p:cNvPr id="100" name="Rectangle 99"/>
          <p:cNvSpPr/>
          <p:nvPr/>
        </p:nvSpPr>
        <p:spPr>
          <a:xfrm>
            <a:off x="8805672" y="4123944"/>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8805672" y="4123944"/>
            <a:ext cx="1563624"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0963656" y="4087368"/>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75%</a:t>
            </a:r>
          </a:p>
        </p:txBody>
      </p:sp>
      <p:sp>
        <p:nvSpPr>
          <p:cNvPr id="103" name="TextBox 102"/>
          <p:cNvSpPr txBox="1"/>
          <p:nvPr/>
        </p:nvSpPr>
        <p:spPr>
          <a:xfrm>
            <a:off x="6583680" y="4544567"/>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Gmnn</a:t>
            </a:r>
          </a:p>
        </p:txBody>
      </p:sp>
      <p:sp>
        <p:nvSpPr>
          <p:cNvPr id="104" name="TextBox 103"/>
          <p:cNvSpPr txBox="1"/>
          <p:nvPr/>
        </p:nvSpPr>
        <p:spPr>
          <a:xfrm>
            <a:off x="7516368" y="4562855"/>
            <a:ext cx="1024128" cy="192024"/>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reinforced</a:t>
            </a:r>
          </a:p>
        </p:txBody>
      </p:sp>
      <p:sp>
        <p:nvSpPr>
          <p:cNvPr id="105" name="Rectangle 104"/>
          <p:cNvSpPr/>
          <p:nvPr/>
        </p:nvSpPr>
        <p:spPr>
          <a:xfrm>
            <a:off x="8805672" y="4526279"/>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805672" y="4526279"/>
            <a:ext cx="1303019" cy="9144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963656" y="4489703"/>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62%</a:t>
            </a:r>
          </a:p>
        </p:txBody>
      </p:sp>
      <p:sp>
        <p:nvSpPr>
          <p:cNvPr id="108" name="Rectangle 107"/>
          <p:cNvSpPr/>
          <p:nvPr/>
        </p:nvSpPr>
        <p:spPr>
          <a:xfrm>
            <a:off x="8805672" y="4754879"/>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805672" y="4754879"/>
            <a:ext cx="2084831"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963656" y="4718303"/>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100%</a:t>
            </a:r>
          </a:p>
        </p:txBody>
      </p:sp>
      <p:sp>
        <p:nvSpPr>
          <p:cNvPr id="111" name="TextBox 110"/>
          <p:cNvSpPr txBox="1"/>
          <p:nvPr/>
        </p:nvSpPr>
        <p:spPr>
          <a:xfrm>
            <a:off x="6574536" y="5175504"/>
            <a:ext cx="4754880" cy="34747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Promoted genes crossed the stability rule only with guidance; reinforced genes were stable in both selections.</a:t>
            </a:r>
          </a:p>
        </p:txBody>
      </p:sp>
      <p:sp>
        <p:nvSpPr>
          <p:cNvPr id="112" name="Rectangle 111"/>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21792" y="5779008"/>
            <a:ext cx="3072384" cy="338328"/>
          </a:xfrm>
          <a:prstGeom prst="rect">
            <a:avLst/>
          </a:prstGeom>
          <a:noFill/>
        </p:spPr>
        <p:txBody>
          <a:bodyPr wrap="square" lIns="0" rIns="0" tIns="0" bIns="0" anchor="ctr">
            <a:spAutoFit/>
          </a:bodyPr>
          <a:lstStyle/>
          <a:p>
            <a:pPr algn="ctr">
              <a:spcAft>
                <a:spcPts val="0"/>
              </a:spcAft>
            </a:pPr>
            <a:r>
              <a:rPr sz="1140" b="1" i="0">
                <a:solidFill>
                  <a:srgbClr val="FFFFFF"/>
                </a:solidFill>
                <a:latin typeface="Arial"/>
              </a:rPr>
              <a:t>Held-out real samples select the arm.</a:t>
            </a:r>
          </a:p>
        </p:txBody>
      </p:sp>
      <p:sp>
        <p:nvSpPr>
          <p:cNvPr id="114" name="TextBox 113"/>
          <p:cNvSpPr txBox="1"/>
          <p:nvPr/>
        </p:nvSpPr>
        <p:spPr>
          <a:xfrm>
            <a:off x="3767328" y="5779008"/>
            <a:ext cx="4608576" cy="338328"/>
          </a:xfrm>
          <a:prstGeom prst="rect">
            <a:avLst/>
          </a:prstGeom>
          <a:noFill/>
        </p:spPr>
        <p:txBody>
          <a:bodyPr wrap="square" lIns="0" rIns="0" tIns="0" bIns="0" anchor="ctr">
            <a:spAutoFit/>
          </a:bodyPr>
          <a:lstStyle/>
          <a:p>
            <a:pPr algn="ctr">
              <a:spcAft>
                <a:spcPts val="0"/>
              </a:spcAft>
            </a:pPr>
            <a:r>
              <a:rPr sz="1140" b="0" i="0">
                <a:solidFill>
                  <a:srgbClr val="DCE7F2"/>
                </a:solidFill>
                <a:latin typeface="Arial"/>
              </a:rPr>
              <a:t>Real OSDR supplies FLT-GC effects and BH FDR.</a:t>
            </a:r>
          </a:p>
        </p:txBody>
      </p:sp>
      <p:sp>
        <p:nvSpPr>
          <p:cNvPr id="115" name="TextBox 114"/>
          <p:cNvSpPr txBox="1"/>
          <p:nvPr/>
        </p:nvSpPr>
        <p:spPr>
          <a:xfrm>
            <a:off x="8522208" y="5779008"/>
            <a:ext cx="2788920" cy="338328"/>
          </a:xfrm>
          <a:prstGeom prst="rect">
            <a:avLst/>
          </a:prstGeom>
          <a:noFill/>
        </p:spPr>
        <p:txBody>
          <a:bodyPr wrap="square" lIns="0" rIns="0" tIns="0" bIns="0" anchor="ctr">
            <a:spAutoFit/>
          </a:bodyPr>
          <a:lstStyle/>
          <a:p>
            <a:pPr algn="ctr">
              <a:spcAft>
                <a:spcPts val="0"/>
              </a:spcAft>
            </a:pPr>
            <a:r>
              <a:rPr sz="1080" b="1" i="0">
                <a:solidFill>
                  <a:srgbClr val="FFD69A"/>
                </a:solidFill>
                <a:latin typeface="Arial"/>
              </a:rPr>
              <a:t>Synthetic data adds no animals.</a:t>
            </a:r>
          </a:p>
        </p:txBody>
      </p:sp>
      <p:sp>
        <p:nvSpPr>
          <p:cNvPr id="116" name="TextBox 11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Classifier view is schematic. Thymus frequencies are from the repeated tissue screen in Table S10.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