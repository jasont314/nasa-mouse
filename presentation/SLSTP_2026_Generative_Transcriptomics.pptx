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framework kept the published model architectures and varied the surrounding choices. GeneJEPA was useful for representation but had no expression decoder. WGAN-GP and DDIM could generate profiles. The chosen DDIM used TPM, 974 mouse landmarks, ARCHS4 pretraining and OSDR adaptation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Both WGAN-GP and DDIM had high correlation and F1. DDIM had adversarial accuracy near 0.5 and a lower Frechet-distance ratio, so it was harder to separate from real profiles and closer in distribution. The metrics use each model's stated evaluation split, so this is a model-choice summary rather than a paired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simplest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Reinforced genes were selected with and without synthetic guidance. Promoted genes crossed the stable-selection rule only with synthetic guidance. Promoted does not mean biologically novel. All 49 synthetic-informed tissue-gene associations also had a supporting effect and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This slide separates four questions. Promoted tells us that synthetic guidance changed stable feature ranking. BH FDR tells us the association is present in real OSDR profiles. The literature label describes whether prior work is exact, related, mixed or unmatched. The biological interpretation remains a hypothesis. Eleven associations aligned, 13 were complementary, one was ambiguous and one was literature unmatched. Only Ccnb2, Ccne2 and Nfkbia were exact gene-tissue-direction matches. Psmb8 was unmatched in adrenal spaceflight literature but remains mechanistically plausible.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Thymus produced the clearest promoted panel. The lower mitotic and DNA-replication genes agree with prior reports of thymic involution and altered cell-cycle expression after flight. Higher Hsd17b11 and Etv1 add lipid-handling and T-cell-state hypotheses, but neither is a direct prior flight replication or an established driver.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Kidney supplied the strongest secondary pair: promoted Inpp4b and reinforced Slc37a4. Spleen and skin results are narrower. Adrenal Psmb8 has plausible immunoproteasome biology but no prior adrenal flight match. Lung and retina improved predictively without a synthetic-informed BH-FDR gene, while liver, EDL and quadriceps retained real-only models.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compared three model families and used conditional diffusion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model architecture followed each paper; preprocessing, harmonization and conditioning remained configurable.</a:t>
            </a:r>
          </a:p>
        </p:txBody>
      </p:sp>
      <p:sp>
        <p:nvSpPr>
          <p:cNvPr id="7" name="Rounded Rectangle 6"/>
          <p:cNvSpPr/>
          <p:nvPr/>
        </p:nvSpPr>
        <p:spPr>
          <a:xfrm>
            <a:off x="365760" y="2011680"/>
            <a:ext cx="2423160" cy="205740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011680"/>
            <a:ext cx="242316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67712"/>
            <a:ext cx="2020824" cy="301752"/>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Expression</a:t>
            </a:r>
          </a:p>
        </p:txBody>
      </p:sp>
      <p:sp>
        <p:nvSpPr>
          <p:cNvPr id="10" name="TextBox 9"/>
          <p:cNvSpPr txBox="1"/>
          <p:nvPr/>
        </p:nvSpPr>
        <p:spPr>
          <a:xfrm>
            <a:off x="566928" y="2734056"/>
            <a:ext cx="2020824" cy="1078992"/>
          </a:xfrm>
          <a:prstGeom prst="rect">
            <a:avLst/>
          </a:prstGeom>
          <a:noFill/>
        </p:spPr>
        <p:txBody>
          <a:bodyPr wrap="square" lIns="18288" rIns="18288" tIns="18288" bIns="18288" anchor="t">
            <a:spAutoFit/>
          </a:bodyPr>
          <a:lstStyle/>
          <a:p>
            <a:pPr algn="l">
              <a:spcAft>
                <a:spcPts val="0"/>
              </a:spcAft>
            </a:pPr>
            <a:r>
              <a:rPr sz="1600" b="0" i="0">
                <a:solidFill>
                  <a:srgbClr val="263746"/>
                </a:solidFill>
                <a:latin typeface="Arial"/>
              </a:rPr>
              <a:t>TPM
974 mouse landmarks
train-fitted MaxAbs</a:t>
            </a:r>
          </a:p>
        </p:txBody>
      </p:sp>
      <p:sp>
        <p:nvSpPr>
          <p:cNvPr id="11" name="Rounded Rectangle 10"/>
          <p:cNvSpPr/>
          <p:nvPr/>
        </p:nvSpPr>
        <p:spPr>
          <a:xfrm>
            <a:off x="3054096" y="2011680"/>
            <a:ext cx="2423160" cy="205740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54096" y="2011680"/>
            <a:ext cx="242316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5264" y="2267712"/>
            <a:ext cx="2020824" cy="301752"/>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Models</a:t>
            </a:r>
          </a:p>
        </p:txBody>
      </p:sp>
      <p:sp>
        <p:nvSpPr>
          <p:cNvPr id="14" name="TextBox 13"/>
          <p:cNvSpPr txBox="1"/>
          <p:nvPr/>
        </p:nvSpPr>
        <p:spPr>
          <a:xfrm>
            <a:off x="3255264" y="2734056"/>
            <a:ext cx="2020824" cy="1078992"/>
          </a:xfrm>
          <a:prstGeom prst="rect">
            <a:avLst/>
          </a:prstGeom>
          <a:noFill/>
        </p:spPr>
        <p:txBody>
          <a:bodyPr wrap="square" lIns="18288" rIns="18288" tIns="18288" bIns="18288" anchor="t">
            <a:spAutoFit/>
          </a:bodyPr>
          <a:lstStyle/>
          <a:p>
            <a:pPr algn="l">
              <a:spcAft>
                <a:spcPts val="0"/>
              </a:spcAft>
            </a:pPr>
            <a:r>
              <a:rPr sz="1600" b="0" i="0">
                <a:solidFill>
                  <a:srgbClr val="263746"/>
                </a:solidFill>
                <a:latin typeface="Arial"/>
              </a:rPr>
              <a:t>WGAN-GP
DDIM
GeneJEPA screen</a:t>
            </a:r>
          </a:p>
        </p:txBody>
      </p:sp>
      <p:sp>
        <p:nvSpPr>
          <p:cNvPr id="15" name="Rounded Rectangle 14"/>
          <p:cNvSpPr/>
          <p:nvPr/>
        </p:nvSpPr>
        <p:spPr>
          <a:xfrm>
            <a:off x="5742432" y="2011680"/>
            <a:ext cx="2423160" cy="205740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42432" y="2011680"/>
            <a:ext cx="242316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0" y="2267712"/>
            <a:ext cx="2020824" cy="301752"/>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Training</a:t>
            </a:r>
          </a:p>
        </p:txBody>
      </p:sp>
      <p:sp>
        <p:nvSpPr>
          <p:cNvPr id="18" name="TextBox 17"/>
          <p:cNvSpPr txBox="1"/>
          <p:nvPr/>
        </p:nvSpPr>
        <p:spPr>
          <a:xfrm>
            <a:off x="5943600" y="2734056"/>
            <a:ext cx="2020824" cy="1078992"/>
          </a:xfrm>
          <a:prstGeom prst="rect">
            <a:avLst/>
          </a:prstGeom>
          <a:noFill/>
        </p:spPr>
        <p:txBody>
          <a:bodyPr wrap="square" lIns="18288" rIns="18288" tIns="18288" bIns="18288" anchor="t">
            <a:spAutoFit/>
          </a:bodyPr>
          <a:lstStyle/>
          <a:p>
            <a:pPr algn="l">
              <a:spcAft>
                <a:spcPts val="0"/>
              </a:spcAft>
            </a:pPr>
            <a:r>
              <a:rPr sz="1600" b="0" i="0">
                <a:solidFill>
                  <a:srgbClr val="263746"/>
                </a:solidFill>
                <a:latin typeface="Arial"/>
              </a:rPr>
              <a:t>ARCHS4 pretrain
OSDR adaptation
pooled tissue model</a:t>
            </a:r>
          </a:p>
        </p:txBody>
      </p:sp>
      <p:sp>
        <p:nvSpPr>
          <p:cNvPr id="19" name="Rounded Rectangle 18"/>
          <p:cNvSpPr/>
          <p:nvPr/>
        </p:nvSpPr>
        <p:spPr>
          <a:xfrm>
            <a:off x="8430768" y="2011680"/>
            <a:ext cx="3383280"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30768" y="2011680"/>
            <a:ext cx="338328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1936" y="2267712"/>
            <a:ext cx="2980944" cy="301752"/>
          </a:xfrm>
          <a:prstGeom prst="rect">
            <a:avLst/>
          </a:prstGeom>
          <a:noFill/>
        </p:spPr>
        <p:txBody>
          <a:bodyPr wrap="square" lIns="18288" rIns="18288" tIns="18288" bIns="18288" anchor="t">
            <a:spAutoFit/>
          </a:bodyPr>
          <a:lstStyle/>
          <a:p>
            <a:pPr algn="l">
              <a:spcAft>
                <a:spcPts val="0"/>
              </a:spcAft>
            </a:pPr>
            <a:r>
              <a:rPr sz="1700" b="1" i="0">
                <a:solidFill>
                  <a:srgbClr val="478A64"/>
                </a:solidFill>
                <a:latin typeface="Arial"/>
              </a:rPr>
              <a:t>Conditions</a:t>
            </a:r>
          </a:p>
        </p:txBody>
      </p:sp>
      <p:sp>
        <p:nvSpPr>
          <p:cNvPr id="22" name="TextBox 21"/>
          <p:cNvSpPr txBox="1"/>
          <p:nvPr/>
        </p:nvSpPr>
        <p:spPr>
          <a:xfrm>
            <a:off x="8631936" y="2734056"/>
            <a:ext cx="2980944" cy="1078992"/>
          </a:xfrm>
          <a:prstGeom prst="rect">
            <a:avLst/>
          </a:prstGeom>
          <a:noFill/>
        </p:spPr>
        <p:txBody>
          <a:bodyPr wrap="square" lIns="18288" rIns="18288" tIns="18288" bIns="18288" anchor="t">
            <a:spAutoFit/>
          </a:bodyPr>
          <a:lstStyle/>
          <a:p>
            <a:pPr algn="l">
              <a:spcAft>
                <a:spcPts val="0"/>
              </a:spcAft>
            </a:pPr>
            <a:r>
              <a:rPr sz="1600" b="0" i="0">
                <a:solidFill>
                  <a:srgbClr val="263746"/>
                </a:solidFill>
                <a:latin typeface="Arial"/>
              </a:rPr>
              <a:t>tissue + FLT/GC
accession + material
matched profile generation</a:t>
            </a:r>
          </a:p>
        </p:txBody>
      </p:sp>
      <p:sp>
        <p:nvSpPr>
          <p:cNvPr id="23" name="Right Arrow 22"/>
          <p:cNvSpPr/>
          <p:nvPr/>
        </p:nvSpPr>
        <p:spPr>
          <a:xfrm>
            <a:off x="2807208" y="2788920"/>
            <a:ext cx="201168" cy="29260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5495544" y="2788920"/>
            <a:ext cx="201168" cy="29260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8183879" y="2788920"/>
            <a:ext cx="201168" cy="29260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65760" y="4370832"/>
            <a:ext cx="11448288" cy="1325880"/>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608576"/>
            <a:ext cx="155448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8" name="TextBox 27"/>
          <p:cNvSpPr txBox="1"/>
          <p:nvPr/>
        </p:nvSpPr>
        <p:spPr>
          <a:xfrm>
            <a:off x="2057400" y="4562856"/>
            <a:ext cx="9098280" cy="502920"/>
          </a:xfrm>
          <a:prstGeom prst="rect">
            <a:avLst/>
          </a:prstGeom>
          <a:noFill/>
        </p:spPr>
        <p:txBody>
          <a:bodyPr wrap="square" lIns="18288" rIns="18288" tIns="18288" bIns="18288" anchor="t">
            <a:spAutoFit/>
          </a:bodyPr>
          <a:lstStyle/>
          <a:p>
            <a:pPr>
              <a:spcAft>
                <a:spcPts val="0"/>
              </a:spcAft>
            </a:pPr>
            <a:r>
              <a:rPr sz="1550" b="1" i="0">
                <a:solidFill>
                  <a:srgbClr val="082B55"/>
                </a:solidFill>
                <a:latin typeface="Arial"/>
              </a:rPr>
              <a:t>No global batch correction. </a:t>
            </a:r>
            <a:r>
              <a:rPr sz="1550" b="0" i="0">
                <a:solidFill>
                  <a:srgbClr val="263746"/>
                </a:solidFill>
                <a:latin typeface="Arial"/>
              </a:rPr>
              <a:t>Accession was supplied as a model condition so study structure was represented instead of erased.</a:t>
            </a:r>
          </a:p>
        </p:txBody>
      </p:sp>
      <p:sp>
        <p:nvSpPr>
          <p:cNvPr id="29" name="TextBox 28"/>
          <p:cNvSpPr txBox="1"/>
          <p:nvPr/>
        </p:nvSpPr>
        <p:spPr>
          <a:xfrm>
            <a:off x="2057400" y="5102352"/>
            <a:ext cx="909828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Nine liver harmonization arms and a 463-row experiment plan were screened before full training.</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Model sources: Vinas et al., Bioinformatics (2022); Lacan et al., BMC Bioinformatics (2026); GeneJEPA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02920" y="1847088"/>
            <a:ext cx="3657600"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1234440" cy="658368"/>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Real-only
ranking</a:t>
            </a:r>
          </a:p>
        </p:txBody>
      </p:sp>
      <p:sp>
        <p:nvSpPr>
          <p:cNvPr id="11" name="TextBox 10"/>
          <p:cNvSpPr txBox="1"/>
          <p:nvPr/>
        </p:nvSpPr>
        <p:spPr>
          <a:xfrm>
            <a:off x="3566160" y="2770632"/>
            <a:ext cx="1234440" cy="658368"/>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Synthetic-informed
ranking</a:t>
            </a:r>
          </a:p>
        </p:txBody>
      </p:sp>
      <p:sp>
        <p:nvSpPr>
          <p:cNvPr id="12" name="TextBox 11"/>
          <p:cNvSpPr txBox="1"/>
          <p:nvPr/>
        </p:nvSpPr>
        <p:spPr>
          <a:xfrm>
            <a:off x="2304288" y="3044952"/>
            <a:ext cx="969264" cy="585216"/>
          </a:xfrm>
          <a:prstGeom prst="rect">
            <a:avLst/>
          </a:prstGeom>
          <a:noFill/>
        </p:spPr>
        <p:txBody>
          <a:bodyPr wrap="square" lIns="18288" rIns="18288" tIns="18288" bIns="18288" anchor="t">
            <a:spAutoFit/>
          </a:bodyPr>
          <a:lstStyle/>
          <a:p>
            <a:pPr algn="ctr">
              <a:spcAft>
                <a:spcPts val="0"/>
              </a:spcAft>
            </a:pPr>
            <a:r>
              <a:rPr sz="1200" b="1" i="0">
                <a:solidFill>
                  <a:srgbClr val="D37B00"/>
                </a:solidFill>
                <a:latin typeface="Arial"/>
              </a:rPr>
              <a:t>23
reinforced</a:t>
            </a:r>
          </a:p>
        </p:txBody>
      </p:sp>
      <p:sp>
        <p:nvSpPr>
          <p:cNvPr id="13" name="Rounded Rectangle 12"/>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5" name="TextBox 14"/>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6" name="Right Arrow 15"/>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19" name="Oval 18"/>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1" name="Oval 20"/>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3" name="Oval 22"/>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5" name="Rounded Rectangle 24"/>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27" name="Rounded Rectangle 26"/>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Annotation separates recovery from hypothesis extension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label describes the relationship to prior evidence, not whether a gene is biologically plausible.</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6976872"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136392"/>
            <a:ext cx="638251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What the 26 promoted associations showed</a:t>
            </a:r>
          </a:p>
        </p:txBody>
      </p:sp>
      <p:sp>
        <p:nvSpPr>
          <p:cNvPr id="24" name="Oval 23"/>
          <p:cNvSpPr/>
          <p:nvPr/>
        </p:nvSpPr>
        <p:spPr>
          <a:xfrm>
            <a:off x="685800"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11</a:t>
            </a:r>
          </a:p>
        </p:txBody>
      </p:sp>
      <p:sp>
        <p:nvSpPr>
          <p:cNvPr id="26" name="TextBox 25"/>
          <p:cNvSpPr txBox="1"/>
          <p:nvPr/>
        </p:nvSpPr>
        <p:spPr>
          <a:xfrm>
            <a:off x="1188720" y="3575304"/>
            <a:ext cx="1755648"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27" name="TextBox 26"/>
          <p:cNvSpPr txBox="1"/>
          <p:nvPr/>
        </p:nvSpPr>
        <p:spPr>
          <a:xfrm>
            <a:off x="2907792" y="3575304"/>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3 exact matches + 8 same-tissue process matches</a:t>
            </a:r>
          </a:p>
        </p:txBody>
      </p:sp>
      <p:sp>
        <p:nvSpPr>
          <p:cNvPr id="28" name="Oval 27"/>
          <p:cNvSpPr/>
          <p:nvPr/>
        </p:nvSpPr>
        <p:spPr>
          <a:xfrm>
            <a:off x="685800"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13</a:t>
            </a:r>
          </a:p>
        </p:txBody>
      </p:sp>
      <p:sp>
        <p:nvSpPr>
          <p:cNvPr id="30" name="TextBox 29"/>
          <p:cNvSpPr txBox="1"/>
          <p:nvPr/>
        </p:nvSpPr>
        <p:spPr>
          <a:xfrm>
            <a:off x="1188720" y="4096512"/>
            <a:ext cx="1755648"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31" name="TextBox 30"/>
          <p:cNvSpPr txBox="1"/>
          <p:nvPr/>
        </p:nvSpPr>
        <p:spPr>
          <a:xfrm>
            <a:off x="2907792" y="4096512"/>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Related process or mechanism; not direct replication</a:t>
            </a:r>
          </a:p>
        </p:txBody>
      </p:sp>
      <p:sp>
        <p:nvSpPr>
          <p:cNvPr id="32" name="Oval 31"/>
          <p:cNvSpPr/>
          <p:nvPr/>
        </p:nvSpPr>
        <p:spPr>
          <a:xfrm>
            <a:off x="685800"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4" name="TextBox 33"/>
          <p:cNvSpPr txBox="1"/>
          <p:nvPr/>
        </p:nvSpPr>
        <p:spPr>
          <a:xfrm>
            <a:off x="1188720" y="4617720"/>
            <a:ext cx="1755648"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35" name="TextBox 34"/>
          <p:cNvSpPr txBox="1"/>
          <p:nvPr/>
        </p:nvSpPr>
        <p:spPr>
          <a:xfrm>
            <a:off x="2907792" y="4617720"/>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Birc5 differed across mission contexts</a:t>
            </a:r>
          </a:p>
        </p:txBody>
      </p:sp>
      <p:sp>
        <p:nvSpPr>
          <p:cNvPr id="36" name="Oval 35"/>
          <p:cNvSpPr/>
          <p:nvPr/>
        </p:nvSpPr>
        <p:spPr>
          <a:xfrm>
            <a:off x="685800"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8" name="TextBox 37"/>
          <p:cNvSpPr txBox="1"/>
          <p:nvPr/>
        </p:nvSpPr>
        <p:spPr>
          <a:xfrm>
            <a:off x="1188720" y="5138928"/>
            <a:ext cx="1755648"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Literature-unmatched</a:t>
            </a:r>
          </a:p>
        </p:txBody>
      </p:sp>
      <p:sp>
        <p:nvSpPr>
          <p:cNvPr id="39" name="TextBox 38"/>
          <p:cNvSpPr txBox="1"/>
          <p:nvPr/>
        </p:nvSpPr>
        <p:spPr>
          <a:xfrm>
            <a:off x="2907792" y="5138928"/>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Psmb8 remains mechanistically plausible</a:t>
            </a:r>
          </a:p>
        </p:txBody>
      </p:sp>
      <p:sp>
        <p:nvSpPr>
          <p:cNvPr id="40" name="Rounded Rectangle 39"/>
          <p:cNvSpPr/>
          <p:nvPr/>
        </p:nvSpPr>
        <p:spPr>
          <a:xfrm>
            <a:off x="7616952" y="2916936"/>
            <a:ext cx="4151376" cy="2980944"/>
          </a:xfrm>
          <a:prstGeom prst="roundRect">
            <a:avLst/>
          </a:prstGeom>
          <a:solidFill>
            <a:srgbClr val="F8F1E2"/>
          </a:solidFill>
          <a:ln w="10160">
            <a:solidFill>
              <a:srgbClr val="E3C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3136392"/>
            <a:ext cx="3602736" cy="310896"/>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How to read a result</a:t>
            </a:r>
          </a:p>
        </p:txBody>
      </p:sp>
      <p:sp>
        <p:nvSpPr>
          <p:cNvPr id="42" name="Oval 41"/>
          <p:cNvSpPr/>
          <p:nvPr/>
        </p:nvSpPr>
        <p:spPr>
          <a:xfrm>
            <a:off x="7909560" y="3685032"/>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74152" y="3575304"/>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Promoted: synthetic guidance changed stable ranking</a:t>
            </a:r>
          </a:p>
        </p:txBody>
      </p:sp>
      <p:sp>
        <p:nvSpPr>
          <p:cNvPr id="44" name="Oval 43"/>
          <p:cNvSpPr/>
          <p:nvPr/>
        </p:nvSpPr>
        <p:spPr>
          <a:xfrm>
            <a:off x="7909560" y="4206240"/>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4152" y="4096512"/>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BH FDR: the association is present in real OSDR data</a:t>
            </a:r>
          </a:p>
        </p:txBody>
      </p:sp>
      <p:sp>
        <p:nvSpPr>
          <p:cNvPr id="46" name="Oval 45"/>
          <p:cNvSpPr/>
          <p:nvPr/>
        </p:nvSpPr>
        <p:spPr>
          <a:xfrm>
            <a:off x="7909560" y="4727448"/>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17720"/>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Literature class: direct, related, mixed, or unmatched</a:t>
            </a:r>
          </a:p>
        </p:txBody>
      </p:sp>
      <p:sp>
        <p:nvSpPr>
          <p:cNvPr id="48" name="Oval 47"/>
          <p:cNvSpPr/>
          <p:nvPr/>
        </p:nvSpPr>
        <p:spPr>
          <a:xfrm>
            <a:off x="7909560" y="5248656"/>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5138928"/>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Interpretation: a testable hypothesis, not independent proof</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11 align and 13 extend prior biology; only 3 are exact gene-tissue-direction matches.</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full decisions and 19-source inventory are in Supplementary Tables S16-S17.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OTHER TISSUES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Kidney adds a focused signal; other tissues are exploratory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strongest process-level stories were thymus and soleus, but several tissues produced narrower candidates.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Kidney</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Inpp4b promoted, Slc37a4 reinforced; both higher in flight</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Focused secondary</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Rai14, Ptprk and Myl9 promoted; Loxl1 reinforced; no Reactome enrichment</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Exploratory</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adrenal</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adrenal Psmb8 is plausible but literature-unmatched</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Exploratory</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Lung + retina</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Predictive gains without a synthetic-informed BH-FDR gene</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Prediction only</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Liver + EDL + quadriceps</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Real-only arm retained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No synthetic claim</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A plausible mechanism is not independent validation; these candidates still require targeted experiments.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kidney signaling and adrenal Psmb8.</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