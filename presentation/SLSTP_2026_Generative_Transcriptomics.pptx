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This is a weight, not a 5% increase in animal count. Held-out real profiles determine eligibility, and FLT/GC effects and BH FDR are computed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so the process-level result did not depend on that label.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matched no-material sensitivity model, soleus selected the real-only arm and the synthetic attribution disappeared. The real OSDR association remains, but the contribution attributed to generated profiles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5097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782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859536"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Real
only</a:t>
            </a:r>
          </a:p>
        </p:txBody>
      </p:sp>
      <p:sp>
        <p:nvSpPr>
          <p:cNvPr id="19" name="Rectangle 18"/>
          <p:cNvSpPr/>
          <p:nvPr/>
        </p:nvSpPr>
        <p:spPr>
          <a:xfrm>
            <a:off x="1737360"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64207"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45919"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Generated
only</a:t>
            </a:r>
          </a:p>
        </p:txBody>
      </p:sp>
      <p:sp>
        <p:nvSpPr>
          <p:cNvPr id="22" name="Rectangle 21"/>
          <p:cNvSpPr/>
          <p:nvPr/>
        </p:nvSpPr>
        <p:spPr>
          <a:xfrm>
            <a:off x="2523744"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0591"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32303" y="5559552"/>
            <a:ext cx="749808" cy="502920"/>
          </a:xfrm>
          <a:prstGeom prst="rect">
            <a:avLst/>
          </a:prstGeom>
          <a:noFill/>
        </p:spPr>
        <p:txBody>
          <a:bodyPr wrap="square" lIns="18288" rIns="18288" tIns="18288" bIns="18288" anchor="t">
            <a:spAutoFit/>
          </a:bodyPr>
          <a:lstStyle/>
          <a:p>
            <a:pPr algn="ctr">
              <a:spcAft>
                <a:spcPts val="0"/>
              </a:spcAft>
            </a:pPr>
            <a:r>
              <a:rPr sz="96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1024128" y="3913632"/>
            <a:ext cx="1371600" cy="475488"/>
          </a:xfrm>
          <a:prstGeom prst="rect">
            <a:avLst/>
          </a:prstGeom>
          <a:noFill/>
        </p:spPr>
        <p:txBody>
          <a:bodyPr wrap="square" lIns="0" rIns="0" tIns="0" bIns="0" anchor="t">
            <a:spAutoFit/>
          </a:bodyPr>
          <a:lstStyle/>
          <a:p>
            <a:pPr algn="ctr">
              <a:spcAft>
                <a:spcPts val="0"/>
              </a:spcAft>
            </a:pPr>
            <a:r>
              <a:rPr sz="1030" b="0" i="0">
                <a:solidFill>
                  <a:srgbClr val="59697A"/>
                </a:solidFill>
                <a:latin typeface="Arial"/>
              </a:rPr>
              <a:t>stable only in
real ranking</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807208" y="3913632"/>
            <a:ext cx="1225296" cy="274320"/>
          </a:xfrm>
          <a:prstGeom prst="rect">
            <a:avLst/>
          </a:prstGeom>
          <a:noFill/>
        </p:spPr>
        <p:txBody>
          <a:bodyPr wrap="square" lIns="0" rIns="0" tIns="0" bIns="0" anchor="t">
            <a:spAutoFit/>
          </a:bodyPr>
          <a:lstStyle/>
          <a:p>
            <a:pPr algn="ctr">
              <a:spcAft>
                <a:spcPts val="0"/>
              </a:spcAft>
            </a:pPr>
            <a:r>
              <a:rPr sz="1030" b="0" i="0">
                <a:solidFill>
                  <a:srgbClr val="59697A"/>
                </a:solidFill>
                <a:latin typeface="Arial"/>
              </a:rPr>
              <a:t>stable in both</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443984" y="3913632"/>
            <a:ext cx="1426464" cy="475488"/>
          </a:xfrm>
          <a:prstGeom prst="rect">
            <a:avLst/>
          </a:prstGeom>
          <a:noFill/>
        </p:spPr>
        <p:txBody>
          <a:bodyPr wrap="square" lIns="0" rIns="0" tIns="0" bIns="0" anchor="t">
            <a:spAutoFit/>
          </a:bodyPr>
          <a:lstStyle/>
          <a:p>
            <a:pPr algn="ctr">
              <a:spcAft>
                <a:spcPts val="0"/>
              </a:spcAft>
            </a:pPr>
            <a:r>
              <a:rPr sz="1030" b="0" i="0">
                <a:solidFill>
                  <a:srgbClr val="59697A"/>
                </a:solidFill>
                <a:latin typeface="Arial"/>
              </a:rPr>
              <a:t>stable only with
synthetic guidance</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068312"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32904" y="2907792"/>
            <a:ext cx="3886200" cy="557784"/>
          </a:xfrm>
          <a:prstGeom prst="rect">
            <a:avLst/>
          </a:prstGeom>
          <a:noFill/>
        </p:spPr>
        <p:txBody>
          <a:bodyPr wrap="square" lIns="18288" rIns="18288" tIns="18288" bIns="18288" anchor="ctr">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068312" y="357530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32904" y="3465576"/>
            <a:ext cx="3886200" cy="557784"/>
          </a:xfrm>
          <a:prstGeom prst="rect">
            <a:avLst/>
          </a:prstGeom>
          <a:noFill/>
        </p:spPr>
        <p:txBody>
          <a:bodyPr wrap="square" lIns="18288" rIns="18288" tIns="18288" bIns="18288" anchor="ctr">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068312" y="413308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4" y="4023360"/>
            <a:ext cx="3886200" cy="557784"/>
          </a:xfrm>
          <a:prstGeom prst="rect">
            <a:avLst/>
          </a:prstGeom>
          <a:noFill/>
        </p:spPr>
        <p:txBody>
          <a:bodyPr wrap="square" lIns="18288" rIns="18288" tIns="18288" bIns="18288" anchor="ctr">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