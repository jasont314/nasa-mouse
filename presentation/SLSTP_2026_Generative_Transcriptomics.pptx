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 Id="rId6"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embedTrueTypeFonts="1" autoCompressPictures="0">
  <p:sldMasterIdLst>
    <p:sldMasterId id="2147483659" r:id="rId4"/>
  </p:sldMasterIdLst>
  <p:notesMasterIdLst>
    <p:notesMasterId r:id="rId7"/>
  </p:notesMasterIdLst>
  <p:handoutMasterIdLst>
    <p:handoutMasterId r:id="rId8"/>
  </p:handoutMasterIdLst>
  <p:sldIdLst>
    <p:sldId id="287" r:id="rId5"/>
    <p:sldId id="289" r:id="rId6"/>
    <p:sldId id="290" r:id="rId14"/>
    <p:sldId id="291" r:id="rId15"/>
    <p:sldId id="292" r:id="rId16"/>
    <p:sldId id="293" r:id="rId17"/>
    <p:sldId id="294" r:id="rId18"/>
    <p:sldId id="295" r:id="rId19"/>
    <p:sldId id="296" r:id="rId20"/>
    <p:sldId id="297" r:id="rId21"/>
    <p:sldId id="298" r:id="rId22"/>
    <p:sldId id="299" r:id="rId23"/>
    <p:sldId id="300" r:id="rId24"/>
    <p:sldId id="301" r:id="rId25"/>
    <p:sldId id="302" r:id="rId26"/>
    <p:sldId id="303" r:id="rId27"/>
    <p:sldId id="304" r:id="rId28"/>
    <p:sldId id="305" r:id="rId2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000"/>
    <a:srgbClr val="4EBFE0"/>
    <a:srgbClr val="031107"/>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4E7E6095-EDCC-4DCB-AAC0-188518B1781D}" v="1" dt="2026-06-23T20:42:39.611"/>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9892"/>
    <p:restoredTop sz="96327"/>
  </p:normalViewPr>
  <p:slideViewPr>
    <p:cSldViewPr snapToGrid="0">
      <p:cViewPr varScale="1">
        <p:scale>
          <a:sx n="81" d="100"/>
          <a:sy n="81" d="100"/>
        </p:scale>
        <p:origin x="946" y="72"/>
      </p:cViewPr>
      <p:guideLst/>
    </p:cSldViewPr>
  </p:slideViewPr>
  <p:notesTextViewPr>
    <p:cViewPr>
      <p:scale>
        <a:sx n="1" d="1"/>
        <a:sy n="1" d="1"/>
      </p:scale>
      <p:origin x="0" y="0"/>
    </p:cViewPr>
  </p:notesTextViewPr>
  <p:notesViewPr>
    <p:cSldViewPr snapToGrid="0">
      <p:cViewPr varScale="1">
        <p:scale>
          <a:sx n="97" d="100"/>
          <a:sy n="97" d="100"/>
        </p:scale>
        <p:origin x="3120" y="200"/>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notesMaster" Target="notesMasters/notesMaster1.xml"/><Relationship Id="rId8" Type="http://schemas.openxmlformats.org/officeDocument/2006/relationships/handoutMaster" Target="handoutMasters/handoutMaster1.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heme" Target="theme/theme1.xml"/><Relationship Id="rId12" Type="http://schemas.openxmlformats.org/officeDocument/2006/relationships/tableStyles" Target="tableStyles.xml"/><Relationship Id="rId13" Type="http://schemas.microsoft.com/office/2015/10/relationships/revisionInfo" Target="revisionInfo.xml"/><Relationship Id="rId14" Type="http://schemas.openxmlformats.org/officeDocument/2006/relationships/slide" Target="slides/slide3.xml"/><Relationship Id="rId15" Type="http://schemas.openxmlformats.org/officeDocument/2006/relationships/slide" Target="slides/slide4.xml"/><Relationship Id="rId16" Type="http://schemas.openxmlformats.org/officeDocument/2006/relationships/slide" Target="slides/slide5.xml"/><Relationship Id="rId17" Type="http://schemas.openxmlformats.org/officeDocument/2006/relationships/slide" Target="slides/slide6.xml"/><Relationship Id="rId18" Type="http://schemas.openxmlformats.org/officeDocument/2006/relationships/slide" Target="slides/slide7.xml"/><Relationship Id="rId19" Type="http://schemas.openxmlformats.org/officeDocument/2006/relationships/slide" Target="slides/slide8.xml"/><Relationship Id="rId20" Type="http://schemas.openxmlformats.org/officeDocument/2006/relationships/slide" Target="slides/slide9.xml"/><Relationship Id="rId21" Type="http://schemas.openxmlformats.org/officeDocument/2006/relationships/slide" Target="slides/slide10.xml"/><Relationship Id="rId22" Type="http://schemas.openxmlformats.org/officeDocument/2006/relationships/slide" Target="slides/slide11.xml"/><Relationship Id="rId23" Type="http://schemas.openxmlformats.org/officeDocument/2006/relationships/slide" Target="slides/slide12.xml"/><Relationship Id="rId24" Type="http://schemas.openxmlformats.org/officeDocument/2006/relationships/slide" Target="slides/slide13.xml"/><Relationship Id="rId25" Type="http://schemas.openxmlformats.org/officeDocument/2006/relationships/slide" Target="slides/slide14.xml"/><Relationship Id="rId26" Type="http://schemas.openxmlformats.org/officeDocument/2006/relationships/slide" Target="slides/slide15.xml"/><Relationship Id="rId27" Type="http://schemas.openxmlformats.org/officeDocument/2006/relationships/slide" Target="slides/slide16.xml"/><Relationship Id="rId28" Type="http://schemas.openxmlformats.org/officeDocument/2006/relationships/slide" Target="slides/slide17.xml"/><Relationship Id="rId29" Type="http://schemas.openxmlformats.org/officeDocument/2006/relationships/slide" Target="slides/slide18.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3B92CBF8-18C8-31DD-F46C-61CCFF09E5DB}"/>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A39C4E16-CF32-DCE9-CFBA-3D18F258B503}"/>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E00638C3-A19C-B94C-9B49-D7DD60AEF655}" type="datetimeFigureOut">
              <a:rPr lang="en-US" smtClean="0"/>
              <a:t>6/29/2026</a:t>
            </a:fld>
            <a:endParaRPr lang="en-US"/>
          </a:p>
        </p:txBody>
      </p:sp>
      <p:sp>
        <p:nvSpPr>
          <p:cNvPr id="4" name="Footer Placeholder 3">
            <a:extLst>
              <a:ext uri="{FF2B5EF4-FFF2-40B4-BE49-F238E27FC236}">
                <a16:creationId xmlns:a16="http://schemas.microsoft.com/office/drawing/2014/main" id="{B9986E82-0F97-5470-C173-872D3CB07D9C}"/>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5DAEED87-86EF-9F01-82BC-41E733789641}"/>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21865568-2AD1-0C41-AA57-6C66A988080E}" type="slidenum">
              <a:rPr lang="en-US" smtClean="0"/>
              <a:t>‹#›</a:t>
            </a:fld>
            <a:endParaRPr lang="en-US"/>
          </a:p>
        </p:txBody>
      </p:sp>
    </p:spTree>
    <p:extLst>
      <p:ext uri="{BB962C8B-B14F-4D97-AF65-F5344CB8AC3E}">
        <p14:creationId xmlns:p14="http://schemas.microsoft.com/office/powerpoint/2010/main" val="536560216"/>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7D0CC5D-FA5D-CB42-BCB4-643101262201}" type="datetimeFigureOut">
              <a:rPr lang="en-US" smtClean="0"/>
              <a:t>6/29/2026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791039A1-DE79-214A-A305-FD85593430B7}" type="slidenum">
              <a:rPr lang="en-US" smtClean="0"/>
              <a:t>‹#›</a:t>
            </a:fld>
            <a:endParaRPr lang="en-US"/>
          </a:p>
        </p:txBody>
      </p:sp>
    </p:spTree>
    <p:extLst>
      <p:ext uri="{BB962C8B-B14F-4D97-AF65-F5344CB8AC3E}">
        <p14:creationId xmlns:p14="http://schemas.microsoft.com/office/powerpoint/2010/main" val="401650459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0:25</a:t>
            </a:r>
          </a:p>
          <a:p/>
          <a:p>
            <a:r>
              <a:t>Introduce the question. This talk asks whether generated expression can help analyze tissue-specific FLT versus GC biology without counting synthetic profiles as additional animals.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0:50</a:t>
            </a:r>
          </a:p>
          <a:p/>
          <a:p>
            <a:r>
              <a:t>OSDR gives broad tissue coverage, but the data are spread across 75 accessions with different mission and assay contexts. ARCHS4 supplies a much larger mouse reference. The challenge is to use that reference without letting study structure masquerade as spaceflight biology.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1:10</a:t>
            </a:r>
          </a:p>
          <a:p/>
          <a:p>
            <a:r>
              <a:t>Each card shows alternatives available at one pipeline stage, and the heavy outlines identify the downstream branch. We used both ARCHS4 and NASA OSDR across multiple studies and all tissues. The selected path used TPM, training-fitted MaxAbs scaling, 974 mouse landmarks, no global correction, ARCHS4 pretraining plus OSDR adaptation, and a DDIM conditioned on tissue, FLT/GC, accession and material. WGAN-GP and the other preprocessing and harmonization choices remained benchmark alternatives.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0:55</a:t>
            </a:r>
          </a:p>
          <a:p/>
          <a:p>
            <a:r>
              <a:t>Both WGAN-GP and DDIM had high correlation and F1. DDIM had adversarial accuracy near 0.5 and a lower Frechet-distance ratio, so it was harder to separate from real profiles and closer in distribution. The metrics use each model's stated evaluation split. DDIM was used for the remaining analyses.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0:50</a:t>
            </a:r>
          </a:p>
          <a:p/>
          <a:p>
            <a:r>
              <a:t>Read the panels from left to right. The same generated profiles begin as noise, develop structure by timestep 200 and approach tissue-conditioned regions at timestep zero. The axes are shared, so the visual change is not caused by rescaling each panel.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0:50</a:t>
            </a:r>
          </a:p>
          <a:p/>
          <a:p>
            <a:r>
              <a:t>Circles are locked real OSDR profiles and crosses are matched DDIM profiles in the same PCA space. Generated samples track the tissue-defined branches. FLT and GC remain more interspersed because condition effects are smaller than tissue effects. Visual overlap complements the quantitative validation.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0:55</a:t>
            </a:r>
          </a:p>
          <a:p/>
          <a:p>
            <a:r>
              <a:t>Synthetic data can be used for direct training, mixed training or feature guidance. Each tissue could choose among five arms. The eligibility check used held-out real profiles. Once features were nominated, FLT/GC effects and BH FDR were computed from observed OSDR samples only.</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0:55</a:t>
            </a:r>
          </a:p>
          <a:p/>
          <a:p>
            <a:r>
              <a:t>The pooled augmentation test was negative: balanced accuracy fell from 0.754 to 0.737 with real plus synthetic training. The bars use a true zero-to-one balanced-accuracy scale. Tissue-specific analysis changed the result. Different tissues benefited from different synthetic uses, which argues against one global augmentation policy.</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0:50</a:t>
            </a:r>
          </a:p>
          <a:p/>
          <a:p>
            <a:r>
              <a:t>Reinforced genes were selected with and without synthetic guidance. Promoted genes crossed the stable-selection rule only with synthetic guidance. Promoted does not mean biologically novel. All 49 synthetic-informed tissue-gene associations also had BH FDR below 0.05 in real data.</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0:55</a:t>
            </a:r>
          </a:p>
          <a:p/>
          <a:p>
            <a:r>
              <a:t>Every association has two labels. Promoted or reinforced describes repeated feature selection. Aligning, complementary, ambiguous or unmatched describes prior literature. Across all 49 associations, 22 aligned, 19 were complementary, four were ambiguous and four were unmatched. A reinforced gene is not automatically literature aligned, and an aligning gene can still be promoted.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0:45</a:t>
            </a:r>
          </a:p>
          <a:p/>
          <a:p>
            <a:r>
              <a:t>This is the full analysis coverage: 22 canonical tissues and five anatomical muscle groups. Ten had a synthetic-informed BH-FDR association, five had real BH-FDR genes without synthetic-informed selection, and 12 had no BH-FDR gene in the landmark panel. The narrative focuses later, but no completed tissue result is hidden.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0:45</a:t>
            </a:r>
          </a:p>
          <a:p/>
          <a:p>
            <a:r>
              <a:t>This is the complete 49-association inventory. The explicit P and R tags show promoted versus reinforced selection. Gene color independently shows aligning, complementary, ambiguous or unmatched literature. FLT-higher and FLT-lower directions come from real-data meta-analysis.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1:10</a:t>
            </a:r>
          </a:p>
          <a:p/>
          <a:p>
            <a:r>
              <a:t>Thymus produced the clearest promoted panel. The lower mitotic and DNA-replication genes agree with prior reports of thymic involution and altered cell-cycle expression after flight. Higher Hsd17b11 and Etv1 add lipid-handling and T-cell-state hypotheses. Because this is bulk RNA-seq, the pattern may reflect transcription, cell composition or both.</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1:00</a:t>
            </a:r>
          </a:p>
          <a:p/>
          <a:p>
            <a:r>
              <a:t>Soleus improved with real plus generated training. The selected genes were already stable in real-only analysis, so synthetic data reinforced rather than introduced the panel. Lower Bdh1, Ech1, Bnip3 and Decr1, with higher Tpm1, support altered oxidative metabolism and contractile remodeling. The literature is mixed for Bnip3 and Tpm1, which is recorded explicitly.</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0:40</a:t>
            </a:r>
          </a:p>
          <a:p/>
          <a:p>
            <a:r>
              <a:t>Promoted and reinforced genes are shown on separate subrows for each tissue. Pooled muscle, kidney, spleen and skin each produced a distinct synthetic-informed result. The rows share a slide for presentation space; each remains a separate hypothesis. Pooled muscle is heterogeneous, kidney suggests phosphoinositide and glucose handling, spleen suggests adhesion and extracellular-matrix or immune organization, and skin contributes a single interferon-linked candidate.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0:40</a:t>
            </a:r>
          </a:p>
          <a:p/>
          <a:p>
            <a:r>
              <a:t>Promoted and reinforced genes remain separated here as well. Eye reinforces lower cytokinesis, adrenal contributes two unmatched candidates, gastrocnemius combines an NF-kappa-B stress signal with an autophagy or myogenesis candidate, and tibialis anterior spans stress, cell-cycle, ganglioside and mitophagy hypotheses.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0:40</a:t>
            </a:r>
          </a:p>
          <a:p/>
          <a:p>
            <a:r>
              <a:t>Synthetic data was useful for tissue-specific feature ranking and limited regularization. It did not increase biological sample size. Literature annotation separated exact recovery, process-level agreement and complementary hypotheses. Independent samples and cell-resolved experiments are the next tests.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0:10</a:t>
            </a:r>
          </a:p>
          <a:p/>
          <a:p>
            <a:r>
              <a:t>Acknowledge the mentor, SLSTP, NASA OSDR, ARCHS4, Reactome and NASA Ames compute. Invite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 Id="rId3" Type="http://schemas.openxmlformats.org/officeDocument/2006/relationships/image" Target="../media/image4.png"/><Relationship Id="rId4" Type="http://schemas.openxmlformats.org/officeDocument/2006/relationships/image" Target="../media/image5.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jpg"/><Relationship Id="rId3" Type="http://schemas.openxmlformats.org/officeDocument/2006/relationships/image" Target="../media/image7.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jpg"/><Relationship Id="rId3" Type="http://schemas.openxmlformats.org/officeDocument/2006/relationships/image" Target="../media/image7.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jpg"/><Relationship Id="rId3" Type="http://schemas.openxmlformats.org/officeDocument/2006/relationships/image" Target="../media/image7.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 Id="rId6" Type="http://schemas.openxmlformats.org/officeDocument/2006/relationships/image" Target="../media/image14.png"/><Relationship Id="rId7" Type="http://schemas.openxmlformats.org/officeDocument/2006/relationships/image" Target="../media/image15.png"/><Relationship Id="rId8" Type="http://schemas.openxmlformats.org/officeDocument/2006/relationships/image" Target="../media/image16.png"/><Relationship Id="rId9" Type="http://schemas.openxmlformats.org/officeDocument/2006/relationships/image" Target="../media/image17.png"/><Relationship Id="rId10" Type="http://schemas.openxmlformats.org/officeDocument/2006/relationships/image" Target="../media/image18.png"/><Relationship Id="rId11" Type="http://schemas.openxmlformats.org/officeDocument/2006/relationships/image" Target="../media/image19.png"/><Relationship Id="rId12" Type="http://schemas.openxmlformats.org/officeDocument/2006/relationships/image" Target="../media/image20.png"/><Relationship Id="rId13" Type="http://schemas.openxmlformats.org/officeDocument/2006/relationships/image" Target="../media/image21.png"/><Relationship Id="rId14" Type="http://schemas.openxmlformats.org/officeDocument/2006/relationships/image" Target="../media/image22.png"/><Relationship Id="rId15" Type="http://schemas.openxmlformats.org/officeDocument/2006/relationships/image" Target="../media/image23.png"/><Relationship Id="rId16" Type="http://schemas.openxmlformats.org/officeDocument/2006/relationships/image" Target="../media/image24.png"/><Relationship Id="rId17" Type="http://schemas.openxmlformats.org/officeDocument/2006/relationships/image" Target="../media/image25.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6.png"/><Relationship Id="rId3" Type="http://schemas.openxmlformats.org/officeDocument/2006/relationships/image" Target="../media/image27.png"/><Relationship Id="rId4" Type="http://schemas.openxmlformats.org/officeDocument/2006/relationships/image" Target="../media/image28.png"/><Relationship Id="rId5" Type="http://schemas.openxmlformats.org/officeDocument/2006/relationships/image" Target="../media/image29.png"/><Relationship Id="rId6" Type="http://schemas.openxmlformats.org/officeDocument/2006/relationships/image" Target="../media/image30.png"/><Relationship Id="rId7" Type="http://schemas.openxmlformats.org/officeDocument/2006/relationships/image" Target="../media/image31.png"/><Relationship Id="rId8" Type="http://schemas.openxmlformats.org/officeDocument/2006/relationships/image" Target="../media/image32.png"/><Relationship Id="rId9" Type="http://schemas.openxmlformats.org/officeDocument/2006/relationships/image" Target="../media/image33.png"/><Relationship Id="rId10" Type="http://schemas.openxmlformats.org/officeDocument/2006/relationships/image" Target="../media/image34.png"/><Relationship Id="rId11" Type="http://schemas.openxmlformats.org/officeDocument/2006/relationships/image" Target="../media/image35.png"/><Relationship Id="rId12" Type="http://schemas.openxmlformats.org/officeDocument/2006/relationships/image" Target="../media/image36.png"/><Relationship Id="rId13" Type="http://schemas.openxmlformats.org/officeDocument/2006/relationships/image" Target="../media/image37.png"/><Relationship Id="rId14" Type="http://schemas.openxmlformats.org/officeDocument/2006/relationships/image" Target="../media/image38.png"/><Relationship Id="rId15" Type="http://schemas.openxmlformats.org/officeDocument/2006/relationships/image" Target="../media/image39.png"/><Relationship Id="rId16" Type="http://schemas.openxmlformats.org/officeDocument/2006/relationships/image" Target="../media/image40.png"/><Relationship Id="rId17" Type="http://schemas.openxmlformats.org/officeDocument/2006/relationships/image" Target="../media/image41.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47.png"/><Relationship Id="rId8" Type="http://schemas.openxmlformats.org/officeDocument/2006/relationships/image" Target="../media/image48.png"/><Relationship Id="rId9" Type="http://schemas.openxmlformats.org/officeDocument/2006/relationships/image" Target="../media/image49.png"/><Relationship Id="rId10" Type="http://schemas.openxmlformats.org/officeDocument/2006/relationships/image" Target="../media/image50.png"/><Relationship Id="rId11" Type="http://schemas.openxmlformats.org/officeDocument/2006/relationships/image" Target="../media/image51.png"/><Relationship Id="rId12" Type="http://schemas.openxmlformats.org/officeDocument/2006/relationships/image" Target="../media/image52.png"/><Relationship Id="rId13" Type="http://schemas.openxmlformats.org/officeDocument/2006/relationships/image" Target="../media/image53.png"/><Relationship Id="rId14" Type="http://schemas.openxmlformats.org/officeDocument/2006/relationships/image" Target="../media/image54.png"/><Relationship Id="rId15" Type="http://schemas.openxmlformats.org/officeDocument/2006/relationships/image" Target="../media/image55.png"/><Relationship Id="rId16" Type="http://schemas.openxmlformats.org/officeDocument/2006/relationships/image" Target="../media/image56.png"/><Relationship Id="rId17" Type="http://schemas.openxmlformats.org/officeDocument/2006/relationships/image" Target="../media/image57.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8.png"/><Relationship Id="rId3" Type="http://schemas.openxmlformats.org/officeDocument/2006/relationships/image" Target="../media/image59.png"/><Relationship Id="rId4" Type="http://schemas.openxmlformats.org/officeDocument/2006/relationships/image" Target="../media/image60.png"/><Relationship Id="rId5" Type="http://schemas.openxmlformats.org/officeDocument/2006/relationships/image" Target="../media/image61.png"/><Relationship Id="rId6" Type="http://schemas.openxmlformats.org/officeDocument/2006/relationships/image" Target="../media/image62.png"/><Relationship Id="rId7" Type="http://schemas.openxmlformats.org/officeDocument/2006/relationships/image" Target="../media/image63.png"/><Relationship Id="rId8" Type="http://schemas.openxmlformats.org/officeDocument/2006/relationships/image" Target="../media/image64.png"/><Relationship Id="rId9" Type="http://schemas.openxmlformats.org/officeDocument/2006/relationships/image" Target="../media/image65.png"/><Relationship Id="rId10" Type="http://schemas.openxmlformats.org/officeDocument/2006/relationships/image" Target="../media/image66.png"/><Relationship Id="rId11" Type="http://schemas.openxmlformats.org/officeDocument/2006/relationships/image" Target="../media/image67.png"/><Relationship Id="rId12" Type="http://schemas.openxmlformats.org/officeDocument/2006/relationships/image" Target="../media/image68.png"/><Relationship Id="rId13" Type="http://schemas.openxmlformats.org/officeDocument/2006/relationships/image" Target="../media/image69.png"/><Relationship Id="rId14" Type="http://schemas.openxmlformats.org/officeDocument/2006/relationships/image" Target="../media/image70.png"/><Relationship Id="rId15" Type="http://schemas.openxmlformats.org/officeDocument/2006/relationships/image" Target="../media/image71.png"/><Relationship Id="rId16" Type="http://schemas.openxmlformats.org/officeDocument/2006/relationships/image" Target="../media/image72.png"/><Relationship Id="rId17" Type="http://schemas.openxmlformats.org/officeDocument/2006/relationships/image" Target="../media/image73.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3_Title Slide">
    <p:bg>
      <p:bgPr>
        <a:solidFill>
          <a:srgbClr val="000000"/>
        </a:solidFill>
        <a:effectLst/>
      </p:bgPr>
    </p:bg>
    <p:spTree>
      <p:nvGrpSpPr>
        <p:cNvPr id="1" name=""/>
        <p:cNvGrpSpPr/>
        <p:nvPr/>
      </p:nvGrpSpPr>
      <p:grpSpPr>
        <a:xfrm>
          <a:off x="0" y="0"/>
          <a:ext cx="0" cy="0"/>
          <a:chOff x="0" y="0"/>
          <a:chExt cx="0" cy="0"/>
        </a:xfrm>
      </p:grpSpPr>
      <p:pic>
        <p:nvPicPr>
          <p:cNvPr id="12" name="Picture 11">
            <a:extLst>
              <a:ext uri="{FF2B5EF4-FFF2-40B4-BE49-F238E27FC236}">
                <a16:creationId xmlns:a16="http://schemas.microsoft.com/office/drawing/2014/main" id="{C1403792-C452-45B8-A50E-5D7E7B3AF110}"/>
              </a:ext>
            </a:extLst>
          </p:cNvPr>
          <p:cNvPicPr>
            <a:picLocks noChangeAspect="1"/>
          </p:cNvPicPr>
          <p:nvPr userDrawn="1"/>
        </p:nvPicPr>
        <p:blipFill rotWithShape="1">
          <a:blip r:embed="rId2" cstate="print">
            <a:extLst>
              <a:ext uri="{28A0092B-C50C-407E-A947-70E740481C1C}">
                <a14:useLocalDpi xmlns:a14="http://schemas.microsoft.com/office/drawing/2010/main"/>
              </a:ext>
            </a:extLst>
          </a:blip>
          <a:srcRect l="-4277"/>
          <a:stretch/>
        </p:blipFill>
        <p:spPr>
          <a:xfrm>
            <a:off x="0" y="0"/>
            <a:ext cx="12192000" cy="6858000"/>
          </a:xfrm>
          <a:prstGeom prst="rect">
            <a:avLst/>
          </a:prstGeom>
        </p:spPr>
      </p:pic>
      <p:sp>
        <p:nvSpPr>
          <p:cNvPr id="3" name="Subtitle 2">
            <a:extLst>
              <a:ext uri="{FF2B5EF4-FFF2-40B4-BE49-F238E27FC236}">
                <a16:creationId xmlns:a16="http://schemas.microsoft.com/office/drawing/2014/main" id="{AE77D0F7-4A6B-4045-B534-3DB6A60EA85B}"/>
              </a:ext>
            </a:extLst>
          </p:cNvPr>
          <p:cNvSpPr>
            <a:spLocks noGrp="1"/>
          </p:cNvSpPr>
          <p:nvPr userDrawn="1">
            <p:ph type="subTitle" idx="1"/>
          </p:nvPr>
        </p:nvSpPr>
        <p:spPr>
          <a:xfrm>
            <a:off x="500101" y="3895025"/>
            <a:ext cx="4774425" cy="365125"/>
          </a:xfrm>
        </p:spPr>
        <p:txBody>
          <a:bodyPr wrap="square">
            <a:spAutoFit/>
          </a:bodyPr>
          <a:lstStyle>
            <a:lvl1pPr marL="0" indent="0" algn="l">
              <a:buNone/>
              <a:defRPr sz="1800" b="1">
                <a:solidFill>
                  <a:schemeClr val="bg1"/>
                </a:solidFill>
                <a:latin typeface="Arial" panose="020B0604020202020204" pitchFamily="34" charset="0"/>
                <a:cs typeface="Arial" panose="020B0604020202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8" name="Text Placeholder 27">
            <a:extLst>
              <a:ext uri="{FF2B5EF4-FFF2-40B4-BE49-F238E27FC236}">
                <a16:creationId xmlns:a16="http://schemas.microsoft.com/office/drawing/2014/main" id="{9EB2794A-5528-E000-6303-F23EDF3D2A62}"/>
              </a:ext>
            </a:extLst>
          </p:cNvPr>
          <p:cNvSpPr>
            <a:spLocks noGrp="1"/>
          </p:cNvSpPr>
          <p:nvPr>
            <p:ph type="body" sz="quarter" idx="14" hasCustomPrompt="1"/>
          </p:nvPr>
        </p:nvSpPr>
        <p:spPr>
          <a:xfrm>
            <a:off x="500102" y="1297175"/>
            <a:ext cx="4774425" cy="2374669"/>
          </a:xfrm>
        </p:spPr>
        <p:txBody>
          <a:bodyPr anchor="b"/>
          <a:lstStyle>
            <a:lvl1pPr marL="0" indent="0" algn="l">
              <a:buNone/>
              <a:defRPr sz="3600" b="1">
                <a:solidFill>
                  <a:schemeClr val="bg1"/>
                </a:solidFill>
              </a:defRPr>
            </a:lvl1pPr>
            <a:lvl2pPr algn="ctr">
              <a:defRPr>
                <a:solidFill>
                  <a:schemeClr val="bg1"/>
                </a:solidFill>
              </a:defRPr>
            </a:lvl2pPr>
            <a:lvl3pPr algn="ctr">
              <a:defRPr>
                <a:solidFill>
                  <a:schemeClr val="bg1"/>
                </a:solidFill>
              </a:defRPr>
            </a:lvl3pPr>
            <a:lvl4pPr algn="ctr">
              <a:defRPr>
                <a:solidFill>
                  <a:schemeClr val="bg1"/>
                </a:solidFill>
              </a:defRPr>
            </a:lvl4pPr>
            <a:lvl5pPr algn="ctr">
              <a:defRPr>
                <a:solidFill>
                  <a:schemeClr val="bg1"/>
                </a:solidFill>
              </a:defRPr>
            </a:lvl5pPr>
          </a:lstStyle>
          <a:p>
            <a:pPr lvl="0"/>
            <a:r>
              <a:rPr lang="en-US" dirty="0"/>
              <a:t>Title goes here</a:t>
            </a:r>
          </a:p>
        </p:txBody>
      </p:sp>
      <p:pic>
        <p:nvPicPr>
          <p:cNvPr id="4" name="Picture 3">
            <a:extLst>
              <a:ext uri="{FF2B5EF4-FFF2-40B4-BE49-F238E27FC236}">
                <a16:creationId xmlns:a16="http://schemas.microsoft.com/office/drawing/2014/main" id="{616713B4-5E0C-24BD-8049-E50B082A507C}"/>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10951262" y="398340"/>
            <a:ext cx="888827" cy="740690"/>
          </a:xfrm>
          <a:prstGeom prst="rect">
            <a:avLst/>
          </a:prstGeom>
        </p:spPr>
      </p:pic>
      <p:sp>
        <p:nvSpPr>
          <p:cNvPr id="5" name="TextBox 4">
            <a:extLst>
              <a:ext uri="{FF2B5EF4-FFF2-40B4-BE49-F238E27FC236}">
                <a16:creationId xmlns:a16="http://schemas.microsoft.com/office/drawing/2014/main" id="{B8688442-0230-1582-A41F-57E75101CEF7}"/>
              </a:ext>
            </a:extLst>
          </p:cNvPr>
          <p:cNvSpPr txBox="1"/>
          <p:nvPr userDrawn="1"/>
        </p:nvSpPr>
        <p:spPr>
          <a:xfrm>
            <a:off x="8654144" y="537854"/>
            <a:ext cx="1922620" cy="461665"/>
          </a:xfrm>
          <a:prstGeom prst="rect">
            <a:avLst/>
          </a:prstGeom>
          <a:noFill/>
        </p:spPr>
        <p:txBody>
          <a:bodyPr wrap="square" rtlCol="0">
            <a:spAutoFit/>
          </a:bodyPr>
          <a:lstStyle/>
          <a:p>
            <a:pPr algn="r"/>
            <a:r>
              <a:rPr lang="en-US" sz="1200" b="0" dirty="0">
                <a:solidFill>
                  <a:schemeClr val="bg1"/>
                </a:solidFill>
                <a:effectLst>
                  <a:outerShdw blurRad="159992" dist="49945" dir="2700000" algn="tl" rotWithShape="0">
                    <a:srgbClr val="000000"/>
                  </a:outerShdw>
                </a:effectLst>
                <a:latin typeface="Arial" panose="020B0604020202020204" pitchFamily="34" charset="0"/>
                <a:cs typeface="Arial" panose="020B0604020202020204" pitchFamily="34" charset="0"/>
              </a:rPr>
              <a:t>National Aeronautics and Space Administration</a:t>
            </a:r>
          </a:p>
        </p:txBody>
      </p:sp>
      <p:cxnSp>
        <p:nvCxnSpPr>
          <p:cNvPr id="6" name="Straight Connector 5">
            <a:extLst>
              <a:ext uri="{FF2B5EF4-FFF2-40B4-BE49-F238E27FC236}">
                <a16:creationId xmlns:a16="http://schemas.microsoft.com/office/drawing/2014/main" id="{B3B95B80-9B88-7F4C-049E-8C0069365EA9}"/>
              </a:ext>
            </a:extLst>
          </p:cNvPr>
          <p:cNvCxnSpPr/>
          <p:nvPr userDrawn="1"/>
        </p:nvCxnSpPr>
        <p:spPr>
          <a:xfrm>
            <a:off x="10764013" y="537853"/>
            <a:ext cx="0" cy="461665"/>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pic>
        <p:nvPicPr>
          <p:cNvPr id="14" name="Picture 13" descr="A black background with grey letters&#10;&#10;Description automatically generated">
            <a:extLst>
              <a:ext uri="{FF2B5EF4-FFF2-40B4-BE49-F238E27FC236}">
                <a16:creationId xmlns:a16="http://schemas.microsoft.com/office/drawing/2014/main" id="{9BA426D5-CE2B-D46C-E493-D02FFAA865B9}"/>
              </a:ext>
            </a:extLst>
          </p:cNvPr>
          <p:cNvPicPr>
            <a:picLocks noChangeAspect="1"/>
          </p:cNvPicPr>
          <p:nvPr userDrawn="1"/>
        </p:nvPicPr>
        <p:blipFill rotWithShape="1">
          <a:blip r:embed="rId4" cstate="screen">
            <a:alphaModFix amt="23000"/>
            <a:extLst>
              <a:ext uri="{28A0092B-C50C-407E-A947-70E740481C1C}">
                <a14:useLocalDpi xmlns:a14="http://schemas.microsoft.com/office/drawing/2010/main"/>
              </a:ext>
            </a:extLst>
          </a:blip>
          <a:srcRect/>
          <a:stretch/>
        </p:blipFill>
        <p:spPr>
          <a:xfrm>
            <a:off x="0" y="5168811"/>
            <a:ext cx="3884861" cy="1719470"/>
          </a:xfrm>
          <a:prstGeom prst="rect">
            <a:avLst/>
          </a:prstGeom>
        </p:spPr>
      </p:pic>
      <p:sp>
        <p:nvSpPr>
          <p:cNvPr id="7" name="TextBox 6">
            <a:extLst>
              <a:ext uri="{FF2B5EF4-FFF2-40B4-BE49-F238E27FC236}">
                <a16:creationId xmlns:a16="http://schemas.microsoft.com/office/drawing/2014/main" id="{B02A5107-22C8-EFF2-D258-3F67CDB1A001}"/>
              </a:ext>
            </a:extLst>
          </p:cNvPr>
          <p:cNvSpPr txBox="1"/>
          <p:nvPr userDrawn="1"/>
        </p:nvSpPr>
        <p:spPr>
          <a:xfrm>
            <a:off x="500101" y="6296266"/>
            <a:ext cx="3657600" cy="338554"/>
          </a:xfrm>
          <a:prstGeom prst="rect">
            <a:avLst/>
          </a:prstGeom>
          <a:noFill/>
        </p:spPr>
        <p:txBody>
          <a:bodyPr wrap="square" rtlCol="0">
            <a:spAutoFit/>
          </a:bodyPr>
          <a:lstStyle/>
          <a:p>
            <a:pPr algn="l"/>
            <a:r>
              <a:rPr lang="en-US" sz="1600" b="1" dirty="0">
                <a:solidFill>
                  <a:schemeClr val="bg2">
                    <a:lumMod val="75000"/>
                  </a:schemeClr>
                </a:solidFill>
                <a:latin typeface="Arial" panose="020B0604020202020204" pitchFamily="34" charset="0"/>
                <a:cs typeface="Arial" panose="020B0604020202020204" pitchFamily="34" charset="0"/>
              </a:rPr>
              <a:t>B</a:t>
            </a:r>
            <a:r>
              <a:rPr lang="en-US" sz="1600" b="0" dirty="0">
                <a:solidFill>
                  <a:schemeClr val="bg2">
                    <a:lumMod val="75000"/>
                  </a:schemeClr>
                </a:solidFill>
                <a:latin typeface="Arial" panose="020B0604020202020204" pitchFamily="34" charset="0"/>
                <a:cs typeface="Arial" panose="020B0604020202020204" pitchFamily="34" charset="0"/>
              </a:rPr>
              <a:t>iological &amp; </a:t>
            </a:r>
            <a:r>
              <a:rPr lang="en-US" sz="1600" b="1" dirty="0">
                <a:solidFill>
                  <a:schemeClr val="bg2">
                    <a:lumMod val="75000"/>
                  </a:schemeClr>
                </a:solidFill>
                <a:latin typeface="Arial" panose="020B0604020202020204" pitchFamily="34" charset="0"/>
                <a:cs typeface="Arial" panose="020B0604020202020204" pitchFamily="34" charset="0"/>
              </a:rPr>
              <a:t>P</a:t>
            </a:r>
            <a:r>
              <a:rPr lang="en-US" sz="1600" b="0" dirty="0">
                <a:solidFill>
                  <a:schemeClr val="bg2">
                    <a:lumMod val="75000"/>
                  </a:schemeClr>
                </a:solidFill>
                <a:latin typeface="Arial" panose="020B0604020202020204" pitchFamily="34" charset="0"/>
                <a:cs typeface="Arial" panose="020B0604020202020204" pitchFamily="34" charset="0"/>
              </a:rPr>
              <a:t>hysical </a:t>
            </a:r>
            <a:r>
              <a:rPr lang="en-US" sz="1600" b="1" dirty="0">
                <a:solidFill>
                  <a:schemeClr val="bg2">
                    <a:lumMod val="75000"/>
                  </a:schemeClr>
                </a:solidFill>
                <a:latin typeface="Arial" panose="020B0604020202020204" pitchFamily="34" charset="0"/>
                <a:cs typeface="Arial" panose="020B0604020202020204" pitchFamily="34" charset="0"/>
              </a:rPr>
              <a:t>S</a:t>
            </a:r>
            <a:r>
              <a:rPr lang="en-US" sz="1600" b="0" dirty="0">
                <a:solidFill>
                  <a:schemeClr val="bg2">
                    <a:lumMod val="75000"/>
                  </a:schemeClr>
                </a:solidFill>
                <a:latin typeface="Arial" panose="020B0604020202020204" pitchFamily="34" charset="0"/>
                <a:cs typeface="Arial" panose="020B0604020202020204" pitchFamily="34" charset="0"/>
              </a:rPr>
              <a:t>ciences</a:t>
            </a:r>
          </a:p>
        </p:txBody>
      </p:sp>
    </p:spTree>
    <p:extLst>
      <p:ext uri="{BB962C8B-B14F-4D97-AF65-F5344CB8AC3E}">
        <p14:creationId xmlns:p14="http://schemas.microsoft.com/office/powerpoint/2010/main" val="3390964837"/>
      </p:ext>
    </p:extLst>
  </p:cSld>
  <p:clrMapOvr>
    <a:masterClrMapping/>
  </p:clrMapOvr>
  <p:extLst>
    <p:ext uri="{DCECCB84-F9BA-43D5-87BE-67443E8EF086}">
      <p15:sldGuideLst xmlns:p15="http://schemas.microsoft.com/office/powerpoint/2012/main">
        <p15:guide id="1" orient="horz" pos="2160">
          <p15:clr>
            <a:srgbClr val="FBAE40"/>
          </p15:clr>
        </p15:guide>
        <p15:guide id="2" pos="456">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Agenda">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9E8CFB-2DE8-BA24-FFBC-66F77875D5EE}"/>
              </a:ext>
            </a:extLst>
          </p:cNvPr>
          <p:cNvSpPr>
            <a:spLocks noGrp="1"/>
          </p:cNvSpPr>
          <p:nvPr>
            <p:ph type="title" hasCustomPrompt="1"/>
          </p:nvPr>
        </p:nvSpPr>
        <p:spPr>
          <a:xfrm>
            <a:off x="914400" y="755930"/>
            <a:ext cx="10325100" cy="1325563"/>
          </a:xfrm>
        </p:spPr>
        <p:txBody>
          <a:bodyPr/>
          <a:lstStyle/>
          <a:p>
            <a:r>
              <a:rPr lang="en-US" dirty="0"/>
              <a:t>Agenda Title</a:t>
            </a:r>
          </a:p>
        </p:txBody>
      </p:sp>
      <p:sp>
        <p:nvSpPr>
          <p:cNvPr id="4" name="Footer Placeholder 3">
            <a:extLst>
              <a:ext uri="{FF2B5EF4-FFF2-40B4-BE49-F238E27FC236}">
                <a16:creationId xmlns:a16="http://schemas.microsoft.com/office/drawing/2014/main" id="{7E3B3E43-6742-FF22-D2F2-033E1364C113}"/>
              </a:ext>
            </a:extLst>
          </p:cNvPr>
          <p:cNvSpPr>
            <a:spLocks noGrp="1"/>
          </p:cNvSpPr>
          <p:nvPr>
            <p:ph type="ftr" sz="quarter" idx="11"/>
          </p:nvPr>
        </p:nvSpPr>
        <p:spPr/>
        <p:txBody>
          <a:bodyPr/>
          <a:lstStyle/>
          <a:p>
            <a:r>
              <a:rPr lang="en-US" dirty="0"/>
              <a:t>Biological &amp; Physical Sciences </a:t>
            </a:r>
          </a:p>
        </p:txBody>
      </p:sp>
      <p:sp>
        <p:nvSpPr>
          <p:cNvPr id="5" name="Slide Number Placeholder 4">
            <a:extLst>
              <a:ext uri="{FF2B5EF4-FFF2-40B4-BE49-F238E27FC236}">
                <a16:creationId xmlns:a16="http://schemas.microsoft.com/office/drawing/2014/main" id="{8E26FCE7-3724-2CFD-0646-F383DB2F0F58}"/>
              </a:ext>
            </a:extLst>
          </p:cNvPr>
          <p:cNvSpPr>
            <a:spLocks noGrp="1"/>
          </p:cNvSpPr>
          <p:nvPr>
            <p:ph type="sldNum" sz="quarter" idx="12"/>
          </p:nvPr>
        </p:nvSpPr>
        <p:spPr>
          <a:xfrm>
            <a:off x="11662148" y="100584"/>
            <a:ext cx="1059704" cy="261258"/>
          </a:xfrm>
        </p:spPr>
        <p:txBody>
          <a:bodyPr/>
          <a:lstStyle/>
          <a:p>
            <a:fld id="{E8618032-BA8D-3D4D-8253-A70208A85976}" type="slidenum">
              <a:rPr lang="en-US" smtClean="0"/>
              <a:pPr/>
              <a:t>‹#›</a:t>
            </a:fld>
            <a:endParaRPr lang="en-US" dirty="0"/>
          </a:p>
        </p:txBody>
      </p:sp>
      <p:sp>
        <p:nvSpPr>
          <p:cNvPr id="22" name="Text Placeholder 21">
            <a:extLst>
              <a:ext uri="{FF2B5EF4-FFF2-40B4-BE49-F238E27FC236}">
                <a16:creationId xmlns:a16="http://schemas.microsoft.com/office/drawing/2014/main" id="{B466CDE3-4631-5FA9-337A-DF847EAAD5B5}"/>
              </a:ext>
            </a:extLst>
          </p:cNvPr>
          <p:cNvSpPr>
            <a:spLocks noGrp="1"/>
          </p:cNvSpPr>
          <p:nvPr>
            <p:ph type="body" sz="quarter" idx="13" hasCustomPrompt="1"/>
          </p:nvPr>
        </p:nvSpPr>
        <p:spPr>
          <a:xfrm>
            <a:off x="1824652" y="2247900"/>
            <a:ext cx="3974845" cy="609600"/>
          </a:xfrm>
        </p:spPr>
        <p:txBody>
          <a:bodyPr anchor="ctr">
            <a:normAutofit/>
          </a:bodyPr>
          <a:lstStyle>
            <a:lvl1pPr marL="0" indent="0">
              <a:buNone/>
              <a:defRPr sz="2000"/>
            </a:lvl1pPr>
          </a:lstStyle>
          <a:p>
            <a:pPr lvl="0"/>
            <a:r>
              <a:rPr lang="en-US" dirty="0"/>
              <a:t>Click to add addenda item</a:t>
            </a:r>
          </a:p>
        </p:txBody>
      </p:sp>
      <p:sp>
        <p:nvSpPr>
          <p:cNvPr id="25" name="Text Placeholder 21">
            <a:extLst>
              <a:ext uri="{FF2B5EF4-FFF2-40B4-BE49-F238E27FC236}">
                <a16:creationId xmlns:a16="http://schemas.microsoft.com/office/drawing/2014/main" id="{2A51E4DB-9ABE-A139-7B46-5FC55133039B}"/>
              </a:ext>
            </a:extLst>
          </p:cNvPr>
          <p:cNvSpPr>
            <a:spLocks noGrp="1"/>
          </p:cNvSpPr>
          <p:nvPr>
            <p:ph type="body" sz="quarter" idx="16" hasCustomPrompt="1"/>
          </p:nvPr>
        </p:nvSpPr>
        <p:spPr>
          <a:xfrm>
            <a:off x="6934200" y="2247900"/>
            <a:ext cx="4343400" cy="609600"/>
          </a:xfrm>
        </p:spPr>
        <p:txBody>
          <a:bodyPr anchor="ctr">
            <a:normAutofit/>
          </a:bodyPr>
          <a:lstStyle>
            <a:lvl1pPr marL="0" indent="0">
              <a:buNone/>
              <a:defRPr sz="2000"/>
            </a:lvl1pPr>
          </a:lstStyle>
          <a:p>
            <a:pPr lvl="0"/>
            <a:r>
              <a:rPr lang="en-US" dirty="0"/>
              <a:t>Click to add addenda item</a:t>
            </a:r>
          </a:p>
        </p:txBody>
      </p:sp>
      <p:sp>
        <p:nvSpPr>
          <p:cNvPr id="29" name="Text Placeholder 28">
            <a:extLst>
              <a:ext uri="{FF2B5EF4-FFF2-40B4-BE49-F238E27FC236}">
                <a16:creationId xmlns:a16="http://schemas.microsoft.com/office/drawing/2014/main" id="{7B35BDAA-D931-DC03-6B00-6EDF027908BB}"/>
              </a:ext>
            </a:extLst>
          </p:cNvPr>
          <p:cNvSpPr>
            <a:spLocks noGrp="1"/>
          </p:cNvSpPr>
          <p:nvPr>
            <p:ph type="body" sz="quarter" idx="19" hasCustomPrompt="1"/>
          </p:nvPr>
        </p:nvSpPr>
        <p:spPr>
          <a:xfrm>
            <a:off x="914400" y="2209800"/>
            <a:ext cx="685800" cy="685800"/>
          </a:xfrm>
          <a:noFill/>
        </p:spPr>
        <p:txBody>
          <a:bodyPr anchor="ctr">
            <a:normAutofit/>
          </a:bodyPr>
          <a:lstStyle>
            <a:lvl1pPr marL="0" indent="0" algn="ctr">
              <a:buNone/>
              <a:defRPr sz="4000">
                <a:gradFill>
                  <a:gsLst>
                    <a:gs pos="86000">
                      <a:schemeClr val="accent3"/>
                    </a:gs>
                    <a:gs pos="47000">
                      <a:schemeClr val="accent2"/>
                    </a:gs>
                    <a:gs pos="0">
                      <a:schemeClr val="tx1"/>
                    </a:gs>
                  </a:gsLst>
                  <a:lin ang="3600000" scaled="0"/>
                </a:gradFill>
                <a:latin typeface="+mj-lt"/>
              </a:defRPr>
            </a:lvl1pPr>
          </a:lstStyle>
          <a:p>
            <a:pPr lvl="0"/>
            <a:r>
              <a:rPr lang="en-US" dirty="0"/>
              <a:t>#</a:t>
            </a:r>
          </a:p>
        </p:txBody>
      </p:sp>
      <p:sp>
        <p:nvSpPr>
          <p:cNvPr id="32" name="Text Placeholder 28">
            <a:extLst>
              <a:ext uri="{FF2B5EF4-FFF2-40B4-BE49-F238E27FC236}">
                <a16:creationId xmlns:a16="http://schemas.microsoft.com/office/drawing/2014/main" id="{EF503090-B911-7788-8B94-3F88CA4797F9}"/>
              </a:ext>
            </a:extLst>
          </p:cNvPr>
          <p:cNvSpPr>
            <a:spLocks noGrp="1"/>
          </p:cNvSpPr>
          <p:nvPr>
            <p:ph type="body" sz="quarter" idx="22" hasCustomPrompt="1"/>
          </p:nvPr>
        </p:nvSpPr>
        <p:spPr>
          <a:xfrm>
            <a:off x="6023949" y="2209800"/>
            <a:ext cx="685800" cy="685800"/>
          </a:xfrm>
          <a:noFill/>
        </p:spPr>
        <p:txBody>
          <a:bodyPr vert="horz" lIns="91440" tIns="45720" rIns="91440" bIns="45720" rtlCol="0" anchor="ctr">
            <a:normAutofit/>
          </a:bodyPr>
          <a:lstStyle>
            <a:lvl1pPr marL="0" indent="0" algn="r">
              <a:buNone/>
              <a:defRPr lang="en-US" sz="4000" dirty="0">
                <a:gradFill>
                  <a:gsLst>
                    <a:gs pos="82000">
                      <a:schemeClr val="accent3"/>
                    </a:gs>
                    <a:gs pos="45000">
                      <a:schemeClr val="accent2"/>
                    </a:gs>
                  </a:gsLst>
                  <a:lin ang="3600000" scaled="0"/>
                </a:gradFill>
                <a:latin typeface="+mj-lt"/>
              </a:defRPr>
            </a:lvl1pPr>
          </a:lstStyle>
          <a:p>
            <a:pPr marL="228600" lvl="0" indent="-228600" algn="ctr"/>
            <a:r>
              <a:rPr lang="en-US" dirty="0"/>
              <a:t>#</a:t>
            </a:r>
          </a:p>
        </p:txBody>
      </p:sp>
      <p:sp>
        <p:nvSpPr>
          <p:cNvPr id="35" name="Text Placeholder 21">
            <a:extLst>
              <a:ext uri="{FF2B5EF4-FFF2-40B4-BE49-F238E27FC236}">
                <a16:creationId xmlns:a16="http://schemas.microsoft.com/office/drawing/2014/main" id="{65D9DAC4-C562-9524-30AD-991D271FE6EF}"/>
              </a:ext>
            </a:extLst>
          </p:cNvPr>
          <p:cNvSpPr>
            <a:spLocks noGrp="1"/>
          </p:cNvSpPr>
          <p:nvPr>
            <p:ph type="body" sz="quarter" idx="23" hasCustomPrompt="1"/>
          </p:nvPr>
        </p:nvSpPr>
        <p:spPr>
          <a:xfrm>
            <a:off x="1824652" y="3627249"/>
            <a:ext cx="3974845" cy="609600"/>
          </a:xfrm>
        </p:spPr>
        <p:txBody>
          <a:bodyPr anchor="ctr">
            <a:normAutofit/>
          </a:bodyPr>
          <a:lstStyle>
            <a:lvl1pPr marL="0" indent="0">
              <a:buNone/>
              <a:defRPr sz="2000"/>
            </a:lvl1pPr>
          </a:lstStyle>
          <a:p>
            <a:pPr lvl="0"/>
            <a:r>
              <a:rPr lang="en-US" dirty="0"/>
              <a:t>Click to add addenda item</a:t>
            </a:r>
          </a:p>
        </p:txBody>
      </p:sp>
      <p:sp>
        <p:nvSpPr>
          <p:cNvPr id="36" name="Text Placeholder 21">
            <a:extLst>
              <a:ext uri="{FF2B5EF4-FFF2-40B4-BE49-F238E27FC236}">
                <a16:creationId xmlns:a16="http://schemas.microsoft.com/office/drawing/2014/main" id="{7E647AC1-0BB7-0678-1B8A-177F4146A75E}"/>
              </a:ext>
            </a:extLst>
          </p:cNvPr>
          <p:cNvSpPr>
            <a:spLocks noGrp="1"/>
          </p:cNvSpPr>
          <p:nvPr>
            <p:ph type="body" sz="quarter" idx="24" hasCustomPrompt="1"/>
          </p:nvPr>
        </p:nvSpPr>
        <p:spPr>
          <a:xfrm>
            <a:off x="6934200" y="3627249"/>
            <a:ext cx="4343400" cy="609600"/>
          </a:xfrm>
        </p:spPr>
        <p:txBody>
          <a:bodyPr anchor="ctr">
            <a:normAutofit/>
          </a:bodyPr>
          <a:lstStyle>
            <a:lvl1pPr marL="0" indent="0">
              <a:buNone/>
              <a:defRPr sz="2000"/>
            </a:lvl1pPr>
          </a:lstStyle>
          <a:p>
            <a:pPr lvl="0"/>
            <a:r>
              <a:rPr lang="en-US" dirty="0"/>
              <a:t>Click to add addenda item</a:t>
            </a:r>
          </a:p>
        </p:txBody>
      </p:sp>
      <p:sp>
        <p:nvSpPr>
          <p:cNvPr id="37" name="Text Placeholder 28">
            <a:extLst>
              <a:ext uri="{FF2B5EF4-FFF2-40B4-BE49-F238E27FC236}">
                <a16:creationId xmlns:a16="http://schemas.microsoft.com/office/drawing/2014/main" id="{B55453C0-7B23-AC50-10FE-E961216AD9CE}"/>
              </a:ext>
            </a:extLst>
          </p:cNvPr>
          <p:cNvSpPr>
            <a:spLocks noGrp="1"/>
          </p:cNvSpPr>
          <p:nvPr>
            <p:ph type="body" sz="quarter" idx="25" hasCustomPrompt="1"/>
          </p:nvPr>
        </p:nvSpPr>
        <p:spPr>
          <a:xfrm>
            <a:off x="914400" y="3589149"/>
            <a:ext cx="685800" cy="685800"/>
          </a:xfrm>
          <a:noFill/>
        </p:spPr>
        <p:txBody>
          <a:bodyPr vert="horz" lIns="91440" tIns="45720" rIns="91440" bIns="45720" rtlCol="0" anchor="ctr">
            <a:normAutofit/>
          </a:bodyPr>
          <a:lstStyle>
            <a:lvl1pPr marL="0" indent="0" algn="r">
              <a:buNone/>
              <a:defRPr lang="en-US" sz="4000" dirty="0">
                <a:gradFill>
                  <a:gsLst>
                    <a:gs pos="78000">
                      <a:schemeClr val="accent3"/>
                    </a:gs>
                    <a:gs pos="39000">
                      <a:schemeClr val="accent2"/>
                    </a:gs>
                    <a:gs pos="0">
                      <a:schemeClr val="tx1"/>
                    </a:gs>
                  </a:gsLst>
                  <a:lin ang="3600000" scaled="0"/>
                </a:gradFill>
                <a:latin typeface="+mj-lt"/>
              </a:defRPr>
            </a:lvl1pPr>
          </a:lstStyle>
          <a:p>
            <a:pPr marL="228600" lvl="0" indent="-228600" algn="ctr"/>
            <a:r>
              <a:rPr lang="en-US" dirty="0"/>
              <a:t>#</a:t>
            </a:r>
          </a:p>
        </p:txBody>
      </p:sp>
      <p:sp>
        <p:nvSpPr>
          <p:cNvPr id="38" name="Text Placeholder 28">
            <a:extLst>
              <a:ext uri="{FF2B5EF4-FFF2-40B4-BE49-F238E27FC236}">
                <a16:creationId xmlns:a16="http://schemas.microsoft.com/office/drawing/2014/main" id="{1A5B7077-E4C0-3DD2-DCA8-E8A197F1C95C}"/>
              </a:ext>
            </a:extLst>
          </p:cNvPr>
          <p:cNvSpPr>
            <a:spLocks noGrp="1"/>
          </p:cNvSpPr>
          <p:nvPr>
            <p:ph type="body" sz="quarter" idx="26" hasCustomPrompt="1"/>
          </p:nvPr>
        </p:nvSpPr>
        <p:spPr>
          <a:xfrm>
            <a:off x="6023949" y="3589149"/>
            <a:ext cx="685800" cy="685800"/>
          </a:xfrm>
          <a:noFill/>
        </p:spPr>
        <p:txBody>
          <a:bodyPr vert="horz" lIns="91440" tIns="45720" rIns="91440" bIns="45720" rtlCol="0" anchor="ctr">
            <a:normAutofit/>
          </a:bodyPr>
          <a:lstStyle>
            <a:lvl1pPr marL="0" indent="0" algn="r">
              <a:buNone/>
              <a:defRPr lang="en-US" sz="4000" dirty="0">
                <a:gradFill>
                  <a:gsLst>
                    <a:gs pos="77000">
                      <a:schemeClr val="accent3"/>
                    </a:gs>
                    <a:gs pos="45000">
                      <a:schemeClr val="accent2"/>
                    </a:gs>
                    <a:gs pos="0">
                      <a:schemeClr val="tx1"/>
                    </a:gs>
                  </a:gsLst>
                  <a:lin ang="3600000" scaled="0"/>
                </a:gradFill>
                <a:latin typeface="+mj-lt"/>
              </a:defRPr>
            </a:lvl1pPr>
          </a:lstStyle>
          <a:p>
            <a:pPr marL="228600" lvl="0" indent="-228600" algn="ctr"/>
            <a:r>
              <a:rPr lang="en-US" dirty="0"/>
              <a:t>#</a:t>
            </a:r>
          </a:p>
        </p:txBody>
      </p:sp>
      <p:sp>
        <p:nvSpPr>
          <p:cNvPr id="39" name="Text Placeholder 21">
            <a:extLst>
              <a:ext uri="{FF2B5EF4-FFF2-40B4-BE49-F238E27FC236}">
                <a16:creationId xmlns:a16="http://schemas.microsoft.com/office/drawing/2014/main" id="{B32EE1BF-44FE-201B-EF31-3ED8FF5BA7BC}"/>
              </a:ext>
            </a:extLst>
          </p:cNvPr>
          <p:cNvSpPr>
            <a:spLocks noGrp="1"/>
          </p:cNvSpPr>
          <p:nvPr>
            <p:ph type="body" sz="quarter" idx="27" hasCustomPrompt="1"/>
          </p:nvPr>
        </p:nvSpPr>
        <p:spPr>
          <a:xfrm>
            <a:off x="1824652" y="4913609"/>
            <a:ext cx="3974845" cy="609600"/>
          </a:xfrm>
        </p:spPr>
        <p:txBody>
          <a:bodyPr anchor="ctr">
            <a:normAutofit/>
          </a:bodyPr>
          <a:lstStyle>
            <a:lvl1pPr marL="0" indent="0">
              <a:buNone/>
              <a:defRPr sz="2000"/>
            </a:lvl1pPr>
          </a:lstStyle>
          <a:p>
            <a:pPr lvl="0"/>
            <a:r>
              <a:rPr lang="en-US" dirty="0"/>
              <a:t>Click to add addenda item</a:t>
            </a:r>
          </a:p>
        </p:txBody>
      </p:sp>
      <p:sp>
        <p:nvSpPr>
          <p:cNvPr id="40" name="Text Placeholder 21">
            <a:extLst>
              <a:ext uri="{FF2B5EF4-FFF2-40B4-BE49-F238E27FC236}">
                <a16:creationId xmlns:a16="http://schemas.microsoft.com/office/drawing/2014/main" id="{2F676D19-8F83-696C-ACFF-7F910A6C8105}"/>
              </a:ext>
            </a:extLst>
          </p:cNvPr>
          <p:cNvSpPr>
            <a:spLocks noGrp="1"/>
          </p:cNvSpPr>
          <p:nvPr>
            <p:ph type="body" sz="quarter" idx="28" hasCustomPrompt="1"/>
          </p:nvPr>
        </p:nvSpPr>
        <p:spPr>
          <a:xfrm>
            <a:off x="6934200" y="4913609"/>
            <a:ext cx="4343400" cy="609600"/>
          </a:xfrm>
        </p:spPr>
        <p:txBody>
          <a:bodyPr anchor="ctr">
            <a:normAutofit/>
          </a:bodyPr>
          <a:lstStyle>
            <a:lvl1pPr marL="0" indent="0">
              <a:buNone/>
              <a:defRPr sz="2000"/>
            </a:lvl1pPr>
          </a:lstStyle>
          <a:p>
            <a:pPr lvl="0"/>
            <a:r>
              <a:rPr lang="en-US" dirty="0"/>
              <a:t>Click to add addenda item</a:t>
            </a:r>
          </a:p>
        </p:txBody>
      </p:sp>
      <p:sp>
        <p:nvSpPr>
          <p:cNvPr id="41" name="Text Placeholder 28">
            <a:extLst>
              <a:ext uri="{FF2B5EF4-FFF2-40B4-BE49-F238E27FC236}">
                <a16:creationId xmlns:a16="http://schemas.microsoft.com/office/drawing/2014/main" id="{4936C6BE-C8B8-20C6-9C05-FD330B16C055}"/>
              </a:ext>
            </a:extLst>
          </p:cNvPr>
          <p:cNvSpPr>
            <a:spLocks noGrp="1"/>
          </p:cNvSpPr>
          <p:nvPr>
            <p:ph type="body" sz="quarter" idx="29" hasCustomPrompt="1"/>
          </p:nvPr>
        </p:nvSpPr>
        <p:spPr>
          <a:xfrm>
            <a:off x="914400" y="4875509"/>
            <a:ext cx="685800" cy="685800"/>
          </a:xfrm>
          <a:noFill/>
        </p:spPr>
        <p:txBody>
          <a:bodyPr vert="horz" lIns="91440" tIns="45720" rIns="91440" bIns="45720" rtlCol="0" anchor="ctr">
            <a:normAutofit/>
          </a:bodyPr>
          <a:lstStyle>
            <a:lvl1pPr marL="0" indent="0" algn="r">
              <a:buNone/>
              <a:defRPr lang="en-US" sz="4000" dirty="0">
                <a:gradFill>
                  <a:gsLst>
                    <a:gs pos="87000">
                      <a:schemeClr val="accent3"/>
                    </a:gs>
                    <a:gs pos="45000">
                      <a:schemeClr val="accent2"/>
                    </a:gs>
                    <a:gs pos="0">
                      <a:schemeClr val="tx1"/>
                    </a:gs>
                  </a:gsLst>
                  <a:lin ang="3600000" scaled="0"/>
                </a:gradFill>
                <a:latin typeface="+mj-lt"/>
              </a:defRPr>
            </a:lvl1pPr>
          </a:lstStyle>
          <a:p>
            <a:pPr marL="228600" lvl="0" indent="-228600" algn="ctr"/>
            <a:r>
              <a:rPr lang="en-US" dirty="0"/>
              <a:t>#</a:t>
            </a:r>
          </a:p>
        </p:txBody>
      </p:sp>
      <p:sp>
        <p:nvSpPr>
          <p:cNvPr id="42" name="Text Placeholder 28">
            <a:extLst>
              <a:ext uri="{FF2B5EF4-FFF2-40B4-BE49-F238E27FC236}">
                <a16:creationId xmlns:a16="http://schemas.microsoft.com/office/drawing/2014/main" id="{9DBD5D19-811F-095E-D5BA-1EE3AC8F9767}"/>
              </a:ext>
            </a:extLst>
          </p:cNvPr>
          <p:cNvSpPr>
            <a:spLocks noGrp="1"/>
          </p:cNvSpPr>
          <p:nvPr>
            <p:ph type="body" sz="quarter" idx="30" hasCustomPrompt="1"/>
          </p:nvPr>
        </p:nvSpPr>
        <p:spPr>
          <a:xfrm>
            <a:off x="6023949" y="4875509"/>
            <a:ext cx="685800" cy="685800"/>
          </a:xfrm>
          <a:noFill/>
        </p:spPr>
        <p:txBody>
          <a:bodyPr vert="horz" lIns="91440" tIns="45720" rIns="91440" bIns="45720" rtlCol="0" anchor="ctr">
            <a:normAutofit/>
          </a:bodyPr>
          <a:lstStyle>
            <a:lvl1pPr marL="0" indent="0" algn="r">
              <a:buNone/>
              <a:defRPr lang="en-US" sz="4000" dirty="0">
                <a:gradFill>
                  <a:gsLst>
                    <a:gs pos="72000">
                      <a:schemeClr val="accent3"/>
                    </a:gs>
                    <a:gs pos="45000">
                      <a:schemeClr val="accent2"/>
                    </a:gs>
                    <a:gs pos="4000">
                      <a:schemeClr val="tx1"/>
                    </a:gs>
                  </a:gsLst>
                  <a:lin ang="3600000" scaled="0"/>
                </a:gradFill>
                <a:latin typeface="+mj-lt"/>
              </a:defRPr>
            </a:lvl1pPr>
          </a:lstStyle>
          <a:p>
            <a:pPr marL="228600" lvl="0" indent="-228600" algn="ctr"/>
            <a:r>
              <a:rPr lang="en-US" dirty="0"/>
              <a:t>#</a:t>
            </a:r>
          </a:p>
        </p:txBody>
      </p:sp>
      <p:cxnSp>
        <p:nvCxnSpPr>
          <p:cNvPr id="44" name="Straight Connector 43">
            <a:extLst>
              <a:ext uri="{FF2B5EF4-FFF2-40B4-BE49-F238E27FC236}">
                <a16:creationId xmlns:a16="http://schemas.microsoft.com/office/drawing/2014/main" id="{42FAC8BE-D606-2853-844A-E2C15955DC7D}"/>
              </a:ext>
            </a:extLst>
          </p:cNvPr>
          <p:cNvCxnSpPr/>
          <p:nvPr userDrawn="1"/>
        </p:nvCxnSpPr>
        <p:spPr>
          <a:xfrm>
            <a:off x="838200" y="2190750"/>
            <a:ext cx="83820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6" name="Straight Connector 45">
            <a:extLst>
              <a:ext uri="{FF2B5EF4-FFF2-40B4-BE49-F238E27FC236}">
                <a16:creationId xmlns:a16="http://schemas.microsoft.com/office/drawing/2014/main" id="{F8BB1695-58EE-644B-7EE8-11F922C6661D}"/>
              </a:ext>
            </a:extLst>
          </p:cNvPr>
          <p:cNvCxnSpPr>
            <a:cxnSpLocks/>
          </p:cNvCxnSpPr>
          <p:nvPr userDrawn="1"/>
        </p:nvCxnSpPr>
        <p:spPr>
          <a:xfrm>
            <a:off x="1600200" y="2114550"/>
            <a:ext cx="0" cy="914400"/>
          </a:xfrm>
          <a:prstGeom prst="line">
            <a:avLst/>
          </a:prstGeom>
        </p:spPr>
        <p:style>
          <a:lnRef idx="1">
            <a:schemeClr val="accent1"/>
          </a:lnRef>
          <a:fillRef idx="0">
            <a:schemeClr val="accent1"/>
          </a:fillRef>
          <a:effectRef idx="0">
            <a:schemeClr val="accent1"/>
          </a:effectRef>
          <a:fontRef idx="minor">
            <a:schemeClr val="tx1"/>
          </a:fontRef>
        </p:style>
      </p:cxnSp>
      <p:cxnSp>
        <p:nvCxnSpPr>
          <p:cNvPr id="55" name="Straight Connector 54">
            <a:extLst>
              <a:ext uri="{FF2B5EF4-FFF2-40B4-BE49-F238E27FC236}">
                <a16:creationId xmlns:a16="http://schemas.microsoft.com/office/drawing/2014/main" id="{D52F9823-AA54-9873-16F2-263321455B45}"/>
              </a:ext>
            </a:extLst>
          </p:cNvPr>
          <p:cNvCxnSpPr/>
          <p:nvPr userDrawn="1"/>
        </p:nvCxnSpPr>
        <p:spPr>
          <a:xfrm>
            <a:off x="838200" y="3590925"/>
            <a:ext cx="83820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6" name="Straight Connector 55">
            <a:extLst>
              <a:ext uri="{FF2B5EF4-FFF2-40B4-BE49-F238E27FC236}">
                <a16:creationId xmlns:a16="http://schemas.microsoft.com/office/drawing/2014/main" id="{FF1A9CBD-3464-B5A2-6E8D-EE3FD067EE09}"/>
              </a:ext>
            </a:extLst>
          </p:cNvPr>
          <p:cNvCxnSpPr>
            <a:cxnSpLocks/>
          </p:cNvCxnSpPr>
          <p:nvPr userDrawn="1"/>
        </p:nvCxnSpPr>
        <p:spPr>
          <a:xfrm>
            <a:off x="1600200" y="3514725"/>
            <a:ext cx="0" cy="914400"/>
          </a:xfrm>
          <a:prstGeom prst="line">
            <a:avLst/>
          </a:prstGeom>
        </p:spPr>
        <p:style>
          <a:lnRef idx="1">
            <a:schemeClr val="accent1"/>
          </a:lnRef>
          <a:fillRef idx="0">
            <a:schemeClr val="accent1"/>
          </a:fillRef>
          <a:effectRef idx="0">
            <a:schemeClr val="accent1"/>
          </a:effectRef>
          <a:fontRef idx="minor">
            <a:schemeClr val="tx1"/>
          </a:fontRef>
        </p:style>
      </p:cxnSp>
      <p:cxnSp>
        <p:nvCxnSpPr>
          <p:cNvPr id="57" name="Straight Connector 56">
            <a:extLst>
              <a:ext uri="{FF2B5EF4-FFF2-40B4-BE49-F238E27FC236}">
                <a16:creationId xmlns:a16="http://schemas.microsoft.com/office/drawing/2014/main" id="{DEED8E47-E2B6-E0EF-495A-1545B3213F3D}"/>
              </a:ext>
            </a:extLst>
          </p:cNvPr>
          <p:cNvCxnSpPr/>
          <p:nvPr userDrawn="1"/>
        </p:nvCxnSpPr>
        <p:spPr>
          <a:xfrm>
            <a:off x="838200" y="4876800"/>
            <a:ext cx="83820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8" name="Straight Connector 57">
            <a:extLst>
              <a:ext uri="{FF2B5EF4-FFF2-40B4-BE49-F238E27FC236}">
                <a16:creationId xmlns:a16="http://schemas.microsoft.com/office/drawing/2014/main" id="{31607ECD-AA81-BC83-3C78-B9336CCDEEF0}"/>
              </a:ext>
            </a:extLst>
          </p:cNvPr>
          <p:cNvCxnSpPr>
            <a:cxnSpLocks/>
          </p:cNvCxnSpPr>
          <p:nvPr userDrawn="1"/>
        </p:nvCxnSpPr>
        <p:spPr>
          <a:xfrm>
            <a:off x="1600200" y="4800600"/>
            <a:ext cx="0" cy="914400"/>
          </a:xfrm>
          <a:prstGeom prst="line">
            <a:avLst/>
          </a:prstGeom>
        </p:spPr>
        <p:style>
          <a:lnRef idx="1">
            <a:schemeClr val="accent1"/>
          </a:lnRef>
          <a:fillRef idx="0">
            <a:schemeClr val="accent1"/>
          </a:fillRef>
          <a:effectRef idx="0">
            <a:schemeClr val="accent1"/>
          </a:effectRef>
          <a:fontRef idx="minor">
            <a:schemeClr val="tx1"/>
          </a:fontRef>
        </p:style>
      </p:cxnSp>
      <p:cxnSp>
        <p:nvCxnSpPr>
          <p:cNvPr id="59" name="Straight Connector 58">
            <a:extLst>
              <a:ext uri="{FF2B5EF4-FFF2-40B4-BE49-F238E27FC236}">
                <a16:creationId xmlns:a16="http://schemas.microsoft.com/office/drawing/2014/main" id="{45E098EB-268C-67D8-9802-3DFD2843FEB8}"/>
              </a:ext>
            </a:extLst>
          </p:cNvPr>
          <p:cNvCxnSpPr/>
          <p:nvPr userDrawn="1"/>
        </p:nvCxnSpPr>
        <p:spPr>
          <a:xfrm>
            <a:off x="5943600" y="2190750"/>
            <a:ext cx="83820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0" name="Straight Connector 59">
            <a:extLst>
              <a:ext uri="{FF2B5EF4-FFF2-40B4-BE49-F238E27FC236}">
                <a16:creationId xmlns:a16="http://schemas.microsoft.com/office/drawing/2014/main" id="{CC41966B-39B9-FA80-34EE-34DB2BBC90AA}"/>
              </a:ext>
            </a:extLst>
          </p:cNvPr>
          <p:cNvCxnSpPr>
            <a:cxnSpLocks/>
          </p:cNvCxnSpPr>
          <p:nvPr userDrawn="1"/>
        </p:nvCxnSpPr>
        <p:spPr>
          <a:xfrm>
            <a:off x="6705600" y="2114550"/>
            <a:ext cx="0" cy="914400"/>
          </a:xfrm>
          <a:prstGeom prst="line">
            <a:avLst/>
          </a:prstGeom>
        </p:spPr>
        <p:style>
          <a:lnRef idx="1">
            <a:schemeClr val="accent1"/>
          </a:lnRef>
          <a:fillRef idx="0">
            <a:schemeClr val="accent1"/>
          </a:fillRef>
          <a:effectRef idx="0">
            <a:schemeClr val="accent1"/>
          </a:effectRef>
          <a:fontRef idx="minor">
            <a:schemeClr val="tx1"/>
          </a:fontRef>
        </p:style>
      </p:cxnSp>
      <p:cxnSp>
        <p:nvCxnSpPr>
          <p:cNvPr id="61" name="Straight Connector 60">
            <a:extLst>
              <a:ext uri="{FF2B5EF4-FFF2-40B4-BE49-F238E27FC236}">
                <a16:creationId xmlns:a16="http://schemas.microsoft.com/office/drawing/2014/main" id="{567F3916-0A34-3DFE-C40C-9CE5F118C59D}"/>
              </a:ext>
            </a:extLst>
          </p:cNvPr>
          <p:cNvCxnSpPr/>
          <p:nvPr userDrawn="1"/>
        </p:nvCxnSpPr>
        <p:spPr>
          <a:xfrm>
            <a:off x="5943600" y="3590925"/>
            <a:ext cx="83820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2" name="Straight Connector 61">
            <a:extLst>
              <a:ext uri="{FF2B5EF4-FFF2-40B4-BE49-F238E27FC236}">
                <a16:creationId xmlns:a16="http://schemas.microsoft.com/office/drawing/2014/main" id="{90580B0B-C3BC-E6B2-4F7A-A8BC4CBEC5D4}"/>
              </a:ext>
            </a:extLst>
          </p:cNvPr>
          <p:cNvCxnSpPr>
            <a:cxnSpLocks/>
          </p:cNvCxnSpPr>
          <p:nvPr userDrawn="1"/>
        </p:nvCxnSpPr>
        <p:spPr>
          <a:xfrm>
            <a:off x="6705600" y="3514725"/>
            <a:ext cx="0" cy="914400"/>
          </a:xfrm>
          <a:prstGeom prst="line">
            <a:avLst/>
          </a:prstGeom>
        </p:spPr>
        <p:style>
          <a:lnRef idx="1">
            <a:schemeClr val="accent1"/>
          </a:lnRef>
          <a:fillRef idx="0">
            <a:schemeClr val="accent1"/>
          </a:fillRef>
          <a:effectRef idx="0">
            <a:schemeClr val="accent1"/>
          </a:effectRef>
          <a:fontRef idx="minor">
            <a:schemeClr val="tx1"/>
          </a:fontRef>
        </p:style>
      </p:cxnSp>
      <p:cxnSp>
        <p:nvCxnSpPr>
          <p:cNvPr id="63" name="Straight Connector 62">
            <a:extLst>
              <a:ext uri="{FF2B5EF4-FFF2-40B4-BE49-F238E27FC236}">
                <a16:creationId xmlns:a16="http://schemas.microsoft.com/office/drawing/2014/main" id="{F204EA6A-A0F1-4A1F-D752-01EC9413BD08}"/>
              </a:ext>
            </a:extLst>
          </p:cNvPr>
          <p:cNvCxnSpPr/>
          <p:nvPr userDrawn="1"/>
        </p:nvCxnSpPr>
        <p:spPr>
          <a:xfrm>
            <a:off x="5943600" y="4876800"/>
            <a:ext cx="83820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4" name="Straight Connector 63">
            <a:extLst>
              <a:ext uri="{FF2B5EF4-FFF2-40B4-BE49-F238E27FC236}">
                <a16:creationId xmlns:a16="http://schemas.microsoft.com/office/drawing/2014/main" id="{2332F554-64FA-44EB-F6C0-65BB814F9D34}"/>
              </a:ext>
            </a:extLst>
          </p:cNvPr>
          <p:cNvCxnSpPr>
            <a:cxnSpLocks/>
          </p:cNvCxnSpPr>
          <p:nvPr userDrawn="1"/>
        </p:nvCxnSpPr>
        <p:spPr>
          <a:xfrm>
            <a:off x="6705600" y="4800600"/>
            <a:ext cx="0" cy="91440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43853396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E89F04-8166-A3DC-744C-551C5EB8708A}"/>
              </a:ext>
            </a:extLst>
          </p:cNvPr>
          <p:cNvSpPr>
            <a:spLocks noGrp="1"/>
          </p:cNvSpPr>
          <p:nvPr>
            <p:ph type="title"/>
          </p:nvPr>
        </p:nvSpPr>
        <p:spPr>
          <a:xfrm>
            <a:off x="914400" y="758952"/>
            <a:ext cx="10325100" cy="1325563"/>
          </a:xfrm>
        </p:spPr>
        <p:txBody>
          <a:bodyPr/>
          <a:lstStyle/>
          <a:p>
            <a:r>
              <a:rPr lang="en-US"/>
              <a:t>Click to edit Master title style</a:t>
            </a:r>
          </a:p>
        </p:txBody>
      </p:sp>
      <p:sp>
        <p:nvSpPr>
          <p:cNvPr id="3" name="Content Placeholder 2">
            <a:extLst>
              <a:ext uri="{FF2B5EF4-FFF2-40B4-BE49-F238E27FC236}">
                <a16:creationId xmlns:a16="http://schemas.microsoft.com/office/drawing/2014/main" id="{2B1A6FEB-A7E9-41A9-BE32-02FF741C9A2A}"/>
              </a:ext>
            </a:extLst>
          </p:cNvPr>
          <p:cNvSpPr>
            <a:spLocks noGrp="1"/>
          </p:cNvSpPr>
          <p:nvPr>
            <p:ph idx="1"/>
          </p:nvPr>
        </p:nvSpPr>
        <p:spPr>
          <a:xfrm>
            <a:off x="914400" y="2216430"/>
            <a:ext cx="103251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Footer Placeholder 4">
            <a:extLst>
              <a:ext uri="{FF2B5EF4-FFF2-40B4-BE49-F238E27FC236}">
                <a16:creationId xmlns:a16="http://schemas.microsoft.com/office/drawing/2014/main" id="{99422C68-F3F1-F728-F8AB-7545FFD238E1}"/>
              </a:ext>
            </a:extLst>
          </p:cNvPr>
          <p:cNvSpPr>
            <a:spLocks noGrp="1"/>
          </p:cNvSpPr>
          <p:nvPr>
            <p:ph type="ftr" sz="quarter" idx="11"/>
          </p:nvPr>
        </p:nvSpPr>
        <p:spPr/>
        <p:txBody>
          <a:bodyPr/>
          <a:lstStyle/>
          <a:p>
            <a:r>
              <a:rPr lang="en-US" dirty="0"/>
              <a:t>Biological &amp; Physical Sciences</a:t>
            </a:r>
          </a:p>
        </p:txBody>
      </p:sp>
      <p:sp>
        <p:nvSpPr>
          <p:cNvPr id="7" name="Slide Number Placeholder 5">
            <a:extLst>
              <a:ext uri="{FF2B5EF4-FFF2-40B4-BE49-F238E27FC236}">
                <a16:creationId xmlns:a16="http://schemas.microsoft.com/office/drawing/2014/main" id="{55FC8917-4CA3-53EC-49EA-1322608A3F2A}"/>
              </a:ext>
            </a:extLst>
          </p:cNvPr>
          <p:cNvSpPr>
            <a:spLocks noGrp="1"/>
          </p:cNvSpPr>
          <p:nvPr>
            <p:ph type="sldNum" sz="quarter" idx="4"/>
          </p:nvPr>
        </p:nvSpPr>
        <p:spPr>
          <a:xfrm>
            <a:off x="11662148" y="100584"/>
            <a:ext cx="1059704" cy="261258"/>
          </a:xfrm>
          <a:prstGeom prst="roundRect">
            <a:avLst>
              <a:gd name="adj" fmla="val 50000"/>
            </a:avLst>
          </a:prstGeom>
          <a:solidFill>
            <a:srgbClr val="002060"/>
          </a:solidFill>
        </p:spPr>
        <p:txBody>
          <a:bodyPr vert="horz" lIns="91440" tIns="45720" rIns="91440" bIns="45720" rtlCol="0" anchor="ctr"/>
          <a:lstStyle>
            <a:lvl1pPr algn="l">
              <a:defRPr sz="1100" b="1">
                <a:solidFill>
                  <a:schemeClr val="bg1"/>
                </a:solidFill>
              </a:defRPr>
            </a:lvl1pPr>
          </a:lstStyle>
          <a:p>
            <a:fld id="{E8618032-BA8D-3D4D-8253-A70208A85976}" type="slidenum">
              <a:rPr lang="en-US" smtClean="0"/>
              <a:pPr/>
              <a:t>‹#›</a:t>
            </a:fld>
            <a:endParaRPr lang="en-US" dirty="0"/>
          </a:p>
        </p:txBody>
      </p:sp>
    </p:spTree>
    <p:extLst>
      <p:ext uri="{BB962C8B-B14F-4D97-AF65-F5344CB8AC3E}">
        <p14:creationId xmlns:p14="http://schemas.microsoft.com/office/powerpoint/2010/main" val="57692526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obj" preserve="1">
  <p:cSld name="Title and Dense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E89F04-8166-A3DC-744C-551C5EB8708A}"/>
              </a:ext>
            </a:extLst>
          </p:cNvPr>
          <p:cNvSpPr>
            <a:spLocks noGrp="1"/>
          </p:cNvSpPr>
          <p:nvPr>
            <p:ph type="title"/>
          </p:nvPr>
        </p:nvSpPr>
        <p:spPr>
          <a:xfrm>
            <a:off x="914400" y="755930"/>
            <a:ext cx="10325100" cy="1325563"/>
          </a:xfrm>
        </p:spPr>
        <p:txBody>
          <a:bodyPr/>
          <a:lstStyle/>
          <a:p>
            <a:r>
              <a:rPr lang="en-US"/>
              <a:t>Click to edit Master title style</a:t>
            </a:r>
          </a:p>
        </p:txBody>
      </p:sp>
      <p:sp>
        <p:nvSpPr>
          <p:cNvPr id="3" name="Content Placeholder 2">
            <a:extLst>
              <a:ext uri="{FF2B5EF4-FFF2-40B4-BE49-F238E27FC236}">
                <a16:creationId xmlns:a16="http://schemas.microsoft.com/office/drawing/2014/main" id="{2B1A6FEB-A7E9-41A9-BE32-02FF741C9A2A}"/>
              </a:ext>
            </a:extLst>
          </p:cNvPr>
          <p:cNvSpPr>
            <a:spLocks noGrp="1"/>
          </p:cNvSpPr>
          <p:nvPr>
            <p:ph idx="1"/>
          </p:nvPr>
        </p:nvSpPr>
        <p:spPr>
          <a:xfrm>
            <a:off x="914400" y="2216430"/>
            <a:ext cx="10325100" cy="4351338"/>
          </a:xfrm>
        </p:spPr>
        <p:txBody>
          <a:bodyPr>
            <a:normAutofit/>
          </a:bodyPr>
          <a:lstStyle>
            <a:lvl1pPr>
              <a:defRPr sz="2000"/>
            </a:lvl1pPr>
            <a:lvl2pPr>
              <a:defRPr sz="1800"/>
            </a:lvl2pPr>
            <a:lvl3pPr>
              <a:defRPr sz="1600"/>
            </a:lvl3pPr>
            <a:lvl4pPr>
              <a:defRPr sz="1400"/>
            </a:lvl4pPr>
            <a:lvl5pPr>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Footer Placeholder 4">
            <a:extLst>
              <a:ext uri="{FF2B5EF4-FFF2-40B4-BE49-F238E27FC236}">
                <a16:creationId xmlns:a16="http://schemas.microsoft.com/office/drawing/2014/main" id="{99422C68-F3F1-F728-F8AB-7545FFD238E1}"/>
              </a:ext>
            </a:extLst>
          </p:cNvPr>
          <p:cNvSpPr>
            <a:spLocks noGrp="1"/>
          </p:cNvSpPr>
          <p:nvPr>
            <p:ph type="ftr" sz="quarter" idx="11"/>
          </p:nvPr>
        </p:nvSpPr>
        <p:spPr/>
        <p:txBody>
          <a:bodyPr/>
          <a:lstStyle/>
          <a:p>
            <a:r>
              <a:rPr lang="en-US" dirty="0"/>
              <a:t>Biological &amp; Physical Sciences</a:t>
            </a:r>
          </a:p>
        </p:txBody>
      </p:sp>
      <p:sp>
        <p:nvSpPr>
          <p:cNvPr id="6" name="Slide Number Placeholder 5">
            <a:extLst>
              <a:ext uri="{FF2B5EF4-FFF2-40B4-BE49-F238E27FC236}">
                <a16:creationId xmlns:a16="http://schemas.microsoft.com/office/drawing/2014/main" id="{6A5A23E4-0FD3-1AC3-FD06-43716C74AFB9}"/>
              </a:ext>
            </a:extLst>
          </p:cNvPr>
          <p:cNvSpPr txBox="1">
            <a:spLocks/>
          </p:cNvSpPr>
          <p:nvPr userDrawn="1"/>
        </p:nvSpPr>
        <p:spPr>
          <a:xfrm>
            <a:off x="11662148" y="100584"/>
            <a:ext cx="1059704" cy="261258"/>
          </a:xfrm>
          <a:prstGeom prst="roundRect">
            <a:avLst>
              <a:gd name="adj" fmla="val 50000"/>
            </a:avLst>
          </a:prstGeom>
          <a:solidFill>
            <a:srgbClr val="002060"/>
          </a:solidFill>
        </p:spPr>
        <p:txBody>
          <a:bodyPr vert="horz" lIns="91440" tIns="45720" rIns="91440" bIns="45720" rtlCol="0" anchor="ctr"/>
          <a:lstStyle>
            <a:defPPr>
              <a:defRPr lang="en-US"/>
            </a:defPPr>
            <a:lvl1pPr marL="0" algn="l" defTabSz="914400" rtl="0" eaLnBrk="1" latinLnBrk="0" hangingPunct="1">
              <a:defRPr sz="1100" b="1"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E8618032-BA8D-3D4D-8253-A70208A85976}" type="slidenum">
              <a:rPr lang="en-US" smtClean="0"/>
              <a:pPr/>
              <a:t>‹#›</a:t>
            </a:fld>
            <a:endParaRPr lang="en-US" dirty="0"/>
          </a:p>
        </p:txBody>
      </p:sp>
    </p:spTree>
    <p:extLst>
      <p:ext uri="{BB962C8B-B14F-4D97-AF65-F5344CB8AC3E}">
        <p14:creationId xmlns:p14="http://schemas.microsoft.com/office/powerpoint/2010/main" val="57007761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type="secHead" preserve="1">
  <p:cSld name="1_Section Header - Biology">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093F2C-644C-9402-B8E1-8E0A86BA6087}"/>
              </a:ext>
            </a:extLst>
          </p:cNvPr>
          <p:cNvSpPr>
            <a:spLocks noGrp="1"/>
          </p:cNvSpPr>
          <p:nvPr>
            <p:ph type="title"/>
          </p:nvPr>
        </p:nvSpPr>
        <p:spPr>
          <a:xfrm>
            <a:off x="3847172" y="1672824"/>
            <a:ext cx="7616282" cy="2196649"/>
          </a:xfrm>
        </p:spPr>
        <p:txBody>
          <a:bodyPr vert="horz" lIns="91440" tIns="45720" rIns="91440" bIns="45720" rtlCol="0" anchor="b">
            <a:normAutofit/>
          </a:bodyPr>
          <a:lstStyle>
            <a:lvl1pPr algn="l">
              <a:defRPr lang="en-US" dirty="0">
                <a:solidFill>
                  <a:schemeClr val="bg1"/>
                </a:solidFill>
              </a:defRPr>
            </a:lvl1pPr>
          </a:lstStyle>
          <a:p>
            <a:pPr lvl="0"/>
            <a:r>
              <a:rPr lang="en-US"/>
              <a:t>Click to edit Master title style</a:t>
            </a:r>
            <a:endParaRPr lang="en-US" dirty="0"/>
          </a:p>
        </p:txBody>
      </p:sp>
      <p:sp>
        <p:nvSpPr>
          <p:cNvPr id="3" name="Text Placeholder 2">
            <a:extLst>
              <a:ext uri="{FF2B5EF4-FFF2-40B4-BE49-F238E27FC236}">
                <a16:creationId xmlns:a16="http://schemas.microsoft.com/office/drawing/2014/main" id="{3AD101CB-2432-9C1F-28C9-0741354D3BA1}"/>
              </a:ext>
            </a:extLst>
          </p:cNvPr>
          <p:cNvSpPr>
            <a:spLocks noGrp="1"/>
          </p:cNvSpPr>
          <p:nvPr>
            <p:ph type="body" idx="1"/>
          </p:nvPr>
        </p:nvSpPr>
        <p:spPr>
          <a:xfrm>
            <a:off x="3847171" y="4039593"/>
            <a:ext cx="7616283" cy="1500187"/>
          </a:xfrm>
        </p:spPr>
        <p:txBody>
          <a:bodyPr vert="horz" lIns="91440" tIns="45720" rIns="91440" bIns="45720" rtlCol="0" anchor="t">
            <a:normAutofit/>
          </a:bodyPr>
          <a:lstStyle>
            <a:lvl1pPr algn="l">
              <a:defRPr lang="en-US" sz="2400" b="0">
                <a:solidFill>
                  <a:schemeClr val="bg1"/>
                </a:solidFill>
              </a:defRPr>
            </a:lvl1pPr>
          </a:lstStyle>
          <a:p>
            <a:pPr marL="0" lvl="0" indent="0">
              <a:buNone/>
            </a:pPr>
            <a:r>
              <a:rPr lang="en-US"/>
              <a:t>Click to edit Master text styles</a:t>
            </a:r>
          </a:p>
        </p:txBody>
      </p:sp>
      <p:sp>
        <p:nvSpPr>
          <p:cNvPr id="4" name="Slide Number Placeholder 5">
            <a:extLst>
              <a:ext uri="{FF2B5EF4-FFF2-40B4-BE49-F238E27FC236}">
                <a16:creationId xmlns:a16="http://schemas.microsoft.com/office/drawing/2014/main" id="{F6E6D588-E497-F70E-167F-4EDACDAF3709}"/>
              </a:ext>
            </a:extLst>
          </p:cNvPr>
          <p:cNvSpPr txBox="1">
            <a:spLocks/>
          </p:cNvSpPr>
          <p:nvPr userDrawn="1"/>
        </p:nvSpPr>
        <p:spPr>
          <a:xfrm>
            <a:off x="11662148" y="100584"/>
            <a:ext cx="1059704" cy="261258"/>
          </a:xfrm>
          <a:prstGeom prst="roundRect">
            <a:avLst>
              <a:gd name="adj" fmla="val 50000"/>
            </a:avLst>
          </a:prstGeom>
          <a:solidFill>
            <a:srgbClr val="002060"/>
          </a:solidFill>
        </p:spPr>
        <p:txBody>
          <a:bodyPr vert="horz" lIns="91440" tIns="45720" rIns="91440" bIns="45720" rtlCol="0" anchor="ctr"/>
          <a:lstStyle>
            <a:defPPr>
              <a:defRPr lang="en-US"/>
            </a:defPPr>
            <a:lvl1pPr marL="0" algn="l" defTabSz="914400" rtl="0" eaLnBrk="1" latinLnBrk="0" hangingPunct="1">
              <a:defRPr sz="1100" b="1"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E8618032-BA8D-3D4D-8253-A70208A85976}" type="slidenum">
              <a:rPr lang="en-US" smtClean="0"/>
              <a:pPr/>
              <a:t>‹#›</a:t>
            </a:fld>
            <a:endParaRPr lang="en-US" dirty="0"/>
          </a:p>
        </p:txBody>
      </p:sp>
      <p:pic>
        <p:nvPicPr>
          <p:cNvPr id="8" name="Picture 7" descr="A black background with grey letters&#10;&#10;Description automatically generated">
            <a:extLst>
              <a:ext uri="{FF2B5EF4-FFF2-40B4-BE49-F238E27FC236}">
                <a16:creationId xmlns:a16="http://schemas.microsoft.com/office/drawing/2014/main" id="{0383140C-6BE5-F602-5CA0-3D03E6996396}"/>
              </a:ext>
            </a:extLst>
          </p:cNvPr>
          <p:cNvPicPr>
            <a:picLocks noChangeAspect="1"/>
          </p:cNvPicPr>
          <p:nvPr userDrawn="1"/>
        </p:nvPicPr>
        <p:blipFill rotWithShape="1">
          <a:blip r:embed="rId3" cstate="screen">
            <a:alphaModFix amt="51000"/>
            <a:extLst>
              <a:ext uri="{28A0092B-C50C-407E-A947-70E740481C1C}">
                <a14:useLocalDpi xmlns:a14="http://schemas.microsoft.com/office/drawing/2010/main"/>
              </a:ext>
            </a:extLst>
          </a:blip>
          <a:srcRect/>
          <a:stretch/>
        </p:blipFill>
        <p:spPr>
          <a:xfrm>
            <a:off x="0" y="5168811"/>
            <a:ext cx="3884861" cy="1719470"/>
          </a:xfrm>
          <a:prstGeom prst="rect">
            <a:avLst/>
          </a:prstGeom>
        </p:spPr>
      </p:pic>
    </p:spTree>
    <p:extLst>
      <p:ext uri="{BB962C8B-B14F-4D97-AF65-F5344CB8AC3E}">
        <p14:creationId xmlns:p14="http://schemas.microsoft.com/office/powerpoint/2010/main" val="145456277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type="secHead" preserve="1">
  <p:cSld name="Section Header - Biology">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093F2C-644C-9402-B8E1-8E0A86BA6087}"/>
              </a:ext>
            </a:extLst>
          </p:cNvPr>
          <p:cNvSpPr>
            <a:spLocks noGrp="1"/>
          </p:cNvSpPr>
          <p:nvPr>
            <p:ph type="title"/>
          </p:nvPr>
        </p:nvSpPr>
        <p:spPr>
          <a:xfrm>
            <a:off x="3847172" y="1672824"/>
            <a:ext cx="7616282" cy="2196649"/>
          </a:xfrm>
        </p:spPr>
        <p:txBody>
          <a:bodyPr vert="horz" lIns="91440" tIns="45720" rIns="91440" bIns="45720" rtlCol="0" anchor="b">
            <a:normAutofit/>
          </a:bodyPr>
          <a:lstStyle>
            <a:lvl1pPr algn="l">
              <a:defRPr lang="en-US" dirty="0">
                <a:solidFill>
                  <a:schemeClr val="bg1"/>
                </a:solidFill>
              </a:defRPr>
            </a:lvl1pPr>
          </a:lstStyle>
          <a:p>
            <a:pPr lvl="0"/>
            <a:r>
              <a:rPr lang="en-US"/>
              <a:t>Click to edit Master title style</a:t>
            </a:r>
            <a:endParaRPr lang="en-US" dirty="0"/>
          </a:p>
        </p:txBody>
      </p:sp>
      <p:sp>
        <p:nvSpPr>
          <p:cNvPr id="3" name="Text Placeholder 2">
            <a:extLst>
              <a:ext uri="{FF2B5EF4-FFF2-40B4-BE49-F238E27FC236}">
                <a16:creationId xmlns:a16="http://schemas.microsoft.com/office/drawing/2014/main" id="{3AD101CB-2432-9C1F-28C9-0741354D3BA1}"/>
              </a:ext>
            </a:extLst>
          </p:cNvPr>
          <p:cNvSpPr>
            <a:spLocks noGrp="1"/>
          </p:cNvSpPr>
          <p:nvPr>
            <p:ph type="body" idx="1"/>
          </p:nvPr>
        </p:nvSpPr>
        <p:spPr>
          <a:xfrm>
            <a:off x="3847171" y="4039593"/>
            <a:ext cx="7616283" cy="1500187"/>
          </a:xfrm>
        </p:spPr>
        <p:txBody>
          <a:bodyPr vert="horz" lIns="91440" tIns="45720" rIns="91440" bIns="45720" rtlCol="0" anchor="t">
            <a:normAutofit/>
          </a:bodyPr>
          <a:lstStyle>
            <a:lvl1pPr algn="l">
              <a:defRPr lang="en-US" sz="2400" b="0">
                <a:solidFill>
                  <a:schemeClr val="bg1"/>
                </a:solidFill>
              </a:defRPr>
            </a:lvl1pPr>
          </a:lstStyle>
          <a:p>
            <a:pPr marL="0" lvl="0" indent="0">
              <a:buNone/>
            </a:pPr>
            <a:r>
              <a:rPr lang="en-US"/>
              <a:t>Click to edit Master text styles</a:t>
            </a:r>
          </a:p>
        </p:txBody>
      </p:sp>
      <p:sp>
        <p:nvSpPr>
          <p:cNvPr id="4" name="Slide Number Placeholder 5">
            <a:extLst>
              <a:ext uri="{FF2B5EF4-FFF2-40B4-BE49-F238E27FC236}">
                <a16:creationId xmlns:a16="http://schemas.microsoft.com/office/drawing/2014/main" id="{F6E6D588-E497-F70E-167F-4EDACDAF3709}"/>
              </a:ext>
            </a:extLst>
          </p:cNvPr>
          <p:cNvSpPr txBox="1">
            <a:spLocks/>
          </p:cNvSpPr>
          <p:nvPr userDrawn="1"/>
        </p:nvSpPr>
        <p:spPr>
          <a:xfrm>
            <a:off x="11662148" y="100584"/>
            <a:ext cx="1059704" cy="261258"/>
          </a:xfrm>
          <a:prstGeom prst="roundRect">
            <a:avLst>
              <a:gd name="adj" fmla="val 50000"/>
            </a:avLst>
          </a:prstGeom>
          <a:solidFill>
            <a:srgbClr val="002060"/>
          </a:solidFill>
        </p:spPr>
        <p:txBody>
          <a:bodyPr vert="horz" lIns="91440" tIns="45720" rIns="91440" bIns="45720" rtlCol="0" anchor="ctr"/>
          <a:lstStyle>
            <a:defPPr>
              <a:defRPr lang="en-US"/>
            </a:defPPr>
            <a:lvl1pPr marL="0" algn="l" defTabSz="914400" rtl="0" eaLnBrk="1" latinLnBrk="0" hangingPunct="1">
              <a:defRPr sz="1100" b="1"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E8618032-BA8D-3D4D-8253-A70208A85976}" type="slidenum">
              <a:rPr lang="en-US" smtClean="0"/>
              <a:pPr/>
              <a:t>‹#›</a:t>
            </a:fld>
            <a:endParaRPr lang="en-US" dirty="0"/>
          </a:p>
        </p:txBody>
      </p:sp>
      <p:pic>
        <p:nvPicPr>
          <p:cNvPr id="8" name="Picture 7" descr="A black background with grey letters&#10;&#10;Description automatically generated">
            <a:extLst>
              <a:ext uri="{FF2B5EF4-FFF2-40B4-BE49-F238E27FC236}">
                <a16:creationId xmlns:a16="http://schemas.microsoft.com/office/drawing/2014/main" id="{0383140C-6BE5-F602-5CA0-3D03E6996396}"/>
              </a:ext>
            </a:extLst>
          </p:cNvPr>
          <p:cNvPicPr>
            <a:picLocks noChangeAspect="1"/>
          </p:cNvPicPr>
          <p:nvPr userDrawn="1"/>
        </p:nvPicPr>
        <p:blipFill rotWithShape="1">
          <a:blip r:embed="rId3" cstate="screen">
            <a:alphaModFix amt="51000"/>
            <a:extLst>
              <a:ext uri="{28A0092B-C50C-407E-A947-70E740481C1C}">
                <a14:useLocalDpi xmlns:a14="http://schemas.microsoft.com/office/drawing/2010/main"/>
              </a:ext>
            </a:extLst>
          </a:blip>
          <a:srcRect/>
          <a:stretch/>
        </p:blipFill>
        <p:spPr>
          <a:xfrm>
            <a:off x="0" y="5168811"/>
            <a:ext cx="3884861" cy="1719470"/>
          </a:xfrm>
          <a:prstGeom prst="rect">
            <a:avLst/>
          </a:prstGeom>
        </p:spPr>
      </p:pic>
    </p:spTree>
    <p:extLst>
      <p:ext uri="{BB962C8B-B14F-4D97-AF65-F5344CB8AC3E}">
        <p14:creationId xmlns:p14="http://schemas.microsoft.com/office/powerpoint/2010/main" val="42885189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secHead" preserve="1">
  <p:cSld name="2_Section Header - Biology">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093F2C-644C-9402-B8E1-8E0A86BA6087}"/>
              </a:ext>
            </a:extLst>
          </p:cNvPr>
          <p:cNvSpPr>
            <a:spLocks noGrp="1"/>
          </p:cNvSpPr>
          <p:nvPr>
            <p:ph type="title"/>
          </p:nvPr>
        </p:nvSpPr>
        <p:spPr>
          <a:xfrm>
            <a:off x="3847172" y="1672824"/>
            <a:ext cx="7616282" cy="2196649"/>
          </a:xfrm>
        </p:spPr>
        <p:txBody>
          <a:bodyPr vert="horz" lIns="91440" tIns="45720" rIns="91440" bIns="45720" rtlCol="0" anchor="b">
            <a:normAutofit/>
          </a:bodyPr>
          <a:lstStyle>
            <a:lvl1pPr algn="l">
              <a:defRPr lang="en-US" dirty="0">
                <a:solidFill>
                  <a:schemeClr val="bg1"/>
                </a:solidFill>
              </a:defRPr>
            </a:lvl1pPr>
          </a:lstStyle>
          <a:p>
            <a:pPr lvl="0"/>
            <a:r>
              <a:rPr lang="en-US"/>
              <a:t>Click to edit Master title style</a:t>
            </a:r>
            <a:endParaRPr lang="en-US" dirty="0"/>
          </a:p>
        </p:txBody>
      </p:sp>
      <p:sp>
        <p:nvSpPr>
          <p:cNvPr id="3" name="Text Placeholder 2">
            <a:extLst>
              <a:ext uri="{FF2B5EF4-FFF2-40B4-BE49-F238E27FC236}">
                <a16:creationId xmlns:a16="http://schemas.microsoft.com/office/drawing/2014/main" id="{3AD101CB-2432-9C1F-28C9-0741354D3BA1}"/>
              </a:ext>
            </a:extLst>
          </p:cNvPr>
          <p:cNvSpPr>
            <a:spLocks noGrp="1"/>
          </p:cNvSpPr>
          <p:nvPr>
            <p:ph type="body" idx="1"/>
          </p:nvPr>
        </p:nvSpPr>
        <p:spPr>
          <a:xfrm>
            <a:off x="3847171" y="4039593"/>
            <a:ext cx="7616283" cy="1500187"/>
          </a:xfrm>
        </p:spPr>
        <p:txBody>
          <a:bodyPr vert="horz" lIns="91440" tIns="45720" rIns="91440" bIns="45720" rtlCol="0" anchor="t">
            <a:normAutofit/>
          </a:bodyPr>
          <a:lstStyle>
            <a:lvl1pPr algn="l">
              <a:defRPr lang="en-US" sz="2400" b="0">
                <a:solidFill>
                  <a:schemeClr val="bg1"/>
                </a:solidFill>
              </a:defRPr>
            </a:lvl1pPr>
          </a:lstStyle>
          <a:p>
            <a:pPr marL="0" lvl="0" indent="0">
              <a:buNone/>
            </a:pPr>
            <a:r>
              <a:rPr lang="en-US"/>
              <a:t>Click to edit Master text styles</a:t>
            </a:r>
          </a:p>
        </p:txBody>
      </p:sp>
      <p:sp>
        <p:nvSpPr>
          <p:cNvPr id="4" name="Slide Number Placeholder 5">
            <a:extLst>
              <a:ext uri="{FF2B5EF4-FFF2-40B4-BE49-F238E27FC236}">
                <a16:creationId xmlns:a16="http://schemas.microsoft.com/office/drawing/2014/main" id="{F6E6D588-E497-F70E-167F-4EDACDAF3709}"/>
              </a:ext>
            </a:extLst>
          </p:cNvPr>
          <p:cNvSpPr txBox="1">
            <a:spLocks/>
          </p:cNvSpPr>
          <p:nvPr userDrawn="1"/>
        </p:nvSpPr>
        <p:spPr>
          <a:xfrm>
            <a:off x="11662148" y="100584"/>
            <a:ext cx="1059704" cy="261258"/>
          </a:xfrm>
          <a:prstGeom prst="roundRect">
            <a:avLst>
              <a:gd name="adj" fmla="val 50000"/>
            </a:avLst>
          </a:prstGeom>
          <a:solidFill>
            <a:srgbClr val="002060"/>
          </a:solidFill>
        </p:spPr>
        <p:txBody>
          <a:bodyPr vert="horz" lIns="91440" tIns="45720" rIns="91440" bIns="45720" rtlCol="0" anchor="ctr"/>
          <a:lstStyle>
            <a:defPPr>
              <a:defRPr lang="en-US"/>
            </a:defPPr>
            <a:lvl1pPr marL="0" algn="l" defTabSz="914400" rtl="0" eaLnBrk="1" latinLnBrk="0" hangingPunct="1">
              <a:defRPr sz="1100" b="1"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E8618032-BA8D-3D4D-8253-A70208A85976}" type="slidenum">
              <a:rPr lang="en-US" smtClean="0"/>
              <a:pPr/>
              <a:t>‹#›</a:t>
            </a:fld>
            <a:endParaRPr lang="en-US" dirty="0"/>
          </a:p>
        </p:txBody>
      </p:sp>
      <p:pic>
        <p:nvPicPr>
          <p:cNvPr id="8" name="Picture 7" descr="A black background with grey letters&#10;&#10;Description automatically generated">
            <a:extLst>
              <a:ext uri="{FF2B5EF4-FFF2-40B4-BE49-F238E27FC236}">
                <a16:creationId xmlns:a16="http://schemas.microsoft.com/office/drawing/2014/main" id="{0383140C-6BE5-F602-5CA0-3D03E6996396}"/>
              </a:ext>
            </a:extLst>
          </p:cNvPr>
          <p:cNvPicPr>
            <a:picLocks noChangeAspect="1"/>
          </p:cNvPicPr>
          <p:nvPr userDrawn="1"/>
        </p:nvPicPr>
        <p:blipFill rotWithShape="1">
          <a:blip r:embed="rId3" cstate="screen">
            <a:alphaModFix amt="37000"/>
            <a:extLst>
              <a:ext uri="{28A0092B-C50C-407E-A947-70E740481C1C}">
                <a14:useLocalDpi xmlns:a14="http://schemas.microsoft.com/office/drawing/2010/main"/>
              </a:ext>
            </a:extLst>
          </a:blip>
          <a:srcRect/>
          <a:stretch/>
        </p:blipFill>
        <p:spPr>
          <a:xfrm>
            <a:off x="0" y="5168811"/>
            <a:ext cx="3884861" cy="1719470"/>
          </a:xfrm>
          <a:prstGeom prst="rect">
            <a:avLst/>
          </a:prstGeom>
        </p:spPr>
      </p:pic>
    </p:spTree>
    <p:extLst>
      <p:ext uri="{BB962C8B-B14F-4D97-AF65-F5344CB8AC3E}">
        <p14:creationId xmlns:p14="http://schemas.microsoft.com/office/powerpoint/2010/main" val="139663901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7077BF-0101-859C-6217-36F8D6AEFEBE}"/>
              </a:ext>
            </a:extLst>
          </p:cNvPr>
          <p:cNvSpPr>
            <a:spLocks noGrp="1"/>
          </p:cNvSpPr>
          <p:nvPr>
            <p:ph type="title"/>
          </p:nvPr>
        </p:nvSpPr>
        <p:spPr>
          <a:xfrm>
            <a:off x="914400" y="755930"/>
            <a:ext cx="10325100" cy="1325563"/>
          </a:xfrm>
        </p:spPr>
        <p:txBody>
          <a:body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216AC8C6-C4E6-E1A4-9BB3-02E2E29D455B}"/>
              </a:ext>
            </a:extLst>
          </p:cNvPr>
          <p:cNvSpPr>
            <a:spLocks noGrp="1"/>
          </p:cNvSpPr>
          <p:nvPr>
            <p:ph sz="half" idx="1"/>
          </p:nvPr>
        </p:nvSpPr>
        <p:spPr>
          <a:xfrm>
            <a:off x="914400" y="2270760"/>
            <a:ext cx="49149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64605E9D-2162-ED5F-D5C4-2810CEA1639F}"/>
              </a:ext>
            </a:extLst>
          </p:cNvPr>
          <p:cNvSpPr>
            <a:spLocks noGrp="1"/>
          </p:cNvSpPr>
          <p:nvPr>
            <p:ph sz="half" idx="2"/>
          </p:nvPr>
        </p:nvSpPr>
        <p:spPr>
          <a:xfrm>
            <a:off x="6096000" y="226758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a:extLst>
              <a:ext uri="{FF2B5EF4-FFF2-40B4-BE49-F238E27FC236}">
                <a16:creationId xmlns:a16="http://schemas.microsoft.com/office/drawing/2014/main" id="{6ECE6673-C7A0-C2BA-8CF4-61A98DC28D5B}"/>
              </a:ext>
            </a:extLst>
          </p:cNvPr>
          <p:cNvSpPr>
            <a:spLocks noGrp="1"/>
          </p:cNvSpPr>
          <p:nvPr>
            <p:ph type="ftr" sz="quarter" idx="11"/>
          </p:nvPr>
        </p:nvSpPr>
        <p:spPr/>
        <p:txBody>
          <a:bodyPr/>
          <a:lstStyle/>
          <a:p>
            <a:r>
              <a:rPr lang="en-US" dirty="0"/>
              <a:t>Biological &amp; Physical Sciences</a:t>
            </a:r>
          </a:p>
        </p:txBody>
      </p:sp>
      <p:sp>
        <p:nvSpPr>
          <p:cNvPr id="7" name="Slide Number Placeholder 6">
            <a:extLst>
              <a:ext uri="{FF2B5EF4-FFF2-40B4-BE49-F238E27FC236}">
                <a16:creationId xmlns:a16="http://schemas.microsoft.com/office/drawing/2014/main" id="{FA0287EE-B1C0-D41F-430F-AE7AA63CDCCC}"/>
              </a:ext>
            </a:extLst>
          </p:cNvPr>
          <p:cNvSpPr>
            <a:spLocks noGrp="1"/>
          </p:cNvSpPr>
          <p:nvPr>
            <p:ph type="sldNum" sz="quarter" idx="12"/>
          </p:nvPr>
        </p:nvSpPr>
        <p:spPr/>
        <p:txBody>
          <a:bodyPr/>
          <a:lstStyle/>
          <a:p>
            <a:fld id="{E8618032-BA8D-3D4D-8253-A70208A85976}" type="slidenum">
              <a:rPr lang="en-US" smtClean="0"/>
              <a:t>‹#›</a:t>
            </a:fld>
            <a:endParaRPr lang="en-US"/>
          </a:p>
        </p:txBody>
      </p:sp>
    </p:spTree>
    <p:extLst>
      <p:ext uri="{BB962C8B-B14F-4D97-AF65-F5344CB8AC3E}">
        <p14:creationId xmlns:p14="http://schemas.microsoft.com/office/powerpoint/2010/main" val="250381880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ext_Picture Dark">
    <p:spTree>
      <p:nvGrpSpPr>
        <p:cNvPr id="1" name=""/>
        <p:cNvGrpSpPr/>
        <p:nvPr/>
      </p:nvGrpSpPr>
      <p:grpSpPr>
        <a:xfrm>
          <a:off x="0" y="0"/>
          <a:ext cx="0" cy="0"/>
          <a:chOff x="0" y="0"/>
          <a:chExt cx="0" cy="0"/>
        </a:xfrm>
      </p:grpSpPr>
      <p:sp>
        <p:nvSpPr>
          <p:cNvPr id="4" name="Freeform 3">
            <a:extLst>
              <a:ext uri="{FF2B5EF4-FFF2-40B4-BE49-F238E27FC236}">
                <a16:creationId xmlns:a16="http://schemas.microsoft.com/office/drawing/2014/main" id="{BC8566AA-00D7-499C-0F3E-2067A61875E1}"/>
              </a:ext>
            </a:extLst>
          </p:cNvPr>
          <p:cNvSpPr/>
          <p:nvPr userDrawn="1"/>
        </p:nvSpPr>
        <p:spPr>
          <a:xfrm>
            <a:off x="-22302" y="468351"/>
            <a:ext cx="7304048" cy="6400800"/>
          </a:xfrm>
          <a:custGeom>
            <a:avLst/>
            <a:gdLst>
              <a:gd name="connsiteX0" fmla="*/ 0 w 7304048"/>
              <a:gd name="connsiteY0" fmla="*/ 0 h 6400800"/>
              <a:gd name="connsiteX1" fmla="*/ 5832087 w 7304048"/>
              <a:gd name="connsiteY1" fmla="*/ 0 h 6400800"/>
              <a:gd name="connsiteX2" fmla="*/ 7304048 w 7304048"/>
              <a:gd name="connsiteY2" fmla="*/ 6400800 h 6400800"/>
              <a:gd name="connsiteX3" fmla="*/ 11151 w 7304048"/>
              <a:gd name="connsiteY3" fmla="*/ 6400800 h 6400800"/>
              <a:gd name="connsiteX4" fmla="*/ 11151 w 7304048"/>
              <a:gd name="connsiteY4" fmla="*/ 6300439 h 6400800"/>
              <a:gd name="connsiteX5" fmla="*/ 0 w 7304048"/>
              <a:gd name="connsiteY5" fmla="*/ 0 h 64008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7304048" h="6400800">
                <a:moveTo>
                  <a:pt x="0" y="0"/>
                </a:moveTo>
                <a:lnTo>
                  <a:pt x="5832087" y="0"/>
                </a:lnTo>
                <a:lnTo>
                  <a:pt x="7304048" y="6400800"/>
                </a:lnTo>
                <a:lnTo>
                  <a:pt x="11151" y="6400800"/>
                </a:lnTo>
                <a:lnTo>
                  <a:pt x="11151" y="6300439"/>
                </a:lnTo>
                <a:lnTo>
                  <a:pt x="0" y="0"/>
                </a:lnTo>
                <a:close/>
              </a:path>
            </a:pathLst>
          </a:cu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Picture Placeholder 9">
            <a:extLst>
              <a:ext uri="{FF2B5EF4-FFF2-40B4-BE49-F238E27FC236}">
                <a16:creationId xmlns:a16="http://schemas.microsoft.com/office/drawing/2014/main" id="{B1EF21C4-1197-17A3-5E0D-4F7593E8A95F}"/>
              </a:ext>
            </a:extLst>
          </p:cNvPr>
          <p:cNvSpPr>
            <a:spLocks noGrp="1"/>
          </p:cNvSpPr>
          <p:nvPr>
            <p:ph type="pic" sz="quarter" idx="13"/>
          </p:nvPr>
        </p:nvSpPr>
        <p:spPr>
          <a:xfrm>
            <a:off x="5817279" y="484554"/>
            <a:ext cx="6369555" cy="6373446"/>
          </a:xfrm>
          <a:custGeom>
            <a:avLst/>
            <a:gdLst>
              <a:gd name="connsiteX0" fmla="*/ 0 w 6400800"/>
              <a:gd name="connsiteY0" fmla="*/ 6200317 h 6200317"/>
              <a:gd name="connsiteX1" fmla="*/ 1550079 w 6400800"/>
              <a:gd name="connsiteY1" fmla="*/ 0 h 6200317"/>
              <a:gd name="connsiteX2" fmla="*/ 6400800 w 6400800"/>
              <a:gd name="connsiteY2" fmla="*/ 0 h 6200317"/>
              <a:gd name="connsiteX3" fmla="*/ 4850721 w 6400800"/>
              <a:gd name="connsiteY3" fmla="*/ 6200317 h 6200317"/>
              <a:gd name="connsiteX4" fmla="*/ 0 w 6400800"/>
              <a:gd name="connsiteY4" fmla="*/ 6200317 h 6200317"/>
              <a:gd name="connsiteX0" fmla="*/ 0 w 6400800"/>
              <a:gd name="connsiteY0" fmla="*/ 6200317 h 6200317"/>
              <a:gd name="connsiteX1" fmla="*/ 26079 w 6400800"/>
              <a:gd name="connsiteY1" fmla="*/ 0 h 6200317"/>
              <a:gd name="connsiteX2" fmla="*/ 6400800 w 6400800"/>
              <a:gd name="connsiteY2" fmla="*/ 0 h 6200317"/>
              <a:gd name="connsiteX3" fmla="*/ 4850721 w 6400800"/>
              <a:gd name="connsiteY3" fmla="*/ 6200317 h 6200317"/>
              <a:gd name="connsiteX4" fmla="*/ 0 w 6400800"/>
              <a:gd name="connsiteY4" fmla="*/ 6200317 h 6200317"/>
              <a:gd name="connsiteX0" fmla="*/ 1470212 w 6374721"/>
              <a:gd name="connsiteY0" fmla="*/ 6228026 h 6228026"/>
              <a:gd name="connsiteX1" fmla="*/ 0 w 6374721"/>
              <a:gd name="connsiteY1" fmla="*/ 0 h 6228026"/>
              <a:gd name="connsiteX2" fmla="*/ 6374721 w 6374721"/>
              <a:gd name="connsiteY2" fmla="*/ 0 h 6228026"/>
              <a:gd name="connsiteX3" fmla="*/ 4824642 w 6374721"/>
              <a:gd name="connsiteY3" fmla="*/ 6200317 h 6228026"/>
              <a:gd name="connsiteX4" fmla="*/ 1470212 w 6374721"/>
              <a:gd name="connsiteY4" fmla="*/ 6228026 h 6228026"/>
              <a:gd name="connsiteX0" fmla="*/ 1470212 w 6374721"/>
              <a:gd name="connsiteY0" fmla="*/ 6228026 h 6255735"/>
              <a:gd name="connsiteX1" fmla="*/ 0 w 6374721"/>
              <a:gd name="connsiteY1" fmla="*/ 0 h 6255735"/>
              <a:gd name="connsiteX2" fmla="*/ 6374721 w 6374721"/>
              <a:gd name="connsiteY2" fmla="*/ 0 h 6255735"/>
              <a:gd name="connsiteX3" fmla="*/ 6362496 w 6374721"/>
              <a:gd name="connsiteY3" fmla="*/ 6255735 h 6255735"/>
              <a:gd name="connsiteX4" fmla="*/ 1470212 w 6374721"/>
              <a:gd name="connsiteY4" fmla="*/ 6228026 h 6255735"/>
              <a:gd name="connsiteX0" fmla="*/ 1470212 w 6374721"/>
              <a:gd name="connsiteY0" fmla="*/ 6228026 h 6228026"/>
              <a:gd name="connsiteX1" fmla="*/ 0 w 6374721"/>
              <a:gd name="connsiteY1" fmla="*/ 0 h 6228026"/>
              <a:gd name="connsiteX2" fmla="*/ 6374721 w 6374721"/>
              <a:gd name="connsiteY2" fmla="*/ 0 h 6228026"/>
              <a:gd name="connsiteX3" fmla="*/ 6362496 w 6374721"/>
              <a:gd name="connsiteY3" fmla="*/ 6228026 h 6228026"/>
              <a:gd name="connsiteX4" fmla="*/ 1470212 w 6374721"/>
              <a:gd name="connsiteY4" fmla="*/ 6228026 h 6228026"/>
              <a:gd name="connsiteX0" fmla="*/ 1470212 w 6374721"/>
              <a:gd name="connsiteY0" fmla="*/ 6228026 h 6228026"/>
              <a:gd name="connsiteX1" fmla="*/ 0 w 6374721"/>
              <a:gd name="connsiteY1" fmla="*/ 0 h 6228026"/>
              <a:gd name="connsiteX2" fmla="*/ 6374721 w 6374721"/>
              <a:gd name="connsiteY2" fmla="*/ 0 h 6228026"/>
              <a:gd name="connsiteX3" fmla="*/ 6362496 w 6374721"/>
              <a:gd name="connsiteY3" fmla="*/ 6228026 h 6228026"/>
              <a:gd name="connsiteX4" fmla="*/ 1470212 w 6374721"/>
              <a:gd name="connsiteY4" fmla="*/ 6228026 h 6228026"/>
              <a:gd name="connsiteX0" fmla="*/ 1465046 w 6374721"/>
              <a:gd name="connsiteY0" fmla="*/ 6207361 h 6228026"/>
              <a:gd name="connsiteX1" fmla="*/ 0 w 6374721"/>
              <a:gd name="connsiteY1" fmla="*/ 0 h 6228026"/>
              <a:gd name="connsiteX2" fmla="*/ 6374721 w 6374721"/>
              <a:gd name="connsiteY2" fmla="*/ 0 h 6228026"/>
              <a:gd name="connsiteX3" fmla="*/ 6362496 w 6374721"/>
              <a:gd name="connsiteY3" fmla="*/ 6228026 h 6228026"/>
              <a:gd name="connsiteX4" fmla="*/ 1465046 w 6374721"/>
              <a:gd name="connsiteY4" fmla="*/ 6207361 h 6228026"/>
              <a:gd name="connsiteX0" fmla="*/ 1465046 w 6374721"/>
              <a:gd name="connsiteY0" fmla="*/ 6207361 h 6207361"/>
              <a:gd name="connsiteX1" fmla="*/ 0 w 6374721"/>
              <a:gd name="connsiteY1" fmla="*/ 0 h 6207361"/>
              <a:gd name="connsiteX2" fmla="*/ 6374721 w 6374721"/>
              <a:gd name="connsiteY2" fmla="*/ 0 h 6207361"/>
              <a:gd name="connsiteX3" fmla="*/ 6367662 w 6374721"/>
              <a:gd name="connsiteY3" fmla="*/ 6207361 h 6207361"/>
              <a:gd name="connsiteX4" fmla="*/ 1465046 w 6374721"/>
              <a:gd name="connsiteY4" fmla="*/ 6207361 h 6207361"/>
              <a:gd name="connsiteX0" fmla="*/ 1465046 w 6374721"/>
              <a:gd name="connsiteY0" fmla="*/ 6207361 h 6207361"/>
              <a:gd name="connsiteX1" fmla="*/ 0 w 6374721"/>
              <a:gd name="connsiteY1" fmla="*/ 5166 h 6207361"/>
              <a:gd name="connsiteX2" fmla="*/ 6374721 w 6374721"/>
              <a:gd name="connsiteY2" fmla="*/ 0 h 6207361"/>
              <a:gd name="connsiteX3" fmla="*/ 6367662 w 6374721"/>
              <a:gd name="connsiteY3" fmla="*/ 6207361 h 6207361"/>
              <a:gd name="connsiteX4" fmla="*/ 1465046 w 6374721"/>
              <a:gd name="connsiteY4" fmla="*/ 6207361 h 6207361"/>
              <a:gd name="connsiteX0" fmla="*/ 1465046 w 6369555"/>
              <a:gd name="connsiteY0" fmla="*/ 6202195 h 6202195"/>
              <a:gd name="connsiteX1" fmla="*/ 0 w 6369555"/>
              <a:gd name="connsiteY1" fmla="*/ 0 h 6202195"/>
              <a:gd name="connsiteX2" fmla="*/ 6369555 w 6369555"/>
              <a:gd name="connsiteY2" fmla="*/ 0 h 6202195"/>
              <a:gd name="connsiteX3" fmla="*/ 6367662 w 6369555"/>
              <a:gd name="connsiteY3" fmla="*/ 6202195 h 6202195"/>
              <a:gd name="connsiteX4" fmla="*/ 1465046 w 6369555"/>
              <a:gd name="connsiteY4" fmla="*/ 6202195 h 620219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369555" h="6202195">
                <a:moveTo>
                  <a:pt x="1465046" y="6202195"/>
                </a:moveTo>
                <a:lnTo>
                  <a:pt x="0" y="0"/>
                </a:lnTo>
                <a:lnTo>
                  <a:pt x="6369555" y="0"/>
                </a:lnTo>
                <a:lnTo>
                  <a:pt x="6367662" y="6202195"/>
                </a:lnTo>
                <a:lnTo>
                  <a:pt x="1465046" y="6202195"/>
                </a:lnTo>
                <a:close/>
              </a:path>
            </a:pathLst>
          </a:custGeom>
        </p:spPr>
        <p:txBody>
          <a:bodyPr/>
          <a:lstStyle/>
          <a:p>
            <a:r>
              <a:rPr lang="en-US"/>
              <a:t>Click icon to add picture</a:t>
            </a:r>
          </a:p>
        </p:txBody>
      </p:sp>
      <p:sp>
        <p:nvSpPr>
          <p:cNvPr id="2" name="Title 1">
            <a:extLst>
              <a:ext uri="{FF2B5EF4-FFF2-40B4-BE49-F238E27FC236}">
                <a16:creationId xmlns:a16="http://schemas.microsoft.com/office/drawing/2014/main" id="{547077BF-0101-859C-6217-36F8D6AEFEBE}"/>
              </a:ext>
            </a:extLst>
          </p:cNvPr>
          <p:cNvSpPr>
            <a:spLocks noGrp="1"/>
          </p:cNvSpPr>
          <p:nvPr>
            <p:ph type="title"/>
          </p:nvPr>
        </p:nvSpPr>
        <p:spPr>
          <a:xfrm>
            <a:off x="914400" y="758952"/>
            <a:ext cx="5162550" cy="1325563"/>
          </a:xfrm>
        </p:spPr>
        <p:txBody>
          <a:bodyPr/>
          <a:lstStyle>
            <a:lvl1pPr>
              <a:defRPr>
                <a:solidFill>
                  <a:schemeClr val="bg1"/>
                </a:solidFill>
              </a:defRPr>
            </a:lvl1pPr>
          </a:lstStyle>
          <a:p>
            <a:r>
              <a:rPr lang="en-US"/>
              <a:t>Click to edit Master title style</a:t>
            </a:r>
            <a:endParaRPr lang="en-US" dirty="0"/>
          </a:p>
        </p:txBody>
      </p:sp>
      <p:sp>
        <p:nvSpPr>
          <p:cNvPr id="6" name="Footer Placeholder 5">
            <a:extLst>
              <a:ext uri="{FF2B5EF4-FFF2-40B4-BE49-F238E27FC236}">
                <a16:creationId xmlns:a16="http://schemas.microsoft.com/office/drawing/2014/main" id="{6ECE6673-C7A0-C2BA-8CF4-61A98DC28D5B}"/>
              </a:ext>
            </a:extLst>
          </p:cNvPr>
          <p:cNvSpPr>
            <a:spLocks noGrp="1"/>
          </p:cNvSpPr>
          <p:nvPr>
            <p:ph type="ftr" sz="quarter" idx="11"/>
          </p:nvPr>
        </p:nvSpPr>
        <p:spPr/>
        <p:txBody>
          <a:bodyPr/>
          <a:lstStyle/>
          <a:p>
            <a:r>
              <a:rPr lang="en-US" dirty="0"/>
              <a:t>Biological &amp; Physical Sciences</a:t>
            </a:r>
          </a:p>
        </p:txBody>
      </p:sp>
      <p:sp>
        <p:nvSpPr>
          <p:cNvPr id="7" name="Slide Number Placeholder 6">
            <a:extLst>
              <a:ext uri="{FF2B5EF4-FFF2-40B4-BE49-F238E27FC236}">
                <a16:creationId xmlns:a16="http://schemas.microsoft.com/office/drawing/2014/main" id="{FA0287EE-B1C0-D41F-430F-AE7AA63CDCCC}"/>
              </a:ext>
            </a:extLst>
          </p:cNvPr>
          <p:cNvSpPr>
            <a:spLocks noGrp="1"/>
          </p:cNvSpPr>
          <p:nvPr>
            <p:ph type="sldNum" sz="quarter" idx="12"/>
          </p:nvPr>
        </p:nvSpPr>
        <p:spPr/>
        <p:txBody>
          <a:bodyPr/>
          <a:lstStyle/>
          <a:p>
            <a:fld id="{E8618032-BA8D-3D4D-8253-A70208A85976}" type="slidenum">
              <a:rPr lang="en-US" smtClean="0"/>
              <a:t>‹#›</a:t>
            </a:fld>
            <a:endParaRPr lang="en-US"/>
          </a:p>
        </p:txBody>
      </p:sp>
      <p:sp>
        <p:nvSpPr>
          <p:cNvPr id="12" name="Text Placeholder 11">
            <a:extLst>
              <a:ext uri="{FF2B5EF4-FFF2-40B4-BE49-F238E27FC236}">
                <a16:creationId xmlns:a16="http://schemas.microsoft.com/office/drawing/2014/main" id="{4074B9DF-7720-D18B-E48B-4C9CA784C7A3}"/>
              </a:ext>
            </a:extLst>
          </p:cNvPr>
          <p:cNvSpPr>
            <a:spLocks noGrp="1"/>
          </p:cNvSpPr>
          <p:nvPr>
            <p:ph type="body" sz="quarter" idx="14"/>
          </p:nvPr>
        </p:nvSpPr>
        <p:spPr>
          <a:xfrm>
            <a:off x="914400" y="2208252"/>
            <a:ext cx="5181600" cy="3962400"/>
          </a:xfrm>
        </p:spPr>
        <p:txBody>
          <a:bodyPr>
            <a:normAutofit/>
          </a:bodyPr>
          <a:lstStyle>
            <a:lvl1pPr>
              <a:defRPr sz="2400">
                <a:solidFill>
                  <a:schemeClr val="bg1"/>
                </a:solidFill>
              </a:defRPr>
            </a:lvl1pPr>
            <a:lvl2pPr>
              <a:defRPr sz="2000">
                <a:solidFill>
                  <a:schemeClr val="bg1"/>
                </a:solidFill>
              </a:defRPr>
            </a:lvl2pPr>
            <a:lvl3pPr>
              <a:defRPr sz="1800">
                <a:solidFill>
                  <a:schemeClr val="bg1"/>
                </a:solidFill>
              </a:defRPr>
            </a:lvl3pPr>
            <a:lvl4pPr>
              <a:defRPr sz="1600">
                <a:solidFill>
                  <a:schemeClr val="bg1"/>
                </a:solidFill>
              </a:defRPr>
            </a:lvl4pPr>
            <a:lvl5pPr>
              <a:defRPr sz="1600">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30955364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Text_Picture Light">
    <p:spTree>
      <p:nvGrpSpPr>
        <p:cNvPr id="1" name=""/>
        <p:cNvGrpSpPr/>
        <p:nvPr/>
      </p:nvGrpSpPr>
      <p:grpSpPr>
        <a:xfrm>
          <a:off x="0" y="0"/>
          <a:ext cx="0" cy="0"/>
          <a:chOff x="0" y="0"/>
          <a:chExt cx="0" cy="0"/>
        </a:xfrm>
      </p:grpSpPr>
      <p:sp>
        <p:nvSpPr>
          <p:cNvPr id="10" name="Picture Placeholder 9">
            <a:extLst>
              <a:ext uri="{FF2B5EF4-FFF2-40B4-BE49-F238E27FC236}">
                <a16:creationId xmlns:a16="http://schemas.microsoft.com/office/drawing/2014/main" id="{B1EF21C4-1197-17A3-5E0D-4F7593E8A95F}"/>
              </a:ext>
            </a:extLst>
          </p:cNvPr>
          <p:cNvSpPr>
            <a:spLocks noGrp="1"/>
          </p:cNvSpPr>
          <p:nvPr>
            <p:ph type="pic" sz="quarter" idx="13"/>
          </p:nvPr>
        </p:nvSpPr>
        <p:spPr>
          <a:xfrm>
            <a:off x="5573487" y="482551"/>
            <a:ext cx="6613348" cy="6375449"/>
          </a:xfrm>
          <a:custGeom>
            <a:avLst/>
            <a:gdLst>
              <a:gd name="connsiteX0" fmla="*/ 0 w 6400800"/>
              <a:gd name="connsiteY0" fmla="*/ 6200317 h 6200317"/>
              <a:gd name="connsiteX1" fmla="*/ 1550079 w 6400800"/>
              <a:gd name="connsiteY1" fmla="*/ 0 h 6200317"/>
              <a:gd name="connsiteX2" fmla="*/ 6400800 w 6400800"/>
              <a:gd name="connsiteY2" fmla="*/ 0 h 6200317"/>
              <a:gd name="connsiteX3" fmla="*/ 4850721 w 6400800"/>
              <a:gd name="connsiteY3" fmla="*/ 6200317 h 6200317"/>
              <a:gd name="connsiteX4" fmla="*/ 0 w 6400800"/>
              <a:gd name="connsiteY4" fmla="*/ 6200317 h 6200317"/>
              <a:gd name="connsiteX0" fmla="*/ 0 w 6400800"/>
              <a:gd name="connsiteY0" fmla="*/ 6200317 h 6200317"/>
              <a:gd name="connsiteX1" fmla="*/ 26079 w 6400800"/>
              <a:gd name="connsiteY1" fmla="*/ 0 h 6200317"/>
              <a:gd name="connsiteX2" fmla="*/ 6400800 w 6400800"/>
              <a:gd name="connsiteY2" fmla="*/ 0 h 6200317"/>
              <a:gd name="connsiteX3" fmla="*/ 4850721 w 6400800"/>
              <a:gd name="connsiteY3" fmla="*/ 6200317 h 6200317"/>
              <a:gd name="connsiteX4" fmla="*/ 0 w 6400800"/>
              <a:gd name="connsiteY4" fmla="*/ 6200317 h 6200317"/>
              <a:gd name="connsiteX0" fmla="*/ 1470212 w 6374721"/>
              <a:gd name="connsiteY0" fmla="*/ 6228026 h 6228026"/>
              <a:gd name="connsiteX1" fmla="*/ 0 w 6374721"/>
              <a:gd name="connsiteY1" fmla="*/ 0 h 6228026"/>
              <a:gd name="connsiteX2" fmla="*/ 6374721 w 6374721"/>
              <a:gd name="connsiteY2" fmla="*/ 0 h 6228026"/>
              <a:gd name="connsiteX3" fmla="*/ 4824642 w 6374721"/>
              <a:gd name="connsiteY3" fmla="*/ 6200317 h 6228026"/>
              <a:gd name="connsiteX4" fmla="*/ 1470212 w 6374721"/>
              <a:gd name="connsiteY4" fmla="*/ 6228026 h 6228026"/>
              <a:gd name="connsiteX0" fmla="*/ 1470212 w 6374721"/>
              <a:gd name="connsiteY0" fmla="*/ 6228026 h 6255735"/>
              <a:gd name="connsiteX1" fmla="*/ 0 w 6374721"/>
              <a:gd name="connsiteY1" fmla="*/ 0 h 6255735"/>
              <a:gd name="connsiteX2" fmla="*/ 6374721 w 6374721"/>
              <a:gd name="connsiteY2" fmla="*/ 0 h 6255735"/>
              <a:gd name="connsiteX3" fmla="*/ 6362496 w 6374721"/>
              <a:gd name="connsiteY3" fmla="*/ 6255735 h 6255735"/>
              <a:gd name="connsiteX4" fmla="*/ 1470212 w 6374721"/>
              <a:gd name="connsiteY4" fmla="*/ 6228026 h 6255735"/>
              <a:gd name="connsiteX0" fmla="*/ 1470212 w 6374721"/>
              <a:gd name="connsiteY0" fmla="*/ 6228026 h 6228026"/>
              <a:gd name="connsiteX1" fmla="*/ 0 w 6374721"/>
              <a:gd name="connsiteY1" fmla="*/ 0 h 6228026"/>
              <a:gd name="connsiteX2" fmla="*/ 6374721 w 6374721"/>
              <a:gd name="connsiteY2" fmla="*/ 0 h 6228026"/>
              <a:gd name="connsiteX3" fmla="*/ 6362496 w 6374721"/>
              <a:gd name="connsiteY3" fmla="*/ 6228026 h 6228026"/>
              <a:gd name="connsiteX4" fmla="*/ 1470212 w 6374721"/>
              <a:gd name="connsiteY4" fmla="*/ 6228026 h 6228026"/>
              <a:gd name="connsiteX0" fmla="*/ 1470212 w 6374721"/>
              <a:gd name="connsiteY0" fmla="*/ 6228026 h 6228026"/>
              <a:gd name="connsiteX1" fmla="*/ 0 w 6374721"/>
              <a:gd name="connsiteY1" fmla="*/ 0 h 6228026"/>
              <a:gd name="connsiteX2" fmla="*/ 6374721 w 6374721"/>
              <a:gd name="connsiteY2" fmla="*/ 0 h 6228026"/>
              <a:gd name="connsiteX3" fmla="*/ 6362496 w 6374721"/>
              <a:gd name="connsiteY3" fmla="*/ 6228026 h 6228026"/>
              <a:gd name="connsiteX4" fmla="*/ 1470212 w 6374721"/>
              <a:gd name="connsiteY4" fmla="*/ 6228026 h 6228026"/>
              <a:gd name="connsiteX0" fmla="*/ 1465046 w 6374721"/>
              <a:gd name="connsiteY0" fmla="*/ 6207361 h 6228026"/>
              <a:gd name="connsiteX1" fmla="*/ 0 w 6374721"/>
              <a:gd name="connsiteY1" fmla="*/ 0 h 6228026"/>
              <a:gd name="connsiteX2" fmla="*/ 6374721 w 6374721"/>
              <a:gd name="connsiteY2" fmla="*/ 0 h 6228026"/>
              <a:gd name="connsiteX3" fmla="*/ 6362496 w 6374721"/>
              <a:gd name="connsiteY3" fmla="*/ 6228026 h 6228026"/>
              <a:gd name="connsiteX4" fmla="*/ 1465046 w 6374721"/>
              <a:gd name="connsiteY4" fmla="*/ 6207361 h 6228026"/>
              <a:gd name="connsiteX0" fmla="*/ 1465046 w 6374721"/>
              <a:gd name="connsiteY0" fmla="*/ 6207361 h 6207361"/>
              <a:gd name="connsiteX1" fmla="*/ 0 w 6374721"/>
              <a:gd name="connsiteY1" fmla="*/ 0 h 6207361"/>
              <a:gd name="connsiteX2" fmla="*/ 6374721 w 6374721"/>
              <a:gd name="connsiteY2" fmla="*/ 0 h 6207361"/>
              <a:gd name="connsiteX3" fmla="*/ 6367662 w 6374721"/>
              <a:gd name="connsiteY3" fmla="*/ 6207361 h 6207361"/>
              <a:gd name="connsiteX4" fmla="*/ 1465046 w 6374721"/>
              <a:gd name="connsiteY4" fmla="*/ 6207361 h 6207361"/>
              <a:gd name="connsiteX0" fmla="*/ 1465046 w 6374721"/>
              <a:gd name="connsiteY0" fmla="*/ 6207361 h 6207361"/>
              <a:gd name="connsiteX1" fmla="*/ 0 w 6374721"/>
              <a:gd name="connsiteY1" fmla="*/ 5166 h 6207361"/>
              <a:gd name="connsiteX2" fmla="*/ 6374721 w 6374721"/>
              <a:gd name="connsiteY2" fmla="*/ 0 h 6207361"/>
              <a:gd name="connsiteX3" fmla="*/ 6367662 w 6374721"/>
              <a:gd name="connsiteY3" fmla="*/ 6207361 h 6207361"/>
              <a:gd name="connsiteX4" fmla="*/ 1465046 w 6374721"/>
              <a:gd name="connsiteY4" fmla="*/ 6207361 h 6207361"/>
              <a:gd name="connsiteX0" fmla="*/ 1465046 w 6369555"/>
              <a:gd name="connsiteY0" fmla="*/ 6202195 h 6202195"/>
              <a:gd name="connsiteX1" fmla="*/ 0 w 6369555"/>
              <a:gd name="connsiteY1" fmla="*/ 0 h 6202195"/>
              <a:gd name="connsiteX2" fmla="*/ 6369555 w 6369555"/>
              <a:gd name="connsiteY2" fmla="*/ 0 h 6202195"/>
              <a:gd name="connsiteX3" fmla="*/ 6367662 w 6369555"/>
              <a:gd name="connsiteY3" fmla="*/ 6202195 h 6202195"/>
              <a:gd name="connsiteX4" fmla="*/ 1465046 w 6369555"/>
              <a:gd name="connsiteY4" fmla="*/ 6202195 h 620219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369555" h="6202195">
                <a:moveTo>
                  <a:pt x="1465046" y="6202195"/>
                </a:moveTo>
                <a:lnTo>
                  <a:pt x="0" y="0"/>
                </a:lnTo>
                <a:lnTo>
                  <a:pt x="6369555" y="0"/>
                </a:lnTo>
                <a:lnTo>
                  <a:pt x="6367662" y="6202195"/>
                </a:lnTo>
                <a:lnTo>
                  <a:pt x="1465046" y="6202195"/>
                </a:lnTo>
                <a:close/>
              </a:path>
            </a:pathLst>
          </a:custGeom>
        </p:spPr>
        <p:txBody>
          <a:bodyPr/>
          <a:lstStyle/>
          <a:p>
            <a:r>
              <a:rPr lang="en-US"/>
              <a:t>Click icon to add picture</a:t>
            </a:r>
          </a:p>
        </p:txBody>
      </p:sp>
      <p:sp>
        <p:nvSpPr>
          <p:cNvPr id="2" name="Title 1">
            <a:extLst>
              <a:ext uri="{FF2B5EF4-FFF2-40B4-BE49-F238E27FC236}">
                <a16:creationId xmlns:a16="http://schemas.microsoft.com/office/drawing/2014/main" id="{547077BF-0101-859C-6217-36F8D6AEFEBE}"/>
              </a:ext>
            </a:extLst>
          </p:cNvPr>
          <p:cNvSpPr>
            <a:spLocks noGrp="1"/>
          </p:cNvSpPr>
          <p:nvPr>
            <p:ph type="title"/>
          </p:nvPr>
        </p:nvSpPr>
        <p:spPr>
          <a:xfrm>
            <a:off x="914400" y="758952"/>
            <a:ext cx="5162550" cy="1325563"/>
          </a:xfrm>
        </p:spPr>
        <p:txBody>
          <a:bodyPr/>
          <a:lstStyle>
            <a:lvl1pPr>
              <a:defRPr>
                <a:solidFill>
                  <a:schemeClr val="tx1"/>
                </a:solidFill>
              </a:defRPr>
            </a:lvl1pPr>
          </a:lstStyle>
          <a:p>
            <a:r>
              <a:rPr lang="en-US"/>
              <a:t>Click to edit Master title style</a:t>
            </a:r>
            <a:endParaRPr lang="en-US" dirty="0"/>
          </a:p>
        </p:txBody>
      </p:sp>
      <p:sp>
        <p:nvSpPr>
          <p:cNvPr id="6" name="Footer Placeholder 5">
            <a:extLst>
              <a:ext uri="{FF2B5EF4-FFF2-40B4-BE49-F238E27FC236}">
                <a16:creationId xmlns:a16="http://schemas.microsoft.com/office/drawing/2014/main" id="{6ECE6673-C7A0-C2BA-8CF4-61A98DC28D5B}"/>
              </a:ext>
            </a:extLst>
          </p:cNvPr>
          <p:cNvSpPr>
            <a:spLocks noGrp="1"/>
          </p:cNvSpPr>
          <p:nvPr>
            <p:ph type="ftr" sz="quarter" idx="11"/>
          </p:nvPr>
        </p:nvSpPr>
        <p:spPr/>
        <p:txBody>
          <a:bodyPr/>
          <a:lstStyle/>
          <a:p>
            <a:r>
              <a:rPr lang="en-US" dirty="0"/>
              <a:t>Biological &amp; Physical Sciences </a:t>
            </a:r>
          </a:p>
        </p:txBody>
      </p:sp>
      <p:sp>
        <p:nvSpPr>
          <p:cNvPr id="7" name="Slide Number Placeholder 6">
            <a:extLst>
              <a:ext uri="{FF2B5EF4-FFF2-40B4-BE49-F238E27FC236}">
                <a16:creationId xmlns:a16="http://schemas.microsoft.com/office/drawing/2014/main" id="{FA0287EE-B1C0-D41F-430F-AE7AA63CDCCC}"/>
              </a:ext>
            </a:extLst>
          </p:cNvPr>
          <p:cNvSpPr>
            <a:spLocks noGrp="1"/>
          </p:cNvSpPr>
          <p:nvPr>
            <p:ph type="sldNum" sz="quarter" idx="12"/>
          </p:nvPr>
        </p:nvSpPr>
        <p:spPr/>
        <p:txBody>
          <a:bodyPr/>
          <a:lstStyle/>
          <a:p>
            <a:fld id="{E8618032-BA8D-3D4D-8253-A70208A85976}" type="slidenum">
              <a:rPr lang="en-US" smtClean="0"/>
              <a:t>‹#›</a:t>
            </a:fld>
            <a:endParaRPr lang="en-US"/>
          </a:p>
        </p:txBody>
      </p:sp>
      <p:sp>
        <p:nvSpPr>
          <p:cNvPr id="12" name="Text Placeholder 11">
            <a:extLst>
              <a:ext uri="{FF2B5EF4-FFF2-40B4-BE49-F238E27FC236}">
                <a16:creationId xmlns:a16="http://schemas.microsoft.com/office/drawing/2014/main" id="{4074B9DF-7720-D18B-E48B-4C9CA784C7A3}"/>
              </a:ext>
            </a:extLst>
          </p:cNvPr>
          <p:cNvSpPr>
            <a:spLocks noGrp="1"/>
          </p:cNvSpPr>
          <p:nvPr>
            <p:ph type="body" sz="quarter" idx="14"/>
          </p:nvPr>
        </p:nvSpPr>
        <p:spPr>
          <a:xfrm>
            <a:off x="914400" y="2203704"/>
            <a:ext cx="5181600" cy="3962400"/>
          </a:xfrm>
        </p:spPr>
        <p:txBody>
          <a:bodyPr>
            <a:normAutofit/>
          </a:bodyPr>
          <a:lstStyle>
            <a:lvl1pPr>
              <a:defRPr sz="2400">
                <a:solidFill>
                  <a:schemeClr val="tx1"/>
                </a:solidFill>
              </a:defRPr>
            </a:lvl1pPr>
            <a:lvl2pPr>
              <a:defRPr sz="2000">
                <a:solidFill>
                  <a:schemeClr val="tx1"/>
                </a:solidFill>
              </a:defRPr>
            </a:lvl2pPr>
            <a:lvl3pPr>
              <a:defRPr sz="1800">
                <a:solidFill>
                  <a:schemeClr val="tx1"/>
                </a:solidFill>
              </a:defRPr>
            </a:lvl3pPr>
            <a:lvl4pPr>
              <a:defRPr sz="1600">
                <a:solidFill>
                  <a:schemeClr val="tx1"/>
                </a:solidFill>
              </a:defRPr>
            </a:lvl4pPr>
            <a:lvl5pPr>
              <a:defRPr sz="16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379964891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ext _Picture w/Frame">
    <p:spTree>
      <p:nvGrpSpPr>
        <p:cNvPr id="1" name=""/>
        <p:cNvGrpSpPr/>
        <p:nvPr/>
      </p:nvGrpSpPr>
      <p:grpSpPr>
        <a:xfrm>
          <a:off x="0" y="0"/>
          <a:ext cx="0" cy="0"/>
          <a:chOff x="0" y="0"/>
          <a:chExt cx="0" cy="0"/>
        </a:xfrm>
      </p:grpSpPr>
      <p:sp>
        <p:nvSpPr>
          <p:cNvPr id="8" name="Rounded Rectangle 7">
            <a:extLst>
              <a:ext uri="{FF2B5EF4-FFF2-40B4-BE49-F238E27FC236}">
                <a16:creationId xmlns:a16="http://schemas.microsoft.com/office/drawing/2014/main" id="{D04EC17A-0229-9D9E-4F3E-BBAF3C9EC60A}"/>
              </a:ext>
            </a:extLst>
          </p:cNvPr>
          <p:cNvSpPr/>
          <p:nvPr userDrawn="1"/>
        </p:nvSpPr>
        <p:spPr>
          <a:xfrm>
            <a:off x="6324600" y="750848"/>
            <a:ext cx="5562600" cy="5715000"/>
          </a:xfrm>
          <a:prstGeom prst="roundRect">
            <a:avLst>
              <a:gd name="adj" fmla="val 6243"/>
            </a:avLst>
          </a:prstGeom>
          <a:gradFill>
            <a:gsLst>
              <a:gs pos="0">
                <a:schemeClr val="tx1"/>
              </a:gs>
              <a:gs pos="97000">
                <a:schemeClr val="accent3"/>
              </a:gs>
              <a:gs pos="47000">
                <a:schemeClr val="accent2"/>
              </a:gs>
            </a:gsLst>
            <a:lin ang="216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47077BF-0101-859C-6217-36F8D6AEFEBE}"/>
              </a:ext>
            </a:extLst>
          </p:cNvPr>
          <p:cNvSpPr>
            <a:spLocks noGrp="1"/>
          </p:cNvSpPr>
          <p:nvPr>
            <p:ph type="title"/>
          </p:nvPr>
        </p:nvSpPr>
        <p:spPr>
          <a:xfrm>
            <a:off x="914400" y="758952"/>
            <a:ext cx="5162550" cy="1325563"/>
          </a:xfrm>
        </p:spPr>
        <p:txBody>
          <a:bodyPr/>
          <a:lstStyle>
            <a:lvl1pPr>
              <a:defRPr>
                <a:solidFill>
                  <a:schemeClr val="tx1"/>
                </a:solidFill>
              </a:defRPr>
            </a:lvl1pPr>
          </a:lstStyle>
          <a:p>
            <a:r>
              <a:rPr lang="en-US"/>
              <a:t>Click to edit Master title style</a:t>
            </a:r>
            <a:endParaRPr lang="en-US" dirty="0"/>
          </a:p>
        </p:txBody>
      </p:sp>
      <p:sp>
        <p:nvSpPr>
          <p:cNvPr id="6" name="Footer Placeholder 5">
            <a:extLst>
              <a:ext uri="{FF2B5EF4-FFF2-40B4-BE49-F238E27FC236}">
                <a16:creationId xmlns:a16="http://schemas.microsoft.com/office/drawing/2014/main" id="{6ECE6673-C7A0-C2BA-8CF4-61A98DC28D5B}"/>
              </a:ext>
            </a:extLst>
          </p:cNvPr>
          <p:cNvSpPr>
            <a:spLocks noGrp="1"/>
          </p:cNvSpPr>
          <p:nvPr>
            <p:ph type="ftr" sz="quarter" idx="11"/>
          </p:nvPr>
        </p:nvSpPr>
        <p:spPr/>
        <p:txBody>
          <a:bodyPr/>
          <a:lstStyle/>
          <a:p>
            <a:r>
              <a:rPr lang="en-US" dirty="0"/>
              <a:t>Biological &amp; Physical Sciences </a:t>
            </a:r>
          </a:p>
        </p:txBody>
      </p:sp>
      <p:sp>
        <p:nvSpPr>
          <p:cNvPr id="7" name="Slide Number Placeholder 6">
            <a:extLst>
              <a:ext uri="{FF2B5EF4-FFF2-40B4-BE49-F238E27FC236}">
                <a16:creationId xmlns:a16="http://schemas.microsoft.com/office/drawing/2014/main" id="{FA0287EE-B1C0-D41F-430F-AE7AA63CDCCC}"/>
              </a:ext>
            </a:extLst>
          </p:cNvPr>
          <p:cNvSpPr>
            <a:spLocks noGrp="1"/>
          </p:cNvSpPr>
          <p:nvPr>
            <p:ph type="sldNum" sz="quarter" idx="12"/>
          </p:nvPr>
        </p:nvSpPr>
        <p:spPr/>
        <p:txBody>
          <a:bodyPr/>
          <a:lstStyle/>
          <a:p>
            <a:fld id="{E8618032-BA8D-3D4D-8253-A70208A85976}" type="slidenum">
              <a:rPr lang="en-US" smtClean="0"/>
              <a:t>‹#›</a:t>
            </a:fld>
            <a:endParaRPr lang="en-US"/>
          </a:p>
        </p:txBody>
      </p:sp>
      <p:sp>
        <p:nvSpPr>
          <p:cNvPr id="12" name="Text Placeholder 11">
            <a:extLst>
              <a:ext uri="{FF2B5EF4-FFF2-40B4-BE49-F238E27FC236}">
                <a16:creationId xmlns:a16="http://schemas.microsoft.com/office/drawing/2014/main" id="{4074B9DF-7720-D18B-E48B-4C9CA784C7A3}"/>
              </a:ext>
            </a:extLst>
          </p:cNvPr>
          <p:cNvSpPr>
            <a:spLocks noGrp="1"/>
          </p:cNvSpPr>
          <p:nvPr>
            <p:ph type="body" sz="quarter" idx="14"/>
          </p:nvPr>
        </p:nvSpPr>
        <p:spPr>
          <a:xfrm>
            <a:off x="914400" y="2203704"/>
            <a:ext cx="5181600" cy="3962400"/>
          </a:xfrm>
        </p:spPr>
        <p:txBody>
          <a:bodyPr>
            <a:normAutofit/>
          </a:bodyPr>
          <a:lstStyle>
            <a:lvl1pPr>
              <a:defRPr sz="2400">
                <a:solidFill>
                  <a:schemeClr val="tx1"/>
                </a:solidFill>
              </a:defRPr>
            </a:lvl1pPr>
            <a:lvl2pPr>
              <a:defRPr sz="2000">
                <a:solidFill>
                  <a:schemeClr val="tx1"/>
                </a:solidFill>
              </a:defRPr>
            </a:lvl2pPr>
            <a:lvl3pPr>
              <a:defRPr sz="1800">
                <a:solidFill>
                  <a:schemeClr val="tx1"/>
                </a:solidFill>
              </a:defRPr>
            </a:lvl3pPr>
            <a:lvl4pPr>
              <a:defRPr sz="1600">
                <a:solidFill>
                  <a:schemeClr val="tx1"/>
                </a:solidFill>
              </a:defRPr>
            </a:lvl4pPr>
            <a:lvl5pPr>
              <a:defRPr sz="16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Picture Placeholder 3">
            <a:extLst>
              <a:ext uri="{FF2B5EF4-FFF2-40B4-BE49-F238E27FC236}">
                <a16:creationId xmlns:a16="http://schemas.microsoft.com/office/drawing/2014/main" id="{6093D01D-E4EE-57C8-4839-A436BF0AE87B}"/>
              </a:ext>
            </a:extLst>
          </p:cNvPr>
          <p:cNvSpPr>
            <a:spLocks noGrp="1"/>
          </p:cNvSpPr>
          <p:nvPr>
            <p:ph type="pic" sz="quarter" idx="15"/>
          </p:nvPr>
        </p:nvSpPr>
        <p:spPr>
          <a:xfrm>
            <a:off x="6477000" y="903248"/>
            <a:ext cx="5257800" cy="5410200"/>
          </a:xfrm>
          <a:prstGeom prst="roundRect">
            <a:avLst>
              <a:gd name="adj" fmla="val 6063"/>
            </a:avLst>
          </a:prstGeom>
        </p:spPr>
        <p:txBody>
          <a:bodyPr/>
          <a:lstStyle>
            <a:lvl1pPr>
              <a:defRPr>
                <a:solidFill>
                  <a:schemeClr val="bg1"/>
                </a:solidFill>
              </a:defRPr>
            </a:lvl1pPr>
          </a:lstStyle>
          <a:p>
            <a:r>
              <a:rPr lang="en-US"/>
              <a:t>Click icon to add picture</a:t>
            </a:r>
          </a:p>
        </p:txBody>
      </p:sp>
    </p:spTree>
    <p:extLst>
      <p:ext uri="{BB962C8B-B14F-4D97-AF65-F5344CB8AC3E}">
        <p14:creationId xmlns:p14="http://schemas.microsoft.com/office/powerpoint/2010/main" val="155291952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1_Text _2 Pictures w/Frame">
    <p:spTree>
      <p:nvGrpSpPr>
        <p:cNvPr id="1" name=""/>
        <p:cNvGrpSpPr/>
        <p:nvPr/>
      </p:nvGrpSpPr>
      <p:grpSpPr>
        <a:xfrm>
          <a:off x="0" y="0"/>
          <a:ext cx="0" cy="0"/>
          <a:chOff x="0" y="0"/>
          <a:chExt cx="0" cy="0"/>
        </a:xfrm>
      </p:grpSpPr>
      <p:sp>
        <p:nvSpPr>
          <p:cNvPr id="8" name="Rounded Rectangle 7">
            <a:extLst>
              <a:ext uri="{FF2B5EF4-FFF2-40B4-BE49-F238E27FC236}">
                <a16:creationId xmlns:a16="http://schemas.microsoft.com/office/drawing/2014/main" id="{D04EC17A-0229-9D9E-4F3E-BBAF3C9EC60A}"/>
              </a:ext>
            </a:extLst>
          </p:cNvPr>
          <p:cNvSpPr/>
          <p:nvPr userDrawn="1"/>
        </p:nvSpPr>
        <p:spPr>
          <a:xfrm>
            <a:off x="6781800" y="731195"/>
            <a:ext cx="5029200" cy="2873829"/>
          </a:xfrm>
          <a:prstGeom prst="roundRect">
            <a:avLst>
              <a:gd name="adj" fmla="val 6243"/>
            </a:avLst>
          </a:prstGeom>
          <a:gradFill>
            <a:gsLst>
              <a:gs pos="0">
                <a:schemeClr val="tx1"/>
              </a:gs>
              <a:gs pos="97000">
                <a:schemeClr val="accent3"/>
              </a:gs>
              <a:gs pos="46000">
                <a:schemeClr val="accent2"/>
              </a:gs>
            </a:gsLst>
            <a:lin ang="216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47077BF-0101-859C-6217-36F8D6AEFEBE}"/>
              </a:ext>
            </a:extLst>
          </p:cNvPr>
          <p:cNvSpPr>
            <a:spLocks noGrp="1"/>
          </p:cNvSpPr>
          <p:nvPr>
            <p:ph type="title"/>
          </p:nvPr>
        </p:nvSpPr>
        <p:spPr>
          <a:xfrm>
            <a:off x="914400" y="758952"/>
            <a:ext cx="5695950" cy="1325563"/>
          </a:xfrm>
        </p:spPr>
        <p:txBody>
          <a:bodyPr/>
          <a:lstStyle>
            <a:lvl1pPr>
              <a:defRPr>
                <a:solidFill>
                  <a:schemeClr val="tx1"/>
                </a:solidFill>
              </a:defRPr>
            </a:lvl1pPr>
          </a:lstStyle>
          <a:p>
            <a:r>
              <a:rPr lang="en-US"/>
              <a:t>Click to edit Master title style</a:t>
            </a:r>
            <a:endParaRPr lang="en-US" dirty="0"/>
          </a:p>
        </p:txBody>
      </p:sp>
      <p:sp>
        <p:nvSpPr>
          <p:cNvPr id="6" name="Footer Placeholder 5">
            <a:extLst>
              <a:ext uri="{FF2B5EF4-FFF2-40B4-BE49-F238E27FC236}">
                <a16:creationId xmlns:a16="http://schemas.microsoft.com/office/drawing/2014/main" id="{6ECE6673-C7A0-C2BA-8CF4-61A98DC28D5B}"/>
              </a:ext>
            </a:extLst>
          </p:cNvPr>
          <p:cNvSpPr>
            <a:spLocks noGrp="1"/>
          </p:cNvSpPr>
          <p:nvPr>
            <p:ph type="ftr" sz="quarter" idx="11"/>
          </p:nvPr>
        </p:nvSpPr>
        <p:spPr/>
        <p:txBody>
          <a:bodyPr/>
          <a:lstStyle/>
          <a:p>
            <a:r>
              <a:rPr lang="en-US" dirty="0"/>
              <a:t>Biological &amp; Physical Sciences</a:t>
            </a:r>
          </a:p>
        </p:txBody>
      </p:sp>
      <p:sp>
        <p:nvSpPr>
          <p:cNvPr id="7" name="Slide Number Placeholder 6">
            <a:extLst>
              <a:ext uri="{FF2B5EF4-FFF2-40B4-BE49-F238E27FC236}">
                <a16:creationId xmlns:a16="http://schemas.microsoft.com/office/drawing/2014/main" id="{FA0287EE-B1C0-D41F-430F-AE7AA63CDCCC}"/>
              </a:ext>
            </a:extLst>
          </p:cNvPr>
          <p:cNvSpPr>
            <a:spLocks noGrp="1"/>
          </p:cNvSpPr>
          <p:nvPr>
            <p:ph type="sldNum" sz="quarter" idx="12"/>
          </p:nvPr>
        </p:nvSpPr>
        <p:spPr/>
        <p:txBody>
          <a:bodyPr/>
          <a:lstStyle/>
          <a:p>
            <a:fld id="{E8618032-BA8D-3D4D-8253-A70208A85976}" type="slidenum">
              <a:rPr lang="en-US" smtClean="0"/>
              <a:t>‹#›</a:t>
            </a:fld>
            <a:endParaRPr lang="en-US"/>
          </a:p>
        </p:txBody>
      </p:sp>
      <p:sp>
        <p:nvSpPr>
          <p:cNvPr id="12" name="Text Placeholder 11">
            <a:extLst>
              <a:ext uri="{FF2B5EF4-FFF2-40B4-BE49-F238E27FC236}">
                <a16:creationId xmlns:a16="http://schemas.microsoft.com/office/drawing/2014/main" id="{4074B9DF-7720-D18B-E48B-4C9CA784C7A3}"/>
              </a:ext>
            </a:extLst>
          </p:cNvPr>
          <p:cNvSpPr>
            <a:spLocks noGrp="1"/>
          </p:cNvSpPr>
          <p:nvPr>
            <p:ph type="body" sz="quarter" idx="14"/>
          </p:nvPr>
        </p:nvSpPr>
        <p:spPr>
          <a:xfrm>
            <a:off x="914400" y="2212848"/>
            <a:ext cx="5562600" cy="3962400"/>
          </a:xfrm>
        </p:spPr>
        <p:txBody>
          <a:bodyPr>
            <a:normAutofit/>
          </a:bodyPr>
          <a:lstStyle>
            <a:lvl1pPr>
              <a:defRPr sz="2400">
                <a:solidFill>
                  <a:schemeClr val="tx1"/>
                </a:solidFill>
              </a:defRPr>
            </a:lvl1pPr>
            <a:lvl2pPr>
              <a:defRPr sz="2000">
                <a:solidFill>
                  <a:schemeClr val="tx1"/>
                </a:solidFill>
              </a:defRPr>
            </a:lvl2pPr>
            <a:lvl3pPr>
              <a:defRPr sz="1800">
                <a:solidFill>
                  <a:schemeClr val="tx1"/>
                </a:solidFill>
              </a:defRPr>
            </a:lvl3pPr>
            <a:lvl4pPr>
              <a:defRPr sz="1600">
                <a:solidFill>
                  <a:schemeClr val="tx1"/>
                </a:solidFill>
              </a:defRPr>
            </a:lvl4pPr>
            <a:lvl5pPr>
              <a:defRPr sz="16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Picture Placeholder 3">
            <a:extLst>
              <a:ext uri="{FF2B5EF4-FFF2-40B4-BE49-F238E27FC236}">
                <a16:creationId xmlns:a16="http://schemas.microsoft.com/office/drawing/2014/main" id="{6093D01D-E4EE-57C8-4839-A436BF0AE87B}"/>
              </a:ext>
            </a:extLst>
          </p:cNvPr>
          <p:cNvSpPr>
            <a:spLocks noGrp="1"/>
          </p:cNvSpPr>
          <p:nvPr>
            <p:ph type="pic" sz="quarter" idx="15"/>
          </p:nvPr>
        </p:nvSpPr>
        <p:spPr>
          <a:xfrm>
            <a:off x="6934200" y="883595"/>
            <a:ext cx="4741817" cy="2586446"/>
          </a:xfrm>
          <a:prstGeom prst="roundRect">
            <a:avLst>
              <a:gd name="adj" fmla="val 2938"/>
            </a:avLst>
          </a:prstGeom>
        </p:spPr>
        <p:txBody>
          <a:bodyPr/>
          <a:lstStyle>
            <a:lvl1pPr>
              <a:defRPr>
                <a:solidFill>
                  <a:schemeClr val="bg1"/>
                </a:solidFill>
              </a:defRPr>
            </a:lvl1pPr>
          </a:lstStyle>
          <a:p>
            <a:r>
              <a:rPr lang="en-US"/>
              <a:t>Click icon to add picture</a:t>
            </a:r>
            <a:endParaRPr lang="en-US" dirty="0"/>
          </a:p>
        </p:txBody>
      </p:sp>
      <p:sp>
        <p:nvSpPr>
          <p:cNvPr id="10" name="Rounded Rectangle 9">
            <a:extLst>
              <a:ext uri="{FF2B5EF4-FFF2-40B4-BE49-F238E27FC236}">
                <a16:creationId xmlns:a16="http://schemas.microsoft.com/office/drawing/2014/main" id="{932B8DAB-353A-63A7-57E3-BC8771DAFC86}"/>
              </a:ext>
            </a:extLst>
          </p:cNvPr>
          <p:cNvSpPr/>
          <p:nvPr userDrawn="1"/>
        </p:nvSpPr>
        <p:spPr>
          <a:xfrm>
            <a:off x="6781800" y="3702995"/>
            <a:ext cx="5029200" cy="2873829"/>
          </a:xfrm>
          <a:prstGeom prst="roundRect">
            <a:avLst>
              <a:gd name="adj" fmla="val 6243"/>
            </a:avLst>
          </a:prstGeom>
          <a:gradFill>
            <a:gsLst>
              <a:gs pos="0">
                <a:schemeClr val="tx1"/>
              </a:gs>
              <a:gs pos="97000">
                <a:schemeClr val="accent3"/>
              </a:gs>
              <a:gs pos="47000">
                <a:schemeClr val="accent2"/>
              </a:gs>
            </a:gsLst>
            <a:lin ang="216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Picture Placeholder 3">
            <a:extLst>
              <a:ext uri="{FF2B5EF4-FFF2-40B4-BE49-F238E27FC236}">
                <a16:creationId xmlns:a16="http://schemas.microsoft.com/office/drawing/2014/main" id="{7FD29A79-FC30-5176-80E7-A66A49211302}"/>
              </a:ext>
            </a:extLst>
          </p:cNvPr>
          <p:cNvSpPr>
            <a:spLocks noGrp="1"/>
          </p:cNvSpPr>
          <p:nvPr>
            <p:ph type="pic" sz="quarter" idx="16"/>
          </p:nvPr>
        </p:nvSpPr>
        <p:spPr>
          <a:xfrm>
            <a:off x="6934200" y="3855395"/>
            <a:ext cx="4741817" cy="2586446"/>
          </a:xfrm>
          <a:prstGeom prst="roundRect">
            <a:avLst>
              <a:gd name="adj" fmla="val 2938"/>
            </a:avLst>
          </a:prstGeom>
        </p:spPr>
        <p:txBody>
          <a:bodyPr/>
          <a:lstStyle>
            <a:lvl1pPr>
              <a:defRPr>
                <a:solidFill>
                  <a:schemeClr val="bg1"/>
                </a:solidFill>
              </a:defRPr>
            </a:lvl1pPr>
          </a:lstStyle>
          <a:p>
            <a:r>
              <a:rPr lang="en-US"/>
              <a:t>Click icon to add picture</a:t>
            </a:r>
            <a:endParaRPr lang="en-US" dirty="0"/>
          </a:p>
        </p:txBody>
      </p:sp>
    </p:spTree>
    <p:extLst>
      <p:ext uri="{BB962C8B-B14F-4D97-AF65-F5344CB8AC3E}">
        <p14:creationId xmlns:p14="http://schemas.microsoft.com/office/powerpoint/2010/main" val="4281176363"/>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ext and Char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7077BF-0101-859C-6217-36F8D6AEFEBE}"/>
              </a:ext>
            </a:extLst>
          </p:cNvPr>
          <p:cNvSpPr>
            <a:spLocks noGrp="1"/>
          </p:cNvSpPr>
          <p:nvPr>
            <p:ph type="title"/>
          </p:nvPr>
        </p:nvSpPr>
        <p:spPr>
          <a:xfrm>
            <a:off x="914400" y="758952"/>
            <a:ext cx="5619750" cy="1325563"/>
          </a:xfrm>
        </p:spPr>
        <p:txBody>
          <a:bodyPr/>
          <a:lstStyle>
            <a:lvl1pPr>
              <a:defRPr>
                <a:solidFill>
                  <a:schemeClr val="tx1"/>
                </a:solidFill>
              </a:defRPr>
            </a:lvl1pPr>
          </a:lstStyle>
          <a:p>
            <a:r>
              <a:rPr lang="en-US"/>
              <a:t>Click to edit Master title style</a:t>
            </a:r>
            <a:endParaRPr lang="en-US" dirty="0"/>
          </a:p>
        </p:txBody>
      </p:sp>
      <p:sp>
        <p:nvSpPr>
          <p:cNvPr id="6" name="Footer Placeholder 5">
            <a:extLst>
              <a:ext uri="{FF2B5EF4-FFF2-40B4-BE49-F238E27FC236}">
                <a16:creationId xmlns:a16="http://schemas.microsoft.com/office/drawing/2014/main" id="{6ECE6673-C7A0-C2BA-8CF4-61A98DC28D5B}"/>
              </a:ext>
            </a:extLst>
          </p:cNvPr>
          <p:cNvSpPr>
            <a:spLocks noGrp="1"/>
          </p:cNvSpPr>
          <p:nvPr>
            <p:ph type="ftr" sz="quarter" idx="11"/>
          </p:nvPr>
        </p:nvSpPr>
        <p:spPr/>
        <p:txBody>
          <a:bodyPr/>
          <a:lstStyle/>
          <a:p>
            <a:r>
              <a:rPr lang="en-US" dirty="0"/>
              <a:t>Biological &amp; Physical Sciences</a:t>
            </a:r>
          </a:p>
        </p:txBody>
      </p:sp>
      <p:sp>
        <p:nvSpPr>
          <p:cNvPr id="7" name="Slide Number Placeholder 6">
            <a:extLst>
              <a:ext uri="{FF2B5EF4-FFF2-40B4-BE49-F238E27FC236}">
                <a16:creationId xmlns:a16="http://schemas.microsoft.com/office/drawing/2014/main" id="{FA0287EE-B1C0-D41F-430F-AE7AA63CDCCC}"/>
              </a:ext>
            </a:extLst>
          </p:cNvPr>
          <p:cNvSpPr>
            <a:spLocks noGrp="1"/>
          </p:cNvSpPr>
          <p:nvPr>
            <p:ph type="sldNum" sz="quarter" idx="12"/>
          </p:nvPr>
        </p:nvSpPr>
        <p:spPr/>
        <p:txBody>
          <a:bodyPr/>
          <a:lstStyle/>
          <a:p>
            <a:fld id="{E8618032-BA8D-3D4D-8253-A70208A85976}" type="slidenum">
              <a:rPr lang="en-US" smtClean="0"/>
              <a:t>‹#›</a:t>
            </a:fld>
            <a:endParaRPr lang="en-US"/>
          </a:p>
        </p:txBody>
      </p:sp>
      <p:sp>
        <p:nvSpPr>
          <p:cNvPr id="12" name="Text Placeholder 11">
            <a:extLst>
              <a:ext uri="{FF2B5EF4-FFF2-40B4-BE49-F238E27FC236}">
                <a16:creationId xmlns:a16="http://schemas.microsoft.com/office/drawing/2014/main" id="{4074B9DF-7720-D18B-E48B-4C9CA784C7A3}"/>
              </a:ext>
            </a:extLst>
          </p:cNvPr>
          <p:cNvSpPr>
            <a:spLocks noGrp="1"/>
          </p:cNvSpPr>
          <p:nvPr>
            <p:ph type="body" sz="quarter" idx="14"/>
          </p:nvPr>
        </p:nvSpPr>
        <p:spPr>
          <a:xfrm>
            <a:off x="914400" y="2203704"/>
            <a:ext cx="5181600" cy="3962400"/>
          </a:xfrm>
        </p:spPr>
        <p:txBody>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Chart Placeholder 8">
            <a:extLst>
              <a:ext uri="{FF2B5EF4-FFF2-40B4-BE49-F238E27FC236}">
                <a16:creationId xmlns:a16="http://schemas.microsoft.com/office/drawing/2014/main" id="{61C1296F-E730-081D-E6F9-31BBE4D43254}"/>
              </a:ext>
            </a:extLst>
          </p:cNvPr>
          <p:cNvSpPr>
            <a:spLocks noGrp="1"/>
          </p:cNvSpPr>
          <p:nvPr>
            <p:ph type="chart" sz="quarter" idx="15"/>
          </p:nvPr>
        </p:nvSpPr>
        <p:spPr>
          <a:xfrm>
            <a:off x="6324600" y="758952"/>
            <a:ext cx="5486400" cy="5486400"/>
          </a:xfrm>
        </p:spPr>
        <p:txBody>
          <a:bodyPr/>
          <a:lstStyle>
            <a:lvl1pPr>
              <a:defRPr>
                <a:solidFill>
                  <a:schemeClr val="tx1"/>
                </a:solidFill>
              </a:defRPr>
            </a:lvl1pPr>
          </a:lstStyle>
          <a:p>
            <a:r>
              <a:rPr lang="en-US"/>
              <a:t>Click icon to add chart</a:t>
            </a:r>
            <a:endParaRPr lang="en-US" dirty="0"/>
          </a:p>
        </p:txBody>
      </p:sp>
    </p:spTree>
    <p:extLst>
      <p:ext uri="{BB962C8B-B14F-4D97-AF65-F5344CB8AC3E}">
        <p14:creationId xmlns:p14="http://schemas.microsoft.com/office/powerpoint/2010/main" val="3578161236"/>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Side by side chart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7077BF-0101-859C-6217-36F8D6AEFEBE}"/>
              </a:ext>
            </a:extLst>
          </p:cNvPr>
          <p:cNvSpPr>
            <a:spLocks noGrp="1"/>
          </p:cNvSpPr>
          <p:nvPr>
            <p:ph type="title"/>
          </p:nvPr>
        </p:nvSpPr>
        <p:spPr>
          <a:xfrm>
            <a:off x="914400" y="758952"/>
            <a:ext cx="10877550" cy="1325563"/>
          </a:xfrm>
        </p:spPr>
        <p:txBody>
          <a:bodyPr/>
          <a:lstStyle>
            <a:lvl1pPr>
              <a:defRPr>
                <a:solidFill>
                  <a:schemeClr val="tx1"/>
                </a:solidFill>
              </a:defRPr>
            </a:lvl1pPr>
          </a:lstStyle>
          <a:p>
            <a:r>
              <a:rPr lang="en-US"/>
              <a:t>Click to edit Master title style</a:t>
            </a:r>
            <a:endParaRPr lang="en-US" dirty="0"/>
          </a:p>
        </p:txBody>
      </p:sp>
      <p:sp>
        <p:nvSpPr>
          <p:cNvPr id="6" name="Footer Placeholder 5">
            <a:extLst>
              <a:ext uri="{FF2B5EF4-FFF2-40B4-BE49-F238E27FC236}">
                <a16:creationId xmlns:a16="http://schemas.microsoft.com/office/drawing/2014/main" id="{6ECE6673-C7A0-C2BA-8CF4-61A98DC28D5B}"/>
              </a:ext>
            </a:extLst>
          </p:cNvPr>
          <p:cNvSpPr>
            <a:spLocks noGrp="1"/>
          </p:cNvSpPr>
          <p:nvPr>
            <p:ph type="ftr" sz="quarter" idx="11"/>
          </p:nvPr>
        </p:nvSpPr>
        <p:spPr/>
        <p:txBody>
          <a:bodyPr/>
          <a:lstStyle/>
          <a:p>
            <a:r>
              <a:rPr lang="en-US" dirty="0"/>
              <a:t>Biological &amp; Physical Sciences</a:t>
            </a:r>
          </a:p>
        </p:txBody>
      </p:sp>
      <p:sp>
        <p:nvSpPr>
          <p:cNvPr id="7" name="Slide Number Placeholder 6">
            <a:extLst>
              <a:ext uri="{FF2B5EF4-FFF2-40B4-BE49-F238E27FC236}">
                <a16:creationId xmlns:a16="http://schemas.microsoft.com/office/drawing/2014/main" id="{FA0287EE-B1C0-D41F-430F-AE7AA63CDCCC}"/>
              </a:ext>
            </a:extLst>
          </p:cNvPr>
          <p:cNvSpPr>
            <a:spLocks noGrp="1"/>
          </p:cNvSpPr>
          <p:nvPr>
            <p:ph type="sldNum" sz="quarter" idx="12"/>
          </p:nvPr>
        </p:nvSpPr>
        <p:spPr/>
        <p:txBody>
          <a:bodyPr/>
          <a:lstStyle/>
          <a:p>
            <a:fld id="{E8618032-BA8D-3D4D-8253-A70208A85976}" type="slidenum">
              <a:rPr lang="en-US" smtClean="0"/>
              <a:t>‹#›</a:t>
            </a:fld>
            <a:endParaRPr lang="en-US"/>
          </a:p>
        </p:txBody>
      </p:sp>
      <p:sp>
        <p:nvSpPr>
          <p:cNvPr id="9" name="Chart Placeholder 8">
            <a:extLst>
              <a:ext uri="{FF2B5EF4-FFF2-40B4-BE49-F238E27FC236}">
                <a16:creationId xmlns:a16="http://schemas.microsoft.com/office/drawing/2014/main" id="{61C1296F-E730-081D-E6F9-31BBE4D43254}"/>
              </a:ext>
            </a:extLst>
          </p:cNvPr>
          <p:cNvSpPr>
            <a:spLocks noGrp="1"/>
          </p:cNvSpPr>
          <p:nvPr>
            <p:ph type="chart" sz="quarter" idx="15"/>
          </p:nvPr>
        </p:nvSpPr>
        <p:spPr>
          <a:xfrm>
            <a:off x="6400800" y="2924869"/>
            <a:ext cx="5334000" cy="3505200"/>
          </a:xfrm>
        </p:spPr>
        <p:txBody>
          <a:bodyPr/>
          <a:lstStyle>
            <a:lvl1pPr>
              <a:defRPr>
                <a:solidFill>
                  <a:schemeClr val="tx1"/>
                </a:solidFill>
              </a:defRPr>
            </a:lvl1pPr>
          </a:lstStyle>
          <a:p>
            <a:r>
              <a:rPr lang="en-US"/>
              <a:t>Click icon to add chart</a:t>
            </a:r>
            <a:endParaRPr lang="en-US" dirty="0"/>
          </a:p>
        </p:txBody>
      </p:sp>
      <p:sp>
        <p:nvSpPr>
          <p:cNvPr id="3" name="Chart Placeholder 8">
            <a:extLst>
              <a:ext uri="{FF2B5EF4-FFF2-40B4-BE49-F238E27FC236}">
                <a16:creationId xmlns:a16="http://schemas.microsoft.com/office/drawing/2014/main" id="{47C9A64A-95DE-326D-AD27-2A9C89FC288F}"/>
              </a:ext>
            </a:extLst>
          </p:cNvPr>
          <p:cNvSpPr>
            <a:spLocks noGrp="1"/>
          </p:cNvSpPr>
          <p:nvPr>
            <p:ph type="chart" sz="quarter" idx="16"/>
          </p:nvPr>
        </p:nvSpPr>
        <p:spPr>
          <a:xfrm>
            <a:off x="914400" y="2924869"/>
            <a:ext cx="5334000" cy="3505200"/>
          </a:xfrm>
        </p:spPr>
        <p:txBody>
          <a:bodyPr/>
          <a:lstStyle>
            <a:lvl1pPr>
              <a:defRPr>
                <a:solidFill>
                  <a:schemeClr val="tx1"/>
                </a:solidFill>
              </a:defRPr>
            </a:lvl1pPr>
          </a:lstStyle>
          <a:p>
            <a:r>
              <a:rPr lang="en-US"/>
              <a:t>Click icon to add chart</a:t>
            </a:r>
            <a:endParaRPr lang="en-US" dirty="0"/>
          </a:p>
        </p:txBody>
      </p:sp>
      <p:sp>
        <p:nvSpPr>
          <p:cNvPr id="10" name="Text Placeholder 2">
            <a:extLst>
              <a:ext uri="{FF2B5EF4-FFF2-40B4-BE49-F238E27FC236}">
                <a16:creationId xmlns:a16="http://schemas.microsoft.com/office/drawing/2014/main" id="{BFD2497A-A32F-79B8-FD8B-B8AB6127058F}"/>
              </a:ext>
            </a:extLst>
          </p:cNvPr>
          <p:cNvSpPr>
            <a:spLocks noGrp="1"/>
          </p:cNvSpPr>
          <p:nvPr>
            <p:ph type="body" idx="1"/>
          </p:nvPr>
        </p:nvSpPr>
        <p:spPr>
          <a:xfrm>
            <a:off x="914400" y="2203704"/>
            <a:ext cx="10972800" cy="595312"/>
          </a:xfrm>
        </p:spPr>
        <p:txBody>
          <a:bodyPr anchor="b"/>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Tree>
    <p:extLst>
      <p:ext uri="{BB962C8B-B14F-4D97-AF65-F5344CB8AC3E}">
        <p14:creationId xmlns:p14="http://schemas.microsoft.com/office/powerpoint/2010/main" val="94578090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1_Side by side picture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7077BF-0101-859C-6217-36F8D6AEFEBE}"/>
              </a:ext>
            </a:extLst>
          </p:cNvPr>
          <p:cNvSpPr>
            <a:spLocks noGrp="1"/>
          </p:cNvSpPr>
          <p:nvPr>
            <p:ph type="title"/>
          </p:nvPr>
        </p:nvSpPr>
        <p:spPr>
          <a:xfrm>
            <a:off x="914400" y="758952"/>
            <a:ext cx="10877550" cy="1325563"/>
          </a:xfrm>
        </p:spPr>
        <p:txBody>
          <a:bodyPr/>
          <a:lstStyle>
            <a:lvl1pPr>
              <a:defRPr>
                <a:solidFill>
                  <a:schemeClr val="tx1"/>
                </a:solidFill>
              </a:defRPr>
            </a:lvl1pPr>
          </a:lstStyle>
          <a:p>
            <a:r>
              <a:rPr lang="en-US"/>
              <a:t>Click to edit Master title style</a:t>
            </a:r>
            <a:endParaRPr lang="en-US" dirty="0"/>
          </a:p>
        </p:txBody>
      </p:sp>
      <p:sp>
        <p:nvSpPr>
          <p:cNvPr id="6" name="Footer Placeholder 5">
            <a:extLst>
              <a:ext uri="{FF2B5EF4-FFF2-40B4-BE49-F238E27FC236}">
                <a16:creationId xmlns:a16="http://schemas.microsoft.com/office/drawing/2014/main" id="{6ECE6673-C7A0-C2BA-8CF4-61A98DC28D5B}"/>
              </a:ext>
            </a:extLst>
          </p:cNvPr>
          <p:cNvSpPr>
            <a:spLocks noGrp="1"/>
          </p:cNvSpPr>
          <p:nvPr>
            <p:ph type="ftr" sz="quarter" idx="11"/>
          </p:nvPr>
        </p:nvSpPr>
        <p:spPr/>
        <p:txBody>
          <a:bodyPr/>
          <a:lstStyle/>
          <a:p>
            <a:r>
              <a:rPr lang="en-US" dirty="0"/>
              <a:t>Biological &amp; Physical Sciences</a:t>
            </a:r>
          </a:p>
        </p:txBody>
      </p:sp>
      <p:sp>
        <p:nvSpPr>
          <p:cNvPr id="7" name="Slide Number Placeholder 6">
            <a:extLst>
              <a:ext uri="{FF2B5EF4-FFF2-40B4-BE49-F238E27FC236}">
                <a16:creationId xmlns:a16="http://schemas.microsoft.com/office/drawing/2014/main" id="{FA0287EE-B1C0-D41F-430F-AE7AA63CDCCC}"/>
              </a:ext>
            </a:extLst>
          </p:cNvPr>
          <p:cNvSpPr>
            <a:spLocks noGrp="1"/>
          </p:cNvSpPr>
          <p:nvPr>
            <p:ph type="sldNum" sz="quarter" idx="12"/>
          </p:nvPr>
        </p:nvSpPr>
        <p:spPr/>
        <p:txBody>
          <a:bodyPr/>
          <a:lstStyle/>
          <a:p>
            <a:fld id="{E8618032-BA8D-3D4D-8253-A70208A85976}" type="slidenum">
              <a:rPr lang="en-US" smtClean="0"/>
              <a:t>‹#›</a:t>
            </a:fld>
            <a:endParaRPr lang="en-US"/>
          </a:p>
        </p:txBody>
      </p:sp>
      <p:sp>
        <p:nvSpPr>
          <p:cNvPr id="10" name="Text Placeholder 2">
            <a:extLst>
              <a:ext uri="{FF2B5EF4-FFF2-40B4-BE49-F238E27FC236}">
                <a16:creationId xmlns:a16="http://schemas.microsoft.com/office/drawing/2014/main" id="{BFD2497A-A32F-79B8-FD8B-B8AB6127058F}"/>
              </a:ext>
            </a:extLst>
          </p:cNvPr>
          <p:cNvSpPr>
            <a:spLocks noGrp="1"/>
          </p:cNvSpPr>
          <p:nvPr>
            <p:ph type="body" idx="1"/>
          </p:nvPr>
        </p:nvSpPr>
        <p:spPr>
          <a:xfrm>
            <a:off x="914400" y="2203704"/>
            <a:ext cx="10972800" cy="595312"/>
          </a:xfrm>
        </p:spPr>
        <p:txBody>
          <a:bodyPr anchor="t"/>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8" name="Picture Placeholder 7">
            <a:extLst>
              <a:ext uri="{FF2B5EF4-FFF2-40B4-BE49-F238E27FC236}">
                <a16:creationId xmlns:a16="http://schemas.microsoft.com/office/drawing/2014/main" id="{A5E00329-735F-25A4-8DAC-E98E4105FA19}"/>
              </a:ext>
            </a:extLst>
          </p:cNvPr>
          <p:cNvSpPr>
            <a:spLocks noGrp="1"/>
          </p:cNvSpPr>
          <p:nvPr>
            <p:ph type="pic" sz="quarter" idx="17"/>
          </p:nvPr>
        </p:nvSpPr>
        <p:spPr>
          <a:xfrm>
            <a:off x="914400" y="2912640"/>
            <a:ext cx="5334000" cy="3505200"/>
          </a:xfrm>
        </p:spPr>
        <p:txBody>
          <a:bodyPr/>
          <a:lstStyle/>
          <a:p>
            <a:r>
              <a:rPr lang="en-US"/>
              <a:t>Click icon to add picture</a:t>
            </a:r>
          </a:p>
        </p:txBody>
      </p:sp>
      <p:sp>
        <p:nvSpPr>
          <p:cNvPr id="11" name="Picture Placeholder 7">
            <a:extLst>
              <a:ext uri="{FF2B5EF4-FFF2-40B4-BE49-F238E27FC236}">
                <a16:creationId xmlns:a16="http://schemas.microsoft.com/office/drawing/2014/main" id="{5D11F4B7-132E-FFAB-C5E1-A1A1DA78032E}"/>
              </a:ext>
            </a:extLst>
          </p:cNvPr>
          <p:cNvSpPr>
            <a:spLocks noGrp="1"/>
          </p:cNvSpPr>
          <p:nvPr>
            <p:ph type="pic" sz="quarter" idx="18"/>
          </p:nvPr>
        </p:nvSpPr>
        <p:spPr>
          <a:xfrm>
            <a:off x="6400800" y="2912640"/>
            <a:ext cx="5334000" cy="3505200"/>
          </a:xfrm>
        </p:spPr>
        <p:txBody>
          <a:bodyPr/>
          <a:lstStyle/>
          <a:p>
            <a:r>
              <a:rPr lang="en-US"/>
              <a:t>Click icon to add picture</a:t>
            </a:r>
          </a:p>
        </p:txBody>
      </p:sp>
    </p:spTree>
    <p:extLst>
      <p:ext uri="{BB962C8B-B14F-4D97-AF65-F5344CB8AC3E}">
        <p14:creationId xmlns:p14="http://schemas.microsoft.com/office/powerpoint/2010/main" val="3524486664"/>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Icon call outs">
    <p:bg>
      <p:bgRef idx="1001">
        <a:schemeClr val="bg1"/>
      </p:bgRef>
    </p:bg>
    <p:spTree>
      <p:nvGrpSpPr>
        <p:cNvPr id="1" name=""/>
        <p:cNvGrpSpPr/>
        <p:nvPr/>
      </p:nvGrpSpPr>
      <p:grpSpPr>
        <a:xfrm>
          <a:off x="0" y="0"/>
          <a:ext cx="0" cy="0"/>
          <a:chOff x="0" y="0"/>
          <a:chExt cx="0" cy="0"/>
        </a:xfrm>
      </p:grpSpPr>
      <p:sp>
        <p:nvSpPr>
          <p:cNvPr id="15" name="Text Placeholder 11">
            <a:extLst>
              <a:ext uri="{FF2B5EF4-FFF2-40B4-BE49-F238E27FC236}">
                <a16:creationId xmlns:a16="http://schemas.microsoft.com/office/drawing/2014/main" id="{3465C986-E3D2-97E7-9111-0299F9C3B1D2}"/>
              </a:ext>
            </a:extLst>
          </p:cNvPr>
          <p:cNvSpPr>
            <a:spLocks noGrp="1"/>
          </p:cNvSpPr>
          <p:nvPr>
            <p:ph type="body" sz="quarter" idx="15" hasCustomPrompt="1"/>
          </p:nvPr>
        </p:nvSpPr>
        <p:spPr>
          <a:xfrm>
            <a:off x="951767" y="3135104"/>
            <a:ext cx="2326657" cy="768223"/>
          </a:xfrm>
        </p:spPr>
        <p:txBody>
          <a:bodyPr lIns="91440" tIns="0" anchor="b">
            <a:noAutofit/>
          </a:bodyPr>
          <a:lstStyle>
            <a:lvl1pPr marL="0" indent="0" algn="ctr">
              <a:buNone/>
              <a:defRPr sz="2000" b="0" cap="all" spc="0" baseline="0">
                <a:solidFill>
                  <a:schemeClr val="tx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Subtitle</a:t>
            </a:r>
          </a:p>
        </p:txBody>
      </p:sp>
      <p:sp>
        <p:nvSpPr>
          <p:cNvPr id="40" name="Rectangle 39">
            <a:extLst>
              <a:ext uri="{FF2B5EF4-FFF2-40B4-BE49-F238E27FC236}">
                <a16:creationId xmlns:a16="http://schemas.microsoft.com/office/drawing/2014/main" id="{4CD86E3A-6D68-1F05-DE18-246FA7A4406A}"/>
              </a:ext>
              <a:ext uri="{C183D7F6-B498-43B3-948B-1728B52AA6E4}">
                <adec:decorative xmlns:adec="http://schemas.microsoft.com/office/drawing/2017/decorative" val="1"/>
              </a:ext>
            </a:extLst>
          </p:cNvPr>
          <p:cNvSpPr/>
          <p:nvPr userDrawn="1"/>
        </p:nvSpPr>
        <p:spPr>
          <a:xfrm>
            <a:off x="928190" y="4011416"/>
            <a:ext cx="2373810" cy="110198"/>
          </a:xfrm>
          <a:prstGeom prst="rect">
            <a:avLst/>
          </a:prstGeom>
          <a:gradFill>
            <a:gsLst>
              <a:gs pos="0">
                <a:schemeClr val="tx1"/>
              </a:gs>
              <a:gs pos="97000">
                <a:schemeClr val="accent3"/>
              </a:gs>
              <a:gs pos="48000">
                <a:schemeClr val="accent2"/>
              </a:gs>
            </a:gsLst>
            <a:lin ang="216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lumMod val="95000"/>
                </a:schemeClr>
              </a:solidFill>
            </a:endParaRPr>
          </a:p>
        </p:txBody>
      </p:sp>
      <p:sp>
        <p:nvSpPr>
          <p:cNvPr id="20" name="Text Placeholder 11">
            <a:extLst>
              <a:ext uri="{FF2B5EF4-FFF2-40B4-BE49-F238E27FC236}">
                <a16:creationId xmlns:a16="http://schemas.microsoft.com/office/drawing/2014/main" id="{6C169315-0602-4C85-86EE-5C3554AAA92A}"/>
              </a:ext>
            </a:extLst>
          </p:cNvPr>
          <p:cNvSpPr>
            <a:spLocks noGrp="1"/>
          </p:cNvSpPr>
          <p:nvPr>
            <p:ph type="body" sz="quarter" idx="20" hasCustomPrompt="1"/>
          </p:nvPr>
        </p:nvSpPr>
        <p:spPr>
          <a:xfrm>
            <a:off x="948564" y="4248614"/>
            <a:ext cx="2333063" cy="1676185"/>
          </a:xfrm>
        </p:spPr>
        <p:txBody>
          <a:bodyPr lIns="91440" tIns="0">
            <a:noAutofit/>
          </a:bodyPr>
          <a:lstStyle>
            <a:lvl1pPr marL="0" indent="0">
              <a:buNone/>
              <a:defRPr sz="1200" cap="none" baseline="0">
                <a:solidFill>
                  <a:schemeClr val="tx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cxnSp>
        <p:nvCxnSpPr>
          <p:cNvPr id="45" name="Straight Arrow Connector 44">
            <a:extLst>
              <a:ext uri="{FF2B5EF4-FFF2-40B4-BE49-F238E27FC236}">
                <a16:creationId xmlns:a16="http://schemas.microsoft.com/office/drawing/2014/main" id="{9CFE922A-6A5A-4DA8-1E44-D80852772091}"/>
              </a:ext>
              <a:ext uri="{C183D7F6-B498-43B3-948B-1728B52AA6E4}">
                <adec:decorative xmlns:adec="http://schemas.microsoft.com/office/drawing/2017/decorative" val="1"/>
              </a:ext>
            </a:extLst>
          </p:cNvPr>
          <p:cNvCxnSpPr>
            <a:cxnSpLocks/>
          </p:cNvCxnSpPr>
          <p:nvPr userDrawn="1"/>
        </p:nvCxnSpPr>
        <p:spPr>
          <a:xfrm>
            <a:off x="1201554" y="6203726"/>
            <a:ext cx="1827083" cy="0"/>
          </a:xfrm>
          <a:prstGeom prst="straightConnector1">
            <a:avLst/>
          </a:prstGeom>
          <a:ln w="19050" cap="flat" cmpd="sng" algn="ctr">
            <a:solidFill>
              <a:schemeClr val="tx1"/>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sp>
        <p:nvSpPr>
          <p:cNvPr id="16" name="Text Placeholder 11">
            <a:extLst>
              <a:ext uri="{FF2B5EF4-FFF2-40B4-BE49-F238E27FC236}">
                <a16:creationId xmlns:a16="http://schemas.microsoft.com/office/drawing/2014/main" id="{3D56C31D-5FDB-2235-FFF8-2AB6E04C9B1C}"/>
              </a:ext>
            </a:extLst>
          </p:cNvPr>
          <p:cNvSpPr>
            <a:spLocks noGrp="1"/>
          </p:cNvSpPr>
          <p:nvPr>
            <p:ph type="body" sz="quarter" idx="16" hasCustomPrompt="1"/>
          </p:nvPr>
        </p:nvSpPr>
        <p:spPr>
          <a:xfrm>
            <a:off x="3657600" y="3135104"/>
            <a:ext cx="2326657" cy="768223"/>
          </a:xfrm>
        </p:spPr>
        <p:txBody>
          <a:bodyPr lIns="91440" tIns="0" anchor="b">
            <a:noAutofit/>
          </a:bodyPr>
          <a:lstStyle>
            <a:lvl1pPr marL="0" indent="0" algn="ctr">
              <a:buNone/>
              <a:defRPr sz="2000" b="0" cap="all" spc="0" baseline="0">
                <a:solidFill>
                  <a:schemeClr val="tx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Subtitle</a:t>
            </a:r>
          </a:p>
        </p:txBody>
      </p:sp>
      <p:sp>
        <p:nvSpPr>
          <p:cNvPr id="21" name="Text Placeholder 11">
            <a:extLst>
              <a:ext uri="{FF2B5EF4-FFF2-40B4-BE49-F238E27FC236}">
                <a16:creationId xmlns:a16="http://schemas.microsoft.com/office/drawing/2014/main" id="{B16A2860-4464-B092-801E-255A6B7DF3E4}"/>
              </a:ext>
            </a:extLst>
          </p:cNvPr>
          <p:cNvSpPr>
            <a:spLocks noGrp="1"/>
          </p:cNvSpPr>
          <p:nvPr>
            <p:ph type="body" sz="quarter" idx="21" hasCustomPrompt="1"/>
          </p:nvPr>
        </p:nvSpPr>
        <p:spPr>
          <a:xfrm>
            <a:off x="3640500" y="4248614"/>
            <a:ext cx="2360857" cy="1676185"/>
          </a:xfrm>
        </p:spPr>
        <p:txBody>
          <a:bodyPr lIns="91440" tIns="0">
            <a:noAutofit/>
          </a:bodyPr>
          <a:lstStyle>
            <a:lvl1pPr marL="0" indent="0">
              <a:buNone/>
              <a:defRPr sz="1200" cap="none" baseline="0">
                <a:solidFill>
                  <a:schemeClr val="tx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cxnSp>
        <p:nvCxnSpPr>
          <p:cNvPr id="46" name="Straight Arrow Connector 45">
            <a:extLst>
              <a:ext uri="{FF2B5EF4-FFF2-40B4-BE49-F238E27FC236}">
                <a16:creationId xmlns:a16="http://schemas.microsoft.com/office/drawing/2014/main" id="{76330766-86D4-F436-F65D-07EF389BF5F5}"/>
              </a:ext>
              <a:ext uri="{C183D7F6-B498-43B3-948B-1728B52AA6E4}">
                <adec:decorative xmlns:adec="http://schemas.microsoft.com/office/drawing/2017/decorative" val="1"/>
              </a:ext>
            </a:extLst>
          </p:cNvPr>
          <p:cNvCxnSpPr>
            <a:cxnSpLocks/>
          </p:cNvCxnSpPr>
          <p:nvPr userDrawn="1"/>
        </p:nvCxnSpPr>
        <p:spPr>
          <a:xfrm>
            <a:off x="3902735" y="6203726"/>
            <a:ext cx="1836387" cy="0"/>
          </a:xfrm>
          <a:prstGeom prst="straightConnector1">
            <a:avLst/>
          </a:prstGeom>
          <a:ln w="19050" cap="flat" cmpd="sng" algn="ctr">
            <a:solidFill>
              <a:schemeClr val="tx1"/>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sp>
        <p:nvSpPr>
          <p:cNvPr id="17" name="Text Placeholder 11">
            <a:extLst>
              <a:ext uri="{FF2B5EF4-FFF2-40B4-BE49-F238E27FC236}">
                <a16:creationId xmlns:a16="http://schemas.microsoft.com/office/drawing/2014/main" id="{A540E06E-3F2B-A3DC-320A-8C968AC4350E}"/>
              </a:ext>
            </a:extLst>
          </p:cNvPr>
          <p:cNvSpPr>
            <a:spLocks noGrp="1"/>
          </p:cNvSpPr>
          <p:nvPr>
            <p:ph type="body" sz="quarter" idx="17" hasCustomPrompt="1"/>
          </p:nvPr>
        </p:nvSpPr>
        <p:spPr>
          <a:xfrm>
            <a:off x="6435141" y="3135104"/>
            <a:ext cx="2326657" cy="768223"/>
          </a:xfrm>
        </p:spPr>
        <p:txBody>
          <a:bodyPr lIns="91440" tIns="0" anchor="b">
            <a:noAutofit/>
          </a:bodyPr>
          <a:lstStyle>
            <a:lvl1pPr marL="0" indent="0" algn="ctr">
              <a:buNone/>
              <a:defRPr sz="2000" b="0" cap="all" spc="0" baseline="0">
                <a:solidFill>
                  <a:schemeClr val="tx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Subtitle</a:t>
            </a:r>
          </a:p>
        </p:txBody>
      </p:sp>
      <p:sp>
        <p:nvSpPr>
          <p:cNvPr id="22" name="Text Placeholder 11">
            <a:extLst>
              <a:ext uri="{FF2B5EF4-FFF2-40B4-BE49-F238E27FC236}">
                <a16:creationId xmlns:a16="http://schemas.microsoft.com/office/drawing/2014/main" id="{51307C43-6072-93E9-BF1D-64D42AE2A524}"/>
              </a:ext>
            </a:extLst>
          </p:cNvPr>
          <p:cNvSpPr>
            <a:spLocks noGrp="1"/>
          </p:cNvSpPr>
          <p:nvPr>
            <p:ph type="body" sz="quarter" idx="22" hasCustomPrompt="1"/>
          </p:nvPr>
        </p:nvSpPr>
        <p:spPr>
          <a:xfrm>
            <a:off x="6419643" y="4248614"/>
            <a:ext cx="2357653" cy="1676185"/>
          </a:xfrm>
        </p:spPr>
        <p:txBody>
          <a:bodyPr lIns="91440" tIns="0">
            <a:noAutofit/>
          </a:bodyPr>
          <a:lstStyle>
            <a:lvl1pPr marL="0" indent="0">
              <a:buNone/>
              <a:defRPr sz="1200" cap="none" baseline="0">
                <a:solidFill>
                  <a:schemeClr val="tx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cxnSp>
        <p:nvCxnSpPr>
          <p:cNvPr id="47" name="Straight Arrow Connector 46">
            <a:extLst>
              <a:ext uri="{FF2B5EF4-FFF2-40B4-BE49-F238E27FC236}">
                <a16:creationId xmlns:a16="http://schemas.microsoft.com/office/drawing/2014/main" id="{EF51B736-1CC5-842A-AFEB-68B18931713C}"/>
              </a:ext>
              <a:ext uri="{C183D7F6-B498-43B3-948B-1728B52AA6E4}">
                <adec:decorative xmlns:adec="http://schemas.microsoft.com/office/drawing/2017/decorative" val="1"/>
              </a:ext>
            </a:extLst>
          </p:cNvPr>
          <p:cNvCxnSpPr>
            <a:cxnSpLocks/>
          </p:cNvCxnSpPr>
          <p:nvPr userDrawn="1"/>
        </p:nvCxnSpPr>
        <p:spPr>
          <a:xfrm>
            <a:off x="6684650" y="6203726"/>
            <a:ext cx="1827639" cy="0"/>
          </a:xfrm>
          <a:prstGeom prst="straightConnector1">
            <a:avLst/>
          </a:prstGeom>
          <a:ln w="19050" cap="flat" cmpd="sng" algn="ctr">
            <a:solidFill>
              <a:schemeClr val="tx1"/>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sp>
        <p:nvSpPr>
          <p:cNvPr id="18" name="Text Placeholder 11">
            <a:extLst>
              <a:ext uri="{FF2B5EF4-FFF2-40B4-BE49-F238E27FC236}">
                <a16:creationId xmlns:a16="http://schemas.microsoft.com/office/drawing/2014/main" id="{716EA8F4-B9C4-991F-0EBC-D79877AD4680}"/>
              </a:ext>
            </a:extLst>
          </p:cNvPr>
          <p:cNvSpPr>
            <a:spLocks noGrp="1"/>
          </p:cNvSpPr>
          <p:nvPr>
            <p:ph type="body" sz="quarter" idx="18" hasCustomPrompt="1"/>
          </p:nvPr>
        </p:nvSpPr>
        <p:spPr>
          <a:xfrm>
            <a:off x="9161699" y="3135104"/>
            <a:ext cx="2326657" cy="768223"/>
          </a:xfrm>
        </p:spPr>
        <p:txBody>
          <a:bodyPr lIns="91440" tIns="0" anchor="b">
            <a:noAutofit/>
          </a:bodyPr>
          <a:lstStyle>
            <a:lvl1pPr marL="0" indent="0" algn="ctr">
              <a:buNone/>
              <a:defRPr sz="2000" b="0" cap="all" spc="0" baseline="0">
                <a:solidFill>
                  <a:schemeClr val="tx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Subtitle</a:t>
            </a:r>
          </a:p>
        </p:txBody>
      </p:sp>
      <p:sp>
        <p:nvSpPr>
          <p:cNvPr id="23" name="Text Placeholder 11">
            <a:extLst>
              <a:ext uri="{FF2B5EF4-FFF2-40B4-BE49-F238E27FC236}">
                <a16:creationId xmlns:a16="http://schemas.microsoft.com/office/drawing/2014/main" id="{5A57C80F-4C30-26E1-B38B-3D7238EC9A49}"/>
              </a:ext>
            </a:extLst>
          </p:cNvPr>
          <p:cNvSpPr>
            <a:spLocks noGrp="1"/>
          </p:cNvSpPr>
          <p:nvPr>
            <p:ph type="body" sz="quarter" idx="23" hasCustomPrompt="1"/>
          </p:nvPr>
        </p:nvSpPr>
        <p:spPr>
          <a:xfrm>
            <a:off x="9140053" y="4248614"/>
            <a:ext cx="2369948" cy="1676185"/>
          </a:xfrm>
        </p:spPr>
        <p:txBody>
          <a:bodyPr lIns="91440" tIns="0">
            <a:noAutofit/>
          </a:bodyPr>
          <a:lstStyle>
            <a:lvl1pPr marL="0" indent="0">
              <a:buNone/>
              <a:defRPr sz="1200" cap="none" baseline="0">
                <a:solidFill>
                  <a:schemeClr val="tx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cxnSp>
        <p:nvCxnSpPr>
          <p:cNvPr id="48" name="Straight Arrow Connector 47">
            <a:extLst>
              <a:ext uri="{FF2B5EF4-FFF2-40B4-BE49-F238E27FC236}">
                <a16:creationId xmlns:a16="http://schemas.microsoft.com/office/drawing/2014/main" id="{A771B152-C165-EE9A-CF25-69B01D93984C}"/>
              </a:ext>
              <a:ext uri="{C183D7F6-B498-43B3-948B-1728B52AA6E4}">
                <adec:decorative xmlns:adec="http://schemas.microsoft.com/office/drawing/2017/decorative" val="1"/>
              </a:ext>
            </a:extLst>
          </p:cNvPr>
          <p:cNvCxnSpPr>
            <a:cxnSpLocks/>
          </p:cNvCxnSpPr>
          <p:nvPr userDrawn="1"/>
        </p:nvCxnSpPr>
        <p:spPr>
          <a:xfrm>
            <a:off x="9410840" y="6203726"/>
            <a:ext cx="1828375" cy="0"/>
          </a:xfrm>
          <a:prstGeom prst="straightConnector1">
            <a:avLst/>
          </a:prstGeom>
          <a:ln w="19050" cap="flat" cmpd="sng" algn="ctr">
            <a:solidFill>
              <a:schemeClr val="tx1"/>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sp>
        <p:nvSpPr>
          <p:cNvPr id="8" name="Rectangle 7">
            <a:extLst>
              <a:ext uri="{FF2B5EF4-FFF2-40B4-BE49-F238E27FC236}">
                <a16:creationId xmlns:a16="http://schemas.microsoft.com/office/drawing/2014/main" id="{3A788A64-F282-9CE1-4232-9EE355589DE3}"/>
              </a:ext>
              <a:ext uri="{C183D7F6-B498-43B3-948B-1728B52AA6E4}">
                <adec:decorative xmlns:adec="http://schemas.microsoft.com/office/drawing/2017/decorative" val="1"/>
              </a:ext>
            </a:extLst>
          </p:cNvPr>
          <p:cNvSpPr/>
          <p:nvPr userDrawn="1"/>
        </p:nvSpPr>
        <p:spPr>
          <a:xfrm>
            <a:off x="3634023" y="4011416"/>
            <a:ext cx="2373810" cy="110198"/>
          </a:xfrm>
          <a:prstGeom prst="rect">
            <a:avLst/>
          </a:prstGeom>
          <a:gradFill>
            <a:gsLst>
              <a:gs pos="0">
                <a:schemeClr val="tx1"/>
              </a:gs>
              <a:gs pos="97000">
                <a:schemeClr val="accent3"/>
              </a:gs>
              <a:gs pos="48000">
                <a:schemeClr val="accent2"/>
              </a:gs>
            </a:gsLst>
            <a:lin ang="216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en-US" dirty="0">
              <a:solidFill>
                <a:schemeClr val="bg1">
                  <a:lumMod val="95000"/>
                </a:schemeClr>
              </a:solidFill>
            </a:endParaRPr>
          </a:p>
        </p:txBody>
      </p:sp>
      <p:sp>
        <p:nvSpPr>
          <p:cNvPr id="9" name="Rectangle 8">
            <a:extLst>
              <a:ext uri="{FF2B5EF4-FFF2-40B4-BE49-F238E27FC236}">
                <a16:creationId xmlns:a16="http://schemas.microsoft.com/office/drawing/2014/main" id="{10782DED-E3BA-FB36-43E4-81DBB440C37C}"/>
              </a:ext>
              <a:ext uri="{C183D7F6-B498-43B3-948B-1728B52AA6E4}">
                <adec:decorative xmlns:adec="http://schemas.microsoft.com/office/drawing/2017/decorative" val="1"/>
              </a:ext>
            </a:extLst>
          </p:cNvPr>
          <p:cNvSpPr/>
          <p:nvPr userDrawn="1"/>
        </p:nvSpPr>
        <p:spPr>
          <a:xfrm>
            <a:off x="6411564" y="4011416"/>
            <a:ext cx="2373810" cy="110198"/>
          </a:xfrm>
          <a:prstGeom prst="rect">
            <a:avLst/>
          </a:prstGeom>
          <a:gradFill>
            <a:gsLst>
              <a:gs pos="0">
                <a:schemeClr val="tx1"/>
              </a:gs>
              <a:gs pos="97000">
                <a:schemeClr val="accent3"/>
              </a:gs>
              <a:gs pos="48000">
                <a:schemeClr val="accent2"/>
              </a:gs>
            </a:gsLst>
            <a:lin ang="216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en-US" dirty="0">
              <a:solidFill>
                <a:schemeClr val="bg1">
                  <a:lumMod val="95000"/>
                </a:schemeClr>
              </a:solidFill>
            </a:endParaRPr>
          </a:p>
        </p:txBody>
      </p:sp>
      <p:sp>
        <p:nvSpPr>
          <p:cNvPr id="10" name="Rectangle 9">
            <a:extLst>
              <a:ext uri="{FF2B5EF4-FFF2-40B4-BE49-F238E27FC236}">
                <a16:creationId xmlns:a16="http://schemas.microsoft.com/office/drawing/2014/main" id="{00D478D9-E1B0-6465-A4AE-A5FCFD483B88}"/>
              </a:ext>
              <a:ext uri="{C183D7F6-B498-43B3-948B-1728B52AA6E4}">
                <adec:decorative xmlns:adec="http://schemas.microsoft.com/office/drawing/2017/decorative" val="1"/>
              </a:ext>
            </a:extLst>
          </p:cNvPr>
          <p:cNvSpPr/>
          <p:nvPr userDrawn="1"/>
        </p:nvSpPr>
        <p:spPr>
          <a:xfrm>
            <a:off x="9138122" y="4011416"/>
            <a:ext cx="2373810" cy="110198"/>
          </a:xfrm>
          <a:prstGeom prst="rect">
            <a:avLst/>
          </a:prstGeom>
          <a:gradFill>
            <a:gsLst>
              <a:gs pos="0">
                <a:schemeClr val="tx1"/>
              </a:gs>
              <a:gs pos="97000">
                <a:schemeClr val="accent3"/>
              </a:gs>
              <a:gs pos="48000">
                <a:schemeClr val="accent2"/>
              </a:gs>
            </a:gsLst>
            <a:lin ang="216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en-US" dirty="0">
              <a:solidFill>
                <a:schemeClr val="bg1">
                  <a:lumMod val="95000"/>
                </a:schemeClr>
              </a:solidFill>
            </a:endParaRPr>
          </a:p>
        </p:txBody>
      </p:sp>
      <p:sp>
        <p:nvSpPr>
          <p:cNvPr id="37" name="Title 1">
            <a:extLst>
              <a:ext uri="{FF2B5EF4-FFF2-40B4-BE49-F238E27FC236}">
                <a16:creationId xmlns:a16="http://schemas.microsoft.com/office/drawing/2014/main" id="{B7E68036-CDBD-FEF5-260D-DF24C6FF3906}"/>
              </a:ext>
            </a:extLst>
          </p:cNvPr>
          <p:cNvSpPr>
            <a:spLocks noGrp="1"/>
          </p:cNvSpPr>
          <p:nvPr>
            <p:ph type="title"/>
          </p:nvPr>
        </p:nvSpPr>
        <p:spPr>
          <a:xfrm>
            <a:off x="914400" y="758952"/>
            <a:ext cx="10515600" cy="1325563"/>
          </a:xfrm>
        </p:spPr>
        <p:txBody>
          <a:bodyPr/>
          <a:lstStyle/>
          <a:p>
            <a:r>
              <a:rPr lang="en-US"/>
              <a:t>Click to edit Master title style</a:t>
            </a:r>
          </a:p>
        </p:txBody>
      </p:sp>
      <p:sp>
        <p:nvSpPr>
          <p:cNvPr id="6" name="Footer Placeholder 5">
            <a:extLst>
              <a:ext uri="{FF2B5EF4-FFF2-40B4-BE49-F238E27FC236}">
                <a16:creationId xmlns:a16="http://schemas.microsoft.com/office/drawing/2014/main" id="{44EA6892-F10F-164E-5109-ED84CE738A8B}"/>
              </a:ext>
            </a:extLst>
          </p:cNvPr>
          <p:cNvSpPr>
            <a:spLocks noGrp="1"/>
          </p:cNvSpPr>
          <p:nvPr>
            <p:ph type="ftr" sz="quarter" idx="11"/>
          </p:nvPr>
        </p:nvSpPr>
        <p:spPr>
          <a:xfrm>
            <a:off x="343963" y="121602"/>
            <a:ext cx="4114800" cy="217173"/>
          </a:xfrm>
        </p:spPr>
        <p:txBody>
          <a:bodyPr/>
          <a:lstStyle/>
          <a:p>
            <a:r>
              <a:rPr lang="en-US" dirty="0"/>
              <a:t>Biological &amp; Physical Sciences</a:t>
            </a:r>
          </a:p>
        </p:txBody>
      </p:sp>
      <p:sp>
        <p:nvSpPr>
          <p:cNvPr id="7" name="Slide Number Placeholder 6">
            <a:extLst>
              <a:ext uri="{FF2B5EF4-FFF2-40B4-BE49-F238E27FC236}">
                <a16:creationId xmlns:a16="http://schemas.microsoft.com/office/drawing/2014/main" id="{828D13AE-FD08-9C1F-6E91-5682E73EC069}"/>
              </a:ext>
            </a:extLst>
          </p:cNvPr>
          <p:cNvSpPr>
            <a:spLocks noGrp="1"/>
          </p:cNvSpPr>
          <p:nvPr>
            <p:ph type="sldNum" sz="quarter" idx="12"/>
          </p:nvPr>
        </p:nvSpPr>
        <p:spPr>
          <a:xfrm>
            <a:off x="11662148" y="99559"/>
            <a:ext cx="1059704" cy="261258"/>
          </a:xfrm>
        </p:spPr>
        <p:txBody>
          <a:bodyPr/>
          <a:lstStyle/>
          <a:p>
            <a:fld id="{E8618032-BA8D-3D4D-8253-A70208A85976}" type="slidenum">
              <a:rPr lang="en-US" smtClean="0"/>
              <a:t>‹#›</a:t>
            </a:fld>
            <a:endParaRPr lang="en-US"/>
          </a:p>
        </p:txBody>
      </p:sp>
    </p:spTree>
    <p:extLst>
      <p:ext uri="{BB962C8B-B14F-4D97-AF65-F5344CB8AC3E}">
        <p14:creationId xmlns:p14="http://schemas.microsoft.com/office/powerpoint/2010/main" val="1193158889"/>
      </p:ext>
    </p:extLst>
  </p:cSld>
  <p:clrMapOvr>
    <a:overrideClrMapping bg1="lt1" tx1="dk1" bg2="lt2" tx2="dk2" accent1="accent1" accent2="accent2" accent3="accent3" accent4="accent4" accent5="accent5" accent6="accent6" hlink="hlink" folHlink="folHlink"/>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6 circle callout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E89F04-8166-A3DC-744C-551C5EB8708A}"/>
              </a:ext>
            </a:extLst>
          </p:cNvPr>
          <p:cNvSpPr>
            <a:spLocks noGrp="1"/>
          </p:cNvSpPr>
          <p:nvPr>
            <p:ph type="title"/>
          </p:nvPr>
        </p:nvSpPr>
        <p:spPr>
          <a:xfrm>
            <a:off x="914400" y="755930"/>
            <a:ext cx="10325100" cy="1325563"/>
          </a:xfrm>
        </p:spPr>
        <p:txBody>
          <a:bodyPr/>
          <a:lstStyle/>
          <a:p>
            <a:r>
              <a:rPr lang="en-US"/>
              <a:t>Click to edit Master title style</a:t>
            </a:r>
          </a:p>
        </p:txBody>
      </p:sp>
      <p:grpSp>
        <p:nvGrpSpPr>
          <p:cNvPr id="6" name="그룹 1281">
            <a:extLst>
              <a:ext uri="{FF2B5EF4-FFF2-40B4-BE49-F238E27FC236}">
                <a16:creationId xmlns:a16="http://schemas.microsoft.com/office/drawing/2014/main" id="{65B4D3AB-B0EE-820C-F332-86B9B4FF4D7D}"/>
              </a:ext>
            </a:extLst>
          </p:cNvPr>
          <p:cNvGrpSpPr/>
          <p:nvPr userDrawn="1"/>
        </p:nvGrpSpPr>
        <p:grpSpPr>
          <a:xfrm>
            <a:off x="1143000" y="2505297"/>
            <a:ext cx="10056459" cy="2238357"/>
            <a:chOff x="1073086" y="2710034"/>
            <a:chExt cx="10056459" cy="2238357"/>
          </a:xfrm>
        </p:grpSpPr>
        <p:sp>
          <p:nvSpPr>
            <p:cNvPr id="8" name="Oval 6">
              <a:extLst>
                <a:ext uri="{FF2B5EF4-FFF2-40B4-BE49-F238E27FC236}">
                  <a16:creationId xmlns:a16="http://schemas.microsoft.com/office/drawing/2014/main" id="{1F23A632-C958-B035-7D29-4E36C3A8D927}"/>
                </a:ext>
              </a:extLst>
            </p:cNvPr>
            <p:cNvSpPr/>
            <p:nvPr/>
          </p:nvSpPr>
          <p:spPr>
            <a:xfrm rot="7200000" flipH="1">
              <a:off x="3914385" y="3078946"/>
              <a:ext cx="864000" cy="1564691"/>
            </a:xfrm>
            <a:custGeom>
              <a:avLst/>
              <a:gdLst/>
              <a:ahLst/>
              <a:cxnLst/>
              <a:rect l="l" t="t" r="r" b="b"/>
              <a:pathLst>
                <a:path w="890376" h="1440160">
                  <a:moveTo>
                    <a:pt x="445188" y="0"/>
                  </a:moveTo>
                  <a:cubicBezTo>
                    <a:pt x="614149" y="0"/>
                    <a:pt x="769519" y="58193"/>
                    <a:pt x="890376" y="158114"/>
                  </a:cubicBezTo>
                  <a:cubicBezTo>
                    <a:pt x="722128" y="287532"/>
                    <a:pt x="615484" y="491352"/>
                    <a:pt x="615484" y="720080"/>
                  </a:cubicBezTo>
                  <a:cubicBezTo>
                    <a:pt x="615484" y="948808"/>
                    <a:pt x="722128" y="1152628"/>
                    <a:pt x="890376" y="1282046"/>
                  </a:cubicBezTo>
                  <a:cubicBezTo>
                    <a:pt x="769519" y="1381967"/>
                    <a:pt x="614149" y="1440160"/>
                    <a:pt x="445188" y="1440160"/>
                  </a:cubicBezTo>
                  <a:cubicBezTo>
                    <a:pt x="276227" y="1440160"/>
                    <a:pt x="120857" y="1381967"/>
                    <a:pt x="0" y="1282046"/>
                  </a:cubicBezTo>
                  <a:cubicBezTo>
                    <a:pt x="168248" y="1152628"/>
                    <a:pt x="274891" y="948808"/>
                    <a:pt x="274891" y="720080"/>
                  </a:cubicBezTo>
                  <a:cubicBezTo>
                    <a:pt x="274891" y="491352"/>
                    <a:pt x="168248" y="287532"/>
                    <a:pt x="0" y="158114"/>
                  </a:cubicBezTo>
                  <a:cubicBezTo>
                    <a:pt x="120857" y="58193"/>
                    <a:pt x="276227" y="0"/>
                    <a:pt x="445188" y="0"/>
                  </a:cubicBezTo>
                  <a:close/>
                </a:path>
              </a:pathLst>
            </a:custGeom>
            <a:solidFill>
              <a:schemeClr val="accent5"/>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dirty="0"/>
            </a:p>
          </p:txBody>
        </p:sp>
        <p:sp>
          <p:nvSpPr>
            <p:cNvPr id="9" name="Oval 6">
              <a:extLst>
                <a:ext uri="{FF2B5EF4-FFF2-40B4-BE49-F238E27FC236}">
                  <a16:creationId xmlns:a16="http://schemas.microsoft.com/office/drawing/2014/main" id="{918FE6A1-233A-7F39-8799-6BFEF9149E32}"/>
                </a:ext>
              </a:extLst>
            </p:cNvPr>
            <p:cNvSpPr/>
            <p:nvPr/>
          </p:nvSpPr>
          <p:spPr>
            <a:xfrm rot="7200000" flipH="1">
              <a:off x="7460429" y="3078946"/>
              <a:ext cx="864000" cy="1564691"/>
            </a:xfrm>
            <a:custGeom>
              <a:avLst/>
              <a:gdLst/>
              <a:ahLst/>
              <a:cxnLst/>
              <a:rect l="l" t="t" r="r" b="b"/>
              <a:pathLst>
                <a:path w="890376" h="1440160">
                  <a:moveTo>
                    <a:pt x="445188" y="0"/>
                  </a:moveTo>
                  <a:cubicBezTo>
                    <a:pt x="614149" y="0"/>
                    <a:pt x="769519" y="58193"/>
                    <a:pt x="890376" y="158114"/>
                  </a:cubicBezTo>
                  <a:cubicBezTo>
                    <a:pt x="722128" y="287532"/>
                    <a:pt x="615484" y="491352"/>
                    <a:pt x="615484" y="720080"/>
                  </a:cubicBezTo>
                  <a:cubicBezTo>
                    <a:pt x="615484" y="948808"/>
                    <a:pt x="722128" y="1152628"/>
                    <a:pt x="890376" y="1282046"/>
                  </a:cubicBezTo>
                  <a:cubicBezTo>
                    <a:pt x="769519" y="1381967"/>
                    <a:pt x="614149" y="1440160"/>
                    <a:pt x="445188" y="1440160"/>
                  </a:cubicBezTo>
                  <a:cubicBezTo>
                    <a:pt x="276227" y="1440160"/>
                    <a:pt x="120857" y="1381967"/>
                    <a:pt x="0" y="1282046"/>
                  </a:cubicBezTo>
                  <a:cubicBezTo>
                    <a:pt x="168248" y="1152628"/>
                    <a:pt x="274891" y="948808"/>
                    <a:pt x="274891" y="720080"/>
                  </a:cubicBezTo>
                  <a:cubicBezTo>
                    <a:pt x="274891" y="491352"/>
                    <a:pt x="168248" y="287532"/>
                    <a:pt x="0" y="158114"/>
                  </a:cubicBezTo>
                  <a:cubicBezTo>
                    <a:pt x="120857" y="58193"/>
                    <a:pt x="276227" y="0"/>
                    <a:pt x="445188" y="0"/>
                  </a:cubicBezTo>
                  <a:close/>
                </a:path>
              </a:pathLst>
            </a:custGeom>
            <a:solidFill>
              <a:schemeClr val="accent3"/>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a:p>
          </p:txBody>
        </p:sp>
        <p:sp>
          <p:nvSpPr>
            <p:cNvPr id="10" name="Oval 6">
              <a:extLst>
                <a:ext uri="{FF2B5EF4-FFF2-40B4-BE49-F238E27FC236}">
                  <a16:creationId xmlns:a16="http://schemas.microsoft.com/office/drawing/2014/main" id="{7E0B8266-3454-DEDE-28C4-30473AD029FF}"/>
                </a:ext>
              </a:extLst>
            </p:cNvPr>
            <p:cNvSpPr/>
            <p:nvPr/>
          </p:nvSpPr>
          <p:spPr>
            <a:xfrm rot="14400000">
              <a:off x="2141363" y="3078946"/>
              <a:ext cx="864000" cy="1564691"/>
            </a:xfrm>
            <a:custGeom>
              <a:avLst/>
              <a:gdLst/>
              <a:ahLst/>
              <a:cxnLst/>
              <a:rect l="l" t="t" r="r" b="b"/>
              <a:pathLst>
                <a:path w="890376" h="1440160">
                  <a:moveTo>
                    <a:pt x="445188" y="0"/>
                  </a:moveTo>
                  <a:cubicBezTo>
                    <a:pt x="614149" y="0"/>
                    <a:pt x="769519" y="58193"/>
                    <a:pt x="890376" y="158114"/>
                  </a:cubicBezTo>
                  <a:cubicBezTo>
                    <a:pt x="722128" y="287532"/>
                    <a:pt x="615484" y="491352"/>
                    <a:pt x="615484" y="720080"/>
                  </a:cubicBezTo>
                  <a:cubicBezTo>
                    <a:pt x="615484" y="948808"/>
                    <a:pt x="722128" y="1152628"/>
                    <a:pt x="890376" y="1282046"/>
                  </a:cubicBezTo>
                  <a:cubicBezTo>
                    <a:pt x="769519" y="1381967"/>
                    <a:pt x="614149" y="1440160"/>
                    <a:pt x="445188" y="1440160"/>
                  </a:cubicBezTo>
                  <a:cubicBezTo>
                    <a:pt x="276227" y="1440160"/>
                    <a:pt x="120857" y="1381967"/>
                    <a:pt x="0" y="1282046"/>
                  </a:cubicBezTo>
                  <a:cubicBezTo>
                    <a:pt x="168248" y="1152628"/>
                    <a:pt x="274891" y="948808"/>
                    <a:pt x="274891" y="720080"/>
                  </a:cubicBezTo>
                  <a:cubicBezTo>
                    <a:pt x="274891" y="491352"/>
                    <a:pt x="168248" y="287532"/>
                    <a:pt x="0" y="158114"/>
                  </a:cubicBezTo>
                  <a:cubicBezTo>
                    <a:pt x="120857" y="58193"/>
                    <a:pt x="276227" y="0"/>
                    <a:pt x="445188" y="0"/>
                  </a:cubicBezTo>
                  <a:close/>
                </a:path>
              </a:pathLst>
            </a:custGeom>
            <a:solidFill>
              <a:schemeClr val="accent6"/>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a:p>
          </p:txBody>
        </p:sp>
        <p:sp>
          <p:nvSpPr>
            <p:cNvPr id="11" name="Oval 5">
              <a:extLst>
                <a:ext uri="{FF2B5EF4-FFF2-40B4-BE49-F238E27FC236}">
                  <a16:creationId xmlns:a16="http://schemas.microsoft.com/office/drawing/2014/main" id="{3229B04E-61C5-C43D-3D60-E218AEF16C01}"/>
                </a:ext>
              </a:extLst>
            </p:cNvPr>
            <p:cNvSpPr/>
            <p:nvPr/>
          </p:nvSpPr>
          <p:spPr>
            <a:xfrm>
              <a:off x="1073086" y="3714353"/>
              <a:ext cx="1234037" cy="1234038"/>
            </a:xfrm>
            <a:prstGeom prst="ellipse">
              <a:avLst/>
            </a:prstGeom>
            <a:solidFill>
              <a:schemeClr val="accent6"/>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dirty="0"/>
            </a:p>
          </p:txBody>
        </p:sp>
        <p:sp>
          <p:nvSpPr>
            <p:cNvPr id="12" name="타원 1286">
              <a:extLst>
                <a:ext uri="{FF2B5EF4-FFF2-40B4-BE49-F238E27FC236}">
                  <a16:creationId xmlns:a16="http://schemas.microsoft.com/office/drawing/2014/main" id="{2EA6EF24-8749-8BEF-326C-C125ACB2C20A}"/>
                </a:ext>
              </a:extLst>
            </p:cNvPr>
            <p:cNvSpPr/>
            <p:nvPr/>
          </p:nvSpPr>
          <p:spPr>
            <a:xfrm>
              <a:off x="1137335" y="3805137"/>
              <a:ext cx="1105538" cy="1052470"/>
            </a:xfrm>
            <a:prstGeom prst="ellipse">
              <a:avLst/>
            </a:prstGeom>
            <a:gradFill flip="none" rotWithShape="1">
              <a:gsLst>
                <a:gs pos="0">
                  <a:schemeClr val="bg1">
                    <a:lumMod val="87000"/>
                  </a:schemeClr>
                </a:gs>
                <a:gs pos="100000">
                  <a:schemeClr val="bg1"/>
                </a:gs>
              </a:gsLst>
              <a:lin ang="8100000" scaled="1"/>
              <a:tileRect/>
            </a:gradFill>
            <a:ln w="6350">
              <a:solidFill>
                <a:schemeClr val="bg1"/>
              </a:solid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800">
                <a:solidFill>
                  <a:schemeClr val="tx1">
                    <a:lumMod val="65000"/>
                    <a:lumOff val="35000"/>
                  </a:schemeClr>
                </a:solidFill>
              </a:endParaRPr>
            </a:p>
          </p:txBody>
        </p:sp>
        <p:sp>
          <p:nvSpPr>
            <p:cNvPr id="13" name="Oval 15">
              <a:extLst>
                <a:ext uri="{FF2B5EF4-FFF2-40B4-BE49-F238E27FC236}">
                  <a16:creationId xmlns:a16="http://schemas.microsoft.com/office/drawing/2014/main" id="{454E25E1-F59A-FADC-CD3F-CA7A84CCA1E2}"/>
                </a:ext>
              </a:extLst>
            </p:cNvPr>
            <p:cNvSpPr/>
            <p:nvPr/>
          </p:nvSpPr>
          <p:spPr>
            <a:xfrm>
              <a:off x="2837570" y="2710034"/>
              <a:ext cx="1234037" cy="1234038"/>
            </a:xfrm>
            <a:prstGeom prst="ellipse">
              <a:avLst/>
            </a:prstGeom>
            <a:solidFill>
              <a:schemeClr val="accent5"/>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a:p>
          </p:txBody>
        </p:sp>
        <p:sp>
          <p:nvSpPr>
            <p:cNvPr id="14" name="Oval 6">
              <a:extLst>
                <a:ext uri="{FF2B5EF4-FFF2-40B4-BE49-F238E27FC236}">
                  <a16:creationId xmlns:a16="http://schemas.microsoft.com/office/drawing/2014/main" id="{FDA8283F-32E9-CA15-A705-995234E96ECB}"/>
                </a:ext>
              </a:extLst>
            </p:cNvPr>
            <p:cNvSpPr/>
            <p:nvPr/>
          </p:nvSpPr>
          <p:spPr>
            <a:xfrm rot="14400000">
              <a:off x="9209572" y="3041001"/>
              <a:ext cx="864000" cy="1564691"/>
            </a:xfrm>
            <a:custGeom>
              <a:avLst/>
              <a:gdLst/>
              <a:ahLst/>
              <a:cxnLst/>
              <a:rect l="l" t="t" r="r" b="b"/>
              <a:pathLst>
                <a:path w="890376" h="1440160">
                  <a:moveTo>
                    <a:pt x="445188" y="0"/>
                  </a:moveTo>
                  <a:cubicBezTo>
                    <a:pt x="614149" y="0"/>
                    <a:pt x="769519" y="58193"/>
                    <a:pt x="890376" y="158114"/>
                  </a:cubicBezTo>
                  <a:cubicBezTo>
                    <a:pt x="722128" y="287532"/>
                    <a:pt x="615484" y="491352"/>
                    <a:pt x="615484" y="720080"/>
                  </a:cubicBezTo>
                  <a:cubicBezTo>
                    <a:pt x="615484" y="948808"/>
                    <a:pt x="722128" y="1152628"/>
                    <a:pt x="890376" y="1282046"/>
                  </a:cubicBezTo>
                  <a:cubicBezTo>
                    <a:pt x="769519" y="1381967"/>
                    <a:pt x="614149" y="1440160"/>
                    <a:pt x="445188" y="1440160"/>
                  </a:cubicBezTo>
                  <a:cubicBezTo>
                    <a:pt x="276227" y="1440160"/>
                    <a:pt x="120857" y="1381967"/>
                    <a:pt x="0" y="1282046"/>
                  </a:cubicBezTo>
                  <a:cubicBezTo>
                    <a:pt x="168248" y="1152628"/>
                    <a:pt x="274891" y="948808"/>
                    <a:pt x="274891" y="720080"/>
                  </a:cubicBezTo>
                  <a:cubicBezTo>
                    <a:pt x="274891" y="491352"/>
                    <a:pt x="168248" y="287532"/>
                    <a:pt x="0" y="158114"/>
                  </a:cubicBezTo>
                  <a:cubicBezTo>
                    <a:pt x="120857" y="58193"/>
                    <a:pt x="276227" y="0"/>
                    <a:pt x="445188" y="0"/>
                  </a:cubicBezTo>
                  <a:close/>
                </a:path>
              </a:pathLst>
            </a:custGeom>
            <a:solidFill>
              <a:schemeClr val="accent2"/>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a:p>
          </p:txBody>
        </p:sp>
        <p:sp>
          <p:nvSpPr>
            <p:cNvPr id="15" name="Oval 6">
              <a:extLst>
                <a:ext uri="{FF2B5EF4-FFF2-40B4-BE49-F238E27FC236}">
                  <a16:creationId xmlns:a16="http://schemas.microsoft.com/office/drawing/2014/main" id="{6613845B-FD2D-2942-2DAB-3AB4C444161F}"/>
                </a:ext>
              </a:extLst>
            </p:cNvPr>
            <p:cNvSpPr/>
            <p:nvPr/>
          </p:nvSpPr>
          <p:spPr>
            <a:xfrm rot="14400000">
              <a:off x="5687407" y="3078946"/>
              <a:ext cx="864000" cy="1564691"/>
            </a:xfrm>
            <a:custGeom>
              <a:avLst/>
              <a:gdLst/>
              <a:ahLst/>
              <a:cxnLst/>
              <a:rect l="l" t="t" r="r" b="b"/>
              <a:pathLst>
                <a:path w="890376" h="1440160">
                  <a:moveTo>
                    <a:pt x="445188" y="0"/>
                  </a:moveTo>
                  <a:cubicBezTo>
                    <a:pt x="614149" y="0"/>
                    <a:pt x="769519" y="58193"/>
                    <a:pt x="890376" y="158114"/>
                  </a:cubicBezTo>
                  <a:cubicBezTo>
                    <a:pt x="722128" y="287532"/>
                    <a:pt x="615484" y="491352"/>
                    <a:pt x="615484" y="720080"/>
                  </a:cubicBezTo>
                  <a:cubicBezTo>
                    <a:pt x="615484" y="948808"/>
                    <a:pt x="722128" y="1152628"/>
                    <a:pt x="890376" y="1282046"/>
                  </a:cubicBezTo>
                  <a:cubicBezTo>
                    <a:pt x="769519" y="1381967"/>
                    <a:pt x="614149" y="1440160"/>
                    <a:pt x="445188" y="1440160"/>
                  </a:cubicBezTo>
                  <a:cubicBezTo>
                    <a:pt x="276227" y="1440160"/>
                    <a:pt x="120857" y="1381967"/>
                    <a:pt x="0" y="1282046"/>
                  </a:cubicBezTo>
                  <a:cubicBezTo>
                    <a:pt x="168248" y="1152628"/>
                    <a:pt x="274891" y="948808"/>
                    <a:pt x="274891" y="720080"/>
                  </a:cubicBezTo>
                  <a:cubicBezTo>
                    <a:pt x="274891" y="491352"/>
                    <a:pt x="168248" y="287532"/>
                    <a:pt x="0" y="158114"/>
                  </a:cubicBezTo>
                  <a:cubicBezTo>
                    <a:pt x="120857" y="58193"/>
                    <a:pt x="276227" y="0"/>
                    <a:pt x="445188" y="0"/>
                  </a:cubicBezTo>
                  <a:close/>
                </a:path>
              </a:pathLst>
            </a:custGeom>
            <a:solidFill>
              <a:schemeClr val="accent4"/>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a:p>
          </p:txBody>
        </p:sp>
        <p:sp>
          <p:nvSpPr>
            <p:cNvPr id="16" name="Oval 5">
              <a:extLst>
                <a:ext uri="{FF2B5EF4-FFF2-40B4-BE49-F238E27FC236}">
                  <a16:creationId xmlns:a16="http://schemas.microsoft.com/office/drawing/2014/main" id="{D2062A16-1962-16F4-8023-92D9AE84B52E}"/>
                </a:ext>
              </a:extLst>
            </p:cNvPr>
            <p:cNvSpPr/>
            <p:nvPr/>
          </p:nvSpPr>
          <p:spPr>
            <a:xfrm>
              <a:off x="4602054" y="3714353"/>
              <a:ext cx="1234037" cy="1234038"/>
            </a:xfrm>
            <a:prstGeom prst="ellipse">
              <a:avLst/>
            </a:prstGeom>
            <a:solidFill>
              <a:schemeClr val="accent4"/>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a:p>
          </p:txBody>
        </p:sp>
        <p:sp>
          <p:nvSpPr>
            <p:cNvPr id="17" name="Oval 15">
              <a:extLst>
                <a:ext uri="{FF2B5EF4-FFF2-40B4-BE49-F238E27FC236}">
                  <a16:creationId xmlns:a16="http://schemas.microsoft.com/office/drawing/2014/main" id="{0ABE85E6-8EEE-628D-159D-8DE52BB344E7}"/>
                </a:ext>
              </a:extLst>
            </p:cNvPr>
            <p:cNvSpPr/>
            <p:nvPr/>
          </p:nvSpPr>
          <p:spPr>
            <a:xfrm>
              <a:off x="6366538" y="2710034"/>
              <a:ext cx="1234037" cy="1234038"/>
            </a:xfrm>
            <a:prstGeom prst="ellipse">
              <a:avLst/>
            </a:prstGeom>
            <a:solidFill>
              <a:schemeClr val="accent3"/>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dirty="0"/>
            </a:p>
          </p:txBody>
        </p:sp>
        <p:sp>
          <p:nvSpPr>
            <p:cNvPr id="18" name="Oval 18">
              <a:extLst>
                <a:ext uri="{FF2B5EF4-FFF2-40B4-BE49-F238E27FC236}">
                  <a16:creationId xmlns:a16="http://schemas.microsoft.com/office/drawing/2014/main" id="{8B1831B6-1987-F685-D305-1DFA4F6D16E4}"/>
                </a:ext>
              </a:extLst>
            </p:cNvPr>
            <p:cNvSpPr/>
            <p:nvPr/>
          </p:nvSpPr>
          <p:spPr>
            <a:xfrm>
              <a:off x="8131022" y="3714353"/>
              <a:ext cx="1234037" cy="1234038"/>
            </a:xfrm>
            <a:prstGeom prst="ellipse">
              <a:avLst/>
            </a:prstGeom>
            <a:solidFill>
              <a:schemeClr val="accent2"/>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dirty="0"/>
            </a:p>
          </p:txBody>
        </p:sp>
        <p:sp>
          <p:nvSpPr>
            <p:cNvPr id="19" name="Oval 21">
              <a:extLst>
                <a:ext uri="{FF2B5EF4-FFF2-40B4-BE49-F238E27FC236}">
                  <a16:creationId xmlns:a16="http://schemas.microsoft.com/office/drawing/2014/main" id="{753C5383-B157-55FB-8CE2-7456440E869D}"/>
                </a:ext>
              </a:extLst>
            </p:cNvPr>
            <p:cNvSpPr/>
            <p:nvPr/>
          </p:nvSpPr>
          <p:spPr>
            <a:xfrm>
              <a:off x="9895508" y="2710034"/>
              <a:ext cx="1234037" cy="1234038"/>
            </a:xfrm>
            <a:prstGeom prst="ellipse">
              <a:avLst/>
            </a:prstGeom>
            <a:solidFill>
              <a:schemeClr val="accent1"/>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a:p>
          </p:txBody>
        </p:sp>
        <p:sp>
          <p:nvSpPr>
            <p:cNvPr id="21" name="타원 1295">
              <a:extLst>
                <a:ext uri="{FF2B5EF4-FFF2-40B4-BE49-F238E27FC236}">
                  <a16:creationId xmlns:a16="http://schemas.microsoft.com/office/drawing/2014/main" id="{BB2B1159-F287-F4D0-972D-AEB57CCA3AC0}"/>
                </a:ext>
              </a:extLst>
            </p:cNvPr>
            <p:cNvSpPr/>
            <p:nvPr/>
          </p:nvSpPr>
          <p:spPr>
            <a:xfrm>
              <a:off x="2901819" y="2800818"/>
              <a:ext cx="1105538" cy="1052470"/>
            </a:xfrm>
            <a:prstGeom prst="ellipse">
              <a:avLst/>
            </a:prstGeom>
            <a:gradFill flip="none" rotWithShape="1">
              <a:gsLst>
                <a:gs pos="0">
                  <a:schemeClr val="bg1">
                    <a:lumMod val="87000"/>
                  </a:schemeClr>
                </a:gs>
                <a:gs pos="100000">
                  <a:schemeClr val="bg1"/>
                </a:gs>
              </a:gsLst>
              <a:lin ang="8100000" scaled="1"/>
              <a:tileRect/>
            </a:gradFill>
            <a:ln w="6350">
              <a:solidFill>
                <a:schemeClr val="bg1"/>
              </a:solid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800">
                <a:solidFill>
                  <a:schemeClr val="accent5"/>
                </a:solidFill>
              </a:endParaRPr>
            </a:p>
          </p:txBody>
        </p:sp>
        <p:sp>
          <p:nvSpPr>
            <p:cNvPr id="22" name="타원 1296">
              <a:extLst>
                <a:ext uri="{FF2B5EF4-FFF2-40B4-BE49-F238E27FC236}">
                  <a16:creationId xmlns:a16="http://schemas.microsoft.com/office/drawing/2014/main" id="{3D44CC5B-C0AF-D2C2-BE76-D065ED9D3A38}"/>
                </a:ext>
              </a:extLst>
            </p:cNvPr>
            <p:cNvSpPr/>
            <p:nvPr/>
          </p:nvSpPr>
          <p:spPr>
            <a:xfrm>
              <a:off x="6430787" y="2800818"/>
              <a:ext cx="1105538" cy="1052470"/>
            </a:xfrm>
            <a:prstGeom prst="ellipse">
              <a:avLst/>
            </a:prstGeom>
            <a:gradFill flip="none" rotWithShape="1">
              <a:gsLst>
                <a:gs pos="0">
                  <a:schemeClr val="bg1">
                    <a:lumMod val="87000"/>
                  </a:schemeClr>
                </a:gs>
                <a:gs pos="100000">
                  <a:schemeClr val="bg1"/>
                </a:gs>
              </a:gsLst>
              <a:lin ang="8100000" scaled="1"/>
              <a:tileRect/>
            </a:gradFill>
            <a:ln w="6350">
              <a:solidFill>
                <a:schemeClr val="bg1"/>
              </a:solid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800">
                <a:solidFill>
                  <a:schemeClr val="tx1">
                    <a:lumMod val="65000"/>
                    <a:lumOff val="35000"/>
                  </a:schemeClr>
                </a:solidFill>
              </a:endParaRPr>
            </a:p>
          </p:txBody>
        </p:sp>
        <p:sp>
          <p:nvSpPr>
            <p:cNvPr id="23" name="타원 1297">
              <a:extLst>
                <a:ext uri="{FF2B5EF4-FFF2-40B4-BE49-F238E27FC236}">
                  <a16:creationId xmlns:a16="http://schemas.microsoft.com/office/drawing/2014/main" id="{8E47600E-B996-E6EC-B833-93E90D5A2297}"/>
                </a:ext>
              </a:extLst>
            </p:cNvPr>
            <p:cNvSpPr/>
            <p:nvPr/>
          </p:nvSpPr>
          <p:spPr>
            <a:xfrm>
              <a:off x="9955227" y="2800818"/>
              <a:ext cx="1105538" cy="1052470"/>
            </a:xfrm>
            <a:prstGeom prst="ellipse">
              <a:avLst/>
            </a:prstGeom>
            <a:gradFill flip="none" rotWithShape="1">
              <a:gsLst>
                <a:gs pos="0">
                  <a:schemeClr val="bg1">
                    <a:lumMod val="87000"/>
                  </a:schemeClr>
                </a:gs>
                <a:gs pos="100000">
                  <a:schemeClr val="bg1"/>
                </a:gs>
              </a:gsLst>
              <a:lin ang="8100000" scaled="1"/>
              <a:tileRect/>
            </a:gradFill>
            <a:ln w="6350">
              <a:solidFill>
                <a:schemeClr val="bg1"/>
              </a:solid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800">
                <a:solidFill>
                  <a:schemeClr val="tx1">
                    <a:lumMod val="65000"/>
                    <a:lumOff val="35000"/>
                  </a:schemeClr>
                </a:solidFill>
              </a:endParaRPr>
            </a:p>
          </p:txBody>
        </p:sp>
        <p:sp>
          <p:nvSpPr>
            <p:cNvPr id="24" name="타원 1298">
              <a:extLst>
                <a:ext uri="{FF2B5EF4-FFF2-40B4-BE49-F238E27FC236}">
                  <a16:creationId xmlns:a16="http://schemas.microsoft.com/office/drawing/2014/main" id="{047F897C-36C1-5E05-CC89-EBDFB90F4035}"/>
                </a:ext>
              </a:extLst>
            </p:cNvPr>
            <p:cNvSpPr/>
            <p:nvPr/>
          </p:nvSpPr>
          <p:spPr>
            <a:xfrm>
              <a:off x="8195271" y="3805137"/>
              <a:ext cx="1105538" cy="1052470"/>
            </a:xfrm>
            <a:prstGeom prst="ellipse">
              <a:avLst/>
            </a:prstGeom>
            <a:gradFill flip="none" rotWithShape="1">
              <a:gsLst>
                <a:gs pos="0">
                  <a:schemeClr val="bg1">
                    <a:lumMod val="87000"/>
                  </a:schemeClr>
                </a:gs>
                <a:gs pos="100000">
                  <a:schemeClr val="bg1"/>
                </a:gs>
              </a:gsLst>
              <a:lin ang="8100000" scaled="1"/>
              <a:tileRect/>
            </a:gradFill>
            <a:ln w="6350">
              <a:solidFill>
                <a:schemeClr val="bg1"/>
              </a:solid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800">
                <a:solidFill>
                  <a:schemeClr val="tx1">
                    <a:lumMod val="65000"/>
                    <a:lumOff val="35000"/>
                  </a:schemeClr>
                </a:solidFill>
              </a:endParaRPr>
            </a:p>
          </p:txBody>
        </p:sp>
        <p:sp>
          <p:nvSpPr>
            <p:cNvPr id="25" name="타원 1299">
              <a:extLst>
                <a:ext uri="{FF2B5EF4-FFF2-40B4-BE49-F238E27FC236}">
                  <a16:creationId xmlns:a16="http://schemas.microsoft.com/office/drawing/2014/main" id="{54EBFDB8-3C81-B0D3-B25E-E3CC580BDD36}"/>
                </a:ext>
              </a:extLst>
            </p:cNvPr>
            <p:cNvSpPr/>
            <p:nvPr/>
          </p:nvSpPr>
          <p:spPr>
            <a:xfrm>
              <a:off x="4666303" y="3805137"/>
              <a:ext cx="1105538" cy="1052470"/>
            </a:xfrm>
            <a:prstGeom prst="ellipse">
              <a:avLst/>
            </a:prstGeom>
            <a:gradFill flip="none" rotWithShape="1">
              <a:gsLst>
                <a:gs pos="0">
                  <a:schemeClr val="bg1">
                    <a:lumMod val="87000"/>
                  </a:schemeClr>
                </a:gs>
                <a:gs pos="100000">
                  <a:schemeClr val="bg1"/>
                </a:gs>
              </a:gsLst>
              <a:lin ang="8100000" scaled="1"/>
              <a:tileRect/>
            </a:gradFill>
            <a:ln w="6350">
              <a:solidFill>
                <a:schemeClr val="bg1"/>
              </a:solid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800">
                <a:solidFill>
                  <a:schemeClr val="tx1">
                    <a:lumMod val="65000"/>
                    <a:lumOff val="35000"/>
                  </a:schemeClr>
                </a:solidFill>
              </a:endParaRPr>
            </a:p>
          </p:txBody>
        </p:sp>
      </p:grpSp>
      <p:sp>
        <p:nvSpPr>
          <p:cNvPr id="32" name="Text Placeholder 31">
            <a:extLst>
              <a:ext uri="{FF2B5EF4-FFF2-40B4-BE49-F238E27FC236}">
                <a16:creationId xmlns:a16="http://schemas.microsoft.com/office/drawing/2014/main" id="{17B16F72-40BA-E998-2257-D54EE6CEBAEE}"/>
              </a:ext>
            </a:extLst>
          </p:cNvPr>
          <p:cNvSpPr>
            <a:spLocks noGrp="1"/>
          </p:cNvSpPr>
          <p:nvPr>
            <p:ph type="body" sz="quarter" idx="12" hasCustomPrompt="1"/>
          </p:nvPr>
        </p:nvSpPr>
        <p:spPr>
          <a:xfrm>
            <a:off x="1143000" y="3648297"/>
            <a:ext cx="1143000" cy="990600"/>
          </a:xfrm>
        </p:spPr>
        <p:txBody>
          <a:bodyPr anchor="ctr">
            <a:normAutofit/>
          </a:bodyPr>
          <a:lstStyle>
            <a:lvl1pPr marL="0" indent="0" algn="ctr">
              <a:lnSpc>
                <a:spcPct val="85000"/>
              </a:lnSpc>
              <a:spcBef>
                <a:spcPts val="0"/>
              </a:spcBef>
              <a:buNone/>
              <a:defRPr sz="1600" b="1"/>
            </a:lvl1pPr>
          </a:lstStyle>
          <a:p>
            <a:pPr lvl="0"/>
            <a:r>
              <a:rPr lang="en-US" dirty="0"/>
              <a:t>Text</a:t>
            </a:r>
          </a:p>
        </p:txBody>
      </p:sp>
      <p:sp>
        <p:nvSpPr>
          <p:cNvPr id="33" name="Text Placeholder 31">
            <a:extLst>
              <a:ext uri="{FF2B5EF4-FFF2-40B4-BE49-F238E27FC236}">
                <a16:creationId xmlns:a16="http://schemas.microsoft.com/office/drawing/2014/main" id="{AAB8F30F-2FFC-20DD-A8F6-71024DC03C1C}"/>
              </a:ext>
            </a:extLst>
          </p:cNvPr>
          <p:cNvSpPr>
            <a:spLocks noGrp="1"/>
          </p:cNvSpPr>
          <p:nvPr>
            <p:ph type="body" sz="quarter" idx="13" hasCustomPrompt="1"/>
          </p:nvPr>
        </p:nvSpPr>
        <p:spPr>
          <a:xfrm>
            <a:off x="2971800" y="2657697"/>
            <a:ext cx="1143000" cy="990600"/>
          </a:xfrm>
        </p:spPr>
        <p:txBody>
          <a:bodyPr anchor="ctr">
            <a:normAutofit/>
          </a:bodyPr>
          <a:lstStyle>
            <a:lvl1pPr marL="0" indent="0" algn="ctr">
              <a:lnSpc>
                <a:spcPct val="85000"/>
              </a:lnSpc>
              <a:spcBef>
                <a:spcPts val="0"/>
              </a:spcBef>
              <a:buNone/>
              <a:defRPr sz="1600" b="1"/>
            </a:lvl1pPr>
          </a:lstStyle>
          <a:p>
            <a:pPr lvl="0"/>
            <a:r>
              <a:rPr lang="en-US" dirty="0"/>
              <a:t>Text</a:t>
            </a:r>
          </a:p>
        </p:txBody>
      </p:sp>
      <p:sp>
        <p:nvSpPr>
          <p:cNvPr id="34" name="Text Placeholder 31">
            <a:extLst>
              <a:ext uri="{FF2B5EF4-FFF2-40B4-BE49-F238E27FC236}">
                <a16:creationId xmlns:a16="http://schemas.microsoft.com/office/drawing/2014/main" id="{9BFAAFBE-22E7-798D-C75E-C8E828921180}"/>
              </a:ext>
            </a:extLst>
          </p:cNvPr>
          <p:cNvSpPr>
            <a:spLocks noGrp="1"/>
          </p:cNvSpPr>
          <p:nvPr>
            <p:ph type="body" sz="quarter" idx="14" hasCustomPrompt="1"/>
          </p:nvPr>
        </p:nvSpPr>
        <p:spPr>
          <a:xfrm>
            <a:off x="4724400" y="3648297"/>
            <a:ext cx="1143000" cy="990600"/>
          </a:xfrm>
        </p:spPr>
        <p:txBody>
          <a:bodyPr anchor="ctr">
            <a:normAutofit/>
          </a:bodyPr>
          <a:lstStyle>
            <a:lvl1pPr marL="0" indent="0" algn="ctr">
              <a:lnSpc>
                <a:spcPct val="85000"/>
              </a:lnSpc>
              <a:spcBef>
                <a:spcPts val="0"/>
              </a:spcBef>
              <a:buNone/>
              <a:defRPr sz="1600" b="1">
                <a:solidFill>
                  <a:schemeClr val="bg2">
                    <a:lumMod val="50000"/>
                  </a:schemeClr>
                </a:solidFill>
              </a:defRPr>
            </a:lvl1pPr>
          </a:lstStyle>
          <a:p>
            <a:pPr lvl="0"/>
            <a:r>
              <a:rPr lang="en-US" dirty="0"/>
              <a:t>Text</a:t>
            </a:r>
          </a:p>
        </p:txBody>
      </p:sp>
      <p:sp>
        <p:nvSpPr>
          <p:cNvPr id="35" name="Text Placeholder 31">
            <a:extLst>
              <a:ext uri="{FF2B5EF4-FFF2-40B4-BE49-F238E27FC236}">
                <a16:creationId xmlns:a16="http://schemas.microsoft.com/office/drawing/2014/main" id="{AB5386A6-EBCF-BE3F-9C99-5AC05501DAA9}"/>
              </a:ext>
            </a:extLst>
          </p:cNvPr>
          <p:cNvSpPr>
            <a:spLocks noGrp="1"/>
          </p:cNvSpPr>
          <p:nvPr>
            <p:ph type="body" sz="quarter" idx="15" hasCustomPrompt="1"/>
          </p:nvPr>
        </p:nvSpPr>
        <p:spPr>
          <a:xfrm>
            <a:off x="6477000" y="2657697"/>
            <a:ext cx="1143000" cy="990600"/>
          </a:xfrm>
        </p:spPr>
        <p:txBody>
          <a:bodyPr anchor="ctr">
            <a:normAutofit/>
          </a:bodyPr>
          <a:lstStyle>
            <a:lvl1pPr marL="0" indent="0" algn="ctr">
              <a:lnSpc>
                <a:spcPct val="85000"/>
              </a:lnSpc>
              <a:spcBef>
                <a:spcPts val="0"/>
              </a:spcBef>
              <a:buNone/>
              <a:defRPr sz="1600" b="1">
                <a:solidFill>
                  <a:schemeClr val="accent3">
                    <a:lumMod val="75000"/>
                  </a:schemeClr>
                </a:solidFill>
              </a:defRPr>
            </a:lvl1pPr>
          </a:lstStyle>
          <a:p>
            <a:pPr lvl="0"/>
            <a:r>
              <a:rPr lang="en-US" dirty="0"/>
              <a:t>Text</a:t>
            </a:r>
          </a:p>
        </p:txBody>
      </p:sp>
      <p:sp>
        <p:nvSpPr>
          <p:cNvPr id="36" name="Text Placeholder 31">
            <a:extLst>
              <a:ext uri="{FF2B5EF4-FFF2-40B4-BE49-F238E27FC236}">
                <a16:creationId xmlns:a16="http://schemas.microsoft.com/office/drawing/2014/main" id="{8FF922E3-5C68-F6E3-0485-A0E67CC88D80}"/>
              </a:ext>
            </a:extLst>
          </p:cNvPr>
          <p:cNvSpPr>
            <a:spLocks noGrp="1"/>
          </p:cNvSpPr>
          <p:nvPr>
            <p:ph type="body" sz="quarter" idx="16" hasCustomPrompt="1"/>
          </p:nvPr>
        </p:nvSpPr>
        <p:spPr>
          <a:xfrm>
            <a:off x="8229600" y="3648297"/>
            <a:ext cx="1143000" cy="990600"/>
          </a:xfrm>
        </p:spPr>
        <p:txBody>
          <a:bodyPr anchor="ctr">
            <a:normAutofit/>
          </a:bodyPr>
          <a:lstStyle>
            <a:lvl1pPr marL="0" indent="0" algn="ctr">
              <a:lnSpc>
                <a:spcPct val="85000"/>
              </a:lnSpc>
              <a:spcBef>
                <a:spcPts val="0"/>
              </a:spcBef>
              <a:buNone/>
              <a:defRPr sz="1600" b="1">
                <a:solidFill>
                  <a:schemeClr val="accent5"/>
                </a:solidFill>
              </a:defRPr>
            </a:lvl1pPr>
          </a:lstStyle>
          <a:p>
            <a:pPr lvl="0"/>
            <a:r>
              <a:rPr lang="en-US" dirty="0"/>
              <a:t>Text</a:t>
            </a:r>
          </a:p>
        </p:txBody>
      </p:sp>
      <p:sp>
        <p:nvSpPr>
          <p:cNvPr id="37" name="Text Placeholder 31">
            <a:extLst>
              <a:ext uri="{FF2B5EF4-FFF2-40B4-BE49-F238E27FC236}">
                <a16:creationId xmlns:a16="http://schemas.microsoft.com/office/drawing/2014/main" id="{C910256D-A8C2-E46B-A929-3267D33AA46D}"/>
              </a:ext>
            </a:extLst>
          </p:cNvPr>
          <p:cNvSpPr>
            <a:spLocks noGrp="1"/>
          </p:cNvSpPr>
          <p:nvPr>
            <p:ph type="body" sz="quarter" idx="17" hasCustomPrompt="1"/>
          </p:nvPr>
        </p:nvSpPr>
        <p:spPr>
          <a:xfrm>
            <a:off x="9982200" y="2657697"/>
            <a:ext cx="1143000" cy="990600"/>
          </a:xfrm>
        </p:spPr>
        <p:txBody>
          <a:bodyPr anchor="ctr">
            <a:normAutofit/>
          </a:bodyPr>
          <a:lstStyle>
            <a:lvl1pPr marL="0" indent="0" algn="ctr">
              <a:lnSpc>
                <a:spcPct val="85000"/>
              </a:lnSpc>
              <a:spcBef>
                <a:spcPts val="0"/>
              </a:spcBef>
              <a:buNone/>
              <a:defRPr sz="1600" b="1">
                <a:solidFill>
                  <a:schemeClr val="tx1"/>
                </a:solidFill>
              </a:defRPr>
            </a:lvl1pPr>
          </a:lstStyle>
          <a:p>
            <a:pPr lvl="0"/>
            <a:r>
              <a:rPr lang="en-US" dirty="0"/>
              <a:t>Text</a:t>
            </a:r>
          </a:p>
        </p:txBody>
      </p:sp>
      <p:sp>
        <p:nvSpPr>
          <p:cNvPr id="39" name="Text Placeholder 38">
            <a:extLst>
              <a:ext uri="{FF2B5EF4-FFF2-40B4-BE49-F238E27FC236}">
                <a16:creationId xmlns:a16="http://schemas.microsoft.com/office/drawing/2014/main" id="{0C26EF43-A591-ACB9-95D5-D2A6C44F70EB}"/>
              </a:ext>
            </a:extLst>
          </p:cNvPr>
          <p:cNvSpPr>
            <a:spLocks noGrp="1"/>
          </p:cNvSpPr>
          <p:nvPr>
            <p:ph type="body" sz="quarter" idx="18" hasCustomPrompt="1"/>
          </p:nvPr>
        </p:nvSpPr>
        <p:spPr>
          <a:xfrm>
            <a:off x="914400" y="4867497"/>
            <a:ext cx="1524000" cy="1676400"/>
          </a:xfrm>
        </p:spPr>
        <p:txBody>
          <a:bodyPr>
            <a:noAutofit/>
          </a:bodyPr>
          <a:lstStyle>
            <a:lvl1pPr marL="0" indent="-91440" algn="ctr">
              <a:lnSpc>
                <a:spcPct val="85000"/>
              </a:lnSpc>
              <a:spcBef>
                <a:spcPts val="0"/>
              </a:spcBef>
              <a:spcAft>
                <a:spcPts val="600"/>
              </a:spcAft>
              <a:buFont typeface="Arial" panose="020B0604020202020204" pitchFamily="34" charset="0"/>
              <a:buChar char="•"/>
              <a:defRPr sz="1400"/>
            </a:lvl1pPr>
            <a:lvl2pPr marL="457200" indent="0">
              <a:buNone/>
              <a:defRPr sz="1400"/>
            </a:lvl2pPr>
            <a:lvl3pPr marL="914400" indent="0">
              <a:buNone/>
              <a:defRPr sz="1400"/>
            </a:lvl3pPr>
            <a:lvl4pPr marL="1371600" indent="0">
              <a:buNone/>
              <a:defRPr sz="1400"/>
            </a:lvl4pPr>
            <a:lvl5pPr marL="1828800" indent="0">
              <a:buNone/>
              <a:defRPr sz="1400"/>
            </a:lvl5pPr>
          </a:lstStyle>
          <a:p>
            <a:pPr lvl="0"/>
            <a:r>
              <a:rPr lang="en-US" dirty="0"/>
              <a:t>Click here to add text </a:t>
            </a:r>
          </a:p>
        </p:txBody>
      </p:sp>
      <p:sp>
        <p:nvSpPr>
          <p:cNvPr id="42" name="Text Placeholder 38">
            <a:extLst>
              <a:ext uri="{FF2B5EF4-FFF2-40B4-BE49-F238E27FC236}">
                <a16:creationId xmlns:a16="http://schemas.microsoft.com/office/drawing/2014/main" id="{F2B1CEAB-5243-EF63-89D5-ADA49AA64D68}"/>
              </a:ext>
            </a:extLst>
          </p:cNvPr>
          <p:cNvSpPr>
            <a:spLocks noGrp="1"/>
          </p:cNvSpPr>
          <p:nvPr>
            <p:ph type="body" sz="quarter" idx="19" hasCustomPrompt="1"/>
          </p:nvPr>
        </p:nvSpPr>
        <p:spPr>
          <a:xfrm>
            <a:off x="2590800" y="3876897"/>
            <a:ext cx="1828800" cy="1828800"/>
          </a:xfrm>
        </p:spPr>
        <p:txBody>
          <a:bodyPr>
            <a:noAutofit/>
          </a:bodyPr>
          <a:lstStyle>
            <a:lvl1pPr marL="0" indent="-91440" algn="ctr">
              <a:lnSpc>
                <a:spcPct val="85000"/>
              </a:lnSpc>
              <a:spcBef>
                <a:spcPts val="0"/>
              </a:spcBef>
              <a:spcAft>
                <a:spcPts val="600"/>
              </a:spcAft>
              <a:buFont typeface="Arial" panose="020B0604020202020204" pitchFamily="34" charset="0"/>
              <a:buChar char="•"/>
              <a:defRPr sz="1400">
                <a:solidFill>
                  <a:schemeClr val="accent5"/>
                </a:solidFill>
              </a:defRPr>
            </a:lvl1pPr>
            <a:lvl2pPr marL="457200" indent="0">
              <a:buNone/>
              <a:defRPr sz="1400"/>
            </a:lvl2pPr>
            <a:lvl3pPr marL="914400" indent="0">
              <a:buNone/>
              <a:defRPr sz="1400"/>
            </a:lvl3pPr>
            <a:lvl4pPr marL="1371600" indent="0">
              <a:buNone/>
              <a:defRPr sz="1400"/>
            </a:lvl4pPr>
            <a:lvl5pPr marL="1828800" indent="0">
              <a:buNone/>
              <a:defRPr sz="1400"/>
            </a:lvl5pPr>
          </a:lstStyle>
          <a:p>
            <a:pPr lvl="0"/>
            <a:r>
              <a:rPr lang="en-US" dirty="0"/>
              <a:t>Click here to add text </a:t>
            </a:r>
          </a:p>
        </p:txBody>
      </p:sp>
      <p:sp>
        <p:nvSpPr>
          <p:cNvPr id="43" name="Text Placeholder 38">
            <a:extLst>
              <a:ext uri="{FF2B5EF4-FFF2-40B4-BE49-F238E27FC236}">
                <a16:creationId xmlns:a16="http://schemas.microsoft.com/office/drawing/2014/main" id="{CDEDCD72-ECA0-F2D7-EC03-81843D0246E4}"/>
              </a:ext>
            </a:extLst>
          </p:cNvPr>
          <p:cNvSpPr>
            <a:spLocks noGrp="1"/>
          </p:cNvSpPr>
          <p:nvPr>
            <p:ph type="body" sz="quarter" idx="20" hasCustomPrompt="1"/>
          </p:nvPr>
        </p:nvSpPr>
        <p:spPr>
          <a:xfrm>
            <a:off x="4495800" y="4867497"/>
            <a:ext cx="1524000" cy="1676400"/>
          </a:xfrm>
        </p:spPr>
        <p:txBody>
          <a:bodyPr>
            <a:noAutofit/>
          </a:bodyPr>
          <a:lstStyle>
            <a:lvl1pPr marL="0" indent="-91440" algn="ctr">
              <a:lnSpc>
                <a:spcPct val="85000"/>
              </a:lnSpc>
              <a:spcBef>
                <a:spcPts val="0"/>
              </a:spcBef>
              <a:spcAft>
                <a:spcPts val="600"/>
              </a:spcAft>
              <a:buFont typeface="Arial" panose="020B0604020202020204" pitchFamily="34" charset="0"/>
              <a:buChar char="•"/>
              <a:defRPr sz="1400">
                <a:solidFill>
                  <a:schemeClr val="bg2">
                    <a:lumMod val="50000"/>
                  </a:schemeClr>
                </a:solidFill>
              </a:defRPr>
            </a:lvl1pPr>
            <a:lvl2pPr marL="457200" indent="0">
              <a:buNone/>
              <a:defRPr sz="1400"/>
            </a:lvl2pPr>
            <a:lvl3pPr marL="914400" indent="0">
              <a:buNone/>
              <a:defRPr sz="1400"/>
            </a:lvl3pPr>
            <a:lvl4pPr marL="1371600" indent="0">
              <a:buNone/>
              <a:defRPr sz="1400"/>
            </a:lvl4pPr>
            <a:lvl5pPr marL="1828800" indent="0">
              <a:buNone/>
              <a:defRPr sz="1400"/>
            </a:lvl5pPr>
          </a:lstStyle>
          <a:p>
            <a:pPr lvl="0"/>
            <a:r>
              <a:rPr lang="en-US" dirty="0"/>
              <a:t>Click here to add text </a:t>
            </a:r>
          </a:p>
        </p:txBody>
      </p:sp>
      <p:sp>
        <p:nvSpPr>
          <p:cNvPr id="44" name="Text Placeholder 38">
            <a:extLst>
              <a:ext uri="{FF2B5EF4-FFF2-40B4-BE49-F238E27FC236}">
                <a16:creationId xmlns:a16="http://schemas.microsoft.com/office/drawing/2014/main" id="{2E0ED554-E380-3678-D783-DD39A1074860}"/>
              </a:ext>
            </a:extLst>
          </p:cNvPr>
          <p:cNvSpPr>
            <a:spLocks noGrp="1"/>
          </p:cNvSpPr>
          <p:nvPr>
            <p:ph type="body" sz="quarter" idx="21" hasCustomPrompt="1"/>
          </p:nvPr>
        </p:nvSpPr>
        <p:spPr>
          <a:xfrm>
            <a:off x="6172200" y="3876897"/>
            <a:ext cx="1828800" cy="1828800"/>
          </a:xfrm>
        </p:spPr>
        <p:txBody>
          <a:bodyPr>
            <a:noAutofit/>
          </a:bodyPr>
          <a:lstStyle>
            <a:lvl1pPr marL="0" indent="-91440" algn="ctr">
              <a:lnSpc>
                <a:spcPct val="85000"/>
              </a:lnSpc>
              <a:spcBef>
                <a:spcPts val="0"/>
              </a:spcBef>
              <a:spcAft>
                <a:spcPts val="600"/>
              </a:spcAft>
              <a:buFont typeface="Arial" panose="020B0604020202020204" pitchFamily="34" charset="0"/>
              <a:buChar char="•"/>
              <a:defRPr sz="1400">
                <a:solidFill>
                  <a:schemeClr val="accent3">
                    <a:lumMod val="75000"/>
                  </a:schemeClr>
                </a:solidFill>
              </a:defRPr>
            </a:lvl1pPr>
            <a:lvl2pPr marL="457200" indent="0">
              <a:buNone/>
              <a:defRPr sz="1400"/>
            </a:lvl2pPr>
            <a:lvl3pPr marL="914400" indent="0">
              <a:buNone/>
              <a:defRPr sz="1400"/>
            </a:lvl3pPr>
            <a:lvl4pPr marL="1371600" indent="0">
              <a:buNone/>
              <a:defRPr sz="1400"/>
            </a:lvl4pPr>
            <a:lvl5pPr marL="1828800" indent="0">
              <a:buNone/>
              <a:defRPr sz="1400"/>
            </a:lvl5pPr>
          </a:lstStyle>
          <a:p>
            <a:pPr lvl="0"/>
            <a:r>
              <a:rPr lang="en-US" dirty="0"/>
              <a:t>Click here to add text </a:t>
            </a:r>
          </a:p>
        </p:txBody>
      </p:sp>
      <p:sp>
        <p:nvSpPr>
          <p:cNvPr id="45" name="Text Placeholder 38">
            <a:extLst>
              <a:ext uri="{FF2B5EF4-FFF2-40B4-BE49-F238E27FC236}">
                <a16:creationId xmlns:a16="http://schemas.microsoft.com/office/drawing/2014/main" id="{2DF7B12C-4A5F-2508-FCE7-35F125B54AD1}"/>
              </a:ext>
            </a:extLst>
          </p:cNvPr>
          <p:cNvSpPr>
            <a:spLocks noGrp="1"/>
          </p:cNvSpPr>
          <p:nvPr>
            <p:ph type="body" sz="quarter" idx="22" hasCustomPrompt="1"/>
          </p:nvPr>
        </p:nvSpPr>
        <p:spPr>
          <a:xfrm>
            <a:off x="9677400" y="3876897"/>
            <a:ext cx="1828800" cy="1828800"/>
          </a:xfrm>
        </p:spPr>
        <p:txBody>
          <a:bodyPr>
            <a:noAutofit/>
          </a:bodyPr>
          <a:lstStyle>
            <a:lvl1pPr marL="0" indent="-91440" algn="ctr">
              <a:lnSpc>
                <a:spcPct val="85000"/>
              </a:lnSpc>
              <a:spcBef>
                <a:spcPts val="0"/>
              </a:spcBef>
              <a:spcAft>
                <a:spcPts val="600"/>
              </a:spcAft>
              <a:buFont typeface="Arial" panose="020B0604020202020204" pitchFamily="34" charset="0"/>
              <a:buChar char="•"/>
              <a:defRPr sz="1400">
                <a:solidFill>
                  <a:schemeClr val="tx1"/>
                </a:solidFill>
              </a:defRPr>
            </a:lvl1pPr>
            <a:lvl2pPr marL="457200" indent="0">
              <a:buNone/>
              <a:defRPr sz="1400"/>
            </a:lvl2pPr>
            <a:lvl3pPr marL="914400" indent="0">
              <a:buNone/>
              <a:defRPr sz="1400"/>
            </a:lvl3pPr>
            <a:lvl4pPr marL="1371600" indent="0">
              <a:buNone/>
              <a:defRPr sz="1400"/>
            </a:lvl4pPr>
            <a:lvl5pPr marL="1828800" indent="0">
              <a:buNone/>
              <a:defRPr sz="1400"/>
            </a:lvl5pPr>
          </a:lstStyle>
          <a:p>
            <a:pPr lvl="0"/>
            <a:r>
              <a:rPr lang="en-US" dirty="0"/>
              <a:t>Click here to add text </a:t>
            </a:r>
          </a:p>
        </p:txBody>
      </p:sp>
      <p:sp>
        <p:nvSpPr>
          <p:cNvPr id="46" name="Text Placeholder 38">
            <a:extLst>
              <a:ext uri="{FF2B5EF4-FFF2-40B4-BE49-F238E27FC236}">
                <a16:creationId xmlns:a16="http://schemas.microsoft.com/office/drawing/2014/main" id="{93AFFB44-33B2-D0D0-24B9-36F37009010E}"/>
              </a:ext>
            </a:extLst>
          </p:cNvPr>
          <p:cNvSpPr>
            <a:spLocks noGrp="1"/>
          </p:cNvSpPr>
          <p:nvPr>
            <p:ph type="body" sz="quarter" idx="23" hasCustomPrompt="1"/>
          </p:nvPr>
        </p:nvSpPr>
        <p:spPr>
          <a:xfrm>
            <a:off x="8077200" y="4867497"/>
            <a:ext cx="1524000" cy="1676400"/>
          </a:xfrm>
        </p:spPr>
        <p:txBody>
          <a:bodyPr>
            <a:noAutofit/>
          </a:bodyPr>
          <a:lstStyle>
            <a:lvl1pPr marL="0" indent="-91440" algn="ctr">
              <a:lnSpc>
                <a:spcPct val="85000"/>
              </a:lnSpc>
              <a:spcBef>
                <a:spcPts val="0"/>
              </a:spcBef>
              <a:spcAft>
                <a:spcPts val="600"/>
              </a:spcAft>
              <a:buFont typeface="Arial" panose="020B0604020202020204" pitchFamily="34" charset="0"/>
              <a:buChar char="•"/>
              <a:defRPr sz="1400">
                <a:solidFill>
                  <a:schemeClr val="accent5"/>
                </a:solidFill>
              </a:defRPr>
            </a:lvl1pPr>
            <a:lvl2pPr marL="457200" indent="0">
              <a:buNone/>
              <a:defRPr sz="1400"/>
            </a:lvl2pPr>
            <a:lvl3pPr marL="914400" indent="0">
              <a:buNone/>
              <a:defRPr sz="1400"/>
            </a:lvl3pPr>
            <a:lvl4pPr marL="1371600" indent="0">
              <a:buNone/>
              <a:defRPr sz="1400"/>
            </a:lvl4pPr>
            <a:lvl5pPr marL="1828800" indent="0">
              <a:buNone/>
              <a:defRPr sz="1400"/>
            </a:lvl5pPr>
          </a:lstStyle>
          <a:p>
            <a:pPr lvl="0"/>
            <a:r>
              <a:rPr lang="en-US" dirty="0"/>
              <a:t>Click here to add text </a:t>
            </a:r>
          </a:p>
        </p:txBody>
      </p:sp>
      <p:sp>
        <p:nvSpPr>
          <p:cNvPr id="20" name="Footer Placeholder 5">
            <a:extLst>
              <a:ext uri="{FF2B5EF4-FFF2-40B4-BE49-F238E27FC236}">
                <a16:creationId xmlns:a16="http://schemas.microsoft.com/office/drawing/2014/main" id="{BE884C74-6A18-2B76-2CF5-D95B28456242}"/>
              </a:ext>
            </a:extLst>
          </p:cNvPr>
          <p:cNvSpPr>
            <a:spLocks noGrp="1"/>
          </p:cNvSpPr>
          <p:nvPr>
            <p:ph type="ftr" sz="quarter" idx="11"/>
          </p:nvPr>
        </p:nvSpPr>
        <p:spPr>
          <a:xfrm>
            <a:off x="343963" y="121602"/>
            <a:ext cx="4114800" cy="217173"/>
          </a:xfrm>
        </p:spPr>
        <p:txBody>
          <a:bodyPr/>
          <a:lstStyle/>
          <a:p>
            <a:r>
              <a:rPr lang="en-US" dirty="0"/>
              <a:t>Biological &amp; Physical Sciences</a:t>
            </a:r>
          </a:p>
        </p:txBody>
      </p:sp>
      <p:sp>
        <p:nvSpPr>
          <p:cNvPr id="26" name="Slide Number Placeholder 6">
            <a:extLst>
              <a:ext uri="{FF2B5EF4-FFF2-40B4-BE49-F238E27FC236}">
                <a16:creationId xmlns:a16="http://schemas.microsoft.com/office/drawing/2014/main" id="{229FCC9D-96AD-BA9E-BD6E-2A25D0A52792}"/>
              </a:ext>
            </a:extLst>
          </p:cNvPr>
          <p:cNvSpPr>
            <a:spLocks noGrp="1"/>
          </p:cNvSpPr>
          <p:nvPr>
            <p:ph type="sldNum" sz="quarter" idx="24"/>
          </p:nvPr>
        </p:nvSpPr>
        <p:spPr>
          <a:xfrm>
            <a:off x="11662148" y="99559"/>
            <a:ext cx="1059704" cy="261258"/>
          </a:xfrm>
        </p:spPr>
        <p:txBody>
          <a:bodyPr/>
          <a:lstStyle/>
          <a:p>
            <a:fld id="{E8618032-BA8D-3D4D-8253-A70208A85976}" type="slidenum">
              <a:rPr lang="en-US" smtClean="0"/>
              <a:t>‹#›</a:t>
            </a:fld>
            <a:endParaRPr lang="en-US"/>
          </a:p>
        </p:txBody>
      </p:sp>
    </p:spTree>
    <p:extLst>
      <p:ext uri="{BB962C8B-B14F-4D97-AF65-F5344CB8AC3E}">
        <p14:creationId xmlns:p14="http://schemas.microsoft.com/office/powerpoint/2010/main" val="827019181"/>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3 colored callouts">
    <p:bg>
      <p:bgRef idx="1001">
        <a:schemeClr val="bg1"/>
      </p:bgRef>
    </p:bg>
    <p:spTree>
      <p:nvGrpSpPr>
        <p:cNvPr id="1" name=""/>
        <p:cNvGrpSpPr/>
        <p:nvPr/>
      </p:nvGrpSpPr>
      <p:grpSpPr>
        <a:xfrm>
          <a:off x="0" y="0"/>
          <a:ext cx="0" cy="0"/>
          <a:chOff x="0" y="0"/>
          <a:chExt cx="0" cy="0"/>
        </a:xfrm>
      </p:grpSpPr>
      <p:sp>
        <p:nvSpPr>
          <p:cNvPr id="40" name="Rounded Rectangle 39">
            <a:extLst>
              <a:ext uri="{FF2B5EF4-FFF2-40B4-BE49-F238E27FC236}">
                <a16:creationId xmlns:a16="http://schemas.microsoft.com/office/drawing/2014/main" id="{4CD86E3A-6D68-1F05-DE18-246FA7A4406A}"/>
              </a:ext>
              <a:ext uri="{C183D7F6-B498-43B3-948B-1728B52AA6E4}">
                <adec:decorative xmlns:adec="http://schemas.microsoft.com/office/drawing/2017/decorative" val="1"/>
              </a:ext>
            </a:extLst>
          </p:cNvPr>
          <p:cNvSpPr/>
          <p:nvPr userDrawn="1"/>
        </p:nvSpPr>
        <p:spPr>
          <a:xfrm>
            <a:off x="876300" y="2990688"/>
            <a:ext cx="2992166" cy="3352800"/>
          </a:xfrm>
          <a:prstGeom prst="roundRect">
            <a:avLst>
              <a:gd name="adj" fmla="val 7754"/>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lumMod val="95000"/>
                </a:schemeClr>
              </a:solidFill>
            </a:endParaRPr>
          </a:p>
        </p:txBody>
      </p:sp>
      <p:sp>
        <p:nvSpPr>
          <p:cNvPr id="20" name="Text Placeholder 11">
            <a:extLst>
              <a:ext uri="{FF2B5EF4-FFF2-40B4-BE49-F238E27FC236}">
                <a16:creationId xmlns:a16="http://schemas.microsoft.com/office/drawing/2014/main" id="{6C169315-0602-4C85-86EE-5C3554AAA92A}"/>
              </a:ext>
            </a:extLst>
          </p:cNvPr>
          <p:cNvSpPr>
            <a:spLocks noGrp="1"/>
          </p:cNvSpPr>
          <p:nvPr>
            <p:ph type="body" sz="quarter" idx="20" hasCustomPrompt="1"/>
          </p:nvPr>
        </p:nvSpPr>
        <p:spPr>
          <a:xfrm>
            <a:off x="1052277" y="3295488"/>
            <a:ext cx="2590800" cy="2819400"/>
          </a:xfrm>
        </p:spPr>
        <p:txBody>
          <a:bodyPr lIns="91440" tIns="0" anchor="ctr">
            <a:noAutofit/>
          </a:bodyPr>
          <a:lstStyle>
            <a:lvl1pPr marL="0" indent="0" algn="ctr">
              <a:buNone/>
              <a:defRPr sz="1800" cap="none" baseline="0">
                <a:solidFill>
                  <a:schemeClr val="bg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sp>
        <p:nvSpPr>
          <p:cNvPr id="36" name="Text Placeholder 2">
            <a:extLst>
              <a:ext uri="{FF2B5EF4-FFF2-40B4-BE49-F238E27FC236}">
                <a16:creationId xmlns:a16="http://schemas.microsoft.com/office/drawing/2014/main" id="{9ADD9A5C-AE9A-C65B-4505-483DE9A243E7}"/>
              </a:ext>
            </a:extLst>
          </p:cNvPr>
          <p:cNvSpPr>
            <a:spLocks noGrp="1"/>
          </p:cNvSpPr>
          <p:nvPr>
            <p:ph type="body" idx="1"/>
          </p:nvPr>
        </p:nvSpPr>
        <p:spPr>
          <a:xfrm>
            <a:off x="914400" y="2203704"/>
            <a:ext cx="10543151" cy="550647"/>
          </a:xfrm>
        </p:spPr>
        <p:txBody>
          <a:bodyPr anchor="t"/>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37" name="Title 1">
            <a:extLst>
              <a:ext uri="{FF2B5EF4-FFF2-40B4-BE49-F238E27FC236}">
                <a16:creationId xmlns:a16="http://schemas.microsoft.com/office/drawing/2014/main" id="{B7E68036-CDBD-FEF5-260D-DF24C6FF3906}"/>
              </a:ext>
            </a:extLst>
          </p:cNvPr>
          <p:cNvSpPr>
            <a:spLocks noGrp="1"/>
          </p:cNvSpPr>
          <p:nvPr>
            <p:ph type="title"/>
          </p:nvPr>
        </p:nvSpPr>
        <p:spPr>
          <a:xfrm>
            <a:off x="914400" y="758952"/>
            <a:ext cx="10515600" cy="1325563"/>
          </a:xfrm>
        </p:spPr>
        <p:txBody>
          <a:bodyPr/>
          <a:lstStyle/>
          <a:p>
            <a:r>
              <a:rPr lang="en-US"/>
              <a:t>Click to edit Master title style</a:t>
            </a:r>
          </a:p>
        </p:txBody>
      </p:sp>
      <p:sp>
        <p:nvSpPr>
          <p:cNvPr id="11" name="Rounded Rectangle 10">
            <a:extLst>
              <a:ext uri="{FF2B5EF4-FFF2-40B4-BE49-F238E27FC236}">
                <a16:creationId xmlns:a16="http://schemas.microsoft.com/office/drawing/2014/main" id="{0EAAA4E6-9CD8-0530-BD07-8498A1C997DF}"/>
              </a:ext>
              <a:ext uri="{C183D7F6-B498-43B3-948B-1728B52AA6E4}">
                <adec:decorative xmlns:adec="http://schemas.microsoft.com/office/drawing/2017/decorative" val="1"/>
              </a:ext>
            </a:extLst>
          </p:cNvPr>
          <p:cNvSpPr/>
          <p:nvPr userDrawn="1"/>
        </p:nvSpPr>
        <p:spPr>
          <a:xfrm>
            <a:off x="4743450" y="2990688"/>
            <a:ext cx="2992166" cy="3352800"/>
          </a:xfrm>
          <a:prstGeom prst="roundRect">
            <a:avLst>
              <a:gd name="adj" fmla="val 7754"/>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5"/>
              </a:solidFill>
            </a:endParaRPr>
          </a:p>
        </p:txBody>
      </p:sp>
      <p:sp>
        <p:nvSpPr>
          <p:cNvPr id="12" name="Text Placeholder 11">
            <a:extLst>
              <a:ext uri="{FF2B5EF4-FFF2-40B4-BE49-F238E27FC236}">
                <a16:creationId xmlns:a16="http://schemas.microsoft.com/office/drawing/2014/main" id="{37A0B597-CF95-913E-7A66-71D440047E4D}"/>
              </a:ext>
            </a:extLst>
          </p:cNvPr>
          <p:cNvSpPr>
            <a:spLocks noGrp="1"/>
          </p:cNvSpPr>
          <p:nvPr>
            <p:ph type="body" sz="quarter" idx="39" hasCustomPrompt="1"/>
          </p:nvPr>
        </p:nvSpPr>
        <p:spPr>
          <a:xfrm>
            <a:off x="4938477" y="3295488"/>
            <a:ext cx="2590800" cy="2819400"/>
          </a:xfrm>
        </p:spPr>
        <p:txBody>
          <a:bodyPr lIns="91440" tIns="0" anchor="ctr">
            <a:noAutofit/>
          </a:bodyPr>
          <a:lstStyle>
            <a:lvl1pPr marL="0" indent="0" algn="ctr">
              <a:buNone/>
              <a:defRPr sz="1800" cap="none" baseline="0">
                <a:solidFill>
                  <a:schemeClr val="bg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sp>
        <p:nvSpPr>
          <p:cNvPr id="14" name="Rounded Rectangle 13">
            <a:extLst>
              <a:ext uri="{FF2B5EF4-FFF2-40B4-BE49-F238E27FC236}">
                <a16:creationId xmlns:a16="http://schemas.microsoft.com/office/drawing/2014/main" id="{E32725BC-06A4-BA3F-329D-CCFE76B565FA}"/>
              </a:ext>
              <a:ext uri="{C183D7F6-B498-43B3-948B-1728B52AA6E4}">
                <adec:decorative xmlns:adec="http://schemas.microsoft.com/office/drawing/2017/decorative" val="1"/>
              </a:ext>
            </a:extLst>
          </p:cNvPr>
          <p:cNvSpPr/>
          <p:nvPr userDrawn="1"/>
        </p:nvSpPr>
        <p:spPr>
          <a:xfrm>
            <a:off x="8610600" y="2990688"/>
            <a:ext cx="2992166" cy="3352800"/>
          </a:xfrm>
          <a:prstGeom prst="roundRect">
            <a:avLst>
              <a:gd name="adj" fmla="val 7754"/>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lumMod val="95000"/>
                </a:schemeClr>
              </a:solidFill>
            </a:endParaRPr>
          </a:p>
        </p:txBody>
      </p:sp>
      <p:sp>
        <p:nvSpPr>
          <p:cNvPr id="19" name="Text Placeholder 11">
            <a:extLst>
              <a:ext uri="{FF2B5EF4-FFF2-40B4-BE49-F238E27FC236}">
                <a16:creationId xmlns:a16="http://schemas.microsoft.com/office/drawing/2014/main" id="{455977AF-C60A-DDAC-F6C7-12C2309ECC7A}"/>
              </a:ext>
            </a:extLst>
          </p:cNvPr>
          <p:cNvSpPr>
            <a:spLocks noGrp="1"/>
          </p:cNvSpPr>
          <p:nvPr>
            <p:ph type="body" sz="quarter" idx="40" hasCustomPrompt="1"/>
          </p:nvPr>
        </p:nvSpPr>
        <p:spPr>
          <a:xfrm>
            <a:off x="8786577" y="3295488"/>
            <a:ext cx="2590800" cy="2819400"/>
          </a:xfrm>
        </p:spPr>
        <p:txBody>
          <a:bodyPr lIns="91440" tIns="0" anchor="ctr">
            <a:noAutofit/>
          </a:bodyPr>
          <a:lstStyle>
            <a:lvl1pPr marL="0" indent="0" algn="ctr">
              <a:buNone/>
              <a:defRPr sz="1800" cap="none" baseline="0">
                <a:solidFill>
                  <a:schemeClr val="bg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sp>
        <p:nvSpPr>
          <p:cNvPr id="6" name="Footer Placeholder 5">
            <a:extLst>
              <a:ext uri="{FF2B5EF4-FFF2-40B4-BE49-F238E27FC236}">
                <a16:creationId xmlns:a16="http://schemas.microsoft.com/office/drawing/2014/main" id="{1AC09864-2A01-120D-B0A0-3D47650A2281}"/>
              </a:ext>
            </a:extLst>
          </p:cNvPr>
          <p:cNvSpPr txBox="1">
            <a:spLocks/>
          </p:cNvSpPr>
          <p:nvPr userDrawn="1"/>
        </p:nvSpPr>
        <p:spPr>
          <a:xfrm>
            <a:off x="343963" y="121602"/>
            <a:ext cx="4114800" cy="217173"/>
          </a:xfrm>
          <a:prstGeom prst="rect">
            <a:avLst/>
          </a:prstGeom>
        </p:spPr>
        <p:txBody>
          <a:bodyPr vert="horz" lIns="91440" tIns="45720" rIns="91440" bIns="45720" rtlCol="0" anchor="ctr"/>
          <a:lstStyle>
            <a:defPPr>
              <a:defRPr lang="en-US"/>
            </a:defPPr>
            <a:lvl1pPr marL="0" algn="l" defTabSz="914400" rtl="0" eaLnBrk="1" latinLnBrk="0" hangingPunct="1">
              <a:defRPr sz="900" kern="1200">
                <a:solidFill>
                  <a:schemeClr val="bg1">
                    <a:alpha val="75167"/>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t>Biological &amp; Physical Sciences</a:t>
            </a:r>
          </a:p>
        </p:txBody>
      </p:sp>
      <p:sp>
        <p:nvSpPr>
          <p:cNvPr id="7" name="Slide Number Placeholder 6">
            <a:extLst>
              <a:ext uri="{FF2B5EF4-FFF2-40B4-BE49-F238E27FC236}">
                <a16:creationId xmlns:a16="http://schemas.microsoft.com/office/drawing/2014/main" id="{63F24C74-96B8-1AEE-DED0-3FD6D128AAF5}"/>
              </a:ext>
            </a:extLst>
          </p:cNvPr>
          <p:cNvSpPr txBox="1">
            <a:spLocks/>
          </p:cNvSpPr>
          <p:nvPr userDrawn="1"/>
        </p:nvSpPr>
        <p:spPr>
          <a:xfrm>
            <a:off x="11662148" y="99559"/>
            <a:ext cx="1059704" cy="261258"/>
          </a:xfrm>
          <a:prstGeom prst="roundRect">
            <a:avLst>
              <a:gd name="adj" fmla="val 50000"/>
            </a:avLst>
          </a:prstGeom>
          <a:solidFill>
            <a:srgbClr val="002060"/>
          </a:solidFill>
        </p:spPr>
        <p:txBody>
          <a:bodyPr vert="horz" lIns="91440" tIns="45720" rIns="91440" bIns="45720" rtlCol="0" anchor="ctr"/>
          <a:lstStyle>
            <a:defPPr>
              <a:defRPr lang="en-US"/>
            </a:defPPr>
            <a:lvl1pPr marL="0" algn="l" defTabSz="914400" rtl="0" eaLnBrk="1" latinLnBrk="0" hangingPunct="1">
              <a:defRPr sz="1100" b="1"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E8618032-BA8D-3D4D-8253-A70208A85976}" type="slidenum">
              <a:rPr lang="en-US" smtClean="0"/>
              <a:pPr/>
              <a:t>‹#›</a:t>
            </a:fld>
            <a:endParaRPr lang="en-US"/>
          </a:p>
        </p:txBody>
      </p:sp>
    </p:spTree>
    <p:extLst>
      <p:ext uri="{BB962C8B-B14F-4D97-AF65-F5344CB8AC3E}">
        <p14:creationId xmlns:p14="http://schemas.microsoft.com/office/powerpoint/2010/main" val="3668835841"/>
      </p:ext>
    </p:extLst>
  </p:cSld>
  <p:clrMapOvr>
    <a:overrideClrMapping bg1="lt1" tx1="dk1" bg2="lt2" tx2="dk2" accent1="accent1" accent2="accent2" accent3="accent3" accent4="accent4" accent5="accent5" accent6="accent6" hlink="hlink" folHlink="folHlink"/>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2_3 colored callouts">
    <p:bg>
      <p:bgRef idx="1001">
        <a:schemeClr val="bg1"/>
      </p:bgRef>
    </p:bg>
    <p:spTree>
      <p:nvGrpSpPr>
        <p:cNvPr id="1" name=""/>
        <p:cNvGrpSpPr/>
        <p:nvPr/>
      </p:nvGrpSpPr>
      <p:grpSpPr>
        <a:xfrm>
          <a:off x="0" y="0"/>
          <a:ext cx="0" cy="0"/>
          <a:chOff x="0" y="0"/>
          <a:chExt cx="0" cy="0"/>
        </a:xfrm>
      </p:grpSpPr>
      <p:sp>
        <p:nvSpPr>
          <p:cNvPr id="40" name="Rounded Rectangle 39">
            <a:extLst>
              <a:ext uri="{FF2B5EF4-FFF2-40B4-BE49-F238E27FC236}">
                <a16:creationId xmlns:a16="http://schemas.microsoft.com/office/drawing/2014/main" id="{4CD86E3A-6D68-1F05-DE18-246FA7A4406A}"/>
              </a:ext>
              <a:ext uri="{C183D7F6-B498-43B3-948B-1728B52AA6E4}">
                <adec:decorative xmlns:adec="http://schemas.microsoft.com/office/drawing/2017/decorative" val="1"/>
              </a:ext>
            </a:extLst>
          </p:cNvPr>
          <p:cNvSpPr/>
          <p:nvPr userDrawn="1"/>
        </p:nvSpPr>
        <p:spPr>
          <a:xfrm>
            <a:off x="937827" y="2990688"/>
            <a:ext cx="2040528" cy="3201390"/>
          </a:xfrm>
          <a:prstGeom prst="roundRect">
            <a:avLst>
              <a:gd name="adj" fmla="val 7754"/>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lumMod val="95000"/>
                </a:schemeClr>
              </a:solidFill>
            </a:endParaRPr>
          </a:p>
        </p:txBody>
      </p:sp>
      <p:sp>
        <p:nvSpPr>
          <p:cNvPr id="20" name="Text Placeholder 11">
            <a:extLst>
              <a:ext uri="{FF2B5EF4-FFF2-40B4-BE49-F238E27FC236}">
                <a16:creationId xmlns:a16="http://schemas.microsoft.com/office/drawing/2014/main" id="{6C169315-0602-4C85-86EE-5C3554AAA92A}"/>
              </a:ext>
            </a:extLst>
          </p:cNvPr>
          <p:cNvSpPr>
            <a:spLocks noGrp="1"/>
          </p:cNvSpPr>
          <p:nvPr>
            <p:ph type="body" sz="quarter" idx="20" hasCustomPrompt="1"/>
          </p:nvPr>
        </p:nvSpPr>
        <p:spPr>
          <a:xfrm>
            <a:off x="1076578" y="3295488"/>
            <a:ext cx="1766814" cy="2692078"/>
          </a:xfrm>
        </p:spPr>
        <p:txBody>
          <a:bodyPr lIns="91440" tIns="0" anchor="ctr">
            <a:noAutofit/>
          </a:bodyPr>
          <a:lstStyle>
            <a:lvl1pPr marL="0" indent="0" algn="ctr">
              <a:buNone/>
              <a:defRPr sz="1800" cap="none" baseline="0">
                <a:solidFill>
                  <a:schemeClr val="bg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sp>
        <p:nvSpPr>
          <p:cNvPr id="36" name="Text Placeholder 2">
            <a:extLst>
              <a:ext uri="{FF2B5EF4-FFF2-40B4-BE49-F238E27FC236}">
                <a16:creationId xmlns:a16="http://schemas.microsoft.com/office/drawing/2014/main" id="{9ADD9A5C-AE9A-C65B-4505-483DE9A243E7}"/>
              </a:ext>
            </a:extLst>
          </p:cNvPr>
          <p:cNvSpPr>
            <a:spLocks noGrp="1"/>
          </p:cNvSpPr>
          <p:nvPr>
            <p:ph type="body" idx="1"/>
          </p:nvPr>
        </p:nvSpPr>
        <p:spPr>
          <a:xfrm>
            <a:off x="914400" y="2203704"/>
            <a:ext cx="10543151" cy="550647"/>
          </a:xfrm>
        </p:spPr>
        <p:txBody>
          <a:bodyPr anchor="t"/>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37" name="Title 1">
            <a:extLst>
              <a:ext uri="{FF2B5EF4-FFF2-40B4-BE49-F238E27FC236}">
                <a16:creationId xmlns:a16="http://schemas.microsoft.com/office/drawing/2014/main" id="{B7E68036-CDBD-FEF5-260D-DF24C6FF3906}"/>
              </a:ext>
            </a:extLst>
          </p:cNvPr>
          <p:cNvSpPr>
            <a:spLocks noGrp="1"/>
          </p:cNvSpPr>
          <p:nvPr>
            <p:ph type="title"/>
          </p:nvPr>
        </p:nvSpPr>
        <p:spPr>
          <a:xfrm>
            <a:off x="914400" y="758952"/>
            <a:ext cx="10515600" cy="1325563"/>
          </a:xfrm>
        </p:spPr>
        <p:txBody>
          <a:bodyPr/>
          <a:lstStyle/>
          <a:p>
            <a:r>
              <a:rPr lang="en-US"/>
              <a:t>Click to edit Master title style</a:t>
            </a:r>
          </a:p>
        </p:txBody>
      </p:sp>
      <p:sp>
        <p:nvSpPr>
          <p:cNvPr id="11" name="Rounded Rectangle 10">
            <a:extLst>
              <a:ext uri="{FF2B5EF4-FFF2-40B4-BE49-F238E27FC236}">
                <a16:creationId xmlns:a16="http://schemas.microsoft.com/office/drawing/2014/main" id="{0EAAA4E6-9CD8-0530-BD07-8498A1C997DF}"/>
              </a:ext>
              <a:ext uri="{C183D7F6-B498-43B3-948B-1728B52AA6E4}">
                <adec:decorative xmlns:adec="http://schemas.microsoft.com/office/drawing/2017/decorative" val="1"/>
              </a:ext>
            </a:extLst>
          </p:cNvPr>
          <p:cNvSpPr/>
          <p:nvPr userDrawn="1"/>
        </p:nvSpPr>
        <p:spPr>
          <a:xfrm>
            <a:off x="3056593" y="2990688"/>
            <a:ext cx="2040528" cy="3201390"/>
          </a:xfrm>
          <a:prstGeom prst="roundRect">
            <a:avLst>
              <a:gd name="adj" fmla="val 7754"/>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5"/>
              </a:solidFill>
            </a:endParaRPr>
          </a:p>
        </p:txBody>
      </p:sp>
      <p:sp>
        <p:nvSpPr>
          <p:cNvPr id="12" name="Text Placeholder 11">
            <a:extLst>
              <a:ext uri="{FF2B5EF4-FFF2-40B4-BE49-F238E27FC236}">
                <a16:creationId xmlns:a16="http://schemas.microsoft.com/office/drawing/2014/main" id="{37A0B597-CF95-913E-7A66-71D440047E4D}"/>
              </a:ext>
            </a:extLst>
          </p:cNvPr>
          <p:cNvSpPr>
            <a:spLocks noGrp="1"/>
          </p:cNvSpPr>
          <p:nvPr>
            <p:ph type="body" sz="quarter" idx="39" hasCustomPrompt="1"/>
          </p:nvPr>
        </p:nvSpPr>
        <p:spPr>
          <a:xfrm>
            <a:off x="3191556" y="3295488"/>
            <a:ext cx="1766814" cy="2692078"/>
          </a:xfrm>
        </p:spPr>
        <p:txBody>
          <a:bodyPr lIns="91440" tIns="0" anchor="ctr">
            <a:noAutofit/>
          </a:bodyPr>
          <a:lstStyle>
            <a:lvl1pPr marL="0" indent="0" algn="ctr">
              <a:buNone/>
              <a:defRPr sz="1800" cap="none" baseline="0">
                <a:solidFill>
                  <a:schemeClr val="bg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sp>
        <p:nvSpPr>
          <p:cNvPr id="14" name="Rounded Rectangle 13">
            <a:extLst>
              <a:ext uri="{FF2B5EF4-FFF2-40B4-BE49-F238E27FC236}">
                <a16:creationId xmlns:a16="http://schemas.microsoft.com/office/drawing/2014/main" id="{E32725BC-06A4-BA3F-329D-CCFE76B565FA}"/>
              </a:ext>
              <a:ext uri="{C183D7F6-B498-43B3-948B-1728B52AA6E4}">
                <adec:decorative xmlns:adec="http://schemas.microsoft.com/office/drawing/2017/decorative" val="1"/>
              </a:ext>
            </a:extLst>
          </p:cNvPr>
          <p:cNvSpPr/>
          <p:nvPr userDrawn="1"/>
        </p:nvSpPr>
        <p:spPr>
          <a:xfrm>
            <a:off x="5173465" y="2990688"/>
            <a:ext cx="2040528" cy="3201390"/>
          </a:xfrm>
          <a:prstGeom prst="roundRect">
            <a:avLst>
              <a:gd name="adj" fmla="val 7754"/>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lumMod val="95000"/>
                </a:schemeClr>
              </a:solidFill>
            </a:endParaRPr>
          </a:p>
        </p:txBody>
      </p:sp>
      <p:sp>
        <p:nvSpPr>
          <p:cNvPr id="19" name="Text Placeholder 11">
            <a:extLst>
              <a:ext uri="{FF2B5EF4-FFF2-40B4-BE49-F238E27FC236}">
                <a16:creationId xmlns:a16="http://schemas.microsoft.com/office/drawing/2014/main" id="{455977AF-C60A-DDAC-F6C7-12C2309ECC7A}"/>
              </a:ext>
            </a:extLst>
          </p:cNvPr>
          <p:cNvSpPr>
            <a:spLocks noGrp="1"/>
          </p:cNvSpPr>
          <p:nvPr>
            <p:ph type="body" sz="quarter" idx="40" hasCustomPrompt="1"/>
          </p:nvPr>
        </p:nvSpPr>
        <p:spPr>
          <a:xfrm>
            <a:off x="5310322" y="3295488"/>
            <a:ext cx="1766814" cy="2692078"/>
          </a:xfrm>
        </p:spPr>
        <p:txBody>
          <a:bodyPr lIns="91440" tIns="0" anchor="ctr">
            <a:noAutofit/>
          </a:bodyPr>
          <a:lstStyle>
            <a:lvl1pPr marL="0" indent="0" algn="ctr">
              <a:buNone/>
              <a:defRPr sz="1800" cap="none" baseline="0">
                <a:solidFill>
                  <a:schemeClr val="bg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sp>
        <p:nvSpPr>
          <p:cNvPr id="6" name="Footer Placeholder 5">
            <a:extLst>
              <a:ext uri="{FF2B5EF4-FFF2-40B4-BE49-F238E27FC236}">
                <a16:creationId xmlns:a16="http://schemas.microsoft.com/office/drawing/2014/main" id="{1AC09864-2A01-120D-B0A0-3D47650A2281}"/>
              </a:ext>
            </a:extLst>
          </p:cNvPr>
          <p:cNvSpPr txBox="1">
            <a:spLocks/>
          </p:cNvSpPr>
          <p:nvPr userDrawn="1"/>
        </p:nvSpPr>
        <p:spPr>
          <a:xfrm>
            <a:off x="343963" y="121602"/>
            <a:ext cx="4114800" cy="217173"/>
          </a:xfrm>
          <a:prstGeom prst="rect">
            <a:avLst/>
          </a:prstGeom>
        </p:spPr>
        <p:txBody>
          <a:bodyPr vert="horz" lIns="91440" tIns="45720" rIns="91440" bIns="45720" rtlCol="0" anchor="ctr"/>
          <a:lstStyle>
            <a:defPPr>
              <a:defRPr lang="en-US"/>
            </a:defPPr>
            <a:lvl1pPr marL="0" algn="l" defTabSz="914400" rtl="0" eaLnBrk="1" latinLnBrk="0" hangingPunct="1">
              <a:defRPr sz="900" kern="1200">
                <a:solidFill>
                  <a:schemeClr val="bg1">
                    <a:alpha val="75167"/>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t>Biological &amp; Physical Sciences </a:t>
            </a:r>
          </a:p>
        </p:txBody>
      </p:sp>
      <p:sp>
        <p:nvSpPr>
          <p:cNvPr id="7" name="Slide Number Placeholder 6">
            <a:extLst>
              <a:ext uri="{FF2B5EF4-FFF2-40B4-BE49-F238E27FC236}">
                <a16:creationId xmlns:a16="http://schemas.microsoft.com/office/drawing/2014/main" id="{63F24C74-96B8-1AEE-DED0-3FD6D128AAF5}"/>
              </a:ext>
            </a:extLst>
          </p:cNvPr>
          <p:cNvSpPr txBox="1">
            <a:spLocks/>
          </p:cNvSpPr>
          <p:nvPr userDrawn="1"/>
        </p:nvSpPr>
        <p:spPr>
          <a:xfrm>
            <a:off x="11662148" y="99559"/>
            <a:ext cx="1059704" cy="261258"/>
          </a:xfrm>
          <a:prstGeom prst="roundRect">
            <a:avLst>
              <a:gd name="adj" fmla="val 50000"/>
            </a:avLst>
          </a:prstGeom>
          <a:solidFill>
            <a:srgbClr val="002060"/>
          </a:solidFill>
        </p:spPr>
        <p:txBody>
          <a:bodyPr vert="horz" lIns="91440" tIns="45720" rIns="91440" bIns="45720" rtlCol="0" anchor="ctr"/>
          <a:lstStyle>
            <a:defPPr>
              <a:defRPr lang="en-US"/>
            </a:defPPr>
            <a:lvl1pPr marL="0" algn="l" defTabSz="914400" rtl="0" eaLnBrk="1" latinLnBrk="0" hangingPunct="1">
              <a:defRPr sz="1100" b="1"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E8618032-BA8D-3D4D-8253-A70208A85976}" type="slidenum">
              <a:rPr lang="en-US" smtClean="0"/>
              <a:pPr/>
              <a:t>‹#›</a:t>
            </a:fld>
            <a:endParaRPr lang="en-US"/>
          </a:p>
        </p:txBody>
      </p:sp>
      <p:sp>
        <p:nvSpPr>
          <p:cNvPr id="3" name="Rounded Rectangle 2">
            <a:extLst>
              <a:ext uri="{FF2B5EF4-FFF2-40B4-BE49-F238E27FC236}">
                <a16:creationId xmlns:a16="http://schemas.microsoft.com/office/drawing/2014/main" id="{0432080B-6328-C238-809D-F9FE08C793E4}"/>
              </a:ext>
              <a:ext uri="{C183D7F6-B498-43B3-948B-1728B52AA6E4}">
                <adec:decorative xmlns:adec="http://schemas.microsoft.com/office/drawing/2017/decorative" val="1"/>
              </a:ext>
            </a:extLst>
          </p:cNvPr>
          <p:cNvSpPr/>
          <p:nvPr userDrawn="1"/>
        </p:nvSpPr>
        <p:spPr>
          <a:xfrm>
            <a:off x="7290337" y="3026141"/>
            <a:ext cx="2040528" cy="3201390"/>
          </a:xfrm>
          <a:prstGeom prst="roundRect">
            <a:avLst>
              <a:gd name="adj" fmla="val 7754"/>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5"/>
              </a:solidFill>
            </a:endParaRPr>
          </a:p>
        </p:txBody>
      </p:sp>
      <p:sp>
        <p:nvSpPr>
          <p:cNvPr id="4" name="Text Placeholder 11">
            <a:extLst>
              <a:ext uri="{FF2B5EF4-FFF2-40B4-BE49-F238E27FC236}">
                <a16:creationId xmlns:a16="http://schemas.microsoft.com/office/drawing/2014/main" id="{A3BA1372-7071-371E-C28F-CBE6820DA6FE}"/>
              </a:ext>
            </a:extLst>
          </p:cNvPr>
          <p:cNvSpPr>
            <a:spLocks noGrp="1"/>
          </p:cNvSpPr>
          <p:nvPr>
            <p:ph type="body" sz="quarter" idx="41" hasCustomPrompt="1"/>
          </p:nvPr>
        </p:nvSpPr>
        <p:spPr>
          <a:xfrm>
            <a:off x="7427194" y="3330941"/>
            <a:ext cx="1766814" cy="2692078"/>
          </a:xfrm>
        </p:spPr>
        <p:txBody>
          <a:bodyPr lIns="91440" tIns="0" anchor="ctr">
            <a:noAutofit/>
          </a:bodyPr>
          <a:lstStyle>
            <a:lvl1pPr marL="0" indent="0" algn="ctr">
              <a:buNone/>
              <a:defRPr sz="1800" cap="none" baseline="0">
                <a:solidFill>
                  <a:schemeClr val="bg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sp>
        <p:nvSpPr>
          <p:cNvPr id="8" name="Rounded Rectangle 7">
            <a:extLst>
              <a:ext uri="{FF2B5EF4-FFF2-40B4-BE49-F238E27FC236}">
                <a16:creationId xmlns:a16="http://schemas.microsoft.com/office/drawing/2014/main" id="{8711E0B1-10A5-78B2-3136-3CD932F231FC}"/>
              </a:ext>
              <a:ext uri="{C183D7F6-B498-43B3-948B-1728B52AA6E4}">
                <adec:decorative xmlns:adec="http://schemas.microsoft.com/office/drawing/2017/decorative" val="1"/>
              </a:ext>
            </a:extLst>
          </p:cNvPr>
          <p:cNvSpPr/>
          <p:nvPr userDrawn="1"/>
        </p:nvSpPr>
        <p:spPr>
          <a:xfrm>
            <a:off x="9407209" y="2990688"/>
            <a:ext cx="2040528" cy="3201390"/>
          </a:xfrm>
          <a:prstGeom prst="roundRect">
            <a:avLst>
              <a:gd name="adj" fmla="val 7754"/>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lumMod val="95000"/>
                </a:schemeClr>
              </a:solidFill>
            </a:endParaRPr>
          </a:p>
        </p:txBody>
      </p:sp>
      <p:sp>
        <p:nvSpPr>
          <p:cNvPr id="9" name="Text Placeholder 11">
            <a:extLst>
              <a:ext uri="{FF2B5EF4-FFF2-40B4-BE49-F238E27FC236}">
                <a16:creationId xmlns:a16="http://schemas.microsoft.com/office/drawing/2014/main" id="{9ACE081D-D73A-A411-BCD4-2DCBE78B8CE8}"/>
              </a:ext>
            </a:extLst>
          </p:cNvPr>
          <p:cNvSpPr>
            <a:spLocks noGrp="1"/>
          </p:cNvSpPr>
          <p:nvPr>
            <p:ph type="body" sz="quarter" idx="42" hasCustomPrompt="1"/>
          </p:nvPr>
        </p:nvSpPr>
        <p:spPr>
          <a:xfrm>
            <a:off x="9544066" y="3295488"/>
            <a:ext cx="1766814" cy="2692078"/>
          </a:xfrm>
        </p:spPr>
        <p:txBody>
          <a:bodyPr lIns="91440" tIns="0" anchor="ctr">
            <a:noAutofit/>
          </a:bodyPr>
          <a:lstStyle>
            <a:lvl1pPr marL="0" indent="0" algn="ctr">
              <a:buNone/>
              <a:defRPr sz="1800" cap="none" baseline="0">
                <a:solidFill>
                  <a:schemeClr val="bg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spTree>
    <p:extLst>
      <p:ext uri="{BB962C8B-B14F-4D97-AF65-F5344CB8AC3E}">
        <p14:creationId xmlns:p14="http://schemas.microsoft.com/office/powerpoint/2010/main" val="1284666090"/>
      </p:ext>
    </p:extLst>
  </p:cSld>
  <p:clrMapOvr>
    <a:overrideClrMapping bg1="lt1" tx1="dk1" bg2="lt2" tx2="dk2" accent1="accent1" accent2="accent2" accent3="accent3" accent4="accent4" accent5="accent5" accent6="accent6" hlink="hlink" folHlink="folHlink"/>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1_3 colored callouts">
    <p:bg>
      <p:bgRef idx="1001">
        <a:schemeClr val="bg1"/>
      </p:bgRef>
    </p:bg>
    <p:spTree>
      <p:nvGrpSpPr>
        <p:cNvPr id="1" name=""/>
        <p:cNvGrpSpPr/>
        <p:nvPr/>
      </p:nvGrpSpPr>
      <p:grpSpPr>
        <a:xfrm>
          <a:off x="0" y="0"/>
          <a:ext cx="0" cy="0"/>
          <a:chOff x="0" y="0"/>
          <a:chExt cx="0" cy="0"/>
        </a:xfrm>
      </p:grpSpPr>
      <p:sp>
        <p:nvSpPr>
          <p:cNvPr id="40" name="Rounded Rectangle 39">
            <a:extLst>
              <a:ext uri="{FF2B5EF4-FFF2-40B4-BE49-F238E27FC236}">
                <a16:creationId xmlns:a16="http://schemas.microsoft.com/office/drawing/2014/main" id="{4CD86E3A-6D68-1F05-DE18-246FA7A4406A}"/>
              </a:ext>
              <a:ext uri="{C183D7F6-B498-43B3-948B-1728B52AA6E4}">
                <adec:decorative xmlns:adec="http://schemas.microsoft.com/office/drawing/2017/decorative" val="1"/>
              </a:ext>
            </a:extLst>
          </p:cNvPr>
          <p:cNvSpPr/>
          <p:nvPr userDrawn="1"/>
        </p:nvSpPr>
        <p:spPr>
          <a:xfrm>
            <a:off x="2695161" y="2990688"/>
            <a:ext cx="2992166" cy="3352800"/>
          </a:xfrm>
          <a:prstGeom prst="roundRect">
            <a:avLst>
              <a:gd name="adj" fmla="val 7754"/>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lumMod val="95000"/>
                </a:schemeClr>
              </a:solidFill>
            </a:endParaRPr>
          </a:p>
        </p:txBody>
      </p:sp>
      <p:sp>
        <p:nvSpPr>
          <p:cNvPr id="20" name="Text Placeholder 11">
            <a:extLst>
              <a:ext uri="{FF2B5EF4-FFF2-40B4-BE49-F238E27FC236}">
                <a16:creationId xmlns:a16="http://schemas.microsoft.com/office/drawing/2014/main" id="{6C169315-0602-4C85-86EE-5C3554AAA92A}"/>
              </a:ext>
            </a:extLst>
          </p:cNvPr>
          <p:cNvSpPr>
            <a:spLocks noGrp="1"/>
          </p:cNvSpPr>
          <p:nvPr>
            <p:ph type="body" sz="quarter" idx="20" hasCustomPrompt="1"/>
          </p:nvPr>
        </p:nvSpPr>
        <p:spPr>
          <a:xfrm>
            <a:off x="2871138" y="3295488"/>
            <a:ext cx="2590800" cy="2819400"/>
          </a:xfrm>
        </p:spPr>
        <p:txBody>
          <a:bodyPr lIns="91440" tIns="0" anchor="ctr">
            <a:noAutofit/>
          </a:bodyPr>
          <a:lstStyle>
            <a:lvl1pPr marL="0" indent="0" algn="ctr">
              <a:buNone/>
              <a:defRPr sz="1800" cap="none" baseline="0">
                <a:solidFill>
                  <a:schemeClr val="bg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sp>
        <p:nvSpPr>
          <p:cNvPr id="36" name="Text Placeholder 2">
            <a:extLst>
              <a:ext uri="{FF2B5EF4-FFF2-40B4-BE49-F238E27FC236}">
                <a16:creationId xmlns:a16="http://schemas.microsoft.com/office/drawing/2014/main" id="{9ADD9A5C-AE9A-C65B-4505-483DE9A243E7}"/>
              </a:ext>
            </a:extLst>
          </p:cNvPr>
          <p:cNvSpPr>
            <a:spLocks noGrp="1"/>
          </p:cNvSpPr>
          <p:nvPr>
            <p:ph type="body" idx="1"/>
          </p:nvPr>
        </p:nvSpPr>
        <p:spPr>
          <a:xfrm>
            <a:off x="914400" y="2203704"/>
            <a:ext cx="10543151" cy="550647"/>
          </a:xfrm>
        </p:spPr>
        <p:txBody>
          <a:bodyPr anchor="t"/>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37" name="Title 1">
            <a:extLst>
              <a:ext uri="{FF2B5EF4-FFF2-40B4-BE49-F238E27FC236}">
                <a16:creationId xmlns:a16="http://schemas.microsoft.com/office/drawing/2014/main" id="{B7E68036-CDBD-FEF5-260D-DF24C6FF3906}"/>
              </a:ext>
            </a:extLst>
          </p:cNvPr>
          <p:cNvSpPr>
            <a:spLocks noGrp="1"/>
          </p:cNvSpPr>
          <p:nvPr>
            <p:ph type="title"/>
          </p:nvPr>
        </p:nvSpPr>
        <p:spPr>
          <a:xfrm>
            <a:off x="914400" y="758952"/>
            <a:ext cx="10515600" cy="1325563"/>
          </a:xfrm>
        </p:spPr>
        <p:txBody>
          <a:bodyPr/>
          <a:lstStyle/>
          <a:p>
            <a:r>
              <a:rPr lang="en-US"/>
              <a:t>Click to edit Master title style</a:t>
            </a:r>
          </a:p>
        </p:txBody>
      </p:sp>
      <p:sp>
        <p:nvSpPr>
          <p:cNvPr id="11" name="Rounded Rectangle 10">
            <a:extLst>
              <a:ext uri="{FF2B5EF4-FFF2-40B4-BE49-F238E27FC236}">
                <a16:creationId xmlns:a16="http://schemas.microsoft.com/office/drawing/2014/main" id="{0EAAA4E6-9CD8-0530-BD07-8498A1C997DF}"/>
              </a:ext>
              <a:ext uri="{C183D7F6-B498-43B3-948B-1728B52AA6E4}">
                <adec:decorative xmlns:adec="http://schemas.microsoft.com/office/drawing/2017/decorative" val="1"/>
              </a:ext>
            </a:extLst>
          </p:cNvPr>
          <p:cNvSpPr/>
          <p:nvPr userDrawn="1"/>
        </p:nvSpPr>
        <p:spPr>
          <a:xfrm>
            <a:off x="6562311" y="2990688"/>
            <a:ext cx="2992166" cy="3352800"/>
          </a:xfrm>
          <a:prstGeom prst="roundRect">
            <a:avLst>
              <a:gd name="adj" fmla="val 7754"/>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5"/>
              </a:solidFill>
            </a:endParaRPr>
          </a:p>
        </p:txBody>
      </p:sp>
      <p:sp>
        <p:nvSpPr>
          <p:cNvPr id="12" name="Text Placeholder 11">
            <a:extLst>
              <a:ext uri="{FF2B5EF4-FFF2-40B4-BE49-F238E27FC236}">
                <a16:creationId xmlns:a16="http://schemas.microsoft.com/office/drawing/2014/main" id="{37A0B597-CF95-913E-7A66-71D440047E4D}"/>
              </a:ext>
            </a:extLst>
          </p:cNvPr>
          <p:cNvSpPr>
            <a:spLocks noGrp="1"/>
          </p:cNvSpPr>
          <p:nvPr>
            <p:ph type="body" sz="quarter" idx="39" hasCustomPrompt="1"/>
          </p:nvPr>
        </p:nvSpPr>
        <p:spPr>
          <a:xfrm>
            <a:off x="6757338" y="3295488"/>
            <a:ext cx="2590800" cy="2819400"/>
          </a:xfrm>
        </p:spPr>
        <p:txBody>
          <a:bodyPr lIns="91440" tIns="0" anchor="ctr">
            <a:noAutofit/>
          </a:bodyPr>
          <a:lstStyle>
            <a:lvl1pPr marL="0" indent="0" algn="ctr">
              <a:buNone/>
              <a:defRPr sz="1800" cap="none" baseline="0">
                <a:solidFill>
                  <a:schemeClr val="bg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sp>
        <p:nvSpPr>
          <p:cNvPr id="6" name="Footer Placeholder 5">
            <a:extLst>
              <a:ext uri="{FF2B5EF4-FFF2-40B4-BE49-F238E27FC236}">
                <a16:creationId xmlns:a16="http://schemas.microsoft.com/office/drawing/2014/main" id="{1AC09864-2A01-120D-B0A0-3D47650A2281}"/>
              </a:ext>
            </a:extLst>
          </p:cNvPr>
          <p:cNvSpPr txBox="1">
            <a:spLocks/>
          </p:cNvSpPr>
          <p:nvPr userDrawn="1"/>
        </p:nvSpPr>
        <p:spPr>
          <a:xfrm>
            <a:off x="343963" y="121602"/>
            <a:ext cx="4114800" cy="217173"/>
          </a:xfrm>
          <a:prstGeom prst="rect">
            <a:avLst/>
          </a:prstGeom>
        </p:spPr>
        <p:txBody>
          <a:bodyPr vert="horz" lIns="91440" tIns="45720" rIns="91440" bIns="45720" rtlCol="0" anchor="ctr"/>
          <a:lstStyle>
            <a:defPPr>
              <a:defRPr lang="en-US"/>
            </a:defPPr>
            <a:lvl1pPr marL="0" algn="l" defTabSz="914400" rtl="0" eaLnBrk="1" latinLnBrk="0" hangingPunct="1">
              <a:defRPr sz="900" kern="1200">
                <a:solidFill>
                  <a:schemeClr val="bg1">
                    <a:alpha val="75167"/>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t>Biological &amp; Physical Sciences</a:t>
            </a:r>
          </a:p>
        </p:txBody>
      </p:sp>
      <p:sp>
        <p:nvSpPr>
          <p:cNvPr id="7" name="Slide Number Placeholder 6">
            <a:extLst>
              <a:ext uri="{FF2B5EF4-FFF2-40B4-BE49-F238E27FC236}">
                <a16:creationId xmlns:a16="http://schemas.microsoft.com/office/drawing/2014/main" id="{63F24C74-96B8-1AEE-DED0-3FD6D128AAF5}"/>
              </a:ext>
            </a:extLst>
          </p:cNvPr>
          <p:cNvSpPr txBox="1">
            <a:spLocks/>
          </p:cNvSpPr>
          <p:nvPr userDrawn="1"/>
        </p:nvSpPr>
        <p:spPr>
          <a:xfrm>
            <a:off x="11662148" y="99559"/>
            <a:ext cx="1059704" cy="261258"/>
          </a:xfrm>
          <a:prstGeom prst="roundRect">
            <a:avLst>
              <a:gd name="adj" fmla="val 50000"/>
            </a:avLst>
          </a:prstGeom>
          <a:solidFill>
            <a:srgbClr val="002060"/>
          </a:solidFill>
        </p:spPr>
        <p:txBody>
          <a:bodyPr vert="horz" lIns="91440" tIns="45720" rIns="91440" bIns="45720" rtlCol="0" anchor="ctr"/>
          <a:lstStyle>
            <a:defPPr>
              <a:defRPr lang="en-US"/>
            </a:defPPr>
            <a:lvl1pPr marL="0" algn="l" defTabSz="914400" rtl="0" eaLnBrk="1" latinLnBrk="0" hangingPunct="1">
              <a:defRPr sz="1100" b="1"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E8618032-BA8D-3D4D-8253-A70208A85976}" type="slidenum">
              <a:rPr lang="en-US" smtClean="0"/>
              <a:pPr/>
              <a:t>‹#›</a:t>
            </a:fld>
            <a:endParaRPr lang="en-US"/>
          </a:p>
        </p:txBody>
      </p:sp>
    </p:spTree>
    <p:extLst>
      <p:ext uri="{BB962C8B-B14F-4D97-AF65-F5344CB8AC3E}">
        <p14:creationId xmlns:p14="http://schemas.microsoft.com/office/powerpoint/2010/main" val="3468811975"/>
      </p:ext>
    </p:extLst>
  </p:cSld>
  <p:clrMapOvr>
    <a:overrideClrMapping bg1="lt1" tx1="dk1" bg2="lt2" tx2="dk2" accent1="accent1" accent2="accent2" accent3="accent3" accent4="accent4" accent5="accent5" accent6="accent6" hlink="hlink" folHlink="folHlink"/>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09C14A-6496-6376-2B3E-AD74A612CDF4}"/>
              </a:ext>
            </a:extLst>
          </p:cNvPr>
          <p:cNvSpPr>
            <a:spLocks noGrp="1"/>
          </p:cNvSpPr>
          <p:nvPr>
            <p:ph type="title"/>
          </p:nvPr>
        </p:nvSpPr>
        <p:spPr>
          <a:xfrm>
            <a:off x="914400" y="758952"/>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3F21821F-FB3A-F9EE-D0DE-E887A37D654C}"/>
              </a:ext>
            </a:extLst>
          </p:cNvPr>
          <p:cNvSpPr>
            <a:spLocks noGrp="1"/>
          </p:cNvSpPr>
          <p:nvPr>
            <p:ph type="body" idx="1"/>
          </p:nvPr>
        </p:nvSpPr>
        <p:spPr>
          <a:xfrm>
            <a:off x="914400" y="2203704"/>
            <a:ext cx="4983162"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007C9A69-852A-95D0-640F-0A9AD66D09FE}"/>
              </a:ext>
            </a:extLst>
          </p:cNvPr>
          <p:cNvSpPr>
            <a:spLocks noGrp="1"/>
          </p:cNvSpPr>
          <p:nvPr>
            <p:ph sz="half" idx="2"/>
          </p:nvPr>
        </p:nvSpPr>
        <p:spPr>
          <a:xfrm>
            <a:off x="914400" y="3173412"/>
            <a:ext cx="4983162" cy="349501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D25212BA-716C-43F7-C564-5796945A1860}"/>
              </a:ext>
            </a:extLst>
          </p:cNvPr>
          <p:cNvSpPr>
            <a:spLocks noGrp="1"/>
          </p:cNvSpPr>
          <p:nvPr>
            <p:ph type="body" sz="quarter" idx="3"/>
          </p:nvPr>
        </p:nvSpPr>
        <p:spPr>
          <a:xfrm>
            <a:off x="6273105" y="2203704"/>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37DF0997-D7AA-3B69-46B5-3C52DC86C8DE}"/>
              </a:ext>
            </a:extLst>
          </p:cNvPr>
          <p:cNvSpPr>
            <a:spLocks noGrp="1"/>
          </p:cNvSpPr>
          <p:nvPr>
            <p:ph sz="quarter" idx="4"/>
          </p:nvPr>
        </p:nvSpPr>
        <p:spPr>
          <a:xfrm>
            <a:off x="6273105" y="3173412"/>
            <a:ext cx="5183188" cy="349501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Footer Placeholder 7">
            <a:extLst>
              <a:ext uri="{FF2B5EF4-FFF2-40B4-BE49-F238E27FC236}">
                <a16:creationId xmlns:a16="http://schemas.microsoft.com/office/drawing/2014/main" id="{9D455EE4-619A-8EFD-2C75-330D157D9EDB}"/>
              </a:ext>
            </a:extLst>
          </p:cNvPr>
          <p:cNvSpPr>
            <a:spLocks noGrp="1"/>
          </p:cNvSpPr>
          <p:nvPr>
            <p:ph type="ftr" sz="quarter" idx="11"/>
          </p:nvPr>
        </p:nvSpPr>
        <p:spPr/>
        <p:txBody>
          <a:bodyPr/>
          <a:lstStyle/>
          <a:p>
            <a:r>
              <a:rPr lang="en-US" dirty="0"/>
              <a:t>Biological &amp; Physical Sciences</a:t>
            </a:r>
          </a:p>
        </p:txBody>
      </p:sp>
      <p:sp>
        <p:nvSpPr>
          <p:cNvPr id="9" name="Slide Number Placeholder 8">
            <a:extLst>
              <a:ext uri="{FF2B5EF4-FFF2-40B4-BE49-F238E27FC236}">
                <a16:creationId xmlns:a16="http://schemas.microsoft.com/office/drawing/2014/main" id="{C218C5AC-C080-2EB1-1F82-F057A282D7EF}"/>
              </a:ext>
            </a:extLst>
          </p:cNvPr>
          <p:cNvSpPr>
            <a:spLocks noGrp="1"/>
          </p:cNvSpPr>
          <p:nvPr>
            <p:ph type="sldNum" sz="quarter" idx="12"/>
          </p:nvPr>
        </p:nvSpPr>
        <p:spPr/>
        <p:txBody>
          <a:bodyPr/>
          <a:lstStyle/>
          <a:p>
            <a:fld id="{E8618032-BA8D-3D4D-8253-A70208A85976}" type="slidenum">
              <a:rPr lang="en-US" smtClean="0"/>
              <a:t>‹#›</a:t>
            </a:fld>
            <a:endParaRPr lang="en-US"/>
          </a:p>
        </p:txBody>
      </p:sp>
    </p:spTree>
    <p:extLst>
      <p:ext uri="{BB962C8B-B14F-4D97-AF65-F5344CB8AC3E}">
        <p14:creationId xmlns:p14="http://schemas.microsoft.com/office/powerpoint/2010/main" val="540357568"/>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CE7BEB-3F95-F7BD-8C6B-C9CDE17AD06E}"/>
              </a:ext>
            </a:extLst>
          </p:cNvPr>
          <p:cNvSpPr>
            <a:spLocks noGrp="1"/>
          </p:cNvSpPr>
          <p:nvPr>
            <p:ph type="title"/>
          </p:nvPr>
        </p:nvSpPr>
        <p:spPr>
          <a:xfrm>
            <a:off x="914400" y="755930"/>
            <a:ext cx="10325100" cy="1325563"/>
          </a:xfrm>
        </p:spPr>
        <p:txBody>
          <a:bodyPr/>
          <a:lstStyle/>
          <a:p>
            <a:r>
              <a:rPr lang="en-US"/>
              <a:t>Click to edit Master title style</a:t>
            </a:r>
            <a:endParaRPr lang="en-US" dirty="0"/>
          </a:p>
        </p:txBody>
      </p:sp>
      <p:sp>
        <p:nvSpPr>
          <p:cNvPr id="4" name="Footer Placeholder 3">
            <a:extLst>
              <a:ext uri="{FF2B5EF4-FFF2-40B4-BE49-F238E27FC236}">
                <a16:creationId xmlns:a16="http://schemas.microsoft.com/office/drawing/2014/main" id="{27D41258-C225-30B8-4068-2B71A0ED381A}"/>
              </a:ext>
            </a:extLst>
          </p:cNvPr>
          <p:cNvSpPr>
            <a:spLocks noGrp="1"/>
          </p:cNvSpPr>
          <p:nvPr>
            <p:ph type="ftr" sz="quarter" idx="11"/>
          </p:nvPr>
        </p:nvSpPr>
        <p:spPr/>
        <p:txBody>
          <a:bodyPr/>
          <a:lstStyle/>
          <a:p>
            <a:r>
              <a:rPr lang="en-US" dirty="0"/>
              <a:t>Biological &amp; Physical Sciences</a:t>
            </a:r>
          </a:p>
        </p:txBody>
      </p:sp>
      <p:sp>
        <p:nvSpPr>
          <p:cNvPr id="5" name="Slide Number Placeholder 4">
            <a:extLst>
              <a:ext uri="{FF2B5EF4-FFF2-40B4-BE49-F238E27FC236}">
                <a16:creationId xmlns:a16="http://schemas.microsoft.com/office/drawing/2014/main" id="{C1FA1CED-BEE1-ACF5-8AEE-094C9B16F7D7}"/>
              </a:ext>
            </a:extLst>
          </p:cNvPr>
          <p:cNvSpPr>
            <a:spLocks noGrp="1"/>
          </p:cNvSpPr>
          <p:nvPr>
            <p:ph type="sldNum" sz="quarter" idx="12"/>
          </p:nvPr>
        </p:nvSpPr>
        <p:spPr/>
        <p:txBody>
          <a:bodyPr/>
          <a:lstStyle/>
          <a:p>
            <a:fld id="{E8618032-BA8D-3D4D-8253-A70208A85976}" type="slidenum">
              <a:rPr lang="en-US" smtClean="0"/>
              <a:t>‹#›</a:t>
            </a:fld>
            <a:endParaRPr lang="en-US"/>
          </a:p>
        </p:txBody>
      </p:sp>
    </p:spTree>
    <p:extLst>
      <p:ext uri="{BB962C8B-B14F-4D97-AF65-F5344CB8AC3E}">
        <p14:creationId xmlns:p14="http://schemas.microsoft.com/office/powerpoint/2010/main" val="649509174"/>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titleOnly" preserve="1">
  <p:cSld name="1_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CE7BEB-3F95-F7BD-8C6B-C9CDE17AD06E}"/>
              </a:ext>
            </a:extLst>
          </p:cNvPr>
          <p:cNvSpPr>
            <a:spLocks noGrp="1"/>
          </p:cNvSpPr>
          <p:nvPr>
            <p:ph type="title" hasCustomPrompt="1"/>
          </p:nvPr>
        </p:nvSpPr>
        <p:spPr>
          <a:xfrm>
            <a:off x="914400" y="755930"/>
            <a:ext cx="10325100" cy="1325563"/>
          </a:xfrm>
        </p:spPr>
        <p:txBody>
          <a:bodyPr/>
          <a:lstStyle/>
          <a:p>
            <a:r>
              <a:rPr lang="en-US" dirty="0"/>
              <a:t>Icon Sets</a:t>
            </a:r>
          </a:p>
        </p:txBody>
      </p:sp>
      <p:sp>
        <p:nvSpPr>
          <p:cNvPr id="4" name="Footer Placeholder 3">
            <a:extLst>
              <a:ext uri="{FF2B5EF4-FFF2-40B4-BE49-F238E27FC236}">
                <a16:creationId xmlns:a16="http://schemas.microsoft.com/office/drawing/2014/main" id="{27D41258-C225-30B8-4068-2B71A0ED381A}"/>
              </a:ext>
            </a:extLst>
          </p:cNvPr>
          <p:cNvSpPr>
            <a:spLocks noGrp="1"/>
          </p:cNvSpPr>
          <p:nvPr>
            <p:ph type="ftr" sz="quarter" idx="11"/>
          </p:nvPr>
        </p:nvSpPr>
        <p:spPr/>
        <p:txBody>
          <a:bodyPr/>
          <a:lstStyle/>
          <a:p>
            <a:r>
              <a:rPr lang="en-US" dirty="0"/>
              <a:t>Biological &amp; Physical Sciences</a:t>
            </a:r>
          </a:p>
        </p:txBody>
      </p:sp>
      <p:sp>
        <p:nvSpPr>
          <p:cNvPr id="5" name="Slide Number Placeholder 4">
            <a:extLst>
              <a:ext uri="{FF2B5EF4-FFF2-40B4-BE49-F238E27FC236}">
                <a16:creationId xmlns:a16="http://schemas.microsoft.com/office/drawing/2014/main" id="{C1FA1CED-BEE1-ACF5-8AEE-094C9B16F7D7}"/>
              </a:ext>
            </a:extLst>
          </p:cNvPr>
          <p:cNvSpPr>
            <a:spLocks noGrp="1"/>
          </p:cNvSpPr>
          <p:nvPr>
            <p:ph type="sldNum" sz="quarter" idx="12"/>
          </p:nvPr>
        </p:nvSpPr>
        <p:spPr/>
        <p:txBody>
          <a:bodyPr/>
          <a:lstStyle/>
          <a:p>
            <a:fld id="{E8618032-BA8D-3D4D-8253-A70208A85976}" type="slidenum">
              <a:rPr lang="en-US" smtClean="0"/>
              <a:t>‹#›</a:t>
            </a:fld>
            <a:endParaRPr lang="en-US"/>
          </a:p>
        </p:txBody>
      </p:sp>
      <p:grpSp>
        <p:nvGrpSpPr>
          <p:cNvPr id="16" name="Group 15">
            <a:extLst>
              <a:ext uri="{FF2B5EF4-FFF2-40B4-BE49-F238E27FC236}">
                <a16:creationId xmlns:a16="http://schemas.microsoft.com/office/drawing/2014/main" id="{DF2DBF73-78F1-5E34-BB47-F8D4315E883F}"/>
              </a:ext>
            </a:extLst>
          </p:cNvPr>
          <p:cNvGrpSpPr/>
          <p:nvPr userDrawn="1"/>
        </p:nvGrpSpPr>
        <p:grpSpPr>
          <a:xfrm>
            <a:off x="620138" y="1752600"/>
            <a:ext cx="1149675" cy="1160621"/>
            <a:chOff x="620138" y="1752600"/>
            <a:chExt cx="1149675" cy="1160621"/>
          </a:xfrm>
        </p:grpSpPr>
        <p:pic>
          <p:nvPicPr>
            <p:cNvPr id="21" name="Picture 20">
              <a:extLst>
                <a:ext uri="{FF2B5EF4-FFF2-40B4-BE49-F238E27FC236}">
                  <a16:creationId xmlns:a16="http://schemas.microsoft.com/office/drawing/2014/main" id="{084DCB50-DA15-0746-CC36-3D6CE4CCBCE1}"/>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726198" y="1752600"/>
              <a:ext cx="937550" cy="937550"/>
            </a:xfrm>
            <a:prstGeom prst="rect">
              <a:avLst/>
            </a:prstGeom>
          </p:spPr>
        </p:pic>
        <p:sp>
          <p:nvSpPr>
            <p:cNvPr id="6" name="TextBox 5">
              <a:extLst>
                <a:ext uri="{FF2B5EF4-FFF2-40B4-BE49-F238E27FC236}">
                  <a16:creationId xmlns:a16="http://schemas.microsoft.com/office/drawing/2014/main" id="{4C756196-4ADF-DF0C-EBDC-F9F2C81AC2F4}"/>
                </a:ext>
              </a:extLst>
            </p:cNvPr>
            <p:cNvSpPr txBox="1"/>
            <p:nvPr userDrawn="1"/>
          </p:nvSpPr>
          <p:spPr>
            <a:xfrm>
              <a:off x="620138" y="2667000"/>
              <a:ext cx="1149675" cy="246221"/>
            </a:xfrm>
            <a:prstGeom prst="rect">
              <a:avLst/>
            </a:prstGeom>
            <a:noFill/>
          </p:spPr>
          <p:txBody>
            <a:bodyPr wrap="none" rtlCol="0">
              <a:spAutoFit/>
            </a:bodyPr>
            <a:lstStyle/>
            <a:p>
              <a:pPr algn="ctr"/>
              <a:r>
                <a:rPr lang="en-US" sz="1000" dirty="0"/>
                <a:t>Physical Science</a:t>
              </a:r>
            </a:p>
          </p:txBody>
        </p:sp>
      </p:grpSp>
      <p:grpSp>
        <p:nvGrpSpPr>
          <p:cNvPr id="18" name="Group 17">
            <a:extLst>
              <a:ext uri="{FF2B5EF4-FFF2-40B4-BE49-F238E27FC236}">
                <a16:creationId xmlns:a16="http://schemas.microsoft.com/office/drawing/2014/main" id="{511910B8-EFDC-F4BD-D871-01250E169D33}"/>
              </a:ext>
            </a:extLst>
          </p:cNvPr>
          <p:cNvGrpSpPr/>
          <p:nvPr userDrawn="1"/>
        </p:nvGrpSpPr>
        <p:grpSpPr>
          <a:xfrm>
            <a:off x="2119913" y="1752600"/>
            <a:ext cx="937550" cy="1160621"/>
            <a:chOff x="2276156" y="1752600"/>
            <a:chExt cx="937550" cy="1160621"/>
          </a:xfrm>
        </p:grpSpPr>
        <p:pic>
          <p:nvPicPr>
            <p:cNvPr id="19" name="Picture 18" descr="A white symbol on a brown circle&#10;&#10;Description automatically generated">
              <a:extLst>
                <a:ext uri="{FF2B5EF4-FFF2-40B4-BE49-F238E27FC236}">
                  <a16:creationId xmlns:a16="http://schemas.microsoft.com/office/drawing/2014/main" id="{FE1E2990-A33D-309A-9F68-08D9A1E0E4DF}"/>
                </a:ext>
              </a:extLst>
            </p:cNvPr>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2276156" y="1752600"/>
              <a:ext cx="937550" cy="937550"/>
            </a:xfrm>
            <a:prstGeom prst="rect">
              <a:avLst/>
            </a:prstGeom>
          </p:spPr>
        </p:pic>
        <p:sp>
          <p:nvSpPr>
            <p:cNvPr id="8" name="TextBox 7">
              <a:extLst>
                <a:ext uri="{FF2B5EF4-FFF2-40B4-BE49-F238E27FC236}">
                  <a16:creationId xmlns:a16="http://schemas.microsoft.com/office/drawing/2014/main" id="{D490AC53-46B8-9208-4DAB-7EBDD1243E80}"/>
                </a:ext>
              </a:extLst>
            </p:cNvPr>
            <p:cNvSpPr txBox="1"/>
            <p:nvPr userDrawn="1"/>
          </p:nvSpPr>
          <p:spPr>
            <a:xfrm>
              <a:off x="2390507" y="2667000"/>
              <a:ext cx="708848" cy="246221"/>
            </a:xfrm>
            <a:prstGeom prst="rect">
              <a:avLst/>
            </a:prstGeom>
            <a:noFill/>
          </p:spPr>
          <p:txBody>
            <a:bodyPr wrap="none" rtlCol="0">
              <a:spAutoFit/>
            </a:bodyPr>
            <a:lstStyle/>
            <a:p>
              <a:pPr algn="ctr"/>
              <a:r>
                <a:rPr lang="en-US" sz="1000" dirty="0"/>
                <a:t>Quantum</a:t>
              </a:r>
            </a:p>
          </p:txBody>
        </p:sp>
      </p:grpSp>
      <p:grpSp>
        <p:nvGrpSpPr>
          <p:cNvPr id="20" name="Group 19">
            <a:extLst>
              <a:ext uri="{FF2B5EF4-FFF2-40B4-BE49-F238E27FC236}">
                <a16:creationId xmlns:a16="http://schemas.microsoft.com/office/drawing/2014/main" id="{63D160AB-747D-0C84-DB2C-12A72938449E}"/>
              </a:ext>
            </a:extLst>
          </p:cNvPr>
          <p:cNvGrpSpPr/>
          <p:nvPr userDrawn="1"/>
        </p:nvGrpSpPr>
        <p:grpSpPr>
          <a:xfrm>
            <a:off x="3500407" y="1752600"/>
            <a:ext cx="937550" cy="1160621"/>
            <a:chOff x="3328048" y="1752600"/>
            <a:chExt cx="937550" cy="1160621"/>
          </a:xfrm>
        </p:grpSpPr>
        <p:pic>
          <p:nvPicPr>
            <p:cNvPr id="35" name="Picture 34">
              <a:extLst>
                <a:ext uri="{FF2B5EF4-FFF2-40B4-BE49-F238E27FC236}">
                  <a16:creationId xmlns:a16="http://schemas.microsoft.com/office/drawing/2014/main" id="{9F58E307-692E-76E5-915A-6BE8C8A6C342}"/>
                </a:ext>
              </a:extLst>
            </p:cNvPr>
            <p:cNvPicPr>
              <a:picLocks noChangeAspect="1"/>
            </p:cNvPicPr>
            <p:nvPr userDrawn="1"/>
          </p:nvPicPr>
          <p:blipFill>
            <a:blip r:embed="rId4" cstate="screen">
              <a:extLst>
                <a:ext uri="{28A0092B-C50C-407E-A947-70E740481C1C}">
                  <a14:useLocalDpi xmlns:a14="http://schemas.microsoft.com/office/drawing/2010/main"/>
                </a:ext>
              </a:extLst>
            </a:blip>
            <a:srcRect/>
            <a:stretch/>
          </p:blipFill>
          <p:spPr>
            <a:xfrm>
              <a:off x="3328048" y="1752600"/>
              <a:ext cx="937550" cy="937550"/>
            </a:xfrm>
            <a:prstGeom prst="rect">
              <a:avLst/>
            </a:prstGeom>
          </p:spPr>
        </p:pic>
        <p:sp>
          <p:nvSpPr>
            <p:cNvPr id="10" name="TextBox 9">
              <a:extLst>
                <a:ext uri="{FF2B5EF4-FFF2-40B4-BE49-F238E27FC236}">
                  <a16:creationId xmlns:a16="http://schemas.microsoft.com/office/drawing/2014/main" id="{9F976D59-973C-B3ED-21A7-6E1BF17E1F28}"/>
                </a:ext>
              </a:extLst>
            </p:cNvPr>
            <p:cNvSpPr txBox="1"/>
            <p:nvPr userDrawn="1"/>
          </p:nvSpPr>
          <p:spPr>
            <a:xfrm>
              <a:off x="3565830" y="2667000"/>
              <a:ext cx="461986" cy="246221"/>
            </a:xfrm>
            <a:prstGeom prst="rect">
              <a:avLst/>
            </a:prstGeom>
            <a:noFill/>
          </p:spPr>
          <p:txBody>
            <a:bodyPr wrap="none" rtlCol="0">
              <a:spAutoFit/>
            </a:bodyPr>
            <a:lstStyle/>
            <a:p>
              <a:pPr algn="ctr"/>
              <a:r>
                <a:rPr lang="en-US" sz="1000" dirty="0"/>
                <a:t>Fluid</a:t>
              </a:r>
            </a:p>
          </p:txBody>
        </p:sp>
      </p:grpSp>
      <p:grpSp>
        <p:nvGrpSpPr>
          <p:cNvPr id="22" name="Group 21">
            <a:extLst>
              <a:ext uri="{FF2B5EF4-FFF2-40B4-BE49-F238E27FC236}">
                <a16:creationId xmlns:a16="http://schemas.microsoft.com/office/drawing/2014/main" id="{DFEA1BB1-12A4-2E2E-1955-F3A8B5472743}"/>
              </a:ext>
            </a:extLst>
          </p:cNvPr>
          <p:cNvGrpSpPr/>
          <p:nvPr userDrawn="1"/>
        </p:nvGrpSpPr>
        <p:grpSpPr>
          <a:xfrm>
            <a:off x="4889029" y="1752600"/>
            <a:ext cx="937550" cy="1160621"/>
            <a:chOff x="4379940" y="1752600"/>
            <a:chExt cx="937550" cy="1160621"/>
          </a:xfrm>
        </p:grpSpPr>
        <p:pic>
          <p:nvPicPr>
            <p:cNvPr id="34" name="Picture 33">
              <a:extLst>
                <a:ext uri="{FF2B5EF4-FFF2-40B4-BE49-F238E27FC236}">
                  <a16:creationId xmlns:a16="http://schemas.microsoft.com/office/drawing/2014/main" id="{0E9DBB58-6406-2088-AE7D-CD856A1E7ACD}"/>
                </a:ext>
              </a:extLst>
            </p:cNvPr>
            <p:cNvPicPr>
              <a:picLocks noChangeAspect="1"/>
            </p:cNvPicPr>
            <p:nvPr userDrawn="1"/>
          </p:nvPicPr>
          <p:blipFill>
            <a:blip r:embed="rId5" cstate="screen">
              <a:extLst>
                <a:ext uri="{28A0092B-C50C-407E-A947-70E740481C1C}">
                  <a14:useLocalDpi xmlns:a14="http://schemas.microsoft.com/office/drawing/2010/main"/>
                </a:ext>
              </a:extLst>
            </a:blip>
            <a:srcRect/>
            <a:stretch/>
          </p:blipFill>
          <p:spPr>
            <a:xfrm>
              <a:off x="4379940" y="1752600"/>
              <a:ext cx="937550" cy="937550"/>
            </a:xfrm>
            <a:prstGeom prst="rect">
              <a:avLst/>
            </a:prstGeom>
          </p:spPr>
        </p:pic>
        <p:sp>
          <p:nvSpPr>
            <p:cNvPr id="12" name="TextBox 11">
              <a:extLst>
                <a:ext uri="{FF2B5EF4-FFF2-40B4-BE49-F238E27FC236}">
                  <a16:creationId xmlns:a16="http://schemas.microsoft.com/office/drawing/2014/main" id="{8D472200-79FE-9C5A-93BA-31F52D3EE86F}"/>
                </a:ext>
              </a:extLst>
            </p:cNvPr>
            <p:cNvSpPr txBox="1"/>
            <p:nvPr userDrawn="1"/>
          </p:nvSpPr>
          <p:spPr>
            <a:xfrm>
              <a:off x="4483070" y="2667000"/>
              <a:ext cx="731290" cy="246221"/>
            </a:xfrm>
            <a:prstGeom prst="rect">
              <a:avLst/>
            </a:prstGeom>
            <a:noFill/>
          </p:spPr>
          <p:txBody>
            <a:bodyPr wrap="none" rtlCol="0">
              <a:spAutoFit/>
            </a:bodyPr>
            <a:lstStyle/>
            <a:p>
              <a:pPr algn="ctr"/>
              <a:r>
                <a:rPr lang="en-US" sz="1000" dirty="0"/>
                <a:t>Complete</a:t>
              </a:r>
            </a:p>
          </p:txBody>
        </p:sp>
      </p:grpSp>
      <p:grpSp>
        <p:nvGrpSpPr>
          <p:cNvPr id="23" name="Group 22">
            <a:extLst>
              <a:ext uri="{FF2B5EF4-FFF2-40B4-BE49-F238E27FC236}">
                <a16:creationId xmlns:a16="http://schemas.microsoft.com/office/drawing/2014/main" id="{2BC30226-E85A-EAB4-EA3A-2F8AF418AC7A}"/>
              </a:ext>
            </a:extLst>
          </p:cNvPr>
          <p:cNvGrpSpPr/>
          <p:nvPr userDrawn="1"/>
        </p:nvGrpSpPr>
        <p:grpSpPr>
          <a:xfrm>
            <a:off x="6247355" y="1752600"/>
            <a:ext cx="937550" cy="1160621"/>
            <a:chOff x="5431831" y="1752600"/>
            <a:chExt cx="937550" cy="1160621"/>
          </a:xfrm>
        </p:grpSpPr>
        <p:pic>
          <p:nvPicPr>
            <p:cNvPr id="39" name="Picture 38">
              <a:extLst>
                <a:ext uri="{FF2B5EF4-FFF2-40B4-BE49-F238E27FC236}">
                  <a16:creationId xmlns:a16="http://schemas.microsoft.com/office/drawing/2014/main" id="{829FB4C8-0924-DD30-1DEA-0B2E407C2C96}"/>
                </a:ext>
              </a:extLst>
            </p:cNvPr>
            <p:cNvPicPr>
              <a:picLocks noChangeAspect="1"/>
            </p:cNvPicPr>
            <p:nvPr userDrawn="1"/>
          </p:nvPicPr>
          <p:blipFill>
            <a:blip r:embed="rId6"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14" name="TextBox 13">
              <a:extLst>
                <a:ext uri="{FF2B5EF4-FFF2-40B4-BE49-F238E27FC236}">
                  <a16:creationId xmlns:a16="http://schemas.microsoft.com/office/drawing/2014/main" id="{2E9D3CBF-9626-9176-B486-F34F15BE4A9E}"/>
                </a:ext>
              </a:extLst>
            </p:cNvPr>
            <p:cNvSpPr txBox="1"/>
            <p:nvPr userDrawn="1"/>
          </p:nvSpPr>
          <p:spPr>
            <a:xfrm>
              <a:off x="5530953" y="2667000"/>
              <a:ext cx="739306" cy="246221"/>
            </a:xfrm>
            <a:prstGeom prst="rect">
              <a:avLst/>
            </a:prstGeom>
            <a:noFill/>
          </p:spPr>
          <p:txBody>
            <a:bodyPr wrap="none" rtlCol="0">
              <a:spAutoFit/>
            </a:bodyPr>
            <a:lstStyle/>
            <a:p>
              <a:pPr algn="ctr"/>
              <a:r>
                <a:rPr lang="en-US" sz="1000" dirty="0"/>
                <a:t>Molecular</a:t>
              </a:r>
            </a:p>
          </p:txBody>
        </p:sp>
      </p:grpSp>
      <p:grpSp>
        <p:nvGrpSpPr>
          <p:cNvPr id="24" name="Group 23">
            <a:extLst>
              <a:ext uri="{FF2B5EF4-FFF2-40B4-BE49-F238E27FC236}">
                <a16:creationId xmlns:a16="http://schemas.microsoft.com/office/drawing/2014/main" id="{F5EC613B-9512-31BF-730B-49C7B41C44C6}"/>
              </a:ext>
            </a:extLst>
          </p:cNvPr>
          <p:cNvGrpSpPr/>
          <p:nvPr userDrawn="1"/>
        </p:nvGrpSpPr>
        <p:grpSpPr>
          <a:xfrm>
            <a:off x="7661269" y="1752600"/>
            <a:ext cx="937550" cy="1160621"/>
            <a:chOff x="5431831" y="1752600"/>
            <a:chExt cx="937550" cy="1160621"/>
          </a:xfrm>
        </p:grpSpPr>
        <p:pic>
          <p:nvPicPr>
            <p:cNvPr id="25" name="Picture 24">
              <a:extLst>
                <a:ext uri="{FF2B5EF4-FFF2-40B4-BE49-F238E27FC236}">
                  <a16:creationId xmlns:a16="http://schemas.microsoft.com/office/drawing/2014/main" id="{3EA005A4-9DA7-B0C3-08EE-98CB0CE9BA4A}"/>
                </a:ext>
              </a:extLst>
            </p:cNvPr>
            <p:cNvPicPr>
              <a:picLocks noChangeAspect="1"/>
            </p:cNvPicPr>
            <p:nvPr userDrawn="1"/>
          </p:nvPicPr>
          <p:blipFill>
            <a:blip r:embed="rId7"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26" name="TextBox 25">
              <a:extLst>
                <a:ext uri="{FF2B5EF4-FFF2-40B4-BE49-F238E27FC236}">
                  <a16:creationId xmlns:a16="http://schemas.microsoft.com/office/drawing/2014/main" id="{B5FE336D-FA97-22C9-55DC-079F3A53A069}"/>
                </a:ext>
              </a:extLst>
            </p:cNvPr>
            <p:cNvSpPr txBox="1"/>
            <p:nvPr userDrawn="1"/>
          </p:nvSpPr>
          <p:spPr>
            <a:xfrm>
              <a:off x="5607097" y="2667000"/>
              <a:ext cx="587020" cy="246221"/>
            </a:xfrm>
            <a:prstGeom prst="rect">
              <a:avLst/>
            </a:prstGeom>
            <a:noFill/>
          </p:spPr>
          <p:txBody>
            <a:bodyPr wrap="none" rtlCol="0">
              <a:spAutoFit/>
            </a:bodyPr>
            <a:lstStyle/>
            <a:p>
              <a:pPr algn="ctr"/>
              <a:r>
                <a:rPr lang="en-US" sz="1000" dirty="0"/>
                <a:t>Budget</a:t>
              </a:r>
            </a:p>
          </p:txBody>
        </p:sp>
      </p:grpSp>
      <p:grpSp>
        <p:nvGrpSpPr>
          <p:cNvPr id="27" name="Group 26">
            <a:extLst>
              <a:ext uri="{FF2B5EF4-FFF2-40B4-BE49-F238E27FC236}">
                <a16:creationId xmlns:a16="http://schemas.microsoft.com/office/drawing/2014/main" id="{56DF185E-4874-C556-B523-55B66CA67CA6}"/>
              </a:ext>
            </a:extLst>
          </p:cNvPr>
          <p:cNvGrpSpPr/>
          <p:nvPr userDrawn="1"/>
        </p:nvGrpSpPr>
        <p:grpSpPr>
          <a:xfrm>
            <a:off x="9037083" y="1752600"/>
            <a:ext cx="937550" cy="1160621"/>
            <a:chOff x="5431831" y="1752600"/>
            <a:chExt cx="937550" cy="1160621"/>
          </a:xfrm>
        </p:grpSpPr>
        <p:pic>
          <p:nvPicPr>
            <p:cNvPr id="40" name="Picture 39">
              <a:extLst>
                <a:ext uri="{FF2B5EF4-FFF2-40B4-BE49-F238E27FC236}">
                  <a16:creationId xmlns:a16="http://schemas.microsoft.com/office/drawing/2014/main" id="{63CE37AC-3781-BB31-177C-5CE7E2287CED}"/>
                </a:ext>
              </a:extLst>
            </p:cNvPr>
            <p:cNvPicPr>
              <a:picLocks noChangeAspect="1"/>
            </p:cNvPicPr>
            <p:nvPr userDrawn="1"/>
          </p:nvPicPr>
          <p:blipFill>
            <a:blip r:embed="rId8"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41" name="TextBox 40">
              <a:extLst>
                <a:ext uri="{FF2B5EF4-FFF2-40B4-BE49-F238E27FC236}">
                  <a16:creationId xmlns:a16="http://schemas.microsoft.com/office/drawing/2014/main" id="{C38C9462-D61D-BDFC-9D8E-41D0C89DE06F}"/>
                </a:ext>
              </a:extLst>
            </p:cNvPr>
            <p:cNvSpPr txBox="1"/>
            <p:nvPr userDrawn="1"/>
          </p:nvSpPr>
          <p:spPr>
            <a:xfrm>
              <a:off x="5684843" y="2667000"/>
              <a:ext cx="431529" cy="246221"/>
            </a:xfrm>
            <a:prstGeom prst="rect">
              <a:avLst/>
            </a:prstGeom>
            <a:noFill/>
          </p:spPr>
          <p:txBody>
            <a:bodyPr wrap="none" rtlCol="0">
              <a:spAutoFit/>
            </a:bodyPr>
            <a:lstStyle/>
            <a:p>
              <a:pPr algn="ctr"/>
              <a:r>
                <a:rPr lang="en-US" sz="1000" dirty="0"/>
                <a:t>Idea</a:t>
              </a:r>
            </a:p>
          </p:txBody>
        </p:sp>
      </p:grpSp>
      <p:grpSp>
        <p:nvGrpSpPr>
          <p:cNvPr id="42" name="Group 41">
            <a:extLst>
              <a:ext uri="{FF2B5EF4-FFF2-40B4-BE49-F238E27FC236}">
                <a16:creationId xmlns:a16="http://schemas.microsoft.com/office/drawing/2014/main" id="{5CD12664-0486-A848-58F4-C28C560C54DC}"/>
              </a:ext>
            </a:extLst>
          </p:cNvPr>
          <p:cNvGrpSpPr/>
          <p:nvPr userDrawn="1"/>
        </p:nvGrpSpPr>
        <p:grpSpPr>
          <a:xfrm>
            <a:off x="10412895" y="1752600"/>
            <a:ext cx="937550" cy="1160621"/>
            <a:chOff x="5431831" y="1752600"/>
            <a:chExt cx="937550" cy="1160621"/>
          </a:xfrm>
        </p:grpSpPr>
        <p:pic>
          <p:nvPicPr>
            <p:cNvPr id="43" name="Picture 42">
              <a:extLst>
                <a:ext uri="{FF2B5EF4-FFF2-40B4-BE49-F238E27FC236}">
                  <a16:creationId xmlns:a16="http://schemas.microsoft.com/office/drawing/2014/main" id="{C49D6AE0-9F7E-5646-BBF2-3EB286B932C3}"/>
                </a:ext>
              </a:extLst>
            </p:cNvPr>
            <p:cNvPicPr>
              <a:picLocks noChangeAspect="1"/>
            </p:cNvPicPr>
            <p:nvPr userDrawn="1"/>
          </p:nvPicPr>
          <p:blipFill>
            <a:blip r:embed="rId9"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44" name="TextBox 43">
              <a:extLst>
                <a:ext uri="{FF2B5EF4-FFF2-40B4-BE49-F238E27FC236}">
                  <a16:creationId xmlns:a16="http://schemas.microsoft.com/office/drawing/2014/main" id="{91436932-7489-215B-A927-D94234ABE44F}"/>
                </a:ext>
              </a:extLst>
            </p:cNvPr>
            <p:cNvSpPr txBox="1"/>
            <p:nvPr userDrawn="1"/>
          </p:nvSpPr>
          <p:spPr>
            <a:xfrm>
              <a:off x="5485271" y="2667000"/>
              <a:ext cx="830677" cy="246221"/>
            </a:xfrm>
            <a:prstGeom prst="rect">
              <a:avLst/>
            </a:prstGeom>
            <a:noFill/>
          </p:spPr>
          <p:txBody>
            <a:bodyPr wrap="none" rtlCol="0">
              <a:spAutoFit/>
            </a:bodyPr>
            <a:lstStyle/>
            <a:p>
              <a:pPr algn="ctr"/>
              <a:r>
                <a:rPr lang="en-US" sz="1000" dirty="0"/>
                <a:t>Experiment</a:t>
              </a:r>
            </a:p>
          </p:txBody>
        </p:sp>
      </p:grpSp>
      <p:grpSp>
        <p:nvGrpSpPr>
          <p:cNvPr id="45" name="Group 44">
            <a:extLst>
              <a:ext uri="{FF2B5EF4-FFF2-40B4-BE49-F238E27FC236}">
                <a16:creationId xmlns:a16="http://schemas.microsoft.com/office/drawing/2014/main" id="{2B0F299A-3739-E2C2-ADAB-FEB8CB19AA01}"/>
              </a:ext>
            </a:extLst>
          </p:cNvPr>
          <p:cNvGrpSpPr/>
          <p:nvPr userDrawn="1"/>
        </p:nvGrpSpPr>
        <p:grpSpPr>
          <a:xfrm>
            <a:off x="709105" y="3246863"/>
            <a:ext cx="971741" cy="1160621"/>
            <a:chOff x="709103" y="1752600"/>
            <a:chExt cx="971741" cy="1160621"/>
          </a:xfrm>
        </p:grpSpPr>
        <p:pic>
          <p:nvPicPr>
            <p:cNvPr id="46" name="Picture 45">
              <a:extLst>
                <a:ext uri="{FF2B5EF4-FFF2-40B4-BE49-F238E27FC236}">
                  <a16:creationId xmlns:a16="http://schemas.microsoft.com/office/drawing/2014/main" id="{D7CD17CB-B72B-50B2-32D5-1580EF583820}"/>
                </a:ext>
              </a:extLst>
            </p:cNvPr>
            <p:cNvPicPr>
              <a:picLocks noChangeAspect="1"/>
            </p:cNvPicPr>
            <p:nvPr userDrawn="1"/>
          </p:nvPicPr>
          <p:blipFill>
            <a:blip r:embed="rId10" cstate="screen">
              <a:extLst>
                <a:ext uri="{28A0092B-C50C-407E-A947-70E740481C1C}">
                  <a14:useLocalDpi xmlns:a14="http://schemas.microsoft.com/office/drawing/2010/main"/>
                </a:ext>
              </a:extLst>
            </a:blip>
            <a:srcRect/>
            <a:stretch/>
          </p:blipFill>
          <p:spPr>
            <a:xfrm>
              <a:off x="726198" y="1752600"/>
              <a:ext cx="937550" cy="937550"/>
            </a:xfrm>
            <a:prstGeom prst="rect">
              <a:avLst/>
            </a:prstGeom>
          </p:spPr>
        </p:pic>
        <p:sp>
          <p:nvSpPr>
            <p:cNvPr id="47" name="TextBox 46">
              <a:extLst>
                <a:ext uri="{FF2B5EF4-FFF2-40B4-BE49-F238E27FC236}">
                  <a16:creationId xmlns:a16="http://schemas.microsoft.com/office/drawing/2014/main" id="{ABBBB447-9DD9-51D6-7E1F-53FCEA69C8AE}"/>
                </a:ext>
              </a:extLst>
            </p:cNvPr>
            <p:cNvSpPr txBox="1"/>
            <p:nvPr userDrawn="1"/>
          </p:nvSpPr>
          <p:spPr>
            <a:xfrm>
              <a:off x="709103" y="2667000"/>
              <a:ext cx="971741" cy="246221"/>
            </a:xfrm>
            <a:prstGeom prst="rect">
              <a:avLst/>
            </a:prstGeom>
            <a:noFill/>
          </p:spPr>
          <p:txBody>
            <a:bodyPr wrap="none" rtlCol="0">
              <a:spAutoFit/>
            </a:bodyPr>
            <a:lstStyle/>
            <a:p>
              <a:pPr algn="ctr"/>
              <a:r>
                <a:rPr lang="en-US" sz="1000" dirty="0"/>
                <a:t>Attention/Risk</a:t>
              </a:r>
            </a:p>
          </p:txBody>
        </p:sp>
      </p:grpSp>
      <p:grpSp>
        <p:nvGrpSpPr>
          <p:cNvPr id="48" name="Group 47">
            <a:extLst>
              <a:ext uri="{FF2B5EF4-FFF2-40B4-BE49-F238E27FC236}">
                <a16:creationId xmlns:a16="http://schemas.microsoft.com/office/drawing/2014/main" id="{145483EF-BC35-2B72-DF14-F98491F5A878}"/>
              </a:ext>
            </a:extLst>
          </p:cNvPr>
          <p:cNvGrpSpPr/>
          <p:nvPr userDrawn="1"/>
        </p:nvGrpSpPr>
        <p:grpSpPr>
          <a:xfrm>
            <a:off x="2119913" y="3246863"/>
            <a:ext cx="937550" cy="1160621"/>
            <a:chOff x="2276156" y="1752600"/>
            <a:chExt cx="937550" cy="1160621"/>
          </a:xfrm>
        </p:grpSpPr>
        <p:pic>
          <p:nvPicPr>
            <p:cNvPr id="49" name="Picture 48">
              <a:extLst>
                <a:ext uri="{FF2B5EF4-FFF2-40B4-BE49-F238E27FC236}">
                  <a16:creationId xmlns:a16="http://schemas.microsoft.com/office/drawing/2014/main" id="{DC1CB1A3-CB6A-3F6F-D4C8-D0A375257F59}"/>
                </a:ext>
              </a:extLst>
            </p:cNvPr>
            <p:cNvPicPr>
              <a:picLocks noChangeAspect="1"/>
            </p:cNvPicPr>
            <p:nvPr userDrawn="1"/>
          </p:nvPicPr>
          <p:blipFill>
            <a:blip r:embed="rId11" cstate="screen">
              <a:extLst>
                <a:ext uri="{28A0092B-C50C-407E-A947-70E740481C1C}">
                  <a14:useLocalDpi xmlns:a14="http://schemas.microsoft.com/office/drawing/2010/main"/>
                </a:ext>
              </a:extLst>
            </a:blip>
            <a:srcRect/>
            <a:stretch/>
          </p:blipFill>
          <p:spPr>
            <a:xfrm>
              <a:off x="2276156" y="1752600"/>
              <a:ext cx="937550" cy="937550"/>
            </a:xfrm>
            <a:prstGeom prst="rect">
              <a:avLst/>
            </a:prstGeom>
          </p:spPr>
        </p:pic>
        <p:sp>
          <p:nvSpPr>
            <p:cNvPr id="50" name="TextBox 49">
              <a:extLst>
                <a:ext uri="{FF2B5EF4-FFF2-40B4-BE49-F238E27FC236}">
                  <a16:creationId xmlns:a16="http://schemas.microsoft.com/office/drawing/2014/main" id="{864AB0F9-D4AB-42DC-85C6-261EF3905EB7}"/>
                </a:ext>
              </a:extLst>
            </p:cNvPr>
            <p:cNvSpPr txBox="1"/>
            <p:nvPr userDrawn="1"/>
          </p:nvSpPr>
          <p:spPr>
            <a:xfrm>
              <a:off x="2368868" y="2667000"/>
              <a:ext cx="752129" cy="246221"/>
            </a:xfrm>
            <a:prstGeom prst="rect">
              <a:avLst/>
            </a:prstGeom>
            <a:noFill/>
          </p:spPr>
          <p:txBody>
            <a:bodyPr wrap="none" rtlCol="0">
              <a:spAutoFit/>
            </a:bodyPr>
            <a:lstStyle/>
            <a:p>
              <a:pPr algn="ctr"/>
              <a:r>
                <a:rPr lang="en-US" sz="1000" dirty="0"/>
                <a:t>List/To-do</a:t>
              </a:r>
            </a:p>
          </p:txBody>
        </p:sp>
      </p:grpSp>
      <p:grpSp>
        <p:nvGrpSpPr>
          <p:cNvPr id="51" name="Group 50">
            <a:extLst>
              <a:ext uri="{FF2B5EF4-FFF2-40B4-BE49-F238E27FC236}">
                <a16:creationId xmlns:a16="http://schemas.microsoft.com/office/drawing/2014/main" id="{91D7BD37-7B62-B0BE-B34B-FE7378F9CBAE}"/>
              </a:ext>
            </a:extLst>
          </p:cNvPr>
          <p:cNvGrpSpPr/>
          <p:nvPr userDrawn="1"/>
        </p:nvGrpSpPr>
        <p:grpSpPr>
          <a:xfrm>
            <a:off x="3376712" y="3246863"/>
            <a:ext cx="1184941" cy="1160621"/>
            <a:chOff x="3204355" y="1752600"/>
            <a:chExt cx="1184941" cy="1160621"/>
          </a:xfrm>
        </p:grpSpPr>
        <p:pic>
          <p:nvPicPr>
            <p:cNvPr id="52" name="Picture 51">
              <a:extLst>
                <a:ext uri="{FF2B5EF4-FFF2-40B4-BE49-F238E27FC236}">
                  <a16:creationId xmlns:a16="http://schemas.microsoft.com/office/drawing/2014/main" id="{E016F2B6-B7E8-1132-2642-EA957F1761C7}"/>
                </a:ext>
              </a:extLst>
            </p:cNvPr>
            <p:cNvPicPr>
              <a:picLocks noChangeAspect="1"/>
            </p:cNvPicPr>
            <p:nvPr userDrawn="1"/>
          </p:nvPicPr>
          <p:blipFill>
            <a:blip r:embed="rId12" cstate="screen">
              <a:extLst>
                <a:ext uri="{28A0092B-C50C-407E-A947-70E740481C1C}">
                  <a14:useLocalDpi xmlns:a14="http://schemas.microsoft.com/office/drawing/2010/main"/>
                </a:ext>
              </a:extLst>
            </a:blip>
            <a:srcRect/>
            <a:stretch/>
          </p:blipFill>
          <p:spPr>
            <a:xfrm>
              <a:off x="3328048" y="1752600"/>
              <a:ext cx="937550" cy="937550"/>
            </a:xfrm>
            <a:prstGeom prst="rect">
              <a:avLst/>
            </a:prstGeom>
          </p:spPr>
        </p:pic>
        <p:sp>
          <p:nvSpPr>
            <p:cNvPr id="53" name="TextBox 52">
              <a:extLst>
                <a:ext uri="{FF2B5EF4-FFF2-40B4-BE49-F238E27FC236}">
                  <a16:creationId xmlns:a16="http://schemas.microsoft.com/office/drawing/2014/main" id="{FE880E60-8A4E-251D-C573-98A48CAF06AC}"/>
                </a:ext>
              </a:extLst>
            </p:cNvPr>
            <p:cNvSpPr txBox="1"/>
            <p:nvPr userDrawn="1"/>
          </p:nvSpPr>
          <p:spPr>
            <a:xfrm>
              <a:off x="3204355" y="2667000"/>
              <a:ext cx="1184941" cy="246221"/>
            </a:xfrm>
            <a:prstGeom prst="rect">
              <a:avLst/>
            </a:prstGeom>
            <a:noFill/>
          </p:spPr>
          <p:txBody>
            <a:bodyPr wrap="none" rtlCol="0">
              <a:spAutoFit/>
            </a:bodyPr>
            <a:lstStyle/>
            <a:p>
              <a:pPr algn="ctr"/>
              <a:r>
                <a:rPr lang="en-US" sz="1000" dirty="0"/>
                <a:t>Report/Document</a:t>
              </a:r>
            </a:p>
          </p:txBody>
        </p:sp>
      </p:grpSp>
      <p:grpSp>
        <p:nvGrpSpPr>
          <p:cNvPr id="54" name="Group 53">
            <a:extLst>
              <a:ext uri="{FF2B5EF4-FFF2-40B4-BE49-F238E27FC236}">
                <a16:creationId xmlns:a16="http://schemas.microsoft.com/office/drawing/2014/main" id="{A6033F2C-0684-B356-46F6-D9BF89D9EBB8}"/>
              </a:ext>
            </a:extLst>
          </p:cNvPr>
          <p:cNvGrpSpPr/>
          <p:nvPr userDrawn="1"/>
        </p:nvGrpSpPr>
        <p:grpSpPr>
          <a:xfrm>
            <a:off x="6247355" y="3246863"/>
            <a:ext cx="937550" cy="1160621"/>
            <a:chOff x="4379940" y="1752600"/>
            <a:chExt cx="937550" cy="1160621"/>
          </a:xfrm>
        </p:grpSpPr>
        <p:pic>
          <p:nvPicPr>
            <p:cNvPr id="55" name="Picture 54">
              <a:extLst>
                <a:ext uri="{FF2B5EF4-FFF2-40B4-BE49-F238E27FC236}">
                  <a16:creationId xmlns:a16="http://schemas.microsoft.com/office/drawing/2014/main" id="{39BAD218-B5C9-34D3-5AF3-0CBB52EE323D}"/>
                </a:ext>
              </a:extLst>
            </p:cNvPr>
            <p:cNvPicPr>
              <a:picLocks noChangeAspect="1"/>
            </p:cNvPicPr>
            <p:nvPr userDrawn="1"/>
          </p:nvPicPr>
          <p:blipFill>
            <a:blip r:embed="rId13" cstate="screen">
              <a:extLst>
                <a:ext uri="{28A0092B-C50C-407E-A947-70E740481C1C}">
                  <a14:useLocalDpi xmlns:a14="http://schemas.microsoft.com/office/drawing/2010/main"/>
                </a:ext>
              </a:extLst>
            </a:blip>
            <a:srcRect/>
            <a:stretch/>
          </p:blipFill>
          <p:spPr>
            <a:xfrm>
              <a:off x="4379940" y="1752600"/>
              <a:ext cx="937550" cy="937550"/>
            </a:xfrm>
            <a:prstGeom prst="rect">
              <a:avLst/>
            </a:prstGeom>
          </p:spPr>
        </p:pic>
        <p:sp>
          <p:nvSpPr>
            <p:cNvPr id="56" name="TextBox 55">
              <a:extLst>
                <a:ext uri="{FF2B5EF4-FFF2-40B4-BE49-F238E27FC236}">
                  <a16:creationId xmlns:a16="http://schemas.microsoft.com/office/drawing/2014/main" id="{9E81308E-5F10-C3B2-DBCC-5B1B946E1E11}"/>
                </a:ext>
              </a:extLst>
            </p:cNvPr>
            <p:cNvSpPr txBox="1"/>
            <p:nvPr userDrawn="1"/>
          </p:nvSpPr>
          <p:spPr>
            <a:xfrm>
              <a:off x="4429371" y="2667000"/>
              <a:ext cx="838691" cy="246221"/>
            </a:xfrm>
            <a:prstGeom prst="rect">
              <a:avLst/>
            </a:prstGeom>
            <a:noFill/>
          </p:spPr>
          <p:txBody>
            <a:bodyPr wrap="none" rtlCol="0">
              <a:spAutoFit/>
            </a:bodyPr>
            <a:lstStyle/>
            <a:p>
              <a:pPr algn="ctr"/>
              <a:r>
                <a:rPr lang="en-US" sz="1000" dirty="0"/>
                <a:t>Microscope</a:t>
              </a:r>
            </a:p>
          </p:txBody>
        </p:sp>
      </p:grpSp>
      <p:grpSp>
        <p:nvGrpSpPr>
          <p:cNvPr id="57" name="Group 56">
            <a:extLst>
              <a:ext uri="{FF2B5EF4-FFF2-40B4-BE49-F238E27FC236}">
                <a16:creationId xmlns:a16="http://schemas.microsoft.com/office/drawing/2014/main" id="{BCB13DA3-C4EA-FA14-E54A-64A7393C4797}"/>
              </a:ext>
            </a:extLst>
          </p:cNvPr>
          <p:cNvGrpSpPr/>
          <p:nvPr userDrawn="1"/>
        </p:nvGrpSpPr>
        <p:grpSpPr>
          <a:xfrm>
            <a:off x="10412895" y="3246863"/>
            <a:ext cx="937550" cy="1160621"/>
            <a:chOff x="5431831" y="1752600"/>
            <a:chExt cx="937550" cy="1160621"/>
          </a:xfrm>
        </p:grpSpPr>
        <p:pic>
          <p:nvPicPr>
            <p:cNvPr id="58" name="Picture 57">
              <a:extLst>
                <a:ext uri="{FF2B5EF4-FFF2-40B4-BE49-F238E27FC236}">
                  <a16:creationId xmlns:a16="http://schemas.microsoft.com/office/drawing/2014/main" id="{2E0CFCFC-C544-673F-AC06-758A8EEB54E3}"/>
                </a:ext>
              </a:extLst>
            </p:cNvPr>
            <p:cNvPicPr>
              <a:picLocks noChangeAspect="1"/>
            </p:cNvPicPr>
            <p:nvPr userDrawn="1"/>
          </p:nvPicPr>
          <p:blipFill>
            <a:blip r:embed="rId14"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59" name="TextBox 58">
              <a:extLst>
                <a:ext uri="{FF2B5EF4-FFF2-40B4-BE49-F238E27FC236}">
                  <a16:creationId xmlns:a16="http://schemas.microsoft.com/office/drawing/2014/main" id="{761C5F85-20F7-D144-95A9-0CE5C5D9B15C}"/>
                </a:ext>
              </a:extLst>
            </p:cNvPr>
            <p:cNvSpPr txBox="1"/>
            <p:nvPr userDrawn="1"/>
          </p:nvSpPr>
          <p:spPr>
            <a:xfrm>
              <a:off x="5485270" y="2667000"/>
              <a:ext cx="830676" cy="246221"/>
            </a:xfrm>
            <a:prstGeom prst="rect">
              <a:avLst/>
            </a:prstGeom>
            <a:noFill/>
          </p:spPr>
          <p:txBody>
            <a:bodyPr wrap="none" rtlCol="0">
              <a:spAutoFit/>
            </a:bodyPr>
            <a:lstStyle/>
            <a:p>
              <a:pPr algn="ctr"/>
              <a:r>
                <a:rPr lang="en-US" sz="1000" dirty="0"/>
                <a:t>Experiment</a:t>
              </a:r>
            </a:p>
          </p:txBody>
        </p:sp>
      </p:grpSp>
      <p:grpSp>
        <p:nvGrpSpPr>
          <p:cNvPr id="60" name="Group 59">
            <a:extLst>
              <a:ext uri="{FF2B5EF4-FFF2-40B4-BE49-F238E27FC236}">
                <a16:creationId xmlns:a16="http://schemas.microsoft.com/office/drawing/2014/main" id="{6B523C45-1411-FFA2-CDD6-030F8673413B}"/>
              </a:ext>
            </a:extLst>
          </p:cNvPr>
          <p:cNvGrpSpPr/>
          <p:nvPr userDrawn="1"/>
        </p:nvGrpSpPr>
        <p:grpSpPr>
          <a:xfrm>
            <a:off x="7661269" y="3246863"/>
            <a:ext cx="937550" cy="1160621"/>
            <a:chOff x="5431831" y="1752600"/>
            <a:chExt cx="937550" cy="1160621"/>
          </a:xfrm>
        </p:grpSpPr>
        <p:pic>
          <p:nvPicPr>
            <p:cNvPr id="61" name="Picture 60">
              <a:extLst>
                <a:ext uri="{FF2B5EF4-FFF2-40B4-BE49-F238E27FC236}">
                  <a16:creationId xmlns:a16="http://schemas.microsoft.com/office/drawing/2014/main" id="{CBAEB1D6-A0DB-C3DE-CEFD-60B96E056668}"/>
                </a:ext>
              </a:extLst>
            </p:cNvPr>
            <p:cNvPicPr>
              <a:picLocks noChangeAspect="1"/>
            </p:cNvPicPr>
            <p:nvPr userDrawn="1"/>
          </p:nvPicPr>
          <p:blipFill>
            <a:blip r:embed="rId15"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62" name="TextBox 61">
              <a:extLst>
                <a:ext uri="{FF2B5EF4-FFF2-40B4-BE49-F238E27FC236}">
                  <a16:creationId xmlns:a16="http://schemas.microsoft.com/office/drawing/2014/main" id="{1DB68FE0-405B-2CB1-9B49-0529846D28AF}"/>
                </a:ext>
              </a:extLst>
            </p:cNvPr>
            <p:cNvSpPr txBox="1"/>
            <p:nvPr userDrawn="1"/>
          </p:nvSpPr>
          <p:spPr>
            <a:xfrm>
              <a:off x="5627937" y="2667000"/>
              <a:ext cx="545342" cy="246221"/>
            </a:xfrm>
            <a:prstGeom prst="rect">
              <a:avLst/>
            </a:prstGeom>
            <a:noFill/>
          </p:spPr>
          <p:txBody>
            <a:bodyPr wrap="none" rtlCol="0">
              <a:spAutoFit/>
            </a:bodyPr>
            <a:lstStyle/>
            <a:p>
              <a:pPr algn="ctr"/>
              <a:r>
                <a:rPr lang="en-US" sz="1000" dirty="0"/>
                <a:t>Space</a:t>
              </a:r>
            </a:p>
          </p:txBody>
        </p:sp>
      </p:grpSp>
      <p:grpSp>
        <p:nvGrpSpPr>
          <p:cNvPr id="66" name="Group 65">
            <a:extLst>
              <a:ext uri="{FF2B5EF4-FFF2-40B4-BE49-F238E27FC236}">
                <a16:creationId xmlns:a16="http://schemas.microsoft.com/office/drawing/2014/main" id="{9C8573B0-C3E9-BD4A-12C6-2C05FEB654FB}"/>
              </a:ext>
            </a:extLst>
          </p:cNvPr>
          <p:cNvGrpSpPr/>
          <p:nvPr userDrawn="1"/>
        </p:nvGrpSpPr>
        <p:grpSpPr>
          <a:xfrm>
            <a:off x="4800600" y="3246863"/>
            <a:ext cx="1114409" cy="1160621"/>
            <a:chOff x="5343407" y="1752600"/>
            <a:chExt cx="1114409" cy="1160621"/>
          </a:xfrm>
        </p:grpSpPr>
        <p:pic>
          <p:nvPicPr>
            <p:cNvPr id="67" name="Picture 66">
              <a:extLst>
                <a:ext uri="{FF2B5EF4-FFF2-40B4-BE49-F238E27FC236}">
                  <a16:creationId xmlns:a16="http://schemas.microsoft.com/office/drawing/2014/main" id="{E7FB7A2A-2D14-1105-B15D-4F4C04A6FF74}"/>
                </a:ext>
              </a:extLst>
            </p:cNvPr>
            <p:cNvPicPr>
              <a:picLocks noChangeAspect="1"/>
            </p:cNvPicPr>
            <p:nvPr userDrawn="1"/>
          </p:nvPicPr>
          <p:blipFill>
            <a:blip r:embed="rId16"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68" name="TextBox 67">
              <a:extLst>
                <a:ext uri="{FF2B5EF4-FFF2-40B4-BE49-F238E27FC236}">
                  <a16:creationId xmlns:a16="http://schemas.microsoft.com/office/drawing/2014/main" id="{4CA22A94-509E-32C8-87A6-C41E8B1B2DEA}"/>
                </a:ext>
              </a:extLst>
            </p:cNvPr>
            <p:cNvSpPr txBox="1"/>
            <p:nvPr userDrawn="1"/>
          </p:nvSpPr>
          <p:spPr>
            <a:xfrm>
              <a:off x="5343407" y="2667000"/>
              <a:ext cx="1114409" cy="246221"/>
            </a:xfrm>
            <a:prstGeom prst="rect">
              <a:avLst/>
            </a:prstGeom>
            <a:noFill/>
          </p:spPr>
          <p:txBody>
            <a:bodyPr wrap="none" rtlCol="0">
              <a:spAutoFit/>
            </a:bodyPr>
            <a:lstStyle/>
            <a:p>
              <a:pPr algn="ctr"/>
              <a:r>
                <a:rPr lang="en-US" sz="1000" dirty="0"/>
                <a:t>Report/Analytics</a:t>
              </a:r>
            </a:p>
          </p:txBody>
        </p:sp>
      </p:grpSp>
      <p:grpSp>
        <p:nvGrpSpPr>
          <p:cNvPr id="69" name="Group 68">
            <a:extLst>
              <a:ext uri="{FF2B5EF4-FFF2-40B4-BE49-F238E27FC236}">
                <a16:creationId xmlns:a16="http://schemas.microsoft.com/office/drawing/2014/main" id="{846D9EA6-D0B5-18CC-6C05-63F3908918A0}"/>
              </a:ext>
            </a:extLst>
          </p:cNvPr>
          <p:cNvGrpSpPr/>
          <p:nvPr userDrawn="1"/>
        </p:nvGrpSpPr>
        <p:grpSpPr>
          <a:xfrm>
            <a:off x="9037083" y="3246863"/>
            <a:ext cx="937550" cy="1160621"/>
            <a:chOff x="5431831" y="1752600"/>
            <a:chExt cx="937550" cy="1160621"/>
          </a:xfrm>
        </p:grpSpPr>
        <p:pic>
          <p:nvPicPr>
            <p:cNvPr id="70" name="Picture 69">
              <a:extLst>
                <a:ext uri="{FF2B5EF4-FFF2-40B4-BE49-F238E27FC236}">
                  <a16:creationId xmlns:a16="http://schemas.microsoft.com/office/drawing/2014/main" id="{56CADE8A-6EC7-51D0-0CFE-1124AA9C6C51}"/>
                </a:ext>
              </a:extLst>
            </p:cNvPr>
            <p:cNvPicPr>
              <a:picLocks noChangeAspect="1"/>
            </p:cNvPicPr>
            <p:nvPr userDrawn="1"/>
          </p:nvPicPr>
          <p:blipFill>
            <a:blip r:embed="rId17"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71" name="TextBox 70">
              <a:extLst>
                <a:ext uri="{FF2B5EF4-FFF2-40B4-BE49-F238E27FC236}">
                  <a16:creationId xmlns:a16="http://schemas.microsoft.com/office/drawing/2014/main" id="{9702BEAC-3F80-2061-C091-2E2DE37438D1}"/>
                </a:ext>
              </a:extLst>
            </p:cNvPr>
            <p:cNvSpPr txBox="1"/>
            <p:nvPr userDrawn="1"/>
          </p:nvSpPr>
          <p:spPr>
            <a:xfrm>
              <a:off x="5599081" y="2667000"/>
              <a:ext cx="603050" cy="246221"/>
            </a:xfrm>
            <a:prstGeom prst="rect">
              <a:avLst/>
            </a:prstGeom>
            <a:noFill/>
          </p:spPr>
          <p:txBody>
            <a:bodyPr wrap="none" rtlCol="0">
              <a:spAutoFit/>
            </a:bodyPr>
            <a:lstStyle/>
            <a:p>
              <a:pPr algn="ctr"/>
              <a:r>
                <a:rPr lang="en-US" sz="1000" dirty="0"/>
                <a:t>Biology</a:t>
              </a:r>
            </a:p>
          </p:txBody>
        </p:sp>
      </p:grpSp>
    </p:spTree>
    <p:extLst>
      <p:ext uri="{BB962C8B-B14F-4D97-AF65-F5344CB8AC3E}">
        <p14:creationId xmlns:p14="http://schemas.microsoft.com/office/powerpoint/2010/main" val="3241306813"/>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titleOnly" preserve="1">
  <p:cSld name="2_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CE7BEB-3F95-F7BD-8C6B-C9CDE17AD06E}"/>
              </a:ext>
            </a:extLst>
          </p:cNvPr>
          <p:cNvSpPr>
            <a:spLocks noGrp="1"/>
          </p:cNvSpPr>
          <p:nvPr>
            <p:ph type="title" hasCustomPrompt="1"/>
          </p:nvPr>
        </p:nvSpPr>
        <p:spPr>
          <a:xfrm>
            <a:off x="914400" y="755930"/>
            <a:ext cx="10325100" cy="1325563"/>
          </a:xfrm>
        </p:spPr>
        <p:txBody>
          <a:bodyPr/>
          <a:lstStyle/>
          <a:p>
            <a:r>
              <a:rPr lang="en-US" dirty="0"/>
              <a:t>Icon Sets</a:t>
            </a:r>
          </a:p>
        </p:txBody>
      </p:sp>
      <p:sp>
        <p:nvSpPr>
          <p:cNvPr id="4" name="Footer Placeholder 3">
            <a:extLst>
              <a:ext uri="{FF2B5EF4-FFF2-40B4-BE49-F238E27FC236}">
                <a16:creationId xmlns:a16="http://schemas.microsoft.com/office/drawing/2014/main" id="{27D41258-C225-30B8-4068-2B71A0ED381A}"/>
              </a:ext>
            </a:extLst>
          </p:cNvPr>
          <p:cNvSpPr>
            <a:spLocks noGrp="1"/>
          </p:cNvSpPr>
          <p:nvPr>
            <p:ph type="ftr" sz="quarter" idx="11"/>
          </p:nvPr>
        </p:nvSpPr>
        <p:spPr/>
        <p:txBody>
          <a:bodyPr/>
          <a:lstStyle/>
          <a:p>
            <a:r>
              <a:rPr lang="en-US" dirty="0"/>
              <a:t>Biological &amp; Physical Sciences</a:t>
            </a:r>
          </a:p>
        </p:txBody>
      </p:sp>
      <p:sp>
        <p:nvSpPr>
          <p:cNvPr id="5" name="Slide Number Placeholder 4">
            <a:extLst>
              <a:ext uri="{FF2B5EF4-FFF2-40B4-BE49-F238E27FC236}">
                <a16:creationId xmlns:a16="http://schemas.microsoft.com/office/drawing/2014/main" id="{C1FA1CED-BEE1-ACF5-8AEE-094C9B16F7D7}"/>
              </a:ext>
            </a:extLst>
          </p:cNvPr>
          <p:cNvSpPr>
            <a:spLocks noGrp="1"/>
          </p:cNvSpPr>
          <p:nvPr>
            <p:ph type="sldNum" sz="quarter" idx="12"/>
          </p:nvPr>
        </p:nvSpPr>
        <p:spPr/>
        <p:txBody>
          <a:bodyPr/>
          <a:lstStyle/>
          <a:p>
            <a:fld id="{E8618032-BA8D-3D4D-8253-A70208A85976}" type="slidenum">
              <a:rPr lang="en-US" smtClean="0"/>
              <a:t>‹#›</a:t>
            </a:fld>
            <a:endParaRPr lang="en-US"/>
          </a:p>
        </p:txBody>
      </p:sp>
      <p:grpSp>
        <p:nvGrpSpPr>
          <p:cNvPr id="16" name="Group 15">
            <a:extLst>
              <a:ext uri="{FF2B5EF4-FFF2-40B4-BE49-F238E27FC236}">
                <a16:creationId xmlns:a16="http://schemas.microsoft.com/office/drawing/2014/main" id="{DF2DBF73-78F1-5E34-BB47-F8D4315E883F}"/>
              </a:ext>
            </a:extLst>
          </p:cNvPr>
          <p:cNvGrpSpPr/>
          <p:nvPr userDrawn="1"/>
        </p:nvGrpSpPr>
        <p:grpSpPr>
          <a:xfrm>
            <a:off x="620138" y="1752600"/>
            <a:ext cx="1149675" cy="1160621"/>
            <a:chOff x="620138" y="1752600"/>
            <a:chExt cx="1149675" cy="1160621"/>
          </a:xfrm>
        </p:grpSpPr>
        <p:pic>
          <p:nvPicPr>
            <p:cNvPr id="21" name="Picture 20">
              <a:extLst>
                <a:ext uri="{FF2B5EF4-FFF2-40B4-BE49-F238E27FC236}">
                  <a16:creationId xmlns:a16="http://schemas.microsoft.com/office/drawing/2014/main" id="{084DCB50-DA15-0746-CC36-3D6CE4CCBCE1}"/>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726198" y="1752600"/>
              <a:ext cx="937550" cy="937550"/>
            </a:xfrm>
            <a:prstGeom prst="rect">
              <a:avLst/>
            </a:prstGeom>
          </p:spPr>
        </p:pic>
        <p:sp>
          <p:nvSpPr>
            <p:cNvPr id="6" name="TextBox 5">
              <a:extLst>
                <a:ext uri="{FF2B5EF4-FFF2-40B4-BE49-F238E27FC236}">
                  <a16:creationId xmlns:a16="http://schemas.microsoft.com/office/drawing/2014/main" id="{4C756196-4ADF-DF0C-EBDC-F9F2C81AC2F4}"/>
                </a:ext>
              </a:extLst>
            </p:cNvPr>
            <p:cNvSpPr txBox="1"/>
            <p:nvPr userDrawn="1"/>
          </p:nvSpPr>
          <p:spPr>
            <a:xfrm>
              <a:off x="620138" y="2667000"/>
              <a:ext cx="1149675" cy="246221"/>
            </a:xfrm>
            <a:prstGeom prst="rect">
              <a:avLst/>
            </a:prstGeom>
            <a:noFill/>
          </p:spPr>
          <p:txBody>
            <a:bodyPr wrap="none" rtlCol="0">
              <a:spAutoFit/>
            </a:bodyPr>
            <a:lstStyle/>
            <a:p>
              <a:pPr algn="ctr"/>
              <a:r>
                <a:rPr lang="en-US" sz="1000" dirty="0"/>
                <a:t>Physical Science</a:t>
              </a:r>
            </a:p>
          </p:txBody>
        </p:sp>
      </p:grpSp>
      <p:grpSp>
        <p:nvGrpSpPr>
          <p:cNvPr id="18" name="Group 17">
            <a:extLst>
              <a:ext uri="{FF2B5EF4-FFF2-40B4-BE49-F238E27FC236}">
                <a16:creationId xmlns:a16="http://schemas.microsoft.com/office/drawing/2014/main" id="{511910B8-EFDC-F4BD-D871-01250E169D33}"/>
              </a:ext>
            </a:extLst>
          </p:cNvPr>
          <p:cNvGrpSpPr/>
          <p:nvPr userDrawn="1"/>
        </p:nvGrpSpPr>
        <p:grpSpPr>
          <a:xfrm>
            <a:off x="2119913" y="1752600"/>
            <a:ext cx="937550" cy="1160621"/>
            <a:chOff x="2276156" y="1752600"/>
            <a:chExt cx="937550" cy="1160621"/>
          </a:xfrm>
        </p:grpSpPr>
        <p:pic>
          <p:nvPicPr>
            <p:cNvPr id="19" name="Picture 18">
              <a:extLst>
                <a:ext uri="{FF2B5EF4-FFF2-40B4-BE49-F238E27FC236}">
                  <a16:creationId xmlns:a16="http://schemas.microsoft.com/office/drawing/2014/main" id="{FE1E2990-A33D-309A-9F68-08D9A1E0E4DF}"/>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2276156" y="1752600"/>
              <a:ext cx="937550" cy="937550"/>
            </a:xfrm>
            <a:prstGeom prst="rect">
              <a:avLst/>
            </a:prstGeom>
          </p:spPr>
        </p:pic>
        <p:sp>
          <p:nvSpPr>
            <p:cNvPr id="8" name="TextBox 7">
              <a:extLst>
                <a:ext uri="{FF2B5EF4-FFF2-40B4-BE49-F238E27FC236}">
                  <a16:creationId xmlns:a16="http://schemas.microsoft.com/office/drawing/2014/main" id="{D490AC53-46B8-9208-4DAB-7EBDD1243E80}"/>
                </a:ext>
              </a:extLst>
            </p:cNvPr>
            <p:cNvSpPr txBox="1"/>
            <p:nvPr userDrawn="1"/>
          </p:nvSpPr>
          <p:spPr>
            <a:xfrm>
              <a:off x="2390507" y="2667000"/>
              <a:ext cx="708848" cy="246221"/>
            </a:xfrm>
            <a:prstGeom prst="rect">
              <a:avLst/>
            </a:prstGeom>
            <a:noFill/>
          </p:spPr>
          <p:txBody>
            <a:bodyPr wrap="none" rtlCol="0">
              <a:spAutoFit/>
            </a:bodyPr>
            <a:lstStyle/>
            <a:p>
              <a:pPr algn="ctr"/>
              <a:r>
                <a:rPr lang="en-US" sz="1000" dirty="0"/>
                <a:t>Quantum</a:t>
              </a:r>
            </a:p>
          </p:txBody>
        </p:sp>
      </p:grpSp>
      <p:grpSp>
        <p:nvGrpSpPr>
          <p:cNvPr id="20" name="Group 19">
            <a:extLst>
              <a:ext uri="{FF2B5EF4-FFF2-40B4-BE49-F238E27FC236}">
                <a16:creationId xmlns:a16="http://schemas.microsoft.com/office/drawing/2014/main" id="{63D160AB-747D-0C84-DB2C-12A72938449E}"/>
              </a:ext>
            </a:extLst>
          </p:cNvPr>
          <p:cNvGrpSpPr/>
          <p:nvPr userDrawn="1"/>
        </p:nvGrpSpPr>
        <p:grpSpPr>
          <a:xfrm>
            <a:off x="3500407" y="1752600"/>
            <a:ext cx="937550" cy="1160621"/>
            <a:chOff x="3328048" y="1752600"/>
            <a:chExt cx="937550" cy="1160621"/>
          </a:xfrm>
        </p:grpSpPr>
        <p:pic>
          <p:nvPicPr>
            <p:cNvPr id="35" name="Picture 34">
              <a:extLst>
                <a:ext uri="{FF2B5EF4-FFF2-40B4-BE49-F238E27FC236}">
                  <a16:creationId xmlns:a16="http://schemas.microsoft.com/office/drawing/2014/main" id="{9F58E307-692E-76E5-915A-6BE8C8A6C342}"/>
                </a:ext>
              </a:extLst>
            </p:cNvPr>
            <p:cNvPicPr>
              <a:picLocks noChangeAspect="1"/>
            </p:cNvPicPr>
            <p:nvPr userDrawn="1"/>
          </p:nvPicPr>
          <p:blipFill>
            <a:blip r:embed="rId4" cstate="screen">
              <a:extLst>
                <a:ext uri="{28A0092B-C50C-407E-A947-70E740481C1C}">
                  <a14:useLocalDpi xmlns:a14="http://schemas.microsoft.com/office/drawing/2010/main"/>
                </a:ext>
              </a:extLst>
            </a:blip>
            <a:srcRect/>
            <a:stretch/>
          </p:blipFill>
          <p:spPr>
            <a:xfrm>
              <a:off x="3328048" y="1752600"/>
              <a:ext cx="937550" cy="937550"/>
            </a:xfrm>
            <a:prstGeom prst="rect">
              <a:avLst/>
            </a:prstGeom>
          </p:spPr>
        </p:pic>
        <p:sp>
          <p:nvSpPr>
            <p:cNvPr id="10" name="TextBox 9">
              <a:extLst>
                <a:ext uri="{FF2B5EF4-FFF2-40B4-BE49-F238E27FC236}">
                  <a16:creationId xmlns:a16="http://schemas.microsoft.com/office/drawing/2014/main" id="{9F976D59-973C-B3ED-21A7-6E1BF17E1F28}"/>
                </a:ext>
              </a:extLst>
            </p:cNvPr>
            <p:cNvSpPr txBox="1"/>
            <p:nvPr userDrawn="1"/>
          </p:nvSpPr>
          <p:spPr>
            <a:xfrm>
              <a:off x="3565830" y="2667000"/>
              <a:ext cx="461986" cy="246221"/>
            </a:xfrm>
            <a:prstGeom prst="rect">
              <a:avLst/>
            </a:prstGeom>
            <a:noFill/>
          </p:spPr>
          <p:txBody>
            <a:bodyPr wrap="none" rtlCol="0">
              <a:spAutoFit/>
            </a:bodyPr>
            <a:lstStyle/>
            <a:p>
              <a:pPr algn="ctr"/>
              <a:r>
                <a:rPr lang="en-US" sz="1000" dirty="0"/>
                <a:t>Fluid</a:t>
              </a:r>
            </a:p>
          </p:txBody>
        </p:sp>
      </p:grpSp>
      <p:grpSp>
        <p:nvGrpSpPr>
          <p:cNvPr id="22" name="Group 21">
            <a:extLst>
              <a:ext uri="{FF2B5EF4-FFF2-40B4-BE49-F238E27FC236}">
                <a16:creationId xmlns:a16="http://schemas.microsoft.com/office/drawing/2014/main" id="{DFEA1BB1-12A4-2E2E-1955-F3A8B5472743}"/>
              </a:ext>
            </a:extLst>
          </p:cNvPr>
          <p:cNvGrpSpPr/>
          <p:nvPr userDrawn="1"/>
        </p:nvGrpSpPr>
        <p:grpSpPr>
          <a:xfrm>
            <a:off x="4889029" y="1752600"/>
            <a:ext cx="937550" cy="1160621"/>
            <a:chOff x="4379940" y="1752600"/>
            <a:chExt cx="937550" cy="1160621"/>
          </a:xfrm>
        </p:grpSpPr>
        <p:pic>
          <p:nvPicPr>
            <p:cNvPr id="34" name="Picture 33">
              <a:extLst>
                <a:ext uri="{FF2B5EF4-FFF2-40B4-BE49-F238E27FC236}">
                  <a16:creationId xmlns:a16="http://schemas.microsoft.com/office/drawing/2014/main" id="{0E9DBB58-6406-2088-AE7D-CD856A1E7ACD}"/>
                </a:ext>
              </a:extLst>
            </p:cNvPr>
            <p:cNvPicPr>
              <a:picLocks noChangeAspect="1"/>
            </p:cNvPicPr>
            <p:nvPr userDrawn="1"/>
          </p:nvPicPr>
          <p:blipFill>
            <a:blip r:embed="rId5" cstate="screen">
              <a:extLst>
                <a:ext uri="{28A0092B-C50C-407E-A947-70E740481C1C}">
                  <a14:useLocalDpi xmlns:a14="http://schemas.microsoft.com/office/drawing/2010/main"/>
                </a:ext>
              </a:extLst>
            </a:blip>
            <a:srcRect/>
            <a:stretch/>
          </p:blipFill>
          <p:spPr>
            <a:xfrm>
              <a:off x="4379940" y="1752600"/>
              <a:ext cx="937550" cy="937550"/>
            </a:xfrm>
            <a:prstGeom prst="rect">
              <a:avLst/>
            </a:prstGeom>
          </p:spPr>
        </p:pic>
        <p:sp>
          <p:nvSpPr>
            <p:cNvPr id="12" name="TextBox 11">
              <a:extLst>
                <a:ext uri="{FF2B5EF4-FFF2-40B4-BE49-F238E27FC236}">
                  <a16:creationId xmlns:a16="http://schemas.microsoft.com/office/drawing/2014/main" id="{8D472200-79FE-9C5A-93BA-31F52D3EE86F}"/>
                </a:ext>
              </a:extLst>
            </p:cNvPr>
            <p:cNvSpPr txBox="1"/>
            <p:nvPr userDrawn="1"/>
          </p:nvSpPr>
          <p:spPr>
            <a:xfrm>
              <a:off x="4483070" y="2667000"/>
              <a:ext cx="731290" cy="246221"/>
            </a:xfrm>
            <a:prstGeom prst="rect">
              <a:avLst/>
            </a:prstGeom>
            <a:noFill/>
          </p:spPr>
          <p:txBody>
            <a:bodyPr wrap="none" rtlCol="0">
              <a:spAutoFit/>
            </a:bodyPr>
            <a:lstStyle/>
            <a:p>
              <a:pPr algn="ctr"/>
              <a:r>
                <a:rPr lang="en-US" sz="1000" dirty="0"/>
                <a:t>Complete</a:t>
              </a:r>
            </a:p>
          </p:txBody>
        </p:sp>
      </p:grpSp>
      <p:grpSp>
        <p:nvGrpSpPr>
          <p:cNvPr id="23" name="Group 22">
            <a:extLst>
              <a:ext uri="{FF2B5EF4-FFF2-40B4-BE49-F238E27FC236}">
                <a16:creationId xmlns:a16="http://schemas.microsoft.com/office/drawing/2014/main" id="{2BC30226-E85A-EAB4-EA3A-2F8AF418AC7A}"/>
              </a:ext>
            </a:extLst>
          </p:cNvPr>
          <p:cNvGrpSpPr/>
          <p:nvPr userDrawn="1"/>
        </p:nvGrpSpPr>
        <p:grpSpPr>
          <a:xfrm>
            <a:off x="6247355" y="1752600"/>
            <a:ext cx="937550" cy="1160621"/>
            <a:chOff x="5431831" y="1752600"/>
            <a:chExt cx="937550" cy="1160621"/>
          </a:xfrm>
        </p:grpSpPr>
        <p:pic>
          <p:nvPicPr>
            <p:cNvPr id="39" name="Picture 38">
              <a:extLst>
                <a:ext uri="{FF2B5EF4-FFF2-40B4-BE49-F238E27FC236}">
                  <a16:creationId xmlns:a16="http://schemas.microsoft.com/office/drawing/2014/main" id="{829FB4C8-0924-DD30-1DEA-0B2E407C2C96}"/>
                </a:ext>
              </a:extLst>
            </p:cNvPr>
            <p:cNvPicPr>
              <a:picLocks noChangeAspect="1"/>
            </p:cNvPicPr>
            <p:nvPr userDrawn="1"/>
          </p:nvPicPr>
          <p:blipFill>
            <a:blip r:embed="rId6"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14" name="TextBox 13">
              <a:extLst>
                <a:ext uri="{FF2B5EF4-FFF2-40B4-BE49-F238E27FC236}">
                  <a16:creationId xmlns:a16="http://schemas.microsoft.com/office/drawing/2014/main" id="{2E9D3CBF-9626-9176-B486-F34F15BE4A9E}"/>
                </a:ext>
              </a:extLst>
            </p:cNvPr>
            <p:cNvSpPr txBox="1"/>
            <p:nvPr userDrawn="1"/>
          </p:nvSpPr>
          <p:spPr>
            <a:xfrm>
              <a:off x="5530953" y="2667000"/>
              <a:ext cx="739306" cy="246221"/>
            </a:xfrm>
            <a:prstGeom prst="rect">
              <a:avLst/>
            </a:prstGeom>
            <a:noFill/>
          </p:spPr>
          <p:txBody>
            <a:bodyPr wrap="none" rtlCol="0">
              <a:spAutoFit/>
            </a:bodyPr>
            <a:lstStyle/>
            <a:p>
              <a:pPr algn="ctr"/>
              <a:r>
                <a:rPr lang="en-US" sz="1000" dirty="0"/>
                <a:t>Molecular</a:t>
              </a:r>
            </a:p>
          </p:txBody>
        </p:sp>
      </p:grpSp>
      <p:grpSp>
        <p:nvGrpSpPr>
          <p:cNvPr id="24" name="Group 23">
            <a:extLst>
              <a:ext uri="{FF2B5EF4-FFF2-40B4-BE49-F238E27FC236}">
                <a16:creationId xmlns:a16="http://schemas.microsoft.com/office/drawing/2014/main" id="{F5EC613B-9512-31BF-730B-49C7B41C44C6}"/>
              </a:ext>
            </a:extLst>
          </p:cNvPr>
          <p:cNvGrpSpPr/>
          <p:nvPr userDrawn="1"/>
        </p:nvGrpSpPr>
        <p:grpSpPr>
          <a:xfrm>
            <a:off x="7661269" y="1752600"/>
            <a:ext cx="937550" cy="1160621"/>
            <a:chOff x="5431831" y="1752600"/>
            <a:chExt cx="937550" cy="1160621"/>
          </a:xfrm>
        </p:grpSpPr>
        <p:pic>
          <p:nvPicPr>
            <p:cNvPr id="25" name="Picture 24">
              <a:extLst>
                <a:ext uri="{FF2B5EF4-FFF2-40B4-BE49-F238E27FC236}">
                  <a16:creationId xmlns:a16="http://schemas.microsoft.com/office/drawing/2014/main" id="{3EA005A4-9DA7-B0C3-08EE-98CB0CE9BA4A}"/>
                </a:ext>
              </a:extLst>
            </p:cNvPr>
            <p:cNvPicPr>
              <a:picLocks noChangeAspect="1"/>
            </p:cNvPicPr>
            <p:nvPr userDrawn="1"/>
          </p:nvPicPr>
          <p:blipFill>
            <a:blip r:embed="rId7"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26" name="TextBox 25">
              <a:extLst>
                <a:ext uri="{FF2B5EF4-FFF2-40B4-BE49-F238E27FC236}">
                  <a16:creationId xmlns:a16="http://schemas.microsoft.com/office/drawing/2014/main" id="{B5FE336D-FA97-22C9-55DC-079F3A53A069}"/>
                </a:ext>
              </a:extLst>
            </p:cNvPr>
            <p:cNvSpPr txBox="1"/>
            <p:nvPr userDrawn="1"/>
          </p:nvSpPr>
          <p:spPr>
            <a:xfrm>
              <a:off x="5607097" y="2667000"/>
              <a:ext cx="587020" cy="246221"/>
            </a:xfrm>
            <a:prstGeom prst="rect">
              <a:avLst/>
            </a:prstGeom>
            <a:noFill/>
          </p:spPr>
          <p:txBody>
            <a:bodyPr wrap="none" rtlCol="0">
              <a:spAutoFit/>
            </a:bodyPr>
            <a:lstStyle/>
            <a:p>
              <a:pPr algn="ctr"/>
              <a:r>
                <a:rPr lang="en-US" sz="1000" dirty="0"/>
                <a:t>Budget</a:t>
              </a:r>
            </a:p>
          </p:txBody>
        </p:sp>
      </p:grpSp>
      <p:grpSp>
        <p:nvGrpSpPr>
          <p:cNvPr id="27" name="Group 26">
            <a:extLst>
              <a:ext uri="{FF2B5EF4-FFF2-40B4-BE49-F238E27FC236}">
                <a16:creationId xmlns:a16="http://schemas.microsoft.com/office/drawing/2014/main" id="{56DF185E-4874-C556-B523-55B66CA67CA6}"/>
              </a:ext>
            </a:extLst>
          </p:cNvPr>
          <p:cNvGrpSpPr/>
          <p:nvPr userDrawn="1"/>
        </p:nvGrpSpPr>
        <p:grpSpPr>
          <a:xfrm>
            <a:off x="9037083" y="1752600"/>
            <a:ext cx="937550" cy="1160621"/>
            <a:chOff x="5431831" y="1752600"/>
            <a:chExt cx="937550" cy="1160621"/>
          </a:xfrm>
        </p:grpSpPr>
        <p:pic>
          <p:nvPicPr>
            <p:cNvPr id="40" name="Picture 39">
              <a:extLst>
                <a:ext uri="{FF2B5EF4-FFF2-40B4-BE49-F238E27FC236}">
                  <a16:creationId xmlns:a16="http://schemas.microsoft.com/office/drawing/2014/main" id="{63CE37AC-3781-BB31-177C-5CE7E2287CED}"/>
                </a:ext>
              </a:extLst>
            </p:cNvPr>
            <p:cNvPicPr>
              <a:picLocks noChangeAspect="1"/>
            </p:cNvPicPr>
            <p:nvPr userDrawn="1"/>
          </p:nvPicPr>
          <p:blipFill>
            <a:blip r:embed="rId8"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41" name="TextBox 40">
              <a:extLst>
                <a:ext uri="{FF2B5EF4-FFF2-40B4-BE49-F238E27FC236}">
                  <a16:creationId xmlns:a16="http://schemas.microsoft.com/office/drawing/2014/main" id="{C38C9462-D61D-BDFC-9D8E-41D0C89DE06F}"/>
                </a:ext>
              </a:extLst>
            </p:cNvPr>
            <p:cNvSpPr txBox="1"/>
            <p:nvPr userDrawn="1"/>
          </p:nvSpPr>
          <p:spPr>
            <a:xfrm>
              <a:off x="5684843" y="2667000"/>
              <a:ext cx="431529" cy="246221"/>
            </a:xfrm>
            <a:prstGeom prst="rect">
              <a:avLst/>
            </a:prstGeom>
            <a:noFill/>
          </p:spPr>
          <p:txBody>
            <a:bodyPr wrap="none" rtlCol="0">
              <a:spAutoFit/>
            </a:bodyPr>
            <a:lstStyle/>
            <a:p>
              <a:pPr algn="ctr"/>
              <a:r>
                <a:rPr lang="en-US" sz="1000" dirty="0"/>
                <a:t>Idea</a:t>
              </a:r>
            </a:p>
          </p:txBody>
        </p:sp>
      </p:grpSp>
      <p:grpSp>
        <p:nvGrpSpPr>
          <p:cNvPr id="42" name="Group 41">
            <a:extLst>
              <a:ext uri="{FF2B5EF4-FFF2-40B4-BE49-F238E27FC236}">
                <a16:creationId xmlns:a16="http://schemas.microsoft.com/office/drawing/2014/main" id="{5CD12664-0486-A848-58F4-C28C560C54DC}"/>
              </a:ext>
            </a:extLst>
          </p:cNvPr>
          <p:cNvGrpSpPr/>
          <p:nvPr userDrawn="1"/>
        </p:nvGrpSpPr>
        <p:grpSpPr>
          <a:xfrm>
            <a:off x="10412895" y="1752600"/>
            <a:ext cx="937550" cy="1160621"/>
            <a:chOff x="5431831" y="1752600"/>
            <a:chExt cx="937550" cy="1160621"/>
          </a:xfrm>
        </p:grpSpPr>
        <p:pic>
          <p:nvPicPr>
            <p:cNvPr id="43" name="Picture 42">
              <a:extLst>
                <a:ext uri="{FF2B5EF4-FFF2-40B4-BE49-F238E27FC236}">
                  <a16:creationId xmlns:a16="http://schemas.microsoft.com/office/drawing/2014/main" id="{C49D6AE0-9F7E-5646-BBF2-3EB286B932C3}"/>
                </a:ext>
              </a:extLst>
            </p:cNvPr>
            <p:cNvPicPr>
              <a:picLocks noChangeAspect="1"/>
            </p:cNvPicPr>
            <p:nvPr userDrawn="1"/>
          </p:nvPicPr>
          <p:blipFill>
            <a:blip r:embed="rId9"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44" name="TextBox 43">
              <a:extLst>
                <a:ext uri="{FF2B5EF4-FFF2-40B4-BE49-F238E27FC236}">
                  <a16:creationId xmlns:a16="http://schemas.microsoft.com/office/drawing/2014/main" id="{91436932-7489-215B-A927-D94234ABE44F}"/>
                </a:ext>
              </a:extLst>
            </p:cNvPr>
            <p:cNvSpPr txBox="1"/>
            <p:nvPr userDrawn="1"/>
          </p:nvSpPr>
          <p:spPr>
            <a:xfrm>
              <a:off x="5485271" y="2667000"/>
              <a:ext cx="830677" cy="246221"/>
            </a:xfrm>
            <a:prstGeom prst="rect">
              <a:avLst/>
            </a:prstGeom>
            <a:noFill/>
          </p:spPr>
          <p:txBody>
            <a:bodyPr wrap="none" rtlCol="0">
              <a:spAutoFit/>
            </a:bodyPr>
            <a:lstStyle/>
            <a:p>
              <a:pPr algn="ctr"/>
              <a:r>
                <a:rPr lang="en-US" sz="1000" dirty="0"/>
                <a:t>Experiment</a:t>
              </a:r>
            </a:p>
          </p:txBody>
        </p:sp>
      </p:grpSp>
      <p:grpSp>
        <p:nvGrpSpPr>
          <p:cNvPr id="45" name="Group 44">
            <a:extLst>
              <a:ext uri="{FF2B5EF4-FFF2-40B4-BE49-F238E27FC236}">
                <a16:creationId xmlns:a16="http://schemas.microsoft.com/office/drawing/2014/main" id="{2B0F299A-3739-E2C2-ADAB-FEB8CB19AA01}"/>
              </a:ext>
            </a:extLst>
          </p:cNvPr>
          <p:cNvGrpSpPr/>
          <p:nvPr userDrawn="1"/>
        </p:nvGrpSpPr>
        <p:grpSpPr>
          <a:xfrm>
            <a:off x="709105" y="3246863"/>
            <a:ext cx="971741" cy="1160621"/>
            <a:chOff x="709103" y="1752600"/>
            <a:chExt cx="971741" cy="1160621"/>
          </a:xfrm>
        </p:grpSpPr>
        <p:pic>
          <p:nvPicPr>
            <p:cNvPr id="46" name="Picture 45">
              <a:extLst>
                <a:ext uri="{FF2B5EF4-FFF2-40B4-BE49-F238E27FC236}">
                  <a16:creationId xmlns:a16="http://schemas.microsoft.com/office/drawing/2014/main" id="{D7CD17CB-B72B-50B2-32D5-1580EF583820}"/>
                </a:ext>
              </a:extLst>
            </p:cNvPr>
            <p:cNvPicPr>
              <a:picLocks noChangeAspect="1"/>
            </p:cNvPicPr>
            <p:nvPr userDrawn="1"/>
          </p:nvPicPr>
          <p:blipFill>
            <a:blip r:embed="rId10" cstate="screen">
              <a:extLst>
                <a:ext uri="{28A0092B-C50C-407E-A947-70E740481C1C}">
                  <a14:useLocalDpi xmlns:a14="http://schemas.microsoft.com/office/drawing/2010/main"/>
                </a:ext>
              </a:extLst>
            </a:blip>
            <a:srcRect/>
            <a:stretch/>
          </p:blipFill>
          <p:spPr>
            <a:xfrm>
              <a:off x="726198" y="1752600"/>
              <a:ext cx="937550" cy="937550"/>
            </a:xfrm>
            <a:prstGeom prst="rect">
              <a:avLst/>
            </a:prstGeom>
          </p:spPr>
        </p:pic>
        <p:sp>
          <p:nvSpPr>
            <p:cNvPr id="47" name="TextBox 46">
              <a:extLst>
                <a:ext uri="{FF2B5EF4-FFF2-40B4-BE49-F238E27FC236}">
                  <a16:creationId xmlns:a16="http://schemas.microsoft.com/office/drawing/2014/main" id="{ABBBB447-9DD9-51D6-7E1F-53FCEA69C8AE}"/>
                </a:ext>
              </a:extLst>
            </p:cNvPr>
            <p:cNvSpPr txBox="1"/>
            <p:nvPr userDrawn="1"/>
          </p:nvSpPr>
          <p:spPr>
            <a:xfrm>
              <a:off x="709103" y="2667000"/>
              <a:ext cx="971741" cy="246221"/>
            </a:xfrm>
            <a:prstGeom prst="rect">
              <a:avLst/>
            </a:prstGeom>
            <a:noFill/>
          </p:spPr>
          <p:txBody>
            <a:bodyPr wrap="none" rtlCol="0">
              <a:spAutoFit/>
            </a:bodyPr>
            <a:lstStyle/>
            <a:p>
              <a:pPr algn="ctr"/>
              <a:r>
                <a:rPr lang="en-US" sz="1000" dirty="0"/>
                <a:t>Attention/Risk</a:t>
              </a:r>
            </a:p>
          </p:txBody>
        </p:sp>
      </p:grpSp>
      <p:grpSp>
        <p:nvGrpSpPr>
          <p:cNvPr id="48" name="Group 47">
            <a:extLst>
              <a:ext uri="{FF2B5EF4-FFF2-40B4-BE49-F238E27FC236}">
                <a16:creationId xmlns:a16="http://schemas.microsoft.com/office/drawing/2014/main" id="{145483EF-BC35-2B72-DF14-F98491F5A878}"/>
              </a:ext>
            </a:extLst>
          </p:cNvPr>
          <p:cNvGrpSpPr/>
          <p:nvPr userDrawn="1"/>
        </p:nvGrpSpPr>
        <p:grpSpPr>
          <a:xfrm>
            <a:off x="2119913" y="3246863"/>
            <a:ext cx="937550" cy="1160621"/>
            <a:chOff x="2276156" y="1752600"/>
            <a:chExt cx="937550" cy="1160621"/>
          </a:xfrm>
        </p:grpSpPr>
        <p:pic>
          <p:nvPicPr>
            <p:cNvPr id="49" name="Picture 48">
              <a:extLst>
                <a:ext uri="{FF2B5EF4-FFF2-40B4-BE49-F238E27FC236}">
                  <a16:creationId xmlns:a16="http://schemas.microsoft.com/office/drawing/2014/main" id="{DC1CB1A3-CB6A-3F6F-D4C8-D0A375257F59}"/>
                </a:ext>
              </a:extLst>
            </p:cNvPr>
            <p:cNvPicPr>
              <a:picLocks noChangeAspect="1"/>
            </p:cNvPicPr>
            <p:nvPr userDrawn="1"/>
          </p:nvPicPr>
          <p:blipFill>
            <a:blip r:embed="rId11" cstate="screen">
              <a:extLst>
                <a:ext uri="{28A0092B-C50C-407E-A947-70E740481C1C}">
                  <a14:useLocalDpi xmlns:a14="http://schemas.microsoft.com/office/drawing/2010/main"/>
                </a:ext>
              </a:extLst>
            </a:blip>
            <a:srcRect/>
            <a:stretch/>
          </p:blipFill>
          <p:spPr>
            <a:xfrm>
              <a:off x="2276156" y="1752600"/>
              <a:ext cx="937550" cy="937550"/>
            </a:xfrm>
            <a:prstGeom prst="rect">
              <a:avLst/>
            </a:prstGeom>
          </p:spPr>
        </p:pic>
        <p:sp>
          <p:nvSpPr>
            <p:cNvPr id="50" name="TextBox 49">
              <a:extLst>
                <a:ext uri="{FF2B5EF4-FFF2-40B4-BE49-F238E27FC236}">
                  <a16:creationId xmlns:a16="http://schemas.microsoft.com/office/drawing/2014/main" id="{864AB0F9-D4AB-42DC-85C6-261EF3905EB7}"/>
                </a:ext>
              </a:extLst>
            </p:cNvPr>
            <p:cNvSpPr txBox="1"/>
            <p:nvPr userDrawn="1"/>
          </p:nvSpPr>
          <p:spPr>
            <a:xfrm>
              <a:off x="2368868" y="2667000"/>
              <a:ext cx="752129" cy="246221"/>
            </a:xfrm>
            <a:prstGeom prst="rect">
              <a:avLst/>
            </a:prstGeom>
            <a:noFill/>
          </p:spPr>
          <p:txBody>
            <a:bodyPr wrap="none" rtlCol="0">
              <a:spAutoFit/>
            </a:bodyPr>
            <a:lstStyle/>
            <a:p>
              <a:pPr algn="ctr"/>
              <a:r>
                <a:rPr lang="en-US" sz="1000" dirty="0"/>
                <a:t>List/To-do</a:t>
              </a:r>
            </a:p>
          </p:txBody>
        </p:sp>
      </p:grpSp>
      <p:grpSp>
        <p:nvGrpSpPr>
          <p:cNvPr id="51" name="Group 50">
            <a:extLst>
              <a:ext uri="{FF2B5EF4-FFF2-40B4-BE49-F238E27FC236}">
                <a16:creationId xmlns:a16="http://schemas.microsoft.com/office/drawing/2014/main" id="{91D7BD37-7B62-B0BE-B34B-FE7378F9CBAE}"/>
              </a:ext>
            </a:extLst>
          </p:cNvPr>
          <p:cNvGrpSpPr/>
          <p:nvPr userDrawn="1"/>
        </p:nvGrpSpPr>
        <p:grpSpPr>
          <a:xfrm>
            <a:off x="3376712" y="3246863"/>
            <a:ext cx="1184941" cy="1160621"/>
            <a:chOff x="3204355" y="1752600"/>
            <a:chExt cx="1184941" cy="1160621"/>
          </a:xfrm>
        </p:grpSpPr>
        <p:pic>
          <p:nvPicPr>
            <p:cNvPr id="52" name="Picture 51">
              <a:extLst>
                <a:ext uri="{FF2B5EF4-FFF2-40B4-BE49-F238E27FC236}">
                  <a16:creationId xmlns:a16="http://schemas.microsoft.com/office/drawing/2014/main" id="{E016F2B6-B7E8-1132-2642-EA957F1761C7}"/>
                </a:ext>
              </a:extLst>
            </p:cNvPr>
            <p:cNvPicPr>
              <a:picLocks noChangeAspect="1"/>
            </p:cNvPicPr>
            <p:nvPr userDrawn="1"/>
          </p:nvPicPr>
          <p:blipFill>
            <a:blip r:embed="rId12" cstate="screen">
              <a:extLst>
                <a:ext uri="{28A0092B-C50C-407E-A947-70E740481C1C}">
                  <a14:useLocalDpi xmlns:a14="http://schemas.microsoft.com/office/drawing/2010/main"/>
                </a:ext>
              </a:extLst>
            </a:blip>
            <a:srcRect/>
            <a:stretch/>
          </p:blipFill>
          <p:spPr>
            <a:xfrm>
              <a:off x="3328048" y="1752600"/>
              <a:ext cx="937550" cy="937550"/>
            </a:xfrm>
            <a:prstGeom prst="rect">
              <a:avLst/>
            </a:prstGeom>
          </p:spPr>
        </p:pic>
        <p:sp>
          <p:nvSpPr>
            <p:cNvPr id="53" name="TextBox 52">
              <a:extLst>
                <a:ext uri="{FF2B5EF4-FFF2-40B4-BE49-F238E27FC236}">
                  <a16:creationId xmlns:a16="http://schemas.microsoft.com/office/drawing/2014/main" id="{FE880E60-8A4E-251D-C573-98A48CAF06AC}"/>
                </a:ext>
              </a:extLst>
            </p:cNvPr>
            <p:cNvSpPr txBox="1"/>
            <p:nvPr userDrawn="1"/>
          </p:nvSpPr>
          <p:spPr>
            <a:xfrm>
              <a:off x="3204355" y="2667000"/>
              <a:ext cx="1184941" cy="246221"/>
            </a:xfrm>
            <a:prstGeom prst="rect">
              <a:avLst/>
            </a:prstGeom>
            <a:noFill/>
          </p:spPr>
          <p:txBody>
            <a:bodyPr wrap="none" rtlCol="0">
              <a:spAutoFit/>
            </a:bodyPr>
            <a:lstStyle/>
            <a:p>
              <a:pPr algn="ctr"/>
              <a:r>
                <a:rPr lang="en-US" sz="1000" dirty="0"/>
                <a:t>Report/Document</a:t>
              </a:r>
            </a:p>
          </p:txBody>
        </p:sp>
      </p:grpSp>
      <p:grpSp>
        <p:nvGrpSpPr>
          <p:cNvPr id="54" name="Group 53">
            <a:extLst>
              <a:ext uri="{FF2B5EF4-FFF2-40B4-BE49-F238E27FC236}">
                <a16:creationId xmlns:a16="http://schemas.microsoft.com/office/drawing/2014/main" id="{A6033F2C-0684-B356-46F6-D9BF89D9EBB8}"/>
              </a:ext>
            </a:extLst>
          </p:cNvPr>
          <p:cNvGrpSpPr/>
          <p:nvPr userDrawn="1"/>
        </p:nvGrpSpPr>
        <p:grpSpPr>
          <a:xfrm>
            <a:off x="6247355" y="3246863"/>
            <a:ext cx="937550" cy="1160621"/>
            <a:chOff x="4379940" y="1752600"/>
            <a:chExt cx="937550" cy="1160621"/>
          </a:xfrm>
        </p:grpSpPr>
        <p:pic>
          <p:nvPicPr>
            <p:cNvPr id="55" name="Picture 54">
              <a:extLst>
                <a:ext uri="{FF2B5EF4-FFF2-40B4-BE49-F238E27FC236}">
                  <a16:creationId xmlns:a16="http://schemas.microsoft.com/office/drawing/2014/main" id="{39BAD218-B5C9-34D3-5AF3-0CBB52EE323D}"/>
                </a:ext>
              </a:extLst>
            </p:cNvPr>
            <p:cNvPicPr>
              <a:picLocks noChangeAspect="1"/>
            </p:cNvPicPr>
            <p:nvPr userDrawn="1"/>
          </p:nvPicPr>
          <p:blipFill>
            <a:blip r:embed="rId13" cstate="screen">
              <a:extLst>
                <a:ext uri="{28A0092B-C50C-407E-A947-70E740481C1C}">
                  <a14:useLocalDpi xmlns:a14="http://schemas.microsoft.com/office/drawing/2010/main"/>
                </a:ext>
              </a:extLst>
            </a:blip>
            <a:srcRect/>
            <a:stretch/>
          </p:blipFill>
          <p:spPr>
            <a:xfrm>
              <a:off x="4379940" y="1752600"/>
              <a:ext cx="937550" cy="937550"/>
            </a:xfrm>
            <a:prstGeom prst="rect">
              <a:avLst/>
            </a:prstGeom>
          </p:spPr>
        </p:pic>
        <p:sp>
          <p:nvSpPr>
            <p:cNvPr id="56" name="TextBox 55">
              <a:extLst>
                <a:ext uri="{FF2B5EF4-FFF2-40B4-BE49-F238E27FC236}">
                  <a16:creationId xmlns:a16="http://schemas.microsoft.com/office/drawing/2014/main" id="{9E81308E-5F10-C3B2-DBCC-5B1B946E1E11}"/>
                </a:ext>
              </a:extLst>
            </p:cNvPr>
            <p:cNvSpPr txBox="1"/>
            <p:nvPr userDrawn="1"/>
          </p:nvSpPr>
          <p:spPr>
            <a:xfrm>
              <a:off x="4429371" y="2667000"/>
              <a:ext cx="838691" cy="246221"/>
            </a:xfrm>
            <a:prstGeom prst="rect">
              <a:avLst/>
            </a:prstGeom>
            <a:noFill/>
          </p:spPr>
          <p:txBody>
            <a:bodyPr wrap="none" rtlCol="0">
              <a:spAutoFit/>
            </a:bodyPr>
            <a:lstStyle/>
            <a:p>
              <a:pPr algn="ctr"/>
              <a:r>
                <a:rPr lang="en-US" sz="1000" dirty="0"/>
                <a:t>Microscope</a:t>
              </a:r>
            </a:p>
          </p:txBody>
        </p:sp>
      </p:grpSp>
      <p:grpSp>
        <p:nvGrpSpPr>
          <p:cNvPr id="57" name="Group 56">
            <a:extLst>
              <a:ext uri="{FF2B5EF4-FFF2-40B4-BE49-F238E27FC236}">
                <a16:creationId xmlns:a16="http://schemas.microsoft.com/office/drawing/2014/main" id="{BCB13DA3-C4EA-FA14-E54A-64A7393C4797}"/>
              </a:ext>
            </a:extLst>
          </p:cNvPr>
          <p:cNvGrpSpPr/>
          <p:nvPr userDrawn="1"/>
        </p:nvGrpSpPr>
        <p:grpSpPr>
          <a:xfrm>
            <a:off x="10412895" y="3246863"/>
            <a:ext cx="937550" cy="1160621"/>
            <a:chOff x="5431831" y="1752600"/>
            <a:chExt cx="937550" cy="1160621"/>
          </a:xfrm>
        </p:grpSpPr>
        <p:pic>
          <p:nvPicPr>
            <p:cNvPr id="58" name="Picture 57">
              <a:extLst>
                <a:ext uri="{FF2B5EF4-FFF2-40B4-BE49-F238E27FC236}">
                  <a16:creationId xmlns:a16="http://schemas.microsoft.com/office/drawing/2014/main" id="{2E0CFCFC-C544-673F-AC06-758A8EEB54E3}"/>
                </a:ext>
              </a:extLst>
            </p:cNvPr>
            <p:cNvPicPr>
              <a:picLocks noChangeAspect="1"/>
            </p:cNvPicPr>
            <p:nvPr userDrawn="1"/>
          </p:nvPicPr>
          <p:blipFill>
            <a:blip r:embed="rId14"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59" name="TextBox 58">
              <a:extLst>
                <a:ext uri="{FF2B5EF4-FFF2-40B4-BE49-F238E27FC236}">
                  <a16:creationId xmlns:a16="http://schemas.microsoft.com/office/drawing/2014/main" id="{761C5F85-20F7-D144-95A9-0CE5C5D9B15C}"/>
                </a:ext>
              </a:extLst>
            </p:cNvPr>
            <p:cNvSpPr txBox="1"/>
            <p:nvPr userDrawn="1"/>
          </p:nvSpPr>
          <p:spPr>
            <a:xfrm>
              <a:off x="5485270" y="2667000"/>
              <a:ext cx="830676" cy="246221"/>
            </a:xfrm>
            <a:prstGeom prst="rect">
              <a:avLst/>
            </a:prstGeom>
            <a:noFill/>
          </p:spPr>
          <p:txBody>
            <a:bodyPr wrap="none" rtlCol="0">
              <a:spAutoFit/>
            </a:bodyPr>
            <a:lstStyle/>
            <a:p>
              <a:pPr algn="ctr"/>
              <a:r>
                <a:rPr lang="en-US" sz="1000" dirty="0"/>
                <a:t>Experiment</a:t>
              </a:r>
            </a:p>
          </p:txBody>
        </p:sp>
      </p:grpSp>
      <p:grpSp>
        <p:nvGrpSpPr>
          <p:cNvPr id="60" name="Group 59">
            <a:extLst>
              <a:ext uri="{FF2B5EF4-FFF2-40B4-BE49-F238E27FC236}">
                <a16:creationId xmlns:a16="http://schemas.microsoft.com/office/drawing/2014/main" id="{6B523C45-1411-FFA2-CDD6-030F8673413B}"/>
              </a:ext>
            </a:extLst>
          </p:cNvPr>
          <p:cNvGrpSpPr/>
          <p:nvPr userDrawn="1"/>
        </p:nvGrpSpPr>
        <p:grpSpPr>
          <a:xfrm>
            <a:off x="7661269" y="3246863"/>
            <a:ext cx="937550" cy="1160621"/>
            <a:chOff x="5431831" y="1752600"/>
            <a:chExt cx="937550" cy="1160621"/>
          </a:xfrm>
        </p:grpSpPr>
        <p:pic>
          <p:nvPicPr>
            <p:cNvPr id="61" name="Picture 60">
              <a:extLst>
                <a:ext uri="{FF2B5EF4-FFF2-40B4-BE49-F238E27FC236}">
                  <a16:creationId xmlns:a16="http://schemas.microsoft.com/office/drawing/2014/main" id="{CBAEB1D6-A0DB-C3DE-CEFD-60B96E056668}"/>
                </a:ext>
              </a:extLst>
            </p:cNvPr>
            <p:cNvPicPr>
              <a:picLocks noChangeAspect="1"/>
            </p:cNvPicPr>
            <p:nvPr userDrawn="1"/>
          </p:nvPicPr>
          <p:blipFill>
            <a:blip r:embed="rId15"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62" name="TextBox 61">
              <a:extLst>
                <a:ext uri="{FF2B5EF4-FFF2-40B4-BE49-F238E27FC236}">
                  <a16:creationId xmlns:a16="http://schemas.microsoft.com/office/drawing/2014/main" id="{1DB68FE0-405B-2CB1-9B49-0529846D28AF}"/>
                </a:ext>
              </a:extLst>
            </p:cNvPr>
            <p:cNvSpPr txBox="1"/>
            <p:nvPr userDrawn="1"/>
          </p:nvSpPr>
          <p:spPr>
            <a:xfrm>
              <a:off x="5627937" y="2667000"/>
              <a:ext cx="545342" cy="246221"/>
            </a:xfrm>
            <a:prstGeom prst="rect">
              <a:avLst/>
            </a:prstGeom>
            <a:noFill/>
          </p:spPr>
          <p:txBody>
            <a:bodyPr wrap="none" rtlCol="0">
              <a:spAutoFit/>
            </a:bodyPr>
            <a:lstStyle/>
            <a:p>
              <a:pPr algn="ctr"/>
              <a:r>
                <a:rPr lang="en-US" sz="1000" dirty="0"/>
                <a:t>Space</a:t>
              </a:r>
            </a:p>
          </p:txBody>
        </p:sp>
      </p:grpSp>
      <p:grpSp>
        <p:nvGrpSpPr>
          <p:cNvPr id="66" name="Group 65">
            <a:extLst>
              <a:ext uri="{FF2B5EF4-FFF2-40B4-BE49-F238E27FC236}">
                <a16:creationId xmlns:a16="http://schemas.microsoft.com/office/drawing/2014/main" id="{9C8573B0-C3E9-BD4A-12C6-2C05FEB654FB}"/>
              </a:ext>
            </a:extLst>
          </p:cNvPr>
          <p:cNvGrpSpPr/>
          <p:nvPr userDrawn="1"/>
        </p:nvGrpSpPr>
        <p:grpSpPr>
          <a:xfrm>
            <a:off x="4800600" y="3246863"/>
            <a:ext cx="1114409" cy="1160621"/>
            <a:chOff x="5343407" y="1752600"/>
            <a:chExt cx="1114409" cy="1160621"/>
          </a:xfrm>
        </p:grpSpPr>
        <p:pic>
          <p:nvPicPr>
            <p:cNvPr id="67" name="Picture 66">
              <a:extLst>
                <a:ext uri="{FF2B5EF4-FFF2-40B4-BE49-F238E27FC236}">
                  <a16:creationId xmlns:a16="http://schemas.microsoft.com/office/drawing/2014/main" id="{E7FB7A2A-2D14-1105-B15D-4F4C04A6FF74}"/>
                </a:ext>
              </a:extLst>
            </p:cNvPr>
            <p:cNvPicPr>
              <a:picLocks noChangeAspect="1"/>
            </p:cNvPicPr>
            <p:nvPr userDrawn="1"/>
          </p:nvPicPr>
          <p:blipFill>
            <a:blip r:embed="rId16"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68" name="TextBox 67">
              <a:extLst>
                <a:ext uri="{FF2B5EF4-FFF2-40B4-BE49-F238E27FC236}">
                  <a16:creationId xmlns:a16="http://schemas.microsoft.com/office/drawing/2014/main" id="{4CA22A94-509E-32C8-87A6-C41E8B1B2DEA}"/>
                </a:ext>
              </a:extLst>
            </p:cNvPr>
            <p:cNvSpPr txBox="1"/>
            <p:nvPr userDrawn="1"/>
          </p:nvSpPr>
          <p:spPr>
            <a:xfrm>
              <a:off x="5343407" y="2667000"/>
              <a:ext cx="1114409" cy="246221"/>
            </a:xfrm>
            <a:prstGeom prst="rect">
              <a:avLst/>
            </a:prstGeom>
            <a:noFill/>
          </p:spPr>
          <p:txBody>
            <a:bodyPr wrap="none" rtlCol="0">
              <a:spAutoFit/>
            </a:bodyPr>
            <a:lstStyle/>
            <a:p>
              <a:pPr algn="ctr"/>
              <a:r>
                <a:rPr lang="en-US" sz="1000" dirty="0"/>
                <a:t>Report/Analytics</a:t>
              </a:r>
            </a:p>
          </p:txBody>
        </p:sp>
      </p:grpSp>
      <p:grpSp>
        <p:nvGrpSpPr>
          <p:cNvPr id="69" name="Group 68">
            <a:extLst>
              <a:ext uri="{FF2B5EF4-FFF2-40B4-BE49-F238E27FC236}">
                <a16:creationId xmlns:a16="http://schemas.microsoft.com/office/drawing/2014/main" id="{846D9EA6-D0B5-18CC-6C05-63F3908918A0}"/>
              </a:ext>
            </a:extLst>
          </p:cNvPr>
          <p:cNvGrpSpPr/>
          <p:nvPr userDrawn="1"/>
        </p:nvGrpSpPr>
        <p:grpSpPr>
          <a:xfrm>
            <a:off x="9037083" y="3246863"/>
            <a:ext cx="937550" cy="1160621"/>
            <a:chOff x="5431831" y="1752600"/>
            <a:chExt cx="937550" cy="1160621"/>
          </a:xfrm>
        </p:grpSpPr>
        <p:pic>
          <p:nvPicPr>
            <p:cNvPr id="70" name="Picture 69">
              <a:extLst>
                <a:ext uri="{FF2B5EF4-FFF2-40B4-BE49-F238E27FC236}">
                  <a16:creationId xmlns:a16="http://schemas.microsoft.com/office/drawing/2014/main" id="{56CADE8A-6EC7-51D0-0CFE-1124AA9C6C51}"/>
                </a:ext>
              </a:extLst>
            </p:cNvPr>
            <p:cNvPicPr>
              <a:picLocks noChangeAspect="1"/>
            </p:cNvPicPr>
            <p:nvPr userDrawn="1"/>
          </p:nvPicPr>
          <p:blipFill>
            <a:blip r:embed="rId17"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71" name="TextBox 70">
              <a:extLst>
                <a:ext uri="{FF2B5EF4-FFF2-40B4-BE49-F238E27FC236}">
                  <a16:creationId xmlns:a16="http://schemas.microsoft.com/office/drawing/2014/main" id="{9702BEAC-3F80-2061-C091-2E2DE37438D1}"/>
                </a:ext>
              </a:extLst>
            </p:cNvPr>
            <p:cNvSpPr txBox="1"/>
            <p:nvPr userDrawn="1"/>
          </p:nvSpPr>
          <p:spPr>
            <a:xfrm>
              <a:off x="5599081" y="2667000"/>
              <a:ext cx="603050" cy="246221"/>
            </a:xfrm>
            <a:prstGeom prst="rect">
              <a:avLst/>
            </a:prstGeom>
            <a:noFill/>
          </p:spPr>
          <p:txBody>
            <a:bodyPr wrap="none" rtlCol="0">
              <a:spAutoFit/>
            </a:bodyPr>
            <a:lstStyle/>
            <a:p>
              <a:pPr algn="ctr"/>
              <a:r>
                <a:rPr lang="en-US" sz="1000" dirty="0"/>
                <a:t>Biology</a:t>
              </a:r>
            </a:p>
          </p:txBody>
        </p:sp>
      </p:grpSp>
    </p:spTree>
    <p:extLst>
      <p:ext uri="{BB962C8B-B14F-4D97-AF65-F5344CB8AC3E}">
        <p14:creationId xmlns:p14="http://schemas.microsoft.com/office/powerpoint/2010/main" val="1888521761"/>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titleOnly" preserve="1">
  <p:cSld name="3_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CE7BEB-3F95-F7BD-8C6B-C9CDE17AD06E}"/>
              </a:ext>
            </a:extLst>
          </p:cNvPr>
          <p:cNvSpPr>
            <a:spLocks noGrp="1"/>
          </p:cNvSpPr>
          <p:nvPr>
            <p:ph type="title" hasCustomPrompt="1"/>
          </p:nvPr>
        </p:nvSpPr>
        <p:spPr>
          <a:xfrm>
            <a:off x="914400" y="755930"/>
            <a:ext cx="10325100" cy="1325563"/>
          </a:xfrm>
        </p:spPr>
        <p:txBody>
          <a:bodyPr/>
          <a:lstStyle/>
          <a:p>
            <a:r>
              <a:rPr lang="en-US" dirty="0"/>
              <a:t>Icon Sets</a:t>
            </a:r>
          </a:p>
        </p:txBody>
      </p:sp>
      <p:sp>
        <p:nvSpPr>
          <p:cNvPr id="4" name="Footer Placeholder 3">
            <a:extLst>
              <a:ext uri="{FF2B5EF4-FFF2-40B4-BE49-F238E27FC236}">
                <a16:creationId xmlns:a16="http://schemas.microsoft.com/office/drawing/2014/main" id="{27D41258-C225-30B8-4068-2B71A0ED381A}"/>
              </a:ext>
            </a:extLst>
          </p:cNvPr>
          <p:cNvSpPr>
            <a:spLocks noGrp="1"/>
          </p:cNvSpPr>
          <p:nvPr>
            <p:ph type="ftr" sz="quarter" idx="11"/>
          </p:nvPr>
        </p:nvSpPr>
        <p:spPr/>
        <p:txBody>
          <a:bodyPr/>
          <a:lstStyle/>
          <a:p>
            <a:r>
              <a:rPr lang="en-US" dirty="0"/>
              <a:t>Biological &amp; Physical Sciences</a:t>
            </a:r>
          </a:p>
        </p:txBody>
      </p:sp>
      <p:sp>
        <p:nvSpPr>
          <p:cNvPr id="5" name="Slide Number Placeholder 4">
            <a:extLst>
              <a:ext uri="{FF2B5EF4-FFF2-40B4-BE49-F238E27FC236}">
                <a16:creationId xmlns:a16="http://schemas.microsoft.com/office/drawing/2014/main" id="{C1FA1CED-BEE1-ACF5-8AEE-094C9B16F7D7}"/>
              </a:ext>
            </a:extLst>
          </p:cNvPr>
          <p:cNvSpPr>
            <a:spLocks noGrp="1"/>
          </p:cNvSpPr>
          <p:nvPr>
            <p:ph type="sldNum" sz="quarter" idx="12"/>
          </p:nvPr>
        </p:nvSpPr>
        <p:spPr/>
        <p:txBody>
          <a:bodyPr/>
          <a:lstStyle/>
          <a:p>
            <a:fld id="{E8618032-BA8D-3D4D-8253-A70208A85976}" type="slidenum">
              <a:rPr lang="en-US" smtClean="0"/>
              <a:t>‹#›</a:t>
            </a:fld>
            <a:endParaRPr lang="en-US"/>
          </a:p>
        </p:txBody>
      </p:sp>
      <p:grpSp>
        <p:nvGrpSpPr>
          <p:cNvPr id="16" name="Group 15">
            <a:extLst>
              <a:ext uri="{FF2B5EF4-FFF2-40B4-BE49-F238E27FC236}">
                <a16:creationId xmlns:a16="http://schemas.microsoft.com/office/drawing/2014/main" id="{DF2DBF73-78F1-5E34-BB47-F8D4315E883F}"/>
              </a:ext>
            </a:extLst>
          </p:cNvPr>
          <p:cNvGrpSpPr/>
          <p:nvPr userDrawn="1"/>
        </p:nvGrpSpPr>
        <p:grpSpPr>
          <a:xfrm>
            <a:off x="620138" y="1752600"/>
            <a:ext cx="1149675" cy="1160621"/>
            <a:chOff x="620138" y="1752600"/>
            <a:chExt cx="1149675" cy="1160621"/>
          </a:xfrm>
        </p:grpSpPr>
        <p:pic>
          <p:nvPicPr>
            <p:cNvPr id="21" name="Picture 20">
              <a:extLst>
                <a:ext uri="{FF2B5EF4-FFF2-40B4-BE49-F238E27FC236}">
                  <a16:creationId xmlns:a16="http://schemas.microsoft.com/office/drawing/2014/main" id="{084DCB50-DA15-0746-CC36-3D6CE4CCBCE1}"/>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726198" y="1752600"/>
              <a:ext cx="937550" cy="937550"/>
            </a:xfrm>
            <a:prstGeom prst="rect">
              <a:avLst/>
            </a:prstGeom>
          </p:spPr>
        </p:pic>
        <p:sp>
          <p:nvSpPr>
            <p:cNvPr id="6" name="TextBox 5">
              <a:extLst>
                <a:ext uri="{FF2B5EF4-FFF2-40B4-BE49-F238E27FC236}">
                  <a16:creationId xmlns:a16="http://schemas.microsoft.com/office/drawing/2014/main" id="{4C756196-4ADF-DF0C-EBDC-F9F2C81AC2F4}"/>
                </a:ext>
              </a:extLst>
            </p:cNvPr>
            <p:cNvSpPr txBox="1"/>
            <p:nvPr userDrawn="1"/>
          </p:nvSpPr>
          <p:spPr>
            <a:xfrm>
              <a:off x="620138" y="2667000"/>
              <a:ext cx="1149675" cy="246221"/>
            </a:xfrm>
            <a:prstGeom prst="rect">
              <a:avLst/>
            </a:prstGeom>
            <a:noFill/>
          </p:spPr>
          <p:txBody>
            <a:bodyPr wrap="none" rtlCol="0">
              <a:spAutoFit/>
            </a:bodyPr>
            <a:lstStyle/>
            <a:p>
              <a:pPr algn="ctr"/>
              <a:r>
                <a:rPr lang="en-US" sz="1000" dirty="0"/>
                <a:t>Physical Science</a:t>
              </a:r>
            </a:p>
          </p:txBody>
        </p:sp>
      </p:grpSp>
      <p:grpSp>
        <p:nvGrpSpPr>
          <p:cNvPr id="18" name="Group 17">
            <a:extLst>
              <a:ext uri="{FF2B5EF4-FFF2-40B4-BE49-F238E27FC236}">
                <a16:creationId xmlns:a16="http://schemas.microsoft.com/office/drawing/2014/main" id="{511910B8-EFDC-F4BD-D871-01250E169D33}"/>
              </a:ext>
            </a:extLst>
          </p:cNvPr>
          <p:cNvGrpSpPr/>
          <p:nvPr userDrawn="1"/>
        </p:nvGrpSpPr>
        <p:grpSpPr>
          <a:xfrm>
            <a:off x="2119913" y="1752600"/>
            <a:ext cx="937550" cy="1160621"/>
            <a:chOff x="2276156" y="1752600"/>
            <a:chExt cx="937550" cy="1160621"/>
          </a:xfrm>
        </p:grpSpPr>
        <p:pic>
          <p:nvPicPr>
            <p:cNvPr id="19" name="Picture 18">
              <a:extLst>
                <a:ext uri="{FF2B5EF4-FFF2-40B4-BE49-F238E27FC236}">
                  <a16:creationId xmlns:a16="http://schemas.microsoft.com/office/drawing/2014/main" id="{FE1E2990-A33D-309A-9F68-08D9A1E0E4DF}"/>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2276156" y="1752600"/>
              <a:ext cx="937550" cy="937550"/>
            </a:xfrm>
            <a:prstGeom prst="rect">
              <a:avLst/>
            </a:prstGeom>
          </p:spPr>
        </p:pic>
        <p:sp>
          <p:nvSpPr>
            <p:cNvPr id="8" name="TextBox 7">
              <a:extLst>
                <a:ext uri="{FF2B5EF4-FFF2-40B4-BE49-F238E27FC236}">
                  <a16:creationId xmlns:a16="http://schemas.microsoft.com/office/drawing/2014/main" id="{D490AC53-46B8-9208-4DAB-7EBDD1243E80}"/>
                </a:ext>
              </a:extLst>
            </p:cNvPr>
            <p:cNvSpPr txBox="1"/>
            <p:nvPr userDrawn="1"/>
          </p:nvSpPr>
          <p:spPr>
            <a:xfrm>
              <a:off x="2390507" y="2667000"/>
              <a:ext cx="708848" cy="246221"/>
            </a:xfrm>
            <a:prstGeom prst="rect">
              <a:avLst/>
            </a:prstGeom>
            <a:noFill/>
          </p:spPr>
          <p:txBody>
            <a:bodyPr wrap="none" rtlCol="0">
              <a:spAutoFit/>
            </a:bodyPr>
            <a:lstStyle/>
            <a:p>
              <a:pPr algn="ctr"/>
              <a:r>
                <a:rPr lang="en-US" sz="1000" dirty="0"/>
                <a:t>Quantum</a:t>
              </a:r>
            </a:p>
          </p:txBody>
        </p:sp>
      </p:grpSp>
      <p:grpSp>
        <p:nvGrpSpPr>
          <p:cNvPr id="20" name="Group 19">
            <a:extLst>
              <a:ext uri="{FF2B5EF4-FFF2-40B4-BE49-F238E27FC236}">
                <a16:creationId xmlns:a16="http://schemas.microsoft.com/office/drawing/2014/main" id="{63D160AB-747D-0C84-DB2C-12A72938449E}"/>
              </a:ext>
            </a:extLst>
          </p:cNvPr>
          <p:cNvGrpSpPr/>
          <p:nvPr userDrawn="1"/>
        </p:nvGrpSpPr>
        <p:grpSpPr>
          <a:xfrm>
            <a:off x="3500407" y="1752600"/>
            <a:ext cx="937550" cy="1160621"/>
            <a:chOff x="3328048" y="1752600"/>
            <a:chExt cx="937550" cy="1160621"/>
          </a:xfrm>
        </p:grpSpPr>
        <p:pic>
          <p:nvPicPr>
            <p:cNvPr id="35" name="Picture 34">
              <a:extLst>
                <a:ext uri="{FF2B5EF4-FFF2-40B4-BE49-F238E27FC236}">
                  <a16:creationId xmlns:a16="http://schemas.microsoft.com/office/drawing/2014/main" id="{9F58E307-692E-76E5-915A-6BE8C8A6C342}"/>
                </a:ext>
              </a:extLst>
            </p:cNvPr>
            <p:cNvPicPr>
              <a:picLocks noChangeAspect="1"/>
            </p:cNvPicPr>
            <p:nvPr userDrawn="1"/>
          </p:nvPicPr>
          <p:blipFill>
            <a:blip r:embed="rId4" cstate="screen">
              <a:extLst>
                <a:ext uri="{28A0092B-C50C-407E-A947-70E740481C1C}">
                  <a14:useLocalDpi xmlns:a14="http://schemas.microsoft.com/office/drawing/2010/main"/>
                </a:ext>
              </a:extLst>
            </a:blip>
            <a:srcRect/>
            <a:stretch/>
          </p:blipFill>
          <p:spPr>
            <a:xfrm>
              <a:off x="3328048" y="1752600"/>
              <a:ext cx="937550" cy="937550"/>
            </a:xfrm>
            <a:prstGeom prst="rect">
              <a:avLst/>
            </a:prstGeom>
          </p:spPr>
        </p:pic>
        <p:sp>
          <p:nvSpPr>
            <p:cNvPr id="10" name="TextBox 9">
              <a:extLst>
                <a:ext uri="{FF2B5EF4-FFF2-40B4-BE49-F238E27FC236}">
                  <a16:creationId xmlns:a16="http://schemas.microsoft.com/office/drawing/2014/main" id="{9F976D59-973C-B3ED-21A7-6E1BF17E1F28}"/>
                </a:ext>
              </a:extLst>
            </p:cNvPr>
            <p:cNvSpPr txBox="1"/>
            <p:nvPr userDrawn="1"/>
          </p:nvSpPr>
          <p:spPr>
            <a:xfrm>
              <a:off x="3565830" y="2667000"/>
              <a:ext cx="461986" cy="246221"/>
            </a:xfrm>
            <a:prstGeom prst="rect">
              <a:avLst/>
            </a:prstGeom>
            <a:noFill/>
          </p:spPr>
          <p:txBody>
            <a:bodyPr wrap="none" rtlCol="0">
              <a:spAutoFit/>
            </a:bodyPr>
            <a:lstStyle/>
            <a:p>
              <a:pPr algn="ctr"/>
              <a:r>
                <a:rPr lang="en-US" sz="1000" dirty="0"/>
                <a:t>Fluid</a:t>
              </a:r>
            </a:p>
          </p:txBody>
        </p:sp>
      </p:grpSp>
      <p:grpSp>
        <p:nvGrpSpPr>
          <p:cNvPr id="22" name="Group 21">
            <a:extLst>
              <a:ext uri="{FF2B5EF4-FFF2-40B4-BE49-F238E27FC236}">
                <a16:creationId xmlns:a16="http://schemas.microsoft.com/office/drawing/2014/main" id="{DFEA1BB1-12A4-2E2E-1955-F3A8B5472743}"/>
              </a:ext>
            </a:extLst>
          </p:cNvPr>
          <p:cNvGrpSpPr/>
          <p:nvPr userDrawn="1"/>
        </p:nvGrpSpPr>
        <p:grpSpPr>
          <a:xfrm>
            <a:off x="4889029" y="1752600"/>
            <a:ext cx="937550" cy="1160621"/>
            <a:chOff x="4379940" y="1752600"/>
            <a:chExt cx="937550" cy="1160621"/>
          </a:xfrm>
        </p:grpSpPr>
        <p:pic>
          <p:nvPicPr>
            <p:cNvPr id="34" name="Picture 33">
              <a:extLst>
                <a:ext uri="{FF2B5EF4-FFF2-40B4-BE49-F238E27FC236}">
                  <a16:creationId xmlns:a16="http://schemas.microsoft.com/office/drawing/2014/main" id="{0E9DBB58-6406-2088-AE7D-CD856A1E7ACD}"/>
                </a:ext>
              </a:extLst>
            </p:cNvPr>
            <p:cNvPicPr>
              <a:picLocks noChangeAspect="1"/>
            </p:cNvPicPr>
            <p:nvPr userDrawn="1"/>
          </p:nvPicPr>
          <p:blipFill>
            <a:blip r:embed="rId5" cstate="screen">
              <a:extLst>
                <a:ext uri="{28A0092B-C50C-407E-A947-70E740481C1C}">
                  <a14:useLocalDpi xmlns:a14="http://schemas.microsoft.com/office/drawing/2010/main"/>
                </a:ext>
              </a:extLst>
            </a:blip>
            <a:srcRect/>
            <a:stretch/>
          </p:blipFill>
          <p:spPr>
            <a:xfrm>
              <a:off x="4379940" y="1752600"/>
              <a:ext cx="937550" cy="937550"/>
            </a:xfrm>
            <a:prstGeom prst="rect">
              <a:avLst/>
            </a:prstGeom>
          </p:spPr>
        </p:pic>
        <p:sp>
          <p:nvSpPr>
            <p:cNvPr id="12" name="TextBox 11">
              <a:extLst>
                <a:ext uri="{FF2B5EF4-FFF2-40B4-BE49-F238E27FC236}">
                  <a16:creationId xmlns:a16="http://schemas.microsoft.com/office/drawing/2014/main" id="{8D472200-79FE-9C5A-93BA-31F52D3EE86F}"/>
                </a:ext>
              </a:extLst>
            </p:cNvPr>
            <p:cNvSpPr txBox="1"/>
            <p:nvPr userDrawn="1"/>
          </p:nvSpPr>
          <p:spPr>
            <a:xfrm>
              <a:off x="4483070" y="2667000"/>
              <a:ext cx="731290" cy="246221"/>
            </a:xfrm>
            <a:prstGeom prst="rect">
              <a:avLst/>
            </a:prstGeom>
            <a:noFill/>
          </p:spPr>
          <p:txBody>
            <a:bodyPr wrap="none" rtlCol="0">
              <a:spAutoFit/>
            </a:bodyPr>
            <a:lstStyle/>
            <a:p>
              <a:pPr algn="ctr"/>
              <a:r>
                <a:rPr lang="en-US" sz="1000" dirty="0"/>
                <a:t>Complete</a:t>
              </a:r>
            </a:p>
          </p:txBody>
        </p:sp>
      </p:grpSp>
      <p:grpSp>
        <p:nvGrpSpPr>
          <p:cNvPr id="23" name="Group 22">
            <a:extLst>
              <a:ext uri="{FF2B5EF4-FFF2-40B4-BE49-F238E27FC236}">
                <a16:creationId xmlns:a16="http://schemas.microsoft.com/office/drawing/2014/main" id="{2BC30226-E85A-EAB4-EA3A-2F8AF418AC7A}"/>
              </a:ext>
            </a:extLst>
          </p:cNvPr>
          <p:cNvGrpSpPr/>
          <p:nvPr userDrawn="1"/>
        </p:nvGrpSpPr>
        <p:grpSpPr>
          <a:xfrm>
            <a:off x="6247355" y="1752600"/>
            <a:ext cx="937550" cy="1160621"/>
            <a:chOff x="5431831" y="1752600"/>
            <a:chExt cx="937550" cy="1160621"/>
          </a:xfrm>
        </p:grpSpPr>
        <p:pic>
          <p:nvPicPr>
            <p:cNvPr id="39" name="Picture 38">
              <a:extLst>
                <a:ext uri="{FF2B5EF4-FFF2-40B4-BE49-F238E27FC236}">
                  <a16:creationId xmlns:a16="http://schemas.microsoft.com/office/drawing/2014/main" id="{829FB4C8-0924-DD30-1DEA-0B2E407C2C96}"/>
                </a:ext>
              </a:extLst>
            </p:cNvPr>
            <p:cNvPicPr>
              <a:picLocks noChangeAspect="1"/>
            </p:cNvPicPr>
            <p:nvPr userDrawn="1"/>
          </p:nvPicPr>
          <p:blipFill>
            <a:blip r:embed="rId6"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14" name="TextBox 13">
              <a:extLst>
                <a:ext uri="{FF2B5EF4-FFF2-40B4-BE49-F238E27FC236}">
                  <a16:creationId xmlns:a16="http://schemas.microsoft.com/office/drawing/2014/main" id="{2E9D3CBF-9626-9176-B486-F34F15BE4A9E}"/>
                </a:ext>
              </a:extLst>
            </p:cNvPr>
            <p:cNvSpPr txBox="1"/>
            <p:nvPr userDrawn="1"/>
          </p:nvSpPr>
          <p:spPr>
            <a:xfrm>
              <a:off x="5530953" y="2667000"/>
              <a:ext cx="739306" cy="246221"/>
            </a:xfrm>
            <a:prstGeom prst="rect">
              <a:avLst/>
            </a:prstGeom>
            <a:noFill/>
          </p:spPr>
          <p:txBody>
            <a:bodyPr wrap="none" rtlCol="0">
              <a:spAutoFit/>
            </a:bodyPr>
            <a:lstStyle/>
            <a:p>
              <a:pPr algn="ctr"/>
              <a:r>
                <a:rPr lang="en-US" sz="1000" dirty="0"/>
                <a:t>Molecular</a:t>
              </a:r>
            </a:p>
          </p:txBody>
        </p:sp>
      </p:grpSp>
      <p:grpSp>
        <p:nvGrpSpPr>
          <p:cNvPr id="24" name="Group 23">
            <a:extLst>
              <a:ext uri="{FF2B5EF4-FFF2-40B4-BE49-F238E27FC236}">
                <a16:creationId xmlns:a16="http://schemas.microsoft.com/office/drawing/2014/main" id="{F5EC613B-9512-31BF-730B-49C7B41C44C6}"/>
              </a:ext>
            </a:extLst>
          </p:cNvPr>
          <p:cNvGrpSpPr/>
          <p:nvPr userDrawn="1"/>
        </p:nvGrpSpPr>
        <p:grpSpPr>
          <a:xfrm>
            <a:off x="7661269" y="1752600"/>
            <a:ext cx="937550" cy="1160621"/>
            <a:chOff x="5431831" y="1752600"/>
            <a:chExt cx="937550" cy="1160621"/>
          </a:xfrm>
        </p:grpSpPr>
        <p:pic>
          <p:nvPicPr>
            <p:cNvPr id="25" name="Picture 24">
              <a:extLst>
                <a:ext uri="{FF2B5EF4-FFF2-40B4-BE49-F238E27FC236}">
                  <a16:creationId xmlns:a16="http://schemas.microsoft.com/office/drawing/2014/main" id="{3EA005A4-9DA7-B0C3-08EE-98CB0CE9BA4A}"/>
                </a:ext>
              </a:extLst>
            </p:cNvPr>
            <p:cNvPicPr>
              <a:picLocks noChangeAspect="1"/>
            </p:cNvPicPr>
            <p:nvPr userDrawn="1"/>
          </p:nvPicPr>
          <p:blipFill>
            <a:blip r:embed="rId7"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26" name="TextBox 25">
              <a:extLst>
                <a:ext uri="{FF2B5EF4-FFF2-40B4-BE49-F238E27FC236}">
                  <a16:creationId xmlns:a16="http://schemas.microsoft.com/office/drawing/2014/main" id="{B5FE336D-FA97-22C9-55DC-079F3A53A069}"/>
                </a:ext>
              </a:extLst>
            </p:cNvPr>
            <p:cNvSpPr txBox="1"/>
            <p:nvPr userDrawn="1"/>
          </p:nvSpPr>
          <p:spPr>
            <a:xfrm>
              <a:off x="5607097" y="2667000"/>
              <a:ext cx="587020" cy="246221"/>
            </a:xfrm>
            <a:prstGeom prst="rect">
              <a:avLst/>
            </a:prstGeom>
            <a:noFill/>
          </p:spPr>
          <p:txBody>
            <a:bodyPr wrap="none" rtlCol="0">
              <a:spAutoFit/>
            </a:bodyPr>
            <a:lstStyle/>
            <a:p>
              <a:pPr algn="ctr"/>
              <a:r>
                <a:rPr lang="en-US" sz="1000" dirty="0"/>
                <a:t>Budget</a:t>
              </a:r>
            </a:p>
          </p:txBody>
        </p:sp>
      </p:grpSp>
      <p:grpSp>
        <p:nvGrpSpPr>
          <p:cNvPr id="27" name="Group 26">
            <a:extLst>
              <a:ext uri="{FF2B5EF4-FFF2-40B4-BE49-F238E27FC236}">
                <a16:creationId xmlns:a16="http://schemas.microsoft.com/office/drawing/2014/main" id="{56DF185E-4874-C556-B523-55B66CA67CA6}"/>
              </a:ext>
            </a:extLst>
          </p:cNvPr>
          <p:cNvGrpSpPr/>
          <p:nvPr userDrawn="1"/>
        </p:nvGrpSpPr>
        <p:grpSpPr>
          <a:xfrm>
            <a:off x="9037083" y="1752600"/>
            <a:ext cx="937550" cy="1160621"/>
            <a:chOff x="5431831" y="1752600"/>
            <a:chExt cx="937550" cy="1160621"/>
          </a:xfrm>
        </p:grpSpPr>
        <p:pic>
          <p:nvPicPr>
            <p:cNvPr id="40" name="Picture 39">
              <a:extLst>
                <a:ext uri="{FF2B5EF4-FFF2-40B4-BE49-F238E27FC236}">
                  <a16:creationId xmlns:a16="http://schemas.microsoft.com/office/drawing/2014/main" id="{63CE37AC-3781-BB31-177C-5CE7E2287CED}"/>
                </a:ext>
              </a:extLst>
            </p:cNvPr>
            <p:cNvPicPr>
              <a:picLocks noChangeAspect="1"/>
            </p:cNvPicPr>
            <p:nvPr userDrawn="1"/>
          </p:nvPicPr>
          <p:blipFill>
            <a:blip r:embed="rId8"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41" name="TextBox 40">
              <a:extLst>
                <a:ext uri="{FF2B5EF4-FFF2-40B4-BE49-F238E27FC236}">
                  <a16:creationId xmlns:a16="http://schemas.microsoft.com/office/drawing/2014/main" id="{C38C9462-D61D-BDFC-9D8E-41D0C89DE06F}"/>
                </a:ext>
              </a:extLst>
            </p:cNvPr>
            <p:cNvSpPr txBox="1"/>
            <p:nvPr userDrawn="1"/>
          </p:nvSpPr>
          <p:spPr>
            <a:xfrm>
              <a:off x="5684843" y="2667000"/>
              <a:ext cx="431529" cy="246221"/>
            </a:xfrm>
            <a:prstGeom prst="rect">
              <a:avLst/>
            </a:prstGeom>
            <a:noFill/>
          </p:spPr>
          <p:txBody>
            <a:bodyPr wrap="none" rtlCol="0">
              <a:spAutoFit/>
            </a:bodyPr>
            <a:lstStyle/>
            <a:p>
              <a:pPr algn="ctr"/>
              <a:r>
                <a:rPr lang="en-US" sz="1000" dirty="0"/>
                <a:t>Idea</a:t>
              </a:r>
            </a:p>
          </p:txBody>
        </p:sp>
      </p:grpSp>
      <p:grpSp>
        <p:nvGrpSpPr>
          <p:cNvPr id="42" name="Group 41">
            <a:extLst>
              <a:ext uri="{FF2B5EF4-FFF2-40B4-BE49-F238E27FC236}">
                <a16:creationId xmlns:a16="http://schemas.microsoft.com/office/drawing/2014/main" id="{5CD12664-0486-A848-58F4-C28C560C54DC}"/>
              </a:ext>
            </a:extLst>
          </p:cNvPr>
          <p:cNvGrpSpPr/>
          <p:nvPr userDrawn="1"/>
        </p:nvGrpSpPr>
        <p:grpSpPr>
          <a:xfrm>
            <a:off x="10412895" y="1752600"/>
            <a:ext cx="937550" cy="1160621"/>
            <a:chOff x="5431831" y="1752600"/>
            <a:chExt cx="937550" cy="1160621"/>
          </a:xfrm>
        </p:grpSpPr>
        <p:pic>
          <p:nvPicPr>
            <p:cNvPr id="43" name="Picture 42">
              <a:extLst>
                <a:ext uri="{FF2B5EF4-FFF2-40B4-BE49-F238E27FC236}">
                  <a16:creationId xmlns:a16="http://schemas.microsoft.com/office/drawing/2014/main" id="{C49D6AE0-9F7E-5646-BBF2-3EB286B932C3}"/>
                </a:ext>
              </a:extLst>
            </p:cNvPr>
            <p:cNvPicPr>
              <a:picLocks noChangeAspect="1"/>
            </p:cNvPicPr>
            <p:nvPr userDrawn="1"/>
          </p:nvPicPr>
          <p:blipFill>
            <a:blip r:embed="rId9"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44" name="TextBox 43">
              <a:extLst>
                <a:ext uri="{FF2B5EF4-FFF2-40B4-BE49-F238E27FC236}">
                  <a16:creationId xmlns:a16="http://schemas.microsoft.com/office/drawing/2014/main" id="{91436932-7489-215B-A927-D94234ABE44F}"/>
                </a:ext>
              </a:extLst>
            </p:cNvPr>
            <p:cNvSpPr txBox="1"/>
            <p:nvPr userDrawn="1"/>
          </p:nvSpPr>
          <p:spPr>
            <a:xfrm>
              <a:off x="5485271" y="2667000"/>
              <a:ext cx="830677" cy="246221"/>
            </a:xfrm>
            <a:prstGeom prst="rect">
              <a:avLst/>
            </a:prstGeom>
            <a:noFill/>
          </p:spPr>
          <p:txBody>
            <a:bodyPr wrap="none" rtlCol="0">
              <a:spAutoFit/>
            </a:bodyPr>
            <a:lstStyle/>
            <a:p>
              <a:pPr algn="ctr"/>
              <a:r>
                <a:rPr lang="en-US" sz="1000" dirty="0"/>
                <a:t>Experiment</a:t>
              </a:r>
            </a:p>
          </p:txBody>
        </p:sp>
      </p:grpSp>
      <p:grpSp>
        <p:nvGrpSpPr>
          <p:cNvPr id="45" name="Group 44">
            <a:extLst>
              <a:ext uri="{FF2B5EF4-FFF2-40B4-BE49-F238E27FC236}">
                <a16:creationId xmlns:a16="http://schemas.microsoft.com/office/drawing/2014/main" id="{2B0F299A-3739-E2C2-ADAB-FEB8CB19AA01}"/>
              </a:ext>
            </a:extLst>
          </p:cNvPr>
          <p:cNvGrpSpPr/>
          <p:nvPr userDrawn="1"/>
        </p:nvGrpSpPr>
        <p:grpSpPr>
          <a:xfrm>
            <a:off x="709105" y="3246863"/>
            <a:ext cx="971741" cy="1160621"/>
            <a:chOff x="709103" y="1752600"/>
            <a:chExt cx="971741" cy="1160621"/>
          </a:xfrm>
        </p:grpSpPr>
        <p:pic>
          <p:nvPicPr>
            <p:cNvPr id="46" name="Picture 45">
              <a:extLst>
                <a:ext uri="{FF2B5EF4-FFF2-40B4-BE49-F238E27FC236}">
                  <a16:creationId xmlns:a16="http://schemas.microsoft.com/office/drawing/2014/main" id="{D7CD17CB-B72B-50B2-32D5-1580EF583820}"/>
                </a:ext>
              </a:extLst>
            </p:cNvPr>
            <p:cNvPicPr>
              <a:picLocks noChangeAspect="1"/>
            </p:cNvPicPr>
            <p:nvPr userDrawn="1"/>
          </p:nvPicPr>
          <p:blipFill>
            <a:blip r:embed="rId10" cstate="screen">
              <a:extLst>
                <a:ext uri="{28A0092B-C50C-407E-A947-70E740481C1C}">
                  <a14:useLocalDpi xmlns:a14="http://schemas.microsoft.com/office/drawing/2010/main"/>
                </a:ext>
              </a:extLst>
            </a:blip>
            <a:srcRect/>
            <a:stretch/>
          </p:blipFill>
          <p:spPr>
            <a:xfrm>
              <a:off x="726198" y="1752600"/>
              <a:ext cx="937550" cy="937550"/>
            </a:xfrm>
            <a:prstGeom prst="rect">
              <a:avLst/>
            </a:prstGeom>
          </p:spPr>
        </p:pic>
        <p:sp>
          <p:nvSpPr>
            <p:cNvPr id="47" name="TextBox 46">
              <a:extLst>
                <a:ext uri="{FF2B5EF4-FFF2-40B4-BE49-F238E27FC236}">
                  <a16:creationId xmlns:a16="http://schemas.microsoft.com/office/drawing/2014/main" id="{ABBBB447-9DD9-51D6-7E1F-53FCEA69C8AE}"/>
                </a:ext>
              </a:extLst>
            </p:cNvPr>
            <p:cNvSpPr txBox="1"/>
            <p:nvPr userDrawn="1"/>
          </p:nvSpPr>
          <p:spPr>
            <a:xfrm>
              <a:off x="709103" y="2667000"/>
              <a:ext cx="971741" cy="246221"/>
            </a:xfrm>
            <a:prstGeom prst="rect">
              <a:avLst/>
            </a:prstGeom>
            <a:noFill/>
          </p:spPr>
          <p:txBody>
            <a:bodyPr wrap="none" rtlCol="0">
              <a:spAutoFit/>
            </a:bodyPr>
            <a:lstStyle/>
            <a:p>
              <a:pPr algn="ctr"/>
              <a:r>
                <a:rPr lang="en-US" sz="1000" dirty="0"/>
                <a:t>Attention/Risk</a:t>
              </a:r>
            </a:p>
          </p:txBody>
        </p:sp>
      </p:grpSp>
      <p:grpSp>
        <p:nvGrpSpPr>
          <p:cNvPr id="48" name="Group 47">
            <a:extLst>
              <a:ext uri="{FF2B5EF4-FFF2-40B4-BE49-F238E27FC236}">
                <a16:creationId xmlns:a16="http://schemas.microsoft.com/office/drawing/2014/main" id="{145483EF-BC35-2B72-DF14-F98491F5A878}"/>
              </a:ext>
            </a:extLst>
          </p:cNvPr>
          <p:cNvGrpSpPr/>
          <p:nvPr userDrawn="1"/>
        </p:nvGrpSpPr>
        <p:grpSpPr>
          <a:xfrm>
            <a:off x="2119913" y="3246863"/>
            <a:ext cx="937550" cy="1160621"/>
            <a:chOff x="2276156" y="1752600"/>
            <a:chExt cx="937550" cy="1160621"/>
          </a:xfrm>
        </p:grpSpPr>
        <p:pic>
          <p:nvPicPr>
            <p:cNvPr id="49" name="Picture 48">
              <a:extLst>
                <a:ext uri="{FF2B5EF4-FFF2-40B4-BE49-F238E27FC236}">
                  <a16:creationId xmlns:a16="http://schemas.microsoft.com/office/drawing/2014/main" id="{DC1CB1A3-CB6A-3F6F-D4C8-D0A375257F59}"/>
                </a:ext>
              </a:extLst>
            </p:cNvPr>
            <p:cNvPicPr>
              <a:picLocks noChangeAspect="1"/>
            </p:cNvPicPr>
            <p:nvPr userDrawn="1"/>
          </p:nvPicPr>
          <p:blipFill>
            <a:blip r:embed="rId11" cstate="screen">
              <a:extLst>
                <a:ext uri="{28A0092B-C50C-407E-A947-70E740481C1C}">
                  <a14:useLocalDpi xmlns:a14="http://schemas.microsoft.com/office/drawing/2010/main"/>
                </a:ext>
              </a:extLst>
            </a:blip>
            <a:srcRect/>
            <a:stretch/>
          </p:blipFill>
          <p:spPr>
            <a:xfrm>
              <a:off x="2276156" y="1752600"/>
              <a:ext cx="937550" cy="937550"/>
            </a:xfrm>
            <a:prstGeom prst="rect">
              <a:avLst/>
            </a:prstGeom>
          </p:spPr>
        </p:pic>
        <p:sp>
          <p:nvSpPr>
            <p:cNvPr id="50" name="TextBox 49">
              <a:extLst>
                <a:ext uri="{FF2B5EF4-FFF2-40B4-BE49-F238E27FC236}">
                  <a16:creationId xmlns:a16="http://schemas.microsoft.com/office/drawing/2014/main" id="{864AB0F9-D4AB-42DC-85C6-261EF3905EB7}"/>
                </a:ext>
              </a:extLst>
            </p:cNvPr>
            <p:cNvSpPr txBox="1"/>
            <p:nvPr userDrawn="1"/>
          </p:nvSpPr>
          <p:spPr>
            <a:xfrm>
              <a:off x="2368868" y="2667000"/>
              <a:ext cx="752129" cy="246221"/>
            </a:xfrm>
            <a:prstGeom prst="rect">
              <a:avLst/>
            </a:prstGeom>
            <a:noFill/>
          </p:spPr>
          <p:txBody>
            <a:bodyPr wrap="none" rtlCol="0">
              <a:spAutoFit/>
            </a:bodyPr>
            <a:lstStyle/>
            <a:p>
              <a:pPr algn="ctr"/>
              <a:r>
                <a:rPr lang="en-US" sz="1000" dirty="0"/>
                <a:t>List/To-do</a:t>
              </a:r>
            </a:p>
          </p:txBody>
        </p:sp>
      </p:grpSp>
      <p:grpSp>
        <p:nvGrpSpPr>
          <p:cNvPr id="51" name="Group 50">
            <a:extLst>
              <a:ext uri="{FF2B5EF4-FFF2-40B4-BE49-F238E27FC236}">
                <a16:creationId xmlns:a16="http://schemas.microsoft.com/office/drawing/2014/main" id="{91D7BD37-7B62-B0BE-B34B-FE7378F9CBAE}"/>
              </a:ext>
            </a:extLst>
          </p:cNvPr>
          <p:cNvGrpSpPr/>
          <p:nvPr userDrawn="1"/>
        </p:nvGrpSpPr>
        <p:grpSpPr>
          <a:xfrm>
            <a:off x="3376712" y="3246863"/>
            <a:ext cx="1184941" cy="1160621"/>
            <a:chOff x="3204355" y="1752600"/>
            <a:chExt cx="1184941" cy="1160621"/>
          </a:xfrm>
        </p:grpSpPr>
        <p:pic>
          <p:nvPicPr>
            <p:cNvPr id="52" name="Picture 51">
              <a:extLst>
                <a:ext uri="{FF2B5EF4-FFF2-40B4-BE49-F238E27FC236}">
                  <a16:creationId xmlns:a16="http://schemas.microsoft.com/office/drawing/2014/main" id="{E016F2B6-B7E8-1132-2642-EA957F1761C7}"/>
                </a:ext>
              </a:extLst>
            </p:cNvPr>
            <p:cNvPicPr>
              <a:picLocks noChangeAspect="1"/>
            </p:cNvPicPr>
            <p:nvPr userDrawn="1"/>
          </p:nvPicPr>
          <p:blipFill>
            <a:blip r:embed="rId12" cstate="screen">
              <a:extLst>
                <a:ext uri="{28A0092B-C50C-407E-A947-70E740481C1C}">
                  <a14:useLocalDpi xmlns:a14="http://schemas.microsoft.com/office/drawing/2010/main"/>
                </a:ext>
              </a:extLst>
            </a:blip>
            <a:srcRect/>
            <a:stretch/>
          </p:blipFill>
          <p:spPr>
            <a:xfrm>
              <a:off x="3328048" y="1752600"/>
              <a:ext cx="937550" cy="937550"/>
            </a:xfrm>
            <a:prstGeom prst="rect">
              <a:avLst/>
            </a:prstGeom>
          </p:spPr>
        </p:pic>
        <p:sp>
          <p:nvSpPr>
            <p:cNvPr id="53" name="TextBox 52">
              <a:extLst>
                <a:ext uri="{FF2B5EF4-FFF2-40B4-BE49-F238E27FC236}">
                  <a16:creationId xmlns:a16="http://schemas.microsoft.com/office/drawing/2014/main" id="{FE880E60-8A4E-251D-C573-98A48CAF06AC}"/>
                </a:ext>
              </a:extLst>
            </p:cNvPr>
            <p:cNvSpPr txBox="1"/>
            <p:nvPr userDrawn="1"/>
          </p:nvSpPr>
          <p:spPr>
            <a:xfrm>
              <a:off x="3204355" y="2667000"/>
              <a:ext cx="1184941" cy="246221"/>
            </a:xfrm>
            <a:prstGeom prst="rect">
              <a:avLst/>
            </a:prstGeom>
            <a:noFill/>
          </p:spPr>
          <p:txBody>
            <a:bodyPr wrap="none" rtlCol="0">
              <a:spAutoFit/>
            </a:bodyPr>
            <a:lstStyle/>
            <a:p>
              <a:pPr algn="ctr"/>
              <a:r>
                <a:rPr lang="en-US" sz="1000" dirty="0"/>
                <a:t>Report/Document</a:t>
              </a:r>
            </a:p>
          </p:txBody>
        </p:sp>
      </p:grpSp>
      <p:grpSp>
        <p:nvGrpSpPr>
          <p:cNvPr id="54" name="Group 53">
            <a:extLst>
              <a:ext uri="{FF2B5EF4-FFF2-40B4-BE49-F238E27FC236}">
                <a16:creationId xmlns:a16="http://schemas.microsoft.com/office/drawing/2014/main" id="{A6033F2C-0684-B356-46F6-D9BF89D9EBB8}"/>
              </a:ext>
            </a:extLst>
          </p:cNvPr>
          <p:cNvGrpSpPr/>
          <p:nvPr userDrawn="1"/>
        </p:nvGrpSpPr>
        <p:grpSpPr>
          <a:xfrm>
            <a:off x="6247355" y="3246863"/>
            <a:ext cx="937550" cy="1160621"/>
            <a:chOff x="4379940" y="1752600"/>
            <a:chExt cx="937550" cy="1160621"/>
          </a:xfrm>
        </p:grpSpPr>
        <p:pic>
          <p:nvPicPr>
            <p:cNvPr id="55" name="Picture 54">
              <a:extLst>
                <a:ext uri="{FF2B5EF4-FFF2-40B4-BE49-F238E27FC236}">
                  <a16:creationId xmlns:a16="http://schemas.microsoft.com/office/drawing/2014/main" id="{39BAD218-B5C9-34D3-5AF3-0CBB52EE323D}"/>
                </a:ext>
              </a:extLst>
            </p:cNvPr>
            <p:cNvPicPr>
              <a:picLocks noChangeAspect="1"/>
            </p:cNvPicPr>
            <p:nvPr userDrawn="1"/>
          </p:nvPicPr>
          <p:blipFill>
            <a:blip r:embed="rId13" cstate="screen">
              <a:extLst>
                <a:ext uri="{28A0092B-C50C-407E-A947-70E740481C1C}">
                  <a14:useLocalDpi xmlns:a14="http://schemas.microsoft.com/office/drawing/2010/main"/>
                </a:ext>
              </a:extLst>
            </a:blip>
            <a:srcRect/>
            <a:stretch/>
          </p:blipFill>
          <p:spPr>
            <a:xfrm>
              <a:off x="4379940" y="1752600"/>
              <a:ext cx="937550" cy="937550"/>
            </a:xfrm>
            <a:prstGeom prst="rect">
              <a:avLst/>
            </a:prstGeom>
          </p:spPr>
        </p:pic>
        <p:sp>
          <p:nvSpPr>
            <p:cNvPr id="56" name="TextBox 55">
              <a:extLst>
                <a:ext uri="{FF2B5EF4-FFF2-40B4-BE49-F238E27FC236}">
                  <a16:creationId xmlns:a16="http://schemas.microsoft.com/office/drawing/2014/main" id="{9E81308E-5F10-C3B2-DBCC-5B1B946E1E11}"/>
                </a:ext>
              </a:extLst>
            </p:cNvPr>
            <p:cNvSpPr txBox="1"/>
            <p:nvPr userDrawn="1"/>
          </p:nvSpPr>
          <p:spPr>
            <a:xfrm>
              <a:off x="4429371" y="2667000"/>
              <a:ext cx="838691" cy="246221"/>
            </a:xfrm>
            <a:prstGeom prst="rect">
              <a:avLst/>
            </a:prstGeom>
            <a:noFill/>
          </p:spPr>
          <p:txBody>
            <a:bodyPr wrap="none" rtlCol="0">
              <a:spAutoFit/>
            </a:bodyPr>
            <a:lstStyle/>
            <a:p>
              <a:pPr algn="ctr"/>
              <a:r>
                <a:rPr lang="en-US" sz="1000" dirty="0"/>
                <a:t>Microscope</a:t>
              </a:r>
            </a:p>
          </p:txBody>
        </p:sp>
      </p:grpSp>
      <p:grpSp>
        <p:nvGrpSpPr>
          <p:cNvPr id="57" name="Group 56">
            <a:extLst>
              <a:ext uri="{FF2B5EF4-FFF2-40B4-BE49-F238E27FC236}">
                <a16:creationId xmlns:a16="http://schemas.microsoft.com/office/drawing/2014/main" id="{BCB13DA3-C4EA-FA14-E54A-64A7393C4797}"/>
              </a:ext>
            </a:extLst>
          </p:cNvPr>
          <p:cNvGrpSpPr/>
          <p:nvPr userDrawn="1"/>
        </p:nvGrpSpPr>
        <p:grpSpPr>
          <a:xfrm>
            <a:off x="10412895" y="3246863"/>
            <a:ext cx="937550" cy="1160621"/>
            <a:chOff x="5431831" y="1752600"/>
            <a:chExt cx="937550" cy="1160621"/>
          </a:xfrm>
        </p:grpSpPr>
        <p:pic>
          <p:nvPicPr>
            <p:cNvPr id="58" name="Picture 57">
              <a:extLst>
                <a:ext uri="{FF2B5EF4-FFF2-40B4-BE49-F238E27FC236}">
                  <a16:creationId xmlns:a16="http://schemas.microsoft.com/office/drawing/2014/main" id="{2E0CFCFC-C544-673F-AC06-758A8EEB54E3}"/>
                </a:ext>
              </a:extLst>
            </p:cNvPr>
            <p:cNvPicPr>
              <a:picLocks noChangeAspect="1"/>
            </p:cNvPicPr>
            <p:nvPr userDrawn="1"/>
          </p:nvPicPr>
          <p:blipFill>
            <a:blip r:embed="rId14"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59" name="TextBox 58">
              <a:extLst>
                <a:ext uri="{FF2B5EF4-FFF2-40B4-BE49-F238E27FC236}">
                  <a16:creationId xmlns:a16="http://schemas.microsoft.com/office/drawing/2014/main" id="{761C5F85-20F7-D144-95A9-0CE5C5D9B15C}"/>
                </a:ext>
              </a:extLst>
            </p:cNvPr>
            <p:cNvSpPr txBox="1"/>
            <p:nvPr userDrawn="1"/>
          </p:nvSpPr>
          <p:spPr>
            <a:xfrm>
              <a:off x="5485270" y="2667000"/>
              <a:ext cx="830676" cy="246221"/>
            </a:xfrm>
            <a:prstGeom prst="rect">
              <a:avLst/>
            </a:prstGeom>
            <a:noFill/>
          </p:spPr>
          <p:txBody>
            <a:bodyPr wrap="none" rtlCol="0">
              <a:spAutoFit/>
            </a:bodyPr>
            <a:lstStyle/>
            <a:p>
              <a:pPr algn="ctr"/>
              <a:r>
                <a:rPr lang="en-US" sz="1000" dirty="0"/>
                <a:t>Experiment</a:t>
              </a:r>
            </a:p>
          </p:txBody>
        </p:sp>
      </p:grpSp>
      <p:grpSp>
        <p:nvGrpSpPr>
          <p:cNvPr id="60" name="Group 59">
            <a:extLst>
              <a:ext uri="{FF2B5EF4-FFF2-40B4-BE49-F238E27FC236}">
                <a16:creationId xmlns:a16="http://schemas.microsoft.com/office/drawing/2014/main" id="{6B523C45-1411-FFA2-CDD6-030F8673413B}"/>
              </a:ext>
            </a:extLst>
          </p:cNvPr>
          <p:cNvGrpSpPr/>
          <p:nvPr userDrawn="1"/>
        </p:nvGrpSpPr>
        <p:grpSpPr>
          <a:xfrm>
            <a:off x="7661269" y="3246863"/>
            <a:ext cx="937550" cy="1160621"/>
            <a:chOff x="5431831" y="1752600"/>
            <a:chExt cx="937550" cy="1160621"/>
          </a:xfrm>
        </p:grpSpPr>
        <p:pic>
          <p:nvPicPr>
            <p:cNvPr id="61" name="Picture 60">
              <a:extLst>
                <a:ext uri="{FF2B5EF4-FFF2-40B4-BE49-F238E27FC236}">
                  <a16:creationId xmlns:a16="http://schemas.microsoft.com/office/drawing/2014/main" id="{CBAEB1D6-A0DB-C3DE-CEFD-60B96E056668}"/>
                </a:ext>
              </a:extLst>
            </p:cNvPr>
            <p:cNvPicPr>
              <a:picLocks noChangeAspect="1"/>
            </p:cNvPicPr>
            <p:nvPr userDrawn="1"/>
          </p:nvPicPr>
          <p:blipFill>
            <a:blip r:embed="rId15"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62" name="TextBox 61">
              <a:extLst>
                <a:ext uri="{FF2B5EF4-FFF2-40B4-BE49-F238E27FC236}">
                  <a16:creationId xmlns:a16="http://schemas.microsoft.com/office/drawing/2014/main" id="{1DB68FE0-405B-2CB1-9B49-0529846D28AF}"/>
                </a:ext>
              </a:extLst>
            </p:cNvPr>
            <p:cNvSpPr txBox="1"/>
            <p:nvPr userDrawn="1"/>
          </p:nvSpPr>
          <p:spPr>
            <a:xfrm>
              <a:off x="5627937" y="2667000"/>
              <a:ext cx="545342" cy="246221"/>
            </a:xfrm>
            <a:prstGeom prst="rect">
              <a:avLst/>
            </a:prstGeom>
            <a:noFill/>
          </p:spPr>
          <p:txBody>
            <a:bodyPr wrap="none" rtlCol="0">
              <a:spAutoFit/>
            </a:bodyPr>
            <a:lstStyle/>
            <a:p>
              <a:pPr algn="ctr"/>
              <a:r>
                <a:rPr lang="en-US" sz="1000" dirty="0"/>
                <a:t>Space</a:t>
              </a:r>
            </a:p>
          </p:txBody>
        </p:sp>
      </p:grpSp>
      <p:grpSp>
        <p:nvGrpSpPr>
          <p:cNvPr id="66" name="Group 65">
            <a:extLst>
              <a:ext uri="{FF2B5EF4-FFF2-40B4-BE49-F238E27FC236}">
                <a16:creationId xmlns:a16="http://schemas.microsoft.com/office/drawing/2014/main" id="{9C8573B0-C3E9-BD4A-12C6-2C05FEB654FB}"/>
              </a:ext>
            </a:extLst>
          </p:cNvPr>
          <p:cNvGrpSpPr/>
          <p:nvPr userDrawn="1"/>
        </p:nvGrpSpPr>
        <p:grpSpPr>
          <a:xfrm>
            <a:off x="4800600" y="3246863"/>
            <a:ext cx="1114409" cy="1160621"/>
            <a:chOff x="5343407" y="1752600"/>
            <a:chExt cx="1114409" cy="1160621"/>
          </a:xfrm>
        </p:grpSpPr>
        <p:pic>
          <p:nvPicPr>
            <p:cNvPr id="67" name="Picture 66">
              <a:extLst>
                <a:ext uri="{FF2B5EF4-FFF2-40B4-BE49-F238E27FC236}">
                  <a16:creationId xmlns:a16="http://schemas.microsoft.com/office/drawing/2014/main" id="{E7FB7A2A-2D14-1105-B15D-4F4C04A6FF74}"/>
                </a:ext>
              </a:extLst>
            </p:cNvPr>
            <p:cNvPicPr>
              <a:picLocks noChangeAspect="1"/>
            </p:cNvPicPr>
            <p:nvPr userDrawn="1"/>
          </p:nvPicPr>
          <p:blipFill>
            <a:blip r:embed="rId16"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68" name="TextBox 67">
              <a:extLst>
                <a:ext uri="{FF2B5EF4-FFF2-40B4-BE49-F238E27FC236}">
                  <a16:creationId xmlns:a16="http://schemas.microsoft.com/office/drawing/2014/main" id="{4CA22A94-509E-32C8-87A6-C41E8B1B2DEA}"/>
                </a:ext>
              </a:extLst>
            </p:cNvPr>
            <p:cNvSpPr txBox="1"/>
            <p:nvPr userDrawn="1"/>
          </p:nvSpPr>
          <p:spPr>
            <a:xfrm>
              <a:off x="5343407" y="2667000"/>
              <a:ext cx="1114409" cy="246221"/>
            </a:xfrm>
            <a:prstGeom prst="rect">
              <a:avLst/>
            </a:prstGeom>
            <a:noFill/>
          </p:spPr>
          <p:txBody>
            <a:bodyPr wrap="none" rtlCol="0">
              <a:spAutoFit/>
            </a:bodyPr>
            <a:lstStyle/>
            <a:p>
              <a:pPr algn="ctr"/>
              <a:r>
                <a:rPr lang="en-US" sz="1000" dirty="0"/>
                <a:t>Report/Analytics</a:t>
              </a:r>
            </a:p>
          </p:txBody>
        </p:sp>
      </p:grpSp>
      <p:grpSp>
        <p:nvGrpSpPr>
          <p:cNvPr id="69" name="Group 68">
            <a:extLst>
              <a:ext uri="{FF2B5EF4-FFF2-40B4-BE49-F238E27FC236}">
                <a16:creationId xmlns:a16="http://schemas.microsoft.com/office/drawing/2014/main" id="{846D9EA6-D0B5-18CC-6C05-63F3908918A0}"/>
              </a:ext>
            </a:extLst>
          </p:cNvPr>
          <p:cNvGrpSpPr/>
          <p:nvPr userDrawn="1"/>
        </p:nvGrpSpPr>
        <p:grpSpPr>
          <a:xfrm>
            <a:off x="9037083" y="3246863"/>
            <a:ext cx="937550" cy="1160621"/>
            <a:chOff x="5431831" y="1752600"/>
            <a:chExt cx="937550" cy="1160621"/>
          </a:xfrm>
        </p:grpSpPr>
        <p:pic>
          <p:nvPicPr>
            <p:cNvPr id="70" name="Picture 69">
              <a:extLst>
                <a:ext uri="{FF2B5EF4-FFF2-40B4-BE49-F238E27FC236}">
                  <a16:creationId xmlns:a16="http://schemas.microsoft.com/office/drawing/2014/main" id="{56CADE8A-6EC7-51D0-0CFE-1124AA9C6C51}"/>
                </a:ext>
              </a:extLst>
            </p:cNvPr>
            <p:cNvPicPr>
              <a:picLocks noChangeAspect="1"/>
            </p:cNvPicPr>
            <p:nvPr userDrawn="1"/>
          </p:nvPicPr>
          <p:blipFill>
            <a:blip r:embed="rId17"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71" name="TextBox 70">
              <a:extLst>
                <a:ext uri="{FF2B5EF4-FFF2-40B4-BE49-F238E27FC236}">
                  <a16:creationId xmlns:a16="http://schemas.microsoft.com/office/drawing/2014/main" id="{9702BEAC-3F80-2061-C091-2E2DE37438D1}"/>
                </a:ext>
              </a:extLst>
            </p:cNvPr>
            <p:cNvSpPr txBox="1"/>
            <p:nvPr userDrawn="1"/>
          </p:nvSpPr>
          <p:spPr>
            <a:xfrm>
              <a:off x="5599081" y="2667000"/>
              <a:ext cx="603050" cy="246221"/>
            </a:xfrm>
            <a:prstGeom prst="rect">
              <a:avLst/>
            </a:prstGeom>
            <a:noFill/>
          </p:spPr>
          <p:txBody>
            <a:bodyPr wrap="none" rtlCol="0">
              <a:spAutoFit/>
            </a:bodyPr>
            <a:lstStyle/>
            <a:p>
              <a:pPr algn="ctr"/>
              <a:r>
                <a:rPr lang="en-US" sz="1000" dirty="0"/>
                <a:t>Biology</a:t>
              </a:r>
            </a:p>
          </p:txBody>
        </p:sp>
      </p:grpSp>
    </p:spTree>
    <p:extLst>
      <p:ext uri="{BB962C8B-B14F-4D97-AF65-F5344CB8AC3E}">
        <p14:creationId xmlns:p14="http://schemas.microsoft.com/office/powerpoint/2010/main" val="3830605519"/>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type="titleOnly" preserve="1">
  <p:cSld name="4_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CE7BEB-3F95-F7BD-8C6B-C9CDE17AD06E}"/>
              </a:ext>
            </a:extLst>
          </p:cNvPr>
          <p:cNvSpPr>
            <a:spLocks noGrp="1"/>
          </p:cNvSpPr>
          <p:nvPr>
            <p:ph type="title" hasCustomPrompt="1"/>
          </p:nvPr>
        </p:nvSpPr>
        <p:spPr>
          <a:xfrm>
            <a:off x="914400" y="755930"/>
            <a:ext cx="10325100" cy="1325563"/>
          </a:xfrm>
        </p:spPr>
        <p:txBody>
          <a:bodyPr/>
          <a:lstStyle/>
          <a:p>
            <a:r>
              <a:rPr lang="en-US" dirty="0"/>
              <a:t>Icon Sets</a:t>
            </a:r>
          </a:p>
        </p:txBody>
      </p:sp>
      <p:sp>
        <p:nvSpPr>
          <p:cNvPr id="4" name="Footer Placeholder 3">
            <a:extLst>
              <a:ext uri="{FF2B5EF4-FFF2-40B4-BE49-F238E27FC236}">
                <a16:creationId xmlns:a16="http://schemas.microsoft.com/office/drawing/2014/main" id="{27D41258-C225-30B8-4068-2B71A0ED381A}"/>
              </a:ext>
            </a:extLst>
          </p:cNvPr>
          <p:cNvSpPr>
            <a:spLocks noGrp="1"/>
          </p:cNvSpPr>
          <p:nvPr>
            <p:ph type="ftr" sz="quarter" idx="11"/>
          </p:nvPr>
        </p:nvSpPr>
        <p:spPr/>
        <p:txBody>
          <a:bodyPr/>
          <a:lstStyle/>
          <a:p>
            <a:r>
              <a:rPr lang="en-US" dirty="0"/>
              <a:t>Biological &amp; Physical Sciences</a:t>
            </a:r>
          </a:p>
        </p:txBody>
      </p:sp>
      <p:sp>
        <p:nvSpPr>
          <p:cNvPr id="5" name="Slide Number Placeholder 4">
            <a:extLst>
              <a:ext uri="{FF2B5EF4-FFF2-40B4-BE49-F238E27FC236}">
                <a16:creationId xmlns:a16="http://schemas.microsoft.com/office/drawing/2014/main" id="{C1FA1CED-BEE1-ACF5-8AEE-094C9B16F7D7}"/>
              </a:ext>
            </a:extLst>
          </p:cNvPr>
          <p:cNvSpPr>
            <a:spLocks noGrp="1"/>
          </p:cNvSpPr>
          <p:nvPr>
            <p:ph type="sldNum" sz="quarter" idx="12"/>
          </p:nvPr>
        </p:nvSpPr>
        <p:spPr/>
        <p:txBody>
          <a:bodyPr/>
          <a:lstStyle/>
          <a:p>
            <a:fld id="{E8618032-BA8D-3D4D-8253-A70208A85976}" type="slidenum">
              <a:rPr lang="en-US" smtClean="0"/>
              <a:t>‹#›</a:t>
            </a:fld>
            <a:endParaRPr lang="en-US"/>
          </a:p>
        </p:txBody>
      </p:sp>
      <p:grpSp>
        <p:nvGrpSpPr>
          <p:cNvPr id="16" name="Group 15">
            <a:extLst>
              <a:ext uri="{FF2B5EF4-FFF2-40B4-BE49-F238E27FC236}">
                <a16:creationId xmlns:a16="http://schemas.microsoft.com/office/drawing/2014/main" id="{DF2DBF73-78F1-5E34-BB47-F8D4315E883F}"/>
              </a:ext>
            </a:extLst>
          </p:cNvPr>
          <p:cNvGrpSpPr/>
          <p:nvPr userDrawn="1"/>
        </p:nvGrpSpPr>
        <p:grpSpPr>
          <a:xfrm>
            <a:off x="620138" y="1752600"/>
            <a:ext cx="1149675" cy="1160621"/>
            <a:chOff x="620138" y="1752600"/>
            <a:chExt cx="1149675" cy="1160621"/>
          </a:xfrm>
        </p:grpSpPr>
        <p:pic>
          <p:nvPicPr>
            <p:cNvPr id="21" name="Picture 20">
              <a:extLst>
                <a:ext uri="{FF2B5EF4-FFF2-40B4-BE49-F238E27FC236}">
                  <a16:creationId xmlns:a16="http://schemas.microsoft.com/office/drawing/2014/main" id="{084DCB50-DA15-0746-CC36-3D6CE4CCBCE1}"/>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726198" y="1752600"/>
              <a:ext cx="937550" cy="937550"/>
            </a:xfrm>
            <a:prstGeom prst="rect">
              <a:avLst/>
            </a:prstGeom>
          </p:spPr>
        </p:pic>
        <p:sp>
          <p:nvSpPr>
            <p:cNvPr id="6" name="TextBox 5">
              <a:extLst>
                <a:ext uri="{FF2B5EF4-FFF2-40B4-BE49-F238E27FC236}">
                  <a16:creationId xmlns:a16="http://schemas.microsoft.com/office/drawing/2014/main" id="{4C756196-4ADF-DF0C-EBDC-F9F2C81AC2F4}"/>
                </a:ext>
              </a:extLst>
            </p:cNvPr>
            <p:cNvSpPr txBox="1"/>
            <p:nvPr userDrawn="1"/>
          </p:nvSpPr>
          <p:spPr>
            <a:xfrm>
              <a:off x="620138" y="2667000"/>
              <a:ext cx="1149675" cy="246221"/>
            </a:xfrm>
            <a:prstGeom prst="rect">
              <a:avLst/>
            </a:prstGeom>
            <a:noFill/>
          </p:spPr>
          <p:txBody>
            <a:bodyPr wrap="none" rtlCol="0">
              <a:spAutoFit/>
            </a:bodyPr>
            <a:lstStyle/>
            <a:p>
              <a:pPr algn="ctr"/>
              <a:r>
                <a:rPr lang="en-US" sz="1000" dirty="0"/>
                <a:t>Physical Science</a:t>
              </a:r>
            </a:p>
          </p:txBody>
        </p:sp>
      </p:grpSp>
      <p:grpSp>
        <p:nvGrpSpPr>
          <p:cNvPr id="18" name="Group 17">
            <a:extLst>
              <a:ext uri="{FF2B5EF4-FFF2-40B4-BE49-F238E27FC236}">
                <a16:creationId xmlns:a16="http://schemas.microsoft.com/office/drawing/2014/main" id="{511910B8-EFDC-F4BD-D871-01250E169D33}"/>
              </a:ext>
            </a:extLst>
          </p:cNvPr>
          <p:cNvGrpSpPr/>
          <p:nvPr userDrawn="1"/>
        </p:nvGrpSpPr>
        <p:grpSpPr>
          <a:xfrm>
            <a:off x="2119913" y="1752600"/>
            <a:ext cx="937550" cy="1160621"/>
            <a:chOff x="2276156" y="1752600"/>
            <a:chExt cx="937550" cy="1160621"/>
          </a:xfrm>
        </p:grpSpPr>
        <p:pic>
          <p:nvPicPr>
            <p:cNvPr id="19" name="Picture 18">
              <a:extLst>
                <a:ext uri="{FF2B5EF4-FFF2-40B4-BE49-F238E27FC236}">
                  <a16:creationId xmlns:a16="http://schemas.microsoft.com/office/drawing/2014/main" id="{FE1E2990-A33D-309A-9F68-08D9A1E0E4DF}"/>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2276156" y="1752600"/>
              <a:ext cx="937550" cy="937550"/>
            </a:xfrm>
            <a:prstGeom prst="rect">
              <a:avLst/>
            </a:prstGeom>
          </p:spPr>
        </p:pic>
        <p:sp>
          <p:nvSpPr>
            <p:cNvPr id="8" name="TextBox 7">
              <a:extLst>
                <a:ext uri="{FF2B5EF4-FFF2-40B4-BE49-F238E27FC236}">
                  <a16:creationId xmlns:a16="http://schemas.microsoft.com/office/drawing/2014/main" id="{D490AC53-46B8-9208-4DAB-7EBDD1243E80}"/>
                </a:ext>
              </a:extLst>
            </p:cNvPr>
            <p:cNvSpPr txBox="1"/>
            <p:nvPr userDrawn="1"/>
          </p:nvSpPr>
          <p:spPr>
            <a:xfrm>
              <a:off x="2390507" y="2667000"/>
              <a:ext cx="708848" cy="246221"/>
            </a:xfrm>
            <a:prstGeom prst="rect">
              <a:avLst/>
            </a:prstGeom>
            <a:noFill/>
          </p:spPr>
          <p:txBody>
            <a:bodyPr wrap="none" rtlCol="0">
              <a:spAutoFit/>
            </a:bodyPr>
            <a:lstStyle/>
            <a:p>
              <a:pPr algn="ctr"/>
              <a:r>
                <a:rPr lang="en-US" sz="1000" dirty="0"/>
                <a:t>Quantum</a:t>
              </a:r>
            </a:p>
          </p:txBody>
        </p:sp>
      </p:grpSp>
      <p:grpSp>
        <p:nvGrpSpPr>
          <p:cNvPr id="20" name="Group 19">
            <a:extLst>
              <a:ext uri="{FF2B5EF4-FFF2-40B4-BE49-F238E27FC236}">
                <a16:creationId xmlns:a16="http://schemas.microsoft.com/office/drawing/2014/main" id="{63D160AB-747D-0C84-DB2C-12A72938449E}"/>
              </a:ext>
            </a:extLst>
          </p:cNvPr>
          <p:cNvGrpSpPr/>
          <p:nvPr userDrawn="1"/>
        </p:nvGrpSpPr>
        <p:grpSpPr>
          <a:xfrm>
            <a:off x="3500407" y="1752600"/>
            <a:ext cx="937550" cy="1160621"/>
            <a:chOff x="3328048" y="1752600"/>
            <a:chExt cx="937550" cy="1160621"/>
          </a:xfrm>
        </p:grpSpPr>
        <p:pic>
          <p:nvPicPr>
            <p:cNvPr id="35" name="Picture 34">
              <a:extLst>
                <a:ext uri="{FF2B5EF4-FFF2-40B4-BE49-F238E27FC236}">
                  <a16:creationId xmlns:a16="http://schemas.microsoft.com/office/drawing/2014/main" id="{9F58E307-692E-76E5-915A-6BE8C8A6C342}"/>
                </a:ext>
              </a:extLst>
            </p:cNvPr>
            <p:cNvPicPr>
              <a:picLocks noChangeAspect="1"/>
            </p:cNvPicPr>
            <p:nvPr userDrawn="1"/>
          </p:nvPicPr>
          <p:blipFill>
            <a:blip r:embed="rId4" cstate="screen">
              <a:extLst>
                <a:ext uri="{28A0092B-C50C-407E-A947-70E740481C1C}">
                  <a14:useLocalDpi xmlns:a14="http://schemas.microsoft.com/office/drawing/2010/main"/>
                </a:ext>
              </a:extLst>
            </a:blip>
            <a:srcRect/>
            <a:stretch/>
          </p:blipFill>
          <p:spPr>
            <a:xfrm>
              <a:off x="3328048" y="1752600"/>
              <a:ext cx="937550" cy="937550"/>
            </a:xfrm>
            <a:prstGeom prst="rect">
              <a:avLst/>
            </a:prstGeom>
          </p:spPr>
        </p:pic>
        <p:sp>
          <p:nvSpPr>
            <p:cNvPr id="10" name="TextBox 9">
              <a:extLst>
                <a:ext uri="{FF2B5EF4-FFF2-40B4-BE49-F238E27FC236}">
                  <a16:creationId xmlns:a16="http://schemas.microsoft.com/office/drawing/2014/main" id="{9F976D59-973C-B3ED-21A7-6E1BF17E1F28}"/>
                </a:ext>
              </a:extLst>
            </p:cNvPr>
            <p:cNvSpPr txBox="1"/>
            <p:nvPr userDrawn="1"/>
          </p:nvSpPr>
          <p:spPr>
            <a:xfrm>
              <a:off x="3565830" y="2667000"/>
              <a:ext cx="461986" cy="246221"/>
            </a:xfrm>
            <a:prstGeom prst="rect">
              <a:avLst/>
            </a:prstGeom>
            <a:noFill/>
          </p:spPr>
          <p:txBody>
            <a:bodyPr wrap="none" rtlCol="0">
              <a:spAutoFit/>
            </a:bodyPr>
            <a:lstStyle/>
            <a:p>
              <a:pPr algn="ctr"/>
              <a:r>
                <a:rPr lang="en-US" sz="1000" dirty="0"/>
                <a:t>Fluid</a:t>
              </a:r>
            </a:p>
          </p:txBody>
        </p:sp>
      </p:grpSp>
      <p:grpSp>
        <p:nvGrpSpPr>
          <p:cNvPr id="22" name="Group 21">
            <a:extLst>
              <a:ext uri="{FF2B5EF4-FFF2-40B4-BE49-F238E27FC236}">
                <a16:creationId xmlns:a16="http://schemas.microsoft.com/office/drawing/2014/main" id="{DFEA1BB1-12A4-2E2E-1955-F3A8B5472743}"/>
              </a:ext>
            </a:extLst>
          </p:cNvPr>
          <p:cNvGrpSpPr/>
          <p:nvPr userDrawn="1"/>
        </p:nvGrpSpPr>
        <p:grpSpPr>
          <a:xfrm>
            <a:off x="4889029" y="1752600"/>
            <a:ext cx="937550" cy="1160621"/>
            <a:chOff x="4379940" y="1752600"/>
            <a:chExt cx="937550" cy="1160621"/>
          </a:xfrm>
        </p:grpSpPr>
        <p:pic>
          <p:nvPicPr>
            <p:cNvPr id="34" name="Picture 33">
              <a:extLst>
                <a:ext uri="{FF2B5EF4-FFF2-40B4-BE49-F238E27FC236}">
                  <a16:creationId xmlns:a16="http://schemas.microsoft.com/office/drawing/2014/main" id="{0E9DBB58-6406-2088-AE7D-CD856A1E7ACD}"/>
                </a:ext>
              </a:extLst>
            </p:cNvPr>
            <p:cNvPicPr>
              <a:picLocks noChangeAspect="1"/>
            </p:cNvPicPr>
            <p:nvPr userDrawn="1"/>
          </p:nvPicPr>
          <p:blipFill>
            <a:blip r:embed="rId5" cstate="screen">
              <a:extLst>
                <a:ext uri="{28A0092B-C50C-407E-A947-70E740481C1C}">
                  <a14:useLocalDpi xmlns:a14="http://schemas.microsoft.com/office/drawing/2010/main"/>
                </a:ext>
              </a:extLst>
            </a:blip>
            <a:srcRect/>
            <a:stretch/>
          </p:blipFill>
          <p:spPr>
            <a:xfrm>
              <a:off x="4379940" y="1752600"/>
              <a:ext cx="937550" cy="937550"/>
            </a:xfrm>
            <a:prstGeom prst="rect">
              <a:avLst/>
            </a:prstGeom>
          </p:spPr>
        </p:pic>
        <p:sp>
          <p:nvSpPr>
            <p:cNvPr id="12" name="TextBox 11">
              <a:extLst>
                <a:ext uri="{FF2B5EF4-FFF2-40B4-BE49-F238E27FC236}">
                  <a16:creationId xmlns:a16="http://schemas.microsoft.com/office/drawing/2014/main" id="{8D472200-79FE-9C5A-93BA-31F52D3EE86F}"/>
                </a:ext>
              </a:extLst>
            </p:cNvPr>
            <p:cNvSpPr txBox="1"/>
            <p:nvPr userDrawn="1"/>
          </p:nvSpPr>
          <p:spPr>
            <a:xfrm>
              <a:off x="4483070" y="2667000"/>
              <a:ext cx="731290" cy="246221"/>
            </a:xfrm>
            <a:prstGeom prst="rect">
              <a:avLst/>
            </a:prstGeom>
            <a:noFill/>
          </p:spPr>
          <p:txBody>
            <a:bodyPr wrap="none" rtlCol="0">
              <a:spAutoFit/>
            </a:bodyPr>
            <a:lstStyle/>
            <a:p>
              <a:pPr algn="ctr"/>
              <a:r>
                <a:rPr lang="en-US" sz="1000" dirty="0"/>
                <a:t>Complete</a:t>
              </a:r>
            </a:p>
          </p:txBody>
        </p:sp>
      </p:grpSp>
      <p:grpSp>
        <p:nvGrpSpPr>
          <p:cNvPr id="23" name="Group 22">
            <a:extLst>
              <a:ext uri="{FF2B5EF4-FFF2-40B4-BE49-F238E27FC236}">
                <a16:creationId xmlns:a16="http://schemas.microsoft.com/office/drawing/2014/main" id="{2BC30226-E85A-EAB4-EA3A-2F8AF418AC7A}"/>
              </a:ext>
            </a:extLst>
          </p:cNvPr>
          <p:cNvGrpSpPr/>
          <p:nvPr userDrawn="1"/>
        </p:nvGrpSpPr>
        <p:grpSpPr>
          <a:xfrm>
            <a:off x="6247355" y="1752600"/>
            <a:ext cx="937550" cy="1160621"/>
            <a:chOff x="5431831" y="1752600"/>
            <a:chExt cx="937550" cy="1160621"/>
          </a:xfrm>
        </p:grpSpPr>
        <p:pic>
          <p:nvPicPr>
            <p:cNvPr id="39" name="Picture 38">
              <a:extLst>
                <a:ext uri="{FF2B5EF4-FFF2-40B4-BE49-F238E27FC236}">
                  <a16:creationId xmlns:a16="http://schemas.microsoft.com/office/drawing/2014/main" id="{829FB4C8-0924-DD30-1DEA-0B2E407C2C96}"/>
                </a:ext>
              </a:extLst>
            </p:cNvPr>
            <p:cNvPicPr>
              <a:picLocks noChangeAspect="1"/>
            </p:cNvPicPr>
            <p:nvPr userDrawn="1"/>
          </p:nvPicPr>
          <p:blipFill>
            <a:blip r:embed="rId6"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14" name="TextBox 13">
              <a:extLst>
                <a:ext uri="{FF2B5EF4-FFF2-40B4-BE49-F238E27FC236}">
                  <a16:creationId xmlns:a16="http://schemas.microsoft.com/office/drawing/2014/main" id="{2E9D3CBF-9626-9176-B486-F34F15BE4A9E}"/>
                </a:ext>
              </a:extLst>
            </p:cNvPr>
            <p:cNvSpPr txBox="1"/>
            <p:nvPr userDrawn="1"/>
          </p:nvSpPr>
          <p:spPr>
            <a:xfrm>
              <a:off x="5530953" y="2667000"/>
              <a:ext cx="739306" cy="246221"/>
            </a:xfrm>
            <a:prstGeom prst="rect">
              <a:avLst/>
            </a:prstGeom>
            <a:noFill/>
          </p:spPr>
          <p:txBody>
            <a:bodyPr wrap="none" rtlCol="0">
              <a:spAutoFit/>
            </a:bodyPr>
            <a:lstStyle/>
            <a:p>
              <a:pPr algn="ctr"/>
              <a:r>
                <a:rPr lang="en-US" sz="1000" dirty="0"/>
                <a:t>Molecular</a:t>
              </a:r>
            </a:p>
          </p:txBody>
        </p:sp>
      </p:grpSp>
      <p:grpSp>
        <p:nvGrpSpPr>
          <p:cNvPr id="24" name="Group 23">
            <a:extLst>
              <a:ext uri="{FF2B5EF4-FFF2-40B4-BE49-F238E27FC236}">
                <a16:creationId xmlns:a16="http://schemas.microsoft.com/office/drawing/2014/main" id="{F5EC613B-9512-31BF-730B-49C7B41C44C6}"/>
              </a:ext>
            </a:extLst>
          </p:cNvPr>
          <p:cNvGrpSpPr/>
          <p:nvPr userDrawn="1"/>
        </p:nvGrpSpPr>
        <p:grpSpPr>
          <a:xfrm>
            <a:off x="7661269" y="1752600"/>
            <a:ext cx="937550" cy="1160621"/>
            <a:chOff x="5431831" y="1752600"/>
            <a:chExt cx="937550" cy="1160621"/>
          </a:xfrm>
        </p:grpSpPr>
        <p:pic>
          <p:nvPicPr>
            <p:cNvPr id="25" name="Picture 24">
              <a:extLst>
                <a:ext uri="{FF2B5EF4-FFF2-40B4-BE49-F238E27FC236}">
                  <a16:creationId xmlns:a16="http://schemas.microsoft.com/office/drawing/2014/main" id="{3EA005A4-9DA7-B0C3-08EE-98CB0CE9BA4A}"/>
                </a:ext>
              </a:extLst>
            </p:cNvPr>
            <p:cNvPicPr>
              <a:picLocks noChangeAspect="1"/>
            </p:cNvPicPr>
            <p:nvPr userDrawn="1"/>
          </p:nvPicPr>
          <p:blipFill>
            <a:blip r:embed="rId7"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26" name="TextBox 25">
              <a:extLst>
                <a:ext uri="{FF2B5EF4-FFF2-40B4-BE49-F238E27FC236}">
                  <a16:creationId xmlns:a16="http://schemas.microsoft.com/office/drawing/2014/main" id="{B5FE336D-FA97-22C9-55DC-079F3A53A069}"/>
                </a:ext>
              </a:extLst>
            </p:cNvPr>
            <p:cNvSpPr txBox="1"/>
            <p:nvPr userDrawn="1"/>
          </p:nvSpPr>
          <p:spPr>
            <a:xfrm>
              <a:off x="5607097" y="2667000"/>
              <a:ext cx="587020" cy="246221"/>
            </a:xfrm>
            <a:prstGeom prst="rect">
              <a:avLst/>
            </a:prstGeom>
            <a:noFill/>
          </p:spPr>
          <p:txBody>
            <a:bodyPr wrap="none" rtlCol="0">
              <a:spAutoFit/>
            </a:bodyPr>
            <a:lstStyle/>
            <a:p>
              <a:pPr algn="ctr"/>
              <a:r>
                <a:rPr lang="en-US" sz="1000" dirty="0"/>
                <a:t>Budget</a:t>
              </a:r>
            </a:p>
          </p:txBody>
        </p:sp>
      </p:grpSp>
      <p:grpSp>
        <p:nvGrpSpPr>
          <p:cNvPr id="27" name="Group 26">
            <a:extLst>
              <a:ext uri="{FF2B5EF4-FFF2-40B4-BE49-F238E27FC236}">
                <a16:creationId xmlns:a16="http://schemas.microsoft.com/office/drawing/2014/main" id="{56DF185E-4874-C556-B523-55B66CA67CA6}"/>
              </a:ext>
            </a:extLst>
          </p:cNvPr>
          <p:cNvGrpSpPr/>
          <p:nvPr userDrawn="1"/>
        </p:nvGrpSpPr>
        <p:grpSpPr>
          <a:xfrm>
            <a:off x="9037083" y="1752600"/>
            <a:ext cx="937550" cy="1160621"/>
            <a:chOff x="5431831" y="1752600"/>
            <a:chExt cx="937550" cy="1160621"/>
          </a:xfrm>
        </p:grpSpPr>
        <p:pic>
          <p:nvPicPr>
            <p:cNvPr id="40" name="Picture 39">
              <a:extLst>
                <a:ext uri="{FF2B5EF4-FFF2-40B4-BE49-F238E27FC236}">
                  <a16:creationId xmlns:a16="http://schemas.microsoft.com/office/drawing/2014/main" id="{63CE37AC-3781-BB31-177C-5CE7E2287CED}"/>
                </a:ext>
              </a:extLst>
            </p:cNvPr>
            <p:cNvPicPr>
              <a:picLocks noChangeAspect="1"/>
            </p:cNvPicPr>
            <p:nvPr userDrawn="1"/>
          </p:nvPicPr>
          <p:blipFill>
            <a:blip r:embed="rId8"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41" name="TextBox 40">
              <a:extLst>
                <a:ext uri="{FF2B5EF4-FFF2-40B4-BE49-F238E27FC236}">
                  <a16:creationId xmlns:a16="http://schemas.microsoft.com/office/drawing/2014/main" id="{C38C9462-D61D-BDFC-9D8E-41D0C89DE06F}"/>
                </a:ext>
              </a:extLst>
            </p:cNvPr>
            <p:cNvSpPr txBox="1"/>
            <p:nvPr userDrawn="1"/>
          </p:nvSpPr>
          <p:spPr>
            <a:xfrm>
              <a:off x="5684843" y="2667000"/>
              <a:ext cx="431529" cy="246221"/>
            </a:xfrm>
            <a:prstGeom prst="rect">
              <a:avLst/>
            </a:prstGeom>
            <a:noFill/>
          </p:spPr>
          <p:txBody>
            <a:bodyPr wrap="none" rtlCol="0">
              <a:spAutoFit/>
            </a:bodyPr>
            <a:lstStyle/>
            <a:p>
              <a:pPr algn="ctr"/>
              <a:r>
                <a:rPr lang="en-US" sz="1000" dirty="0"/>
                <a:t>Idea</a:t>
              </a:r>
            </a:p>
          </p:txBody>
        </p:sp>
      </p:grpSp>
      <p:grpSp>
        <p:nvGrpSpPr>
          <p:cNvPr id="42" name="Group 41">
            <a:extLst>
              <a:ext uri="{FF2B5EF4-FFF2-40B4-BE49-F238E27FC236}">
                <a16:creationId xmlns:a16="http://schemas.microsoft.com/office/drawing/2014/main" id="{5CD12664-0486-A848-58F4-C28C560C54DC}"/>
              </a:ext>
            </a:extLst>
          </p:cNvPr>
          <p:cNvGrpSpPr/>
          <p:nvPr userDrawn="1"/>
        </p:nvGrpSpPr>
        <p:grpSpPr>
          <a:xfrm>
            <a:off x="10412895" y="1752600"/>
            <a:ext cx="937550" cy="1160621"/>
            <a:chOff x="5431831" y="1752600"/>
            <a:chExt cx="937550" cy="1160621"/>
          </a:xfrm>
        </p:grpSpPr>
        <p:pic>
          <p:nvPicPr>
            <p:cNvPr id="43" name="Picture 42">
              <a:extLst>
                <a:ext uri="{FF2B5EF4-FFF2-40B4-BE49-F238E27FC236}">
                  <a16:creationId xmlns:a16="http://schemas.microsoft.com/office/drawing/2014/main" id="{C49D6AE0-9F7E-5646-BBF2-3EB286B932C3}"/>
                </a:ext>
              </a:extLst>
            </p:cNvPr>
            <p:cNvPicPr>
              <a:picLocks noChangeAspect="1"/>
            </p:cNvPicPr>
            <p:nvPr userDrawn="1"/>
          </p:nvPicPr>
          <p:blipFill>
            <a:blip r:embed="rId9"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44" name="TextBox 43">
              <a:extLst>
                <a:ext uri="{FF2B5EF4-FFF2-40B4-BE49-F238E27FC236}">
                  <a16:creationId xmlns:a16="http://schemas.microsoft.com/office/drawing/2014/main" id="{91436932-7489-215B-A927-D94234ABE44F}"/>
                </a:ext>
              </a:extLst>
            </p:cNvPr>
            <p:cNvSpPr txBox="1"/>
            <p:nvPr userDrawn="1"/>
          </p:nvSpPr>
          <p:spPr>
            <a:xfrm>
              <a:off x="5485271" y="2667000"/>
              <a:ext cx="830677" cy="246221"/>
            </a:xfrm>
            <a:prstGeom prst="rect">
              <a:avLst/>
            </a:prstGeom>
            <a:noFill/>
          </p:spPr>
          <p:txBody>
            <a:bodyPr wrap="none" rtlCol="0">
              <a:spAutoFit/>
            </a:bodyPr>
            <a:lstStyle/>
            <a:p>
              <a:pPr algn="ctr"/>
              <a:r>
                <a:rPr lang="en-US" sz="1000" dirty="0"/>
                <a:t>Experiment</a:t>
              </a:r>
            </a:p>
          </p:txBody>
        </p:sp>
      </p:grpSp>
      <p:grpSp>
        <p:nvGrpSpPr>
          <p:cNvPr id="45" name="Group 44">
            <a:extLst>
              <a:ext uri="{FF2B5EF4-FFF2-40B4-BE49-F238E27FC236}">
                <a16:creationId xmlns:a16="http://schemas.microsoft.com/office/drawing/2014/main" id="{2B0F299A-3739-E2C2-ADAB-FEB8CB19AA01}"/>
              </a:ext>
            </a:extLst>
          </p:cNvPr>
          <p:cNvGrpSpPr/>
          <p:nvPr userDrawn="1"/>
        </p:nvGrpSpPr>
        <p:grpSpPr>
          <a:xfrm>
            <a:off x="709105" y="3246863"/>
            <a:ext cx="971741" cy="1160621"/>
            <a:chOff x="709103" y="1752600"/>
            <a:chExt cx="971741" cy="1160621"/>
          </a:xfrm>
        </p:grpSpPr>
        <p:pic>
          <p:nvPicPr>
            <p:cNvPr id="46" name="Picture 45">
              <a:extLst>
                <a:ext uri="{FF2B5EF4-FFF2-40B4-BE49-F238E27FC236}">
                  <a16:creationId xmlns:a16="http://schemas.microsoft.com/office/drawing/2014/main" id="{D7CD17CB-B72B-50B2-32D5-1580EF583820}"/>
                </a:ext>
              </a:extLst>
            </p:cNvPr>
            <p:cNvPicPr>
              <a:picLocks noChangeAspect="1"/>
            </p:cNvPicPr>
            <p:nvPr userDrawn="1"/>
          </p:nvPicPr>
          <p:blipFill>
            <a:blip r:embed="rId10" cstate="screen">
              <a:extLst>
                <a:ext uri="{28A0092B-C50C-407E-A947-70E740481C1C}">
                  <a14:useLocalDpi xmlns:a14="http://schemas.microsoft.com/office/drawing/2010/main"/>
                </a:ext>
              </a:extLst>
            </a:blip>
            <a:srcRect/>
            <a:stretch/>
          </p:blipFill>
          <p:spPr>
            <a:xfrm>
              <a:off x="726198" y="1752600"/>
              <a:ext cx="937550" cy="937550"/>
            </a:xfrm>
            <a:prstGeom prst="rect">
              <a:avLst/>
            </a:prstGeom>
          </p:spPr>
        </p:pic>
        <p:sp>
          <p:nvSpPr>
            <p:cNvPr id="47" name="TextBox 46">
              <a:extLst>
                <a:ext uri="{FF2B5EF4-FFF2-40B4-BE49-F238E27FC236}">
                  <a16:creationId xmlns:a16="http://schemas.microsoft.com/office/drawing/2014/main" id="{ABBBB447-9DD9-51D6-7E1F-53FCEA69C8AE}"/>
                </a:ext>
              </a:extLst>
            </p:cNvPr>
            <p:cNvSpPr txBox="1"/>
            <p:nvPr userDrawn="1"/>
          </p:nvSpPr>
          <p:spPr>
            <a:xfrm>
              <a:off x="709103" y="2667000"/>
              <a:ext cx="971741" cy="246221"/>
            </a:xfrm>
            <a:prstGeom prst="rect">
              <a:avLst/>
            </a:prstGeom>
            <a:noFill/>
          </p:spPr>
          <p:txBody>
            <a:bodyPr wrap="none" rtlCol="0">
              <a:spAutoFit/>
            </a:bodyPr>
            <a:lstStyle/>
            <a:p>
              <a:pPr algn="ctr"/>
              <a:r>
                <a:rPr lang="en-US" sz="1000" dirty="0"/>
                <a:t>Attention/Risk</a:t>
              </a:r>
            </a:p>
          </p:txBody>
        </p:sp>
      </p:grpSp>
      <p:grpSp>
        <p:nvGrpSpPr>
          <p:cNvPr id="48" name="Group 47">
            <a:extLst>
              <a:ext uri="{FF2B5EF4-FFF2-40B4-BE49-F238E27FC236}">
                <a16:creationId xmlns:a16="http://schemas.microsoft.com/office/drawing/2014/main" id="{145483EF-BC35-2B72-DF14-F98491F5A878}"/>
              </a:ext>
            </a:extLst>
          </p:cNvPr>
          <p:cNvGrpSpPr/>
          <p:nvPr userDrawn="1"/>
        </p:nvGrpSpPr>
        <p:grpSpPr>
          <a:xfrm>
            <a:off x="2119913" y="3246863"/>
            <a:ext cx="937550" cy="1160621"/>
            <a:chOff x="2276156" y="1752600"/>
            <a:chExt cx="937550" cy="1160621"/>
          </a:xfrm>
        </p:grpSpPr>
        <p:pic>
          <p:nvPicPr>
            <p:cNvPr id="49" name="Picture 48">
              <a:extLst>
                <a:ext uri="{FF2B5EF4-FFF2-40B4-BE49-F238E27FC236}">
                  <a16:creationId xmlns:a16="http://schemas.microsoft.com/office/drawing/2014/main" id="{DC1CB1A3-CB6A-3F6F-D4C8-D0A375257F59}"/>
                </a:ext>
              </a:extLst>
            </p:cNvPr>
            <p:cNvPicPr>
              <a:picLocks noChangeAspect="1"/>
            </p:cNvPicPr>
            <p:nvPr userDrawn="1"/>
          </p:nvPicPr>
          <p:blipFill>
            <a:blip r:embed="rId11" cstate="screen">
              <a:extLst>
                <a:ext uri="{28A0092B-C50C-407E-A947-70E740481C1C}">
                  <a14:useLocalDpi xmlns:a14="http://schemas.microsoft.com/office/drawing/2010/main"/>
                </a:ext>
              </a:extLst>
            </a:blip>
            <a:srcRect/>
            <a:stretch/>
          </p:blipFill>
          <p:spPr>
            <a:xfrm>
              <a:off x="2276156" y="1752600"/>
              <a:ext cx="937550" cy="937550"/>
            </a:xfrm>
            <a:prstGeom prst="rect">
              <a:avLst/>
            </a:prstGeom>
          </p:spPr>
        </p:pic>
        <p:sp>
          <p:nvSpPr>
            <p:cNvPr id="50" name="TextBox 49">
              <a:extLst>
                <a:ext uri="{FF2B5EF4-FFF2-40B4-BE49-F238E27FC236}">
                  <a16:creationId xmlns:a16="http://schemas.microsoft.com/office/drawing/2014/main" id="{864AB0F9-D4AB-42DC-85C6-261EF3905EB7}"/>
                </a:ext>
              </a:extLst>
            </p:cNvPr>
            <p:cNvSpPr txBox="1"/>
            <p:nvPr userDrawn="1"/>
          </p:nvSpPr>
          <p:spPr>
            <a:xfrm>
              <a:off x="2368868" y="2667000"/>
              <a:ext cx="752129" cy="246221"/>
            </a:xfrm>
            <a:prstGeom prst="rect">
              <a:avLst/>
            </a:prstGeom>
            <a:noFill/>
          </p:spPr>
          <p:txBody>
            <a:bodyPr wrap="none" rtlCol="0">
              <a:spAutoFit/>
            </a:bodyPr>
            <a:lstStyle/>
            <a:p>
              <a:pPr algn="ctr"/>
              <a:r>
                <a:rPr lang="en-US" sz="1000" dirty="0"/>
                <a:t>List/To-do</a:t>
              </a:r>
            </a:p>
          </p:txBody>
        </p:sp>
      </p:grpSp>
      <p:grpSp>
        <p:nvGrpSpPr>
          <p:cNvPr id="51" name="Group 50">
            <a:extLst>
              <a:ext uri="{FF2B5EF4-FFF2-40B4-BE49-F238E27FC236}">
                <a16:creationId xmlns:a16="http://schemas.microsoft.com/office/drawing/2014/main" id="{91D7BD37-7B62-B0BE-B34B-FE7378F9CBAE}"/>
              </a:ext>
            </a:extLst>
          </p:cNvPr>
          <p:cNvGrpSpPr/>
          <p:nvPr userDrawn="1"/>
        </p:nvGrpSpPr>
        <p:grpSpPr>
          <a:xfrm>
            <a:off x="3376712" y="3246863"/>
            <a:ext cx="1184941" cy="1160621"/>
            <a:chOff x="3204355" y="1752600"/>
            <a:chExt cx="1184941" cy="1160621"/>
          </a:xfrm>
        </p:grpSpPr>
        <p:pic>
          <p:nvPicPr>
            <p:cNvPr id="52" name="Picture 51">
              <a:extLst>
                <a:ext uri="{FF2B5EF4-FFF2-40B4-BE49-F238E27FC236}">
                  <a16:creationId xmlns:a16="http://schemas.microsoft.com/office/drawing/2014/main" id="{E016F2B6-B7E8-1132-2642-EA957F1761C7}"/>
                </a:ext>
              </a:extLst>
            </p:cNvPr>
            <p:cNvPicPr>
              <a:picLocks noChangeAspect="1"/>
            </p:cNvPicPr>
            <p:nvPr userDrawn="1"/>
          </p:nvPicPr>
          <p:blipFill>
            <a:blip r:embed="rId12" cstate="print">
              <a:extLst>
                <a:ext uri="{28A0092B-C50C-407E-A947-70E740481C1C}">
                  <a14:useLocalDpi xmlns:a14="http://schemas.microsoft.com/office/drawing/2010/main"/>
                </a:ext>
              </a:extLst>
            </a:blip>
            <a:srcRect/>
            <a:stretch/>
          </p:blipFill>
          <p:spPr>
            <a:xfrm>
              <a:off x="3328048" y="1752600"/>
              <a:ext cx="937550" cy="937550"/>
            </a:xfrm>
            <a:prstGeom prst="rect">
              <a:avLst/>
            </a:prstGeom>
          </p:spPr>
        </p:pic>
        <p:sp>
          <p:nvSpPr>
            <p:cNvPr id="53" name="TextBox 52">
              <a:extLst>
                <a:ext uri="{FF2B5EF4-FFF2-40B4-BE49-F238E27FC236}">
                  <a16:creationId xmlns:a16="http://schemas.microsoft.com/office/drawing/2014/main" id="{FE880E60-8A4E-251D-C573-98A48CAF06AC}"/>
                </a:ext>
              </a:extLst>
            </p:cNvPr>
            <p:cNvSpPr txBox="1"/>
            <p:nvPr userDrawn="1"/>
          </p:nvSpPr>
          <p:spPr>
            <a:xfrm>
              <a:off x="3204355" y="2667000"/>
              <a:ext cx="1184941" cy="246221"/>
            </a:xfrm>
            <a:prstGeom prst="rect">
              <a:avLst/>
            </a:prstGeom>
            <a:noFill/>
          </p:spPr>
          <p:txBody>
            <a:bodyPr wrap="none" rtlCol="0">
              <a:spAutoFit/>
            </a:bodyPr>
            <a:lstStyle/>
            <a:p>
              <a:pPr algn="ctr"/>
              <a:r>
                <a:rPr lang="en-US" sz="1000" dirty="0"/>
                <a:t>Report/Document</a:t>
              </a:r>
            </a:p>
          </p:txBody>
        </p:sp>
      </p:grpSp>
      <p:grpSp>
        <p:nvGrpSpPr>
          <p:cNvPr id="54" name="Group 53">
            <a:extLst>
              <a:ext uri="{FF2B5EF4-FFF2-40B4-BE49-F238E27FC236}">
                <a16:creationId xmlns:a16="http://schemas.microsoft.com/office/drawing/2014/main" id="{A6033F2C-0684-B356-46F6-D9BF89D9EBB8}"/>
              </a:ext>
            </a:extLst>
          </p:cNvPr>
          <p:cNvGrpSpPr/>
          <p:nvPr userDrawn="1"/>
        </p:nvGrpSpPr>
        <p:grpSpPr>
          <a:xfrm>
            <a:off x="6247355" y="3246863"/>
            <a:ext cx="937550" cy="1160621"/>
            <a:chOff x="4379940" y="1752600"/>
            <a:chExt cx="937550" cy="1160621"/>
          </a:xfrm>
        </p:grpSpPr>
        <p:pic>
          <p:nvPicPr>
            <p:cNvPr id="55" name="Picture 54">
              <a:extLst>
                <a:ext uri="{FF2B5EF4-FFF2-40B4-BE49-F238E27FC236}">
                  <a16:creationId xmlns:a16="http://schemas.microsoft.com/office/drawing/2014/main" id="{39BAD218-B5C9-34D3-5AF3-0CBB52EE323D}"/>
                </a:ext>
              </a:extLst>
            </p:cNvPr>
            <p:cNvPicPr>
              <a:picLocks noChangeAspect="1"/>
            </p:cNvPicPr>
            <p:nvPr userDrawn="1"/>
          </p:nvPicPr>
          <p:blipFill>
            <a:blip r:embed="rId13" cstate="screen">
              <a:extLst>
                <a:ext uri="{28A0092B-C50C-407E-A947-70E740481C1C}">
                  <a14:useLocalDpi xmlns:a14="http://schemas.microsoft.com/office/drawing/2010/main"/>
                </a:ext>
              </a:extLst>
            </a:blip>
            <a:srcRect/>
            <a:stretch/>
          </p:blipFill>
          <p:spPr>
            <a:xfrm>
              <a:off x="4379940" y="1752600"/>
              <a:ext cx="937550" cy="937550"/>
            </a:xfrm>
            <a:prstGeom prst="rect">
              <a:avLst/>
            </a:prstGeom>
          </p:spPr>
        </p:pic>
        <p:sp>
          <p:nvSpPr>
            <p:cNvPr id="56" name="TextBox 55">
              <a:extLst>
                <a:ext uri="{FF2B5EF4-FFF2-40B4-BE49-F238E27FC236}">
                  <a16:creationId xmlns:a16="http://schemas.microsoft.com/office/drawing/2014/main" id="{9E81308E-5F10-C3B2-DBCC-5B1B946E1E11}"/>
                </a:ext>
              </a:extLst>
            </p:cNvPr>
            <p:cNvSpPr txBox="1"/>
            <p:nvPr userDrawn="1"/>
          </p:nvSpPr>
          <p:spPr>
            <a:xfrm>
              <a:off x="4429371" y="2667000"/>
              <a:ext cx="838691" cy="246221"/>
            </a:xfrm>
            <a:prstGeom prst="rect">
              <a:avLst/>
            </a:prstGeom>
            <a:noFill/>
          </p:spPr>
          <p:txBody>
            <a:bodyPr wrap="none" rtlCol="0">
              <a:spAutoFit/>
            </a:bodyPr>
            <a:lstStyle/>
            <a:p>
              <a:pPr algn="ctr"/>
              <a:r>
                <a:rPr lang="en-US" sz="1000" dirty="0"/>
                <a:t>Microscope</a:t>
              </a:r>
            </a:p>
          </p:txBody>
        </p:sp>
      </p:grpSp>
      <p:grpSp>
        <p:nvGrpSpPr>
          <p:cNvPr id="57" name="Group 56">
            <a:extLst>
              <a:ext uri="{FF2B5EF4-FFF2-40B4-BE49-F238E27FC236}">
                <a16:creationId xmlns:a16="http://schemas.microsoft.com/office/drawing/2014/main" id="{BCB13DA3-C4EA-FA14-E54A-64A7393C4797}"/>
              </a:ext>
            </a:extLst>
          </p:cNvPr>
          <p:cNvGrpSpPr/>
          <p:nvPr userDrawn="1"/>
        </p:nvGrpSpPr>
        <p:grpSpPr>
          <a:xfrm>
            <a:off x="10412895" y="3246863"/>
            <a:ext cx="937550" cy="1160621"/>
            <a:chOff x="5431831" y="1752600"/>
            <a:chExt cx="937550" cy="1160621"/>
          </a:xfrm>
        </p:grpSpPr>
        <p:pic>
          <p:nvPicPr>
            <p:cNvPr id="58" name="Picture 57">
              <a:extLst>
                <a:ext uri="{FF2B5EF4-FFF2-40B4-BE49-F238E27FC236}">
                  <a16:creationId xmlns:a16="http://schemas.microsoft.com/office/drawing/2014/main" id="{2E0CFCFC-C544-673F-AC06-758A8EEB54E3}"/>
                </a:ext>
              </a:extLst>
            </p:cNvPr>
            <p:cNvPicPr>
              <a:picLocks noChangeAspect="1"/>
            </p:cNvPicPr>
            <p:nvPr userDrawn="1"/>
          </p:nvPicPr>
          <p:blipFill>
            <a:blip r:embed="rId14"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59" name="TextBox 58">
              <a:extLst>
                <a:ext uri="{FF2B5EF4-FFF2-40B4-BE49-F238E27FC236}">
                  <a16:creationId xmlns:a16="http://schemas.microsoft.com/office/drawing/2014/main" id="{761C5F85-20F7-D144-95A9-0CE5C5D9B15C}"/>
                </a:ext>
              </a:extLst>
            </p:cNvPr>
            <p:cNvSpPr txBox="1"/>
            <p:nvPr userDrawn="1"/>
          </p:nvSpPr>
          <p:spPr>
            <a:xfrm>
              <a:off x="5485270" y="2667000"/>
              <a:ext cx="830676" cy="246221"/>
            </a:xfrm>
            <a:prstGeom prst="rect">
              <a:avLst/>
            </a:prstGeom>
            <a:noFill/>
          </p:spPr>
          <p:txBody>
            <a:bodyPr wrap="none" rtlCol="0">
              <a:spAutoFit/>
            </a:bodyPr>
            <a:lstStyle/>
            <a:p>
              <a:pPr algn="ctr"/>
              <a:r>
                <a:rPr lang="en-US" sz="1000" dirty="0"/>
                <a:t>Experiment</a:t>
              </a:r>
            </a:p>
          </p:txBody>
        </p:sp>
      </p:grpSp>
      <p:grpSp>
        <p:nvGrpSpPr>
          <p:cNvPr id="60" name="Group 59">
            <a:extLst>
              <a:ext uri="{FF2B5EF4-FFF2-40B4-BE49-F238E27FC236}">
                <a16:creationId xmlns:a16="http://schemas.microsoft.com/office/drawing/2014/main" id="{6B523C45-1411-FFA2-CDD6-030F8673413B}"/>
              </a:ext>
            </a:extLst>
          </p:cNvPr>
          <p:cNvGrpSpPr/>
          <p:nvPr userDrawn="1"/>
        </p:nvGrpSpPr>
        <p:grpSpPr>
          <a:xfrm>
            <a:off x="7661269" y="3246863"/>
            <a:ext cx="937550" cy="1160621"/>
            <a:chOff x="5431831" y="1752600"/>
            <a:chExt cx="937550" cy="1160621"/>
          </a:xfrm>
        </p:grpSpPr>
        <p:pic>
          <p:nvPicPr>
            <p:cNvPr id="61" name="Picture 60">
              <a:extLst>
                <a:ext uri="{FF2B5EF4-FFF2-40B4-BE49-F238E27FC236}">
                  <a16:creationId xmlns:a16="http://schemas.microsoft.com/office/drawing/2014/main" id="{CBAEB1D6-A0DB-C3DE-CEFD-60B96E056668}"/>
                </a:ext>
              </a:extLst>
            </p:cNvPr>
            <p:cNvPicPr>
              <a:picLocks noChangeAspect="1"/>
            </p:cNvPicPr>
            <p:nvPr userDrawn="1"/>
          </p:nvPicPr>
          <p:blipFill>
            <a:blip r:embed="rId15"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62" name="TextBox 61">
              <a:extLst>
                <a:ext uri="{FF2B5EF4-FFF2-40B4-BE49-F238E27FC236}">
                  <a16:creationId xmlns:a16="http://schemas.microsoft.com/office/drawing/2014/main" id="{1DB68FE0-405B-2CB1-9B49-0529846D28AF}"/>
                </a:ext>
              </a:extLst>
            </p:cNvPr>
            <p:cNvSpPr txBox="1"/>
            <p:nvPr userDrawn="1"/>
          </p:nvSpPr>
          <p:spPr>
            <a:xfrm>
              <a:off x="5627937" y="2667000"/>
              <a:ext cx="545342" cy="246221"/>
            </a:xfrm>
            <a:prstGeom prst="rect">
              <a:avLst/>
            </a:prstGeom>
            <a:noFill/>
          </p:spPr>
          <p:txBody>
            <a:bodyPr wrap="none" rtlCol="0">
              <a:spAutoFit/>
            </a:bodyPr>
            <a:lstStyle/>
            <a:p>
              <a:pPr algn="ctr"/>
              <a:r>
                <a:rPr lang="en-US" sz="1000" dirty="0"/>
                <a:t>Space</a:t>
              </a:r>
            </a:p>
          </p:txBody>
        </p:sp>
      </p:grpSp>
      <p:grpSp>
        <p:nvGrpSpPr>
          <p:cNvPr id="66" name="Group 65">
            <a:extLst>
              <a:ext uri="{FF2B5EF4-FFF2-40B4-BE49-F238E27FC236}">
                <a16:creationId xmlns:a16="http://schemas.microsoft.com/office/drawing/2014/main" id="{9C8573B0-C3E9-BD4A-12C6-2C05FEB654FB}"/>
              </a:ext>
            </a:extLst>
          </p:cNvPr>
          <p:cNvGrpSpPr/>
          <p:nvPr userDrawn="1"/>
        </p:nvGrpSpPr>
        <p:grpSpPr>
          <a:xfrm>
            <a:off x="4800600" y="3246863"/>
            <a:ext cx="1114409" cy="1160621"/>
            <a:chOff x="5343407" y="1752600"/>
            <a:chExt cx="1114409" cy="1160621"/>
          </a:xfrm>
        </p:grpSpPr>
        <p:pic>
          <p:nvPicPr>
            <p:cNvPr id="67" name="Picture 66">
              <a:extLst>
                <a:ext uri="{FF2B5EF4-FFF2-40B4-BE49-F238E27FC236}">
                  <a16:creationId xmlns:a16="http://schemas.microsoft.com/office/drawing/2014/main" id="{E7FB7A2A-2D14-1105-B15D-4F4C04A6FF74}"/>
                </a:ext>
              </a:extLst>
            </p:cNvPr>
            <p:cNvPicPr>
              <a:picLocks noChangeAspect="1"/>
            </p:cNvPicPr>
            <p:nvPr userDrawn="1"/>
          </p:nvPicPr>
          <p:blipFill>
            <a:blip r:embed="rId16"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68" name="TextBox 67">
              <a:extLst>
                <a:ext uri="{FF2B5EF4-FFF2-40B4-BE49-F238E27FC236}">
                  <a16:creationId xmlns:a16="http://schemas.microsoft.com/office/drawing/2014/main" id="{4CA22A94-509E-32C8-87A6-C41E8B1B2DEA}"/>
                </a:ext>
              </a:extLst>
            </p:cNvPr>
            <p:cNvSpPr txBox="1"/>
            <p:nvPr userDrawn="1"/>
          </p:nvSpPr>
          <p:spPr>
            <a:xfrm>
              <a:off x="5343407" y="2667000"/>
              <a:ext cx="1114409" cy="246221"/>
            </a:xfrm>
            <a:prstGeom prst="rect">
              <a:avLst/>
            </a:prstGeom>
            <a:noFill/>
          </p:spPr>
          <p:txBody>
            <a:bodyPr wrap="none" rtlCol="0">
              <a:spAutoFit/>
            </a:bodyPr>
            <a:lstStyle/>
            <a:p>
              <a:pPr algn="ctr"/>
              <a:r>
                <a:rPr lang="en-US" sz="1000" dirty="0"/>
                <a:t>Report/Analytics</a:t>
              </a:r>
            </a:p>
          </p:txBody>
        </p:sp>
      </p:grpSp>
      <p:grpSp>
        <p:nvGrpSpPr>
          <p:cNvPr id="69" name="Group 68">
            <a:extLst>
              <a:ext uri="{FF2B5EF4-FFF2-40B4-BE49-F238E27FC236}">
                <a16:creationId xmlns:a16="http://schemas.microsoft.com/office/drawing/2014/main" id="{846D9EA6-D0B5-18CC-6C05-63F3908918A0}"/>
              </a:ext>
            </a:extLst>
          </p:cNvPr>
          <p:cNvGrpSpPr/>
          <p:nvPr userDrawn="1"/>
        </p:nvGrpSpPr>
        <p:grpSpPr>
          <a:xfrm>
            <a:off x="9037083" y="3246863"/>
            <a:ext cx="937550" cy="1160621"/>
            <a:chOff x="5431831" y="1752600"/>
            <a:chExt cx="937550" cy="1160621"/>
          </a:xfrm>
        </p:grpSpPr>
        <p:pic>
          <p:nvPicPr>
            <p:cNvPr id="70" name="Picture 69">
              <a:extLst>
                <a:ext uri="{FF2B5EF4-FFF2-40B4-BE49-F238E27FC236}">
                  <a16:creationId xmlns:a16="http://schemas.microsoft.com/office/drawing/2014/main" id="{56CADE8A-6EC7-51D0-0CFE-1124AA9C6C51}"/>
                </a:ext>
              </a:extLst>
            </p:cNvPr>
            <p:cNvPicPr>
              <a:picLocks noChangeAspect="1"/>
            </p:cNvPicPr>
            <p:nvPr userDrawn="1"/>
          </p:nvPicPr>
          <p:blipFill>
            <a:blip r:embed="rId17"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71" name="TextBox 70">
              <a:extLst>
                <a:ext uri="{FF2B5EF4-FFF2-40B4-BE49-F238E27FC236}">
                  <a16:creationId xmlns:a16="http://schemas.microsoft.com/office/drawing/2014/main" id="{9702BEAC-3F80-2061-C091-2E2DE37438D1}"/>
                </a:ext>
              </a:extLst>
            </p:cNvPr>
            <p:cNvSpPr txBox="1"/>
            <p:nvPr userDrawn="1"/>
          </p:nvSpPr>
          <p:spPr>
            <a:xfrm>
              <a:off x="5599081" y="2667000"/>
              <a:ext cx="603050" cy="246221"/>
            </a:xfrm>
            <a:prstGeom prst="rect">
              <a:avLst/>
            </a:prstGeom>
            <a:noFill/>
          </p:spPr>
          <p:txBody>
            <a:bodyPr wrap="none" rtlCol="0">
              <a:spAutoFit/>
            </a:bodyPr>
            <a:lstStyle/>
            <a:p>
              <a:pPr algn="ctr"/>
              <a:r>
                <a:rPr lang="en-US" sz="1000" dirty="0"/>
                <a:t>Biology</a:t>
              </a:r>
            </a:p>
          </p:txBody>
        </p:sp>
      </p:grpSp>
    </p:spTree>
    <p:extLst>
      <p:ext uri="{BB962C8B-B14F-4D97-AF65-F5344CB8AC3E}">
        <p14:creationId xmlns:p14="http://schemas.microsoft.com/office/powerpoint/2010/main" val="2797566873"/>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58259536-D612-272A-D0AD-1D0145988D36}"/>
              </a:ext>
            </a:extLst>
          </p:cNvPr>
          <p:cNvSpPr>
            <a:spLocks noGrp="1"/>
          </p:cNvSpPr>
          <p:nvPr>
            <p:ph type="ftr" sz="quarter" idx="11"/>
          </p:nvPr>
        </p:nvSpPr>
        <p:spPr/>
        <p:txBody>
          <a:bodyPr/>
          <a:lstStyle/>
          <a:p>
            <a:r>
              <a:rPr lang="en-US" dirty="0"/>
              <a:t>Biological &amp; Physical Sciences</a:t>
            </a:r>
          </a:p>
        </p:txBody>
      </p:sp>
      <p:sp>
        <p:nvSpPr>
          <p:cNvPr id="4" name="Slide Number Placeholder 3">
            <a:extLst>
              <a:ext uri="{FF2B5EF4-FFF2-40B4-BE49-F238E27FC236}">
                <a16:creationId xmlns:a16="http://schemas.microsoft.com/office/drawing/2014/main" id="{571A510F-03EC-A6BB-D8AE-182AFD52C8B2}"/>
              </a:ext>
            </a:extLst>
          </p:cNvPr>
          <p:cNvSpPr>
            <a:spLocks noGrp="1"/>
          </p:cNvSpPr>
          <p:nvPr>
            <p:ph type="sldNum" sz="quarter" idx="12"/>
          </p:nvPr>
        </p:nvSpPr>
        <p:spPr/>
        <p:txBody>
          <a:bodyPr/>
          <a:lstStyle/>
          <a:p>
            <a:fld id="{E8618032-BA8D-3D4D-8253-A70208A85976}" type="slidenum">
              <a:rPr lang="en-US" smtClean="0"/>
              <a:t>‹#›</a:t>
            </a:fld>
            <a:endParaRPr lang="en-US"/>
          </a:p>
        </p:txBody>
      </p:sp>
    </p:spTree>
    <p:extLst>
      <p:ext uri="{BB962C8B-B14F-4D97-AF65-F5344CB8AC3E}">
        <p14:creationId xmlns:p14="http://schemas.microsoft.com/office/powerpoint/2010/main" val="1605779802"/>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99E54A3-AB3C-35BD-6098-13B595E84A94}"/>
              </a:ext>
            </a:extLst>
          </p:cNvPr>
          <p:cNvSpPr>
            <a:spLocks noGrp="1"/>
          </p:cNvSpPr>
          <p:nvPr>
            <p:ph type="title"/>
          </p:nvPr>
        </p:nvSpPr>
        <p:spPr>
          <a:xfrm>
            <a:off x="914400" y="758952"/>
            <a:ext cx="3932237" cy="1600200"/>
          </a:xfrm>
        </p:spPr>
        <p:txBody>
          <a:bodyPr anchor="b"/>
          <a:lstStyle>
            <a:lvl1pPr>
              <a:defRPr sz="3200"/>
            </a:lvl1p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71C3EF45-FFD0-8EC1-3E51-7B4572F3A59A}"/>
              </a:ext>
            </a:extLst>
          </p:cNvPr>
          <p:cNvSpPr>
            <a:spLocks noGrp="1"/>
          </p:cNvSpPr>
          <p:nvPr>
            <p:ph idx="1"/>
          </p:nvPr>
        </p:nvSpPr>
        <p:spPr>
          <a:xfrm>
            <a:off x="5105400" y="1103971"/>
            <a:ext cx="6556748" cy="5211066"/>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04A3246F-34BC-6307-9619-06751D531DA2}"/>
              </a:ext>
            </a:extLst>
          </p:cNvPr>
          <p:cNvSpPr>
            <a:spLocks noGrp="1"/>
          </p:cNvSpPr>
          <p:nvPr>
            <p:ph type="body" sz="half" idx="2"/>
          </p:nvPr>
        </p:nvSpPr>
        <p:spPr>
          <a:xfrm>
            <a:off x="914399" y="2503449"/>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6" name="Footer Placeholder 5">
            <a:extLst>
              <a:ext uri="{FF2B5EF4-FFF2-40B4-BE49-F238E27FC236}">
                <a16:creationId xmlns:a16="http://schemas.microsoft.com/office/drawing/2014/main" id="{8FDF21F7-6214-7E6B-A5E6-69AAAA30330A}"/>
              </a:ext>
            </a:extLst>
          </p:cNvPr>
          <p:cNvSpPr>
            <a:spLocks noGrp="1"/>
          </p:cNvSpPr>
          <p:nvPr>
            <p:ph type="ftr" sz="quarter" idx="11"/>
          </p:nvPr>
        </p:nvSpPr>
        <p:spPr/>
        <p:txBody>
          <a:bodyPr/>
          <a:lstStyle/>
          <a:p>
            <a:r>
              <a:rPr lang="en-US" dirty="0"/>
              <a:t>Biological &amp; Physical Sciences</a:t>
            </a:r>
          </a:p>
        </p:txBody>
      </p:sp>
      <p:sp>
        <p:nvSpPr>
          <p:cNvPr id="7" name="Slide Number Placeholder 6">
            <a:extLst>
              <a:ext uri="{FF2B5EF4-FFF2-40B4-BE49-F238E27FC236}">
                <a16:creationId xmlns:a16="http://schemas.microsoft.com/office/drawing/2014/main" id="{B5A02BA3-BB8A-AC85-A750-93E59432E3A8}"/>
              </a:ext>
            </a:extLst>
          </p:cNvPr>
          <p:cNvSpPr>
            <a:spLocks noGrp="1"/>
          </p:cNvSpPr>
          <p:nvPr>
            <p:ph type="sldNum" sz="quarter" idx="12"/>
          </p:nvPr>
        </p:nvSpPr>
        <p:spPr/>
        <p:txBody>
          <a:bodyPr/>
          <a:lstStyle/>
          <a:p>
            <a:fld id="{E8618032-BA8D-3D4D-8253-A70208A85976}" type="slidenum">
              <a:rPr lang="en-US" smtClean="0"/>
              <a:t>‹#›</a:t>
            </a:fld>
            <a:endParaRPr lang="en-US"/>
          </a:p>
        </p:txBody>
      </p:sp>
    </p:spTree>
    <p:extLst>
      <p:ext uri="{BB962C8B-B14F-4D97-AF65-F5344CB8AC3E}">
        <p14:creationId xmlns:p14="http://schemas.microsoft.com/office/powerpoint/2010/main" val="1915504719"/>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59C9C3-CF27-8B06-2E66-2BB1FCAD726F}"/>
              </a:ext>
            </a:extLst>
          </p:cNvPr>
          <p:cNvSpPr>
            <a:spLocks noGrp="1"/>
          </p:cNvSpPr>
          <p:nvPr>
            <p:ph type="title"/>
          </p:nvPr>
        </p:nvSpPr>
        <p:spPr>
          <a:xfrm>
            <a:off x="914400" y="758952"/>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F38B7967-4936-AE6D-0BBD-BCE482FF4262}"/>
              </a:ext>
            </a:extLst>
          </p:cNvPr>
          <p:cNvSpPr>
            <a:spLocks noGrp="1"/>
          </p:cNvSpPr>
          <p:nvPr>
            <p:ph type="pic" idx="1"/>
          </p:nvPr>
        </p:nvSpPr>
        <p:spPr>
          <a:xfrm>
            <a:off x="5102352" y="1106424"/>
            <a:ext cx="6518834" cy="5235376"/>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a:extLst>
              <a:ext uri="{FF2B5EF4-FFF2-40B4-BE49-F238E27FC236}">
                <a16:creationId xmlns:a16="http://schemas.microsoft.com/office/drawing/2014/main" id="{A391E6CC-1128-78C6-3309-EDCFE3E4C724}"/>
              </a:ext>
            </a:extLst>
          </p:cNvPr>
          <p:cNvSpPr>
            <a:spLocks noGrp="1"/>
          </p:cNvSpPr>
          <p:nvPr>
            <p:ph type="body" sz="half" idx="2"/>
          </p:nvPr>
        </p:nvSpPr>
        <p:spPr>
          <a:xfrm>
            <a:off x="914400" y="2505456"/>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6" name="Footer Placeholder 5">
            <a:extLst>
              <a:ext uri="{FF2B5EF4-FFF2-40B4-BE49-F238E27FC236}">
                <a16:creationId xmlns:a16="http://schemas.microsoft.com/office/drawing/2014/main" id="{B6FB39B1-5B40-FE1F-3045-DD90E2A822AB}"/>
              </a:ext>
            </a:extLst>
          </p:cNvPr>
          <p:cNvSpPr>
            <a:spLocks noGrp="1"/>
          </p:cNvSpPr>
          <p:nvPr>
            <p:ph type="ftr" sz="quarter" idx="11"/>
          </p:nvPr>
        </p:nvSpPr>
        <p:spPr/>
        <p:txBody>
          <a:bodyPr/>
          <a:lstStyle/>
          <a:p>
            <a:r>
              <a:rPr lang="en-US" dirty="0"/>
              <a:t>Biological &amp; Physical Sciences </a:t>
            </a:r>
          </a:p>
        </p:txBody>
      </p:sp>
      <p:sp>
        <p:nvSpPr>
          <p:cNvPr id="7" name="Slide Number Placeholder 6">
            <a:extLst>
              <a:ext uri="{FF2B5EF4-FFF2-40B4-BE49-F238E27FC236}">
                <a16:creationId xmlns:a16="http://schemas.microsoft.com/office/drawing/2014/main" id="{6177EE0B-14D8-097A-37A8-4FBF55301754}"/>
              </a:ext>
            </a:extLst>
          </p:cNvPr>
          <p:cNvSpPr>
            <a:spLocks noGrp="1"/>
          </p:cNvSpPr>
          <p:nvPr>
            <p:ph type="sldNum" sz="quarter" idx="12"/>
          </p:nvPr>
        </p:nvSpPr>
        <p:spPr/>
        <p:txBody>
          <a:bodyPr/>
          <a:lstStyle/>
          <a:p>
            <a:fld id="{E8618032-BA8D-3D4D-8253-A70208A85976}" type="slidenum">
              <a:rPr lang="en-US" smtClean="0"/>
              <a:t>‹#›</a:t>
            </a:fld>
            <a:endParaRPr lang="en-US"/>
          </a:p>
        </p:txBody>
      </p:sp>
    </p:spTree>
    <p:extLst>
      <p:ext uri="{BB962C8B-B14F-4D97-AF65-F5344CB8AC3E}">
        <p14:creationId xmlns:p14="http://schemas.microsoft.com/office/powerpoint/2010/main" val="3912737462"/>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0F5B7E2-6845-38D7-8C84-05645DB92747}"/>
              </a:ext>
            </a:extLst>
          </p:cNvPr>
          <p:cNvSpPr>
            <a:spLocks noGrp="1"/>
          </p:cNvSpPr>
          <p:nvPr>
            <p:ph type="title"/>
          </p:nvPr>
        </p:nvSpPr>
        <p:spPr>
          <a:xfrm>
            <a:off x="914400" y="755930"/>
            <a:ext cx="10325100" cy="1325563"/>
          </a:xfrm>
        </p:spPr>
        <p:txBody>
          <a:bodyPr/>
          <a:lstStyle/>
          <a:p>
            <a:r>
              <a:rPr lang="en-US"/>
              <a:t>Click to edit Master title style</a:t>
            </a:r>
          </a:p>
        </p:txBody>
      </p:sp>
      <p:sp>
        <p:nvSpPr>
          <p:cNvPr id="5" name="Footer Placeholder 4">
            <a:extLst>
              <a:ext uri="{FF2B5EF4-FFF2-40B4-BE49-F238E27FC236}">
                <a16:creationId xmlns:a16="http://schemas.microsoft.com/office/drawing/2014/main" id="{A47FDE4B-421A-55A0-7AEA-42BC2BDCD38C}"/>
              </a:ext>
            </a:extLst>
          </p:cNvPr>
          <p:cNvSpPr>
            <a:spLocks noGrp="1"/>
          </p:cNvSpPr>
          <p:nvPr>
            <p:ph type="ftr" sz="quarter" idx="11"/>
          </p:nvPr>
        </p:nvSpPr>
        <p:spPr/>
        <p:txBody>
          <a:bodyPr/>
          <a:lstStyle/>
          <a:p>
            <a:r>
              <a:rPr lang="en-US" dirty="0"/>
              <a:t>Biological &amp; Physical Sciences</a:t>
            </a:r>
          </a:p>
        </p:txBody>
      </p:sp>
      <p:sp>
        <p:nvSpPr>
          <p:cNvPr id="6" name="Slide Number Placeholder 5">
            <a:extLst>
              <a:ext uri="{FF2B5EF4-FFF2-40B4-BE49-F238E27FC236}">
                <a16:creationId xmlns:a16="http://schemas.microsoft.com/office/drawing/2014/main" id="{CBB340CA-3171-FB84-4A04-1522D74B5D1F}"/>
              </a:ext>
            </a:extLst>
          </p:cNvPr>
          <p:cNvSpPr>
            <a:spLocks noGrp="1"/>
          </p:cNvSpPr>
          <p:nvPr>
            <p:ph type="sldNum" sz="quarter" idx="12"/>
          </p:nvPr>
        </p:nvSpPr>
        <p:spPr/>
        <p:txBody>
          <a:bodyPr/>
          <a:lstStyle/>
          <a:p>
            <a:fld id="{E8618032-BA8D-3D4D-8253-A70208A85976}" type="slidenum">
              <a:rPr lang="en-US" smtClean="0"/>
              <a:t>‹#›</a:t>
            </a:fld>
            <a:endParaRPr lang="en-US"/>
          </a:p>
        </p:txBody>
      </p:sp>
    </p:spTree>
    <p:extLst>
      <p:ext uri="{BB962C8B-B14F-4D97-AF65-F5344CB8AC3E}">
        <p14:creationId xmlns:p14="http://schemas.microsoft.com/office/powerpoint/2010/main" val="148911746"/>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1_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0F5B7E2-6845-38D7-8C84-05645DB92747}"/>
              </a:ext>
            </a:extLst>
          </p:cNvPr>
          <p:cNvSpPr>
            <a:spLocks noGrp="1"/>
          </p:cNvSpPr>
          <p:nvPr>
            <p:ph type="title"/>
          </p:nvPr>
        </p:nvSpPr>
        <p:spPr>
          <a:xfrm>
            <a:off x="914400" y="755930"/>
            <a:ext cx="10325100" cy="1325563"/>
          </a:xfrm>
        </p:spPr>
        <p:txBody>
          <a:bodyPr/>
          <a:lstStyle/>
          <a:p>
            <a:r>
              <a:rPr lang="en-US"/>
              <a:t>Click to edit Master title style</a:t>
            </a:r>
          </a:p>
        </p:txBody>
      </p:sp>
      <p:sp>
        <p:nvSpPr>
          <p:cNvPr id="5" name="Footer Placeholder 4">
            <a:extLst>
              <a:ext uri="{FF2B5EF4-FFF2-40B4-BE49-F238E27FC236}">
                <a16:creationId xmlns:a16="http://schemas.microsoft.com/office/drawing/2014/main" id="{A47FDE4B-421A-55A0-7AEA-42BC2BDCD38C}"/>
              </a:ext>
            </a:extLst>
          </p:cNvPr>
          <p:cNvSpPr>
            <a:spLocks noGrp="1"/>
          </p:cNvSpPr>
          <p:nvPr>
            <p:ph type="ftr" sz="quarter" idx="11"/>
          </p:nvPr>
        </p:nvSpPr>
        <p:spPr/>
        <p:txBody>
          <a:bodyPr/>
          <a:lstStyle/>
          <a:p>
            <a:r>
              <a:rPr lang="en-US" dirty="0"/>
              <a:t>Biological &amp; Physical Sciences</a:t>
            </a:r>
          </a:p>
        </p:txBody>
      </p:sp>
      <p:sp>
        <p:nvSpPr>
          <p:cNvPr id="6" name="Slide Number Placeholder 5">
            <a:extLst>
              <a:ext uri="{FF2B5EF4-FFF2-40B4-BE49-F238E27FC236}">
                <a16:creationId xmlns:a16="http://schemas.microsoft.com/office/drawing/2014/main" id="{CBB340CA-3171-FB84-4A04-1522D74B5D1F}"/>
              </a:ext>
            </a:extLst>
          </p:cNvPr>
          <p:cNvSpPr>
            <a:spLocks noGrp="1"/>
          </p:cNvSpPr>
          <p:nvPr>
            <p:ph type="sldNum" sz="quarter" idx="12"/>
          </p:nvPr>
        </p:nvSpPr>
        <p:spPr/>
        <p:txBody>
          <a:bodyPr/>
          <a:lstStyle/>
          <a:p>
            <a:fld id="{E8618032-BA8D-3D4D-8253-A70208A85976}" type="slidenum">
              <a:rPr lang="en-US" smtClean="0"/>
              <a:t>‹#›</a:t>
            </a:fld>
            <a:endParaRPr lang="en-US"/>
          </a:p>
        </p:txBody>
      </p:sp>
    </p:spTree>
    <p:extLst>
      <p:ext uri="{BB962C8B-B14F-4D97-AF65-F5344CB8AC3E}">
        <p14:creationId xmlns:p14="http://schemas.microsoft.com/office/powerpoint/2010/main" val="2243071714"/>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slideLayout" Target="../slideLayouts/slideLayout26.xml"/><Relationship Id="rId27" Type="http://schemas.openxmlformats.org/officeDocument/2006/relationships/slideLayout" Target="../slideLayouts/slideLayout27.xml"/><Relationship Id="rId28" Type="http://schemas.openxmlformats.org/officeDocument/2006/relationships/slideLayout" Target="../slideLayouts/slideLayout28.xml"/><Relationship Id="rId29" Type="http://schemas.openxmlformats.org/officeDocument/2006/relationships/slideLayout" Target="../slideLayouts/slideLayout29.xml"/><Relationship Id="rId30" Type="http://schemas.openxmlformats.org/officeDocument/2006/relationships/slideLayout" Target="../slideLayouts/slideLayout30.xml"/><Relationship Id="rId31" Type="http://schemas.openxmlformats.org/officeDocument/2006/relationships/slideLayout" Target="../slideLayouts/slideLayout31.xml"/><Relationship Id="rId32" Type="http://schemas.openxmlformats.org/officeDocument/2006/relationships/theme" Target="../theme/theme1.xml"/><Relationship Id="rId33" Type="http://schemas.openxmlformats.org/officeDocument/2006/relationships/image" Target="../media/image1.jpeg"/><Relationship Id="rId34" Type="http://schemas.openxmlformats.org/officeDocument/2006/relationships/image" Target="../media/image2.png"/></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gradFill>
          <a:gsLst>
            <a:gs pos="0">
              <a:srgbClr val="D4BF88">
                <a:alpha val="75162"/>
              </a:srgbClr>
            </a:gs>
            <a:gs pos="39000">
              <a:schemeClr val="bg1"/>
            </a:gs>
          </a:gsLst>
          <a:lin ang="8100000" scaled="1"/>
        </a:gra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87F53D41-B3D9-0856-DEBB-57C725BD4CCF}"/>
              </a:ext>
            </a:extLst>
          </p:cNvPr>
          <p:cNvSpPr>
            <a:spLocks noGrp="1"/>
          </p:cNvSpPr>
          <p:nvPr>
            <p:ph type="title"/>
          </p:nvPr>
        </p:nvSpPr>
        <p:spPr>
          <a:xfrm>
            <a:off x="933450" y="755930"/>
            <a:ext cx="10325100" cy="1325563"/>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2B7F6990-E15B-701E-55A2-00590A07CB4F}"/>
              </a:ext>
            </a:extLst>
          </p:cNvPr>
          <p:cNvSpPr>
            <a:spLocks noGrp="1"/>
          </p:cNvSpPr>
          <p:nvPr>
            <p:ph type="body" idx="1"/>
          </p:nvPr>
        </p:nvSpPr>
        <p:spPr>
          <a:xfrm>
            <a:off x="933450" y="2216430"/>
            <a:ext cx="103251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pic>
        <p:nvPicPr>
          <p:cNvPr id="7" name="Picture 6">
            <a:extLst>
              <a:ext uri="{FF2B5EF4-FFF2-40B4-BE49-F238E27FC236}">
                <a16:creationId xmlns:a16="http://schemas.microsoft.com/office/drawing/2014/main" id="{3C0E2C12-EE6A-20CB-09F3-55836BC3394C}"/>
              </a:ext>
            </a:extLst>
          </p:cNvPr>
          <p:cNvPicPr>
            <a:picLocks noChangeAspect="1"/>
          </p:cNvPicPr>
          <p:nvPr userDrawn="1"/>
        </p:nvPicPr>
        <p:blipFill rotWithShape="1">
          <a:blip r:embed="rId33" cstate="screen">
            <a:extLst>
              <a:ext uri="{28A0092B-C50C-407E-A947-70E740481C1C}">
                <a14:useLocalDpi xmlns:a14="http://schemas.microsoft.com/office/drawing/2010/main"/>
              </a:ext>
            </a:extLst>
          </a:blip>
          <a:srcRect/>
          <a:stretch/>
        </p:blipFill>
        <p:spPr>
          <a:xfrm>
            <a:off x="0" y="-47324"/>
            <a:ext cx="12192000" cy="529216"/>
          </a:xfrm>
          <a:prstGeom prst="rect">
            <a:avLst/>
          </a:prstGeom>
        </p:spPr>
      </p:pic>
      <p:pic>
        <p:nvPicPr>
          <p:cNvPr id="8" name="Picture 7" descr="A black background with grey letters&#10;&#10;Description automatically generated">
            <a:extLst>
              <a:ext uri="{FF2B5EF4-FFF2-40B4-BE49-F238E27FC236}">
                <a16:creationId xmlns:a16="http://schemas.microsoft.com/office/drawing/2014/main" id="{119BBE9E-4D69-14CD-9511-13BB4AA55DFA}"/>
              </a:ext>
            </a:extLst>
          </p:cNvPr>
          <p:cNvPicPr>
            <a:picLocks noChangeAspect="1"/>
          </p:cNvPicPr>
          <p:nvPr userDrawn="1"/>
        </p:nvPicPr>
        <p:blipFill rotWithShape="1">
          <a:blip r:embed="rId34" cstate="screen">
            <a:alphaModFix amt="23000"/>
            <a:extLst>
              <a:ext uri="{28A0092B-C50C-407E-A947-70E740481C1C}">
                <a14:useLocalDpi xmlns:a14="http://schemas.microsoft.com/office/drawing/2010/main"/>
              </a:ext>
            </a:extLst>
          </a:blip>
          <a:srcRect/>
          <a:stretch/>
        </p:blipFill>
        <p:spPr>
          <a:xfrm>
            <a:off x="0" y="-50077"/>
            <a:ext cx="1201897" cy="531969"/>
          </a:xfrm>
          <a:prstGeom prst="rect">
            <a:avLst/>
          </a:prstGeom>
        </p:spPr>
      </p:pic>
      <p:sp>
        <p:nvSpPr>
          <p:cNvPr id="6" name="Slide Number Placeholder 5">
            <a:extLst>
              <a:ext uri="{FF2B5EF4-FFF2-40B4-BE49-F238E27FC236}">
                <a16:creationId xmlns:a16="http://schemas.microsoft.com/office/drawing/2014/main" id="{37322777-339B-9F56-577C-65AD89F9C7A5}"/>
              </a:ext>
            </a:extLst>
          </p:cNvPr>
          <p:cNvSpPr>
            <a:spLocks noGrp="1"/>
          </p:cNvSpPr>
          <p:nvPr>
            <p:ph type="sldNum" sz="quarter" idx="4"/>
          </p:nvPr>
        </p:nvSpPr>
        <p:spPr>
          <a:xfrm>
            <a:off x="11662148" y="99559"/>
            <a:ext cx="1059704" cy="261258"/>
          </a:xfrm>
          <a:prstGeom prst="roundRect">
            <a:avLst>
              <a:gd name="adj" fmla="val 50000"/>
            </a:avLst>
          </a:prstGeom>
          <a:solidFill>
            <a:srgbClr val="002060"/>
          </a:solidFill>
        </p:spPr>
        <p:txBody>
          <a:bodyPr vert="horz" lIns="91440" tIns="45720" rIns="91440" bIns="45720" rtlCol="0" anchor="ctr"/>
          <a:lstStyle>
            <a:lvl1pPr algn="l">
              <a:defRPr sz="1100" b="1">
                <a:solidFill>
                  <a:schemeClr val="bg1"/>
                </a:solidFill>
              </a:defRPr>
            </a:lvl1pPr>
          </a:lstStyle>
          <a:p>
            <a:fld id="{E8618032-BA8D-3D4D-8253-A70208A85976}" type="slidenum">
              <a:rPr lang="en-US" smtClean="0"/>
              <a:pPr/>
              <a:t>‹#›</a:t>
            </a:fld>
            <a:endParaRPr lang="en-US" dirty="0"/>
          </a:p>
        </p:txBody>
      </p:sp>
      <p:sp>
        <p:nvSpPr>
          <p:cNvPr id="5" name="Footer Placeholder 4">
            <a:extLst>
              <a:ext uri="{FF2B5EF4-FFF2-40B4-BE49-F238E27FC236}">
                <a16:creationId xmlns:a16="http://schemas.microsoft.com/office/drawing/2014/main" id="{D5538D45-6410-BA73-9765-65C75CDC4742}"/>
              </a:ext>
            </a:extLst>
          </p:cNvPr>
          <p:cNvSpPr>
            <a:spLocks noGrp="1"/>
          </p:cNvSpPr>
          <p:nvPr>
            <p:ph type="ftr" sz="quarter" idx="3"/>
          </p:nvPr>
        </p:nvSpPr>
        <p:spPr>
          <a:xfrm>
            <a:off x="343963" y="121602"/>
            <a:ext cx="4114800" cy="217173"/>
          </a:xfrm>
          <a:prstGeom prst="rect">
            <a:avLst/>
          </a:prstGeom>
        </p:spPr>
        <p:txBody>
          <a:bodyPr vert="horz" lIns="91440" tIns="45720" rIns="91440" bIns="45720" rtlCol="0" anchor="ctr"/>
          <a:lstStyle>
            <a:lvl1pPr algn="l">
              <a:defRPr sz="900">
                <a:solidFill>
                  <a:schemeClr val="bg1">
                    <a:alpha val="75167"/>
                  </a:schemeClr>
                </a:solidFill>
              </a:defRPr>
            </a:lvl1pPr>
          </a:lstStyle>
          <a:p>
            <a:r>
              <a:rPr lang="en-US" dirty="0"/>
              <a:t>Biological &amp; Physical Sciences</a:t>
            </a:r>
          </a:p>
        </p:txBody>
      </p:sp>
    </p:spTree>
    <p:extLst>
      <p:ext uri="{BB962C8B-B14F-4D97-AF65-F5344CB8AC3E}">
        <p14:creationId xmlns:p14="http://schemas.microsoft.com/office/powerpoint/2010/main" val="889173761"/>
      </p:ext>
    </p:extLst>
  </p:cSld>
  <p:clrMap bg1="lt1" tx1="dk1" bg2="lt2" tx2="dk2" accent1="accent1" accent2="accent2" accent3="accent3" accent4="accent4" accent5="accent5" accent6="accent6" hlink="hlink" folHlink="folHlink"/>
  <p:sldLayoutIdLst>
    <p:sldLayoutId id="2147483688" r:id="rId1"/>
    <p:sldLayoutId id="2147483680" r:id="rId2"/>
    <p:sldLayoutId id="2147483661" r:id="rId3"/>
    <p:sldLayoutId id="2147483682" r:id="rId4"/>
    <p:sldLayoutId id="2147483691" r:id="rId5"/>
    <p:sldLayoutId id="2147483662" r:id="rId6"/>
    <p:sldLayoutId id="2147483692" r:id="rId7"/>
    <p:sldLayoutId id="2147483663" r:id="rId8"/>
    <p:sldLayoutId id="2147483674" r:id="rId9"/>
    <p:sldLayoutId id="2147483675" r:id="rId10"/>
    <p:sldLayoutId id="2147483676" r:id="rId11"/>
    <p:sldLayoutId id="2147483681" r:id="rId12"/>
    <p:sldLayoutId id="2147483677" r:id="rId13"/>
    <p:sldLayoutId id="2147483678" r:id="rId14"/>
    <p:sldLayoutId id="2147483683" r:id="rId15"/>
    <p:sldLayoutId id="2147483672" r:id="rId16"/>
    <p:sldLayoutId id="2147483679" r:id="rId17"/>
    <p:sldLayoutId id="2147483673" r:id="rId18"/>
    <p:sldLayoutId id="2147483690" r:id="rId19"/>
    <p:sldLayoutId id="2147483689" r:id="rId20"/>
    <p:sldLayoutId id="2147483664" r:id="rId21"/>
    <p:sldLayoutId id="2147483665" r:id="rId22"/>
    <p:sldLayoutId id="2147483684" r:id="rId23"/>
    <p:sldLayoutId id="2147483685" r:id="rId24"/>
    <p:sldLayoutId id="2147483686" r:id="rId25"/>
    <p:sldLayoutId id="2147483687" r:id="rId26"/>
    <p:sldLayoutId id="2147483666" r:id="rId27"/>
    <p:sldLayoutId id="2147483667" r:id="rId28"/>
    <p:sldLayoutId id="2147483668" r:id="rId29"/>
    <p:sldLayoutId id="2147483669" r:id="rId30"/>
    <p:sldLayoutId id="2147483658" r:id="rId31"/>
  </p:sldLayoutIdLst>
  <p:hf hdr="0"/>
  <p:txStyles>
    <p:titleStyle>
      <a:lvl1pPr algn="l" defTabSz="914400" rtl="0" eaLnBrk="1" latinLnBrk="0" hangingPunct="1">
        <a:lnSpc>
          <a:spcPct val="90000"/>
        </a:lnSpc>
        <a:spcBef>
          <a:spcPct val="0"/>
        </a:spcBef>
        <a:buNone/>
        <a:defRPr sz="4400" b="1" kern="1200">
          <a:solidFill>
            <a:schemeClr val="tx1"/>
          </a:solidFill>
          <a:latin typeface="+mn-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74.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75.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76.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77.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78.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background artifact mask"/>
          <p:cNvSpPr/>
          <p:nvPr/>
        </p:nvSpPr>
        <p:spPr>
          <a:xfrm>
            <a:off x="0" y="4956048"/>
            <a:ext cx="3931920" cy="1901952"/>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Subtitle 1">
            <a:extLst>
              <a:ext uri="{FF2B5EF4-FFF2-40B4-BE49-F238E27FC236}">
                <a16:creationId xmlns:a16="http://schemas.microsoft.com/office/drawing/2014/main" id="{E5D3E717-6970-91B9-68BB-B9CE473EC22E}"/>
              </a:ext>
            </a:extLst>
          </p:cNvPr>
          <p:cNvSpPr>
            <a:spLocks noGrp="1"/>
          </p:cNvSpPr>
          <p:nvPr>
            <p:ph type="subTitle" idx="1"/>
          </p:nvPr>
        </p:nvSpPr>
        <p:spPr>
          <a:xfrm>
            <a:off x="500101" y="3895025"/>
            <a:ext cx="4774425" cy="1429109"/>
          </a:xfrm>
        </p:spPr>
        <p:txBody>
          <a:bodyPr vert="horz" wrap="square" lIns="91440" tIns="45720" rIns="91440" bIns="45720" rtlCol="0" anchor="t">
            <a:spAutoFit/>
          </a:bodyPr>
          <a:lstStyle/>
          <a:p>
            <a:pPr>
              <a:spcAft>
                <a:spcPts val="200"/>
              </a:spcAft>
            </a:pPr>
            <a:r>
              <a:rPr sz="1700" b="0">
                <a:solidFill>
                  <a:srgbClr val="D8E1EB"/>
                </a:solidFill>
                <a:latin typeface="Arial"/>
              </a:rPr>
              <a:t>Can generated RNA-seq improve FLT vs GC analysis within each tissue?</a:t>
            </a:r>
          </a:p>
          <a:p>
            <a:pPr>
              <a:spcAft>
                <a:spcPts val="200"/>
              </a:spcAft>
            </a:pPr>
            <a:r>
              <a:rPr sz="500" b="0">
                <a:solidFill>
                  <a:srgbClr val="FFFFFF"/>
                </a:solidFill>
                <a:latin typeface="Arial"/>
              </a:rPr>
              <a:t/>
            </a:r>
          </a:p>
          <a:p>
            <a:pPr>
              <a:spcAft>
                <a:spcPts val="200"/>
              </a:spcAft>
            </a:pPr>
            <a:r>
              <a:rPr sz="1800" b="1">
                <a:solidFill>
                  <a:srgbClr val="FFFFFF"/>
                </a:solidFill>
                <a:latin typeface="Arial"/>
              </a:rPr>
              <a:t>Jason Trinh</a:t>
            </a:r>
          </a:p>
          <a:p>
            <a:pPr>
              <a:spcAft>
                <a:spcPts val="200"/>
              </a:spcAft>
            </a:pPr>
            <a:r>
              <a:rPr sz="1200" b="0">
                <a:solidFill>
                  <a:srgbClr val="B9C7D5"/>
                </a:solidFill>
                <a:latin typeface="Arial"/>
              </a:rPr>
              <a:t>EECS | UC Berkeley</a:t>
            </a:r>
          </a:p>
          <a:p>
            <a:pPr>
              <a:spcAft>
                <a:spcPts val="200"/>
              </a:spcAft>
            </a:pPr>
            <a:r>
              <a:rPr sz="1200" b="0">
                <a:solidFill>
                  <a:srgbClr val="B9C7D5"/>
                </a:solidFill>
                <a:latin typeface="Arial"/>
              </a:rPr>
              <a:t>Mentor: James Casaletto | August 2026</a:t>
            </a:r>
          </a:p>
        </p:txBody>
      </p:sp>
      <p:sp>
        <p:nvSpPr>
          <p:cNvPr id="3" name="Text Placeholder 2">
            <a:extLst>
              <a:ext uri="{FF2B5EF4-FFF2-40B4-BE49-F238E27FC236}">
                <a16:creationId xmlns:a16="http://schemas.microsoft.com/office/drawing/2014/main" id="{35AAB492-0D30-3AB0-9C9C-3B7725AA34C8}"/>
              </a:ext>
            </a:extLst>
          </p:cNvPr>
          <p:cNvSpPr>
            <a:spLocks noGrp="1"/>
          </p:cNvSpPr>
          <p:nvPr>
            <p:ph type="body" sz="quarter" idx="14"/>
          </p:nvPr>
        </p:nvSpPr>
        <p:spPr>
          <a:xfrm>
            <a:off x="566928" y="2157984"/>
            <a:ext cx="4297680" cy="1417320"/>
          </a:xfrm>
        </p:spPr>
        <p:txBody>
          <a:bodyPr wrap="square" lIns="0" rIns="0" tIns="0" bIns="0" anchor="t"/>
          <a:lstStyle/>
          <a:p>
            <a:pPr>
              <a:lnSpc>
                <a:spcPct val="100000"/>
              </a:lnSpc>
              <a:spcBef>
                <a:spcPts val="0"/>
              </a:spcBef>
              <a:spcAft>
                <a:spcPts val="0"/>
              </a:spcAft>
            </a:pPr>
            <a:r>
              <a:rPr sz="3000" b="1">
                <a:solidFill>
                  <a:srgbClr val="FFFFFF"/>
                </a:solidFill>
                <a:latin typeface="Arial"/>
              </a:rPr>
              <a:t>Synthetic transcriptomics for mouse spaceflight</a:t>
            </a:r>
          </a:p>
        </p:txBody>
      </p:sp>
      <p:sp>
        <p:nvSpPr>
          <p:cNvPr id="5" name="TextBox 4"/>
          <p:cNvSpPr txBox="1"/>
          <p:nvPr/>
        </p:nvSpPr>
        <p:spPr>
          <a:xfrm>
            <a:off x="566928" y="6510528"/>
            <a:ext cx="3017520" cy="201168"/>
          </a:xfrm>
          <a:prstGeom prst="rect">
            <a:avLst/>
          </a:prstGeom>
          <a:noFill/>
        </p:spPr>
        <p:txBody>
          <a:bodyPr wrap="square" lIns="18288" rIns="18288" tIns="18288" bIns="18288" anchor="t">
            <a:spAutoFit/>
          </a:bodyPr>
          <a:lstStyle/>
          <a:p>
            <a:pPr algn="l">
              <a:spcAft>
                <a:spcPts val="0"/>
              </a:spcAft>
            </a:pPr>
            <a:r>
              <a:rPr sz="1050" b="0" i="0">
                <a:solidFill>
                  <a:srgbClr val="B9C7D5"/>
                </a:solidFill>
                <a:latin typeface="Arial"/>
              </a:rPr>
              <a:t>Biological &amp; Physical Sciences</a:t>
            </a:r>
          </a:p>
        </p:txBody>
      </p:sp>
    </p:spTree>
    <p:extLst>
      <p:ext uri="{BB962C8B-B14F-4D97-AF65-F5344CB8AC3E}">
        <p14:creationId xmlns:p14="http://schemas.microsoft.com/office/powerpoint/2010/main" val="40689757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Title 16">
            <a:extLst>
              <a:ext uri="{FF2B5EF4-FFF2-40B4-BE49-F238E27FC236}">
                <a16:creationId xmlns:a16="http://schemas.microsoft.com/office/drawing/2014/main" id="{15CCDA23-9C9B-2E3C-0808-97FA24C09308}"/>
              </a:ext>
            </a:extLst>
          </p:cNvPr>
          <p:cNvSpPr>
            <a:spLocks noGrp="1"/>
          </p:cNvSpPr>
          <p:nvPr>
            <p:ph type="title"/>
          </p:nvPr>
        </p:nvSpPr>
        <p:spPr/>
        <p:txBody>
          <a:bodyPr/>
          <a:lstStyle/>
          <a:p/>
        </p:txBody>
      </p:sp>
      <p:sp>
        <p:nvSpPr>
          <p:cNvPr id="18" name="Content Placeholder 17">
            <a:extLst>
              <a:ext uri="{FF2B5EF4-FFF2-40B4-BE49-F238E27FC236}">
                <a16:creationId xmlns:a16="http://schemas.microsoft.com/office/drawing/2014/main" id="{EDF69EC4-28BB-B6B3-FB3D-0B6A7B68EADE}"/>
              </a:ext>
            </a:extLst>
          </p:cNvPr>
          <p:cNvSpPr>
            <a:spLocks noGrp="1"/>
          </p:cNvSpPr>
          <p:nvPr>
            <p:ph idx="1"/>
          </p:nvPr>
        </p:nvSpPr>
        <p:spPr/>
        <p:txBody>
          <a:bodyPr/>
          <a:lstStyle/>
          <a:p/>
        </p:txBody>
      </p:sp>
      <p:sp>
        <p:nvSpPr>
          <p:cNvPr id="3" name="Footer Placeholder 2">
            <a:extLst>
              <a:ext uri="{FF2B5EF4-FFF2-40B4-BE49-F238E27FC236}">
                <a16:creationId xmlns:a16="http://schemas.microsoft.com/office/drawing/2014/main" id="{CA6AED0D-F1B8-689C-34E4-C8599A320EAC}"/>
              </a:ext>
            </a:extLst>
          </p:cNvPr>
          <p:cNvSpPr>
            <a:spLocks noGrp="1"/>
          </p:cNvSpPr>
          <p:nvPr>
            <p:ph type="ftr" sz="quarter" idx="11"/>
          </p:nvPr>
        </p:nvSpPr>
        <p:spPr/>
        <p:txBody>
          <a:bodyPr/>
          <a:lstStyle/>
          <a:p>
            <a:r>
              <a:t>Biological &amp; Physical Sciences</a:t>
            </a:r>
          </a:p>
        </p:txBody>
      </p:sp>
      <p:sp>
        <p:nvSpPr>
          <p:cNvPr id="4" name="Slide Number Placeholder 3">
            <a:extLst>
              <a:ext uri="{FF2B5EF4-FFF2-40B4-BE49-F238E27FC236}">
                <a16:creationId xmlns:a16="http://schemas.microsoft.com/office/drawing/2014/main" id="{3BCE25FE-C8CB-2ADC-D1BB-2BE7BB0DB777}"/>
              </a:ext>
            </a:extLst>
          </p:cNvPr>
          <p:cNvSpPr>
            <a:spLocks noGrp="1"/>
          </p:cNvSpPr>
          <p:nvPr>
            <p:ph type="sldNum" sz="quarter" idx="4294967295"/>
          </p:nvPr>
        </p:nvSpPr>
        <p:spPr>
          <a:xfrm>
            <a:off x="11131550" y="100013"/>
            <a:ext cx="1060450" cy="261937"/>
          </a:xfrm>
        </p:spPr>
        <p:txBody>
          <a:bodyPr/>
          <a:lstStyle/>
          <a:p>
            <a:r>
              <a:t>2</a:t>
            </a:r>
          </a:p>
        </p:txBody>
      </p:sp>
      <p:sp>
        <p:nvSpPr>
          <p:cNvPr id="19" name="TextBox 18"/>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QUESTION</a:t>
            </a:r>
          </a:p>
        </p:txBody>
      </p:sp>
      <p:sp>
        <p:nvSpPr>
          <p:cNvPr id="20" name="TextBox 19"/>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Small studies and study effects complicate tissue comparisons</a:t>
            </a:r>
          </a:p>
        </p:txBody>
      </p:sp>
      <p:sp>
        <p:nvSpPr>
          <p:cNvPr id="21" name="TextBox 20"/>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Can a generator help rank spaceflight signal without pretending it creates new animals?</a:t>
            </a:r>
          </a:p>
        </p:txBody>
      </p:sp>
      <p:sp>
        <p:nvSpPr>
          <p:cNvPr id="22" name="Rounded Rectangle 21"/>
          <p:cNvSpPr/>
          <p:nvPr/>
        </p:nvSpPr>
        <p:spPr>
          <a:xfrm>
            <a:off x="320040" y="1847088"/>
            <a:ext cx="5532120" cy="2148840"/>
          </a:xfrm>
          <a:prstGeom prst="roundRect">
            <a:avLst/>
          </a:prstGeom>
          <a:solidFill>
            <a:srgbClr val="E9F1F7"/>
          </a:solidFill>
          <a:ln w="10160">
            <a:solidFill>
              <a:srgbClr val="C9DC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320040" y="1847088"/>
            <a:ext cx="5532120" cy="36576"/>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94360" y="2112264"/>
            <a:ext cx="2011680" cy="292608"/>
          </a:xfrm>
          <a:prstGeom prst="rect">
            <a:avLst/>
          </a:prstGeom>
          <a:noFill/>
        </p:spPr>
        <p:txBody>
          <a:bodyPr wrap="square" lIns="18288" rIns="18288" tIns="18288" bIns="18288" anchor="t">
            <a:spAutoFit/>
          </a:bodyPr>
          <a:lstStyle/>
          <a:p>
            <a:pPr algn="l">
              <a:spcAft>
                <a:spcPts val="0"/>
              </a:spcAft>
            </a:pPr>
            <a:r>
              <a:rPr sz="1800" b="1" i="0">
                <a:solidFill>
                  <a:srgbClr val="2D6496"/>
                </a:solidFill>
                <a:latin typeface="Arial"/>
              </a:rPr>
              <a:t>NASA OSDR</a:t>
            </a:r>
          </a:p>
        </p:txBody>
      </p:sp>
      <p:sp>
        <p:nvSpPr>
          <p:cNvPr id="25" name="TextBox 24"/>
          <p:cNvSpPr txBox="1"/>
          <p:nvPr/>
        </p:nvSpPr>
        <p:spPr>
          <a:xfrm>
            <a:off x="566928" y="2450592"/>
            <a:ext cx="2057400" cy="658368"/>
          </a:xfrm>
          <a:prstGeom prst="rect">
            <a:avLst/>
          </a:prstGeom>
          <a:noFill/>
        </p:spPr>
        <p:txBody>
          <a:bodyPr wrap="square" lIns="18288" rIns="18288" tIns="18288" bIns="18288" anchor="t">
            <a:spAutoFit/>
          </a:bodyPr>
          <a:lstStyle/>
          <a:p>
            <a:pPr algn="l">
              <a:spcAft>
                <a:spcPts val="0"/>
              </a:spcAft>
            </a:pPr>
            <a:r>
              <a:rPr sz="3600" b="1" i="0">
                <a:solidFill>
                  <a:srgbClr val="082B55"/>
                </a:solidFill>
                <a:latin typeface="Arial"/>
              </a:rPr>
              <a:t>1,610</a:t>
            </a:r>
          </a:p>
        </p:txBody>
      </p:sp>
      <p:sp>
        <p:nvSpPr>
          <p:cNvPr id="26" name="TextBox 25"/>
          <p:cNvSpPr txBox="1"/>
          <p:nvPr/>
        </p:nvSpPr>
        <p:spPr>
          <a:xfrm>
            <a:off x="603504" y="3035808"/>
            <a:ext cx="2103120" cy="256032"/>
          </a:xfrm>
          <a:prstGeom prst="rect">
            <a:avLst/>
          </a:prstGeom>
          <a:noFill/>
        </p:spPr>
        <p:txBody>
          <a:bodyPr wrap="square" lIns="18288" rIns="18288" tIns="18288" bIns="18288" anchor="t">
            <a:spAutoFit/>
          </a:bodyPr>
          <a:lstStyle/>
          <a:p>
            <a:pPr algn="l">
              <a:spcAft>
                <a:spcPts val="0"/>
              </a:spcAft>
            </a:pPr>
            <a:r>
              <a:rPr sz="1300" b="0" i="0">
                <a:solidFill>
                  <a:srgbClr val="59697A"/>
                </a:solidFill>
                <a:latin typeface="Arial"/>
              </a:rPr>
              <a:t>biological profiles</a:t>
            </a:r>
          </a:p>
        </p:txBody>
      </p:sp>
      <p:sp>
        <p:nvSpPr>
          <p:cNvPr id="27" name="TextBox 26"/>
          <p:cNvSpPr txBox="1"/>
          <p:nvPr/>
        </p:nvSpPr>
        <p:spPr>
          <a:xfrm>
            <a:off x="2816352" y="2468880"/>
            <a:ext cx="1188720" cy="502920"/>
          </a:xfrm>
          <a:prstGeom prst="rect">
            <a:avLst/>
          </a:prstGeom>
          <a:noFill/>
        </p:spPr>
        <p:txBody>
          <a:bodyPr wrap="square" lIns="18288" rIns="18288" tIns="18288" bIns="18288" anchor="t">
            <a:spAutoFit/>
          </a:bodyPr>
          <a:lstStyle/>
          <a:p>
            <a:pPr algn="l">
              <a:spcAft>
                <a:spcPts val="0"/>
              </a:spcAft>
            </a:pPr>
            <a:r>
              <a:rPr sz="3000" b="1" i="0">
                <a:solidFill>
                  <a:srgbClr val="082B55"/>
                </a:solidFill>
                <a:latin typeface="Arial"/>
              </a:rPr>
              <a:t>75</a:t>
            </a:r>
          </a:p>
        </p:txBody>
      </p:sp>
      <p:sp>
        <p:nvSpPr>
          <p:cNvPr id="28" name="TextBox 27"/>
          <p:cNvSpPr txBox="1"/>
          <p:nvPr/>
        </p:nvSpPr>
        <p:spPr>
          <a:xfrm>
            <a:off x="2834640" y="2980944"/>
            <a:ext cx="1371600" cy="246888"/>
          </a:xfrm>
          <a:prstGeom prst="rect">
            <a:avLst/>
          </a:prstGeom>
          <a:noFill/>
        </p:spPr>
        <p:txBody>
          <a:bodyPr wrap="square" lIns="18288" rIns="18288" tIns="18288" bIns="18288" anchor="t">
            <a:spAutoFit/>
          </a:bodyPr>
          <a:lstStyle/>
          <a:p>
            <a:pPr algn="l">
              <a:spcAft>
                <a:spcPts val="0"/>
              </a:spcAft>
            </a:pPr>
            <a:r>
              <a:rPr sz="1300" b="0" i="0">
                <a:solidFill>
                  <a:srgbClr val="59697A"/>
                </a:solidFill>
                <a:latin typeface="Arial"/>
              </a:rPr>
              <a:t>accessions</a:t>
            </a:r>
          </a:p>
        </p:txBody>
      </p:sp>
      <p:sp>
        <p:nvSpPr>
          <p:cNvPr id="29" name="TextBox 28"/>
          <p:cNvSpPr txBox="1"/>
          <p:nvPr/>
        </p:nvSpPr>
        <p:spPr>
          <a:xfrm>
            <a:off x="4224528" y="2496312"/>
            <a:ext cx="1234440" cy="347472"/>
          </a:xfrm>
          <a:prstGeom prst="rect">
            <a:avLst/>
          </a:prstGeom>
          <a:noFill/>
        </p:spPr>
        <p:txBody>
          <a:bodyPr wrap="square" lIns="18288" rIns="18288" tIns="18288" bIns="18288" anchor="t">
            <a:spAutoFit/>
          </a:bodyPr>
          <a:lstStyle/>
          <a:p>
            <a:pPr algn="l">
              <a:spcAft>
                <a:spcPts val="0"/>
              </a:spcAft>
            </a:pPr>
            <a:r>
              <a:rPr sz="2000" b="1" i="0">
                <a:solidFill>
                  <a:srgbClr val="D96552"/>
                </a:solidFill>
                <a:latin typeface="Arial"/>
              </a:rPr>
              <a:t>835 FLT</a:t>
            </a:r>
          </a:p>
        </p:txBody>
      </p:sp>
      <p:sp>
        <p:nvSpPr>
          <p:cNvPr id="30" name="TextBox 29"/>
          <p:cNvSpPr txBox="1"/>
          <p:nvPr/>
        </p:nvSpPr>
        <p:spPr>
          <a:xfrm>
            <a:off x="4224528" y="2944368"/>
            <a:ext cx="1234440" cy="347472"/>
          </a:xfrm>
          <a:prstGeom prst="rect">
            <a:avLst/>
          </a:prstGeom>
          <a:noFill/>
        </p:spPr>
        <p:txBody>
          <a:bodyPr wrap="square" lIns="18288" rIns="18288" tIns="18288" bIns="18288" anchor="t">
            <a:spAutoFit/>
          </a:bodyPr>
          <a:lstStyle/>
          <a:p>
            <a:pPr algn="l">
              <a:spcAft>
                <a:spcPts val="0"/>
              </a:spcAft>
            </a:pPr>
            <a:r>
              <a:rPr sz="2000" b="1" i="0">
                <a:solidFill>
                  <a:srgbClr val="2D6496"/>
                </a:solidFill>
                <a:latin typeface="Arial"/>
              </a:rPr>
              <a:t>775 GC</a:t>
            </a:r>
          </a:p>
        </p:txBody>
      </p:sp>
      <p:sp>
        <p:nvSpPr>
          <p:cNvPr id="31" name="Rounded Rectangle 30"/>
          <p:cNvSpPr/>
          <p:nvPr/>
        </p:nvSpPr>
        <p:spPr>
          <a:xfrm>
            <a:off x="6144768" y="1847088"/>
            <a:ext cx="5715000" cy="2148840"/>
          </a:xfrm>
          <a:prstGeom prst="roundRect">
            <a:avLst/>
          </a:prstGeom>
          <a:solidFill>
            <a:srgbClr val="E8F3F1"/>
          </a:solidFill>
          <a:ln w="10160">
            <a:solidFill>
              <a:srgbClr val="C7DD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144768" y="1847088"/>
            <a:ext cx="5715000" cy="36576"/>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19088" y="2112264"/>
            <a:ext cx="2286000" cy="292608"/>
          </a:xfrm>
          <a:prstGeom prst="rect">
            <a:avLst/>
          </a:prstGeom>
          <a:noFill/>
        </p:spPr>
        <p:txBody>
          <a:bodyPr wrap="square" lIns="18288" rIns="18288" tIns="18288" bIns="18288" anchor="t">
            <a:spAutoFit/>
          </a:bodyPr>
          <a:lstStyle/>
          <a:p>
            <a:pPr algn="l">
              <a:spcAft>
                <a:spcPts val="0"/>
              </a:spcAft>
            </a:pPr>
            <a:r>
              <a:rPr sz="1800" b="1" i="0">
                <a:solidFill>
                  <a:srgbClr val="178681"/>
                </a:solidFill>
                <a:latin typeface="Arial"/>
              </a:rPr>
              <a:t>ARCHS4 mouse</a:t>
            </a:r>
          </a:p>
        </p:txBody>
      </p:sp>
      <p:sp>
        <p:nvSpPr>
          <p:cNvPr id="34" name="TextBox 33"/>
          <p:cNvSpPr txBox="1"/>
          <p:nvPr/>
        </p:nvSpPr>
        <p:spPr>
          <a:xfrm>
            <a:off x="6400800" y="2450592"/>
            <a:ext cx="2240280" cy="658368"/>
          </a:xfrm>
          <a:prstGeom prst="rect">
            <a:avLst/>
          </a:prstGeom>
          <a:noFill/>
        </p:spPr>
        <p:txBody>
          <a:bodyPr wrap="square" lIns="18288" rIns="18288" tIns="18288" bIns="18288" anchor="t">
            <a:spAutoFit/>
          </a:bodyPr>
          <a:lstStyle/>
          <a:p>
            <a:pPr algn="l">
              <a:spcAft>
                <a:spcPts val="0"/>
              </a:spcAft>
            </a:pPr>
            <a:r>
              <a:rPr sz="3400" b="1" i="0">
                <a:solidFill>
                  <a:srgbClr val="082B55"/>
                </a:solidFill>
                <a:latin typeface="Arial"/>
              </a:rPr>
              <a:t>997,515</a:t>
            </a:r>
          </a:p>
        </p:txBody>
      </p:sp>
      <p:sp>
        <p:nvSpPr>
          <p:cNvPr id="35" name="TextBox 34"/>
          <p:cNvSpPr txBox="1"/>
          <p:nvPr/>
        </p:nvSpPr>
        <p:spPr>
          <a:xfrm>
            <a:off x="6428232" y="3035808"/>
            <a:ext cx="2011680" cy="256032"/>
          </a:xfrm>
          <a:prstGeom prst="rect">
            <a:avLst/>
          </a:prstGeom>
          <a:noFill/>
        </p:spPr>
        <p:txBody>
          <a:bodyPr wrap="square" lIns="18288" rIns="18288" tIns="18288" bIns="18288" anchor="t">
            <a:spAutoFit/>
          </a:bodyPr>
          <a:lstStyle/>
          <a:p>
            <a:pPr algn="l">
              <a:spcAft>
                <a:spcPts val="0"/>
              </a:spcAft>
            </a:pPr>
            <a:r>
              <a:rPr sz="1300" b="0" i="0">
                <a:solidFill>
                  <a:srgbClr val="59697A"/>
                </a:solidFill>
                <a:latin typeface="Arial"/>
              </a:rPr>
              <a:t>profiles audited</a:t>
            </a:r>
          </a:p>
        </p:txBody>
      </p:sp>
      <p:sp>
        <p:nvSpPr>
          <p:cNvPr id="36" name="TextBox 35"/>
          <p:cNvSpPr txBox="1"/>
          <p:nvPr/>
        </p:nvSpPr>
        <p:spPr>
          <a:xfrm>
            <a:off x="8686800" y="2468880"/>
            <a:ext cx="1783080" cy="502920"/>
          </a:xfrm>
          <a:prstGeom prst="rect">
            <a:avLst/>
          </a:prstGeom>
          <a:noFill/>
        </p:spPr>
        <p:txBody>
          <a:bodyPr wrap="square" lIns="18288" rIns="18288" tIns="18288" bIns="18288" anchor="t">
            <a:spAutoFit/>
          </a:bodyPr>
          <a:lstStyle/>
          <a:p>
            <a:pPr algn="l">
              <a:spcAft>
                <a:spcPts val="0"/>
              </a:spcAft>
            </a:pPr>
            <a:r>
              <a:rPr sz="2900" b="1" i="0">
                <a:solidFill>
                  <a:srgbClr val="082B55"/>
                </a:solidFill>
                <a:latin typeface="Arial"/>
              </a:rPr>
              <a:t>17,244</a:t>
            </a:r>
          </a:p>
        </p:txBody>
      </p:sp>
      <p:sp>
        <p:nvSpPr>
          <p:cNvPr id="37" name="TextBox 36"/>
          <p:cNvSpPr txBox="1"/>
          <p:nvPr/>
        </p:nvSpPr>
        <p:spPr>
          <a:xfrm>
            <a:off x="8714232" y="2980944"/>
            <a:ext cx="1143000" cy="246888"/>
          </a:xfrm>
          <a:prstGeom prst="rect">
            <a:avLst/>
          </a:prstGeom>
          <a:noFill/>
        </p:spPr>
        <p:txBody>
          <a:bodyPr wrap="square" lIns="18288" rIns="18288" tIns="18288" bIns="18288" anchor="t">
            <a:spAutoFit/>
          </a:bodyPr>
          <a:lstStyle/>
          <a:p>
            <a:pPr algn="l">
              <a:spcAft>
                <a:spcPts val="0"/>
              </a:spcAft>
            </a:pPr>
            <a:r>
              <a:rPr sz="1300" b="0" i="0">
                <a:solidFill>
                  <a:srgbClr val="59697A"/>
                </a:solidFill>
                <a:latin typeface="Arial"/>
              </a:rPr>
              <a:t>selected</a:t>
            </a:r>
          </a:p>
        </p:txBody>
      </p:sp>
      <p:sp>
        <p:nvSpPr>
          <p:cNvPr id="38" name="TextBox 37"/>
          <p:cNvSpPr txBox="1"/>
          <p:nvPr/>
        </p:nvSpPr>
        <p:spPr>
          <a:xfrm>
            <a:off x="10287000" y="2514600"/>
            <a:ext cx="1325880" cy="347472"/>
          </a:xfrm>
          <a:prstGeom prst="rect">
            <a:avLst/>
          </a:prstGeom>
          <a:noFill/>
        </p:spPr>
        <p:txBody>
          <a:bodyPr wrap="square" lIns="18288" rIns="18288" tIns="18288" bIns="18288" anchor="t">
            <a:spAutoFit/>
          </a:bodyPr>
          <a:lstStyle/>
          <a:p>
            <a:pPr algn="l">
              <a:spcAft>
                <a:spcPts val="0"/>
              </a:spcAft>
            </a:pPr>
            <a:r>
              <a:rPr sz="1900" b="1" i="0">
                <a:solidFill>
                  <a:srgbClr val="178681"/>
                </a:solidFill>
                <a:latin typeface="Arial"/>
              </a:rPr>
              <a:t>20 tissues</a:t>
            </a:r>
          </a:p>
        </p:txBody>
      </p:sp>
      <p:sp>
        <p:nvSpPr>
          <p:cNvPr id="39" name="Rounded Rectangle 38"/>
          <p:cNvSpPr/>
          <p:nvPr/>
        </p:nvSpPr>
        <p:spPr>
          <a:xfrm>
            <a:off x="320040" y="4270248"/>
            <a:ext cx="11539728" cy="1600200"/>
          </a:xfrm>
          <a:prstGeom prst="roundRect">
            <a:avLst/>
          </a:prstGeom>
          <a:solidFill>
            <a:srgbClr val="FFFFFF"/>
          </a:solidFill>
          <a:ln w="10160">
            <a:solidFill>
              <a:srgbClr val="DD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685800" y="4626864"/>
            <a:ext cx="91440" cy="91440"/>
          </a:xfrm>
          <a:prstGeom prst="ellipse">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50392" y="4517136"/>
            <a:ext cx="10625328" cy="411480"/>
          </a:xfrm>
          <a:prstGeom prst="rect">
            <a:avLst/>
          </a:prstGeom>
          <a:noFill/>
        </p:spPr>
        <p:txBody>
          <a:bodyPr wrap="square" lIns="18288" rIns="18288" tIns="18288" bIns="18288" anchor="ctr">
            <a:spAutoFit/>
          </a:bodyPr>
          <a:lstStyle/>
          <a:p>
            <a:pPr algn="l">
              <a:spcAft>
                <a:spcPts val="0"/>
              </a:spcAft>
            </a:pPr>
            <a:r>
              <a:rPr sz="1600" b="0" i="0">
                <a:solidFill>
                  <a:srgbClr val="263746"/>
                </a:solidFill>
                <a:latin typeface="Arial"/>
              </a:rPr>
              <a:t>Mission, strain, material and assay differences can resemble a flight effect.</a:t>
            </a:r>
          </a:p>
        </p:txBody>
      </p:sp>
      <p:sp>
        <p:nvSpPr>
          <p:cNvPr id="42" name="Oval 41"/>
          <p:cNvSpPr/>
          <p:nvPr/>
        </p:nvSpPr>
        <p:spPr>
          <a:xfrm>
            <a:off x="685800" y="5038344"/>
            <a:ext cx="91440" cy="91440"/>
          </a:xfrm>
          <a:prstGeom prst="ellipse">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850392" y="4928616"/>
            <a:ext cx="10625328" cy="411480"/>
          </a:xfrm>
          <a:prstGeom prst="rect">
            <a:avLst/>
          </a:prstGeom>
          <a:noFill/>
        </p:spPr>
        <p:txBody>
          <a:bodyPr wrap="square" lIns="18288" rIns="18288" tIns="18288" bIns="18288" anchor="ctr">
            <a:spAutoFit/>
          </a:bodyPr>
          <a:lstStyle/>
          <a:p>
            <a:pPr algn="l">
              <a:spcAft>
                <a:spcPts val="0"/>
              </a:spcAft>
            </a:pPr>
            <a:r>
              <a:rPr sz="1600" b="0" i="0">
                <a:solidFill>
                  <a:srgbClr val="263746"/>
                </a:solidFill>
                <a:latin typeface="Arial"/>
              </a:rPr>
              <a:t>The generator must preserve tissue and FLT/GC structure without memorizing samples.</a:t>
            </a:r>
          </a:p>
        </p:txBody>
      </p:sp>
      <p:sp>
        <p:nvSpPr>
          <p:cNvPr id="44" name="Oval 43"/>
          <p:cNvSpPr/>
          <p:nvPr/>
        </p:nvSpPr>
        <p:spPr>
          <a:xfrm>
            <a:off x="685800" y="5449824"/>
            <a:ext cx="91440" cy="91440"/>
          </a:xfrm>
          <a:prstGeom prst="ellipse">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50392" y="5340096"/>
            <a:ext cx="10625328" cy="411480"/>
          </a:xfrm>
          <a:prstGeom prst="rect">
            <a:avLst/>
          </a:prstGeom>
          <a:noFill/>
        </p:spPr>
        <p:txBody>
          <a:bodyPr wrap="square" lIns="18288" rIns="18288" tIns="18288" bIns="18288" anchor="ctr">
            <a:spAutoFit/>
          </a:bodyPr>
          <a:lstStyle/>
          <a:p>
            <a:pPr algn="l">
              <a:spcAft>
                <a:spcPts val="0"/>
              </a:spcAft>
            </a:pPr>
            <a:r>
              <a:rPr sz="1600" b="0" i="0">
                <a:solidFill>
                  <a:srgbClr val="263746"/>
                </a:solidFill>
                <a:latin typeface="Arial"/>
              </a:rPr>
              <a:t>Statistical evidence must still come from observed OSDR profiles.</a:t>
            </a:r>
          </a:p>
        </p:txBody>
      </p:sp>
      <p:sp>
        <p:nvSpPr>
          <p:cNvPr id="46" name="TextBox 45"/>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Sources: NASA OSDR Biological Data API; ARCHS4 mouse v2.5.</a:t>
            </a:r>
          </a:p>
        </p:txBody>
      </p:sp>
    </p:spTree>
    <p:extLst>
      <p:ext uri="{BB962C8B-B14F-4D97-AF65-F5344CB8AC3E}">
        <p14:creationId xmlns:p14="http://schemas.microsoft.com/office/powerpoint/2010/main" val="2938554529"/>
      </p:ext>
    </p:extLst>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METHOD</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We built a configurable bulk RNA-seq generation pipeline</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Each stage exposes alternatives; a strong outline marks the configuration used downstream.</a:t>
            </a:r>
          </a:p>
        </p:txBody>
      </p:sp>
      <p:sp>
        <p:nvSpPr>
          <p:cNvPr id="7" name="Rounded Rectangle 6"/>
          <p:cNvSpPr/>
          <p:nvPr/>
        </p:nvSpPr>
        <p:spPr>
          <a:xfrm>
            <a:off x="320040" y="1828800"/>
            <a:ext cx="2148840" cy="3063240"/>
          </a:xfrm>
          <a:prstGeom prst="roundRect">
            <a:avLst/>
          </a:prstGeom>
          <a:solidFill>
            <a:srgbClr val="E9F1F7"/>
          </a:solidFill>
          <a:ln w="10160">
            <a:solidFill>
              <a:srgbClr val="DD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466344" y="1993392"/>
            <a:ext cx="292608" cy="292608"/>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66344" y="2034540"/>
            <a:ext cx="292608" cy="182880"/>
          </a:xfrm>
          <a:prstGeom prst="rect">
            <a:avLst/>
          </a:prstGeom>
          <a:noFill/>
        </p:spPr>
        <p:txBody>
          <a:bodyPr wrap="square" lIns="0" rIns="0" tIns="0" bIns="0" anchor="t">
            <a:spAutoFit/>
          </a:bodyPr>
          <a:lstStyle/>
          <a:p>
            <a:pPr algn="ctr">
              <a:spcAft>
                <a:spcPts val="0"/>
              </a:spcAft>
            </a:pPr>
            <a:r>
              <a:rPr sz="1050" b="1" i="0">
                <a:solidFill>
                  <a:srgbClr val="FFFFFF"/>
                </a:solidFill>
                <a:latin typeface="Arial"/>
              </a:rPr>
              <a:t>1</a:t>
            </a:r>
          </a:p>
        </p:txBody>
      </p:sp>
      <p:sp>
        <p:nvSpPr>
          <p:cNvPr id="10" name="TextBox 9"/>
          <p:cNvSpPr txBox="1"/>
          <p:nvPr/>
        </p:nvSpPr>
        <p:spPr>
          <a:xfrm>
            <a:off x="850392" y="2002536"/>
            <a:ext cx="1435608" cy="274320"/>
          </a:xfrm>
          <a:prstGeom prst="rect">
            <a:avLst/>
          </a:prstGeom>
          <a:noFill/>
        </p:spPr>
        <p:txBody>
          <a:bodyPr wrap="square" lIns="18288" rIns="18288" tIns="18288" bIns="18288" anchor="ctr">
            <a:spAutoFit/>
          </a:bodyPr>
          <a:lstStyle/>
          <a:p>
            <a:pPr algn="l">
              <a:spcAft>
                <a:spcPts val="0"/>
              </a:spcAft>
            </a:pPr>
            <a:r>
              <a:rPr sz="1400" b="1" i="0">
                <a:solidFill>
                  <a:srgbClr val="2D6496"/>
                </a:solidFill>
                <a:latin typeface="Arial"/>
              </a:rPr>
              <a:t>Data scope</a:t>
            </a:r>
          </a:p>
        </p:txBody>
      </p:sp>
      <p:sp>
        <p:nvSpPr>
          <p:cNvPr id="11" name="Rectangle 10"/>
          <p:cNvSpPr/>
          <p:nvPr/>
        </p:nvSpPr>
        <p:spPr>
          <a:xfrm>
            <a:off x="466344" y="2359152"/>
            <a:ext cx="1856231" cy="22860"/>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66344" y="2487168"/>
            <a:ext cx="1847088" cy="164592"/>
          </a:xfrm>
          <a:prstGeom prst="rect">
            <a:avLst/>
          </a:prstGeom>
          <a:noFill/>
        </p:spPr>
        <p:txBody>
          <a:bodyPr wrap="square" lIns="0" rIns="0" tIns="0" bIns="0" anchor="t">
            <a:spAutoFit/>
          </a:bodyPr>
          <a:lstStyle/>
          <a:p>
            <a:pPr algn="l">
              <a:spcAft>
                <a:spcPts val="0"/>
              </a:spcAft>
            </a:pPr>
            <a:r>
              <a:rPr sz="840" b="1" i="0">
                <a:solidFill>
                  <a:srgbClr val="59697A"/>
                </a:solidFill>
                <a:latin typeface="Arial"/>
              </a:rPr>
              <a:t>Sources</a:t>
            </a:r>
          </a:p>
        </p:txBody>
      </p:sp>
      <p:sp>
        <p:nvSpPr>
          <p:cNvPr id="13" name="Rounded Rectangle 12"/>
          <p:cNvSpPr/>
          <p:nvPr/>
        </p:nvSpPr>
        <p:spPr>
          <a:xfrm>
            <a:off x="466344" y="2688336"/>
            <a:ext cx="905255" cy="329184"/>
          </a:xfrm>
          <a:prstGeom prst="roundRect">
            <a:avLst/>
          </a:prstGeom>
          <a:solidFill>
            <a:srgbClr val="FFFFFF"/>
          </a:solidFill>
          <a:ln w="25400">
            <a:solidFill>
              <a:srgbClr val="2D64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516636" y="2827324"/>
            <a:ext cx="50292" cy="50292"/>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03504" y="2738628"/>
            <a:ext cx="740663" cy="210312"/>
          </a:xfrm>
          <a:prstGeom prst="rect">
            <a:avLst/>
          </a:prstGeom>
          <a:noFill/>
        </p:spPr>
        <p:txBody>
          <a:bodyPr wrap="square" lIns="0" rIns="0" tIns="0" bIns="0" anchor="ctr">
            <a:spAutoFit/>
          </a:bodyPr>
          <a:lstStyle/>
          <a:p>
            <a:pPr algn="ctr">
              <a:spcAft>
                <a:spcPts val="0"/>
              </a:spcAft>
            </a:pPr>
            <a:r>
              <a:rPr sz="880" b="1" i="0">
                <a:solidFill>
                  <a:srgbClr val="263746"/>
                </a:solidFill>
                <a:latin typeface="Arial"/>
              </a:rPr>
              <a:t>OSDR API</a:t>
            </a:r>
          </a:p>
        </p:txBody>
      </p:sp>
      <p:sp>
        <p:nvSpPr>
          <p:cNvPr id="16" name="Rounded Rectangle 15"/>
          <p:cNvSpPr/>
          <p:nvPr/>
        </p:nvSpPr>
        <p:spPr>
          <a:xfrm>
            <a:off x="1417319" y="2688336"/>
            <a:ext cx="905255" cy="329184"/>
          </a:xfrm>
          <a:prstGeom prst="roundRect">
            <a:avLst/>
          </a:prstGeom>
          <a:solidFill>
            <a:srgbClr val="FFFFFF"/>
          </a:solidFill>
          <a:ln w="25400">
            <a:solidFill>
              <a:srgbClr val="2D64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467611" y="2827324"/>
            <a:ext cx="50292" cy="50292"/>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554479" y="2738628"/>
            <a:ext cx="740663" cy="210312"/>
          </a:xfrm>
          <a:prstGeom prst="rect">
            <a:avLst/>
          </a:prstGeom>
          <a:noFill/>
        </p:spPr>
        <p:txBody>
          <a:bodyPr wrap="square" lIns="0" rIns="0" tIns="0" bIns="0" anchor="ctr">
            <a:spAutoFit/>
          </a:bodyPr>
          <a:lstStyle/>
          <a:p>
            <a:pPr algn="ctr">
              <a:spcAft>
                <a:spcPts val="0"/>
              </a:spcAft>
            </a:pPr>
            <a:r>
              <a:rPr sz="880" b="1" i="0">
                <a:solidFill>
                  <a:srgbClr val="263746"/>
                </a:solidFill>
                <a:latin typeface="Arial"/>
              </a:rPr>
              <a:t>ARCHS4</a:t>
            </a:r>
          </a:p>
        </p:txBody>
      </p:sp>
      <p:sp>
        <p:nvSpPr>
          <p:cNvPr id="19" name="TextBox 18"/>
          <p:cNvSpPr txBox="1"/>
          <p:nvPr/>
        </p:nvSpPr>
        <p:spPr>
          <a:xfrm>
            <a:off x="466344" y="3182112"/>
            <a:ext cx="1847088" cy="164592"/>
          </a:xfrm>
          <a:prstGeom prst="rect">
            <a:avLst/>
          </a:prstGeom>
          <a:noFill/>
        </p:spPr>
        <p:txBody>
          <a:bodyPr wrap="square" lIns="0" rIns="0" tIns="0" bIns="0" anchor="t">
            <a:spAutoFit/>
          </a:bodyPr>
          <a:lstStyle/>
          <a:p>
            <a:pPr algn="l">
              <a:spcAft>
                <a:spcPts val="0"/>
              </a:spcAft>
            </a:pPr>
            <a:r>
              <a:rPr sz="840" b="1" i="0">
                <a:solidFill>
                  <a:srgbClr val="59697A"/>
                </a:solidFill>
                <a:latin typeface="Arial"/>
              </a:rPr>
              <a:t>Studies</a:t>
            </a:r>
          </a:p>
        </p:txBody>
      </p:sp>
      <p:sp>
        <p:nvSpPr>
          <p:cNvPr id="20" name="Rounded Rectangle 19"/>
          <p:cNvSpPr/>
          <p:nvPr/>
        </p:nvSpPr>
        <p:spPr>
          <a:xfrm>
            <a:off x="466344" y="3383280"/>
            <a:ext cx="905255" cy="329184"/>
          </a:xfrm>
          <a:prstGeom prst="roundRect">
            <a:avLst/>
          </a:prstGeom>
          <a:solidFill>
            <a:srgbClr val="F7F9FA"/>
          </a:solidFill>
          <a:ln w="8255">
            <a:solidFill>
              <a:srgbClr val="C9D2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21208" y="3433572"/>
            <a:ext cx="795527" cy="210312"/>
          </a:xfrm>
          <a:prstGeom prst="rect">
            <a:avLst/>
          </a:prstGeom>
          <a:noFill/>
        </p:spPr>
        <p:txBody>
          <a:bodyPr wrap="square" lIns="0" rIns="0" tIns="0" bIns="0" anchor="ctr">
            <a:spAutoFit/>
          </a:bodyPr>
          <a:lstStyle/>
          <a:p>
            <a:pPr algn="ctr">
              <a:spcAft>
                <a:spcPts val="0"/>
              </a:spcAft>
            </a:pPr>
            <a:r>
              <a:rPr sz="880" b="0" i="0">
                <a:solidFill>
                  <a:srgbClr val="59697A"/>
                </a:solidFill>
                <a:latin typeface="Arial"/>
              </a:rPr>
              <a:t>Single</a:t>
            </a:r>
          </a:p>
        </p:txBody>
      </p:sp>
      <p:sp>
        <p:nvSpPr>
          <p:cNvPr id="22" name="Rounded Rectangle 21"/>
          <p:cNvSpPr/>
          <p:nvPr/>
        </p:nvSpPr>
        <p:spPr>
          <a:xfrm>
            <a:off x="1417319" y="3383280"/>
            <a:ext cx="905255" cy="329184"/>
          </a:xfrm>
          <a:prstGeom prst="roundRect">
            <a:avLst/>
          </a:prstGeom>
          <a:solidFill>
            <a:srgbClr val="FFFFFF"/>
          </a:solidFill>
          <a:ln w="25400">
            <a:solidFill>
              <a:srgbClr val="2D64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1467611" y="3522268"/>
            <a:ext cx="50292" cy="50292"/>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554479" y="3433572"/>
            <a:ext cx="740663" cy="210312"/>
          </a:xfrm>
          <a:prstGeom prst="rect">
            <a:avLst/>
          </a:prstGeom>
          <a:noFill/>
        </p:spPr>
        <p:txBody>
          <a:bodyPr wrap="square" lIns="0" rIns="0" tIns="0" bIns="0" anchor="ctr">
            <a:spAutoFit/>
          </a:bodyPr>
          <a:lstStyle/>
          <a:p>
            <a:pPr algn="ctr">
              <a:spcAft>
                <a:spcPts val="0"/>
              </a:spcAft>
            </a:pPr>
            <a:r>
              <a:rPr sz="880" b="1" i="0">
                <a:solidFill>
                  <a:srgbClr val="263746"/>
                </a:solidFill>
                <a:latin typeface="Arial"/>
              </a:rPr>
              <a:t>Multiple</a:t>
            </a:r>
          </a:p>
        </p:txBody>
      </p:sp>
      <p:sp>
        <p:nvSpPr>
          <p:cNvPr id="25" name="TextBox 24"/>
          <p:cNvSpPr txBox="1"/>
          <p:nvPr/>
        </p:nvSpPr>
        <p:spPr>
          <a:xfrm>
            <a:off x="466344" y="3877056"/>
            <a:ext cx="1847088" cy="164592"/>
          </a:xfrm>
          <a:prstGeom prst="rect">
            <a:avLst/>
          </a:prstGeom>
          <a:noFill/>
        </p:spPr>
        <p:txBody>
          <a:bodyPr wrap="square" lIns="0" rIns="0" tIns="0" bIns="0" anchor="t">
            <a:spAutoFit/>
          </a:bodyPr>
          <a:lstStyle/>
          <a:p>
            <a:pPr algn="l">
              <a:spcAft>
                <a:spcPts val="0"/>
              </a:spcAft>
            </a:pPr>
            <a:r>
              <a:rPr sz="840" b="1" i="0">
                <a:solidFill>
                  <a:srgbClr val="59697A"/>
                </a:solidFill>
                <a:latin typeface="Arial"/>
              </a:rPr>
              <a:t>Tissues</a:t>
            </a:r>
          </a:p>
        </p:txBody>
      </p:sp>
      <p:sp>
        <p:nvSpPr>
          <p:cNvPr id="26" name="Rounded Rectangle 25"/>
          <p:cNvSpPr/>
          <p:nvPr/>
        </p:nvSpPr>
        <p:spPr>
          <a:xfrm>
            <a:off x="466344" y="4078224"/>
            <a:ext cx="905255" cy="329184"/>
          </a:xfrm>
          <a:prstGeom prst="roundRect">
            <a:avLst/>
          </a:prstGeom>
          <a:solidFill>
            <a:srgbClr val="F7F9FA"/>
          </a:solidFill>
          <a:ln w="8255">
            <a:solidFill>
              <a:srgbClr val="C9D2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21208" y="4128515"/>
            <a:ext cx="795527" cy="210312"/>
          </a:xfrm>
          <a:prstGeom prst="rect">
            <a:avLst/>
          </a:prstGeom>
          <a:noFill/>
        </p:spPr>
        <p:txBody>
          <a:bodyPr wrap="square" lIns="0" rIns="0" tIns="0" bIns="0" anchor="ctr">
            <a:spAutoFit/>
          </a:bodyPr>
          <a:lstStyle/>
          <a:p>
            <a:pPr algn="ctr">
              <a:spcAft>
                <a:spcPts val="0"/>
              </a:spcAft>
            </a:pPr>
            <a:r>
              <a:rPr sz="880" b="0" i="0">
                <a:solidFill>
                  <a:srgbClr val="59697A"/>
                </a:solidFill>
                <a:latin typeface="Arial"/>
              </a:rPr>
              <a:t>Per tissue</a:t>
            </a:r>
          </a:p>
        </p:txBody>
      </p:sp>
      <p:sp>
        <p:nvSpPr>
          <p:cNvPr id="28" name="Rounded Rectangle 27"/>
          <p:cNvSpPr/>
          <p:nvPr/>
        </p:nvSpPr>
        <p:spPr>
          <a:xfrm>
            <a:off x="1417319" y="4078224"/>
            <a:ext cx="905255" cy="329184"/>
          </a:xfrm>
          <a:prstGeom prst="roundRect">
            <a:avLst/>
          </a:prstGeom>
          <a:solidFill>
            <a:srgbClr val="FFFFFF"/>
          </a:solidFill>
          <a:ln w="25400">
            <a:solidFill>
              <a:srgbClr val="2D64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467611" y="4217212"/>
            <a:ext cx="50292" cy="50292"/>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554479" y="4128515"/>
            <a:ext cx="740663" cy="210312"/>
          </a:xfrm>
          <a:prstGeom prst="rect">
            <a:avLst/>
          </a:prstGeom>
          <a:noFill/>
        </p:spPr>
        <p:txBody>
          <a:bodyPr wrap="square" lIns="0" rIns="0" tIns="0" bIns="0" anchor="ctr">
            <a:spAutoFit/>
          </a:bodyPr>
          <a:lstStyle/>
          <a:p>
            <a:pPr algn="ctr">
              <a:spcAft>
                <a:spcPts val="0"/>
              </a:spcAft>
            </a:pPr>
            <a:r>
              <a:rPr sz="880" b="1" i="0">
                <a:solidFill>
                  <a:srgbClr val="263746"/>
                </a:solidFill>
                <a:latin typeface="Arial"/>
              </a:rPr>
              <a:t>All tissues</a:t>
            </a:r>
          </a:p>
        </p:txBody>
      </p:sp>
      <p:sp>
        <p:nvSpPr>
          <p:cNvPr id="31" name="Rounded Rectangle 30"/>
          <p:cNvSpPr/>
          <p:nvPr/>
        </p:nvSpPr>
        <p:spPr>
          <a:xfrm>
            <a:off x="2651760" y="1828800"/>
            <a:ext cx="2148840" cy="3063240"/>
          </a:xfrm>
          <a:prstGeom prst="roundRect">
            <a:avLst/>
          </a:prstGeom>
          <a:solidFill>
            <a:srgbClr val="E8F3F1"/>
          </a:solidFill>
          <a:ln w="10160">
            <a:solidFill>
              <a:srgbClr val="DD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2798064" y="1993392"/>
            <a:ext cx="292608" cy="292608"/>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2798064" y="2034540"/>
            <a:ext cx="292608" cy="182880"/>
          </a:xfrm>
          <a:prstGeom prst="rect">
            <a:avLst/>
          </a:prstGeom>
          <a:noFill/>
        </p:spPr>
        <p:txBody>
          <a:bodyPr wrap="square" lIns="0" rIns="0" tIns="0" bIns="0" anchor="t">
            <a:spAutoFit/>
          </a:bodyPr>
          <a:lstStyle/>
          <a:p>
            <a:pPr algn="ctr">
              <a:spcAft>
                <a:spcPts val="0"/>
              </a:spcAft>
            </a:pPr>
            <a:r>
              <a:rPr sz="1050" b="1" i="0">
                <a:solidFill>
                  <a:srgbClr val="FFFFFF"/>
                </a:solidFill>
                <a:latin typeface="Arial"/>
              </a:rPr>
              <a:t>2</a:t>
            </a:r>
          </a:p>
        </p:txBody>
      </p:sp>
      <p:sp>
        <p:nvSpPr>
          <p:cNvPr id="34" name="TextBox 33"/>
          <p:cNvSpPr txBox="1"/>
          <p:nvPr/>
        </p:nvSpPr>
        <p:spPr>
          <a:xfrm>
            <a:off x="3182112" y="2002536"/>
            <a:ext cx="1435608" cy="274320"/>
          </a:xfrm>
          <a:prstGeom prst="rect">
            <a:avLst/>
          </a:prstGeom>
          <a:noFill/>
        </p:spPr>
        <p:txBody>
          <a:bodyPr wrap="square" lIns="18288" rIns="18288" tIns="18288" bIns="18288" anchor="ctr">
            <a:spAutoFit/>
          </a:bodyPr>
          <a:lstStyle/>
          <a:p>
            <a:pPr algn="l">
              <a:spcAft>
                <a:spcPts val="0"/>
              </a:spcAft>
            </a:pPr>
            <a:r>
              <a:rPr sz="1400" b="1" i="0">
                <a:solidFill>
                  <a:srgbClr val="178681"/>
                </a:solidFill>
                <a:latin typeface="Arial"/>
              </a:rPr>
              <a:t>Transform</a:t>
            </a:r>
          </a:p>
        </p:txBody>
      </p:sp>
      <p:sp>
        <p:nvSpPr>
          <p:cNvPr id="35" name="Rectangle 34"/>
          <p:cNvSpPr/>
          <p:nvPr/>
        </p:nvSpPr>
        <p:spPr>
          <a:xfrm>
            <a:off x="2798064" y="2359152"/>
            <a:ext cx="1856231" cy="22860"/>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2798064" y="2487168"/>
            <a:ext cx="1847088" cy="164592"/>
          </a:xfrm>
          <a:prstGeom prst="rect">
            <a:avLst/>
          </a:prstGeom>
          <a:noFill/>
        </p:spPr>
        <p:txBody>
          <a:bodyPr wrap="square" lIns="0" rIns="0" tIns="0" bIns="0" anchor="t">
            <a:spAutoFit/>
          </a:bodyPr>
          <a:lstStyle/>
          <a:p>
            <a:pPr algn="l">
              <a:spcAft>
                <a:spcPts val="0"/>
              </a:spcAft>
            </a:pPr>
            <a:r>
              <a:rPr sz="840" b="1" i="0">
                <a:solidFill>
                  <a:srgbClr val="59697A"/>
                </a:solidFill>
                <a:latin typeface="Arial"/>
              </a:rPr>
              <a:t>Expression</a:t>
            </a:r>
          </a:p>
        </p:txBody>
      </p:sp>
      <p:sp>
        <p:nvSpPr>
          <p:cNvPr id="37" name="Rounded Rectangle 36"/>
          <p:cNvSpPr/>
          <p:nvPr/>
        </p:nvSpPr>
        <p:spPr>
          <a:xfrm>
            <a:off x="2798064" y="2688336"/>
            <a:ext cx="588263" cy="329184"/>
          </a:xfrm>
          <a:prstGeom prst="roundRect">
            <a:avLst/>
          </a:prstGeom>
          <a:solidFill>
            <a:srgbClr val="F7F9FA"/>
          </a:solidFill>
          <a:ln w="8255">
            <a:solidFill>
              <a:srgbClr val="C9D2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2852928" y="2738628"/>
            <a:ext cx="478535" cy="210312"/>
          </a:xfrm>
          <a:prstGeom prst="rect">
            <a:avLst/>
          </a:prstGeom>
          <a:noFill/>
        </p:spPr>
        <p:txBody>
          <a:bodyPr wrap="square" lIns="0" rIns="0" tIns="0" bIns="0" anchor="ctr">
            <a:spAutoFit/>
          </a:bodyPr>
          <a:lstStyle/>
          <a:p>
            <a:pPr algn="ctr">
              <a:spcAft>
                <a:spcPts val="0"/>
              </a:spcAft>
            </a:pPr>
            <a:r>
              <a:rPr sz="819" b="0" i="0">
                <a:solidFill>
                  <a:srgbClr val="59697A"/>
                </a:solidFill>
                <a:latin typeface="Arial"/>
              </a:rPr>
              <a:t>Raw</a:t>
            </a:r>
          </a:p>
        </p:txBody>
      </p:sp>
      <p:sp>
        <p:nvSpPr>
          <p:cNvPr id="39" name="Rounded Rectangle 38"/>
          <p:cNvSpPr/>
          <p:nvPr/>
        </p:nvSpPr>
        <p:spPr>
          <a:xfrm>
            <a:off x="3432048" y="2688336"/>
            <a:ext cx="588263" cy="329184"/>
          </a:xfrm>
          <a:prstGeom prst="roundRect">
            <a:avLst/>
          </a:prstGeom>
          <a:solidFill>
            <a:srgbClr val="F7F9FA"/>
          </a:solidFill>
          <a:ln w="8255">
            <a:solidFill>
              <a:srgbClr val="C9D2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486912" y="2738628"/>
            <a:ext cx="478535" cy="210312"/>
          </a:xfrm>
          <a:prstGeom prst="rect">
            <a:avLst/>
          </a:prstGeom>
          <a:noFill/>
        </p:spPr>
        <p:txBody>
          <a:bodyPr wrap="square" lIns="0" rIns="0" tIns="0" bIns="0" anchor="ctr">
            <a:spAutoFit/>
          </a:bodyPr>
          <a:lstStyle/>
          <a:p>
            <a:pPr algn="ctr">
              <a:spcAft>
                <a:spcPts val="0"/>
              </a:spcAft>
            </a:pPr>
            <a:r>
              <a:rPr sz="819" b="0" i="0">
                <a:solidFill>
                  <a:srgbClr val="59697A"/>
                </a:solidFill>
                <a:latin typeface="Arial"/>
              </a:rPr>
              <a:t>CPM</a:t>
            </a:r>
          </a:p>
        </p:txBody>
      </p:sp>
      <p:sp>
        <p:nvSpPr>
          <p:cNvPr id="41" name="Rounded Rectangle 40"/>
          <p:cNvSpPr/>
          <p:nvPr/>
        </p:nvSpPr>
        <p:spPr>
          <a:xfrm>
            <a:off x="4066031" y="2688336"/>
            <a:ext cx="588263" cy="329184"/>
          </a:xfrm>
          <a:prstGeom prst="roundRect">
            <a:avLst/>
          </a:prstGeom>
          <a:solidFill>
            <a:srgbClr val="FFFFFF"/>
          </a:solidFill>
          <a:ln w="2540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Oval 41"/>
          <p:cNvSpPr/>
          <p:nvPr/>
        </p:nvSpPr>
        <p:spPr>
          <a:xfrm>
            <a:off x="4116323" y="2827324"/>
            <a:ext cx="50292" cy="50292"/>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4203192" y="2738628"/>
            <a:ext cx="423671" cy="210312"/>
          </a:xfrm>
          <a:prstGeom prst="rect">
            <a:avLst/>
          </a:prstGeom>
          <a:noFill/>
        </p:spPr>
        <p:txBody>
          <a:bodyPr wrap="square" lIns="0" rIns="0" tIns="0" bIns="0" anchor="ctr">
            <a:spAutoFit/>
          </a:bodyPr>
          <a:lstStyle/>
          <a:p>
            <a:pPr algn="ctr">
              <a:spcAft>
                <a:spcPts val="0"/>
              </a:spcAft>
            </a:pPr>
            <a:r>
              <a:rPr sz="819" b="1" i="0">
                <a:solidFill>
                  <a:srgbClr val="263746"/>
                </a:solidFill>
                <a:latin typeface="Arial"/>
              </a:rPr>
              <a:t>TPM</a:t>
            </a:r>
          </a:p>
        </p:txBody>
      </p:sp>
      <p:sp>
        <p:nvSpPr>
          <p:cNvPr id="44" name="TextBox 43"/>
          <p:cNvSpPr txBox="1"/>
          <p:nvPr/>
        </p:nvSpPr>
        <p:spPr>
          <a:xfrm>
            <a:off x="2798064" y="3182112"/>
            <a:ext cx="1847088" cy="164592"/>
          </a:xfrm>
          <a:prstGeom prst="rect">
            <a:avLst/>
          </a:prstGeom>
          <a:noFill/>
        </p:spPr>
        <p:txBody>
          <a:bodyPr wrap="square" lIns="0" rIns="0" tIns="0" bIns="0" anchor="t">
            <a:spAutoFit/>
          </a:bodyPr>
          <a:lstStyle/>
          <a:p>
            <a:pPr algn="l">
              <a:spcAft>
                <a:spcPts val="0"/>
              </a:spcAft>
            </a:pPr>
            <a:r>
              <a:rPr sz="840" b="1" i="0">
                <a:solidFill>
                  <a:srgbClr val="59697A"/>
                </a:solidFill>
                <a:latin typeface="Arial"/>
              </a:rPr>
              <a:t>Scaling</a:t>
            </a:r>
          </a:p>
        </p:txBody>
      </p:sp>
      <p:sp>
        <p:nvSpPr>
          <p:cNvPr id="45" name="Rounded Rectangle 44"/>
          <p:cNvSpPr/>
          <p:nvPr/>
        </p:nvSpPr>
        <p:spPr>
          <a:xfrm>
            <a:off x="2798064" y="3383280"/>
            <a:ext cx="588263" cy="329184"/>
          </a:xfrm>
          <a:prstGeom prst="roundRect">
            <a:avLst/>
          </a:prstGeom>
          <a:solidFill>
            <a:srgbClr val="F7F9FA"/>
          </a:solidFill>
          <a:ln w="8255">
            <a:solidFill>
              <a:srgbClr val="C9D2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2852928" y="3433572"/>
            <a:ext cx="478535" cy="210312"/>
          </a:xfrm>
          <a:prstGeom prst="rect">
            <a:avLst/>
          </a:prstGeom>
          <a:noFill/>
        </p:spPr>
        <p:txBody>
          <a:bodyPr wrap="square" lIns="0" rIns="0" tIns="0" bIns="0" anchor="ctr">
            <a:spAutoFit/>
          </a:bodyPr>
          <a:lstStyle/>
          <a:p>
            <a:pPr algn="ctr">
              <a:spcAft>
                <a:spcPts val="0"/>
              </a:spcAft>
            </a:pPr>
            <a:r>
              <a:rPr sz="819" b="0" i="0">
                <a:solidFill>
                  <a:srgbClr val="59697A"/>
                </a:solidFill>
                <a:latin typeface="Arial"/>
              </a:rPr>
              <a:t>None</a:t>
            </a:r>
          </a:p>
        </p:txBody>
      </p:sp>
      <p:sp>
        <p:nvSpPr>
          <p:cNvPr id="47" name="Rounded Rectangle 46"/>
          <p:cNvSpPr/>
          <p:nvPr/>
        </p:nvSpPr>
        <p:spPr>
          <a:xfrm>
            <a:off x="3432048" y="3383280"/>
            <a:ext cx="588263" cy="329184"/>
          </a:xfrm>
          <a:prstGeom prst="roundRect">
            <a:avLst/>
          </a:prstGeom>
          <a:solidFill>
            <a:srgbClr val="F7F9FA"/>
          </a:solidFill>
          <a:ln w="8255">
            <a:solidFill>
              <a:srgbClr val="C9D2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3486912" y="3433572"/>
            <a:ext cx="478535" cy="210312"/>
          </a:xfrm>
          <a:prstGeom prst="rect">
            <a:avLst/>
          </a:prstGeom>
          <a:noFill/>
        </p:spPr>
        <p:txBody>
          <a:bodyPr wrap="square" lIns="0" rIns="0" tIns="0" bIns="0" anchor="ctr">
            <a:spAutoFit/>
          </a:bodyPr>
          <a:lstStyle/>
          <a:p>
            <a:pPr algn="ctr">
              <a:spcAft>
                <a:spcPts val="0"/>
              </a:spcAft>
            </a:pPr>
            <a:r>
              <a:rPr sz="819" b="0" i="0">
                <a:solidFill>
                  <a:srgbClr val="59697A"/>
                </a:solidFill>
                <a:latin typeface="Arial"/>
              </a:rPr>
              <a:t>Z-score</a:t>
            </a:r>
          </a:p>
        </p:txBody>
      </p:sp>
      <p:sp>
        <p:nvSpPr>
          <p:cNvPr id="49" name="Rounded Rectangle 48"/>
          <p:cNvSpPr/>
          <p:nvPr/>
        </p:nvSpPr>
        <p:spPr>
          <a:xfrm>
            <a:off x="4066031" y="3383280"/>
            <a:ext cx="588263" cy="329184"/>
          </a:xfrm>
          <a:prstGeom prst="roundRect">
            <a:avLst/>
          </a:prstGeom>
          <a:solidFill>
            <a:srgbClr val="FFFFFF"/>
          </a:solidFill>
          <a:ln w="2540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Oval 49"/>
          <p:cNvSpPr/>
          <p:nvPr/>
        </p:nvSpPr>
        <p:spPr>
          <a:xfrm>
            <a:off x="4116323" y="3522268"/>
            <a:ext cx="50292" cy="50292"/>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4203192" y="3433572"/>
            <a:ext cx="423671" cy="210312"/>
          </a:xfrm>
          <a:prstGeom prst="rect">
            <a:avLst/>
          </a:prstGeom>
          <a:noFill/>
        </p:spPr>
        <p:txBody>
          <a:bodyPr wrap="square" lIns="0" rIns="0" tIns="0" bIns="0" anchor="ctr">
            <a:spAutoFit/>
          </a:bodyPr>
          <a:lstStyle/>
          <a:p>
            <a:pPr algn="ctr">
              <a:spcAft>
                <a:spcPts val="0"/>
              </a:spcAft>
            </a:pPr>
            <a:r>
              <a:rPr sz="819" b="1" i="0">
                <a:solidFill>
                  <a:srgbClr val="263746"/>
                </a:solidFill>
                <a:latin typeface="Arial"/>
              </a:rPr>
              <a:t>MaxAbs</a:t>
            </a:r>
          </a:p>
        </p:txBody>
      </p:sp>
      <p:sp>
        <p:nvSpPr>
          <p:cNvPr id="52" name="TextBox 51"/>
          <p:cNvSpPr txBox="1"/>
          <p:nvPr/>
        </p:nvSpPr>
        <p:spPr>
          <a:xfrm>
            <a:off x="2798064" y="3877056"/>
            <a:ext cx="1847088" cy="164592"/>
          </a:xfrm>
          <a:prstGeom prst="rect">
            <a:avLst/>
          </a:prstGeom>
          <a:noFill/>
        </p:spPr>
        <p:txBody>
          <a:bodyPr wrap="square" lIns="0" rIns="0" tIns="0" bIns="0" anchor="t">
            <a:spAutoFit/>
          </a:bodyPr>
          <a:lstStyle/>
          <a:p>
            <a:pPr algn="l">
              <a:spcAft>
                <a:spcPts val="0"/>
              </a:spcAft>
            </a:pPr>
            <a:r>
              <a:rPr sz="840" b="1" i="0">
                <a:solidFill>
                  <a:srgbClr val="59697A"/>
                </a:solidFill>
                <a:latin typeface="Arial"/>
              </a:rPr>
              <a:t>Features</a:t>
            </a:r>
          </a:p>
        </p:txBody>
      </p:sp>
      <p:sp>
        <p:nvSpPr>
          <p:cNvPr id="53" name="Rounded Rectangle 52"/>
          <p:cNvSpPr/>
          <p:nvPr/>
        </p:nvSpPr>
        <p:spPr>
          <a:xfrm>
            <a:off x="2798064" y="4078224"/>
            <a:ext cx="588263" cy="329184"/>
          </a:xfrm>
          <a:prstGeom prst="roundRect">
            <a:avLst/>
          </a:prstGeom>
          <a:solidFill>
            <a:srgbClr val="F7F9FA"/>
          </a:solidFill>
          <a:ln w="8255">
            <a:solidFill>
              <a:srgbClr val="C9D2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2852928" y="4128515"/>
            <a:ext cx="478535" cy="210312"/>
          </a:xfrm>
          <a:prstGeom prst="rect">
            <a:avLst/>
          </a:prstGeom>
          <a:noFill/>
        </p:spPr>
        <p:txBody>
          <a:bodyPr wrap="square" lIns="0" rIns="0" tIns="0" bIns="0" anchor="ctr">
            <a:spAutoFit/>
          </a:bodyPr>
          <a:lstStyle/>
          <a:p>
            <a:pPr algn="ctr">
              <a:spcAft>
                <a:spcPts val="0"/>
              </a:spcAft>
            </a:pPr>
            <a:r>
              <a:rPr sz="819" b="0" i="0">
                <a:solidFill>
                  <a:srgbClr val="59697A"/>
                </a:solidFill>
                <a:latin typeface="Arial"/>
              </a:rPr>
              <a:t>All</a:t>
            </a:r>
          </a:p>
        </p:txBody>
      </p:sp>
      <p:sp>
        <p:nvSpPr>
          <p:cNvPr id="55" name="Rounded Rectangle 54"/>
          <p:cNvSpPr/>
          <p:nvPr/>
        </p:nvSpPr>
        <p:spPr>
          <a:xfrm>
            <a:off x="3432048" y="4078224"/>
            <a:ext cx="588263" cy="329184"/>
          </a:xfrm>
          <a:prstGeom prst="roundRect">
            <a:avLst/>
          </a:prstGeom>
          <a:solidFill>
            <a:srgbClr val="F7F9FA"/>
          </a:solidFill>
          <a:ln w="8255">
            <a:solidFill>
              <a:srgbClr val="C9D2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3486912" y="4128515"/>
            <a:ext cx="478535" cy="210312"/>
          </a:xfrm>
          <a:prstGeom prst="rect">
            <a:avLst/>
          </a:prstGeom>
          <a:noFill/>
        </p:spPr>
        <p:txBody>
          <a:bodyPr wrap="square" lIns="0" rIns="0" tIns="0" bIns="0" anchor="ctr">
            <a:spAutoFit/>
          </a:bodyPr>
          <a:lstStyle/>
          <a:p>
            <a:pPr algn="ctr">
              <a:spcAft>
                <a:spcPts val="0"/>
              </a:spcAft>
            </a:pPr>
            <a:r>
              <a:rPr sz="819" b="0" i="0">
                <a:solidFill>
                  <a:srgbClr val="59697A"/>
                </a:solidFill>
                <a:latin typeface="Arial"/>
              </a:rPr>
              <a:t>HVG</a:t>
            </a:r>
          </a:p>
        </p:txBody>
      </p:sp>
      <p:sp>
        <p:nvSpPr>
          <p:cNvPr id="57" name="Rounded Rectangle 56"/>
          <p:cNvSpPr/>
          <p:nvPr/>
        </p:nvSpPr>
        <p:spPr>
          <a:xfrm>
            <a:off x="4066031" y="4078224"/>
            <a:ext cx="588263" cy="329184"/>
          </a:xfrm>
          <a:prstGeom prst="roundRect">
            <a:avLst/>
          </a:prstGeom>
          <a:solidFill>
            <a:srgbClr val="FFFFFF"/>
          </a:solidFill>
          <a:ln w="2540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Oval 57"/>
          <p:cNvSpPr/>
          <p:nvPr/>
        </p:nvSpPr>
        <p:spPr>
          <a:xfrm>
            <a:off x="4116323" y="4217212"/>
            <a:ext cx="50292" cy="50292"/>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4203192" y="4128515"/>
            <a:ext cx="423671" cy="210312"/>
          </a:xfrm>
          <a:prstGeom prst="rect">
            <a:avLst/>
          </a:prstGeom>
          <a:noFill/>
        </p:spPr>
        <p:txBody>
          <a:bodyPr wrap="square" lIns="0" rIns="0" tIns="0" bIns="0" anchor="ctr">
            <a:spAutoFit/>
          </a:bodyPr>
          <a:lstStyle/>
          <a:p>
            <a:pPr algn="ctr">
              <a:spcAft>
                <a:spcPts val="0"/>
              </a:spcAft>
            </a:pPr>
            <a:r>
              <a:rPr sz="819" b="1" i="0">
                <a:solidFill>
                  <a:srgbClr val="263746"/>
                </a:solidFill>
                <a:latin typeface="Arial"/>
              </a:rPr>
              <a:t>L1000</a:t>
            </a:r>
          </a:p>
        </p:txBody>
      </p:sp>
      <p:sp>
        <p:nvSpPr>
          <p:cNvPr id="60" name="Rounded Rectangle 59"/>
          <p:cNvSpPr/>
          <p:nvPr/>
        </p:nvSpPr>
        <p:spPr>
          <a:xfrm>
            <a:off x="4983480" y="1828800"/>
            <a:ext cx="2148840" cy="3063240"/>
          </a:xfrm>
          <a:prstGeom prst="roundRect">
            <a:avLst/>
          </a:prstGeom>
          <a:solidFill>
            <a:srgbClr val="F0ECF6"/>
          </a:solidFill>
          <a:ln w="10160">
            <a:solidFill>
              <a:srgbClr val="DD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Oval 60"/>
          <p:cNvSpPr/>
          <p:nvPr/>
        </p:nvSpPr>
        <p:spPr>
          <a:xfrm>
            <a:off x="5129784" y="1993392"/>
            <a:ext cx="292608" cy="292608"/>
          </a:xfrm>
          <a:prstGeom prst="ellipse">
            <a:avLst/>
          </a:prstGeom>
          <a:solidFill>
            <a:srgbClr val="8063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5129784" y="2034540"/>
            <a:ext cx="292608" cy="182880"/>
          </a:xfrm>
          <a:prstGeom prst="rect">
            <a:avLst/>
          </a:prstGeom>
          <a:noFill/>
        </p:spPr>
        <p:txBody>
          <a:bodyPr wrap="square" lIns="0" rIns="0" tIns="0" bIns="0" anchor="t">
            <a:spAutoFit/>
          </a:bodyPr>
          <a:lstStyle/>
          <a:p>
            <a:pPr algn="ctr">
              <a:spcAft>
                <a:spcPts val="0"/>
              </a:spcAft>
            </a:pPr>
            <a:r>
              <a:rPr sz="1050" b="1" i="0">
                <a:solidFill>
                  <a:srgbClr val="FFFFFF"/>
                </a:solidFill>
                <a:latin typeface="Arial"/>
              </a:rPr>
              <a:t>3</a:t>
            </a:r>
          </a:p>
        </p:txBody>
      </p:sp>
      <p:sp>
        <p:nvSpPr>
          <p:cNvPr id="63" name="TextBox 62"/>
          <p:cNvSpPr txBox="1"/>
          <p:nvPr/>
        </p:nvSpPr>
        <p:spPr>
          <a:xfrm>
            <a:off x="5513832" y="2002536"/>
            <a:ext cx="1435608" cy="274320"/>
          </a:xfrm>
          <a:prstGeom prst="rect">
            <a:avLst/>
          </a:prstGeom>
          <a:noFill/>
        </p:spPr>
        <p:txBody>
          <a:bodyPr wrap="square" lIns="18288" rIns="18288" tIns="18288" bIns="18288" anchor="ctr">
            <a:spAutoFit/>
          </a:bodyPr>
          <a:lstStyle/>
          <a:p>
            <a:pPr algn="l">
              <a:spcAft>
                <a:spcPts val="0"/>
              </a:spcAft>
            </a:pPr>
            <a:r>
              <a:rPr sz="1400" b="1" i="0">
                <a:solidFill>
                  <a:srgbClr val="8063A6"/>
                </a:solidFill>
                <a:latin typeface="Arial"/>
              </a:rPr>
              <a:t>Harmonization</a:t>
            </a:r>
          </a:p>
        </p:txBody>
      </p:sp>
      <p:sp>
        <p:nvSpPr>
          <p:cNvPr id="64" name="Rectangle 63"/>
          <p:cNvSpPr/>
          <p:nvPr/>
        </p:nvSpPr>
        <p:spPr>
          <a:xfrm>
            <a:off x="5129784" y="2359152"/>
            <a:ext cx="1856231" cy="22860"/>
          </a:xfrm>
          <a:prstGeom prst="rect">
            <a:avLst/>
          </a:prstGeom>
          <a:solidFill>
            <a:srgbClr val="8063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5129784" y="2487168"/>
            <a:ext cx="1847088" cy="164592"/>
          </a:xfrm>
          <a:prstGeom prst="rect">
            <a:avLst/>
          </a:prstGeom>
          <a:noFill/>
        </p:spPr>
        <p:txBody>
          <a:bodyPr wrap="square" lIns="0" rIns="0" tIns="0" bIns="0" anchor="t">
            <a:spAutoFit/>
          </a:bodyPr>
          <a:lstStyle/>
          <a:p>
            <a:pPr algn="l">
              <a:spcAft>
                <a:spcPts val="0"/>
              </a:spcAft>
            </a:pPr>
            <a:r>
              <a:rPr sz="840" b="1" i="0">
                <a:solidFill>
                  <a:srgbClr val="59697A"/>
                </a:solidFill>
                <a:latin typeface="Arial"/>
              </a:rPr>
              <a:t>Global or study correction</a:t>
            </a:r>
          </a:p>
        </p:txBody>
      </p:sp>
      <p:sp>
        <p:nvSpPr>
          <p:cNvPr id="66" name="Rounded Rectangle 65"/>
          <p:cNvSpPr/>
          <p:nvPr/>
        </p:nvSpPr>
        <p:spPr>
          <a:xfrm>
            <a:off x="5129784" y="2688336"/>
            <a:ext cx="1856231" cy="329184"/>
          </a:xfrm>
          <a:prstGeom prst="roundRect">
            <a:avLst/>
          </a:prstGeom>
          <a:solidFill>
            <a:srgbClr val="FFFFFF"/>
          </a:solidFill>
          <a:ln w="25400">
            <a:solidFill>
              <a:srgbClr val="8063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Oval 66"/>
          <p:cNvSpPr/>
          <p:nvPr/>
        </p:nvSpPr>
        <p:spPr>
          <a:xfrm>
            <a:off x="5180076" y="2827324"/>
            <a:ext cx="50292" cy="50292"/>
          </a:xfrm>
          <a:prstGeom prst="ellipse">
            <a:avLst/>
          </a:prstGeom>
          <a:solidFill>
            <a:srgbClr val="8063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5266944" y="2738628"/>
            <a:ext cx="1691639" cy="210312"/>
          </a:xfrm>
          <a:prstGeom prst="rect">
            <a:avLst/>
          </a:prstGeom>
          <a:noFill/>
        </p:spPr>
        <p:txBody>
          <a:bodyPr wrap="square" lIns="0" rIns="0" tIns="0" bIns="0" anchor="ctr">
            <a:spAutoFit/>
          </a:bodyPr>
          <a:lstStyle/>
          <a:p>
            <a:pPr algn="ctr">
              <a:spcAft>
                <a:spcPts val="0"/>
              </a:spcAft>
            </a:pPr>
            <a:r>
              <a:rPr sz="919" b="1" i="0">
                <a:solidFill>
                  <a:srgbClr val="263746"/>
                </a:solidFill>
                <a:latin typeface="Arial"/>
              </a:rPr>
              <a:t>None</a:t>
            </a:r>
          </a:p>
        </p:txBody>
      </p:sp>
      <p:sp>
        <p:nvSpPr>
          <p:cNvPr id="69" name="Rounded Rectangle 68"/>
          <p:cNvSpPr/>
          <p:nvPr/>
        </p:nvSpPr>
        <p:spPr>
          <a:xfrm>
            <a:off x="5129784" y="3145536"/>
            <a:ext cx="1856231" cy="329184"/>
          </a:xfrm>
          <a:prstGeom prst="roundRect">
            <a:avLst/>
          </a:prstGeom>
          <a:solidFill>
            <a:srgbClr val="F7F9FA"/>
          </a:solidFill>
          <a:ln w="8255">
            <a:solidFill>
              <a:srgbClr val="C9D2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5184648" y="3195828"/>
            <a:ext cx="1746503" cy="210312"/>
          </a:xfrm>
          <a:prstGeom prst="rect">
            <a:avLst/>
          </a:prstGeom>
          <a:noFill/>
        </p:spPr>
        <p:txBody>
          <a:bodyPr wrap="square" lIns="0" rIns="0" tIns="0" bIns="0" anchor="ctr">
            <a:spAutoFit/>
          </a:bodyPr>
          <a:lstStyle/>
          <a:p>
            <a:pPr algn="ctr">
              <a:spcAft>
                <a:spcPts val="0"/>
              </a:spcAft>
            </a:pPr>
            <a:r>
              <a:rPr sz="919" b="0" i="0">
                <a:solidFill>
                  <a:srgbClr val="59697A"/>
                </a:solidFill>
                <a:latin typeface="Arial"/>
              </a:rPr>
              <a:t>Within-study z-score</a:t>
            </a:r>
          </a:p>
        </p:txBody>
      </p:sp>
      <p:sp>
        <p:nvSpPr>
          <p:cNvPr id="71" name="Rounded Rectangle 70"/>
          <p:cNvSpPr/>
          <p:nvPr/>
        </p:nvSpPr>
        <p:spPr>
          <a:xfrm>
            <a:off x="5129784" y="3602736"/>
            <a:ext cx="1856231" cy="329184"/>
          </a:xfrm>
          <a:prstGeom prst="roundRect">
            <a:avLst/>
          </a:prstGeom>
          <a:solidFill>
            <a:srgbClr val="F7F9FA"/>
          </a:solidFill>
          <a:ln w="8255">
            <a:solidFill>
              <a:srgbClr val="C9D2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5184648" y="3653028"/>
            <a:ext cx="1746503" cy="210312"/>
          </a:xfrm>
          <a:prstGeom prst="rect">
            <a:avLst/>
          </a:prstGeom>
          <a:noFill/>
        </p:spPr>
        <p:txBody>
          <a:bodyPr wrap="square" lIns="0" rIns="0" tIns="0" bIns="0" anchor="ctr">
            <a:spAutoFit/>
          </a:bodyPr>
          <a:lstStyle/>
          <a:p>
            <a:pPr algn="ctr">
              <a:spcAft>
                <a:spcPts val="0"/>
              </a:spcAft>
            </a:pPr>
            <a:r>
              <a:rPr sz="919" b="0" i="0">
                <a:solidFill>
                  <a:srgbClr val="59697A"/>
                </a:solidFill>
                <a:latin typeface="Arial"/>
              </a:rPr>
              <a:t>ComBat / MBatch</a:t>
            </a:r>
          </a:p>
        </p:txBody>
      </p:sp>
      <p:sp>
        <p:nvSpPr>
          <p:cNvPr id="73" name="Rounded Rectangle 72"/>
          <p:cNvSpPr/>
          <p:nvPr/>
        </p:nvSpPr>
        <p:spPr>
          <a:xfrm>
            <a:off x="5129784" y="4059935"/>
            <a:ext cx="1856231" cy="329184"/>
          </a:xfrm>
          <a:prstGeom prst="roundRect">
            <a:avLst/>
          </a:prstGeom>
          <a:solidFill>
            <a:srgbClr val="F7F9FA"/>
          </a:solidFill>
          <a:ln w="8255">
            <a:solidFill>
              <a:srgbClr val="C9D2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5184648" y="4110227"/>
            <a:ext cx="1746503" cy="210312"/>
          </a:xfrm>
          <a:prstGeom prst="rect">
            <a:avLst/>
          </a:prstGeom>
          <a:noFill/>
        </p:spPr>
        <p:txBody>
          <a:bodyPr wrap="square" lIns="0" rIns="0" tIns="0" bIns="0" anchor="ctr">
            <a:spAutoFit/>
          </a:bodyPr>
          <a:lstStyle/>
          <a:p>
            <a:pPr algn="ctr">
              <a:spcAft>
                <a:spcPts val="0"/>
              </a:spcAft>
            </a:pPr>
            <a:r>
              <a:rPr sz="919" b="0" i="0">
                <a:solidFill>
                  <a:srgbClr val="59697A"/>
                </a:solidFill>
                <a:latin typeface="Arial"/>
              </a:rPr>
              <a:t>MOBER</a:t>
            </a:r>
          </a:p>
        </p:txBody>
      </p:sp>
      <p:sp>
        <p:nvSpPr>
          <p:cNvPr id="75" name="Rounded Rectangle 74"/>
          <p:cNvSpPr/>
          <p:nvPr/>
        </p:nvSpPr>
        <p:spPr>
          <a:xfrm>
            <a:off x="7315200" y="1828800"/>
            <a:ext cx="2148840" cy="3063240"/>
          </a:xfrm>
          <a:prstGeom prst="roundRect">
            <a:avLst/>
          </a:prstGeom>
          <a:solidFill>
            <a:srgbClr val="F8F1E2"/>
          </a:solidFill>
          <a:ln w="10160">
            <a:solidFill>
              <a:srgbClr val="DD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Oval 75"/>
          <p:cNvSpPr/>
          <p:nvPr/>
        </p:nvSpPr>
        <p:spPr>
          <a:xfrm>
            <a:off x="7461504" y="1993392"/>
            <a:ext cx="292608" cy="292608"/>
          </a:xfrm>
          <a:prstGeom prst="ellipse">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TextBox 76"/>
          <p:cNvSpPr txBox="1"/>
          <p:nvPr/>
        </p:nvSpPr>
        <p:spPr>
          <a:xfrm>
            <a:off x="7461504" y="2034540"/>
            <a:ext cx="292608" cy="182880"/>
          </a:xfrm>
          <a:prstGeom prst="rect">
            <a:avLst/>
          </a:prstGeom>
          <a:noFill/>
        </p:spPr>
        <p:txBody>
          <a:bodyPr wrap="square" lIns="0" rIns="0" tIns="0" bIns="0" anchor="t">
            <a:spAutoFit/>
          </a:bodyPr>
          <a:lstStyle/>
          <a:p>
            <a:pPr algn="ctr">
              <a:spcAft>
                <a:spcPts val="0"/>
              </a:spcAft>
            </a:pPr>
            <a:r>
              <a:rPr sz="1050" b="1" i="0">
                <a:solidFill>
                  <a:srgbClr val="FFFFFF"/>
                </a:solidFill>
                <a:latin typeface="Arial"/>
              </a:rPr>
              <a:t>4</a:t>
            </a:r>
          </a:p>
        </p:txBody>
      </p:sp>
      <p:sp>
        <p:nvSpPr>
          <p:cNvPr id="78" name="TextBox 77"/>
          <p:cNvSpPr txBox="1"/>
          <p:nvPr/>
        </p:nvSpPr>
        <p:spPr>
          <a:xfrm>
            <a:off x="7845552" y="2002536"/>
            <a:ext cx="1435608" cy="274320"/>
          </a:xfrm>
          <a:prstGeom prst="rect">
            <a:avLst/>
          </a:prstGeom>
          <a:noFill/>
        </p:spPr>
        <p:txBody>
          <a:bodyPr wrap="square" lIns="18288" rIns="18288" tIns="18288" bIns="18288" anchor="ctr">
            <a:spAutoFit/>
          </a:bodyPr>
          <a:lstStyle/>
          <a:p>
            <a:pPr algn="l">
              <a:spcAft>
                <a:spcPts val="0"/>
              </a:spcAft>
            </a:pPr>
            <a:r>
              <a:rPr sz="1400" b="1" i="0">
                <a:solidFill>
                  <a:srgbClr val="D37B00"/>
                </a:solidFill>
                <a:latin typeface="Arial"/>
              </a:rPr>
              <a:t>Model training</a:t>
            </a:r>
          </a:p>
        </p:txBody>
      </p:sp>
      <p:sp>
        <p:nvSpPr>
          <p:cNvPr id="79" name="Rectangle 78"/>
          <p:cNvSpPr/>
          <p:nvPr/>
        </p:nvSpPr>
        <p:spPr>
          <a:xfrm>
            <a:off x="7461504" y="2359152"/>
            <a:ext cx="1856231" cy="22860"/>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7461504" y="2487168"/>
            <a:ext cx="1847088" cy="164592"/>
          </a:xfrm>
          <a:prstGeom prst="rect">
            <a:avLst/>
          </a:prstGeom>
          <a:noFill/>
        </p:spPr>
        <p:txBody>
          <a:bodyPr wrap="square" lIns="0" rIns="0" tIns="0" bIns="0" anchor="t">
            <a:spAutoFit/>
          </a:bodyPr>
          <a:lstStyle/>
          <a:p>
            <a:pPr algn="l">
              <a:spcAft>
                <a:spcPts val="0"/>
              </a:spcAft>
            </a:pPr>
            <a:r>
              <a:rPr sz="840" b="1" i="0">
                <a:solidFill>
                  <a:srgbClr val="59697A"/>
                </a:solidFill>
                <a:latin typeface="Arial"/>
              </a:rPr>
              <a:t>Generator</a:t>
            </a:r>
          </a:p>
        </p:txBody>
      </p:sp>
      <p:sp>
        <p:nvSpPr>
          <p:cNvPr id="81" name="Rounded Rectangle 80"/>
          <p:cNvSpPr/>
          <p:nvPr/>
        </p:nvSpPr>
        <p:spPr>
          <a:xfrm>
            <a:off x="7461504" y="2688336"/>
            <a:ext cx="905255" cy="329184"/>
          </a:xfrm>
          <a:prstGeom prst="roundRect">
            <a:avLst/>
          </a:prstGeom>
          <a:solidFill>
            <a:srgbClr val="F7F9FA"/>
          </a:solidFill>
          <a:ln w="8255">
            <a:solidFill>
              <a:srgbClr val="C9D2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7516368" y="2738628"/>
            <a:ext cx="795527" cy="210312"/>
          </a:xfrm>
          <a:prstGeom prst="rect">
            <a:avLst/>
          </a:prstGeom>
          <a:noFill/>
        </p:spPr>
        <p:txBody>
          <a:bodyPr wrap="square" lIns="0" rIns="0" tIns="0" bIns="0" anchor="ctr">
            <a:spAutoFit/>
          </a:bodyPr>
          <a:lstStyle/>
          <a:p>
            <a:pPr algn="ctr">
              <a:spcAft>
                <a:spcPts val="0"/>
              </a:spcAft>
            </a:pPr>
            <a:r>
              <a:rPr sz="880" b="0" i="0">
                <a:solidFill>
                  <a:srgbClr val="59697A"/>
                </a:solidFill>
                <a:latin typeface="Arial"/>
              </a:rPr>
              <a:t>WGAN-GP</a:t>
            </a:r>
          </a:p>
        </p:txBody>
      </p:sp>
      <p:sp>
        <p:nvSpPr>
          <p:cNvPr id="83" name="Rounded Rectangle 82"/>
          <p:cNvSpPr/>
          <p:nvPr/>
        </p:nvSpPr>
        <p:spPr>
          <a:xfrm>
            <a:off x="8412480" y="2688336"/>
            <a:ext cx="905255" cy="329184"/>
          </a:xfrm>
          <a:prstGeom prst="roundRect">
            <a:avLst/>
          </a:prstGeom>
          <a:solidFill>
            <a:srgbClr val="FFFFFF"/>
          </a:solidFill>
          <a:ln w="25400">
            <a:solidFill>
              <a:srgbClr val="D37B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Oval 83"/>
          <p:cNvSpPr/>
          <p:nvPr/>
        </p:nvSpPr>
        <p:spPr>
          <a:xfrm>
            <a:off x="8462772" y="2827324"/>
            <a:ext cx="50292" cy="50292"/>
          </a:xfrm>
          <a:prstGeom prst="ellipse">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TextBox 84"/>
          <p:cNvSpPr txBox="1"/>
          <p:nvPr/>
        </p:nvSpPr>
        <p:spPr>
          <a:xfrm>
            <a:off x="8549640" y="2738628"/>
            <a:ext cx="740663" cy="210312"/>
          </a:xfrm>
          <a:prstGeom prst="rect">
            <a:avLst/>
          </a:prstGeom>
          <a:noFill/>
        </p:spPr>
        <p:txBody>
          <a:bodyPr wrap="square" lIns="0" rIns="0" tIns="0" bIns="0" anchor="ctr">
            <a:spAutoFit/>
          </a:bodyPr>
          <a:lstStyle/>
          <a:p>
            <a:pPr algn="ctr">
              <a:spcAft>
                <a:spcPts val="0"/>
              </a:spcAft>
            </a:pPr>
            <a:r>
              <a:rPr sz="880" b="1" i="0">
                <a:solidFill>
                  <a:srgbClr val="263746"/>
                </a:solidFill>
                <a:latin typeface="Arial"/>
              </a:rPr>
              <a:t>DDIM</a:t>
            </a:r>
          </a:p>
        </p:txBody>
      </p:sp>
      <p:sp>
        <p:nvSpPr>
          <p:cNvPr id="86" name="TextBox 85"/>
          <p:cNvSpPr txBox="1"/>
          <p:nvPr/>
        </p:nvSpPr>
        <p:spPr>
          <a:xfrm>
            <a:off x="7461504" y="3182112"/>
            <a:ext cx="1847088" cy="164592"/>
          </a:xfrm>
          <a:prstGeom prst="rect">
            <a:avLst/>
          </a:prstGeom>
          <a:noFill/>
        </p:spPr>
        <p:txBody>
          <a:bodyPr wrap="square" lIns="0" rIns="0" tIns="0" bIns="0" anchor="t">
            <a:spAutoFit/>
          </a:bodyPr>
          <a:lstStyle/>
          <a:p>
            <a:pPr algn="l">
              <a:spcAft>
                <a:spcPts val="0"/>
              </a:spcAft>
            </a:pPr>
            <a:r>
              <a:rPr sz="840" b="1" i="0">
                <a:solidFill>
                  <a:srgbClr val="59697A"/>
                </a:solidFill>
                <a:latin typeface="Arial"/>
              </a:rPr>
              <a:t>Training source</a:t>
            </a:r>
          </a:p>
        </p:txBody>
      </p:sp>
      <p:sp>
        <p:nvSpPr>
          <p:cNvPr id="87" name="Rounded Rectangle 86"/>
          <p:cNvSpPr/>
          <p:nvPr/>
        </p:nvSpPr>
        <p:spPr>
          <a:xfrm>
            <a:off x="7461504" y="3383280"/>
            <a:ext cx="1856231" cy="329184"/>
          </a:xfrm>
          <a:prstGeom prst="roundRect">
            <a:avLst/>
          </a:prstGeom>
          <a:solidFill>
            <a:srgbClr val="F7F9FA"/>
          </a:solidFill>
          <a:ln w="8255">
            <a:solidFill>
              <a:srgbClr val="C9D2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TextBox 87"/>
          <p:cNvSpPr txBox="1"/>
          <p:nvPr/>
        </p:nvSpPr>
        <p:spPr>
          <a:xfrm>
            <a:off x="7516368" y="3433572"/>
            <a:ext cx="1746503" cy="210312"/>
          </a:xfrm>
          <a:prstGeom prst="rect">
            <a:avLst/>
          </a:prstGeom>
          <a:noFill/>
        </p:spPr>
        <p:txBody>
          <a:bodyPr wrap="square" lIns="0" rIns="0" tIns="0" bIns="0" anchor="ctr">
            <a:spAutoFit/>
          </a:bodyPr>
          <a:lstStyle/>
          <a:p>
            <a:pPr algn="ctr">
              <a:spcAft>
                <a:spcPts val="0"/>
              </a:spcAft>
            </a:pPr>
            <a:r>
              <a:rPr sz="919" b="0" i="0">
                <a:solidFill>
                  <a:srgbClr val="59697A"/>
                </a:solidFill>
                <a:latin typeface="Arial"/>
              </a:rPr>
              <a:t>OSDR only</a:t>
            </a:r>
          </a:p>
        </p:txBody>
      </p:sp>
      <p:sp>
        <p:nvSpPr>
          <p:cNvPr id="89" name="Rounded Rectangle 88"/>
          <p:cNvSpPr/>
          <p:nvPr/>
        </p:nvSpPr>
        <p:spPr>
          <a:xfrm>
            <a:off x="7461504" y="3840480"/>
            <a:ext cx="1856231" cy="329184"/>
          </a:xfrm>
          <a:prstGeom prst="roundRect">
            <a:avLst/>
          </a:prstGeom>
          <a:solidFill>
            <a:srgbClr val="F7F9FA"/>
          </a:solidFill>
          <a:ln w="8255">
            <a:solidFill>
              <a:srgbClr val="C9D2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TextBox 89"/>
          <p:cNvSpPr txBox="1"/>
          <p:nvPr/>
        </p:nvSpPr>
        <p:spPr>
          <a:xfrm>
            <a:off x="7516368" y="3890772"/>
            <a:ext cx="1746503" cy="210312"/>
          </a:xfrm>
          <a:prstGeom prst="rect">
            <a:avLst/>
          </a:prstGeom>
          <a:noFill/>
        </p:spPr>
        <p:txBody>
          <a:bodyPr wrap="square" lIns="0" rIns="0" tIns="0" bIns="0" anchor="ctr">
            <a:spAutoFit/>
          </a:bodyPr>
          <a:lstStyle/>
          <a:p>
            <a:pPr algn="ctr">
              <a:spcAft>
                <a:spcPts val="0"/>
              </a:spcAft>
            </a:pPr>
            <a:r>
              <a:rPr sz="919" b="0" i="0">
                <a:solidFill>
                  <a:srgbClr val="59697A"/>
                </a:solidFill>
                <a:latin typeface="Arial"/>
              </a:rPr>
              <a:t>ARCHS4 only</a:t>
            </a:r>
          </a:p>
        </p:txBody>
      </p:sp>
      <p:sp>
        <p:nvSpPr>
          <p:cNvPr id="91" name="Rounded Rectangle 90"/>
          <p:cNvSpPr/>
          <p:nvPr/>
        </p:nvSpPr>
        <p:spPr>
          <a:xfrm>
            <a:off x="7461504" y="4297680"/>
            <a:ext cx="1856231" cy="329184"/>
          </a:xfrm>
          <a:prstGeom prst="roundRect">
            <a:avLst/>
          </a:prstGeom>
          <a:solidFill>
            <a:srgbClr val="FFFFFF"/>
          </a:solidFill>
          <a:ln w="25400">
            <a:solidFill>
              <a:srgbClr val="D37B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Oval 91"/>
          <p:cNvSpPr/>
          <p:nvPr/>
        </p:nvSpPr>
        <p:spPr>
          <a:xfrm>
            <a:off x="7511796" y="4436668"/>
            <a:ext cx="50292" cy="50292"/>
          </a:xfrm>
          <a:prstGeom prst="ellipse">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TextBox 92"/>
          <p:cNvSpPr txBox="1"/>
          <p:nvPr/>
        </p:nvSpPr>
        <p:spPr>
          <a:xfrm>
            <a:off x="7598664" y="4347972"/>
            <a:ext cx="1691639" cy="210312"/>
          </a:xfrm>
          <a:prstGeom prst="rect">
            <a:avLst/>
          </a:prstGeom>
          <a:noFill/>
        </p:spPr>
        <p:txBody>
          <a:bodyPr wrap="square" lIns="0" rIns="0" tIns="0" bIns="0" anchor="ctr">
            <a:spAutoFit/>
          </a:bodyPr>
          <a:lstStyle/>
          <a:p>
            <a:pPr algn="ctr">
              <a:spcAft>
                <a:spcPts val="0"/>
              </a:spcAft>
            </a:pPr>
            <a:r>
              <a:rPr sz="919" b="1" i="0">
                <a:solidFill>
                  <a:srgbClr val="263746"/>
                </a:solidFill>
                <a:latin typeface="Arial"/>
              </a:rPr>
              <a:t>Pretrain + adapt</a:t>
            </a:r>
          </a:p>
        </p:txBody>
      </p:sp>
      <p:sp>
        <p:nvSpPr>
          <p:cNvPr id="94" name="Rounded Rectangle 93"/>
          <p:cNvSpPr/>
          <p:nvPr/>
        </p:nvSpPr>
        <p:spPr>
          <a:xfrm>
            <a:off x="9646920" y="1828800"/>
            <a:ext cx="2148840" cy="3063240"/>
          </a:xfrm>
          <a:prstGeom prst="roundRect">
            <a:avLst/>
          </a:prstGeom>
          <a:solidFill>
            <a:srgbClr val="ECF4ED"/>
          </a:solidFill>
          <a:ln w="10160">
            <a:solidFill>
              <a:srgbClr val="DD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Oval 94"/>
          <p:cNvSpPr/>
          <p:nvPr/>
        </p:nvSpPr>
        <p:spPr>
          <a:xfrm>
            <a:off x="9793224" y="1993392"/>
            <a:ext cx="292608" cy="292608"/>
          </a:xfrm>
          <a:prstGeom prst="ellipse">
            <a:avLst/>
          </a:prstGeom>
          <a:solidFill>
            <a:srgbClr val="478A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TextBox 95"/>
          <p:cNvSpPr txBox="1"/>
          <p:nvPr/>
        </p:nvSpPr>
        <p:spPr>
          <a:xfrm>
            <a:off x="9793224" y="2034540"/>
            <a:ext cx="292608" cy="182880"/>
          </a:xfrm>
          <a:prstGeom prst="rect">
            <a:avLst/>
          </a:prstGeom>
          <a:noFill/>
        </p:spPr>
        <p:txBody>
          <a:bodyPr wrap="square" lIns="0" rIns="0" tIns="0" bIns="0" anchor="t">
            <a:spAutoFit/>
          </a:bodyPr>
          <a:lstStyle/>
          <a:p>
            <a:pPr algn="ctr">
              <a:spcAft>
                <a:spcPts val="0"/>
              </a:spcAft>
            </a:pPr>
            <a:r>
              <a:rPr sz="1050" b="1" i="0">
                <a:solidFill>
                  <a:srgbClr val="FFFFFF"/>
                </a:solidFill>
                <a:latin typeface="Arial"/>
              </a:rPr>
              <a:t>5</a:t>
            </a:r>
          </a:p>
        </p:txBody>
      </p:sp>
      <p:sp>
        <p:nvSpPr>
          <p:cNvPr id="97" name="TextBox 96"/>
          <p:cNvSpPr txBox="1"/>
          <p:nvPr/>
        </p:nvSpPr>
        <p:spPr>
          <a:xfrm>
            <a:off x="10177272" y="2002536"/>
            <a:ext cx="1435608" cy="274320"/>
          </a:xfrm>
          <a:prstGeom prst="rect">
            <a:avLst/>
          </a:prstGeom>
          <a:noFill/>
        </p:spPr>
        <p:txBody>
          <a:bodyPr wrap="square" lIns="18288" rIns="18288" tIns="18288" bIns="18288" anchor="ctr">
            <a:spAutoFit/>
          </a:bodyPr>
          <a:lstStyle/>
          <a:p>
            <a:pPr algn="l">
              <a:spcAft>
                <a:spcPts val="0"/>
              </a:spcAft>
            </a:pPr>
            <a:r>
              <a:rPr sz="1400" b="1" i="0">
                <a:solidFill>
                  <a:srgbClr val="478A64"/>
                </a:solidFill>
                <a:latin typeface="Arial"/>
              </a:rPr>
              <a:t>Conditioning</a:t>
            </a:r>
          </a:p>
        </p:txBody>
      </p:sp>
      <p:sp>
        <p:nvSpPr>
          <p:cNvPr id="98" name="Rectangle 97"/>
          <p:cNvSpPr/>
          <p:nvPr/>
        </p:nvSpPr>
        <p:spPr>
          <a:xfrm>
            <a:off x="9793224" y="2359152"/>
            <a:ext cx="1856231" cy="22860"/>
          </a:xfrm>
          <a:prstGeom prst="rect">
            <a:avLst/>
          </a:prstGeom>
          <a:solidFill>
            <a:srgbClr val="478A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TextBox 98"/>
          <p:cNvSpPr txBox="1"/>
          <p:nvPr/>
        </p:nvSpPr>
        <p:spPr>
          <a:xfrm>
            <a:off x="9793224" y="2487168"/>
            <a:ext cx="1847088" cy="164592"/>
          </a:xfrm>
          <a:prstGeom prst="rect">
            <a:avLst/>
          </a:prstGeom>
          <a:noFill/>
        </p:spPr>
        <p:txBody>
          <a:bodyPr wrap="square" lIns="0" rIns="0" tIns="0" bIns="0" anchor="t">
            <a:spAutoFit/>
          </a:bodyPr>
          <a:lstStyle/>
          <a:p>
            <a:pPr algn="l">
              <a:spcAft>
                <a:spcPts val="0"/>
              </a:spcAft>
            </a:pPr>
            <a:r>
              <a:rPr sz="840" b="1" i="0">
                <a:solidFill>
                  <a:srgbClr val="59697A"/>
                </a:solidFill>
                <a:latin typeface="Arial"/>
              </a:rPr>
              <a:t>Model inputs</a:t>
            </a:r>
          </a:p>
        </p:txBody>
      </p:sp>
      <p:sp>
        <p:nvSpPr>
          <p:cNvPr id="100" name="Rounded Rectangle 99"/>
          <p:cNvSpPr/>
          <p:nvPr/>
        </p:nvSpPr>
        <p:spPr>
          <a:xfrm>
            <a:off x="9793224" y="2670048"/>
            <a:ext cx="1856231" cy="329184"/>
          </a:xfrm>
          <a:prstGeom prst="roundRect">
            <a:avLst/>
          </a:prstGeom>
          <a:solidFill>
            <a:srgbClr val="FFFFFF"/>
          </a:solidFill>
          <a:ln w="25400">
            <a:solidFill>
              <a:srgbClr val="478A6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Oval 100"/>
          <p:cNvSpPr/>
          <p:nvPr/>
        </p:nvSpPr>
        <p:spPr>
          <a:xfrm>
            <a:off x="9843516" y="2809036"/>
            <a:ext cx="50292" cy="50292"/>
          </a:xfrm>
          <a:prstGeom prst="ellipse">
            <a:avLst/>
          </a:prstGeom>
          <a:solidFill>
            <a:srgbClr val="478A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TextBox 101"/>
          <p:cNvSpPr txBox="1"/>
          <p:nvPr/>
        </p:nvSpPr>
        <p:spPr>
          <a:xfrm>
            <a:off x="9930384" y="2720340"/>
            <a:ext cx="1691639" cy="210312"/>
          </a:xfrm>
          <a:prstGeom prst="rect">
            <a:avLst/>
          </a:prstGeom>
          <a:noFill/>
        </p:spPr>
        <p:txBody>
          <a:bodyPr wrap="square" lIns="0" rIns="0" tIns="0" bIns="0" anchor="ctr">
            <a:spAutoFit/>
          </a:bodyPr>
          <a:lstStyle/>
          <a:p>
            <a:pPr algn="ctr">
              <a:spcAft>
                <a:spcPts val="0"/>
              </a:spcAft>
            </a:pPr>
            <a:r>
              <a:rPr sz="890" b="1" i="0">
                <a:solidFill>
                  <a:srgbClr val="263746"/>
                </a:solidFill>
                <a:latin typeface="Arial"/>
              </a:rPr>
              <a:t>Tissue</a:t>
            </a:r>
          </a:p>
        </p:txBody>
      </p:sp>
      <p:sp>
        <p:nvSpPr>
          <p:cNvPr id="103" name="Rounded Rectangle 102"/>
          <p:cNvSpPr/>
          <p:nvPr/>
        </p:nvSpPr>
        <p:spPr>
          <a:xfrm>
            <a:off x="9793224" y="3054096"/>
            <a:ext cx="1856231" cy="329184"/>
          </a:xfrm>
          <a:prstGeom prst="roundRect">
            <a:avLst/>
          </a:prstGeom>
          <a:solidFill>
            <a:srgbClr val="FFFFFF"/>
          </a:solidFill>
          <a:ln w="25400">
            <a:solidFill>
              <a:srgbClr val="478A6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Oval 103"/>
          <p:cNvSpPr/>
          <p:nvPr/>
        </p:nvSpPr>
        <p:spPr>
          <a:xfrm>
            <a:off x="9843516" y="3193084"/>
            <a:ext cx="50292" cy="50292"/>
          </a:xfrm>
          <a:prstGeom prst="ellipse">
            <a:avLst/>
          </a:prstGeom>
          <a:solidFill>
            <a:srgbClr val="478A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TextBox 104"/>
          <p:cNvSpPr txBox="1"/>
          <p:nvPr/>
        </p:nvSpPr>
        <p:spPr>
          <a:xfrm>
            <a:off x="9930384" y="3104388"/>
            <a:ext cx="1691639" cy="210312"/>
          </a:xfrm>
          <a:prstGeom prst="rect">
            <a:avLst/>
          </a:prstGeom>
          <a:noFill/>
        </p:spPr>
        <p:txBody>
          <a:bodyPr wrap="square" lIns="0" rIns="0" tIns="0" bIns="0" anchor="ctr">
            <a:spAutoFit/>
          </a:bodyPr>
          <a:lstStyle/>
          <a:p>
            <a:pPr algn="ctr">
              <a:spcAft>
                <a:spcPts val="0"/>
              </a:spcAft>
            </a:pPr>
            <a:r>
              <a:rPr sz="890" b="1" i="0">
                <a:solidFill>
                  <a:srgbClr val="263746"/>
                </a:solidFill>
                <a:latin typeface="Arial"/>
              </a:rPr>
              <a:t>FLT / GC</a:t>
            </a:r>
          </a:p>
        </p:txBody>
      </p:sp>
      <p:sp>
        <p:nvSpPr>
          <p:cNvPr id="106" name="Rounded Rectangle 105"/>
          <p:cNvSpPr/>
          <p:nvPr/>
        </p:nvSpPr>
        <p:spPr>
          <a:xfrm>
            <a:off x="9793224" y="3438144"/>
            <a:ext cx="1856231" cy="329184"/>
          </a:xfrm>
          <a:prstGeom prst="roundRect">
            <a:avLst/>
          </a:prstGeom>
          <a:solidFill>
            <a:srgbClr val="FFFFFF"/>
          </a:solidFill>
          <a:ln w="25400">
            <a:solidFill>
              <a:srgbClr val="478A6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Oval 106"/>
          <p:cNvSpPr/>
          <p:nvPr/>
        </p:nvSpPr>
        <p:spPr>
          <a:xfrm>
            <a:off x="9843516" y="3577132"/>
            <a:ext cx="50292" cy="50292"/>
          </a:xfrm>
          <a:prstGeom prst="ellipse">
            <a:avLst/>
          </a:prstGeom>
          <a:solidFill>
            <a:srgbClr val="478A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TextBox 107"/>
          <p:cNvSpPr txBox="1"/>
          <p:nvPr/>
        </p:nvSpPr>
        <p:spPr>
          <a:xfrm>
            <a:off x="9930384" y="3488436"/>
            <a:ext cx="1691639" cy="210312"/>
          </a:xfrm>
          <a:prstGeom prst="rect">
            <a:avLst/>
          </a:prstGeom>
          <a:noFill/>
        </p:spPr>
        <p:txBody>
          <a:bodyPr wrap="square" lIns="0" rIns="0" tIns="0" bIns="0" anchor="ctr">
            <a:spAutoFit/>
          </a:bodyPr>
          <a:lstStyle/>
          <a:p>
            <a:pPr algn="ctr">
              <a:spcAft>
                <a:spcPts val="0"/>
              </a:spcAft>
            </a:pPr>
            <a:r>
              <a:rPr sz="890" b="1" i="0">
                <a:solidFill>
                  <a:srgbClr val="263746"/>
                </a:solidFill>
                <a:latin typeface="Arial"/>
              </a:rPr>
              <a:t>Accession</a:t>
            </a:r>
          </a:p>
        </p:txBody>
      </p:sp>
      <p:sp>
        <p:nvSpPr>
          <p:cNvPr id="109" name="Rounded Rectangle 108"/>
          <p:cNvSpPr/>
          <p:nvPr/>
        </p:nvSpPr>
        <p:spPr>
          <a:xfrm>
            <a:off x="9793224" y="3822191"/>
            <a:ext cx="1856231" cy="329184"/>
          </a:xfrm>
          <a:prstGeom prst="roundRect">
            <a:avLst/>
          </a:prstGeom>
          <a:solidFill>
            <a:srgbClr val="FFFFFF"/>
          </a:solidFill>
          <a:ln w="25400">
            <a:solidFill>
              <a:srgbClr val="478A6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Oval 109"/>
          <p:cNvSpPr/>
          <p:nvPr/>
        </p:nvSpPr>
        <p:spPr>
          <a:xfrm>
            <a:off x="9843516" y="3961180"/>
            <a:ext cx="50292" cy="50292"/>
          </a:xfrm>
          <a:prstGeom prst="ellipse">
            <a:avLst/>
          </a:prstGeom>
          <a:solidFill>
            <a:srgbClr val="478A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TextBox 110"/>
          <p:cNvSpPr txBox="1"/>
          <p:nvPr/>
        </p:nvSpPr>
        <p:spPr>
          <a:xfrm>
            <a:off x="9930384" y="3872483"/>
            <a:ext cx="1691639" cy="210312"/>
          </a:xfrm>
          <a:prstGeom prst="rect">
            <a:avLst/>
          </a:prstGeom>
          <a:noFill/>
        </p:spPr>
        <p:txBody>
          <a:bodyPr wrap="square" lIns="0" rIns="0" tIns="0" bIns="0" anchor="ctr">
            <a:spAutoFit/>
          </a:bodyPr>
          <a:lstStyle/>
          <a:p>
            <a:pPr algn="ctr">
              <a:spcAft>
                <a:spcPts val="0"/>
              </a:spcAft>
            </a:pPr>
            <a:r>
              <a:rPr sz="890" b="1" i="0">
                <a:solidFill>
                  <a:srgbClr val="263746"/>
                </a:solidFill>
                <a:latin typeface="Arial"/>
              </a:rPr>
              <a:t>Material type</a:t>
            </a:r>
          </a:p>
        </p:txBody>
      </p:sp>
      <p:sp>
        <p:nvSpPr>
          <p:cNvPr id="112" name="Rounded Rectangle 111"/>
          <p:cNvSpPr/>
          <p:nvPr/>
        </p:nvSpPr>
        <p:spPr>
          <a:xfrm>
            <a:off x="9793224" y="4206240"/>
            <a:ext cx="1856231" cy="329184"/>
          </a:xfrm>
          <a:prstGeom prst="roundRect">
            <a:avLst/>
          </a:prstGeom>
          <a:solidFill>
            <a:srgbClr val="F7F9FA"/>
          </a:solidFill>
          <a:ln w="8255">
            <a:solidFill>
              <a:srgbClr val="C9D2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TextBox 112"/>
          <p:cNvSpPr txBox="1"/>
          <p:nvPr/>
        </p:nvSpPr>
        <p:spPr>
          <a:xfrm>
            <a:off x="9848088" y="4256531"/>
            <a:ext cx="1746503" cy="210312"/>
          </a:xfrm>
          <a:prstGeom prst="rect">
            <a:avLst/>
          </a:prstGeom>
          <a:noFill/>
        </p:spPr>
        <p:txBody>
          <a:bodyPr wrap="square" lIns="0" rIns="0" tIns="0" bIns="0" anchor="ctr">
            <a:spAutoFit/>
          </a:bodyPr>
          <a:lstStyle/>
          <a:p>
            <a:pPr algn="ctr">
              <a:spcAft>
                <a:spcPts val="0"/>
              </a:spcAft>
            </a:pPr>
            <a:r>
              <a:rPr sz="890" b="0" i="0">
                <a:solidFill>
                  <a:srgbClr val="59697A"/>
                </a:solidFill>
                <a:latin typeface="Arial"/>
              </a:rPr>
              <a:t>Sex / age</a:t>
            </a:r>
          </a:p>
        </p:txBody>
      </p:sp>
      <p:sp>
        <p:nvSpPr>
          <p:cNvPr id="114" name="Rounded Rectangle 113"/>
          <p:cNvSpPr/>
          <p:nvPr/>
        </p:nvSpPr>
        <p:spPr>
          <a:xfrm>
            <a:off x="320040" y="5120640"/>
            <a:ext cx="11475720" cy="1097280"/>
          </a:xfrm>
          <a:prstGeom prst="roundRect">
            <a:avLst/>
          </a:prstGeom>
          <a:solidFill>
            <a:srgbClr val="F7F9FA"/>
          </a:solidFill>
          <a:ln w="10160">
            <a:solidFill>
              <a:srgbClr val="DD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TextBox 114"/>
          <p:cNvSpPr txBox="1"/>
          <p:nvPr/>
        </p:nvSpPr>
        <p:spPr>
          <a:xfrm>
            <a:off x="585216" y="5321808"/>
            <a:ext cx="1298448" cy="228600"/>
          </a:xfrm>
          <a:prstGeom prst="rect">
            <a:avLst/>
          </a:prstGeom>
          <a:noFill/>
        </p:spPr>
        <p:txBody>
          <a:bodyPr wrap="square" lIns="18288" rIns="18288" tIns="18288" bIns="18288" anchor="t">
            <a:spAutoFit/>
          </a:bodyPr>
          <a:lstStyle/>
          <a:p>
            <a:pPr algn="l">
              <a:spcAft>
                <a:spcPts val="0"/>
              </a:spcAft>
            </a:pPr>
            <a:r>
              <a:rPr sz="1080" b="1" i="0">
                <a:solidFill>
                  <a:srgbClr val="9A6B20"/>
                </a:solidFill>
                <a:latin typeface="Arial"/>
              </a:rPr>
              <a:t>Selected branch</a:t>
            </a:r>
          </a:p>
        </p:txBody>
      </p:sp>
      <p:sp>
        <p:nvSpPr>
          <p:cNvPr id="116" name="TextBox 115"/>
          <p:cNvSpPr txBox="1"/>
          <p:nvPr/>
        </p:nvSpPr>
        <p:spPr>
          <a:xfrm>
            <a:off x="585216" y="5669280"/>
            <a:ext cx="1234440" cy="256032"/>
          </a:xfrm>
          <a:prstGeom prst="rect">
            <a:avLst/>
          </a:prstGeom>
          <a:noFill/>
        </p:spPr>
        <p:txBody>
          <a:bodyPr wrap="square" lIns="18288" rIns="18288" tIns="18288" bIns="18288" anchor="t">
            <a:spAutoFit/>
          </a:bodyPr>
          <a:lstStyle/>
          <a:p>
            <a:pPr algn="l">
              <a:spcAft>
                <a:spcPts val="0"/>
              </a:spcAft>
            </a:pPr>
            <a:r>
              <a:rPr sz="1050" b="0" i="0">
                <a:solidFill>
                  <a:srgbClr val="59697A"/>
                </a:solidFill>
                <a:latin typeface="Arial"/>
              </a:rPr>
              <a:t>No global correction</a:t>
            </a:r>
          </a:p>
        </p:txBody>
      </p:sp>
      <p:sp>
        <p:nvSpPr>
          <p:cNvPr id="117" name="Rounded Rectangle 116"/>
          <p:cNvSpPr/>
          <p:nvPr/>
        </p:nvSpPr>
        <p:spPr>
          <a:xfrm>
            <a:off x="1938528" y="5303520"/>
            <a:ext cx="1591056" cy="329184"/>
          </a:xfrm>
          <a:prstGeom prst="roundRect">
            <a:avLst/>
          </a:prstGeom>
          <a:solidFill>
            <a:srgbClr val="FFFFFF"/>
          </a:solidFill>
          <a:ln w="2540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Oval 117"/>
          <p:cNvSpPr/>
          <p:nvPr/>
        </p:nvSpPr>
        <p:spPr>
          <a:xfrm>
            <a:off x="1988820" y="5442508"/>
            <a:ext cx="50292" cy="50292"/>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TextBox 118"/>
          <p:cNvSpPr txBox="1"/>
          <p:nvPr/>
        </p:nvSpPr>
        <p:spPr>
          <a:xfrm>
            <a:off x="2075688" y="5353812"/>
            <a:ext cx="1426464" cy="210312"/>
          </a:xfrm>
          <a:prstGeom prst="rect">
            <a:avLst/>
          </a:prstGeom>
          <a:noFill/>
        </p:spPr>
        <p:txBody>
          <a:bodyPr wrap="square" lIns="0" rIns="0" tIns="0" bIns="0" anchor="ctr">
            <a:spAutoFit/>
          </a:bodyPr>
          <a:lstStyle/>
          <a:p>
            <a:pPr algn="ctr">
              <a:spcAft>
                <a:spcPts val="0"/>
              </a:spcAft>
            </a:pPr>
            <a:r>
              <a:rPr sz="930" b="1" i="0">
                <a:solidFill>
                  <a:srgbClr val="263746"/>
                </a:solidFill>
                <a:latin typeface="Arial"/>
              </a:rPr>
              <a:t>ARCHS4 pretrain</a:t>
            </a:r>
          </a:p>
        </p:txBody>
      </p:sp>
      <p:sp>
        <p:nvSpPr>
          <p:cNvPr id="120" name="Right Arrow 119"/>
          <p:cNvSpPr/>
          <p:nvPr/>
        </p:nvSpPr>
        <p:spPr>
          <a:xfrm>
            <a:off x="3584448" y="5367528"/>
            <a:ext cx="210312" cy="182880"/>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Rounded Rectangle 120"/>
          <p:cNvSpPr/>
          <p:nvPr/>
        </p:nvSpPr>
        <p:spPr>
          <a:xfrm>
            <a:off x="3858768" y="5303520"/>
            <a:ext cx="1591056" cy="329184"/>
          </a:xfrm>
          <a:prstGeom prst="roundRect">
            <a:avLst/>
          </a:prstGeom>
          <a:solidFill>
            <a:srgbClr val="FFFFFF"/>
          </a:solidFill>
          <a:ln w="25400">
            <a:solidFill>
              <a:srgbClr val="2D64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Oval 121"/>
          <p:cNvSpPr/>
          <p:nvPr/>
        </p:nvSpPr>
        <p:spPr>
          <a:xfrm>
            <a:off x="3909059" y="5442508"/>
            <a:ext cx="50292" cy="50292"/>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TextBox 122"/>
          <p:cNvSpPr txBox="1"/>
          <p:nvPr/>
        </p:nvSpPr>
        <p:spPr>
          <a:xfrm>
            <a:off x="3995928" y="5353812"/>
            <a:ext cx="1426464" cy="210312"/>
          </a:xfrm>
          <a:prstGeom prst="rect">
            <a:avLst/>
          </a:prstGeom>
          <a:noFill/>
        </p:spPr>
        <p:txBody>
          <a:bodyPr wrap="square" lIns="0" rIns="0" tIns="0" bIns="0" anchor="ctr">
            <a:spAutoFit/>
          </a:bodyPr>
          <a:lstStyle/>
          <a:p>
            <a:pPr algn="ctr">
              <a:spcAft>
                <a:spcPts val="0"/>
              </a:spcAft>
            </a:pPr>
            <a:r>
              <a:rPr sz="930" b="1" i="0">
                <a:solidFill>
                  <a:srgbClr val="263746"/>
                </a:solidFill>
                <a:latin typeface="Arial"/>
              </a:rPr>
              <a:t>OSDR adaptation</a:t>
            </a:r>
          </a:p>
        </p:txBody>
      </p:sp>
      <p:sp>
        <p:nvSpPr>
          <p:cNvPr id="124" name="Right Arrow 123"/>
          <p:cNvSpPr/>
          <p:nvPr/>
        </p:nvSpPr>
        <p:spPr>
          <a:xfrm>
            <a:off x="5504688" y="5367528"/>
            <a:ext cx="210312" cy="182880"/>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Rounded Rectangle 124"/>
          <p:cNvSpPr/>
          <p:nvPr/>
        </p:nvSpPr>
        <p:spPr>
          <a:xfrm>
            <a:off x="5779008" y="5303520"/>
            <a:ext cx="1591056" cy="329184"/>
          </a:xfrm>
          <a:prstGeom prst="roundRect">
            <a:avLst/>
          </a:prstGeom>
          <a:solidFill>
            <a:srgbClr val="FFFFFF"/>
          </a:solidFill>
          <a:ln w="25400">
            <a:solidFill>
              <a:srgbClr val="D37B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Oval 125"/>
          <p:cNvSpPr/>
          <p:nvPr/>
        </p:nvSpPr>
        <p:spPr>
          <a:xfrm>
            <a:off x="5829300" y="5442508"/>
            <a:ext cx="50292" cy="50292"/>
          </a:xfrm>
          <a:prstGeom prst="ellipse">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TextBox 126"/>
          <p:cNvSpPr txBox="1"/>
          <p:nvPr/>
        </p:nvSpPr>
        <p:spPr>
          <a:xfrm>
            <a:off x="5916168" y="5353812"/>
            <a:ext cx="1426464" cy="210312"/>
          </a:xfrm>
          <a:prstGeom prst="rect">
            <a:avLst/>
          </a:prstGeom>
          <a:noFill/>
        </p:spPr>
        <p:txBody>
          <a:bodyPr wrap="square" lIns="0" rIns="0" tIns="0" bIns="0" anchor="ctr">
            <a:spAutoFit/>
          </a:bodyPr>
          <a:lstStyle/>
          <a:p>
            <a:pPr algn="ctr">
              <a:spcAft>
                <a:spcPts val="0"/>
              </a:spcAft>
            </a:pPr>
            <a:r>
              <a:rPr sz="930" b="1" i="0">
                <a:solidFill>
                  <a:srgbClr val="263746"/>
                </a:solidFill>
                <a:latin typeface="Arial"/>
              </a:rPr>
              <a:t>Conditional DDIM</a:t>
            </a:r>
          </a:p>
        </p:txBody>
      </p:sp>
      <p:sp>
        <p:nvSpPr>
          <p:cNvPr id="128" name="TextBox 127"/>
          <p:cNvSpPr txBox="1"/>
          <p:nvPr/>
        </p:nvSpPr>
        <p:spPr>
          <a:xfrm>
            <a:off x="7699248" y="5276088"/>
            <a:ext cx="3675887" cy="246888"/>
          </a:xfrm>
          <a:prstGeom prst="rect">
            <a:avLst/>
          </a:prstGeom>
          <a:noFill/>
        </p:spPr>
        <p:txBody>
          <a:bodyPr wrap="square" lIns="18288" rIns="18288" tIns="18288" bIns="18288" anchor="t">
            <a:spAutoFit/>
          </a:bodyPr>
          <a:lstStyle/>
          <a:p>
            <a:pPr algn="l">
              <a:spcAft>
                <a:spcPts val="0"/>
              </a:spcAft>
            </a:pPr>
            <a:r>
              <a:rPr sz="1170" b="1" i="0">
                <a:solidFill>
                  <a:srgbClr val="082B55"/>
                </a:solidFill>
                <a:latin typeface="Arial"/>
              </a:rPr>
              <a:t>TPM | MaxAbs | 974 landmarks</a:t>
            </a:r>
          </a:p>
        </p:txBody>
      </p:sp>
      <p:sp>
        <p:nvSpPr>
          <p:cNvPr id="129" name="TextBox 128"/>
          <p:cNvSpPr txBox="1"/>
          <p:nvPr/>
        </p:nvSpPr>
        <p:spPr>
          <a:xfrm>
            <a:off x="7699248" y="5614416"/>
            <a:ext cx="3675887" cy="246888"/>
          </a:xfrm>
          <a:prstGeom prst="rect">
            <a:avLst/>
          </a:prstGeom>
          <a:noFill/>
        </p:spPr>
        <p:txBody>
          <a:bodyPr wrap="square" lIns="18288" rIns="18288" tIns="18288" bIns="18288" anchor="t">
            <a:spAutoFit/>
          </a:bodyPr>
          <a:lstStyle/>
          <a:p>
            <a:pPr algn="l">
              <a:spcAft>
                <a:spcPts val="0"/>
              </a:spcAft>
            </a:pPr>
            <a:r>
              <a:rPr sz="1080" b="0" i="0">
                <a:solidFill>
                  <a:srgbClr val="263746"/>
                </a:solidFill>
                <a:latin typeface="Arial"/>
              </a:rPr>
              <a:t>Tissue | FLT / GC | Accession | Material type</a:t>
            </a:r>
          </a:p>
        </p:txBody>
      </p:sp>
      <p:sp>
        <p:nvSpPr>
          <p:cNvPr id="130" name="TextBox 129"/>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Screen: 463 planned configurations and nine matched liver harmonization arms. Models: Vinas et al. (2022); Lacan et al. (2026).</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VALIDATION</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DDIM matched expression and reduced separability</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AA closer to 0.5 means a classifier has less success separating real and generated profiles; lower FD is better.</a:t>
            </a:r>
          </a:p>
        </p:txBody>
      </p:sp>
      <p:sp>
        <p:nvSpPr>
          <p:cNvPr id="7" name="Rounded Rectangle 6"/>
          <p:cNvSpPr/>
          <p:nvPr/>
        </p:nvSpPr>
        <p:spPr>
          <a:xfrm>
            <a:off x="347472" y="1847088"/>
            <a:ext cx="3703320" cy="3401568"/>
          </a:xfrm>
          <a:prstGeom prst="roundRect">
            <a:avLst/>
          </a:prstGeom>
          <a:solidFill>
            <a:srgbClr val="E9F1F7"/>
          </a:solidFill>
          <a:ln w="10160">
            <a:solidFill>
              <a:srgbClr val="C9DC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12648" y="2103120"/>
            <a:ext cx="3154680" cy="320040"/>
          </a:xfrm>
          <a:prstGeom prst="rect">
            <a:avLst/>
          </a:prstGeom>
          <a:noFill/>
        </p:spPr>
        <p:txBody>
          <a:bodyPr wrap="square" lIns="18288" rIns="18288" tIns="18288" bIns="18288" anchor="t">
            <a:spAutoFit/>
          </a:bodyPr>
          <a:lstStyle/>
          <a:p>
            <a:pPr algn="l">
              <a:spcAft>
                <a:spcPts val="0"/>
              </a:spcAft>
            </a:pPr>
            <a:r>
              <a:rPr sz="1700" b="1" i="0">
                <a:solidFill>
                  <a:srgbClr val="2D6496"/>
                </a:solidFill>
                <a:latin typeface="Arial"/>
              </a:rPr>
              <a:t>ARCHS4 tissue probe</a:t>
            </a:r>
          </a:p>
        </p:txBody>
      </p:sp>
      <p:sp>
        <p:nvSpPr>
          <p:cNvPr id="9" name="TextBox 8"/>
          <p:cNvSpPr txBox="1"/>
          <p:nvPr/>
        </p:nvSpPr>
        <p:spPr>
          <a:xfrm>
            <a:off x="621792" y="2487168"/>
            <a:ext cx="3063240" cy="274320"/>
          </a:xfrm>
          <a:prstGeom prst="rect">
            <a:avLst/>
          </a:prstGeom>
          <a:noFill/>
        </p:spPr>
        <p:txBody>
          <a:bodyPr wrap="square" lIns="18288" rIns="18288" tIns="18288" bIns="18288" anchor="t">
            <a:spAutoFit/>
          </a:bodyPr>
          <a:lstStyle/>
          <a:p>
            <a:pPr algn="l">
              <a:spcAft>
                <a:spcPts val="0"/>
              </a:spcAft>
            </a:pPr>
            <a:r>
              <a:rPr sz="1250" b="0" i="0">
                <a:solidFill>
                  <a:srgbClr val="59697A"/>
                </a:solidFill>
                <a:latin typeface="Arial"/>
              </a:rPr>
              <a:t>Balanced accuracy on held-out real profiles</a:t>
            </a:r>
          </a:p>
        </p:txBody>
      </p:sp>
      <p:sp>
        <p:nvSpPr>
          <p:cNvPr id="10" name="Rectangle 9"/>
          <p:cNvSpPr/>
          <p:nvPr/>
        </p:nvSpPr>
        <p:spPr>
          <a:xfrm>
            <a:off x="950976" y="3436845"/>
            <a:ext cx="786384" cy="1299746"/>
          </a:xfrm>
          <a:prstGeom prst="rect">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23544" y="3107661"/>
            <a:ext cx="868680" cy="274320"/>
          </a:xfrm>
          <a:prstGeom prst="rect">
            <a:avLst/>
          </a:prstGeom>
          <a:noFill/>
        </p:spPr>
        <p:txBody>
          <a:bodyPr wrap="square" lIns="18288" rIns="18288" tIns="18288" bIns="18288" anchor="t">
            <a:spAutoFit/>
          </a:bodyPr>
          <a:lstStyle/>
          <a:p>
            <a:pPr algn="ctr">
              <a:spcAft>
                <a:spcPts val="0"/>
              </a:spcAft>
            </a:pPr>
            <a:r>
              <a:rPr sz="1600" b="1" i="0">
                <a:solidFill>
                  <a:srgbClr val="082B55"/>
                </a:solidFill>
                <a:latin typeface="Arial"/>
              </a:rPr>
              <a:t>0.781</a:t>
            </a:r>
          </a:p>
        </p:txBody>
      </p:sp>
      <p:sp>
        <p:nvSpPr>
          <p:cNvPr id="12" name="TextBox 11"/>
          <p:cNvSpPr txBox="1"/>
          <p:nvPr/>
        </p:nvSpPr>
        <p:spPr>
          <a:xfrm>
            <a:off x="676656" y="4809744"/>
            <a:ext cx="1325880" cy="365760"/>
          </a:xfrm>
          <a:prstGeom prst="rect">
            <a:avLst/>
          </a:prstGeom>
          <a:noFill/>
        </p:spPr>
        <p:txBody>
          <a:bodyPr wrap="square" lIns="18288" rIns="18288" tIns="18288" bIns="18288" anchor="t">
            <a:spAutoFit/>
          </a:bodyPr>
          <a:lstStyle/>
          <a:p>
            <a:pPr algn="ctr">
              <a:spcAft>
                <a:spcPts val="0"/>
              </a:spcAft>
            </a:pPr>
            <a:r>
              <a:rPr sz="1250" b="0" i="0">
                <a:solidFill>
                  <a:srgbClr val="263746"/>
                </a:solidFill>
                <a:latin typeface="Arial"/>
              </a:rPr>
              <a:t>Real-trained</a:t>
            </a:r>
          </a:p>
        </p:txBody>
      </p:sp>
      <p:sp>
        <p:nvSpPr>
          <p:cNvPr id="13" name="Rectangle 12"/>
          <p:cNvSpPr/>
          <p:nvPr/>
        </p:nvSpPr>
        <p:spPr>
          <a:xfrm>
            <a:off x="2523744" y="3436845"/>
            <a:ext cx="786384" cy="1299746"/>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496312" y="3107661"/>
            <a:ext cx="868680" cy="274320"/>
          </a:xfrm>
          <a:prstGeom prst="rect">
            <a:avLst/>
          </a:prstGeom>
          <a:noFill/>
        </p:spPr>
        <p:txBody>
          <a:bodyPr wrap="square" lIns="18288" rIns="18288" tIns="18288" bIns="18288" anchor="t">
            <a:spAutoFit/>
          </a:bodyPr>
          <a:lstStyle/>
          <a:p>
            <a:pPr algn="ctr">
              <a:spcAft>
                <a:spcPts val="0"/>
              </a:spcAft>
            </a:pPr>
            <a:r>
              <a:rPr sz="1600" b="1" i="0">
                <a:solidFill>
                  <a:srgbClr val="082B55"/>
                </a:solidFill>
                <a:latin typeface="Arial"/>
              </a:rPr>
              <a:t>0.781</a:t>
            </a:r>
          </a:p>
        </p:txBody>
      </p:sp>
      <p:sp>
        <p:nvSpPr>
          <p:cNvPr id="15" name="TextBox 14"/>
          <p:cNvSpPr txBox="1"/>
          <p:nvPr/>
        </p:nvSpPr>
        <p:spPr>
          <a:xfrm>
            <a:off x="2249424" y="4809744"/>
            <a:ext cx="1325880" cy="365760"/>
          </a:xfrm>
          <a:prstGeom prst="rect">
            <a:avLst/>
          </a:prstGeom>
          <a:noFill/>
        </p:spPr>
        <p:txBody>
          <a:bodyPr wrap="square" lIns="18288" rIns="18288" tIns="18288" bIns="18288" anchor="t">
            <a:spAutoFit/>
          </a:bodyPr>
          <a:lstStyle/>
          <a:p>
            <a:pPr algn="ctr">
              <a:spcAft>
                <a:spcPts val="0"/>
              </a:spcAft>
            </a:pPr>
            <a:r>
              <a:rPr sz="1250" b="0" i="0">
                <a:solidFill>
                  <a:srgbClr val="263746"/>
                </a:solidFill>
                <a:latin typeface="Arial"/>
              </a:rPr>
              <a:t>Synthetic-trained</a:t>
            </a:r>
          </a:p>
        </p:txBody>
      </p:sp>
      <p:sp>
        <p:nvSpPr>
          <p:cNvPr id="16" name="Rectangle 15"/>
          <p:cNvSpPr/>
          <p:nvPr/>
        </p:nvSpPr>
        <p:spPr>
          <a:xfrm>
            <a:off x="749808" y="4736592"/>
            <a:ext cx="2880360" cy="13716"/>
          </a:xfrm>
          <a:prstGeom prst="rect">
            <a:avLst/>
          </a:prstGeom>
          <a:solidFill>
            <a:srgbClr val="A9B5B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4315968" y="1847088"/>
            <a:ext cx="7525512" cy="3401568"/>
          </a:xfrm>
          <a:prstGeom prst="roundRect">
            <a:avLst/>
          </a:prstGeom>
          <a:solidFill>
            <a:srgbClr val="FFFFFF"/>
          </a:solidFill>
          <a:ln w="10160">
            <a:solidFill>
              <a:srgbClr val="DD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99432" y="2075688"/>
            <a:ext cx="1417320" cy="256032"/>
          </a:xfrm>
          <a:prstGeom prst="rect">
            <a:avLst/>
          </a:prstGeom>
          <a:noFill/>
        </p:spPr>
        <p:txBody>
          <a:bodyPr wrap="square" lIns="18288" rIns="18288" tIns="18288" bIns="18288" anchor="t">
            <a:spAutoFit/>
          </a:bodyPr>
          <a:lstStyle/>
          <a:p>
            <a:pPr algn="l">
              <a:spcAft>
                <a:spcPts val="0"/>
              </a:spcAft>
            </a:pPr>
            <a:r>
              <a:rPr sz="1250" b="1" i="0">
                <a:solidFill>
                  <a:srgbClr val="59697A"/>
                </a:solidFill>
                <a:latin typeface="Arial"/>
              </a:rPr>
              <a:t>Metric</a:t>
            </a:r>
          </a:p>
        </p:txBody>
      </p:sp>
      <p:sp>
        <p:nvSpPr>
          <p:cNvPr id="19" name="TextBox 18"/>
          <p:cNvSpPr txBox="1"/>
          <p:nvPr/>
        </p:nvSpPr>
        <p:spPr>
          <a:xfrm>
            <a:off x="6537960" y="2075688"/>
            <a:ext cx="1234440" cy="256032"/>
          </a:xfrm>
          <a:prstGeom prst="rect">
            <a:avLst/>
          </a:prstGeom>
          <a:noFill/>
        </p:spPr>
        <p:txBody>
          <a:bodyPr wrap="square" lIns="18288" rIns="18288" tIns="18288" bIns="18288" anchor="t">
            <a:spAutoFit/>
          </a:bodyPr>
          <a:lstStyle/>
          <a:p>
            <a:pPr algn="ctr">
              <a:spcAft>
                <a:spcPts val="0"/>
              </a:spcAft>
            </a:pPr>
            <a:r>
              <a:rPr sz="1250" b="1" i="0">
                <a:solidFill>
                  <a:srgbClr val="D96552"/>
                </a:solidFill>
                <a:latin typeface="Arial"/>
              </a:rPr>
              <a:t>WGAN-GP</a:t>
            </a:r>
          </a:p>
        </p:txBody>
      </p:sp>
      <p:sp>
        <p:nvSpPr>
          <p:cNvPr id="20" name="TextBox 19"/>
          <p:cNvSpPr txBox="1"/>
          <p:nvPr/>
        </p:nvSpPr>
        <p:spPr>
          <a:xfrm>
            <a:off x="8257031" y="2075688"/>
            <a:ext cx="1234440" cy="256032"/>
          </a:xfrm>
          <a:prstGeom prst="rect">
            <a:avLst/>
          </a:prstGeom>
          <a:noFill/>
        </p:spPr>
        <p:txBody>
          <a:bodyPr wrap="square" lIns="18288" rIns="18288" tIns="18288" bIns="18288" anchor="t">
            <a:spAutoFit/>
          </a:bodyPr>
          <a:lstStyle/>
          <a:p>
            <a:pPr algn="ctr">
              <a:spcAft>
                <a:spcPts val="0"/>
              </a:spcAft>
            </a:pPr>
            <a:r>
              <a:rPr sz="1250" b="1" i="0">
                <a:solidFill>
                  <a:srgbClr val="178681"/>
                </a:solidFill>
                <a:latin typeface="Arial"/>
              </a:rPr>
              <a:t>DDIM</a:t>
            </a:r>
          </a:p>
        </p:txBody>
      </p:sp>
      <p:sp>
        <p:nvSpPr>
          <p:cNvPr id="21" name="TextBox 20"/>
          <p:cNvSpPr txBox="1"/>
          <p:nvPr/>
        </p:nvSpPr>
        <p:spPr>
          <a:xfrm>
            <a:off x="9802368" y="2075688"/>
            <a:ext cx="1627632" cy="256032"/>
          </a:xfrm>
          <a:prstGeom prst="rect">
            <a:avLst/>
          </a:prstGeom>
          <a:noFill/>
        </p:spPr>
        <p:txBody>
          <a:bodyPr wrap="square" lIns="18288" rIns="18288" tIns="18288" bIns="18288" anchor="t">
            <a:spAutoFit/>
          </a:bodyPr>
          <a:lstStyle/>
          <a:p>
            <a:pPr algn="l">
              <a:spcAft>
                <a:spcPts val="0"/>
              </a:spcAft>
            </a:pPr>
            <a:r>
              <a:rPr sz="1250" b="1" i="0">
                <a:solidFill>
                  <a:srgbClr val="59697A"/>
                </a:solidFill>
                <a:latin typeface="Arial"/>
              </a:rPr>
              <a:t>Reading</a:t>
            </a:r>
          </a:p>
        </p:txBody>
      </p:sp>
      <p:sp>
        <p:nvSpPr>
          <p:cNvPr id="22" name="Rectangle 21"/>
          <p:cNvSpPr/>
          <p:nvPr/>
        </p:nvSpPr>
        <p:spPr>
          <a:xfrm>
            <a:off x="4517136" y="2478024"/>
            <a:ext cx="7059168" cy="484632"/>
          </a:xfrm>
          <a:prstGeom prst="rect">
            <a:avLst/>
          </a:prstGeom>
          <a:solidFill>
            <a:srgbClr val="F5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599432" y="2542032"/>
            <a:ext cx="1783080" cy="310896"/>
          </a:xfrm>
          <a:prstGeom prst="rect">
            <a:avLst/>
          </a:prstGeom>
          <a:noFill/>
        </p:spPr>
        <p:txBody>
          <a:bodyPr wrap="square" lIns="18288" rIns="18288" tIns="18288" bIns="18288" anchor="t">
            <a:spAutoFit/>
          </a:bodyPr>
          <a:lstStyle/>
          <a:p>
            <a:pPr algn="l">
              <a:spcAft>
                <a:spcPts val="0"/>
              </a:spcAft>
            </a:pPr>
            <a:r>
              <a:rPr sz="1400" b="0" i="0">
                <a:solidFill>
                  <a:srgbClr val="263746"/>
                </a:solidFill>
                <a:latin typeface="Arial"/>
              </a:rPr>
              <a:t>Correlation</a:t>
            </a:r>
          </a:p>
        </p:txBody>
      </p:sp>
      <p:sp>
        <p:nvSpPr>
          <p:cNvPr id="24" name="TextBox 23"/>
          <p:cNvSpPr txBox="1"/>
          <p:nvPr/>
        </p:nvSpPr>
        <p:spPr>
          <a:xfrm>
            <a:off x="6519672" y="2542032"/>
            <a:ext cx="1261872" cy="310896"/>
          </a:xfrm>
          <a:prstGeom prst="rect">
            <a:avLst/>
          </a:prstGeom>
          <a:noFill/>
        </p:spPr>
        <p:txBody>
          <a:bodyPr wrap="square" lIns="18288" rIns="18288" tIns="18288" bIns="18288" anchor="t">
            <a:spAutoFit/>
          </a:bodyPr>
          <a:lstStyle/>
          <a:p>
            <a:pPr algn="ctr">
              <a:spcAft>
                <a:spcPts val="0"/>
              </a:spcAft>
            </a:pPr>
            <a:r>
              <a:rPr sz="1600" b="1" i="0">
                <a:solidFill>
                  <a:srgbClr val="D96552"/>
                </a:solidFill>
                <a:latin typeface="Arial"/>
              </a:rPr>
              <a:t>0.976</a:t>
            </a:r>
          </a:p>
        </p:txBody>
      </p:sp>
      <p:sp>
        <p:nvSpPr>
          <p:cNvPr id="25" name="TextBox 24"/>
          <p:cNvSpPr txBox="1"/>
          <p:nvPr/>
        </p:nvSpPr>
        <p:spPr>
          <a:xfrm>
            <a:off x="8238744" y="2542032"/>
            <a:ext cx="1261872" cy="310896"/>
          </a:xfrm>
          <a:prstGeom prst="rect">
            <a:avLst/>
          </a:prstGeom>
          <a:noFill/>
        </p:spPr>
        <p:txBody>
          <a:bodyPr wrap="square" lIns="18288" rIns="18288" tIns="18288" bIns="18288" anchor="t">
            <a:spAutoFit/>
          </a:bodyPr>
          <a:lstStyle/>
          <a:p>
            <a:pPr algn="ctr">
              <a:spcAft>
                <a:spcPts val="0"/>
              </a:spcAft>
            </a:pPr>
            <a:r>
              <a:rPr sz="1600" b="1" i="0">
                <a:solidFill>
                  <a:srgbClr val="178681"/>
                </a:solidFill>
                <a:latin typeface="Arial"/>
              </a:rPr>
              <a:t>0.974</a:t>
            </a:r>
          </a:p>
        </p:txBody>
      </p:sp>
      <p:sp>
        <p:nvSpPr>
          <p:cNvPr id="26" name="TextBox 25"/>
          <p:cNvSpPr txBox="1"/>
          <p:nvPr/>
        </p:nvSpPr>
        <p:spPr>
          <a:xfrm>
            <a:off x="9820656" y="2542032"/>
            <a:ext cx="1481328" cy="310896"/>
          </a:xfrm>
          <a:prstGeom prst="rect">
            <a:avLst/>
          </a:prstGeom>
          <a:noFill/>
        </p:spPr>
        <p:txBody>
          <a:bodyPr wrap="square" lIns="18288" rIns="18288" tIns="18288" bIns="18288" anchor="t">
            <a:spAutoFit/>
          </a:bodyPr>
          <a:lstStyle/>
          <a:p>
            <a:pPr algn="l">
              <a:spcAft>
                <a:spcPts val="0"/>
              </a:spcAft>
            </a:pPr>
            <a:r>
              <a:rPr sz="1350" b="0" i="0">
                <a:solidFill>
                  <a:srgbClr val="59697A"/>
                </a:solidFill>
                <a:latin typeface="Arial"/>
              </a:rPr>
              <a:t>similar</a:t>
            </a:r>
          </a:p>
        </p:txBody>
      </p:sp>
      <p:sp>
        <p:nvSpPr>
          <p:cNvPr id="27" name="TextBox 26"/>
          <p:cNvSpPr txBox="1"/>
          <p:nvPr/>
        </p:nvSpPr>
        <p:spPr>
          <a:xfrm>
            <a:off x="4599432" y="3118103"/>
            <a:ext cx="1783080" cy="310896"/>
          </a:xfrm>
          <a:prstGeom prst="rect">
            <a:avLst/>
          </a:prstGeom>
          <a:noFill/>
        </p:spPr>
        <p:txBody>
          <a:bodyPr wrap="square" lIns="18288" rIns="18288" tIns="18288" bIns="18288" anchor="t">
            <a:spAutoFit/>
          </a:bodyPr>
          <a:lstStyle/>
          <a:p>
            <a:pPr algn="l">
              <a:spcAft>
                <a:spcPts val="0"/>
              </a:spcAft>
            </a:pPr>
            <a:r>
              <a:rPr sz="1400" b="0" i="0">
                <a:solidFill>
                  <a:srgbClr val="263746"/>
                </a:solidFill>
                <a:latin typeface="Arial"/>
              </a:rPr>
              <a:t>F1</a:t>
            </a:r>
          </a:p>
        </p:txBody>
      </p:sp>
      <p:sp>
        <p:nvSpPr>
          <p:cNvPr id="28" name="TextBox 27"/>
          <p:cNvSpPr txBox="1"/>
          <p:nvPr/>
        </p:nvSpPr>
        <p:spPr>
          <a:xfrm>
            <a:off x="6519672" y="3118103"/>
            <a:ext cx="1261872" cy="310896"/>
          </a:xfrm>
          <a:prstGeom prst="rect">
            <a:avLst/>
          </a:prstGeom>
          <a:noFill/>
        </p:spPr>
        <p:txBody>
          <a:bodyPr wrap="square" lIns="18288" rIns="18288" tIns="18288" bIns="18288" anchor="t">
            <a:spAutoFit/>
          </a:bodyPr>
          <a:lstStyle/>
          <a:p>
            <a:pPr algn="ctr">
              <a:spcAft>
                <a:spcPts val="0"/>
              </a:spcAft>
            </a:pPr>
            <a:r>
              <a:rPr sz="1600" b="1" i="0">
                <a:solidFill>
                  <a:srgbClr val="D96552"/>
                </a:solidFill>
                <a:latin typeface="Arial"/>
              </a:rPr>
              <a:t>0.985</a:t>
            </a:r>
          </a:p>
        </p:txBody>
      </p:sp>
      <p:sp>
        <p:nvSpPr>
          <p:cNvPr id="29" name="TextBox 28"/>
          <p:cNvSpPr txBox="1"/>
          <p:nvPr/>
        </p:nvSpPr>
        <p:spPr>
          <a:xfrm>
            <a:off x="8238744" y="3118103"/>
            <a:ext cx="1261872" cy="310896"/>
          </a:xfrm>
          <a:prstGeom prst="rect">
            <a:avLst/>
          </a:prstGeom>
          <a:noFill/>
        </p:spPr>
        <p:txBody>
          <a:bodyPr wrap="square" lIns="18288" rIns="18288" tIns="18288" bIns="18288" anchor="t">
            <a:spAutoFit/>
          </a:bodyPr>
          <a:lstStyle/>
          <a:p>
            <a:pPr algn="ctr">
              <a:spcAft>
                <a:spcPts val="0"/>
              </a:spcAft>
            </a:pPr>
            <a:r>
              <a:rPr sz="1600" b="1" i="0">
                <a:solidFill>
                  <a:srgbClr val="178681"/>
                </a:solidFill>
                <a:latin typeface="Arial"/>
              </a:rPr>
              <a:t>0.997</a:t>
            </a:r>
          </a:p>
        </p:txBody>
      </p:sp>
      <p:sp>
        <p:nvSpPr>
          <p:cNvPr id="30" name="TextBox 29"/>
          <p:cNvSpPr txBox="1"/>
          <p:nvPr/>
        </p:nvSpPr>
        <p:spPr>
          <a:xfrm>
            <a:off x="9820656" y="3118103"/>
            <a:ext cx="1481328" cy="310896"/>
          </a:xfrm>
          <a:prstGeom prst="rect">
            <a:avLst/>
          </a:prstGeom>
          <a:noFill/>
        </p:spPr>
        <p:txBody>
          <a:bodyPr wrap="square" lIns="18288" rIns="18288" tIns="18288" bIns="18288" anchor="t">
            <a:spAutoFit/>
          </a:bodyPr>
          <a:lstStyle/>
          <a:p>
            <a:pPr algn="l">
              <a:spcAft>
                <a:spcPts val="0"/>
              </a:spcAft>
            </a:pPr>
            <a:r>
              <a:rPr sz="1350" b="0" i="0">
                <a:solidFill>
                  <a:srgbClr val="59697A"/>
                </a:solidFill>
                <a:latin typeface="Arial"/>
              </a:rPr>
              <a:t>higher</a:t>
            </a:r>
          </a:p>
        </p:txBody>
      </p:sp>
      <p:sp>
        <p:nvSpPr>
          <p:cNvPr id="31" name="Rectangle 30"/>
          <p:cNvSpPr/>
          <p:nvPr/>
        </p:nvSpPr>
        <p:spPr>
          <a:xfrm>
            <a:off x="4517136" y="3630168"/>
            <a:ext cx="7059168" cy="484632"/>
          </a:xfrm>
          <a:prstGeom prst="rect">
            <a:avLst/>
          </a:prstGeom>
          <a:solidFill>
            <a:srgbClr val="F5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599432" y="3694176"/>
            <a:ext cx="1783080" cy="310896"/>
          </a:xfrm>
          <a:prstGeom prst="rect">
            <a:avLst/>
          </a:prstGeom>
          <a:noFill/>
        </p:spPr>
        <p:txBody>
          <a:bodyPr wrap="square" lIns="18288" rIns="18288" tIns="18288" bIns="18288" anchor="t">
            <a:spAutoFit/>
          </a:bodyPr>
          <a:lstStyle/>
          <a:p>
            <a:pPr algn="l">
              <a:spcAft>
                <a:spcPts val="0"/>
              </a:spcAft>
            </a:pPr>
            <a:r>
              <a:rPr sz="1400" b="1" i="0">
                <a:solidFill>
                  <a:srgbClr val="263746"/>
                </a:solidFill>
                <a:latin typeface="Arial"/>
              </a:rPr>
              <a:t>Adversarial accuracy</a:t>
            </a:r>
          </a:p>
        </p:txBody>
      </p:sp>
      <p:sp>
        <p:nvSpPr>
          <p:cNvPr id="33" name="TextBox 32"/>
          <p:cNvSpPr txBox="1"/>
          <p:nvPr/>
        </p:nvSpPr>
        <p:spPr>
          <a:xfrm>
            <a:off x="6519672" y="3694176"/>
            <a:ext cx="1261872" cy="310896"/>
          </a:xfrm>
          <a:prstGeom prst="rect">
            <a:avLst/>
          </a:prstGeom>
          <a:noFill/>
        </p:spPr>
        <p:txBody>
          <a:bodyPr wrap="square" lIns="18288" rIns="18288" tIns="18288" bIns="18288" anchor="t">
            <a:spAutoFit/>
          </a:bodyPr>
          <a:lstStyle/>
          <a:p>
            <a:pPr algn="ctr">
              <a:spcAft>
                <a:spcPts val="0"/>
              </a:spcAft>
            </a:pPr>
            <a:r>
              <a:rPr sz="1600" b="1" i="0">
                <a:solidFill>
                  <a:srgbClr val="D96552"/>
                </a:solidFill>
                <a:latin typeface="Arial"/>
              </a:rPr>
              <a:t>0.636</a:t>
            </a:r>
          </a:p>
        </p:txBody>
      </p:sp>
      <p:sp>
        <p:nvSpPr>
          <p:cNvPr id="34" name="TextBox 33"/>
          <p:cNvSpPr txBox="1"/>
          <p:nvPr/>
        </p:nvSpPr>
        <p:spPr>
          <a:xfrm>
            <a:off x="8238744" y="3694176"/>
            <a:ext cx="1261872" cy="310896"/>
          </a:xfrm>
          <a:prstGeom prst="rect">
            <a:avLst/>
          </a:prstGeom>
          <a:noFill/>
        </p:spPr>
        <p:txBody>
          <a:bodyPr wrap="square" lIns="18288" rIns="18288" tIns="18288" bIns="18288" anchor="t">
            <a:spAutoFit/>
          </a:bodyPr>
          <a:lstStyle/>
          <a:p>
            <a:pPr algn="ctr">
              <a:spcAft>
                <a:spcPts val="0"/>
              </a:spcAft>
            </a:pPr>
            <a:r>
              <a:rPr sz="1600" b="1" i="0">
                <a:solidFill>
                  <a:srgbClr val="178681"/>
                </a:solidFill>
                <a:latin typeface="Arial"/>
              </a:rPr>
              <a:t>0.475</a:t>
            </a:r>
          </a:p>
        </p:txBody>
      </p:sp>
      <p:sp>
        <p:nvSpPr>
          <p:cNvPr id="35" name="TextBox 34"/>
          <p:cNvSpPr txBox="1"/>
          <p:nvPr/>
        </p:nvSpPr>
        <p:spPr>
          <a:xfrm>
            <a:off x="9820656" y="3694176"/>
            <a:ext cx="1481328" cy="310896"/>
          </a:xfrm>
          <a:prstGeom prst="rect">
            <a:avLst/>
          </a:prstGeom>
          <a:noFill/>
        </p:spPr>
        <p:txBody>
          <a:bodyPr wrap="square" lIns="18288" rIns="18288" tIns="18288" bIns="18288" anchor="t">
            <a:spAutoFit/>
          </a:bodyPr>
          <a:lstStyle/>
          <a:p>
            <a:pPr algn="l">
              <a:spcAft>
                <a:spcPts val="0"/>
              </a:spcAft>
            </a:pPr>
            <a:r>
              <a:rPr sz="1350" b="0" i="0">
                <a:solidFill>
                  <a:srgbClr val="59697A"/>
                </a:solidFill>
                <a:latin typeface="Arial"/>
              </a:rPr>
              <a:t>closer to 0.5</a:t>
            </a:r>
          </a:p>
        </p:txBody>
      </p:sp>
      <p:sp>
        <p:nvSpPr>
          <p:cNvPr id="36" name="TextBox 35"/>
          <p:cNvSpPr txBox="1"/>
          <p:nvPr/>
        </p:nvSpPr>
        <p:spPr>
          <a:xfrm>
            <a:off x="4599432" y="4270248"/>
            <a:ext cx="1783080" cy="310896"/>
          </a:xfrm>
          <a:prstGeom prst="rect">
            <a:avLst/>
          </a:prstGeom>
          <a:noFill/>
        </p:spPr>
        <p:txBody>
          <a:bodyPr wrap="square" lIns="18288" rIns="18288" tIns="18288" bIns="18288" anchor="t">
            <a:spAutoFit/>
          </a:bodyPr>
          <a:lstStyle/>
          <a:p>
            <a:pPr algn="l">
              <a:spcAft>
                <a:spcPts val="0"/>
              </a:spcAft>
            </a:pPr>
            <a:r>
              <a:rPr sz="1400" b="1" i="0">
                <a:solidFill>
                  <a:srgbClr val="263746"/>
                </a:solidFill>
                <a:latin typeface="Arial"/>
              </a:rPr>
              <a:t>FD / real P95</a:t>
            </a:r>
          </a:p>
        </p:txBody>
      </p:sp>
      <p:sp>
        <p:nvSpPr>
          <p:cNvPr id="37" name="TextBox 36"/>
          <p:cNvSpPr txBox="1"/>
          <p:nvPr/>
        </p:nvSpPr>
        <p:spPr>
          <a:xfrm>
            <a:off x="6519672" y="4270248"/>
            <a:ext cx="1261872" cy="310896"/>
          </a:xfrm>
          <a:prstGeom prst="rect">
            <a:avLst/>
          </a:prstGeom>
          <a:noFill/>
        </p:spPr>
        <p:txBody>
          <a:bodyPr wrap="square" lIns="18288" rIns="18288" tIns="18288" bIns="18288" anchor="t">
            <a:spAutoFit/>
          </a:bodyPr>
          <a:lstStyle/>
          <a:p>
            <a:pPr algn="ctr">
              <a:spcAft>
                <a:spcPts val="0"/>
              </a:spcAft>
            </a:pPr>
            <a:r>
              <a:rPr sz="1600" b="1" i="0">
                <a:solidFill>
                  <a:srgbClr val="D96552"/>
                </a:solidFill>
                <a:latin typeface="Arial"/>
              </a:rPr>
              <a:t>0.144</a:t>
            </a:r>
          </a:p>
        </p:txBody>
      </p:sp>
      <p:sp>
        <p:nvSpPr>
          <p:cNvPr id="38" name="TextBox 37"/>
          <p:cNvSpPr txBox="1"/>
          <p:nvPr/>
        </p:nvSpPr>
        <p:spPr>
          <a:xfrm>
            <a:off x="8238744" y="4270248"/>
            <a:ext cx="1261872" cy="310896"/>
          </a:xfrm>
          <a:prstGeom prst="rect">
            <a:avLst/>
          </a:prstGeom>
          <a:noFill/>
        </p:spPr>
        <p:txBody>
          <a:bodyPr wrap="square" lIns="18288" rIns="18288" tIns="18288" bIns="18288" anchor="t">
            <a:spAutoFit/>
          </a:bodyPr>
          <a:lstStyle/>
          <a:p>
            <a:pPr algn="ctr">
              <a:spcAft>
                <a:spcPts val="0"/>
              </a:spcAft>
            </a:pPr>
            <a:r>
              <a:rPr sz="1600" b="1" i="0">
                <a:solidFill>
                  <a:srgbClr val="178681"/>
                </a:solidFill>
                <a:latin typeface="Arial"/>
              </a:rPr>
              <a:t>0.074</a:t>
            </a:r>
          </a:p>
        </p:txBody>
      </p:sp>
      <p:sp>
        <p:nvSpPr>
          <p:cNvPr id="39" name="TextBox 38"/>
          <p:cNvSpPr txBox="1"/>
          <p:nvPr/>
        </p:nvSpPr>
        <p:spPr>
          <a:xfrm>
            <a:off x="9820656" y="4270248"/>
            <a:ext cx="1481328" cy="310896"/>
          </a:xfrm>
          <a:prstGeom prst="rect">
            <a:avLst/>
          </a:prstGeom>
          <a:noFill/>
        </p:spPr>
        <p:txBody>
          <a:bodyPr wrap="square" lIns="18288" rIns="18288" tIns="18288" bIns="18288" anchor="t">
            <a:spAutoFit/>
          </a:bodyPr>
          <a:lstStyle/>
          <a:p>
            <a:pPr algn="l">
              <a:spcAft>
                <a:spcPts val="0"/>
              </a:spcAft>
            </a:pPr>
            <a:r>
              <a:rPr sz="1350" b="0" i="0">
                <a:solidFill>
                  <a:srgbClr val="59697A"/>
                </a:solidFill>
                <a:latin typeface="Arial"/>
              </a:rPr>
              <a:t>lower</a:t>
            </a:r>
          </a:p>
        </p:txBody>
      </p:sp>
      <p:sp>
        <p:nvSpPr>
          <p:cNvPr id="40" name="Rounded Rectangle 39"/>
          <p:cNvSpPr/>
          <p:nvPr/>
        </p:nvSpPr>
        <p:spPr>
          <a:xfrm>
            <a:off x="347472" y="5522976"/>
            <a:ext cx="11494008" cy="667512"/>
          </a:xfrm>
          <a:prstGeom prst="roundRect">
            <a:avLst/>
          </a:prstGeom>
          <a:solidFill>
            <a:srgbClr val="082B55"/>
          </a:solidFill>
          <a:ln w="10160">
            <a:solidFill>
              <a:srgbClr val="082B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58368" y="5660136"/>
            <a:ext cx="2331720" cy="310896"/>
          </a:xfrm>
          <a:prstGeom prst="rect">
            <a:avLst/>
          </a:prstGeom>
          <a:noFill/>
        </p:spPr>
        <p:txBody>
          <a:bodyPr wrap="square" lIns="18288" rIns="18288" tIns="18288" bIns="18288" anchor="ctr">
            <a:spAutoFit/>
          </a:bodyPr>
          <a:lstStyle/>
          <a:p>
            <a:pPr algn="l">
              <a:spcAft>
                <a:spcPts val="0"/>
              </a:spcAft>
            </a:pPr>
            <a:r>
              <a:rPr sz="1800" b="1" i="0">
                <a:solidFill>
                  <a:srgbClr val="FFFFFF"/>
                </a:solidFill>
                <a:latin typeface="Arial"/>
              </a:rPr>
              <a:t>Use DDIM downstream</a:t>
            </a:r>
          </a:p>
        </p:txBody>
      </p:sp>
      <p:sp>
        <p:nvSpPr>
          <p:cNvPr id="42" name="TextBox 41"/>
          <p:cNvSpPr txBox="1"/>
          <p:nvPr/>
        </p:nvSpPr>
        <p:spPr>
          <a:xfrm>
            <a:off x="2852928" y="5669280"/>
            <a:ext cx="8394192" cy="292608"/>
          </a:xfrm>
          <a:prstGeom prst="rect">
            <a:avLst/>
          </a:prstGeom>
          <a:noFill/>
        </p:spPr>
        <p:txBody>
          <a:bodyPr wrap="square" lIns="18288" rIns="18288" tIns="18288" bIns="18288" anchor="ctr">
            <a:spAutoFit/>
          </a:bodyPr>
          <a:lstStyle/>
          <a:p>
            <a:pPr algn="l">
              <a:spcAft>
                <a:spcPts val="0"/>
              </a:spcAft>
            </a:pPr>
            <a:r>
              <a:rPr sz="1500" b="0" i="0">
                <a:solidFill>
                  <a:srgbClr val="DCE7F2"/>
                </a:solidFill>
                <a:latin typeface="Arial"/>
              </a:rPr>
              <a:t>Lower separability and distributional distance, with comparable correlation and higher F1.</a:t>
            </a:r>
          </a:p>
        </p:txBody>
      </p:sp>
      <p:sp>
        <p:nvSpPr>
          <p:cNvPr id="43" name="TextBox 42"/>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WGAN values use validation data and DDIM values use the stated OSDR test; they are not paired on one common split.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DIFFUSION</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Diffusion learns tissue structure from noise</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The same PCA axes follow 1,024 generated profiles through reverse diffusion.</a:t>
            </a:r>
          </a:p>
        </p:txBody>
      </p:sp>
      <p:pic>
        <p:nvPicPr>
          <p:cNvPr id="7" name="DDIM reverse trajectory at timesteps 1000, 200 and 0" descr="DDIM reverse trajectory at timesteps 1000, 200 and 0"/>
          <p:cNvPicPr>
            <a:picLocks noChangeAspect="1"/>
          </p:cNvPicPr>
          <p:nvPr/>
        </p:nvPicPr>
        <p:blipFill>
          <a:blip r:embed="rId2"/>
          <a:stretch>
            <a:fillRect/>
          </a:stretch>
        </p:blipFill>
        <p:spPr>
          <a:xfrm>
            <a:off x="310896" y="1735579"/>
            <a:ext cx="11558016" cy="4100072"/>
          </a:xfrm>
          <a:prstGeom prst="rect">
            <a:avLst/>
          </a:prstGeom>
        </p:spPr>
      </p:pic>
      <p:sp>
        <p:nvSpPr>
          <p:cNvPr id="8" name="TextBox 7"/>
          <p:cNvSpPr txBox="1"/>
          <p:nvPr/>
        </p:nvSpPr>
        <p:spPr>
          <a:xfrm>
            <a:off x="713232" y="5943600"/>
            <a:ext cx="2286000" cy="256032"/>
          </a:xfrm>
          <a:prstGeom prst="rect">
            <a:avLst/>
          </a:prstGeom>
          <a:noFill/>
        </p:spPr>
        <p:txBody>
          <a:bodyPr wrap="square" lIns="18288" rIns="18288" tIns="18288" bIns="18288" anchor="t">
            <a:spAutoFit/>
          </a:bodyPr>
          <a:lstStyle/>
          <a:p>
            <a:pPr algn="ctr">
              <a:spcAft>
                <a:spcPts val="0"/>
              </a:spcAft>
            </a:pPr>
            <a:r>
              <a:rPr sz="1300" b="1" i="0">
                <a:solidFill>
                  <a:srgbClr val="59697A"/>
                </a:solidFill>
                <a:latin typeface="Arial"/>
              </a:rPr>
              <a:t>t = 1000: noise</a:t>
            </a:r>
          </a:p>
        </p:txBody>
      </p:sp>
      <p:sp>
        <p:nvSpPr>
          <p:cNvPr id="9" name="TextBox 8"/>
          <p:cNvSpPr txBox="1"/>
          <p:nvPr/>
        </p:nvSpPr>
        <p:spPr>
          <a:xfrm>
            <a:off x="4782312" y="5943600"/>
            <a:ext cx="2651760" cy="256032"/>
          </a:xfrm>
          <a:prstGeom prst="rect">
            <a:avLst/>
          </a:prstGeom>
          <a:noFill/>
        </p:spPr>
        <p:txBody>
          <a:bodyPr wrap="square" lIns="18288" rIns="18288" tIns="18288" bIns="18288" anchor="t">
            <a:spAutoFit/>
          </a:bodyPr>
          <a:lstStyle/>
          <a:p>
            <a:pPr algn="ctr">
              <a:spcAft>
                <a:spcPts val="0"/>
              </a:spcAft>
            </a:pPr>
            <a:r>
              <a:rPr sz="1300" b="1" i="0">
                <a:solidFill>
                  <a:srgbClr val="59697A"/>
                </a:solidFill>
                <a:latin typeface="Arial"/>
              </a:rPr>
              <a:t>t = 200: partial structure</a:t>
            </a:r>
          </a:p>
        </p:txBody>
      </p:sp>
      <p:sp>
        <p:nvSpPr>
          <p:cNvPr id="10" name="TextBox 9"/>
          <p:cNvSpPr txBox="1"/>
          <p:nvPr/>
        </p:nvSpPr>
        <p:spPr>
          <a:xfrm>
            <a:off x="8366760" y="5943600"/>
            <a:ext cx="3108960" cy="256032"/>
          </a:xfrm>
          <a:prstGeom prst="rect">
            <a:avLst/>
          </a:prstGeom>
          <a:noFill/>
        </p:spPr>
        <p:txBody>
          <a:bodyPr wrap="square" lIns="18288" rIns="18288" tIns="18288" bIns="18288" anchor="t">
            <a:spAutoFit/>
          </a:bodyPr>
          <a:lstStyle/>
          <a:p>
            <a:pPr algn="ctr">
              <a:spcAft>
                <a:spcPts val="0"/>
              </a:spcAft>
            </a:pPr>
            <a:r>
              <a:rPr sz="1300" b="1" i="0">
                <a:solidFill>
                  <a:srgbClr val="178681"/>
                </a:solidFill>
                <a:latin typeface="Arial"/>
              </a:rPr>
              <a:t>t = 0: tissue-conditioned profiles</a:t>
            </a:r>
          </a:p>
        </p:txBody>
      </p:sp>
      <p:sp>
        <p:nvSpPr>
          <p:cNvPr id="11" name="TextBox 10"/>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Gray points are real ARCHS4 profiles; colors identify generated tissue conditions. PC1 and PC2 limits are shared across panels.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DIFFUSION OUTPUT</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Generated profiles track the real OSDR PCA manifold</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Circles are locked real OSDR profiles; crosses are matched DDIM profiles from generation seed 5020.</a:t>
            </a:r>
          </a:p>
        </p:txBody>
      </p:sp>
      <p:pic>
        <p:nvPicPr>
          <p:cNvPr id="7" name="PCA of locked real and matched DDIM OSDR profiles by tissue and condition" descr="PCA of locked real and matched DDIM OSDR profiles by tissue and condition"/>
          <p:cNvPicPr>
            <a:picLocks noChangeAspect="1"/>
          </p:cNvPicPr>
          <p:nvPr/>
        </p:nvPicPr>
        <p:blipFill>
          <a:blip r:embed="rId2"/>
          <a:stretch>
            <a:fillRect/>
          </a:stretch>
        </p:blipFill>
        <p:spPr>
          <a:xfrm>
            <a:off x="1009356" y="1700784"/>
            <a:ext cx="10161095" cy="4169663"/>
          </a:xfrm>
          <a:prstGeom prst="rect">
            <a:avLst/>
          </a:prstGeom>
        </p:spPr>
      </p:pic>
      <p:sp>
        <p:nvSpPr>
          <p:cNvPr id="8" name="Rounded Rectangle 7"/>
          <p:cNvSpPr/>
          <p:nvPr/>
        </p:nvSpPr>
        <p:spPr>
          <a:xfrm>
            <a:off x="438912" y="5907024"/>
            <a:ext cx="11311128" cy="438912"/>
          </a:xfrm>
          <a:prstGeom prst="roundRect">
            <a:avLst/>
          </a:prstGeom>
          <a:solidFill>
            <a:srgbClr val="E9F1F7"/>
          </a:solidFill>
          <a:ln w="10160">
            <a:solidFill>
              <a:srgbClr val="C9DC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67512" y="5989320"/>
            <a:ext cx="10844784" cy="246888"/>
          </a:xfrm>
          <a:prstGeom prst="rect">
            <a:avLst/>
          </a:prstGeom>
          <a:noFill/>
        </p:spPr>
        <p:txBody>
          <a:bodyPr wrap="square" lIns="18288" rIns="18288" tIns="18288" bIns="18288" anchor="t">
            <a:spAutoFit/>
          </a:bodyPr>
          <a:lstStyle/>
          <a:p>
            <a:pPr algn="ctr">
              <a:spcAft>
                <a:spcPts val="0"/>
              </a:spcAft>
            </a:pPr>
            <a:r>
              <a:rPr sz="1330" b="1" i="0">
                <a:solidFill>
                  <a:srgbClr val="082B55"/>
                </a:solidFill>
                <a:latin typeface="Arial"/>
              </a:rPr>
              <a:t>Interpretation: tissue structure dominates; FLT and GC are subtler. PCA is descriptive, so quantitative metrics determine validation.</a:t>
            </a:r>
          </a:p>
        </p:txBody>
      </p:sp>
      <p:sp>
        <p:nvSpPr>
          <p:cNvPr id="10" name="TextBox 9"/>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PCA was fitted in the common locked OSDR expression space. This is PCA, not UMAP.</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ANALYSIS</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Synthetic profiles entered the analysis in five different ways</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Every arm was judged on held-out real profiles before synthetic attribution was allowed.</a:t>
            </a:r>
          </a:p>
        </p:txBody>
      </p:sp>
      <p:sp>
        <p:nvSpPr>
          <p:cNvPr id="7" name="Rounded Rectangle 6"/>
          <p:cNvSpPr/>
          <p:nvPr/>
        </p:nvSpPr>
        <p:spPr>
          <a:xfrm>
            <a:off x="347472" y="1874519"/>
            <a:ext cx="2212848" cy="1170432"/>
          </a:xfrm>
          <a:prstGeom prst="roundRect">
            <a:avLst/>
          </a:prstGeom>
          <a:solidFill>
            <a:srgbClr val="E9F1F7"/>
          </a:solidFill>
          <a:ln w="10160">
            <a:solidFill>
              <a:srgbClr val="2D64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85216" y="2103120"/>
            <a:ext cx="1719072" cy="274320"/>
          </a:xfrm>
          <a:prstGeom prst="rect">
            <a:avLst/>
          </a:prstGeom>
          <a:noFill/>
        </p:spPr>
        <p:txBody>
          <a:bodyPr wrap="square" lIns="18288" rIns="18288" tIns="18288" bIns="18288" anchor="t">
            <a:spAutoFit/>
          </a:bodyPr>
          <a:lstStyle/>
          <a:p>
            <a:pPr algn="ctr">
              <a:spcAft>
                <a:spcPts val="0"/>
              </a:spcAft>
            </a:pPr>
            <a:r>
              <a:rPr sz="1700" b="1" i="0">
                <a:solidFill>
                  <a:srgbClr val="2D6496"/>
                </a:solidFill>
                <a:latin typeface="Arial"/>
              </a:rPr>
              <a:t>Real OSDR</a:t>
            </a:r>
          </a:p>
        </p:txBody>
      </p:sp>
      <p:sp>
        <p:nvSpPr>
          <p:cNvPr id="9" name="TextBox 8"/>
          <p:cNvSpPr txBox="1"/>
          <p:nvPr/>
        </p:nvSpPr>
        <p:spPr>
          <a:xfrm>
            <a:off x="585216" y="2505456"/>
            <a:ext cx="1719072" cy="228600"/>
          </a:xfrm>
          <a:prstGeom prst="rect">
            <a:avLst/>
          </a:prstGeom>
          <a:noFill/>
        </p:spPr>
        <p:txBody>
          <a:bodyPr wrap="square" lIns="18288" rIns="18288" tIns="18288" bIns="18288" anchor="t">
            <a:spAutoFit/>
          </a:bodyPr>
          <a:lstStyle/>
          <a:p>
            <a:pPr algn="ctr">
              <a:spcAft>
                <a:spcPts val="0"/>
              </a:spcAft>
            </a:pPr>
            <a:r>
              <a:rPr sz="1250" b="0" i="0">
                <a:solidFill>
                  <a:srgbClr val="59697A"/>
                </a:solidFill>
                <a:latin typeface="Arial"/>
              </a:rPr>
              <a:t>observed FLT / GC</a:t>
            </a:r>
          </a:p>
        </p:txBody>
      </p:sp>
      <p:sp>
        <p:nvSpPr>
          <p:cNvPr id="10" name="Rounded Rectangle 9"/>
          <p:cNvSpPr/>
          <p:nvPr/>
        </p:nvSpPr>
        <p:spPr>
          <a:xfrm>
            <a:off x="347472" y="3319272"/>
            <a:ext cx="2212848" cy="1170432"/>
          </a:xfrm>
          <a:prstGeom prst="roundRect">
            <a:avLst/>
          </a:prstGeom>
          <a:solidFill>
            <a:srgbClr val="F8ECE9"/>
          </a:solidFill>
          <a:ln w="10160">
            <a:solidFill>
              <a:srgbClr val="D9655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21207" y="3547872"/>
            <a:ext cx="1874519" cy="274320"/>
          </a:xfrm>
          <a:prstGeom prst="rect">
            <a:avLst/>
          </a:prstGeom>
          <a:noFill/>
        </p:spPr>
        <p:txBody>
          <a:bodyPr wrap="square" lIns="18288" rIns="18288" tIns="18288" bIns="18288" anchor="t">
            <a:spAutoFit/>
          </a:bodyPr>
          <a:lstStyle/>
          <a:p>
            <a:pPr algn="ctr">
              <a:spcAft>
                <a:spcPts val="0"/>
              </a:spcAft>
            </a:pPr>
            <a:r>
              <a:rPr sz="1700" b="1" i="0">
                <a:solidFill>
                  <a:srgbClr val="D96552"/>
                </a:solidFill>
                <a:latin typeface="Arial"/>
              </a:rPr>
              <a:t>DDIM generated</a:t>
            </a:r>
          </a:p>
        </p:txBody>
      </p:sp>
      <p:sp>
        <p:nvSpPr>
          <p:cNvPr id="12" name="TextBox 11"/>
          <p:cNvSpPr txBox="1"/>
          <p:nvPr/>
        </p:nvSpPr>
        <p:spPr>
          <a:xfrm>
            <a:off x="585216" y="3941063"/>
            <a:ext cx="1719072" cy="228600"/>
          </a:xfrm>
          <a:prstGeom prst="rect">
            <a:avLst/>
          </a:prstGeom>
          <a:noFill/>
        </p:spPr>
        <p:txBody>
          <a:bodyPr wrap="square" lIns="18288" rIns="18288" tIns="18288" bIns="18288" anchor="t">
            <a:spAutoFit/>
          </a:bodyPr>
          <a:lstStyle/>
          <a:p>
            <a:pPr algn="ctr">
              <a:spcAft>
                <a:spcPts val="0"/>
              </a:spcAft>
            </a:pPr>
            <a:r>
              <a:rPr sz="1250" b="0" i="0">
                <a:solidFill>
                  <a:srgbClr val="59697A"/>
                </a:solidFill>
                <a:latin typeface="Arial"/>
              </a:rPr>
              <a:t>matched conditions</a:t>
            </a:r>
          </a:p>
        </p:txBody>
      </p:sp>
      <p:sp>
        <p:nvSpPr>
          <p:cNvPr id="13" name="Right Arrow 12"/>
          <p:cNvSpPr/>
          <p:nvPr/>
        </p:nvSpPr>
        <p:spPr>
          <a:xfrm>
            <a:off x="2679192" y="2852928"/>
            <a:ext cx="475488" cy="347472"/>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3310128" y="1920240"/>
            <a:ext cx="1508760" cy="1170432"/>
          </a:xfrm>
          <a:prstGeom prst="roundRect">
            <a:avLst/>
          </a:prstGeom>
          <a:solidFill>
            <a:srgbClr val="E9F1F7"/>
          </a:solidFill>
          <a:ln w="10160">
            <a:solidFill>
              <a:srgbClr val="2D64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401568" y="2084832"/>
            <a:ext cx="1325880" cy="320040"/>
          </a:xfrm>
          <a:prstGeom prst="rect">
            <a:avLst/>
          </a:prstGeom>
          <a:noFill/>
        </p:spPr>
        <p:txBody>
          <a:bodyPr wrap="square" lIns="18288" rIns="18288" tIns="18288" bIns="18288" anchor="t">
            <a:spAutoFit/>
          </a:bodyPr>
          <a:lstStyle/>
          <a:p>
            <a:pPr algn="ctr">
              <a:spcAft>
                <a:spcPts val="0"/>
              </a:spcAft>
            </a:pPr>
            <a:r>
              <a:rPr sz="1350" b="1" i="0">
                <a:solidFill>
                  <a:srgbClr val="2D6496"/>
                </a:solidFill>
                <a:latin typeface="Arial"/>
              </a:rPr>
              <a:t>Real only</a:t>
            </a:r>
          </a:p>
        </p:txBody>
      </p:sp>
      <p:sp>
        <p:nvSpPr>
          <p:cNvPr id="16" name="TextBox 15"/>
          <p:cNvSpPr txBox="1"/>
          <p:nvPr/>
        </p:nvSpPr>
        <p:spPr>
          <a:xfrm>
            <a:off x="3429000" y="2523744"/>
            <a:ext cx="1271016" cy="457200"/>
          </a:xfrm>
          <a:prstGeom prst="rect">
            <a:avLst/>
          </a:prstGeom>
          <a:noFill/>
        </p:spPr>
        <p:txBody>
          <a:bodyPr wrap="square" lIns="18288" rIns="18288" tIns="18288" bIns="18288" anchor="t">
            <a:spAutoFit/>
          </a:bodyPr>
          <a:lstStyle/>
          <a:p>
            <a:pPr algn="ctr">
              <a:spcAft>
                <a:spcPts val="0"/>
              </a:spcAft>
            </a:pPr>
            <a:r>
              <a:rPr sz="1150" b="0" i="0">
                <a:solidFill>
                  <a:srgbClr val="263746"/>
                </a:solidFill>
                <a:latin typeface="Arial"/>
              </a:rPr>
              <a:t>rank: real
fit: real</a:t>
            </a:r>
          </a:p>
        </p:txBody>
      </p:sp>
      <p:sp>
        <p:nvSpPr>
          <p:cNvPr id="17" name="Rounded Rectangle 16"/>
          <p:cNvSpPr/>
          <p:nvPr/>
        </p:nvSpPr>
        <p:spPr>
          <a:xfrm>
            <a:off x="5001768" y="1920240"/>
            <a:ext cx="1508760" cy="1170432"/>
          </a:xfrm>
          <a:prstGeom prst="roundRect">
            <a:avLst/>
          </a:prstGeom>
          <a:solidFill>
            <a:srgbClr val="F8ECE9"/>
          </a:solidFill>
          <a:ln w="10160">
            <a:solidFill>
              <a:srgbClr val="D9655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93207" y="2084832"/>
            <a:ext cx="1325880" cy="320040"/>
          </a:xfrm>
          <a:prstGeom prst="rect">
            <a:avLst/>
          </a:prstGeom>
          <a:noFill/>
        </p:spPr>
        <p:txBody>
          <a:bodyPr wrap="square" lIns="18288" rIns="18288" tIns="18288" bIns="18288" anchor="t">
            <a:spAutoFit/>
          </a:bodyPr>
          <a:lstStyle/>
          <a:p>
            <a:pPr algn="ctr">
              <a:spcAft>
                <a:spcPts val="0"/>
              </a:spcAft>
            </a:pPr>
            <a:r>
              <a:rPr sz="1350" b="1" i="0">
                <a:solidFill>
                  <a:srgbClr val="D96552"/>
                </a:solidFill>
                <a:latin typeface="Arial"/>
              </a:rPr>
              <a:t>Generated only</a:t>
            </a:r>
          </a:p>
        </p:txBody>
      </p:sp>
      <p:sp>
        <p:nvSpPr>
          <p:cNvPr id="19" name="TextBox 18"/>
          <p:cNvSpPr txBox="1"/>
          <p:nvPr/>
        </p:nvSpPr>
        <p:spPr>
          <a:xfrm>
            <a:off x="5120640" y="2523744"/>
            <a:ext cx="1271016" cy="457200"/>
          </a:xfrm>
          <a:prstGeom prst="rect">
            <a:avLst/>
          </a:prstGeom>
          <a:noFill/>
        </p:spPr>
        <p:txBody>
          <a:bodyPr wrap="square" lIns="18288" rIns="18288" tIns="18288" bIns="18288" anchor="t">
            <a:spAutoFit/>
          </a:bodyPr>
          <a:lstStyle/>
          <a:p>
            <a:pPr algn="ctr">
              <a:spcAft>
                <a:spcPts val="0"/>
              </a:spcAft>
            </a:pPr>
            <a:r>
              <a:rPr sz="1150" b="0" i="0">
                <a:solidFill>
                  <a:srgbClr val="263746"/>
                </a:solidFill>
                <a:latin typeface="Arial"/>
              </a:rPr>
              <a:t>rank: generated
fit: generated</a:t>
            </a:r>
          </a:p>
        </p:txBody>
      </p:sp>
      <p:sp>
        <p:nvSpPr>
          <p:cNvPr id="20" name="Rounded Rectangle 19"/>
          <p:cNvSpPr/>
          <p:nvPr/>
        </p:nvSpPr>
        <p:spPr>
          <a:xfrm>
            <a:off x="6693408" y="1920240"/>
            <a:ext cx="1508760" cy="1170432"/>
          </a:xfrm>
          <a:prstGeom prst="roundRect">
            <a:avLst/>
          </a:prstGeom>
          <a:solidFill>
            <a:srgbClr val="E8F3F1"/>
          </a:solidFill>
          <a:ln w="101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784848" y="2084832"/>
            <a:ext cx="1325880" cy="320040"/>
          </a:xfrm>
          <a:prstGeom prst="rect">
            <a:avLst/>
          </a:prstGeom>
          <a:noFill/>
        </p:spPr>
        <p:txBody>
          <a:bodyPr wrap="square" lIns="18288" rIns="18288" tIns="18288" bIns="18288" anchor="t">
            <a:spAutoFit/>
          </a:bodyPr>
          <a:lstStyle/>
          <a:p>
            <a:pPr algn="ctr">
              <a:spcAft>
                <a:spcPts val="0"/>
              </a:spcAft>
            </a:pPr>
            <a:r>
              <a:rPr sz="1350" b="1" i="0">
                <a:solidFill>
                  <a:srgbClr val="178681"/>
                </a:solidFill>
                <a:latin typeface="Arial"/>
              </a:rPr>
              <a:t>Real + generated</a:t>
            </a:r>
          </a:p>
        </p:txBody>
      </p:sp>
      <p:sp>
        <p:nvSpPr>
          <p:cNvPr id="22" name="TextBox 21"/>
          <p:cNvSpPr txBox="1"/>
          <p:nvPr/>
        </p:nvSpPr>
        <p:spPr>
          <a:xfrm>
            <a:off x="6812280" y="2523744"/>
            <a:ext cx="1271016" cy="457200"/>
          </a:xfrm>
          <a:prstGeom prst="rect">
            <a:avLst/>
          </a:prstGeom>
          <a:noFill/>
        </p:spPr>
        <p:txBody>
          <a:bodyPr wrap="square" lIns="18288" rIns="18288" tIns="18288" bIns="18288" anchor="t">
            <a:spAutoFit/>
          </a:bodyPr>
          <a:lstStyle/>
          <a:p>
            <a:pPr algn="ctr">
              <a:spcAft>
                <a:spcPts val="0"/>
              </a:spcAft>
            </a:pPr>
            <a:r>
              <a:rPr sz="1150" b="0" i="0">
                <a:solidFill>
                  <a:srgbClr val="263746"/>
                </a:solidFill>
                <a:latin typeface="Arial"/>
              </a:rPr>
              <a:t>rank: consensus
fit: equal weight</a:t>
            </a:r>
          </a:p>
        </p:txBody>
      </p:sp>
      <p:sp>
        <p:nvSpPr>
          <p:cNvPr id="23" name="Rounded Rectangle 22"/>
          <p:cNvSpPr/>
          <p:nvPr/>
        </p:nvSpPr>
        <p:spPr>
          <a:xfrm>
            <a:off x="4160520" y="3410712"/>
            <a:ext cx="1508760" cy="1170432"/>
          </a:xfrm>
          <a:prstGeom prst="roundRect">
            <a:avLst/>
          </a:prstGeom>
          <a:solidFill>
            <a:srgbClr val="F0ECF6"/>
          </a:solidFill>
          <a:ln w="10160">
            <a:solidFill>
              <a:srgbClr val="8063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251959" y="3575304"/>
            <a:ext cx="1325880" cy="320040"/>
          </a:xfrm>
          <a:prstGeom prst="rect">
            <a:avLst/>
          </a:prstGeom>
          <a:noFill/>
        </p:spPr>
        <p:txBody>
          <a:bodyPr wrap="square" lIns="18288" rIns="18288" tIns="18288" bIns="18288" anchor="t">
            <a:spAutoFit/>
          </a:bodyPr>
          <a:lstStyle/>
          <a:p>
            <a:pPr algn="ctr">
              <a:spcAft>
                <a:spcPts val="0"/>
              </a:spcAft>
            </a:pPr>
            <a:r>
              <a:rPr sz="1350" b="1" i="0">
                <a:solidFill>
                  <a:srgbClr val="8063A6"/>
                </a:solidFill>
                <a:latin typeface="Arial"/>
              </a:rPr>
              <a:t>Guided, real fit</a:t>
            </a:r>
          </a:p>
        </p:txBody>
      </p:sp>
      <p:sp>
        <p:nvSpPr>
          <p:cNvPr id="25" name="TextBox 24"/>
          <p:cNvSpPr txBox="1"/>
          <p:nvPr/>
        </p:nvSpPr>
        <p:spPr>
          <a:xfrm>
            <a:off x="4279392" y="4014215"/>
            <a:ext cx="1271016" cy="457200"/>
          </a:xfrm>
          <a:prstGeom prst="rect">
            <a:avLst/>
          </a:prstGeom>
          <a:noFill/>
        </p:spPr>
        <p:txBody>
          <a:bodyPr wrap="square" lIns="18288" rIns="18288" tIns="18288" bIns="18288" anchor="t">
            <a:spAutoFit/>
          </a:bodyPr>
          <a:lstStyle/>
          <a:p>
            <a:pPr algn="ctr">
              <a:spcAft>
                <a:spcPts val="0"/>
              </a:spcAft>
            </a:pPr>
            <a:r>
              <a:rPr sz="1150" b="0" i="0">
                <a:solidFill>
                  <a:srgbClr val="263746"/>
                </a:solidFill>
                <a:latin typeface="Arial"/>
              </a:rPr>
              <a:t>rank: consensus
fit: real</a:t>
            </a:r>
          </a:p>
        </p:txBody>
      </p:sp>
      <p:sp>
        <p:nvSpPr>
          <p:cNvPr id="26" name="Rounded Rectangle 25"/>
          <p:cNvSpPr/>
          <p:nvPr/>
        </p:nvSpPr>
        <p:spPr>
          <a:xfrm>
            <a:off x="5852160" y="3410712"/>
            <a:ext cx="1508760" cy="1170432"/>
          </a:xfrm>
          <a:prstGeom prst="roundRect">
            <a:avLst/>
          </a:prstGeom>
          <a:solidFill>
            <a:srgbClr val="F8F1E2"/>
          </a:solidFill>
          <a:ln w="10160">
            <a:solidFill>
              <a:srgbClr val="D37B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943600" y="3575304"/>
            <a:ext cx="1325880" cy="320040"/>
          </a:xfrm>
          <a:prstGeom prst="rect">
            <a:avLst/>
          </a:prstGeom>
          <a:noFill/>
        </p:spPr>
        <p:txBody>
          <a:bodyPr wrap="square" lIns="18288" rIns="18288" tIns="18288" bIns="18288" anchor="t">
            <a:spAutoFit/>
          </a:bodyPr>
          <a:lstStyle/>
          <a:p>
            <a:pPr algn="ctr">
              <a:spcAft>
                <a:spcPts val="0"/>
              </a:spcAft>
            </a:pPr>
            <a:r>
              <a:rPr sz="1350" b="1" i="0">
                <a:solidFill>
                  <a:srgbClr val="D37B00"/>
                </a:solidFill>
                <a:latin typeface="Arial"/>
              </a:rPr>
              <a:t>Guided, 5% synth.</a:t>
            </a:r>
          </a:p>
        </p:txBody>
      </p:sp>
      <p:sp>
        <p:nvSpPr>
          <p:cNvPr id="28" name="TextBox 27"/>
          <p:cNvSpPr txBox="1"/>
          <p:nvPr/>
        </p:nvSpPr>
        <p:spPr>
          <a:xfrm>
            <a:off x="5971032" y="4014215"/>
            <a:ext cx="1271016" cy="457200"/>
          </a:xfrm>
          <a:prstGeom prst="rect">
            <a:avLst/>
          </a:prstGeom>
          <a:noFill/>
        </p:spPr>
        <p:txBody>
          <a:bodyPr wrap="square" lIns="18288" rIns="18288" tIns="18288" bIns="18288" anchor="t">
            <a:spAutoFit/>
          </a:bodyPr>
          <a:lstStyle/>
          <a:p>
            <a:pPr algn="ctr">
              <a:spcAft>
                <a:spcPts val="0"/>
              </a:spcAft>
            </a:pPr>
            <a:r>
              <a:rPr sz="1150" b="0" i="0">
                <a:solidFill>
                  <a:srgbClr val="263746"/>
                </a:solidFill>
                <a:latin typeface="Arial"/>
              </a:rPr>
              <a:t>rank: consensus
fit: real + 5%</a:t>
            </a:r>
          </a:p>
        </p:txBody>
      </p:sp>
      <p:sp>
        <p:nvSpPr>
          <p:cNvPr id="29" name="Right Arrow 28"/>
          <p:cNvSpPr/>
          <p:nvPr/>
        </p:nvSpPr>
        <p:spPr>
          <a:xfrm>
            <a:off x="8522208" y="2852928"/>
            <a:ext cx="475488" cy="347472"/>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9144000" y="2176272"/>
            <a:ext cx="2633472" cy="2057400"/>
          </a:xfrm>
          <a:prstGeom prst="roundRect">
            <a:avLst/>
          </a:prstGeom>
          <a:solidFill>
            <a:srgbClr val="ECF4ED"/>
          </a:solidFill>
          <a:ln w="10160">
            <a:solidFill>
              <a:srgbClr val="478A6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354312" y="2459736"/>
            <a:ext cx="2212848" cy="457200"/>
          </a:xfrm>
          <a:prstGeom prst="rect">
            <a:avLst/>
          </a:prstGeom>
          <a:noFill/>
        </p:spPr>
        <p:txBody>
          <a:bodyPr wrap="square" lIns="18288" rIns="18288" tIns="18288" bIns="18288" anchor="t">
            <a:spAutoFit/>
          </a:bodyPr>
          <a:lstStyle/>
          <a:p>
            <a:pPr algn="ctr">
              <a:spcAft>
                <a:spcPts val="0"/>
              </a:spcAft>
            </a:pPr>
            <a:r>
              <a:rPr sz="1700" b="1" i="0">
                <a:solidFill>
                  <a:srgbClr val="478A64"/>
                </a:solidFill>
                <a:latin typeface="Arial"/>
              </a:rPr>
              <a:t>Held-out real profiles</a:t>
            </a:r>
          </a:p>
        </p:txBody>
      </p:sp>
      <p:sp>
        <p:nvSpPr>
          <p:cNvPr id="32" name="TextBox 31"/>
          <p:cNvSpPr txBox="1"/>
          <p:nvPr/>
        </p:nvSpPr>
        <p:spPr>
          <a:xfrm>
            <a:off x="9400032" y="3063240"/>
            <a:ext cx="2103120" cy="329184"/>
          </a:xfrm>
          <a:prstGeom prst="rect">
            <a:avLst/>
          </a:prstGeom>
          <a:noFill/>
        </p:spPr>
        <p:txBody>
          <a:bodyPr wrap="square" lIns="18288" rIns="18288" tIns="18288" bIns="18288" anchor="t">
            <a:spAutoFit/>
          </a:bodyPr>
          <a:lstStyle/>
          <a:p>
            <a:pPr algn="ctr">
              <a:spcAft>
                <a:spcPts val="0"/>
              </a:spcAft>
            </a:pPr>
            <a:r>
              <a:rPr sz="1600" b="1" i="0">
                <a:solidFill>
                  <a:srgbClr val="082B55"/>
                </a:solidFill>
                <a:latin typeface="Arial"/>
              </a:rPr>
              <a:t>BA | AUROC | AP</a:t>
            </a:r>
          </a:p>
        </p:txBody>
      </p:sp>
      <p:sp>
        <p:nvSpPr>
          <p:cNvPr id="33" name="TextBox 32"/>
          <p:cNvSpPr txBox="1"/>
          <p:nvPr/>
        </p:nvSpPr>
        <p:spPr>
          <a:xfrm>
            <a:off x="9400032" y="3502152"/>
            <a:ext cx="2103120" cy="457200"/>
          </a:xfrm>
          <a:prstGeom prst="rect">
            <a:avLst/>
          </a:prstGeom>
          <a:noFill/>
        </p:spPr>
        <p:txBody>
          <a:bodyPr wrap="square" lIns="18288" rIns="18288" tIns="18288" bIns="18288" anchor="t">
            <a:spAutoFit/>
          </a:bodyPr>
          <a:lstStyle/>
          <a:p>
            <a:pPr algn="ctr">
              <a:spcAft>
                <a:spcPts val="0"/>
              </a:spcAft>
            </a:pPr>
            <a:r>
              <a:rPr sz="1250" b="0" i="0">
                <a:solidFill>
                  <a:srgbClr val="59697A"/>
                </a:solidFill>
                <a:latin typeface="Arial"/>
              </a:rPr>
              <a:t>select one eligible arm
for each tissue</a:t>
            </a:r>
          </a:p>
        </p:txBody>
      </p:sp>
      <p:sp>
        <p:nvSpPr>
          <p:cNvPr id="34" name="Rounded Rectangle 33"/>
          <p:cNvSpPr/>
          <p:nvPr/>
        </p:nvSpPr>
        <p:spPr>
          <a:xfrm>
            <a:off x="347472" y="4919472"/>
            <a:ext cx="11430000" cy="1051560"/>
          </a:xfrm>
          <a:prstGeom prst="roundRect">
            <a:avLst/>
          </a:prstGeom>
          <a:solidFill>
            <a:srgbClr val="082B55"/>
          </a:solidFill>
          <a:ln w="10160">
            <a:solidFill>
              <a:srgbClr val="082B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0080" y="5166360"/>
            <a:ext cx="1600200" cy="310896"/>
          </a:xfrm>
          <a:prstGeom prst="rect">
            <a:avLst/>
          </a:prstGeom>
          <a:noFill/>
        </p:spPr>
        <p:txBody>
          <a:bodyPr wrap="square" lIns="18288" rIns="18288" tIns="18288" bIns="18288" anchor="t">
            <a:spAutoFit/>
          </a:bodyPr>
          <a:lstStyle/>
          <a:p>
            <a:pPr algn="l">
              <a:spcAft>
                <a:spcPts val="0"/>
              </a:spcAft>
            </a:pPr>
            <a:r>
              <a:rPr sz="1700" b="1" i="0">
                <a:solidFill>
                  <a:srgbClr val="FFFFFF"/>
                </a:solidFill>
                <a:latin typeface="Arial"/>
              </a:rPr>
              <a:t>Biology check</a:t>
            </a:r>
          </a:p>
        </p:txBody>
      </p:sp>
      <p:sp>
        <p:nvSpPr>
          <p:cNvPr id="36" name="TextBox 35"/>
          <p:cNvSpPr txBox="1"/>
          <p:nvPr/>
        </p:nvSpPr>
        <p:spPr>
          <a:xfrm>
            <a:off x="2304288" y="5175504"/>
            <a:ext cx="6766560" cy="292608"/>
          </a:xfrm>
          <a:prstGeom prst="rect">
            <a:avLst/>
          </a:prstGeom>
          <a:noFill/>
        </p:spPr>
        <p:txBody>
          <a:bodyPr wrap="square" lIns="18288" rIns="18288" tIns="18288" bIns="18288" anchor="t">
            <a:spAutoFit/>
          </a:bodyPr>
          <a:lstStyle/>
          <a:p>
            <a:pPr algn="l">
              <a:spcAft>
                <a:spcPts val="0"/>
              </a:spcAft>
            </a:pPr>
            <a:r>
              <a:rPr sz="1550" b="0" i="0">
                <a:solidFill>
                  <a:srgbClr val="DCE7F2"/>
                </a:solidFill>
                <a:latin typeface="Arial"/>
              </a:rPr>
              <a:t>FLT vs GC effects, random-effects meta-analysis and BH FDR use real OSDR profiles only.</a:t>
            </a:r>
          </a:p>
        </p:txBody>
      </p:sp>
      <p:sp>
        <p:nvSpPr>
          <p:cNvPr id="37" name="TextBox 36"/>
          <p:cNvSpPr txBox="1"/>
          <p:nvPr/>
        </p:nvSpPr>
        <p:spPr>
          <a:xfrm>
            <a:off x="9189720" y="5065776"/>
            <a:ext cx="2249424" cy="512064"/>
          </a:xfrm>
          <a:prstGeom prst="rect">
            <a:avLst/>
          </a:prstGeom>
          <a:noFill/>
        </p:spPr>
        <p:txBody>
          <a:bodyPr wrap="square" lIns="18288" rIns="18288" tIns="18288" bIns="18288" anchor="ctr">
            <a:spAutoFit/>
          </a:bodyPr>
          <a:lstStyle/>
          <a:p>
            <a:pPr algn="ctr">
              <a:spcAft>
                <a:spcPts val="0"/>
              </a:spcAft>
            </a:pPr>
            <a:r>
              <a:rPr sz="1400" b="1" i="0">
                <a:solidFill>
                  <a:srgbClr val="FFD69A"/>
                </a:solidFill>
                <a:latin typeface="Arial"/>
              </a:rPr>
              <a:t>Synthetic profiles never increase animal 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UTILITY</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Pooling tissues hid useful signal</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A single FLT/GC classifier did not improve, but tissue-specific synthetic use often did.</a:t>
            </a:r>
          </a:p>
        </p:txBody>
      </p:sp>
      <p:sp>
        <p:nvSpPr>
          <p:cNvPr id="7" name="Rounded Rectangle 6"/>
          <p:cNvSpPr/>
          <p:nvPr/>
        </p:nvSpPr>
        <p:spPr>
          <a:xfrm>
            <a:off x="347472" y="1847088"/>
            <a:ext cx="3200400" cy="4224528"/>
          </a:xfrm>
          <a:prstGeom prst="roundRect">
            <a:avLst/>
          </a:prstGeom>
          <a:solidFill>
            <a:srgbClr val="F8F1E2"/>
          </a:solidFill>
          <a:ln w="10160">
            <a:solidFill>
              <a:srgbClr val="E8D6A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12648" y="2103120"/>
            <a:ext cx="2651760" cy="320040"/>
          </a:xfrm>
          <a:prstGeom prst="rect">
            <a:avLst/>
          </a:prstGeom>
          <a:noFill/>
        </p:spPr>
        <p:txBody>
          <a:bodyPr wrap="square" lIns="18288" rIns="18288" tIns="18288" bIns="18288" anchor="t">
            <a:spAutoFit/>
          </a:bodyPr>
          <a:lstStyle/>
          <a:p>
            <a:pPr algn="l">
              <a:spcAft>
                <a:spcPts val="0"/>
              </a:spcAft>
            </a:pPr>
            <a:r>
              <a:rPr sz="1700" b="1" i="0">
                <a:solidFill>
                  <a:srgbClr val="9A6B20"/>
                </a:solidFill>
                <a:latin typeface="Arial"/>
              </a:rPr>
              <a:t>Pooled across tissues</a:t>
            </a:r>
          </a:p>
        </p:txBody>
      </p:sp>
      <p:sp>
        <p:nvSpPr>
          <p:cNvPr id="9" name="Rectangle 8"/>
          <p:cNvSpPr/>
          <p:nvPr/>
        </p:nvSpPr>
        <p:spPr>
          <a:xfrm>
            <a:off x="640080" y="5486400"/>
            <a:ext cx="2633472" cy="10972"/>
          </a:xfrm>
          <a:prstGeom prst="rect">
            <a:avLst/>
          </a:prstGeom>
          <a:solidFill>
            <a:srgbClr val="D8DE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93192" y="5394960"/>
            <a:ext cx="201168" cy="182880"/>
          </a:xfrm>
          <a:prstGeom prst="rect">
            <a:avLst/>
          </a:prstGeom>
          <a:noFill/>
        </p:spPr>
        <p:txBody>
          <a:bodyPr wrap="square" lIns="0" rIns="0" tIns="0" bIns="0" anchor="t">
            <a:spAutoFit/>
          </a:bodyPr>
          <a:lstStyle/>
          <a:p>
            <a:pPr algn="r">
              <a:spcAft>
                <a:spcPts val="0"/>
              </a:spcAft>
            </a:pPr>
            <a:r>
              <a:rPr sz="850" b="0" i="0">
                <a:solidFill>
                  <a:srgbClr val="8A969E"/>
                </a:solidFill>
                <a:latin typeface="Arial"/>
              </a:rPr>
              <a:t>0</a:t>
            </a:r>
          </a:p>
        </p:txBody>
      </p:sp>
      <p:sp>
        <p:nvSpPr>
          <p:cNvPr id="11" name="Rectangle 10"/>
          <p:cNvSpPr/>
          <p:nvPr/>
        </p:nvSpPr>
        <p:spPr>
          <a:xfrm>
            <a:off x="640080" y="4114800"/>
            <a:ext cx="2633472" cy="10972"/>
          </a:xfrm>
          <a:prstGeom prst="rect">
            <a:avLst/>
          </a:prstGeom>
          <a:solidFill>
            <a:srgbClr val="D8DE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93192" y="4023360"/>
            <a:ext cx="201168" cy="182880"/>
          </a:xfrm>
          <a:prstGeom prst="rect">
            <a:avLst/>
          </a:prstGeom>
          <a:noFill/>
        </p:spPr>
        <p:txBody>
          <a:bodyPr wrap="square" lIns="0" rIns="0" tIns="0" bIns="0" anchor="t">
            <a:spAutoFit/>
          </a:bodyPr>
          <a:lstStyle/>
          <a:p>
            <a:pPr algn="r">
              <a:spcAft>
                <a:spcPts val="0"/>
              </a:spcAft>
            </a:pPr>
            <a:r>
              <a:rPr sz="850" b="0" i="0">
                <a:solidFill>
                  <a:srgbClr val="8A969E"/>
                </a:solidFill>
                <a:latin typeface="Arial"/>
              </a:rPr>
              <a:t>0.5</a:t>
            </a:r>
          </a:p>
        </p:txBody>
      </p:sp>
      <p:sp>
        <p:nvSpPr>
          <p:cNvPr id="13" name="Rectangle 12"/>
          <p:cNvSpPr/>
          <p:nvPr/>
        </p:nvSpPr>
        <p:spPr>
          <a:xfrm>
            <a:off x="640080" y="2743200"/>
            <a:ext cx="2633472" cy="10972"/>
          </a:xfrm>
          <a:prstGeom prst="rect">
            <a:avLst/>
          </a:prstGeom>
          <a:solidFill>
            <a:srgbClr val="D8DE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93192" y="2651760"/>
            <a:ext cx="201168" cy="182880"/>
          </a:xfrm>
          <a:prstGeom prst="rect">
            <a:avLst/>
          </a:prstGeom>
          <a:noFill/>
        </p:spPr>
        <p:txBody>
          <a:bodyPr wrap="square" lIns="0" rIns="0" tIns="0" bIns="0" anchor="t">
            <a:spAutoFit/>
          </a:bodyPr>
          <a:lstStyle/>
          <a:p>
            <a:pPr algn="r">
              <a:spcAft>
                <a:spcPts val="0"/>
              </a:spcAft>
            </a:pPr>
            <a:r>
              <a:rPr sz="850" b="0" i="0">
                <a:solidFill>
                  <a:srgbClr val="8A969E"/>
                </a:solidFill>
                <a:latin typeface="Arial"/>
              </a:rPr>
              <a:t>1.0</a:t>
            </a:r>
          </a:p>
        </p:txBody>
      </p:sp>
      <p:sp>
        <p:nvSpPr>
          <p:cNvPr id="15" name="Rectangle 14"/>
          <p:cNvSpPr/>
          <p:nvPr/>
        </p:nvSpPr>
        <p:spPr>
          <a:xfrm>
            <a:off x="713232" y="3418027"/>
            <a:ext cx="566928" cy="2068372"/>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3097987"/>
            <a:ext cx="713232" cy="256032"/>
          </a:xfrm>
          <a:prstGeom prst="rect">
            <a:avLst/>
          </a:prstGeom>
          <a:noFill/>
        </p:spPr>
        <p:txBody>
          <a:bodyPr wrap="square" lIns="18288" rIns="18288" tIns="18288" bIns="18288" anchor="t">
            <a:spAutoFit/>
          </a:bodyPr>
          <a:lstStyle/>
          <a:p>
            <a:pPr algn="ctr">
              <a:spcAft>
                <a:spcPts val="0"/>
              </a:spcAft>
            </a:pPr>
            <a:r>
              <a:rPr sz="1400" b="1" i="0">
                <a:solidFill>
                  <a:srgbClr val="082B55"/>
                </a:solidFill>
                <a:latin typeface="Arial"/>
              </a:rPr>
              <a:t>0.754</a:t>
            </a:r>
          </a:p>
        </p:txBody>
      </p:sp>
      <p:sp>
        <p:nvSpPr>
          <p:cNvPr id="17" name="TextBox 16"/>
          <p:cNvSpPr txBox="1"/>
          <p:nvPr/>
        </p:nvSpPr>
        <p:spPr>
          <a:xfrm>
            <a:off x="530352" y="5559552"/>
            <a:ext cx="960120" cy="502920"/>
          </a:xfrm>
          <a:prstGeom prst="rect">
            <a:avLst/>
          </a:prstGeom>
          <a:noFill/>
        </p:spPr>
        <p:txBody>
          <a:bodyPr wrap="square" lIns="18288" rIns="18288" tIns="18288" bIns="18288" anchor="t">
            <a:spAutoFit/>
          </a:bodyPr>
          <a:lstStyle/>
          <a:p>
            <a:pPr algn="ctr">
              <a:spcAft>
                <a:spcPts val="0"/>
              </a:spcAft>
            </a:pPr>
            <a:r>
              <a:rPr sz="1050" b="0" i="0">
                <a:solidFill>
                  <a:srgbClr val="263746"/>
                </a:solidFill>
                <a:latin typeface="Arial"/>
              </a:rPr>
              <a:t>Real only</a:t>
            </a:r>
          </a:p>
        </p:txBody>
      </p:sp>
      <p:sp>
        <p:nvSpPr>
          <p:cNvPr id="18" name="Rectangle 17"/>
          <p:cNvSpPr/>
          <p:nvPr/>
        </p:nvSpPr>
        <p:spPr>
          <a:xfrm>
            <a:off x="1591056" y="3579876"/>
            <a:ext cx="566928" cy="1906524"/>
          </a:xfrm>
          <a:prstGeom prst="rect">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517904" y="3259836"/>
            <a:ext cx="713232" cy="256032"/>
          </a:xfrm>
          <a:prstGeom prst="rect">
            <a:avLst/>
          </a:prstGeom>
          <a:noFill/>
        </p:spPr>
        <p:txBody>
          <a:bodyPr wrap="square" lIns="18288" rIns="18288" tIns="18288" bIns="18288" anchor="t">
            <a:spAutoFit/>
          </a:bodyPr>
          <a:lstStyle/>
          <a:p>
            <a:pPr algn="ctr">
              <a:spcAft>
                <a:spcPts val="0"/>
              </a:spcAft>
            </a:pPr>
            <a:r>
              <a:rPr sz="1400" b="1" i="0">
                <a:solidFill>
                  <a:srgbClr val="082B55"/>
                </a:solidFill>
                <a:latin typeface="Arial"/>
              </a:rPr>
              <a:t>0.695</a:t>
            </a:r>
          </a:p>
        </p:txBody>
      </p:sp>
      <p:sp>
        <p:nvSpPr>
          <p:cNvPr id="20" name="TextBox 19"/>
          <p:cNvSpPr txBox="1"/>
          <p:nvPr/>
        </p:nvSpPr>
        <p:spPr>
          <a:xfrm>
            <a:off x="1408176" y="5559552"/>
            <a:ext cx="960120" cy="502920"/>
          </a:xfrm>
          <a:prstGeom prst="rect">
            <a:avLst/>
          </a:prstGeom>
          <a:noFill/>
        </p:spPr>
        <p:txBody>
          <a:bodyPr wrap="square" lIns="18288" rIns="18288" tIns="18288" bIns="18288" anchor="t">
            <a:spAutoFit/>
          </a:bodyPr>
          <a:lstStyle/>
          <a:p>
            <a:pPr algn="ctr">
              <a:spcAft>
                <a:spcPts val="0"/>
              </a:spcAft>
            </a:pPr>
            <a:r>
              <a:rPr sz="1050" b="0" i="0">
                <a:solidFill>
                  <a:srgbClr val="263746"/>
                </a:solidFill>
                <a:latin typeface="Arial"/>
              </a:rPr>
              <a:t>Generated only</a:t>
            </a:r>
          </a:p>
        </p:txBody>
      </p:sp>
      <p:sp>
        <p:nvSpPr>
          <p:cNvPr id="21" name="Rectangle 20"/>
          <p:cNvSpPr/>
          <p:nvPr/>
        </p:nvSpPr>
        <p:spPr>
          <a:xfrm>
            <a:off x="2468880" y="3464661"/>
            <a:ext cx="566928" cy="202173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395728" y="3144621"/>
            <a:ext cx="713232" cy="256032"/>
          </a:xfrm>
          <a:prstGeom prst="rect">
            <a:avLst/>
          </a:prstGeom>
          <a:noFill/>
        </p:spPr>
        <p:txBody>
          <a:bodyPr wrap="square" lIns="18288" rIns="18288" tIns="18288" bIns="18288" anchor="t">
            <a:spAutoFit/>
          </a:bodyPr>
          <a:lstStyle/>
          <a:p>
            <a:pPr algn="ctr">
              <a:spcAft>
                <a:spcPts val="0"/>
              </a:spcAft>
            </a:pPr>
            <a:r>
              <a:rPr sz="1400" b="1" i="0">
                <a:solidFill>
                  <a:srgbClr val="082B55"/>
                </a:solidFill>
                <a:latin typeface="Arial"/>
              </a:rPr>
              <a:t>0.737</a:t>
            </a:r>
          </a:p>
        </p:txBody>
      </p:sp>
      <p:sp>
        <p:nvSpPr>
          <p:cNvPr id="23" name="TextBox 22"/>
          <p:cNvSpPr txBox="1"/>
          <p:nvPr/>
        </p:nvSpPr>
        <p:spPr>
          <a:xfrm>
            <a:off x="2286000" y="5559552"/>
            <a:ext cx="960120" cy="502920"/>
          </a:xfrm>
          <a:prstGeom prst="rect">
            <a:avLst/>
          </a:prstGeom>
          <a:noFill/>
        </p:spPr>
        <p:txBody>
          <a:bodyPr wrap="square" lIns="18288" rIns="18288" tIns="18288" bIns="18288" anchor="t">
            <a:spAutoFit/>
          </a:bodyPr>
          <a:lstStyle/>
          <a:p>
            <a:pPr algn="ctr">
              <a:spcAft>
                <a:spcPts val="0"/>
              </a:spcAft>
            </a:pPr>
            <a:r>
              <a:rPr sz="1050" b="0" i="0">
                <a:solidFill>
                  <a:srgbClr val="263746"/>
                </a:solidFill>
                <a:latin typeface="Arial"/>
              </a:rPr>
              <a:t>Real + synth.</a:t>
            </a:r>
          </a:p>
        </p:txBody>
      </p:sp>
      <p:sp>
        <p:nvSpPr>
          <p:cNvPr id="24" name="Rectangle 23"/>
          <p:cNvSpPr/>
          <p:nvPr/>
        </p:nvSpPr>
        <p:spPr>
          <a:xfrm>
            <a:off x="640080" y="5486400"/>
            <a:ext cx="2633472" cy="18288"/>
          </a:xfrm>
          <a:prstGeom prst="rect">
            <a:avLst/>
          </a:prstGeom>
          <a:solidFill>
            <a:srgbClr val="86949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58368" y="2542032"/>
            <a:ext cx="2542032" cy="228600"/>
          </a:xfrm>
          <a:prstGeom prst="rect">
            <a:avLst/>
          </a:prstGeom>
          <a:noFill/>
        </p:spPr>
        <p:txBody>
          <a:bodyPr wrap="square" lIns="18288" rIns="18288" tIns="18288" bIns="18288" anchor="t">
            <a:spAutoFit/>
          </a:bodyPr>
          <a:lstStyle/>
          <a:p>
            <a:pPr algn="l">
              <a:spcAft>
                <a:spcPts val="0"/>
              </a:spcAft>
            </a:pPr>
            <a:r>
              <a:rPr sz="1250" b="0" i="0">
                <a:solidFill>
                  <a:srgbClr val="59697A"/>
                </a:solidFill>
                <a:latin typeface="Arial"/>
              </a:rPr>
              <a:t>Balanced accuracy (0-1)</a:t>
            </a:r>
          </a:p>
        </p:txBody>
      </p:sp>
      <p:sp>
        <p:nvSpPr>
          <p:cNvPr id="26" name="Rounded Rectangle 25"/>
          <p:cNvSpPr/>
          <p:nvPr/>
        </p:nvSpPr>
        <p:spPr>
          <a:xfrm>
            <a:off x="3767328" y="1847088"/>
            <a:ext cx="8083296" cy="4224528"/>
          </a:xfrm>
          <a:prstGeom prst="roundRect">
            <a:avLst/>
          </a:prstGeom>
          <a:solidFill>
            <a:srgbClr val="FFFFFF"/>
          </a:solidFill>
          <a:ln w="10160">
            <a:solidFill>
              <a:srgbClr val="DD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041648" y="2093976"/>
            <a:ext cx="3840480" cy="310896"/>
          </a:xfrm>
          <a:prstGeom prst="rect">
            <a:avLst/>
          </a:prstGeom>
          <a:noFill/>
        </p:spPr>
        <p:txBody>
          <a:bodyPr wrap="square" lIns="18288" rIns="18288" tIns="18288" bIns="18288" anchor="t">
            <a:spAutoFit/>
          </a:bodyPr>
          <a:lstStyle/>
          <a:p>
            <a:pPr algn="l">
              <a:spcAft>
                <a:spcPts val="0"/>
              </a:spcAft>
            </a:pPr>
            <a:r>
              <a:rPr sz="1700" b="1" i="0">
                <a:solidFill>
                  <a:srgbClr val="178681"/>
                </a:solidFill>
                <a:latin typeface="Arial"/>
              </a:rPr>
              <a:t>Selected use within each tissue</a:t>
            </a:r>
          </a:p>
        </p:txBody>
      </p:sp>
      <p:pic>
        <p:nvPicPr>
          <p:cNvPr id="28" name="Balanced accuracy before and after tissue-specific synthetic use" descr="Balanced accuracy before and after tissue-specific synthetic use"/>
          <p:cNvPicPr>
            <a:picLocks noChangeAspect="1"/>
          </p:cNvPicPr>
          <p:nvPr/>
        </p:nvPicPr>
        <p:blipFill>
          <a:blip r:embed="rId2"/>
          <a:stretch>
            <a:fillRect/>
          </a:stretch>
        </p:blipFill>
        <p:spPr>
          <a:xfrm>
            <a:off x="4743130" y="2423160"/>
            <a:ext cx="6021963" cy="3383280"/>
          </a:xfrm>
          <a:prstGeom prst="rect">
            <a:avLst/>
          </a:prstGeom>
        </p:spPr>
      </p:pic>
      <p:sp>
        <p:nvSpPr>
          <p:cNvPr id="29" name="TextBox 28"/>
          <p:cNvSpPr txBox="1"/>
          <p:nvPr/>
        </p:nvSpPr>
        <p:spPr>
          <a:xfrm>
            <a:off x="4059936" y="5715000"/>
            <a:ext cx="4114800" cy="246888"/>
          </a:xfrm>
          <a:prstGeom prst="rect">
            <a:avLst/>
          </a:prstGeom>
          <a:noFill/>
        </p:spPr>
        <p:txBody>
          <a:bodyPr wrap="square" lIns="18288" rIns="18288" tIns="18288" bIns="18288" anchor="t">
            <a:spAutoFit/>
          </a:bodyPr>
          <a:lstStyle/>
          <a:p>
            <a:pPr algn="l">
              <a:spcAft>
                <a:spcPts val="0"/>
              </a:spcAft>
            </a:pPr>
            <a:r>
              <a:rPr sz="1250" b="0" i="1">
                <a:solidFill>
                  <a:srgbClr val="59697A"/>
                </a:solidFill>
                <a:latin typeface="Arial"/>
              </a:rPr>
              <a:t>The useful arm differed by tissue.</a:t>
            </a:r>
          </a:p>
        </p:txBody>
      </p:sp>
      <p:sp>
        <p:nvSpPr>
          <p:cNvPr id="30" name="TextBox 29"/>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Development results with held-out profiles from represented accessions; they do not measure transfer to a new mission.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FEATURE ANALYSIS</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Synthetic guidance changed ranking, not statistical evidence</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Promoted and reinforced describe repeated feature selection; both require a supporting effect in real OSDR data.</a:t>
            </a:r>
          </a:p>
        </p:txBody>
      </p:sp>
      <p:sp>
        <p:nvSpPr>
          <p:cNvPr id="7" name="TextBox 6"/>
          <p:cNvSpPr txBox="1"/>
          <p:nvPr/>
        </p:nvSpPr>
        <p:spPr>
          <a:xfrm>
            <a:off x="566928" y="1847088"/>
            <a:ext cx="4443984" cy="310896"/>
          </a:xfrm>
          <a:prstGeom prst="rect">
            <a:avLst/>
          </a:prstGeom>
          <a:noFill/>
        </p:spPr>
        <p:txBody>
          <a:bodyPr wrap="square" lIns="18288" rIns="18288" tIns="18288" bIns="18288" anchor="t">
            <a:spAutoFit/>
          </a:bodyPr>
          <a:lstStyle/>
          <a:p>
            <a:pPr algn="ctr">
              <a:spcAft>
                <a:spcPts val="0"/>
              </a:spcAft>
            </a:pPr>
            <a:r>
              <a:rPr sz="1600" b="1" i="0">
                <a:solidFill>
                  <a:srgbClr val="59697A"/>
                </a:solidFill>
                <a:latin typeface="Arial"/>
              </a:rPr>
              <a:t>Repeated stable selection</a:t>
            </a:r>
          </a:p>
        </p:txBody>
      </p:sp>
      <p:sp>
        <p:nvSpPr>
          <p:cNvPr id="8" name="Oval 7"/>
          <p:cNvSpPr/>
          <p:nvPr/>
        </p:nvSpPr>
        <p:spPr>
          <a:xfrm>
            <a:off x="566928" y="2304288"/>
            <a:ext cx="2743200" cy="2148840"/>
          </a:xfrm>
          <a:prstGeom prst="ellipse">
            <a:avLst/>
          </a:prstGeom>
          <a:noFill/>
          <a:ln w="30480">
            <a:solidFill>
              <a:srgbClr val="2D64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2267712" y="2304288"/>
            <a:ext cx="2743200" cy="2148840"/>
          </a:xfrm>
          <a:prstGeom prst="ellipse">
            <a:avLst/>
          </a:prstGeom>
          <a:noFill/>
          <a:ln w="3048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9224" y="2816352"/>
            <a:ext cx="1609344" cy="265176"/>
          </a:xfrm>
          <a:prstGeom prst="rect">
            <a:avLst/>
          </a:prstGeom>
          <a:noFill/>
        </p:spPr>
        <p:txBody>
          <a:bodyPr wrap="square" lIns="0" rIns="0" tIns="0" bIns="0" anchor="t">
            <a:spAutoFit/>
          </a:bodyPr>
          <a:lstStyle/>
          <a:p>
            <a:pPr algn="ctr">
              <a:spcAft>
                <a:spcPts val="0"/>
              </a:spcAft>
            </a:pPr>
            <a:r>
              <a:rPr sz="1600" b="1" i="0">
                <a:solidFill>
                  <a:srgbClr val="2D6496"/>
                </a:solidFill>
                <a:latin typeface="Arial"/>
              </a:rPr>
              <a:t>Real-only</a:t>
            </a:r>
          </a:p>
        </p:txBody>
      </p:sp>
      <p:sp>
        <p:nvSpPr>
          <p:cNvPr id="11" name="TextBox 10"/>
          <p:cNvSpPr txBox="1"/>
          <p:nvPr/>
        </p:nvSpPr>
        <p:spPr>
          <a:xfrm>
            <a:off x="649224" y="3108960"/>
            <a:ext cx="1609344" cy="265176"/>
          </a:xfrm>
          <a:prstGeom prst="rect">
            <a:avLst/>
          </a:prstGeom>
          <a:noFill/>
        </p:spPr>
        <p:txBody>
          <a:bodyPr wrap="square" lIns="0" rIns="0" tIns="0" bIns="0" anchor="t">
            <a:spAutoFit/>
          </a:bodyPr>
          <a:lstStyle/>
          <a:p>
            <a:pPr algn="ctr">
              <a:spcAft>
                <a:spcPts val="0"/>
              </a:spcAft>
            </a:pPr>
            <a:r>
              <a:rPr sz="1600" b="1" i="0">
                <a:solidFill>
                  <a:srgbClr val="2D6496"/>
                </a:solidFill>
                <a:latin typeface="Arial"/>
              </a:rPr>
              <a:t>ranking</a:t>
            </a:r>
          </a:p>
        </p:txBody>
      </p:sp>
      <p:sp>
        <p:nvSpPr>
          <p:cNvPr id="12" name="TextBox 11"/>
          <p:cNvSpPr txBox="1"/>
          <p:nvPr/>
        </p:nvSpPr>
        <p:spPr>
          <a:xfrm>
            <a:off x="3300984" y="2816352"/>
            <a:ext cx="1719072" cy="265176"/>
          </a:xfrm>
          <a:prstGeom prst="rect">
            <a:avLst/>
          </a:prstGeom>
          <a:noFill/>
        </p:spPr>
        <p:txBody>
          <a:bodyPr wrap="square" lIns="0" rIns="0" tIns="0" bIns="0" anchor="t">
            <a:spAutoFit/>
          </a:bodyPr>
          <a:lstStyle/>
          <a:p>
            <a:pPr algn="ctr">
              <a:spcAft>
                <a:spcPts val="0"/>
              </a:spcAft>
            </a:pPr>
            <a:r>
              <a:rPr sz="1350" b="1" i="0">
                <a:solidFill>
                  <a:srgbClr val="178681"/>
                </a:solidFill>
                <a:latin typeface="Arial"/>
              </a:rPr>
              <a:t>Synthetic-guided</a:t>
            </a:r>
          </a:p>
        </p:txBody>
      </p:sp>
      <p:sp>
        <p:nvSpPr>
          <p:cNvPr id="13" name="TextBox 12"/>
          <p:cNvSpPr txBox="1"/>
          <p:nvPr/>
        </p:nvSpPr>
        <p:spPr>
          <a:xfrm>
            <a:off x="3300984" y="3108960"/>
            <a:ext cx="1719072" cy="265176"/>
          </a:xfrm>
          <a:prstGeom prst="rect">
            <a:avLst/>
          </a:prstGeom>
          <a:noFill/>
        </p:spPr>
        <p:txBody>
          <a:bodyPr wrap="square" lIns="0" rIns="0" tIns="0" bIns="0" anchor="t">
            <a:spAutoFit/>
          </a:bodyPr>
          <a:lstStyle/>
          <a:p>
            <a:pPr algn="ctr">
              <a:spcAft>
                <a:spcPts val="0"/>
              </a:spcAft>
            </a:pPr>
            <a:r>
              <a:rPr sz="1600" b="1" i="0">
                <a:solidFill>
                  <a:srgbClr val="178681"/>
                </a:solidFill>
                <a:latin typeface="Arial"/>
              </a:rPr>
              <a:t>ranking</a:t>
            </a:r>
          </a:p>
        </p:txBody>
      </p:sp>
      <p:sp>
        <p:nvSpPr>
          <p:cNvPr id="14" name="TextBox 13"/>
          <p:cNvSpPr txBox="1"/>
          <p:nvPr/>
        </p:nvSpPr>
        <p:spPr>
          <a:xfrm>
            <a:off x="2304288" y="2999232"/>
            <a:ext cx="969264" cy="219456"/>
          </a:xfrm>
          <a:prstGeom prst="rect">
            <a:avLst/>
          </a:prstGeom>
          <a:noFill/>
        </p:spPr>
        <p:txBody>
          <a:bodyPr wrap="square" lIns="0" rIns="0" tIns="0" bIns="0" anchor="t">
            <a:spAutoFit/>
          </a:bodyPr>
          <a:lstStyle/>
          <a:p>
            <a:pPr algn="ctr">
              <a:spcAft>
                <a:spcPts val="0"/>
              </a:spcAft>
            </a:pPr>
            <a:r>
              <a:rPr sz="1200" b="1" i="0">
                <a:solidFill>
                  <a:srgbClr val="D37B00"/>
                </a:solidFill>
                <a:latin typeface="Arial"/>
              </a:rPr>
              <a:t>23</a:t>
            </a:r>
          </a:p>
        </p:txBody>
      </p:sp>
      <p:sp>
        <p:nvSpPr>
          <p:cNvPr id="15" name="TextBox 14"/>
          <p:cNvSpPr txBox="1"/>
          <p:nvPr/>
        </p:nvSpPr>
        <p:spPr>
          <a:xfrm>
            <a:off x="2304288" y="3236976"/>
            <a:ext cx="969264" cy="219456"/>
          </a:xfrm>
          <a:prstGeom prst="rect">
            <a:avLst/>
          </a:prstGeom>
          <a:noFill/>
        </p:spPr>
        <p:txBody>
          <a:bodyPr wrap="square" lIns="0" rIns="0" tIns="0" bIns="0" anchor="t">
            <a:spAutoFit/>
          </a:bodyPr>
          <a:lstStyle/>
          <a:p>
            <a:pPr algn="ctr">
              <a:spcAft>
                <a:spcPts val="0"/>
              </a:spcAft>
            </a:pPr>
            <a:r>
              <a:rPr sz="1200" b="1" i="0">
                <a:solidFill>
                  <a:srgbClr val="D37B00"/>
                </a:solidFill>
                <a:latin typeface="Arial"/>
              </a:rPr>
              <a:t>reinforced</a:t>
            </a:r>
          </a:p>
        </p:txBody>
      </p:sp>
      <p:sp>
        <p:nvSpPr>
          <p:cNvPr id="16" name="Rounded Rectangle 15"/>
          <p:cNvSpPr/>
          <p:nvPr/>
        </p:nvSpPr>
        <p:spPr>
          <a:xfrm>
            <a:off x="3218688" y="4535424"/>
            <a:ext cx="1700784" cy="713232"/>
          </a:xfrm>
          <a:prstGeom prst="roundRect">
            <a:avLst/>
          </a:prstGeom>
          <a:solidFill>
            <a:srgbClr val="E8F3F1"/>
          </a:solidFill>
          <a:ln w="101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346704" y="4626864"/>
            <a:ext cx="1444752" cy="219456"/>
          </a:xfrm>
          <a:prstGeom prst="rect">
            <a:avLst/>
          </a:prstGeom>
          <a:noFill/>
        </p:spPr>
        <p:txBody>
          <a:bodyPr wrap="square" lIns="18288" rIns="18288" tIns="18288" bIns="18288" anchor="t">
            <a:spAutoFit/>
          </a:bodyPr>
          <a:lstStyle/>
          <a:p>
            <a:pPr algn="ctr">
              <a:spcAft>
                <a:spcPts val="0"/>
              </a:spcAft>
            </a:pPr>
            <a:r>
              <a:rPr sz="1350" b="1" i="0">
                <a:solidFill>
                  <a:srgbClr val="178681"/>
                </a:solidFill>
                <a:latin typeface="Arial"/>
              </a:rPr>
              <a:t>26 promoted</a:t>
            </a:r>
          </a:p>
        </p:txBody>
      </p:sp>
      <p:sp>
        <p:nvSpPr>
          <p:cNvPr id="18" name="TextBox 17"/>
          <p:cNvSpPr txBox="1"/>
          <p:nvPr/>
        </p:nvSpPr>
        <p:spPr>
          <a:xfrm>
            <a:off x="3364992" y="4882896"/>
            <a:ext cx="1408176" cy="292608"/>
          </a:xfrm>
          <a:prstGeom prst="rect">
            <a:avLst/>
          </a:prstGeom>
          <a:noFill/>
        </p:spPr>
        <p:txBody>
          <a:bodyPr wrap="square" lIns="18288" rIns="18288" tIns="18288" bIns="18288" anchor="t">
            <a:spAutoFit/>
          </a:bodyPr>
          <a:lstStyle/>
          <a:p>
            <a:pPr algn="ctr">
              <a:spcAft>
                <a:spcPts val="0"/>
              </a:spcAft>
            </a:pPr>
            <a:r>
              <a:rPr sz="950" b="0" i="0">
                <a:solidFill>
                  <a:srgbClr val="59697A"/>
                </a:solidFill>
                <a:latin typeface="Arial"/>
              </a:rPr>
              <a:t>selected only with
synthetic guidance</a:t>
            </a:r>
          </a:p>
        </p:txBody>
      </p:sp>
      <p:sp>
        <p:nvSpPr>
          <p:cNvPr id="19" name="Right Arrow 18"/>
          <p:cNvSpPr/>
          <p:nvPr/>
        </p:nvSpPr>
        <p:spPr>
          <a:xfrm>
            <a:off x="5285232" y="3017520"/>
            <a:ext cx="594360" cy="438912"/>
          </a:xfrm>
          <a:prstGeom prst="rightArrow">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6108192" y="2039112"/>
            <a:ext cx="5468112" cy="3355848"/>
          </a:xfrm>
          <a:prstGeom prst="roundRect">
            <a:avLst/>
          </a:prstGeom>
          <a:solidFill>
            <a:srgbClr val="E9F1F7"/>
          </a:solidFill>
          <a:ln w="10160">
            <a:solidFill>
              <a:srgbClr val="2D64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19088" y="2304288"/>
            <a:ext cx="4846320" cy="365760"/>
          </a:xfrm>
          <a:prstGeom prst="rect">
            <a:avLst/>
          </a:prstGeom>
          <a:noFill/>
        </p:spPr>
        <p:txBody>
          <a:bodyPr wrap="square" lIns="18288" rIns="18288" tIns="18288" bIns="18288" anchor="t">
            <a:spAutoFit/>
          </a:bodyPr>
          <a:lstStyle/>
          <a:p>
            <a:pPr algn="ctr">
              <a:spcAft>
                <a:spcPts val="0"/>
              </a:spcAft>
            </a:pPr>
            <a:r>
              <a:rPr sz="2000" b="1" i="0">
                <a:solidFill>
                  <a:srgbClr val="2D6496"/>
                </a:solidFill>
                <a:latin typeface="Arial"/>
              </a:rPr>
              <a:t>Real OSDR association test</a:t>
            </a:r>
          </a:p>
        </p:txBody>
      </p:sp>
      <p:sp>
        <p:nvSpPr>
          <p:cNvPr id="22" name="Oval 21"/>
          <p:cNvSpPr/>
          <p:nvPr/>
        </p:nvSpPr>
        <p:spPr>
          <a:xfrm>
            <a:off x="6601968" y="3017520"/>
            <a:ext cx="91440" cy="91440"/>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766559" y="2907792"/>
            <a:ext cx="4361688" cy="530352"/>
          </a:xfrm>
          <a:prstGeom prst="rect">
            <a:avLst/>
          </a:prstGeom>
          <a:noFill/>
        </p:spPr>
        <p:txBody>
          <a:bodyPr wrap="square" lIns="18288" rIns="18288" tIns="18288" bIns="18288" anchor="ctr">
            <a:spAutoFit/>
          </a:bodyPr>
          <a:lstStyle/>
          <a:p>
            <a:pPr algn="l">
              <a:spcAft>
                <a:spcPts val="0"/>
              </a:spcAft>
            </a:pPr>
            <a:r>
              <a:rPr sz="1500" b="0" i="0">
                <a:solidFill>
                  <a:srgbClr val="263746"/>
                </a:solidFill>
                <a:latin typeface="Arial"/>
              </a:rPr>
              <a:t>Estimate FLT vs GC inside each accession</a:t>
            </a:r>
          </a:p>
        </p:txBody>
      </p:sp>
      <p:sp>
        <p:nvSpPr>
          <p:cNvPr id="24" name="Oval 23"/>
          <p:cNvSpPr/>
          <p:nvPr/>
        </p:nvSpPr>
        <p:spPr>
          <a:xfrm>
            <a:off x="6601968" y="3547872"/>
            <a:ext cx="91440" cy="91440"/>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766559" y="3438144"/>
            <a:ext cx="4361688" cy="530352"/>
          </a:xfrm>
          <a:prstGeom prst="rect">
            <a:avLst/>
          </a:prstGeom>
          <a:noFill/>
        </p:spPr>
        <p:txBody>
          <a:bodyPr wrap="square" lIns="18288" rIns="18288" tIns="18288" bIns="18288" anchor="ctr">
            <a:spAutoFit/>
          </a:bodyPr>
          <a:lstStyle/>
          <a:p>
            <a:pPr algn="l">
              <a:spcAft>
                <a:spcPts val="0"/>
              </a:spcAft>
            </a:pPr>
            <a:r>
              <a:rPr sz="1500" b="0" i="0">
                <a:solidFill>
                  <a:srgbClr val="263746"/>
                </a:solidFill>
                <a:latin typeface="Arial"/>
              </a:rPr>
              <a:t>Combine accession effects with a random-effects model</a:t>
            </a:r>
          </a:p>
        </p:txBody>
      </p:sp>
      <p:sp>
        <p:nvSpPr>
          <p:cNvPr id="26" name="Oval 25"/>
          <p:cNvSpPr/>
          <p:nvPr/>
        </p:nvSpPr>
        <p:spPr>
          <a:xfrm>
            <a:off x="6601968" y="4078224"/>
            <a:ext cx="91440" cy="91440"/>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766559" y="3968496"/>
            <a:ext cx="4361688" cy="530352"/>
          </a:xfrm>
          <a:prstGeom prst="rect">
            <a:avLst/>
          </a:prstGeom>
          <a:noFill/>
        </p:spPr>
        <p:txBody>
          <a:bodyPr wrap="square" lIns="18288" rIns="18288" tIns="18288" bIns="18288" anchor="ctr">
            <a:spAutoFit/>
          </a:bodyPr>
          <a:lstStyle/>
          <a:p>
            <a:pPr algn="l">
              <a:spcAft>
                <a:spcPts val="0"/>
              </a:spcAft>
            </a:pPr>
            <a:r>
              <a:rPr sz="1500" b="0" i="0">
                <a:solidFill>
                  <a:srgbClr val="263746"/>
                </a:solidFill>
                <a:latin typeface="Arial"/>
              </a:rPr>
              <a:t>Apply BH FDR within each tissue</a:t>
            </a:r>
          </a:p>
        </p:txBody>
      </p:sp>
      <p:sp>
        <p:nvSpPr>
          <p:cNvPr id="28" name="Rounded Rectangle 27"/>
          <p:cNvSpPr/>
          <p:nvPr/>
        </p:nvSpPr>
        <p:spPr>
          <a:xfrm>
            <a:off x="6547104" y="4681728"/>
            <a:ext cx="4572000" cy="475488"/>
          </a:xfrm>
          <a:prstGeom prst="roundRect">
            <a:avLst/>
          </a:prstGeom>
          <a:solidFill>
            <a:srgbClr val="082B55"/>
          </a:solidFill>
          <a:ln w="10160">
            <a:solidFill>
              <a:srgbClr val="082B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711696" y="4764024"/>
            <a:ext cx="4251960" cy="265176"/>
          </a:xfrm>
          <a:prstGeom prst="rect">
            <a:avLst/>
          </a:prstGeom>
          <a:noFill/>
        </p:spPr>
        <p:txBody>
          <a:bodyPr wrap="square" lIns="18288" rIns="18288" tIns="18288" bIns="18288" anchor="t">
            <a:spAutoFit/>
          </a:bodyPr>
          <a:lstStyle/>
          <a:p>
            <a:pPr algn="ctr">
              <a:spcAft>
                <a:spcPts val="0"/>
              </a:spcAft>
            </a:pPr>
            <a:r>
              <a:rPr sz="1600" b="1" i="0">
                <a:solidFill>
                  <a:srgbClr val="FFFFFF"/>
                </a:solidFill>
                <a:latin typeface="Arial"/>
              </a:rPr>
              <a:t>49 synthetic-informed associations</a:t>
            </a:r>
          </a:p>
        </p:txBody>
      </p:sp>
      <p:sp>
        <p:nvSpPr>
          <p:cNvPr id="30" name="Rounded Rectangle 29"/>
          <p:cNvSpPr/>
          <p:nvPr/>
        </p:nvSpPr>
        <p:spPr>
          <a:xfrm>
            <a:off x="475488" y="5650992"/>
            <a:ext cx="11109960" cy="530352"/>
          </a:xfrm>
          <a:prstGeom prst="roundRect">
            <a:avLst/>
          </a:prstGeom>
          <a:solidFill>
            <a:srgbClr val="F7F9FA"/>
          </a:solidFill>
          <a:ln w="10160">
            <a:solidFill>
              <a:srgbClr val="DD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58368" y="5769864"/>
            <a:ext cx="10744200" cy="274320"/>
          </a:xfrm>
          <a:prstGeom prst="rect">
            <a:avLst/>
          </a:prstGeom>
          <a:noFill/>
        </p:spPr>
        <p:txBody>
          <a:bodyPr wrap="square" lIns="18288" rIns="18288" tIns="18288" bIns="18288" anchor="t">
            <a:spAutoFit/>
          </a:bodyPr>
          <a:lstStyle/>
          <a:p>
            <a:pPr algn="ctr">
              <a:spcAft>
                <a:spcPts val="0"/>
              </a:spcAft>
            </a:pPr>
            <a:r>
              <a:rPr sz="1350" b="0" i="0">
                <a:solidFill>
                  <a:srgbClr val="59697A"/>
                </a:solidFill>
                <a:latin typeface="Arial"/>
              </a:rPr>
              <a:t>These are 49 tissue-gene associations among 459 BH-FDR rows. A gene can appear in more than one tissue.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LITERATURE INTERPRETATION</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Selection and literature are separate dimensions</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All 49 synthetic-informed associations received both a selection status and a literature interpretation.</a:t>
            </a:r>
          </a:p>
        </p:txBody>
      </p:sp>
      <p:sp>
        <p:nvSpPr>
          <p:cNvPr id="7" name="Rounded Rectangle 6"/>
          <p:cNvSpPr/>
          <p:nvPr/>
        </p:nvSpPr>
        <p:spPr>
          <a:xfrm>
            <a:off x="411480" y="1828800"/>
            <a:ext cx="2331720" cy="832104"/>
          </a:xfrm>
          <a:prstGeom prst="roundRect">
            <a:avLst/>
          </a:prstGeom>
          <a:solidFill>
            <a:srgbClr val="E9F1F7"/>
          </a:solidFill>
          <a:ln w="10160">
            <a:solidFill>
              <a:srgbClr val="2D64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57784" y="1947672"/>
            <a:ext cx="2029968" cy="228600"/>
          </a:xfrm>
          <a:prstGeom prst="rect">
            <a:avLst/>
          </a:prstGeom>
          <a:noFill/>
        </p:spPr>
        <p:txBody>
          <a:bodyPr wrap="square" lIns="18288" rIns="18288" tIns="18288" bIns="18288" anchor="t">
            <a:spAutoFit/>
          </a:bodyPr>
          <a:lstStyle/>
          <a:p>
            <a:pPr algn="l">
              <a:spcAft>
                <a:spcPts val="0"/>
              </a:spcAft>
            </a:pPr>
            <a:r>
              <a:rPr sz="1350" b="1" i="0">
                <a:solidFill>
                  <a:srgbClr val="2D6496"/>
                </a:solidFill>
                <a:latin typeface="Arial"/>
              </a:rPr>
              <a:t>1  Candidate</a:t>
            </a:r>
          </a:p>
        </p:txBody>
      </p:sp>
      <p:sp>
        <p:nvSpPr>
          <p:cNvPr id="9" name="TextBox 8"/>
          <p:cNvSpPr txBox="1"/>
          <p:nvPr/>
        </p:nvSpPr>
        <p:spPr>
          <a:xfrm>
            <a:off x="557784" y="2185416"/>
            <a:ext cx="2029968" cy="365760"/>
          </a:xfrm>
          <a:prstGeom prst="rect">
            <a:avLst/>
          </a:prstGeom>
          <a:noFill/>
        </p:spPr>
        <p:txBody>
          <a:bodyPr wrap="square" lIns="18288" rIns="18288" tIns="18288" bIns="18288" anchor="t">
            <a:spAutoFit/>
          </a:bodyPr>
          <a:lstStyle/>
          <a:p>
            <a:pPr algn="l">
              <a:spcAft>
                <a:spcPts val="0"/>
              </a:spcAft>
            </a:pPr>
            <a:r>
              <a:rPr sz="1210" b="0" i="0">
                <a:solidFill>
                  <a:srgbClr val="263746"/>
                </a:solidFill>
                <a:latin typeface="Arial"/>
              </a:rPr>
              <a:t>Gene + tissue +
FLT direction</a:t>
            </a:r>
          </a:p>
        </p:txBody>
      </p:sp>
      <p:sp>
        <p:nvSpPr>
          <p:cNvPr id="10" name="Right Arrow 9"/>
          <p:cNvSpPr/>
          <p:nvPr/>
        </p:nvSpPr>
        <p:spPr>
          <a:xfrm>
            <a:off x="2852928" y="2112264"/>
            <a:ext cx="283464" cy="256032"/>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3264408" y="1828800"/>
            <a:ext cx="2331720" cy="832104"/>
          </a:xfrm>
          <a:prstGeom prst="roundRect">
            <a:avLst/>
          </a:prstGeom>
          <a:solidFill>
            <a:srgbClr val="E8F3F1"/>
          </a:solidFill>
          <a:ln w="101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410712" y="1947672"/>
            <a:ext cx="2029968" cy="228600"/>
          </a:xfrm>
          <a:prstGeom prst="rect">
            <a:avLst/>
          </a:prstGeom>
          <a:noFill/>
        </p:spPr>
        <p:txBody>
          <a:bodyPr wrap="square" lIns="18288" rIns="18288" tIns="18288" bIns="18288" anchor="t">
            <a:spAutoFit/>
          </a:bodyPr>
          <a:lstStyle/>
          <a:p>
            <a:pPr algn="l">
              <a:spcAft>
                <a:spcPts val="0"/>
              </a:spcAft>
            </a:pPr>
            <a:r>
              <a:rPr sz="1350" b="1" i="0">
                <a:solidFill>
                  <a:srgbClr val="178681"/>
                </a:solidFill>
                <a:latin typeface="Arial"/>
              </a:rPr>
              <a:t>2  Search</a:t>
            </a:r>
          </a:p>
        </p:txBody>
      </p:sp>
      <p:sp>
        <p:nvSpPr>
          <p:cNvPr id="13" name="TextBox 12"/>
          <p:cNvSpPr txBox="1"/>
          <p:nvPr/>
        </p:nvSpPr>
        <p:spPr>
          <a:xfrm>
            <a:off x="3410712" y="2185416"/>
            <a:ext cx="2029968" cy="365760"/>
          </a:xfrm>
          <a:prstGeom prst="rect">
            <a:avLst/>
          </a:prstGeom>
          <a:noFill/>
        </p:spPr>
        <p:txBody>
          <a:bodyPr wrap="square" lIns="18288" rIns="18288" tIns="18288" bIns="18288" anchor="t">
            <a:spAutoFit/>
          </a:bodyPr>
          <a:lstStyle/>
          <a:p>
            <a:pPr algn="l">
              <a:spcAft>
                <a:spcPts val="0"/>
              </a:spcAft>
            </a:pPr>
            <a:r>
              <a:rPr sz="1210" b="0" i="0">
                <a:solidFill>
                  <a:srgbClr val="263746"/>
                </a:solidFill>
                <a:latin typeface="Arial"/>
              </a:rPr>
              <a:t>Spaceflight +
mechanism literature</a:t>
            </a:r>
          </a:p>
        </p:txBody>
      </p:sp>
      <p:sp>
        <p:nvSpPr>
          <p:cNvPr id="14" name="Right Arrow 13"/>
          <p:cNvSpPr/>
          <p:nvPr/>
        </p:nvSpPr>
        <p:spPr>
          <a:xfrm>
            <a:off x="5705856" y="2112264"/>
            <a:ext cx="283464" cy="256032"/>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117336" y="1828800"/>
            <a:ext cx="2331720" cy="832104"/>
          </a:xfrm>
          <a:prstGeom prst="roundRect">
            <a:avLst/>
          </a:prstGeom>
          <a:solidFill>
            <a:srgbClr val="F8F1E2"/>
          </a:solidFill>
          <a:ln w="10160">
            <a:solidFill>
              <a:srgbClr val="D37B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263640" y="1947672"/>
            <a:ext cx="2029968" cy="228600"/>
          </a:xfrm>
          <a:prstGeom prst="rect">
            <a:avLst/>
          </a:prstGeom>
          <a:noFill/>
        </p:spPr>
        <p:txBody>
          <a:bodyPr wrap="square" lIns="18288" rIns="18288" tIns="18288" bIns="18288" anchor="t">
            <a:spAutoFit/>
          </a:bodyPr>
          <a:lstStyle/>
          <a:p>
            <a:pPr algn="l">
              <a:spcAft>
                <a:spcPts val="0"/>
              </a:spcAft>
            </a:pPr>
            <a:r>
              <a:rPr sz="1350" b="1" i="0">
                <a:solidFill>
                  <a:srgbClr val="D37B00"/>
                </a:solidFill>
                <a:latin typeface="Arial"/>
              </a:rPr>
              <a:t>3  Classify</a:t>
            </a:r>
          </a:p>
        </p:txBody>
      </p:sp>
      <p:sp>
        <p:nvSpPr>
          <p:cNvPr id="17" name="TextBox 16"/>
          <p:cNvSpPr txBox="1"/>
          <p:nvPr/>
        </p:nvSpPr>
        <p:spPr>
          <a:xfrm>
            <a:off x="6263640" y="2185416"/>
            <a:ext cx="2029968" cy="365760"/>
          </a:xfrm>
          <a:prstGeom prst="rect">
            <a:avLst/>
          </a:prstGeom>
          <a:noFill/>
        </p:spPr>
        <p:txBody>
          <a:bodyPr wrap="square" lIns="18288" rIns="18288" tIns="18288" bIns="18288" anchor="t">
            <a:spAutoFit/>
          </a:bodyPr>
          <a:lstStyle/>
          <a:p>
            <a:pPr algn="l">
              <a:spcAft>
                <a:spcPts val="0"/>
              </a:spcAft>
            </a:pPr>
            <a:r>
              <a:rPr sz="1210" b="0" i="0">
                <a:solidFill>
                  <a:srgbClr val="263746"/>
                </a:solidFill>
                <a:latin typeface="Arial"/>
              </a:rPr>
              <a:t>Relation to
published evidence</a:t>
            </a:r>
          </a:p>
        </p:txBody>
      </p:sp>
      <p:sp>
        <p:nvSpPr>
          <p:cNvPr id="18" name="Right Arrow 17"/>
          <p:cNvSpPr/>
          <p:nvPr/>
        </p:nvSpPr>
        <p:spPr>
          <a:xfrm>
            <a:off x="8558784" y="2112264"/>
            <a:ext cx="283464" cy="256032"/>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8970263" y="1828800"/>
            <a:ext cx="2331720" cy="832104"/>
          </a:xfrm>
          <a:prstGeom prst="roundRect">
            <a:avLst/>
          </a:prstGeom>
          <a:solidFill>
            <a:srgbClr val="F0ECF6"/>
          </a:solidFill>
          <a:ln w="10160">
            <a:solidFill>
              <a:srgbClr val="8063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116567" y="1947672"/>
            <a:ext cx="2029968" cy="228600"/>
          </a:xfrm>
          <a:prstGeom prst="rect">
            <a:avLst/>
          </a:prstGeom>
          <a:noFill/>
        </p:spPr>
        <p:txBody>
          <a:bodyPr wrap="square" lIns="18288" rIns="18288" tIns="18288" bIns="18288" anchor="t">
            <a:spAutoFit/>
          </a:bodyPr>
          <a:lstStyle/>
          <a:p>
            <a:pPr algn="l">
              <a:spcAft>
                <a:spcPts val="0"/>
              </a:spcAft>
            </a:pPr>
            <a:r>
              <a:rPr sz="1350" b="1" i="0">
                <a:solidFill>
                  <a:srgbClr val="8063A6"/>
                </a:solidFill>
                <a:latin typeface="Arial"/>
              </a:rPr>
              <a:t>4  Interpret</a:t>
            </a:r>
          </a:p>
        </p:txBody>
      </p:sp>
      <p:sp>
        <p:nvSpPr>
          <p:cNvPr id="21" name="TextBox 20"/>
          <p:cNvSpPr txBox="1"/>
          <p:nvPr/>
        </p:nvSpPr>
        <p:spPr>
          <a:xfrm>
            <a:off x="9116567" y="2185416"/>
            <a:ext cx="2029968" cy="365760"/>
          </a:xfrm>
          <a:prstGeom prst="rect">
            <a:avLst/>
          </a:prstGeom>
          <a:noFill/>
        </p:spPr>
        <p:txBody>
          <a:bodyPr wrap="square" lIns="18288" rIns="18288" tIns="18288" bIns="18288" anchor="t">
            <a:spAutoFit/>
          </a:bodyPr>
          <a:lstStyle/>
          <a:p>
            <a:pPr algn="l">
              <a:spcAft>
                <a:spcPts val="0"/>
              </a:spcAft>
            </a:pPr>
            <a:r>
              <a:rPr sz="1210" b="0" i="0">
                <a:solidFill>
                  <a:srgbClr val="263746"/>
                </a:solidFill>
                <a:latin typeface="Arial"/>
              </a:rPr>
              <a:t>Recovery, extension,
or unmatched</a:t>
            </a:r>
          </a:p>
        </p:txBody>
      </p:sp>
      <p:sp>
        <p:nvSpPr>
          <p:cNvPr id="22" name="Rounded Rectangle 21"/>
          <p:cNvSpPr/>
          <p:nvPr/>
        </p:nvSpPr>
        <p:spPr>
          <a:xfrm>
            <a:off x="411480" y="2916936"/>
            <a:ext cx="3785615" cy="2980944"/>
          </a:xfrm>
          <a:prstGeom prst="roundRect">
            <a:avLst/>
          </a:prstGeom>
          <a:solidFill>
            <a:srgbClr val="E9F1F7"/>
          </a:solidFill>
          <a:ln w="10160">
            <a:solidFill>
              <a:srgbClr val="C9D9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67512" y="3136392"/>
            <a:ext cx="3273552" cy="310896"/>
          </a:xfrm>
          <a:prstGeom prst="rect">
            <a:avLst/>
          </a:prstGeom>
          <a:noFill/>
        </p:spPr>
        <p:txBody>
          <a:bodyPr wrap="square" lIns="18288" rIns="18288" tIns="18288" bIns="18288" anchor="t">
            <a:spAutoFit/>
          </a:bodyPr>
          <a:lstStyle/>
          <a:p>
            <a:pPr algn="l">
              <a:spcAft>
                <a:spcPts val="0"/>
              </a:spcAft>
            </a:pPr>
            <a:r>
              <a:rPr sz="1700" b="1" i="0">
                <a:solidFill>
                  <a:srgbClr val="2D6496"/>
                </a:solidFill>
                <a:latin typeface="Arial"/>
              </a:rPr>
              <a:t>Selection status</a:t>
            </a:r>
          </a:p>
        </p:txBody>
      </p:sp>
      <p:sp>
        <p:nvSpPr>
          <p:cNvPr id="24" name="Oval 23"/>
          <p:cNvSpPr/>
          <p:nvPr/>
        </p:nvSpPr>
        <p:spPr>
          <a:xfrm>
            <a:off x="685800" y="3730752"/>
            <a:ext cx="457200" cy="457200"/>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85800" y="3803904"/>
            <a:ext cx="457200" cy="228600"/>
          </a:xfrm>
          <a:prstGeom prst="rect">
            <a:avLst/>
          </a:prstGeom>
          <a:noFill/>
        </p:spPr>
        <p:txBody>
          <a:bodyPr wrap="square" lIns="18288" rIns="18288" tIns="18288" bIns="18288" anchor="t">
            <a:spAutoFit/>
          </a:bodyPr>
          <a:lstStyle/>
          <a:p>
            <a:pPr algn="ctr">
              <a:spcAft>
                <a:spcPts val="0"/>
              </a:spcAft>
            </a:pPr>
            <a:r>
              <a:rPr sz="1400" b="1" i="0">
                <a:solidFill>
                  <a:srgbClr val="FFFFFF"/>
                </a:solidFill>
                <a:latin typeface="Arial"/>
              </a:rPr>
              <a:t>26</a:t>
            </a:r>
          </a:p>
        </p:txBody>
      </p:sp>
      <p:sp>
        <p:nvSpPr>
          <p:cNvPr id="26" name="TextBox 25"/>
          <p:cNvSpPr txBox="1"/>
          <p:nvPr/>
        </p:nvSpPr>
        <p:spPr>
          <a:xfrm>
            <a:off x="1325880" y="3712464"/>
            <a:ext cx="2423160" cy="274320"/>
          </a:xfrm>
          <a:prstGeom prst="rect">
            <a:avLst/>
          </a:prstGeom>
          <a:noFill/>
        </p:spPr>
        <p:txBody>
          <a:bodyPr wrap="square" lIns="18288" rIns="18288" tIns="18288" bIns="18288" anchor="t">
            <a:spAutoFit/>
          </a:bodyPr>
          <a:lstStyle/>
          <a:p>
            <a:pPr algn="l">
              <a:spcAft>
                <a:spcPts val="0"/>
              </a:spcAft>
            </a:pPr>
            <a:r>
              <a:rPr sz="1500" b="1" i="0">
                <a:solidFill>
                  <a:srgbClr val="D96552"/>
                </a:solidFill>
                <a:latin typeface="Arial"/>
              </a:rPr>
              <a:t>Promoted</a:t>
            </a:r>
          </a:p>
        </p:txBody>
      </p:sp>
      <p:sp>
        <p:nvSpPr>
          <p:cNvPr id="27" name="TextBox 26"/>
          <p:cNvSpPr txBox="1"/>
          <p:nvPr/>
        </p:nvSpPr>
        <p:spPr>
          <a:xfrm>
            <a:off x="1325880" y="4014215"/>
            <a:ext cx="2423160" cy="347472"/>
          </a:xfrm>
          <a:prstGeom prst="rect">
            <a:avLst/>
          </a:prstGeom>
          <a:noFill/>
        </p:spPr>
        <p:txBody>
          <a:bodyPr wrap="square" lIns="18288" rIns="18288" tIns="18288" bIns="18288" anchor="t">
            <a:spAutoFit/>
          </a:bodyPr>
          <a:lstStyle/>
          <a:p>
            <a:pPr algn="l">
              <a:spcAft>
                <a:spcPts val="0"/>
              </a:spcAft>
            </a:pPr>
            <a:r>
              <a:rPr sz="1150" b="0" i="0">
                <a:solidFill>
                  <a:srgbClr val="263746"/>
                </a:solidFill>
                <a:latin typeface="Arial"/>
              </a:rPr>
              <a:t>Stable only with synthetic guidance</a:t>
            </a:r>
          </a:p>
        </p:txBody>
      </p:sp>
      <p:sp>
        <p:nvSpPr>
          <p:cNvPr id="28" name="Oval 27"/>
          <p:cNvSpPr/>
          <p:nvPr/>
        </p:nvSpPr>
        <p:spPr>
          <a:xfrm>
            <a:off x="685800" y="4581144"/>
            <a:ext cx="457200" cy="457200"/>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85800" y="4654296"/>
            <a:ext cx="457200" cy="228600"/>
          </a:xfrm>
          <a:prstGeom prst="rect">
            <a:avLst/>
          </a:prstGeom>
          <a:noFill/>
        </p:spPr>
        <p:txBody>
          <a:bodyPr wrap="square" lIns="18288" rIns="18288" tIns="18288" bIns="18288" anchor="t">
            <a:spAutoFit/>
          </a:bodyPr>
          <a:lstStyle/>
          <a:p>
            <a:pPr algn="ctr">
              <a:spcAft>
                <a:spcPts val="0"/>
              </a:spcAft>
            </a:pPr>
            <a:r>
              <a:rPr sz="1400" b="1" i="0">
                <a:solidFill>
                  <a:srgbClr val="FFFFFF"/>
                </a:solidFill>
                <a:latin typeface="Arial"/>
              </a:rPr>
              <a:t>23</a:t>
            </a:r>
          </a:p>
        </p:txBody>
      </p:sp>
      <p:sp>
        <p:nvSpPr>
          <p:cNvPr id="30" name="TextBox 29"/>
          <p:cNvSpPr txBox="1"/>
          <p:nvPr/>
        </p:nvSpPr>
        <p:spPr>
          <a:xfrm>
            <a:off x="1325880" y="4562856"/>
            <a:ext cx="2423160" cy="274320"/>
          </a:xfrm>
          <a:prstGeom prst="rect">
            <a:avLst/>
          </a:prstGeom>
          <a:noFill/>
        </p:spPr>
        <p:txBody>
          <a:bodyPr wrap="square" lIns="18288" rIns="18288" tIns="18288" bIns="18288" anchor="t">
            <a:spAutoFit/>
          </a:bodyPr>
          <a:lstStyle/>
          <a:p>
            <a:pPr algn="l">
              <a:spcAft>
                <a:spcPts val="0"/>
              </a:spcAft>
            </a:pPr>
            <a:r>
              <a:rPr sz="1500" b="1" i="0">
                <a:solidFill>
                  <a:srgbClr val="178681"/>
                </a:solidFill>
                <a:latin typeface="Arial"/>
              </a:rPr>
              <a:t>Reinforced</a:t>
            </a:r>
          </a:p>
        </p:txBody>
      </p:sp>
      <p:sp>
        <p:nvSpPr>
          <p:cNvPr id="31" name="TextBox 30"/>
          <p:cNvSpPr txBox="1"/>
          <p:nvPr/>
        </p:nvSpPr>
        <p:spPr>
          <a:xfrm>
            <a:off x="1325880" y="4864607"/>
            <a:ext cx="2423160" cy="347472"/>
          </a:xfrm>
          <a:prstGeom prst="rect">
            <a:avLst/>
          </a:prstGeom>
          <a:noFill/>
        </p:spPr>
        <p:txBody>
          <a:bodyPr wrap="square" lIns="18288" rIns="18288" tIns="18288" bIns="18288" anchor="t">
            <a:spAutoFit/>
          </a:bodyPr>
          <a:lstStyle/>
          <a:p>
            <a:pPr algn="l">
              <a:spcAft>
                <a:spcPts val="0"/>
              </a:spcAft>
            </a:pPr>
            <a:r>
              <a:rPr sz="1150" b="0" i="0">
                <a:solidFill>
                  <a:srgbClr val="263746"/>
                </a:solidFill>
                <a:latin typeface="Arial"/>
              </a:rPr>
              <a:t>Stable with and without guidance</a:t>
            </a:r>
          </a:p>
        </p:txBody>
      </p:sp>
      <p:sp>
        <p:nvSpPr>
          <p:cNvPr id="32" name="Rounded Rectangle 31"/>
          <p:cNvSpPr/>
          <p:nvPr/>
        </p:nvSpPr>
        <p:spPr>
          <a:xfrm>
            <a:off x="4389120" y="2916936"/>
            <a:ext cx="7379208" cy="2980944"/>
          </a:xfrm>
          <a:prstGeom prst="roundRect">
            <a:avLst/>
          </a:prstGeom>
          <a:solidFill>
            <a:srgbClr val="FFFFFF"/>
          </a:solidFill>
          <a:ln w="10160">
            <a:solidFill>
              <a:srgbClr val="DD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4645152" y="3136392"/>
            <a:ext cx="6876288" cy="310896"/>
          </a:xfrm>
          <a:prstGeom prst="rect">
            <a:avLst/>
          </a:prstGeom>
          <a:noFill/>
        </p:spPr>
        <p:txBody>
          <a:bodyPr wrap="square" lIns="18288" rIns="18288" tIns="18288" bIns="18288" anchor="t">
            <a:spAutoFit/>
          </a:bodyPr>
          <a:lstStyle/>
          <a:p>
            <a:pPr algn="l">
              <a:spcAft>
                <a:spcPts val="0"/>
              </a:spcAft>
            </a:pPr>
            <a:r>
              <a:rPr sz="1700" b="1" i="0">
                <a:solidFill>
                  <a:srgbClr val="082B55"/>
                </a:solidFill>
                <a:latin typeface="Arial"/>
              </a:rPr>
              <a:t>Literature interpretation</a:t>
            </a:r>
          </a:p>
        </p:txBody>
      </p:sp>
      <p:sp>
        <p:nvSpPr>
          <p:cNvPr id="34" name="Oval 33"/>
          <p:cNvSpPr/>
          <p:nvPr/>
        </p:nvSpPr>
        <p:spPr>
          <a:xfrm>
            <a:off x="4654296" y="3593592"/>
            <a:ext cx="338328" cy="338328"/>
          </a:xfrm>
          <a:prstGeom prst="ellipse">
            <a:avLst/>
          </a:prstGeom>
          <a:solidFill>
            <a:srgbClr val="478A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654296" y="3639312"/>
            <a:ext cx="338328" cy="201168"/>
          </a:xfrm>
          <a:prstGeom prst="rect">
            <a:avLst/>
          </a:prstGeom>
          <a:noFill/>
        </p:spPr>
        <p:txBody>
          <a:bodyPr wrap="square" lIns="18288" rIns="18288" tIns="18288" bIns="18288" anchor="t">
            <a:spAutoFit/>
          </a:bodyPr>
          <a:lstStyle/>
          <a:p>
            <a:pPr algn="ctr">
              <a:spcAft>
                <a:spcPts val="0"/>
              </a:spcAft>
            </a:pPr>
            <a:r>
              <a:rPr sz="1200" b="1" i="0">
                <a:solidFill>
                  <a:srgbClr val="FFFFFF"/>
                </a:solidFill>
                <a:latin typeface="Arial"/>
              </a:rPr>
              <a:t>22</a:t>
            </a:r>
          </a:p>
        </p:txBody>
      </p:sp>
      <p:sp>
        <p:nvSpPr>
          <p:cNvPr id="36" name="TextBox 35"/>
          <p:cNvSpPr txBox="1"/>
          <p:nvPr/>
        </p:nvSpPr>
        <p:spPr>
          <a:xfrm>
            <a:off x="5138928" y="3575304"/>
            <a:ext cx="1591056" cy="310896"/>
          </a:xfrm>
          <a:prstGeom prst="rect">
            <a:avLst/>
          </a:prstGeom>
          <a:noFill/>
        </p:spPr>
        <p:txBody>
          <a:bodyPr wrap="square" lIns="18288" rIns="18288" tIns="18288" bIns="18288" anchor="ctr">
            <a:spAutoFit/>
          </a:bodyPr>
          <a:lstStyle/>
          <a:p>
            <a:pPr algn="l">
              <a:spcAft>
                <a:spcPts val="0"/>
              </a:spcAft>
            </a:pPr>
            <a:r>
              <a:rPr sz="1420" b="1" i="0">
                <a:solidFill>
                  <a:srgbClr val="478A64"/>
                </a:solidFill>
                <a:latin typeface="Arial"/>
              </a:rPr>
              <a:t>Aligning</a:t>
            </a:r>
          </a:p>
        </p:txBody>
      </p:sp>
      <p:sp>
        <p:nvSpPr>
          <p:cNvPr id="37" name="TextBox 36"/>
          <p:cNvSpPr txBox="1"/>
          <p:nvPr/>
        </p:nvSpPr>
        <p:spPr>
          <a:xfrm>
            <a:off x="6784848" y="3575304"/>
            <a:ext cx="4507992" cy="310896"/>
          </a:xfrm>
          <a:prstGeom prst="rect">
            <a:avLst/>
          </a:prstGeom>
          <a:noFill/>
        </p:spPr>
        <p:txBody>
          <a:bodyPr wrap="square" lIns="18288" rIns="18288" tIns="18288" bIns="18288" anchor="ctr">
            <a:spAutoFit/>
          </a:bodyPr>
          <a:lstStyle/>
          <a:p>
            <a:pPr algn="l">
              <a:spcAft>
                <a:spcPts val="0"/>
              </a:spcAft>
            </a:pPr>
            <a:r>
              <a:rPr sz="1280" b="0" i="0">
                <a:solidFill>
                  <a:srgbClr val="263746"/>
                </a:solidFill>
                <a:latin typeface="Arial"/>
              </a:rPr>
              <a:t>Direct or same-tissue process agreement</a:t>
            </a:r>
          </a:p>
        </p:txBody>
      </p:sp>
      <p:sp>
        <p:nvSpPr>
          <p:cNvPr id="38" name="Oval 37"/>
          <p:cNvSpPr/>
          <p:nvPr/>
        </p:nvSpPr>
        <p:spPr>
          <a:xfrm>
            <a:off x="4654296" y="4114800"/>
            <a:ext cx="338328" cy="338328"/>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654296" y="4160520"/>
            <a:ext cx="338328" cy="201168"/>
          </a:xfrm>
          <a:prstGeom prst="rect">
            <a:avLst/>
          </a:prstGeom>
          <a:noFill/>
        </p:spPr>
        <p:txBody>
          <a:bodyPr wrap="square" lIns="18288" rIns="18288" tIns="18288" bIns="18288" anchor="t">
            <a:spAutoFit/>
          </a:bodyPr>
          <a:lstStyle/>
          <a:p>
            <a:pPr algn="ctr">
              <a:spcAft>
                <a:spcPts val="0"/>
              </a:spcAft>
            </a:pPr>
            <a:r>
              <a:rPr sz="1200" b="1" i="0">
                <a:solidFill>
                  <a:srgbClr val="FFFFFF"/>
                </a:solidFill>
                <a:latin typeface="Arial"/>
              </a:rPr>
              <a:t>19</a:t>
            </a:r>
          </a:p>
        </p:txBody>
      </p:sp>
      <p:sp>
        <p:nvSpPr>
          <p:cNvPr id="40" name="TextBox 39"/>
          <p:cNvSpPr txBox="1"/>
          <p:nvPr/>
        </p:nvSpPr>
        <p:spPr>
          <a:xfrm>
            <a:off x="5138928" y="4096512"/>
            <a:ext cx="1591056" cy="310896"/>
          </a:xfrm>
          <a:prstGeom prst="rect">
            <a:avLst/>
          </a:prstGeom>
          <a:noFill/>
        </p:spPr>
        <p:txBody>
          <a:bodyPr wrap="square" lIns="18288" rIns="18288" tIns="18288" bIns="18288" anchor="ctr">
            <a:spAutoFit/>
          </a:bodyPr>
          <a:lstStyle/>
          <a:p>
            <a:pPr algn="l">
              <a:spcAft>
                <a:spcPts val="0"/>
              </a:spcAft>
            </a:pPr>
            <a:r>
              <a:rPr sz="1420" b="1" i="0">
                <a:solidFill>
                  <a:srgbClr val="2D6496"/>
                </a:solidFill>
                <a:latin typeface="Arial"/>
              </a:rPr>
              <a:t>Complementary</a:t>
            </a:r>
          </a:p>
        </p:txBody>
      </p:sp>
      <p:sp>
        <p:nvSpPr>
          <p:cNvPr id="41" name="TextBox 40"/>
          <p:cNvSpPr txBox="1"/>
          <p:nvPr/>
        </p:nvSpPr>
        <p:spPr>
          <a:xfrm>
            <a:off x="6784848" y="4096512"/>
            <a:ext cx="4507992" cy="310896"/>
          </a:xfrm>
          <a:prstGeom prst="rect">
            <a:avLst/>
          </a:prstGeom>
          <a:noFill/>
        </p:spPr>
        <p:txBody>
          <a:bodyPr wrap="square" lIns="18288" rIns="18288" tIns="18288" bIns="18288" anchor="ctr">
            <a:spAutoFit/>
          </a:bodyPr>
          <a:lstStyle/>
          <a:p>
            <a:pPr algn="l">
              <a:spcAft>
                <a:spcPts val="0"/>
              </a:spcAft>
            </a:pPr>
            <a:r>
              <a:rPr sz="1280" b="0" i="0">
                <a:solidFill>
                  <a:srgbClr val="263746"/>
                </a:solidFill>
                <a:latin typeface="Arial"/>
              </a:rPr>
              <a:t>Related process or mechanism</a:t>
            </a:r>
          </a:p>
        </p:txBody>
      </p:sp>
      <p:sp>
        <p:nvSpPr>
          <p:cNvPr id="42" name="Oval 41"/>
          <p:cNvSpPr/>
          <p:nvPr/>
        </p:nvSpPr>
        <p:spPr>
          <a:xfrm>
            <a:off x="4654296" y="4636007"/>
            <a:ext cx="338328" cy="338328"/>
          </a:xfrm>
          <a:prstGeom prst="ellipse">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4654296" y="4681728"/>
            <a:ext cx="338328" cy="201168"/>
          </a:xfrm>
          <a:prstGeom prst="rect">
            <a:avLst/>
          </a:prstGeom>
          <a:noFill/>
        </p:spPr>
        <p:txBody>
          <a:bodyPr wrap="square" lIns="18288" rIns="18288" tIns="18288" bIns="18288" anchor="t">
            <a:spAutoFit/>
          </a:bodyPr>
          <a:lstStyle/>
          <a:p>
            <a:pPr algn="ctr">
              <a:spcAft>
                <a:spcPts val="0"/>
              </a:spcAft>
            </a:pPr>
            <a:r>
              <a:rPr sz="1200" b="1" i="0">
                <a:solidFill>
                  <a:srgbClr val="FFFFFF"/>
                </a:solidFill>
                <a:latin typeface="Arial"/>
              </a:rPr>
              <a:t>4</a:t>
            </a:r>
          </a:p>
        </p:txBody>
      </p:sp>
      <p:sp>
        <p:nvSpPr>
          <p:cNvPr id="44" name="TextBox 43"/>
          <p:cNvSpPr txBox="1"/>
          <p:nvPr/>
        </p:nvSpPr>
        <p:spPr>
          <a:xfrm>
            <a:off x="5138928" y="4617720"/>
            <a:ext cx="1591056" cy="310896"/>
          </a:xfrm>
          <a:prstGeom prst="rect">
            <a:avLst/>
          </a:prstGeom>
          <a:noFill/>
        </p:spPr>
        <p:txBody>
          <a:bodyPr wrap="square" lIns="18288" rIns="18288" tIns="18288" bIns="18288" anchor="ctr">
            <a:spAutoFit/>
          </a:bodyPr>
          <a:lstStyle/>
          <a:p>
            <a:pPr algn="l">
              <a:spcAft>
                <a:spcPts val="0"/>
              </a:spcAft>
            </a:pPr>
            <a:r>
              <a:rPr sz="1420" b="1" i="0">
                <a:solidFill>
                  <a:srgbClr val="D37B00"/>
                </a:solidFill>
                <a:latin typeface="Arial"/>
              </a:rPr>
              <a:t>Ambiguous</a:t>
            </a:r>
          </a:p>
        </p:txBody>
      </p:sp>
      <p:sp>
        <p:nvSpPr>
          <p:cNvPr id="45" name="TextBox 44"/>
          <p:cNvSpPr txBox="1"/>
          <p:nvPr/>
        </p:nvSpPr>
        <p:spPr>
          <a:xfrm>
            <a:off x="6784848" y="4617720"/>
            <a:ext cx="4507992" cy="310896"/>
          </a:xfrm>
          <a:prstGeom prst="rect">
            <a:avLst/>
          </a:prstGeom>
          <a:noFill/>
        </p:spPr>
        <p:txBody>
          <a:bodyPr wrap="square" lIns="18288" rIns="18288" tIns="18288" bIns="18288" anchor="ctr">
            <a:spAutoFit/>
          </a:bodyPr>
          <a:lstStyle/>
          <a:p>
            <a:pPr algn="l">
              <a:spcAft>
                <a:spcPts val="0"/>
              </a:spcAft>
            </a:pPr>
            <a:r>
              <a:rPr sz="1280" b="0" i="0">
                <a:solidFill>
                  <a:srgbClr val="263746"/>
                </a:solidFill>
                <a:latin typeface="Arial"/>
              </a:rPr>
              <a:t>Mixed or context-dependent evidence</a:t>
            </a:r>
          </a:p>
        </p:txBody>
      </p:sp>
      <p:sp>
        <p:nvSpPr>
          <p:cNvPr id="46" name="Oval 45"/>
          <p:cNvSpPr/>
          <p:nvPr/>
        </p:nvSpPr>
        <p:spPr>
          <a:xfrm>
            <a:off x="4654296" y="5157216"/>
            <a:ext cx="338328" cy="338328"/>
          </a:xfrm>
          <a:prstGeom prst="ellipse">
            <a:avLst/>
          </a:prstGeom>
          <a:solidFill>
            <a:srgbClr val="8063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4654296" y="5202936"/>
            <a:ext cx="338328" cy="201168"/>
          </a:xfrm>
          <a:prstGeom prst="rect">
            <a:avLst/>
          </a:prstGeom>
          <a:noFill/>
        </p:spPr>
        <p:txBody>
          <a:bodyPr wrap="square" lIns="18288" rIns="18288" tIns="18288" bIns="18288" anchor="t">
            <a:spAutoFit/>
          </a:bodyPr>
          <a:lstStyle/>
          <a:p>
            <a:pPr algn="ctr">
              <a:spcAft>
                <a:spcPts val="0"/>
              </a:spcAft>
            </a:pPr>
            <a:r>
              <a:rPr sz="1200" b="1" i="0">
                <a:solidFill>
                  <a:srgbClr val="FFFFFF"/>
                </a:solidFill>
                <a:latin typeface="Arial"/>
              </a:rPr>
              <a:t>4</a:t>
            </a:r>
          </a:p>
        </p:txBody>
      </p:sp>
      <p:sp>
        <p:nvSpPr>
          <p:cNvPr id="48" name="TextBox 47"/>
          <p:cNvSpPr txBox="1"/>
          <p:nvPr/>
        </p:nvSpPr>
        <p:spPr>
          <a:xfrm>
            <a:off x="5138928" y="5138928"/>
            <a:ext cx="1591056" cy="310896"/>
          </a:xfrm>
          <a:prstGeom prst="rect">
            <a:avLst/>
          </a:prstGeom>
          <a:noFill/>
        </p:spPr>
        <p:txBody>
          <a:bodyPr wrap="square" lIns="18288" rIns="18288" tIns="18288" bIns="18288" anchor="ctr">
            <a:spAutoFit/>
          </a:bodyPr>
          <a:lstStyle/>
          <a:p>
            <a:pPr algn="l">
              <a:spcAft>
                <a:spcPts val="0"/>
              </a:spcAft>
            </a:pPr>
            <a:r>
              <a:rPr sz="1420" b="1" i="0">
                <a:solidFill>
                  <a:srgbClr val="8063A6"/>
                </a:solidFill>
                <a:latin typeface="Arial"/>
              </a:rPr>
              <a:t>Unmatched</a:t>
            </a:r>
          </a:p>
        </p:txBody>
      </p:sp>
      <p:sp>
        <p:nvSpPr>
          <p:cNvPr id="49" name="TextBox 48"/>
          <p:cNvSpPr txBox="1"/>
          <p:nvPr/>
        </p:nvSpPr>
        <p:spPr>
          <a:xfrm>
            <a:off x="6784848" y="5138928"/>
            <a:ext cx="4507992" cy="310896"/>
          </a:xfrm>
          <a:prstGeom prst="rect">
            <a:avLst/>
          </a:prstGeom>
          <a:noFill/>
        </p:spPr>
        <p:txBody>
          <a:bodyPr wrap="square" lIns="18288" rIns="18288" tIns="18288" bIns="18288" anchor="ctr">
            <a:spAutoFit/>
          </a:bodyPr>
          <a:lstStyle/>
          <a:p>
            <a:pPr algn="l">
              <a:spcAft>
                <a:spcPts val="0"/>
              </a:spcAft>
            </a:pPr>
            <a:r>
              <a:rPr sz="1280" b="0" i="0">
                <a:solidFill>
                  <a:srgbClr val="263746"/>
                </a:solidFill>
                <a:latin typeface="Arial"/>
              </a:rPr>
              <a:t>No sufficiently specific match found</a:t>
            </a:r>
          </a:p>
        </p:txBody>
      </p:sp>
      <p:sp>
        <p:nvSpPr>
          <p:cNvPr id="50" name="Rounded Rectangle 49"/>
          <p:cNvSpPr/>
          <p:nvPr/>
        </p:nvSpPr>
        <p:spPr>
          <a:xfrm>
            <a:off x="411480" y="6007608"/>
            <a:ext cx="11356848" cy="393192"/>
          </a:xfrm>
          <a:prstGeom prst="roundRect">
            <a:avLst/>
          </a:prstGeom>
          <a:solidFill>
            <a:srgbClr val="082B55"/>
          </a:solidFill>
          <a:ln w="10160">
            <a:solidFill>
              <a:srgbClr val="082B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649224" y="6071616"/>
            <a:ext cx="10881360" cy="228600"/>
          </a:xfrm>
          <a:prstGeom prst="rect">
            <a:avLst/>
          </a:prstGeom>
          <a:noFill/>
        </p:spPr>
        <p:txBody>
          <a:bodyPr wrap="square" lIns="18288" rIns="18288" tIns="18288" bIns="18288" anchor="t">
            <a:spAutoFit/>
          </a:bodyPr>
          <a:lstStyle/>
          <a:p>
            <a:pPr algn="ctr">
              <a:spcAft>
                <a:spcPts val="0"/>
              </a:spcAft>
            </a:pPr>
            <a:r>
              <a:rPr sz="1400" b="1" i="0">
                <a:solidFill>
                  <a:srgbClr val="FFFFFF"/>
                </a:solidFill>
                <a:latin typeface="Arial"/>
              </a:rPr>
              <a:t>A reinforced gene can be complementary, ambiguous, or unmatched; an aligning gene can be promoted.</a:t>
            </a:r>
          </a:p>
        </p:txBody>
      </p:sp>
      <p:sp>
        <p:nvSpPr>
          <p:cNvPr id="52" name="TextBox 51"/>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Targeted review completed 2026-08-03; 5 direct transcript-level matches and a 33-source inventory are in Tables S16-S17.</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ANALYSIS COVERAGE</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All 27 completed tissue analyses were retained</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The biological narrative narrows only after reporting synthetic-informed, real-only, and null outcomes.</a:t>
            </a:r>
          </a:p>
        </p:txBody>
      </p:sp>
      <p:sp>
        <p:nvSpPr>
          <p:cNvPr id="7" name="Rounded Rectangle 6"/>
          <p:cNvSpPr/>
          <p:nvPr/>
        </p:nvSpPr>
        <p:spPr>
          <a:xfrm>
            <a:off x="393192" y="1847088"/>
            <a:ext cx="3502152" cy="4297680"/>
          </a:xfrm>
          <a:prstGeom prst="roundRect">
            <a:avLst/>
          </a:prstGeom>
          <a:solidFill>
            <a:srgbClr val="E8F3F1"/>
          </a:solidFill>
          <a:ln w="101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621792" y="2075688"/>
            <a:ext cx="521207" cy="521207"/>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21792" y="2167128"/>
            <a:ext cx="521207" cy="246888"/>
          </a:xfrm>
          <a:prstGeom prst="rect">
            <a:avLst/>
          </a:prstGeom>
          <a:noFill/>
        </p:spPr>
        <p:txBody>
          <a:bodyPr wrap="square" lIns="18288" rIns="18288" tIns="18288" bIns="18288" anchor="t">
            <a:spAutoFit/>
          </a:bodyPr>
          <a:lstStyle/>
          <a:p>
            <a:pPr algn="ctr">
              <a:spcAft>
                <a:spcPts val="0"/>
              </a:spcAft>
            </a:pPr>
            <a:r>
              <a:rPr sz="1500" b="1" i="0">
                <a:solidFill>
                  <a:srgbClr val="FFFFFF"/>
                </a:solidFill>
                <a:latin typeface="Arial"/>
              </a:rPr>
              <a:t>10</a:t>
            </a:r>
          </a:p>
        </p:txBody>
      </p:sp>
      <p:sp>
        <p:nvSpPr>
          <p:cNvPr id="10" name="TextBox 9"/>
          <p:cNvSpPr txBox="1"/>
          <p:nvPr/>
        </p:nvSpPr>
        <p:spPr>
          <a:xfrm>
            <a:off x="1289304" y="2093976"/>
            <a:ext cx="2331720" cy="320040"/>
          </a:xfrm>
          <a:prstGeom prst="rect">
            <a:avLst/>
          </a:prstGeom>
          <a:noFill/>
        </p:spPr>
        <p:txBody>
          <a:bodyPr wrap="square" lIns="18288" rIns="18288" tIns="18288" bIns="18288" anchor="t">
            <a:spAutoFit/>
          </a:bodyPr>
          <a:lstStyle/>
          <a:p>
            <a:pPr algn="l">
              <a:spcAft>
                <a:spcPts val="0"/>
              </a:spcAft>
            </a:pPr>
            <a:r>
              <a:rPr sz="1700" b="1" i="0">
                <a:solidFill>
                  <a:srgbClr val="178681"/>
                </a:solidFill>
                <a:latin typeface="Arial"/>
              </a:rPr>
              <a:t>Synthetic-informed</a:t>
            </a:r>
          </a:p>
        </p:txBody>
      </p:sp>
      <p:sp>
        <p:nvSpPr>
          <p:cNvPr id="11" name="TextBox 10"/>
          <p:cNvSpPr txBox="1"/>
          <p:nvPr/>
        </p:nvSpPr>
        <p:spPr>
          <a:xfrm>
            <a:off x="658368" y="2660904"/>
            <a:ext cx="2953512" cy="429768"/>
          </a:xfrm>
          <a:prstGeom prst="rect">
            <a:avLst/>
          </a:prstGeom>
          <a:noFill/>
        </p:spPr>
        <p:txBody>
          <a:bodyPr wrap="square" lIns="18288" rIns="18288" tIns="18288" bIns="18288" anchor="t">
            <a:spAutoFit/>
          </a:bodyPr>
          <a:lstStyle/>
          <a:p>
            <a:pPr algn="l">
              <a:spcAft>
                <a:spcPts val="0"/>
              </a:spcAft>
            </a:pPr>
            <a:r>
              <a:rPr sz="1080" b="0" i="0">
                <a:solidFill>
                  <a:srgbClr val="59697A"/>
                </a:solidFill>
                <a:latin typeface="Arial"/>
              </a:rPr>
              <a:t>Promoted or reinforced BH-FDR gene</a:t>
            </a:r>
          </a:p>
        </p:txBody>
      </p:sp>
      <p:sp>
        <p:nvSpPr>
          <p:cNvPr id="12" name="TextBox 11"/>
          <p:cNvSpPr txBox="1"/>
          <p:nvPr/>
        </p:nvSpPr>
        <p:spPr>
          <a:xfrm>
            <a:off x="685800" y="3182112"/>
            <a:ext cx="2926080" cy="2633472"/>
          </a:xfrm>
          <a:prstGeom prst="rect">
            <a:avLst/>
          </a:prstGeom>
          <a:noFill/>
        </p:spPr>
        <p:txBody>
          <a:bodyPr wrap="square" lIns="0" rIns="0" tIns="0" bIns="0" anchor="t">
            <a:spAutoFit/>
          </a:bodyPr>
          <a:lstStyle/>
          <a:p>
            <a:pPr algn="l">
              <a:spcAft>
                <a:spcPts val="0"/>
              </a:spcAft>
            </a:pPr>
            <a:r>
              <a:rPr sz="1160" b="0" i="0">
                <a:solidFill>
                  <a:srgbClr val="263746"/>
                </a:solidFill>
                <a:latin typeface="Arial"/>
              </a:rPr>
              <a:t>Adrenal Gland
Eye
Kidney
Skeletal muscle (pooled)
Skin
Spleen
Thymus
Gastrocnemius
Soleus
Tibialis Anterior</a:t>
            </a:r>
          </a:p>
        </p:txBody>
      </p:sp>
      <p:sp>
        <p:nvSpPr>
          <p:cNvPr id="13" name="Rounded Rectangle 12"/>
          <p:cNvSpPr/>
          <p:nvPr/>
        </p:nvSpPr>
        <p:spPr>
          <a:xfrm>
            <a:off x="4105656" y="1847088"/>
            <a:ext cx="3502152" cy="4297680"/>
          </a:xfrm>
          <a:prstGeom prst="roundRect">
            <a:avLst/>
          </a:prstGeom>
          <a:solidFill>
            <a:srgbClr val="E9F1F7"/>
          </a:solidFill>
          <a:ln w="10160">
            <a:solidFill>
              <a:srgbClr val="2D64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4334256" y="2075688"/>
            <a:ext cx="521207" cy="521207"/>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334256" y="2167128"/>
            <a:ext cx="521207" cy="246888"/>
          </a:xfrm>
          <a:prstGeom prst="rect">
            <a:avLst/>
          </a:prstGeom>
          <a:noFill/>
        </p:spPr>
        <p:txBody>
          <a:bodyPr wrap="square" lIns="18288" rIns="18288" tIns="18288" bIns="18288" anchor="t">
            <a:spAutoFit/>
          </a:bodyPr>
          <a:lstStyle/>
          <a:p>
            <a:pPr algn="ctr">
              <a:spcAft>
                <a:spcPts val="0"/>
              </a:spcAft>
            </a:pPr>
            <a:r>
              <a:rPr sz="1500" b="1" i="0">
                <a:solidFill>
                  <a:srgbClr val="FFFFFF"/>
                </a:solidFill>
                <a:latin typeface="Arial"/>
              </a:rPr>
              <a:t>5</a:t>
            </a:r>
          </a:p>
        </p:txBody>
      </p:sp>
      <p:sp>
        <p:nvSpPr>
          <p:cNvPr id="16" name="TextBox 15"/>
          <p:cNvSpPr txBox="1"/>
          <p:nvPr/>
        </p:nvSpPr>
        <p:spPr>
          <a:xfrm>
            <a:off x="5001768" y="2093976"/>
            <a:ext cx="2331720" cy="320040"/>
          </a:xfrm>
          <a:prstGeom prst="rect">
            <a:avLst/>
          </a:prstGeom>
          <a:noFill/>
        </p:spPr>
        <p:txBody>
          <a:bodyPr wrap="square" lIns="18288" rIns="18288" tIns="18288" bIns="18288" anchor="t">
            <a:spAutoFit/>
          </a:bodyPr>
          <a:lstStyle/>
          <a:p>
            <a:pPr algn="l">
              <a:spcAft>
                <a:spcPts val="0"/>
              </a:spcAft>
            </a:pPr>
            <a:r>
              <a:rPr sz="1700" b="1" i="0">
                <a:solidFill>
                  <a:srgbClr val="2D6496"/>
                </a:solidFill>
                <a:latin typeface="Arial"/>
              </a:rPr>
              <a:t>Real BH FDR only</a:t>
            </a:r>
          </a:p>
        </p:txBody>
      </p:sp>
      <p:sp>
        <p:nvSpPr>
          <p:cNvPr id="17" name="TextBox 16"/>
          <p:cNvSpPr txBox="1"/>
          <p:nvPr/>
        </p:nvSpPr>
        <p:spPr>
          <a:xfrm>
            <a:off x="4370832" y="2660904"/>
            <a:ext cx="2953512" cy="429768"/>
          </a:xfrm>
          <a:prstGeom prst="rect">
            <a:avLst/>
          </a:prstGeom>
          <a:noFill/>
        </p:spPr>
        <p:txBody>
          <a:bodyPr wrap="square" lIns="18288" rIns="18288" tIns="18288" bIns="18288" anchor="t">
            <a:spAutoFit/>
          </a:bodyPr>
          <a:lstStyle/>
          <a:p>
            <a:pPr algn="l">
              <a:spcAft>
                <a:spcPts val="0"/>
              </a:spcAft>
            </a:pPr>
            <a:r>
              <a:rPr sz="1080" b="0" i="0">
                <a:solidFill>
                  <a:srgbClr val="59697A"/>
                </a:solidFill>
                <a:latin typeface="Arial"/>
              </a:rPr>
              <a:t>Real association, no synthetic-informed selection</a:t>
            </a:r>
          </a:p>
        </p:txBody>
      </p:sp>
      <p:sp>
        <p:nvSpPr>
          <p:cNvPr id="18" name="TextBox 17"/>
          <p:cNvSpPr txBox="1"/>
          <p:nvPr/>
        </p:nvSpPr>
        <p:spPr>
          <a:xfrm>
            <a:off x="4398264" y="3182112"/>
            <a:ext cx="2926080" cy="2633472"/>
          </a:xfrm>
          <a:prstGeom prst="rect">
            <a:avLst/>
          </a:prstGeom>
          <a:noFill/>
        </p:spPr>
        <p:txBody>
          <a:bodyPr wrap="square" lIns="0" rIns="0" tIns="0" bIns="0" anchor="t">
            <a:spAutoFit/>
          </a:bodyPr>
          <a:lstStyle/>
          <a:p>
            <a:pPr algn="l">
              <a:spcAft>
                <a:spcPts val="0"/>
              </a:spcAft>
            </a:pPr>
            <a:r>
              <a:rPr sz="1160" b="0" i="0">
                <a:solidFill>
                  <a:srgbClr val="263746"/>
                </a:solidFill>
                <a:latin typeface="Arial"/>
              </a:rPr>
              <a:t>Heart
Liver
Retina
EDL
Quadriceps</a:t>
            </a:r>
          </a:p>
        </p:txBody>
      </p:sp>
      <p:sp>
        <p:nvSpPr>
          <p:cNvPr id="19" name="Rounded Rectangle 18"/>
          <p:cNvSpPr/>
          <p:nvPr/>
        </p:nvSpPr>
        <p:spPr>
          <a:xfrm>
            <a:off x="7818120" y="1847088"/>
            <a:ext cx="3502152" cy="4297680"/>
          </a:xfrm>
          <a:prstGeom prst="roundRect">
            <a:avLst/>
          </a:prstGeom>
          <a:solidFill>
            <a:srgbClr val="F8F1E2"/>
          </a:solidFill>
          <a:ln w="10160">
            <a:solidFill>
              <a:srgbClr val="D37B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046720" y="2075688"/>
            <a:ext cx="521207" cy="521207"/>
          </a:xfrm>
          <a:prstGeom prst="ellipse">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046720" y="2167128"/>
            <a:ext cx="521207" cy="246888"/>
          </a:xfrm>
          <a:prstGeom prst="rect">
            <a:avLst/>
          </a:prstGeom>
          <a:noFill/>
        </p:spPr>
        <p:txBody>
          <a:bodyPr wrap="square" lIns="18288" rIns="18288" tIns="18288" bIns="18288" anchor="t">
            <a:spAutoFit/>
          </a:bodyPr>
          <a:lstStyle/>
          <a:p>
            <a:pPr algn="ctr">
              <a:spcAft>
                <a:spcPts val="0"/>
              </a:spcAft>
            </a:pPr>
            <a:r>
              <a:rPr sz="1500" b="1" i="0">
                <a:solidFill>
                  <a:srgbClr val="FFFFFF"/>
                </a:solidFill>
                <a:latin typeface="Arial"/>
              </a:rPr>
              <a:t>12</a:t>
            </a:r>
          </a:p>
        </p:txBody>
      </p:sp>
      <p:sp>
        <p:nvSpPr>
          <p:cNvPr id="22" name="TextBox 21"/>
          <p:cNvSpPr txBox="1"/>
          <p:nvPr/>
        </p:nvSpPr>
        <p:spPr>
          <a:xfrm>
            <a:off x="8714232" y="2093976"/>
            <a:ext cx="2331720" cy="320040"/>
          </a:xfrm>
          <a:prstGeom prst="rect">
            <a:avLst/>
          </a:prstGeom>
          <a:noFill/>
        </p:spPr>
        <p:txBody>
          <a:bodyPr wrap="square" lIns="18288" rIns="18288" tIns="18288" bIns="18288" anchor="t">
            <a:spAutoFit/>
          </a:bodyPr>
          <a:lstStyle/>
          <a:p>
            <a:pPr algn="l">
              <a:spcAft>
                <a:spcPts val="0"/>
              </a:spcAft>
            </a:pPr>
            <a:r>
              <a:rPr sz="1700" b="1" i="0">
                <a:solidFill>
                  <a:srgbClr val="D37B00"/>
                </a:solidFill>
                <a:latin typeface="Arial"/>
              </a:rPr>
              <a:t>No panel BH-FDR gene</a:t>
            </a:r>
          </a:p>
        </p:txBody>
      </p:sp>
      <p:sp>
        <p:nvSpPr>
          <p:cNvPr id="23" name="TextBox 22"/>
          <p:cNvSpPr txBox="1"/>
          <p:nvPr/>
        </p:nvSpPr>
        <p:spPr>
          <a:xfrm>
            <a:off x="8083296" y="2660904"/>
            <a:ext cx="2953512" cy="429768"/>
          </a:xfrm>
          <a:prstGeom prst="rect">
            <a:avLst/>
          </a:prstGeom>
          <a:noFill/>
        </p:spPr>
        <p:txBody>
          <a:bodyPr wrap="square" lIns="18288" rIns="18288" tIns="18288" bIns="18288" anchor="t">
            <a:spAutoFit/>
          </a:bodyPr>
          <a:lstStyle/>
          <a:p>
            <a:pPr algn="l">
              <a:spcAft>
                <a:spcPts val="0"/>
              </a:spcAft>
            </a:pPr>
            <a:r>
              <a:rPr sz="1080" b="0" i="0">
                <a:solidFill>
                  <a:srgbClr val="59697A"/>
                </a:solidFill>
                <a:latin typeface="Arial"/>
              </a:rPr>
              <a:t>No BH-FDR gene in the 974-gene panel</a:t>
            </a:r>
          </a:p>
        </p:txBody>
      </p:sp>
      <p:sp>
        <p:nvSpPr>
          <p:cNvPr id="24" name="TextBox 23"/>
          <p:cNvSpPr txBox="1"/>
          <p:nvPr/>
        </p:nvSpPr>
        <p:spPr>
          <a:xfrm>
            <a:off x="8110728" y="3182112"/>
            <a:ext cx="2926080" cy="2633472"/>
          </a:xfrm>
          <a:prstGeom prst="rect">
            <a:avLst/>
          </a:prstGeom>
          <a:noFill/>
        </p:spPr>
        <p:txBody>
          <a:bodyPr wrap="square" lIns="0" rIns="0" tIns="0" bIns="0" anchor="t">
            <a:spAutoFit/>
          </a:bodyPr>
          <a:lstStyle/>
          <a:p>
            <a:pPr algn="l">
              <a:spcAft>
                <a:spcPts val="0"/>
              </a:spcAft>
            </a:pPr>
            <a:r>
              <a:rPr sz="1160" b="0" i="0">
                <a:solidFill>
                  <a:srgbClr val="263746"/>
                </a:solidFill>
                <a:latin typeface="Arial"/>
              </a:rPr>
              <a:t>Bone
Bone Marrow
Brain
Brown Adipose Tissue
Cecum
Cerebellum
Colon
Hippocampus
Lung
Mammary Gland
Optic Nerve
White Adipose Tissue</a:t>
            </a:r>
          </a:p>
        </p:txBody>
      </p:sp>
      <p:sp>
        <p:nvSpPr>
          <p:cNvPr id="25" name="TextBox 24"/>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Twenty-two canonical tissues plus EDL, gastrocnemius, quadriceps, soleus and tibialis anterior; complete counts in Table S12.</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GENE INVENTORY</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Synthetic-informed genes spanned 10 tissue analyses</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All 49 associations passed BH FDR in real OSDR data; synthetic profiles affected prioritization, not the statistical test.</a:t>
            </a:r>
          </a:p>
        </p:txBody>
      </p:sp>
      <p:sp>
        <p:nvSpPr>
          <p:cNvPr id="7" name="TextBox 6"/>
          <p:cNvSpPr txBox="1"/>
          <p:nvPr/>
        </p:nvSpPr>
        <p:spPr>
          <a:xfrm>
            <a:off x="411480" y="1709928"/>
            <a:ext cx="960120" cy="228600"/>
          </a:xfrm>
          <a:prstGeom prst="rect">
            <a:avLst/>
          </a:prstGeom>
          <a:noFill/>
        </p:spPr>
        <p:txBody>
          <a:bodyPr wrap="square" lIns="18288" rIns="18288" tIns="18288" bIns="18288" anchor="t">
            <a:spAutoFit/>
          </a:bodyPr>
          <a:lstStyle/>
          <a:p>
            <a:pPr algn="l">
              <a:spcAft>
                <a:spcPts val="0"/>
              </a:spcAft>
            </a:pPr>
            <a:r>
              <a:rPr sz="1019" b="1" i="0">
                <a:solidFill>
                  <a:srgbClr val="D96552"/>
                </a:solidFill>
                <a:latin typeface="Arial"/>
              </a:rPr>
              <a:t>[P] promoted</a:t>
            </a:r>
          </a:p>
        </p:txBody>
      </p:sp>
      <p:sp>
        <p:nvSpPr>
          <p:cNvPr id="8" name="TextBox 7"/>
          <p:cNvSpPr txBox="1"/>
          <p:nvPr/>
        </p:nvSpPr>
        <p:spPr>
          <a:xfrm>
            <a:off x="1417320" y="1709928"/>
            <a:ext cx="1078992" cy="228600"/>
          </a:xfrm>
          <a:prstGeom prst="rect">
            <a:avLst/>
          </a:prstGeom>
          <a:noFill/>
        </p:spPr>
        <p:txBody>
          <a:bodyPr wrap="square" lIns="18288" rIns="18288" tIns="18288" bIns="18288" anchor="t">
            <a:spAutoFit/>
          </a:bodyPr>
          <a:lstStyle/>
          <a:p>
            <a:pPr algn="l">
              <a:spcAft>
                <a:spcPts val="0"/>
              </a:spcAft>
            </a:pPr>
            <a:r>
              <a:rPr sz="1019" b="1" i="0">
                <a:solidFill>
                  <a:srgbClr val="178681"/>
                </a:solidFill>
                <a:latin typeface="Arial"/>
              </a:rPr>
              <a:t>[R] reinforced</a:t>
            </a:r>
          </a:p>
        </p:txBody>
      </p:sp>
      <p:sp>
        <p:nvSpPr>
          <p:cNvPr id="9" name="Rectangle 8"/>
          <p:cNvSpPr/>
          <p:nvPr/>
        </p:nvSpPr>
        <p:spPr>
          <a:xfrm>
            <a:off x="2660904" y="1746504"/>
            <a:ext cx="128016" cy="45720"/>
          </a:xfrm>
          <a:prstGeom prst="rect">
            <a:avLst/>
          </a:prstGeom>
          <a:solidFill>
            <a:srgbClr val="478A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834640" y="1691640"/>
            <a:ext cx="841248" cy="228600"/>
          </a:xfrm>
          <a:prstGeom prst="rect">
            <a:avLst/>
          </a:prstGeom>
          <a:noFill/>
        </p:spPr>
        <p:txBody>
          <a:bodyPr wrap="square" lIns="18288" rIns="18288" tIns="18288" bIns="18288" anchor="t">
            <a:spAutoFit/>
          </a:bodyPr>
          <a:lstStyle/>
          <a:p>
            <a:pPr algn="l">
              <a:spcAft>
                <a:spcPts val="0"/>
              </a:spcAft>
            </a:pPr>
            <a:r>
              <a:rPr sz="980" b="1" i="0">
                <a:solidFill>
                  <a:srgbClr val="478A64"/>
                </a:solidFill>
                <a:latin typeface="Arial"/>
              </a:rPr>
              <a:t>aligning</a:t>
            </a:r>
          </a:p>
        </p:txBody>
      </p:sp>
      <p:sp>
        <p:nvSpPr>
          <p:cNvPr id="11" name="Rectangle 10"/>
          <p:cNvSpPr/>
          <p:nvPr/>
        </p:nvSpPr>
        <p:spPr>
          <a:xfrm>
            <a:off x="3575304" y="1746504"/>
            <a:ext cx="128016" cy="45720"/>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749040" y="1691640"/>
            <a:ext cx="1115568" cy="228600"/>
          </a:xfrm>
          <a:prstGeom prst="rect">
            <a:avLst/>
          </a:prstGeom>
          <a:noFill/>
        </p:spPr>
        <p:txBody>
          <a:bodyPr wrap="square" lIns="18288" rIns="18288" tIns="18288" bIns="18288" anchor="t">
            <a:spAutoFit/>
          </a:bodyPr>
          <a:lstStyle/>
          <a:p>
            <a:pPr algn="l">
              <a:spcAft>
                <a:spcPts val="0"/>
              </a:spcAft>
            </a:pPr>
            <a:r>
              <a:rPr sz="980" b="1" i="0">
                <a:solidFill>
                  <a:srgbClr val="2D6496"/>
                </a:solidFill>
                <a:latin typeface="Arial"/>
              </a:rPr>
              <a:t>complementary</a:t>
            </a:r>
          </a:p>
        </p:txBody>
      </p:sp>
      <p:sp>
        <p:nvSpPr>
          <p:cNvPr id="13" name="Rectangle 12"/>
          <p:cNvSpPr/>
          <p:nvPr/>
        </p:nvSpPr>
        <p:spPr>
          <a:xfrm>
            <a:off x="4791456" y="1746504"/>
            <a:ext cx="128016" cy="45720"/>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965192" y="1691640"/>
            <a:ext cx="932688" cy="228600"/>
          </a:xfrm>
          <a:prstGeom prst="rect">
            <a:avLst/>
          </a:prstGeom>
          <a:noFill/>
        </p:spPr>
        <p:txBody>
          <a:bodyPr wrap="square" lIns="18288" rIns="18288" tIns="18288" bIns="18288" anchor="t">
            <a:spAutoFit/>
          </a:bodyPr>
          <a:lstStyle/>
          <a:p>
            <a:pPr algn="l">
              <a:spcAft>
                <a:spcPts val="0"/>
              </a:spcAft>
            </a:pPr>
            <a:r>
              <a:rPr sz="980" b="1" i="0">
                <a:solidFill>
                  <a:srgbClr val="D37B00"/>
                </a:solidFill>
                <a:latin typeface="Arial"/>
              </a:rPr>
              <a:t>ambiguous</a:t>
            </a:r>
          </a:p>
        </p:txBody>
      </p:sp>
      <p:sp>
        <p:nvSpPr>
          <p:cNvPr id="15" name="Rectangle 14"/>
          <p:cNvSpPr/>
          <p:nvPr/>
        </p:nvSpPr>
        <p:spPr>
          <a:xfrm>
            <a:off x="5833872" y="1746504"/>
            <a:ext cx="128016" cy="45720"/>
          </a:xfrm>
          <a:prstGeom prst="rect">
            <a:avLst/>
          </a:prstGeom>
          <a:solidFill>
            <a:srgbClr val="8063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007608" y="1691640"/>
            <a:ext cx="960120" cy="228600"/>
          </a:xfrm>
          <a:prstGeom prst="rect">
            <a:avLst/>
          </a:prstGeom>
          <a:noFill/>
        </p:spPr>
        <p:txBody>
          <a:bodyPr wrap="square" lIns="18288" rIns="18288" tIns="18288" bIns="18288" anchor="t">
            <a:spAutoFit/>
          </a:bodyPr>
          <a:lstStyle/>
          <a:p>
            <a:pPr algn="l">
              <a:spcAft>
                <a:spcPts val="0"/>
              </a:spcAft>
            </a:pPr>
            <a:r>
              <a:rPr sz="980" b="1" i="0">
                <a:solidFill>
                  <a:srgbClr val="8063A6"/>
                </a:solidFill>
                <a:latin typeface="Arial"/>
              </a:rPr>
              <a:t>unmatched</a:t>
            </a:r>
          </a:p>
        </p:txBody>
      </p:sp>
      <p:sp>
        <p:nvSpPr>
          <p:cNvPr id="17" name="TextBox 16"/>
          <p:cNvSpPr txBox="1"/>
          <p:nvPr/>
        </p:nvSpPr>
        <p:spPr>
          <a:xfrm>
            <a:off x="8412480" y="1691640"/>
            <a:ext cx="3328416" cy="228600"/>
          </a:xfrm>
          <a:prstGeom prst="rect">
            <a:avLst/>
          </a:prstGeom>
          <a:noFill/>
        </p:spPr>
        <p:txBody>
          <a:bodyPr wrap="square" lIns="18288" rIns="18288" tIns="18288" bIns="18288" anchor="t">
            <a:spAutoFit/>
          </a:bodyPr>
          <a:lstStyle/>
          <a:p>
            <a:pPr algn="r">
              <a:spcAft>
                <a:spcPts val="0"/>
              </a:spcAft>
            </a:pPr>
            <a:r>
              <a:rPr sz="980" b="0" i="1">
                <a:solidFill>
                  <a:srgbClr val="8A969E"/>
                </a:solidFill>
                <a:latin typeface="Arial"/>
              </a:rPr>
              <a:t>Tag = selection | Gene color = literature</a:t>
            </a:r>
          </a:p>
        </p:txBody>
      </p:sp>
      <p:sp>
        <p:nvSpPr>
          <p:cNvPr id="18" name="Rectangle 17"/>
          <p:cNvSpPr/>
          <p:nvPr/>
        </p:nvSpPr>
        <p:spPr>
          <a:xfrm>
            <a:off x="393192" y="2048256"/>
            <a:ext cx="5623560" cy="16459"/>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48056" y="2112264"/>
            <a:ext cx="1170432" cy="1234439"/>
          </a:xfrm>
          <a:prstGeom prst="rect">
            <a:avLst/>
          </a:prstGeom>
          <a:noFill/>
        </p:spPr>
        <p:txBody>
          <a:bodyPr wrap="square" lIns="0" rIns="0" tIns="0" bIns="0" anchor="t">
            <a:spAutoFit/>
          </a:bodyPr>
          <a:lstStyle/>
          <a:p>
            <a:pPr>
              <a:spcAft>
                <a:spcPts val="0"/>
              </a:spcAft>
            </a:pPr>
            <a:r>
              <a:rPr sz="1180" b="1" i="0">
                <a:solidFill>
                  <a:srgbClr val="082B55"/>
                </a:solidFill>
                <a:latin typeface="Arial"/>
              </a:rPr>
              <a:t>Thymus
</a:t>
            </a:r>
            <a:r>
              <a:rPr sz="900" b="0" i="0">
                <a:solidFill>
                  <a:srgbClr val="8A969E"/>
                </a:solidFill>
                <a:latin typeface="Arial"/>
              </a:rPr>
              <a:t>16 genes</a:t>
            </a:r>
          </a:p>
        </p:txBody>
      </p:sp>
      <p:sp>
        <p:nvSpPr>
          <p:cNvPr id="20" name="TextBox 19"/>
          <p:cNvSpPr txBox="1"/>
          <p:nvPr/>
        </p:nvSpPr>
        <p:spPr>
          <a:xfrm>
            <a:off x="1645920" y="2103120"/>
            <a:ext cx="621792" cy="219456"/>
          </a:xfrm>
          <a:prstGeom prst="rect">
            <a:avLst/>
          </a:prstGeom>
          <a:noFill/>
        </p:spPr>
        <p:txBody>
          <a:bodyPr wrap="square" lIns="0" rIns="0" tIns="0" bIns="0" anchor="t">
            <a:spAutoFit/>
          </a:bodyPr>
          <a:lstStyle/>
          <a:p>
            <a:pPr algn="l">
              <a:spcAft>
                <a:spcPts val="0"/>
              </a:spcAft>
            </a:pPr>
            <a:r>
              <a:rPr sz="900" b="1" i="0">
                <a:solidFill>
                  <a:srgbClr val="D96552"/>
                </a:solidFill>
                <a:latin typeface="Arial"/>
              </a:rPr>
              <a:t>FLT higher</a:t>
            </a:r>
          </a:p>
        </p:txBody>
      </p:sp>
      <p:sp>
        <p:nvSpPr>
          <p:cNvPr id="21" name="TextBox 20"/>
          <p:cNvSpPr txBox="1"/>
          <p:nvPr/>
        </p:nvSpPr>
        <p:spPr>
          <a:xfrm>
            <a:off x="2331720" y="2103120"/>
            <a:ext cx="3611880" cy="310896"/>
          </a:xfrm>
          <a:prstGeom prst="rect">
            <a:avLst/>
          </a:prstGeom>
          <a:noFill/>
        </p:spPr>
        <p:txBody>
          <a:bodyPr wrap="square" lIns="0" rIns="0" tIns="0" bIns="0" anchor="t">
            <a:spAutoFit/>
          </a:bodyPr>
          <a:lstStyle/>
          <a:p>
            <a:pPr>
              <a:spcAft>
                <a:spcPts val="0"/>
              </a:spcAft>
            </a:pPr>
            <a:r>
              <a:rPr sz="910" b="1" i="0">
                <a:solidFill>
                  <a:srgbClr val="D96552"/>
                </a:solidFill>
                <a:latin typeface="Arial"/>
              </a:rPr>
              <a:t>[P]</a:t>
            </a:r>
            <a:r>
              <a:rPr sz="980" b="1" i="1">
                <a:solidFill>
                  <a:srgbClr val="2D6496"/>
                </a:solidFill>
                <a:latin typeface="Arial"/>
              </a:rPr>
              <a:t>Hsd17b11</a:t>
            </a:r>
            <a:r>
              <a:rPr sz="980" b="0" i="0">
                <a:solidFill>
                  <a:srgbClr val="8A969E"/>
                </a:solidFill>
                <a:latin typeface="Arial"/>
              </a:rPr>
              <a:t>, </a:t>
            </a:r>
            <a:r>
              <a:rPr sz="910" b="1" i="0">
                <a:solidFill>
                  <a:srgbClr val="D96552"/>
                </a:solidFill>
                <a:latin typeface="Arial"/>
              </a:rPr>
              <a:t>[P]</a:t>
            </a:r>
            <a:r>
              <a:rPr sz="980" b="1" i="1">
                <a:solidFill>
                  <a:srgbClr val="2D6496"/>
                </a:solidFill>
                <a:latin typeface="Arial"/>
              </a:rPr>
              <a:t>Etv1</a:t>
            </a:r>
            <a:r>
              <a:rPr sz="980" b="0" i="0">
                <a:solidFill>
                  <a:srgbClr val="8A969E"/>
                </a:solidFill>
                <a:latin typeface="Arial"/>
              </a:rPr>
              <a:t>, </a:t>
            </a:r>
            <a:r>
              <a:rPr sz="910" b="1" i="0">
                <a:solidFill>
                  <a:srgbClr val="178681"/>
                </a:solidFill>
                <a:latin typeface="Arial"/>
              </a:rPr>
              <a:t>[R]</a:t>
            </a:r>
            <a:r>
              <a:rPr sz="980" b="1" i="1">
                <a:solidFill>
                  <a:srgbClr val="8063A6"/>
                </a:solidFill>
                <a:latin typeface="Arial"/>
              </a:rPr>
              <a:t>Snx7</a:t>
            </a:r>
          </a:p>
        </p:txBody>
      </p:sp>
      <p:sp>
        <p:nvSpPr>
          <p:cNvPr id="22" name="TextBox 21"/>
          <p:cNvSpPr txBox="1"/>
          <p:nvPr/>
        </p:nvSpPr>
        <p:spPr>
          <a:xfrm>
            <a:off x="1645920" y="2414016"/>
            <a:ext cx="621792" cy="219456"/>
          </a:xfrm>
          <a:prstGeom prst="rect">
            <a:avLst/>
          </a:prstGeom>
          <a:noFill/>
        </p:spPr>
        <p:txBody>
          <a:bodyPr wrap="square" lIns="0" rIns="0" tIns="0" bIns="0" anchor="t">
            <a:spAutoFit/>
          </a:bodyPr>
          <a:lstStyle/>
          <a:p>
            <a:pPr algn="l">
              <a:spcAft>
                <a:spcPts val="0"/>
              </a:spcAft>
            </a:pPr>
            <a:r>
              <a:rPr sz="900" b="1" i="0">
                <a:solidFill>
                  <a:srgbClr val="178681"/>
                </a:solidFill>
                <a:latin typeface="Arial"/>
              </a:rPr>
              <a:t>FLT lower</a:t>
            </a:r>
          </a:p>
        </p:txBody>
      </p:sp>
      <p:sp>
        <p:nvSpPr>
          <p:cNvPr id="23" name="TextBox 22"/>
          <p:cNvSpPr txBox="1"/>
          <p:nvPr/>
        </p:nvSpPr>
        <p:spPr>
          <a:xfrm>
            <a:off x="2331720" y="2414016"/>
            <a:ext cx="3611880" cy="914399"/>
          </a:xfrm>
          <a:prstGeom prst="rect">
            <a:avLst/>
          </a:prstGeom>
          <a:noFill/>
        </p:spPr>
        <p:txBody>
          <a:bodyPr wrap="square" lIns="0" rIns="0" tIns="0" bIns="0" anchor="t">
            <a:spAutoFit/>
          </a:bodyPr>
          <a:lstStyle/>
          <a:p>
            <a:pPr>
              <a:spcAft>
                <a:spcPts val="0"/>
              </a:spcAft>
            </a:pPr>
            <a:r>
              <a:rPr sz="910" b="1" i="0">
                <a:solidFill>
                  <a:srgbClr val="D96552"/>
                </a:solidFill>
                <a:latin typeface="Arial"/>
              </a:rPr>
              <a:t>[P]</a:t>
            </a:r>
            <a:r>
              <a:rPr sz="980" b="1" i="1">
                <a:solidFill>
                  <a:srgbClr val="478A64"/>
                </a:solidFill>
                <a:latin typeface="Arial"/>
              </a:rPr>
              <a:t>Nusap1</a:t>
            </a:r>
            <a:r>
              <a:rPr sz="980" b="0" i="0">
                <a:solidFill>
                  <a:srgbClr val="8A969E"/>
                </a:solidFill>
                <a:latin typeface="Arial"/>
              </a:rPr>
              <a:t>, </a:t>
            </a:r>
            <a:r>
              <a:rPr sz="910" b="1" i="0">
                <a:solidFill>
                  <a:srgbClr val="D96552"/>
                </a:solidFill>
                <a:latin typeface="Arial"/>
              </a:rPr>
              <a:t>[P]</a:t>
            </a:r>
            <a:r>
              <a:rPr sz="980" b="1" i="1">
                <a:solidFill>
                  <a:srgbClr val="478A64"/>
                </a:solidFill>
                <a:latin typeface="Arial"/>
              </a:rPr>
              <a:t>Stmn1</a:t>
            </a:r>
            <a:r>
              <a:rPr sz="980" b="0" i="0">
                <a:solidFill>
                  <a:srgbClr val="8A969E"/>
                </a:solidFill>
                <a:latin typeface="Arial"/>
              </a:rPr>
              <a:t>, </a:t>
            </a:r>
            <a:r>
              <a:rPr sz="910" b="1" i="0">
                <a:solidFill>
                  <a:srgbClr val="D96552"/>
                </a:solidFill>
                <a:latin typeface="Arial"/>
              </a:rPr>
              <a:t>[P]</a:t>
            </a:r>
            <a:r>
              <a:rPr sz="980" b="1" i="1">
                <a:solidFill>
                  <a:srgbClr val="D37B00"/>
                </a:solidFill>
                <a:latin typeface="Arial"/>
              </a:rPr>
              <a:t>Birc5</a:t>
            </a:r>
            <a:r>
              <a:rPr sz="980" b="0" i="0">
                <a:solidFill>
                  <a:srgbClr val="8A969E"/>
                </a:solidFill>
                <a:latin typeface="Arial"/>
              </a:rPr>
              <a:t>, </a:t>
            </a:r>
            <a:r>
              <a:rPr sz="910" b="1" i="0">
                <a:solidFill>
                  <a:srgbClr val="D96552"/>
                </a:solidFill>
                <a:latin typeface="Arial"/>
              </a:rPr>
              <a:t>[P]</a:t>
            </a:r>
            <a:r>
              <a:rPr sz="980" b="1" i="1">
                <a:solidFill>
                  <a:srgbClr val="478A64"/>
                </a:solidFill>
                <a:latin typeface="Arial"/>
              </a:rPr>
              <a:t>Cdk1</a:t>
            </a:r>
            <a:r>
              <a:rPr sz="980" b="0" i="0">
                <a:solidFill>
                  <a:srgbClr val="8A969E"/>
                </a:solidFill>
                <a:latin typeface="Arial"/>
              </a:rPr>
              <a:t>, </a:t>
            </a:r>
            <a:r>
              <a:rPr sz="910" b="1" i="0">
                <a:solidFill>
                  <a:srgbClr val="D96552"/>
                </a:solidFill>
                <a:latin typeface="Arial"/>
              </a:rPr>
              <a:t>[P]</a:t>
            </a:r>
            <a:r>
              <a:rPr sz="980" b="1" i="1">
                <a:solidFill>
                  <a:srgbClr val="478A64"/>
                </a:solidFill>
                <a:latin typeface="Arial"/>
              </a:rPr>
              <a:t>Top2a</a:t>
            </a:r>
            <a:r>
              <a:rPr sz="980" b="0" i="0">
                <a:solidFill>
                  <a:srgbClr val="8A969E"/>
                </a:solidFill>
                <a:latin typeface="Arial"/>
              </a:rPr>
              <a:t>, </a:t>
            </a:r>
            <a:r>
              <a:rPr sz="910" b="1" i="0">
                <a:solidFill>
                  <a:srgbClr val="D96552"/>
                </a:solidFill>
                <a:latin typeface="Arial"/>
              </a:rPr>
              <a:t>[P]</a:t>
            </a:r>
            <a:r>
              <a:rPr sz="980" b="1" i="1">
                <a:solidFill>
                  <a:srgbClr val="478A64"/>
                </a:solidFill>
                <a:latin typeface="Arial"/>
              </a:rPr>
              <a:t>Ccnb2</a:t>
            </a:r>
            <a:r>
              <a:rPr sz="980" b="0" i="0">
                <a:solidFill>
                  <a:srgbClr val="8A969E"/>
                </a:solidFill>
                <a:latin typeface="Arial"/>
              </a:rPr>
              <a:t>, </a:t>
            </a:r>
            <a:r>
              <a:rPr sz="910" b="1" i="0">
                <a:solidFill>
                  <a:srgbClr val="D96552"/>
                </a:solidFill>
                <a:latin typeface="Arial"/>
              </a:rPr>
              <a:t>[P]</a:t>
            </a:r>
            <a:r>
              <a:rPr sz="980" b="1" i="1">
                <a:solidFill>
                  <a:srgbClr val="478A64"/>
                </a:solidFill>
                <a:latin typeface="Arial"/>
              </a:rPr>
              <a:t>Aurka</a:t>
            </a:r>
            <a:r>
              <a:rPr sz="980" b="0" i="0">
                <a:solidFill>
                  <a:srgbClr val="8A969E"/>
                </a:solidFill>
                <a:latin typeface="Arial"/>
              </a:rPr>
              <a:t>, </a:t>
            </a:r>
            <a:r>
              <a:rPr sz="910" b="1" i="0">
                <a:solidFill>
                  <a:srgbClr val="D96552"/>
                </a:solidFill>
                <a:latin typeface="Arial"/>
              </a:rPr>
              <a:t>[P]</a:t>
            </a:r>
            <a:r>
              <a:rPr sz="980" b="1" i="1">
                <a:solidFill>
                  <a:srgbClr val="478A64"/>
                </a:solidFill>
                <a:latin typeface="Arial"/>
              </a:rPr>
              <a:t>Ccne2</a:t>
            </a:r>
            <a:r>
              <a:rPr sz="980" b="0" i="0">
                <a:solidFill>
                  <a:srgbClr val="8A969E"/>
                </a:solidFill>
                <a:latin typeface="Arial"/>
              </a:rPr>
              <a:t>, </a:t>
            </a:r>
            <a:r>
              <a:rPr sz="910" b="1" i="0">
                <a:solidFill>
                  <a:srgbClr val="D96552"/>
                </a:solidFill>
                <a:latin typeface="Arial"/>
              </a:rPr>
              <a:t>[P]</a:t>
            </a:r>
            <a:r>
              <a:rPr sz="980" b="1" i="1">
                <a:solidFill>
                  <a:srgbClr val="478A64"/>
                </a:solidFill>
                <a:latin typeface="Arial"/>
              </a:rPr>
              <a:t>Kif20a</a:t>
            </a:r>
            <a:r>
              <a:rPr sz="980" b="0" i="0">
                <a:solidFill>
                  <a:srgbClr val="8A969E"/>
                </a:solidFill>
                <a:latin typeface="Arial"/>
              </a:rPr>
              <a:t>, </a:t>
            </a:r>
            <a:r>
              <a:rPr sz="910" b="1" i="0">
                <a:solidFill>
                  <a:srgbClr val="D96552"/>
                </a:solidFill>
                <a:latin typeface="Arial"/>
              </a:rPr>
              <a:t>[P]</a:t>
            </a:r>
            <a:r>
              <a:rPr sz="980" b="1" i="1">
                <a:solidFill>
                  <a:srgbClr val="478A64"/>
                </a:solidFill>
                <a:latin typeface="Arial"/>
              </a:rPr>
              <a:t>Pcna</a:t>
            </a:r>
            <a:r>
              <a:rPr sz="980" b="0" i="0">
                <a:solidFill>
                  <a:srgbClr val="8A969E"/>
                </a:solidFill>
                <a:latin typeface="Arial"/>
              </a:rPr>
              <a:t>, </a:t>
            </a:r>
            <a:r>
              <a:rPr sz="910" b="1" i="0">
                <a:solidFill>
                  <a:srgbClr val="D96552"/>
                </a:solidFill>
                <a:latin typeface="Arial"/>
              </a:rPr>
              <a:t>[P]</a:t>
            </a:r>
            <a:r>
              <a:rPr sz="980" b="1" i="1">
                <a:solidFill>
                  <a:srgbClr val="478A64"/>
                </a:solidFill>
                <a:latin typeface="Arial"/>
              </a:rPr>
              <a:t>Ccnf</a:t>
            </a:r>
            <a:r>
              <a:rPr sz="980" b="0" i="0">
                <a:solidFill>
                  <a:srgbClr val="8A969E"/>
                </a:solidFill>
                <a:latin typeface="Arial"/>
              </a:rPr>
              <a:t>, </a:t>
            </a:r>
            <a:r>
              <a:rPr sz="910" b="1" i="0">
                <a:solidFill>
                  <a:srgbClr val="178681"/>
                </a:solidFill>
                <a:latin typeface="Arial"/>
              </a:rPr>
              <a:t>[R]</a:t>
            </a:r>
            <a:r>
              <a:rPr sz="980" b="1" i="1">
                <a:solidFill>
                  <a:srgbClr val="478A64"/>
                </a:solidFill>
                <a:latin typeface="Arial"/>
              </a:rPr>
              <a:t>Ube2c</a:t>
            </a:r>
            <a:r>
              <a:rPr sz="980" b="0" i="0">
                <a:solidFill>
                  <a:srgbClr val="8A969E"/>
                </a:solidFill>
                <a:latin typeface="Arial"/>
              </a:rPr>
              <a:t>, </a:t>
            </a:r>
            <a:r>
              <a:rPr sz="910" b="1" i="0">
                <a:solidFill>
                  <a:srgbClr val="178681"/>
                </a:solidFill>
                <a:latin typeface="Arial"/>
              </a:rPr>
              <a:t>[R]</a:t>
            </a:r>
            <a:r>
              <a:rPr sz="980" b="1" i="1">
                <a:solidFill>
                  <a:srgbClr val="478A64"/>
                </a:solidFill>
                <a:latin typeface="Arial"/>
              </a:rPr>
              <a:t>Gmnn</a:t>
            </a:r>
          </a:p>
        </p:txBody>
      </p:sp>
      <p:sp>
        <p:nvSpPr>
          <p:cNvPr id="24" name="Rectangle 23"/>
          <p:cNvSpPr/>
          <p:nvPr/>
        </p:nvSpPr>
        <p:spPr>
          <a:xfrm>
            <a:off x="393192" y="3456432"/>
            <a:ext cx="5623560" cy="16459"/>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48056" y="3520439"/>
            <a:ext cx="1170432" cy="521208"/>
          </a:xfrm>
          <a:prstGeom prst="rect">
            <a:avLst/>
          </a:prstGeom>
          <a:noFill/>
        </p:spPr>
        <p:txBody>
          <a:bodyPr wrap="square" lIns="0" rIns="0" tIns="0" bIns="0" anchor="t">
            <a:spAutoFit/>
          </a:bodyPr>
          <a:lstStyle/>
          <a:p>
            <a:pPr>
              <a:spcAft>
                <a:spcPts val="0"/>
              </a:spcAft>
            </a:pPr>
            <a:r>
              <a:rPr sz="1180" b="1" i="0">
                <a:solidFill>
                  <a:srgbClr val="082B55"/>
                </a:solidFill>
                <a:latin typeface="Arial"/>
              </a:rPr>
              <a:t>Spleen
</a:t>
            </a:r>
            <a:r>
              <a:rPr sz="900" b="0" i="0">
                <a:solidFill>
                  <a:srgbClr val="8A969E"/>
                </a:solidFill>
                <a:latin typeface="Arial"/>
              </a:rPr>
              <a:t>4 genes</a:t>
            </a:r>
          </a:p>
        </p:txBody>
      </p:sp>
      <p:sp>
        <p:nvSpPr>
          <p:cNvPr id="26" name="TextBox 25"/>
          <p:cNvSpPr txBox="1"/>
          <p:nvPr/>
        </p:nvSpPr>
        <p:spPr>
          <a:xfrm>
            <a:off x="1645920" y="3511296"/>
            <a:ext cx="621792" cy="219456"/>
          </a:xfrm>
          <a:prstGeom prst="rect">
            <a:avLst/>
          </a:prstGeom>
          <a:noFill/>
        </p:spPr>
        <p:txBody>
          <a:bodyPr wrap="square" lIns="0" rIns="0" tIns="0" bIns="0" anchor="t">
            <a:spAutoFit/>
          </a:bodyPr>
          <a:lstStyle/>
          <a:p>
            <a:pPr algn="l">
              <a:spcAft>
                <a:spcPts val="0"/>
              </a:spcAft>
            </a:pPr>
            <a:r>
              <a:rPr sz="900" b="1" i="0">
                <a:solidFill>
                  <a:srgbClr val="D96552"/>
                </a:solidFill>
                <a:latin typeface="Arial"/>
              </a:rPr>
              <a:t>FLT higher</a:t>
            </a:r>
          </a:p>
        </p:txBody>
      </p:sp>
      <p:sp>
        <p:nvSpPr>
          <p:cNvPr id="27" name="TextBox 26"/>
          <p:cNvSpPr txBox="1"/>
          <p:nvPr/>
        </p:nvSpPr>
        <p:spPr>
          <a:xfrm>
            <a:off x="2331720" y="3511296"/>
            <a:ext cx="3611880" cy="274320"/>
          </a:xfrm>
          <a:prstGeom prst="rect">
            <a:avLst/>
          </a:prstGeom>
          <a:noFill/>
        </p:spPr>
        <p:txBody>
          <a:bodyPr wrap="square" lIns="0" rIns="0" tIns="0" bIns="0" anchor="t">
            <a:spAutoFit/>
          </a:bodyPr>
          <a:lstStyle/>
          <a:p>
            <a:pPr>
              <a:spcAft>
                <a:spcPts val="0"/>
              </a:spcAft>
            </a:pPr>
            <a:r>
              <a:rPr sz="910" b="1" i="0">
                <a:solidFill>
                  <a:srgbClr val="D96552"/>
                </a:solidFill>
                <a:latin typeface="Arial"/>
              </a:rPr>
              <a:t>[P]</a:t>
            </a:r>
            <a:r>
              <a:rPr sz="980" b="1" i="1">
                <a:solidFill>
                  <a:srgbClr val="2D6496"/>
                </a:solidFill>
                <a:latin typeface="Arial"/>
              </a:rPr>
              <a:t>Rai14</a:t>
            </a:r>
            <a:r>
              <a:rPr sz="980" b="0" i="0">
                <a:solidFill>
                  <a:srgbClr val="8A969E"/>
                </a:solidFill>
                <a:latin typeface="Arial"/>
              </a:rPr>
              <a:t>, </a:t>
            </a:r>
            <a:r>
              <a:rPr sz="910" b="1" i="0">
                <a:solidFill>
                  <a:srgbClr val="D96552"/>
                </a:solidFill>
                <a:latin typeface="Arial"/>
              </a:rPr>
              <a:t>[P]</a:t>
            </a:r>
            <a:r>
              <a:rPr sz="980" b="1" i="1">
                <a:solidFill>
                  <a:srgbClr val="2D6496"/>
                </a:solidFill>
                <a:latin typeface="Arial"/>
              </a:rPr>
              <a:t>Myl9</a:t>
            </a:r>
            <a:r>
              <a:rPr sz="980" b="0" i="0">
                <a:solidFill>
                  <a:srgbClr val="8A969E"/>
                </a:solidFill>
                <a:latin typeface="Arial"/>
              </a:rPr>
              <a:t>, </a:t>
            </a:r>
            <a:r>
              <a:rPr sz="910" b="1" i="0">
                <a:solidFill>
                  <a:srgbClr val="D96552"/>
                </a:solidFill>
                <a:latin typeface="Arial"/>
              </a:rPr>
              <a:t>[P]</a:t>
            </a:r>
            <a:r>
              <a:rPr sz="980" b="1" i="1">
                <a:solidFill>
                  <a:srgbClr val="2D6496"/>
                </a:solidFill>
                <a:latin typeface="Arial"/>
              </a:rPr>
              <a:t>Ptprk</a:t>
            </a:r>
            <a:r>
              <a:rPr sz="980" b="0" i="0">
                <a:solidFill>
                  <a:srgbClr val="8A969E"/>
                </a:solidFill>
                <a:latin typeface="Arial"/>
              </a:rPr>
              <a:t>, </a:t>
            </a:r>
            <a:r>
              <a:rPr sz="910" b="1" i="0">
                <a:solidFill>
                  <a:srgbClr val="178681"/>
                </a:solidFill>
                <a:latin typeface="Arial"/>
              </a:rPr>
              <a:t>[R]</a:t>
            </a:r>
            <a:r>
              <a:rPr sz="980" b="1" i="1">
                <a:solidFill>
                  <a:srgbClr val="2D6496"/>
                </a:solidFill>
                <a:latin typeface="Arial"/>
              </a:rPr>
              <a:t>Loxl1</a:t>
            </a:r>
          </a:p>
        </p:txBody>
      </p:sp>
      <p:sp>
        <p:nvSpPr>
          <p:cNvPr id="28" name="TextBox 27"/>
          <p:cNvSpPr txBox="1"/>
          <p:nvPr/>
        </p:nvSpPr>
        <p:spPr>
          <a:xfrm>
            <a:off x="1645920" y="3785615"/>
            <a:ext cx="621792" cy="219456"/>
          </a:xfrm>
          <a:prstGeom prst="rect">
            <a:avLst/>
          </a:prstGeom>
          <a:noFill/>
        </p:spPr>
        <p:txBody>
          <a:bodyPr wrap="square" lIns="0" rIns="0" tIns="0" bIns="0" anchor="t">
            <a:spAutoFit/>
          </a:bodyPr>
          <a:lstStyle/>
          <a:p>
            <a:pPr algn="l">
              <a:spcAft>
                <a:spcPts val="0"/>
              </a:spcAft>
            </a:pPr>
            <a:r>
              <a:rPr sz="900" b="1" i="0">
                <a:solidFill>
                  <a:srgbClr val="178681"/>
                </a:solidFill>
                <a:latin typeface="Arial"/>
              </a:rPr>
              <a:t>FLT lower</a:t>
            </a:r>
          </a:p>
        </p:txBody>
      </p:sp>
      <p:sp>
        <p:nvSpPr>
          <p:cNvPr id="29" name="TextBox 28"/>
          <p:cNvSpPr txBox="1"/>
          <p:nvPr/>
        </p:nvSpPr>
        <p:spPr>
          <a:xfrm>
            <a:off x="2331720" y="3785615"/>
            <a:ext cx="3611880" cy="237744"/>
          </a:xfrm>
          <a:prstGeom prst="rect">
            <a:avLst/>
          </a:prstGeom>
          <a:noFill/>
        </p:spPr>
        <p:txBody>
          <a:bodyPr wrap="square" lIns="0" rIns="0" tIns="0" bIns="0" anchor="t">
            <a:spAutoFit/>
          </a:bodyPr>
          <a:lstStyle/>
          <a:p>
            <a:pPr>
              <a:spcAft>
                <a:spcPts val="0"/>
              </a:spcAft>
            </a:pPr>
            <a:r>
              <a:rPr sz="980" b="0" i="1">
                <a:solidFill>
                  <a:srgbClr val="8A969E"/>
                </a:solidFill>
                <a:latin typeface="Arial"/>
              </a:rPr>
              <a:t>none</a:t>
            </a:r>
          </a:p>
        </p:txBody>
      </p:sp>
      <p:sp>
        <p:nvSpPr>
          <p:cNvPr id="30" name="Rectangle 29"/>
          <p:cNvSpPr/>
          <p:nvPr/>
        </p:nvSpPr>
        <p:spPr>
          <a:xfrm>
            <a:off x="393192" y="4151376"/>
            <a:ext cx="5623560" cy="16459"/>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48056" y="4215384"/>
            <a:ext cx="1170432" cy="466344"/>
          </a:xfrm>
          <a:prstGeom prst="rect">
            <a:avLst/>
          </a:prstGeom>
          <a:noFill/>
        </p:spPr>
        <p:txBody>
          <a:bodyPr wrap="square" lIns="0" rIns="0" tIns="0" bIns="0" anchor="t">
            <a:spAutoFit/>
          </a:bodyPr>
          <a:lstStyle/>
          <a:p>
            <a:pPr>
              <a:spcAft>
                <a:spcPts val="0"/>
              </a:spcAft>
            </a:pPr>
            <a:r>
              <a:rPr sz="1180" b="1" i="0">
                <a:solidFill>
                  <a:srgbClr val="082B55"/>
                </a:solidFill>
                <a:latin typeface="Arial"/>
              </a:rPr>
              <a:t>Kidney
</a:t>
            </a:r>
            <a:r>
              <a:rPr sz="900" b="0" i="0">
                <a:solidFill>
                  <a:srgbClr val="8A969E"/>
                </a:solidFill>
                <a:latin typeface="Arial"/>
              </a:rPr>
              <a:t>2 genes</a:t>
            </a:r>
          </a:p>
        </p:txBody>
      </p:sp>
      <p:sp>
        <p:nvSpPr>
          <p:cNvPr id="32" name="TextBox 31"/>
          <p:cNvSpPr txBox="1"/>
          <p:nvPr/>
        </p:nvSpPr>
        <p:spPr>
          <a:xfrm>
            <a:off x="1645920" y="4206240"/>
            <a:ext cx="621792" cy="219456"/>
          </a:xfrm>
          <a:prstGeom prst="rect">
            <a:avLst/>
          </a:prstGeom>
          <a:noFill/>
        </p:spPr>
        <p:txBody>
          <a:bodyPr wrap="square" lIns="0" rIns="0" tIns="0" bIns="0" anchor="t">
            <a:spAutoFit/>
          </a:bodyPr>
          <a:lstStyle/>
          <a:p>
            <a:pPr algn="l">
              <a:spcAft>
                <a:spcPts val="0"/>
              </a:spcAft>
            </a:pPr>
            <a:r>
              <a:rPr sz="900" b="1" i="0">
                <a:solidFill>
                  <a:srgbClr val="D96552"/>
                </a:solidFill>
                <a:latin typeface="Arial"/>
              </a:rPr>
              <a:t>FLT higher</a:t>
            </a:r>
          </a:p>
        </p:txBody>
      </p:sp>
      <p:sp>
        <p:nvSpPr>
          <p:cNvPr id="33" name="TextBox 32"/>
          <p:cNvSpPr txBox="1"/>
          <p:nvPr/>
        </p:nvSpPr>
        <p:spPr>
          <a:xfrm>
            <a:off x="2331720" y="4206240"/>
            <a:ext cx="3611880" cy="274320"/>
          </a:xfrm>
          <a:prstGeom prst="rect">
            <a:avLst/>
          </a:prstGeom>
          <a:noFill/>
        </p:spPr>
        <p:txBody>
          <a:bodyPr wrap="square" lIns="0" rIns="0" tIns="0" bIns="0" anchor="t">
            <a:spAutoFit/>
          </a:bodyPr>
          <a:lstStyle/>
          <a:p>
            <a:pPr>
              <a:spcAft>
                <a:spcPts val="0"/>
              </a:spcAft>
            </a:pPr>
            <a:r>
              <a:rPr sz="910" b="1" i="0">
                <a:solidFill>
                  <a:srgbClr val="D96552"/>
                </a:solidFill>
                <a:latin typeface="Arial"/>
              </a:rPr>
              <a:t>[P]</a:t>
            </a:r>
            <a:r>
              <a:rPr sz="980" b="1" i="1">
                <a:solidFill>
                  <a:srgbClr val="2D6496"/>
                </a:solidFill>
                <a:latin typeface="Arial"/>
              </a:rPr>
              <a:t>Inpp4b</a:t>
            </a:r>
            <a:r>
              <a:rPr sz="980" b="0" i="0">
                <a:solidFill>
                  <a:srgbClr val="8A969E"/>
                </a:solidFill>
                <a:latin typeface="Arial"/>
              </a:rPr>
              <a:t>, </a:t>
            </a:r>
            <a:r>
              <a:rPr sz="910" b="1" i="0">
                <a:solidFill>
                  <a:srgbClr val="178681"/>
                </a:solidFill>
                <a:latin typeface="Arial"/>
              </a:rPr>
              <a:t>[R]</a:t>
            </a:r>
            <a:r>
              <a:rPr sz="980" b="1" i="1">
                <a:solidFill>
                  <a:srgbClr val="2D6496"/>
                </a:solidFill>
                <a:latin typeface="Arial"/>
              </a:rPr>
              <a:t>Slc37a4</a:t>
            </a:r>
          </a:p>
        </p:txBody>
      </p:sp>
      <p:sp>
        <p:nvSpPr>
          <p:cNvPr id="34" name="TextBox 33"/>
          <p:cNvSpPr txBox="1"/>
          <p:nvPr/>
        </p:nvSpPr>
        <p:spPr>
          <a:xfrm>
            <a:off x="1645920" y="4480559"/>
            <a:ext cx="621792" cy="182880"/>
          </a:xfrm>
          <a:prstGeom prst="rect">
            <a:avLst/>
          </a:prstGeom>
          <a:noFill/>
        </p:spPr>
        <p:txBody>
          <a:bodyPr wrap="square" lIns="0" rIns="0" tIns="0" bIns="0" anchor="t">
            <a:spAutoFit/>
          </a:bodyPr>
          <a:lstStyle/>
          <a:p>
            <a:pPr algn="l">
              <a:spcAft>
                <a:spcPts val="0"/>
              </a:spcAft>
            </a:pPr>
            <a:r>
              <a:rPr sz="900" b="1" i="0">
                <a:solidFill>
                  <a:srgbClr val="178681"/>
                </a:solidFill>
                <a:latin typeface="Arial"/>
              </a:rPr>
              <a:t>FLT lower</a:t>
            </a:r>
          </a:p>
        </p:txBody>
      </p:sp>
      <p:sp>
        <p:nvSpPr>
          <p:cNvPr id="35" name="TextBox 34"/>
          <p:cNvSpPr txBox="1"/>
          <p:nvPr/>
        </p:nvSpPr>
        <p:spPr>
          <a:xfrm>
            <a:off x="2331720" y="4480559"/>
            <a:ext cx="3611880" cy="182880"/>
          </a:xfrm>
          <a:prstGeom prst="rect">
            <a:avLst/>
          </a:prstGeom>
          <a:noFill/>
        </p:spPr>
        <p:txBody>
          <a:bodyPr wrap="square" lIns="0" rIns="0" tIns="0" bIns="0" anchor="t">
            <a:spAutoFit/>
          </a:bodyPr>
          <a:lstStyle/>
          <a:p>
            <a:pPr>
              <a:spcAft>
                <a:spcPts val="0"/>
              </a:spcAft>
            </a:pPr>
            <a:r>
              <a:rPr sz="980" b="0" i="1">
                <a:solidFill>
                  <a:srgbClr val="8A969E"/>
                </a:solidFill>
                <a:latin typeface="Arial"/>
              </a:rPr>
              <a:t>none</a:t>
            </a:r>
          </a:p>
        </p:txBody>
      </p:sp>
      <p:sp>
        <p:nvSpPr>
          <p:cNvPr id="36" name="Rectangle 35"/>
          <p:cNvSpPr/>
          <p:nvPr/>
        </p:nvSpPr>
        <p:spPr>
          <a:xfrm>
            <a:off x="393192" y="4791456"/>
            <a:ext cx="5623560" cy="16459"/>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48056" y="4855464"/>
            <a:ext cx="1170432" cy="466344"/>
          </a:xfrm>
          <a:prstGeom prst="rect">
            <a:avLst/>
          </a:prstGeom>
          <a:noFill/>
        </p:spPr>
        <p:txBody>
          <a:bodyPr wrap="square" lIns="0" rIns="0" tIns="0" bIns="0" anchor="t">
            <a:spAutoFit/>
          </a:bodyPr>
          <a:lstStyle/>
          <a:p>
            <a:pPr>
              <a:spcAft>
                <a:spcPts val="0"/>
              </a:spcAft>
            </a:pPr>
            <a:r>
              <a:rPr sz="1180" b="1" i="0">
                <a:solidFill>
                  <a:srgbClr val="082B55"/>
                </a:solidFill>
                <a:latin typeface="Arial"/>
              </a:rPr>
              <a:t>Gastrocnemius
</a:t>
            </a:r>
            <a:r>
              <a:rPr sz="900" b="0" i="0">
                <a:solidFill>
                  <a:srgbClr val="8A969E"/>
                </a:solidFill>
                <a:latin typeface="Arial"/>
              </a:rPr>
              <a:t>2 genes</a:t>
            </a:r>
          </a:p>
        </p:txBody>
      </p:sp>
      <p:sp>
        <p:nvSpPr>
          <p:cNvPr id="38" name="TextBox 37"/>
          <p:cNvSpPr txBox="1"/>
          <p:nvPr/>
        </p:nvSpPr>
        <p:spPr>
          <a:xfrm>
            <a:off x="1645920" y="4846320"/>
            <a:ext cx="621792" cy="219456"/>
          </a:xfrm>
          <a:prstGeom prst="rect">
            <a:avLst/>
          </a:prstGeom>
          <a:noFill/>
        </p:spPr>
        <p:txBody>
          <a:bodyPr wrap="square" lIns="0" rIns="0" tIns="0" bIns="0" anchor="t">
            <a:spAutoFit/>
          </a:bodyPr>
          <a:lstStyle/>
          <a:p>
            <a:pPr algn="l">
              <a:spcAft>
                <a:spcPts val="0"/>
              </a:spcAft>
            </a:pPr>
            <a:r>
              <a:rPr sz="900" b="1" i="0">
                <a:solidFill>
                  <a:srgbClr val="D96552"/>
                </a:solidFill>
                <a:latin typeface="Arial"/>
              </a:rPr>
              <a:t>FLT higher</a:t>
            </a:r>
          </a:p>
        </p:txBody>
      </p:sp>
      <p:sp>
        <p:nvSpPr>
          <p:cNvPr id="39" name="TextBox 38"/>
          <p:cNvSpPr txBox="1"/>
          <p:nvPr/>
        </p:nvSpPr>
        <p:spPr>
          <a:xfrm>
            <a:off x="2331720" y="4846320"/>
            <a:ext cx="3611880" cy="246888"/>
          </a:xfrm>
          <a:prstGeom prst="rect">
            <a:avLst/>
          </a:prstGeom>
          <a:noFill/>
        </p:spPr>
        <p:txBody>
          <a:bodyPr wrap="square" lIns="0" rIns="0" tIns="0" bIns="0" anchor="t">
            <a:spAutoFit/>
          </a:bodyPr>
          <a:lstStyle/>
          <a:p>
            <a:pPr>
              <a:spcAft>
                <a:spcPts val="0"/>
              </a:spcAft>
            </a:pPr>
            <a:r>
              <a:rPr sz="910" b="1" i="0">
                <a:solidFill>
                  <a:srgbClr val="D96552"/>
                </a:solidFill>
                <a:latin typeface="Arial"/>
              </a:rPr>
              <a:t>[P]</a:t>
            </a:r>
            <a:r>
              <a:rPr sz="980" b="1" i="1">
                <a:solidFill>
                  <a:srgbClr val="478A64"/>
                </a:solidFill>
                <a:latin typeface="Arial"/>
              </a:rPr>
              <a:t>Nfkbia</a:t>
            </a:r>
          </a:p>
        </p:txBody>
      </p:sp>
      <p:sp>
        <p:nvSpPr>
          <p:cNvPr id="40" name="TextBox 39"/>
          <p:cNvSpPr txBox="1"/>
          <p:nvPr/>
        </p:nvSpPr>
        <p:spPr>
          <a:xfrm>
            <a:off x="1645920" y="5093208"/>
            <a:ext cx="621792" cy="210311"/>
          </a:xfrm>
          <a:prstGeom prst="rect">
            <a:avLst/>
          </a:prstGeom>
          <a:noFill/>
        </p:spPr>
        <p:txBody>
          <a:bodyPr wrap="square" lIns="0" rIns="0" tIns="0" bIns="0" anchor="t">
            <a:spAutoFit/>
          </a:bodyPr>
          <a:lstStyle/>
          <a:p>
            <a:pPr algn="l">
              <a:spcAft>
                <a:spcPts val="0"/>
              </a:spcAft>
            </a:pPr>
            <a:r>
              <a:rPr sz="900" b="1" i="0">
                <a:solidFill>
                  <a:srgbClr val="178681"/>
                </a:solidFill>
                <a:latin typeface="Arial"/>
              </a:rPr>
              <a:t>FLT lower</a:t>
            </a:r>
          </a:p>
        </p:txBody>
      </p:sp>
      <p:sp>
        <p:nvSpPr>
          <p:cNvPr id="41" name="TextBox 40"/>
          <p:cNvSpPr txBox="1"/>
          <p:nvPr/>
        </p:nvSpPr>
        <p:spPr>
          <a:xfrm>
            <a:off x="2331720" y="5093208"/>
            <a:ext cx="3611880" cy="210311"/>
          </a:xfrm>
          <a:prstGeom prst="rect">
            <a:avLst/>
          </a:prstGeom>
          <a:noFill/>
        </p:spPr>
        <p:txBody>
          <a:bodyPr wrap="square" lIns="0" rIns="0" tIns="0" bIns="0" anchor="t">
            <a:spAutoFit/>
          </a:bodyPr>
          <a:lstStyle/>
          <a:p>
            <a:pPr>
              <a:spcAft>
                <a:spcPts val="0"/>
              </a:spcAft>
            </a:pPr>
            <a:r>
              <a:rPr sz="910" b="1" i="0">
                <a:solidFill>
                  <a:srgbClr val="D96552"/>
                </a:solidFill>
                <a:latin typeface="Arial"/>
              </a:rPr>
              <a:t>[P]</a:t>
            </a:r>
            <a:r>
              <a:rPr sz="980" b="1" i="1">
                <a:solidFill>
                  <a:srgbClr val="2D6496"/>
                </a:solidFill>
                <a:latin typeface="Arial"/>
              </a:rPr>
              <a:t>Fhl2</a:t>
            </a:r>
          </a:p>
        </p:txBody>
      </p:sp>
      <p:sp>
        <p:nvSpPr>
          <p:cNvPr id="42" name="Rectangle 41"/>
          <p:cNvSpPr/>
          <p:nvPr/>
        </p:nvSpPr>
        <p:spPr>
          <a:xfrm>
            <a:off x="393192" y="5431536"/>
            <a:ext cx="5623560" cy="16459"/>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448056" y="5495544"/>
            <a:ext cx="1170432" cy="374904"/>
          </a:xfrm>
          <a:prstGeom prst="rect">
            <a:avLst/>
          </a:prstGeom>
          <a:noFill/>
        </p:spPr>
        <p:txBody>
          <a:bodyPr wrap="square" lIns="0" rIns="0" tIns="0" bIns="0" anchor="t">
            <a:spAutoFit/>
          </a:bodyPr>
          <a:lstStyle/>
          <a:p>
            <a:pPr>
              <a:spcAft>
                <a:spcPts val="0"/>
              </a:spcAft>
            </a:pPr>
            <a:r>
              <a:rPr sz="1180" b="1" i="0">
                <a:solidFill>
                  <a:srgbClr val="082B55"/>
                </a:solidFill>
                <a:latin typeface="Arial"/>
              </a:rPr>
              <a:t>Eye
</a:t>
            </a:r>
            <a:r>
              <a:rPr sz="900" b="0" i="0">
                <a:solidFill>
                  <a:srgbClr val="8A969E"/>
                </a:solidFill>
                <a:latin typeface="Arial"/>
              </a:rPr>
              <a:t>1 gene</a:t>
            </a:r>
          </a:p>
        </p:txBody>
      </p:sp>
      <p:sp>
        <p:nvSpPr>
          <p:cNvPr id="44" name="TextBox 43"/>
          <p:cNvSpPr txBox="1"/>
          <p:nvPr/>
        </p:nvSpPr>
        <p:spPr>
          <a:xfrm>
            <a:off x="1645920" y="5486400"/>
            <a:ext cx="621792" cy="173736"/>
          </a:xfrm>
          <a:prstGeom prst="rect">
            <a:avLst/>
          </a:prstGeom>
          <a:noFill/>
        </p:spPr>
        <p:txBody>
          <a:bodyPr wrap="square" lIns="0" rIns="0" tIns="0" bIns="0" anchor="t">
            <a:spAutoFit/>
          </a:bodyPr>
          <a:lstStyle/>
          <a:p>
            <a:pPr algn="l">
              <a:spcAft>
                <a:spcPts val="0"/>
              </a:spcAft>
            </a:pPr>
            <a:r>
              <a:rPr sz="900" b="1" i="0">
                <a:solidFill>
                  <a:srgbClr val="D96552"/>
                </a:solidFill>
                <a:latin typeface="Arial"/>
              </a:rPr>
              <a:t>FLT higher</a:t>
            </a:r>
          </a:p>
        </p:txBody>
      </p:sp>
      <p:sp>
        <p:nvSpPr>
          <p:cNvPr id="45" name="TextBox 44"/>
          <p:cNvSpPr txBox="1"/>
          <p:nvPr/>
        </p:nvSpPr>
        <p:spPr>
          <a:xfrm>
            <a:off x="2331720" y="5486400"/>
            <a:ext cx="3611880" cy="173736"/>
          </a:xfrm>
          <a:prstGeom prst="rect">
            <a:avLst/>
          </a:prstGeom>
          <a:noFill/>
        </p:spPr>
        <p:txBody>
          <a:bodyPr wrap="square" lIns="0" rIns="0" tIns="0" bIns="0" anchor="t">
            <a:spAutoFit/>
          </a:bodyPr>
          <a:lstStyle/>
          <a:p>
            <a:pPr>
              <a:spcAft>
                <a:spcPts val="0"/>
              </a:spcAft>
            </a:pPr>
            <a:r>
              <a:rPr sz="980" b="0" i="1">
                <a:solidFill>
                  <a:srgbClr val="8A969E"/>
                </a:solidFill>
                <a:latin typeface="Arial"/>
              </a:rPr>
              <a:t>none</a:t>
            </a:r>
          </a:p>
        </p:txBody>
      </p:sp>
      <p:sp>
        <p:nvSpPr>
          <p:cNvPr id="46" name="TextBox 45"/>
          <p:cNvSpPr txBox="1"/>
          <p:nvPr/>
        </p:nvSpPr>
        <p:spPr>
          <a:xfrm>
            <a:off x="1645920" y="5660136"/>
            <a:ext cx="621792" cy="192024"/>
          </a:xfrm>
          <a:prstGeom prst="rect">
            <a:avLst/>
          </a:prstGeom>
          <a:noFill/>
        </p:spPr>
        <p:txBody>
          <a:bodyPr wrap="square" lIns="0" rIns="0" tIns="0" bIns="0" anchor="t">
            <a:spAutoFit/>
          </a:bodyPr>
          <a:lstStyle/>
          <a:p>
            <a:pPr algn="l">
              <a:spcAft>
                <a:spcPts val="0"/>
              </a:spcAft>
            </a:pPr>
            <a:r>
              <a:rPr sz="900" b="1" i="0">
                <a:solidFill>
                  <a:srgbClr val="178681"/>
                </a:solidFill>
                <a:latin typeface="Arial"/>
              </a:rPr>
              <a:t>FLT lower</a:t>
            </a:r>
          </a:p>
        </p:txBody>
      </p:sp>
      <p:sp>
        <p:nvSpPr>
          <p:cNvPr id="47" name="TextBox 46"/>
          <p:cNvSpPr txBox="1"/>
          <p:nvPr/>
        </p:nvSpPr>
        <p:spPr>
          <a:xfrm>
            <a:off x="2331720" y="5660136"/>
            <a:ext cx="3611880" cy="192024"/>
          </a:xfrm>
          <a:prstGeom prst="rect">
            <a:avLst/>
          </a:prstGeom>
          <a:noFill/>
        </p:spPr>
        <p:txBody>
          <a:bodyPr wrap="square" lIns="0" rIns="0" tIns="0" bIns="0" anchor="t">
            <a:spAutoFit/>
          </a:bodyPr>
          <a:lstStyle/>
          <a:p>
            <a:pPr>
              <a:spcAft>
                <a:spcPts val="0"/>
              </a:spcAft>
            </a:pPr>
            <a:r>
              <a:rPr sz="910" b="1" i="0">
                <a:solidFill>
                  <a:srgbClr val="178681"/>
                </a:solidFill>
                <a:latin typeface="Arial"/>
              </a:rPr>
              <a:t>[R]</a:t>
            </a:r>
            <a:r>
              <a:rPr sz="980" b="1" i="1">
                <a:solidFill>
                  <a:srgbClr val="478A64"/>
                </a:solidFill>
                <a:latin typeface="Arial"/>
              </a:rPr>
              <a:t>Klhl21</a:t>
            </a:r>
          </a:p>
        </p:txBody>
      </p:sp>
      <p:sp>
        <p:nvSpPr>
          <p:cNvPr id="48" name="Rectangle 47"/>
          <p:cNvSpPr/>
          <p:nvPr/>
        </p:nvSpPr>
        <p:spPr>
          <a:xfrm>
            <a:off x="6181344" y="2048256"/>
            <a:ext cx="5623560" cy="16459"/>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6236207" y="2112264"/>
            <a:ext cx="1170432" cy="1051560"/>
          </a:xfrm>
          <a:prstGeom prst="rect">
            <a:avLst/>
          </a:prstGeom>
          <a:noFill/>
        </p:spPr>
        <p:txBody>
          <a:bodyPr wrap="square" lIns="0" rIns="0" tIns="0" bIns="0" anchor="t">
            <a:spAutoFit/>
          </a:bodyPr>
          <a:lstStyle/>
          <a:p>
            <a:pPr>
              <a:spcAft>
                <a:spcPts val="0"/>
              </a:spcAft>
            </a:pPr>
            <a:r>
              <a:rPr sz="1180" b="1" i="0">
                <a:solidFill>
                  <a:srgbClr val="082B55"/>
                </a:solidFill>
                <a:latin typeface="Arial"/>
              </a:rPr>
              <a:t>Skeletal muscle
(pooled)
</a:t>
            </a:r>
            <a:r>
              <a:rPr sz="900" b="0" i="0">
                <a:solidFill>
                  <a:srgbClr val="8A969E"/>
                </a:solidFill>
                <a:latin typeface="Arial"/>
              </a:rPr>
              <a:t>12 genes</a:t>
            </a:r>
          </a:p>
        </p:txBody>
      </p:sp>
      <p:sp>
        <p:nvSpPr>
          <p:cNvPr id="50" name="TextBox 49"/>
          <p:cNvSpPr txBox="1"/>
          <p:nvPr/>
        </p:nvSpPr>
        <p:spPr>
          <a:xfrm>
            <a:off x="7434071" y="2103120"/>
            <a:ext cx="621792" cy="219456"/>
          </a:xfrm>
          <a:prstGeom prst="rect">
            <a:avLst/>
          </a:prstGeom>
          <a:noFill/>
        </p:spPr>
        <p:txBody>
          <a:bodyPr wrap="square" lIns="0" rIns="0" tIns="0" bIns="0" anchor="t">
            <a:spAutoFit/>
          </a:bodyPr>
          <a:lstStyle/>
          <a:p>
            <a:pPr algn="l">
              <a:spcAft>
                <a:spcPts val="0"/>
              </a:spcAft>
            </a:pPr>
            <a:r>
              <a:rPr sz="900" b="1" i="0">
                <a:solidFill>
                  <a:srgbClr val="D96552"/>
                </a:solidFill>
                <a:latin typeface="Arial"/>
              </a:rPr>
              <a:t>FLT higher</a:t>
            </a:r>
          </a:p>
        </p:txBody>
      </p:sp>
      <p:sp>
        <p:nvSpPr>
          <p:cNvPr id="51" name="TextBox 50"/>
          <p:cNvSpPr txBox="1"/>
          <p:nvPr/>
        </p:nvSpPr>
        <p:spPr>
          <a:xfrm>
            <a:off x="8119871" y="2103120"/>
            <a:ext cx="3611880" cy="512064"/>
          </a:xfrm>
          <a:prstGeom prst="rect">
            <a:avLst/>
          </a:prstGeom>
          <a:noFill/>
        </p:spPr>
        <p:txBody>
          <a:bodyPr wrap="square" lIns="0" rIns="0" tIns="0" bIns="0" anchor="t">
            <a:spAutoFit/>
          </a:bodyPr>
          <a:lstStyle/>
          <a:p>
            <a:pPr>
              <a:spcAft>
                <a:spcPts val="0"/>
              </a:spcAft>
            </a:pPr>
            <a:r>
              <a:rPr sz="910" b="1" i="0">
                <a:solidFill>
                  <a:srgbClr val="178681"/>
                </a:solidFill>
                <a:latin typeface="Arial"/>
              </a:rPr>
              <a:t>[R]</a:t>
            </a:r>
            <a:r>
              <a:rPr sz="980" b="1" i="1">
                <a:solidFill>
                  <a:srgbClr val="478A64"/>
                </a:solidFill>
                <a:latin typeface="Arial"/>
              </a:rPr>
              <a:t>Sox4</a:t>
            </a:r>
            <a:r>
              <a:rPr sz="980" b="0" i="0">
                <a:solidFill>
                  <a:srgbClr val="8A969E"/>
                </a:solidFill>
                <a:latin typeface="Arial"/>
              </a:rPr>
              <a:t>, </a:t>
            </a:r>
            <a:r>
              <a:rPr sz="910" b="1" i="0">
                <a:solidFill>
                  <a:srgbClr val="178681"/>
                </a:solidFill>
                <a:latin typeface="Arial"/>
              </a:rPr>
              <a:t>[R]</a:t>
            </a:r>
            <a:r>
              <a:rPr sz="980" b="1" i="1">
                <a:solidFill>
                  <a:srgbClr val="478A64"/>
                </a:solidFill>
                <a:latin typeface="Arial"/>
              </a:rPr>
              <a:t>Cebpd</a:t>
            </a:r>
            <a:r>
              <a:rPr sz="980" b="0" i="0">
                <a:solidFill>
                  <a:srgbClr val="8A969E"/>
                </a:solidFill>
                <a:latin typeface="Arial"/>
              </a:rPr>
              <a:t>, </a:t>
            </a:r>
            <a:r>
              <a:rPr sz="910" b="1" i="0">
                <a:solidFill>
                  <a:srgbClr val="178681"/>
                </a:solidFill>
                <a:latin typeface="Arial"/>
              </a:rPr>
              <a:t>[R]</a:t>
            </a:r>
            <a:r>
              <a:rPr sz="980" b="1" i="1">
                <a:solidFill>
                  <a:srgbClr val="2D6496"/>
                </a:solidFill>
                <a:latin typeface="Arial"/>
              </a:rPr>
              <a:t>Sh3bp5</a:t>
            </a:r>
            <a:r>
              <a:rPr sz="980" b="0" i="0">
                <a:solidFill>
                  <a:srgbClr val="8A969E"/>
                </a:solidFill>
                <a:latin typeface="Arial"/>
              </a:rPr>
              <a:t>, </a:t>
            </a:r>
            <a:r>
              <a:rPr sz="910" b="1" i="0">
                <a:solidFill>
                  <a:srgbClr val="178681"/>
                </a:solidFill>
                <a:latin typeface="Arial"/>
              </a:rPr>
              <a:t>[R]</a:t>
            </a:r>
            <a:r>
              <a:rPr sz="980" b="1" i="1">
                <a:solidFill>
                  <a:srgbClr val="478A64"/>
                </a:solidFill>
                <a:latin typeface="Arial"/>
              </a:rPr>
              <a:t>Prkcd</a:t>
            </a:r>
            <a:r>
              <a:rPr sz="980" b="0" i="0">
                <a:solidFill>
                  <a:srgbClr val="8A969E"/>
                </a:solidFill>
                <a:latin typeface="Arial"/>
              </a:rPr>
              <a:t>, </a:t>
            </a:r>
            <a:r>
              <a:rPr sz="910" b="1" i="0">
                <a:solidFill>
                  <a:srgbClr val="178681"/>
                </a:solidFill>
                <a:latin typeface="Arial"/>
              </a:rPr>
              <a:t>[R]</a:t>
            </a:r>
            <a:r>
              <a:rPr sz="980" b="1" i="1">
                <a:solidFill>
                  <a:srgbClr val="478A64"/>
                </a:solidFill>
                <a:latin typeface="Arial"/>
              </a:rPr>
              <a:t>Arid5b</a:t>
            </a:r>
            <a:r>
              <a:rPr sz="980" b="0" i="0">
                <a:solidFill>
                  <a:srgbClr val="8A969E"/>
                </a:solidFill>
                <a:latin typeface="Arial"/>
              </a:rPr>
              <a:t>, </a:t>
            </a:r>
            <a:r>
              <a:rPr sz="910" b="1" i="0">
                <a:solidFill>
                  <a:srgbClr val="178681"/>
                </a:solidFill>
                <a:latin typeface="Arial"/>
              </a:rPr>
              <a:t>[R]</a:t>
            </a:r>
            <a:r>
              <a:rPr sz="980" b="1" i="1">
                <a:solidFill>
                  <a:srgbClr val="478A64"/>
                </a:solidFill>
                <a:latin typeface="Arial"/>
              </a:rPr>
              <a:t>Sesn1</a:t>
            </a:r>
            <a:r>
              <a:rPr sz="980" b="0" i="0">
                <a:solidFill>
                  <a:srgbClr val="8A969E"/>
                </a:solidFill>
                <a:latin typeface="Arial"/>
              </a:rPr>
              <a:t>, </a:t>
            </a:r>
            <a:r>
              <a:rPr sz="910" b="1" i="0">
                <a:solidFill>
                  <a:srgbClr val="178681"/>
                </a:solidFill>
                <a:latin typeface="Arial"/>
              </a:rPr>
              <a:t>[R]</a:t>
            </a:r>
            <a:r>
              <a:rPr sz="980" b="1" i="1">
                <a:solidFill>
                  <a:srgbClr val="2D6496"/>
                </a:solidFill>
                <a:latin typeface="Arial"/>
              </a:rPr>
              <a:t>Tle1</a:t>
            </a:r>
          </a:p>
        </p:txBody>
      </p:sp>
      <p:sp>
        <p:nvSpPr>
          <p:cNvPr id="52" name="TextBox 51"/>
          <p:cNvSpPr txBox="1"/>
          <p:nvPr/>
        </p:nvSpPr>
        <p:spPr>
          <a:xfrm>
            <a:off x="7434071" y="2615184"/>
            <a:ext cx="621792" cy="219456"/>
          </a:xfrm>
          <a:prstGeom prst="rect">
            <a:avLst/>
          </a:prstGeom>
          <a:noFill/>
        </p:spPr>
        <p:txBody>
          <a:bodyPr wrap="square" lIns="0" rIns="0" tIns="0" bIns="0" anchor="t">
            <a:spAutoFit/>
          </a:bodyPr>
          <a:lstStyle/>
          <a:p>
            <a:pPr algn="l">
              <a:spcAft>
                <a:spcPts val="0"/>
              </a:spcAft>
            </a:pPr>
            <a:r>
              <a:rPr sz="900" b="1" i="0">
                <a:solidFill>
                  <a:srgbClr val="178681"/>
                </a:solidFill>
                <a:latin typeface="Arial"/>
              </a:rPr>
              <a:t>FLT lower</a:t>
            </a:r>
          </a:p>
        </p:txBody>
      </p:sp>
      <p:sp>
        <p:nvSpPr>
          <p:cNvPr id="53" name="TextBox 52"/>
          <p:cNvSpPr txBox="1"/>
          <p:nvPr/>
        </p:nvSpPr>
        <p:spPr>
          <a:xfrm>
            <a:off x="8119871" y="2615184"/>
            <a:ext cx="3611880" cy="530352"/>
          </a:xfrm>
          <a:prstGeom prst="rect">
            <a:avLst/>
          </a:prstGeom>
          <a:noFill/>
        </p:spPr>
        <p:txBody>
          <a:bodyPr wrap="square" lIns="0" rIns="0" tIns="0" bIns="0" anchor="t">
            <a:spAutoFit/>
          </a:bodyPr>
          <a:lstStyle/>
          <a:p>
            <a:pPr>
              <a:spcAft>
                <a:spcPts val="0"/>
              </a:spcAft>
            </a:pPr>
            <a:r>
              <a:rPr sz="910" b="1" i="0">
                <a:solidFill>
                  <a:srgbClr val="D96552"/>
                </a:solidFill>
                <a:latin typeface="Arial"/>
              </a:rPr>
              <a:t>[P]</a:t>
            </a:r>
            <a:r>
              <a:rPr sz="980" b="1" i="1">
                <a:solidFill>
                  <a:srgbClr val="2D6496"/>
                </a:solidFill>
                <a:latin typeface="Arial"/>
              </a:rPr>
              <a:t>Klhl21</a:t>
            </a:r>
            <a:r>
              <a:rPr sz="980" b="0" i="0">
                <a:solidFill>
                  <a:srgbClr val="8A969E"/>
                </a:solidFill>
                <a:latin typeface="Arial"/>
              </a:rPr>
              <a:t>, </a:t>
            </a:r>
            <a:r>
              <a:rPr sz="910" b="1" i="0">
                <a:solidFill>
                  <a:srgbClr val="D96552"/>
                </a:solidFill>
                <a:latin typeface="Arial"/>
              </a:rPr>
              <a:t>[P]</a:t>
            </a:r>
            <a:r>
              <a:rPr sz="980" b="1" i="1">
                <a:solidFill>
                  <a:srgbClr val="2D6496"/>
                </a:solidFill>
                <a:latin typeface="Arial"/>
              </a:rPr>
              <a:t>Mapkapk5</a:t>
            </a:r>
            <a:r>
              <a:rPr sz="980" b="0" i="0">
                <a:solidFill>
                  <a:srgbClr val="8A969E"/>
                </a:solidFill>
                <a:latin typeface="Arial"/>
              </a:rPr>
              <a:t>, </a:t>
            </a:r>
            <a:r>
              <a:rPr sz="910" b="1" i="0">
                <a:solidFill>
                  <a:srgbClr val="D96552"/>
                </a:solidFill>
                <a:latin typeface="Arial"/>
              </a:rPr>
              <a:t>[P]</a:t>
            </a:r>
            <a:r>
              <a:rPr sz="980" b="1" i="1">
                <a:solidFill>
                  <a:srgbClr val="2D6496"/>
                </a:solidFill>
                <a:latin typeface="Arial"/>
              </a:rPr>
              <a:t>Reep5</a:t>
            </a:r>
            <a:r>
              <a:rPr sz="980" b="0" i="0">
                <a:solidFill>
                  <a:srgbClr val="8A969E"/>
                </a:solidFill>
                <a:latin typeface="Arial"/>
              </a:rPr>
              <a:t>, </a:t>
            </a:r>
            <a:r>
              <a:rPr sz="910" b="1" i="0">
                <a:solidFill>
                  <a:srgbClr val="D96552"/>
                </a:solidFill>
                <a:latin typeface="Arial"/>
              </a:rPr>
              <a:t>[P]</a:t>
            </a:r>
            <a:r>
              <a:rPr sz="980" b="1" i="1">
                <a:solidFill>
                  <a:srgbClr val="2D6496"/>
                </a:solidFill>
                <a:latin typeface="Arial"/>
              </a:rPr>
              <a:t>Itgb5</a:t>
            </a:r>
            <a:r>
              <a:rPr sz="980" b="0" i="0">
                <a:solidFill>
                  <a:srgbClr val="8A969E"/>
                </a:solidFill>
                <a:latin typeface="Arial"/>
              </a:rPr>
              <a:t>, </a:t>
            </a:r>
            <a:r>
              <a:rPr sz="910" b="1" i="0">
                <a:solidFill>
                  <a:srgbClr val="178681"/>
                </a:solidFill>
                <a:latin typeface="Arial"/>
              </a:rPr>
              <a:t>[R]</a:t>
            </a:r>
            <a:r>
              <a:rPr sz="980" b="1" i="1">
                <a:solidFill>
                  <a:srgbClr val="8063A6"/>
                </a:solidFill>
                <a:latin typeface="Arial"/>
              </a:rPr>
              <a:t>Bphl</a:t>
            </a:r>
          </a:p>
        </p:txBody>
      </p:sp>
      <p:sp>
        <p:nvSpPr>
          <p:cNvPr id="54" name="Rectangle 53"/>
          <p:cNvSpPr/>
          <p:nvPr/>
        </p:nvSpPr>
        <p:spPr>
          <a:xfrm>
            <a:off x="6181344" y="3273552"/>
            <a:ext cx="5623560" cy="16459"/>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6236207" y="3337560"/>
            <a:ext cx="1170432" cy="530352"/>
          </a:xfrm>
          <a:prstGeom prst="rect">
            <a:avLst/>
          </a:prstGeom>
          <a:noFill/>
        </p:spPr>
        <p:txBody>
          <a:bodyPr wrap="square" lIns="0" rIns="0" tIns="0" bIns="0" anchor="t">
            <a:spAutoFit/>
          </a:bodyPr>
          <a:lstStyle/>
          <a:p>
            <a:pPr>
              <a:spcAft>
                <a:spcPts val="0"/>
              </a:spcAft>
            </a:pPr>
            <a:r>
              <a:rPr sz="1180" b="1" i="0">
                <a:solidFill>
                  <a:srgbClr val="082B55"/>
                </a:solidFill>
                <a:latin typeface="Arial"/>
              </a:rPr>
              <a:t>Soleus
</a:t>
            </a:r>
            <a:r>
              <a:rPr sz="900" b="0" i="0">
                <a:solidFill>
                  <a:srgbClr val="8A969E"/>
                </a:solidFill>
                <a:latin typeface="Arial"/>
              </a:rPr>
              <a:t>5 genes</a:t>
            </a:r>
          </a:p>
        </p:txBody>
      </p:sp>
      <p:sp>
        <p:nvSpPr>
          <p:cNvPr id="56" name="TextBox 55"/>
          <p:cNvSpPr txBox="1"/>
          <p:nvPr/>
        </p:nvSpPr>
        <p:spPr>
          <a:xfrm>
            <a:off x="7434071" y="3328416"/>
            <a:ext cx="621792" cy="219456"/>
          </a:xfrm>
          <a:prstGeom prst="rect">
            <a:avLst/>
          </a:prstGeom>
          <a:noFill/>
        </p:spPr>
        <p:txBody>
          <a:bodyPr wrap="square" lIns="0" rIns="0" tIns="0" bIns="0" anchor="t">
            <a:spAutoFit/>
          </a:bodyPr>
          <a:lstStyle/>
          <a:p>
            <a:pPr algn="l">
              <a:spcAft>
                <a:spcPts val="0"/>
              </a:spcAft>
            </a:pPr>
            <a:r>
              <a:rPr sz="900" b="1" i="0">
                <a:solidFill>
                  <a:srgbClr val="D96552"/>
                </a:solidFill>
                <a:latin typeface="Arial"/>
              </a:rPr>
              <a:t>FLT higher</a:t>
            </a:r>
          </a:p>
        </p:txBody>
      </p:sp>
      <p:sp>
        <p:nvSpPr>
          <p:cNvPr id="57" name="TextBox 56"/>
          <p:cNvSpPr txBox="1"/>
          <p:nvPr/>
        </p:nvSpPr>
        <p:spPr>
          <a:xfrm>
            <a:off x="8119871" y="3328416"/>
            <a:ext cx="3611880" cy="246888"/>
          </a:xfrm>
          <a:prstGeom prst="rect">
            <a:avLst/>
          </a:prstGeom>
          <a:noFill/>
        </p:spPr>
        <p:txBody>
          <a:bodyPr wrap="square" lIns="0" rIns="0" tIns="0" bIns="0" anchor="t">
            <a:spAutoFit/>
          </a:bodyPr>
          <a:lstStyle/>
          <a:p>
            <a:pPr>
              <a:spcAft>
                <a:spcPts val="0"/>
              </a:spcAft>
            </a:pPr>
            <a:r>
              <a:rPr sz="910" b="1" i="0">
                <a:solidFill>
                  <a:srgbClr val="178681"/>
                </a:solidFill>
                <a:latin typeface="Arial"/>
              </a:rPr>
              <a:t>[R]</a:t>
            </a:r>
            <a:r>
              <a:rPr sz="980" b="1" i="1">
                <a:solidFill>
                  <a:srgbClr val="D37B00"/>
                </a:solidFill>
                <a:latin typeface="Arial"/>
              </a:rPr>
              <a:t>Tpm1</a:t>
            </a:r>
          </a:p>
        </p:txBody>
      </p:sp>
      <p:sp>
        <p:nvSpPr>
          <p:cNvPr id="58" name="TextBox 57"/>
          <p:cNvSpPr txBox="1"/>
          <p:nvPr/>
        </p:nvSpPr>
        <p:spPr>
          <a:xfrm>
            <a:off x="7434071" y="3575304"/>
            <a:ext cx="621792" cy="219456"/>
          </a:xfrm>
          <a:prstGeom prst="rect">
            <a:avLst/>
          </a:prstGeom>
          <a:noFill/>
        </p:spPr>
        <p:txBody>
          <a:bodyPr wrap="square" lIns="0" rIns="0" tIns="0" bIns="0" anchor="t">
            <a:spAutoFit/>
          </a:bodyPr>
          <a:lstStyle/>
          <a:p>
            <a:pPr algn="l">
              <a:spcAft>
                <a:spcPts val="0"/>
              </a:spcAft>
            </a:pPr>
            <a:r>
              <a:rPr sz="900" b="1" i="0">
                <a:solidFill>
                  <a:srgbClr val="178681"/>
                </a:solidFill>
                <a:latin typeface="Arial"/>
              </a:rPr>
              <a:t>FLT lower</a:t>
            </a:r>
          </a:p>
        </p:txBody>
      </p:sp>
      <p:sp>
        <p:nvSpPr>
          <p:cNvPr id="59" name="TextBox 58"/>
          <p:cNvSpPr txBox="1"/>
          <p:nvPr/>
        </p:nvSpPr>
        <p:spPr>
          <a:xfrm>
            <a:off x="8119871" y="3575304"/>
            <a:ext cx="3611880" cy="274320"/>
          </a:xfrm>
          <a:prstGeom prst="rect">
            <a:avLst/>
          </a:prstGeom>
          <a:noFill/>
        </p:spPr>
        <p:txBody>
          <a:bodyPr wrap="square" lIns="0" rIns="0" tIns="0" bIns="0" anchor="t">
            <a:spAutoFit/>
          </a:bodyPr>
          <a:lstStyle/>
          <a:p>
            <a:pPr>
              <a:spcAft>
                <a:spcPts val="0"/>
              </a:spcAft>
            </a:pPr>
            <a:r>
              <a:rPr sz="910" b="1" i="0">
                <a:solidFill>
                  <a:srgbClr val="178681"/>
                </a:solidFill>
                <a:latin typeface="Arial"/>
              </a:rPr>
              <a:t>[R]</a:t>
            </a:r>
            <a:r>
              <a:rPr sz="980" b="1" i="1">
                <a:solidFill>
                  <a:srgbClr val="478A64"/>
                </a:solidFill>
                <a:latin typeface="Arial"/>
              </a:rPr>
              <a:t>Bdh1</a:t>
            </a:r>
            <a:r>
              <a:rPr sz="980" b="0" i="0">
                <a:solidFill>
                  <a:srgbClr val="8A969E"/>
                </a:solidFill>
                <a:latin typeface="Arial"/>
              </a:rPr>
              <a:t>, </a:t>
            </a:r>
            <a:r>
              <a:rPr sz="910" b="1" i="0">
                <a:solidFill>
                  <a:srgbClr val="178681"/>
                </a:solidFill>
                <a:latin typeface="Arial"/>
              </a:rPr>
              <a:t>[R]</a:t>
            </a:r>
            <a:r>
              <a:rPr sz="980" b="1" i="1">
                <a:solidFill>
                  <a:srgbClr val="478A64"/>
                </a:solidFill>
                <a:latin typeface="Arial"/>
              </a:rPr>
              <a:t>Ech1</a:t>
            </a:r>
            <a:r>
              <a:rPr sz="980" b="0" i="0">
                <a:solidFill>
                  <a:srgbClr val="8A969E"/>
                </a:solidFill>
                <a:latin typeface="Arial"/>
              </a:rPr>
              <a:t>, </a:t>
            </a:r>
            <a:r>
              <a:rPr sz="910" b="1" i="0">
                <a:solidFill>
                  <a:srgbClr val="178681"/>
                </a:solidFill>
                <a:latin typeface="Arial"/>
              </a:rPr>
              <a:t>[R]</a:t>
            </a:r>
            <a:r>
              <a:rPr sz="980" b="1" i="1">
                <a:solidFill>
                  <a:srgbClr val="D37B00"/>
                </a:solidFill>
                <a:latin typeface="Arial"/>
              </a:rPr>
              <a:t>Bnip3</a:t>
            </a:r>
            <a:r>
              <a:rPr sz="980" b="0" i="0">
                <a:solidFill>
                  <a:srgbClr val="8A969E"/>
                </a:solidFill>
                <a:latin typeface="Arial"/>
              </a:rPr>
              <a:t>, </a:t>
            </a:r>
            <a:r>
              <a:rPr sz="910" b="1" i="0">
                <a:solidFill>
                  <a:srgbClr val="178681"/>
                </a:solidFill>
                <a:latin typeface="Arial"/>
              </a:rPr>
              <a:t>[R]</a:t>
            </a:r>
            <a:r>
              <a:rPr sz="980" b="1" i="1">
                <a:solidFill>
                  <a:srgbClr val="478A64"/>
                </a:solidFill>
                <a:latin typeface="Arial"/>
              </a:rPr>
              <a:t>Decr1</a:t>
            </a:r>
          </a:p>
        </p:txBody>
      </p:sp>
      <p:sp>
        <p:nvSpPr>
          <p:cNvPr id="60" name="Rectangle 59"/>
          <p:cNvSpPr/>
          <p:nvPr/>
        </p:nvSpPr>
        <p:spPr>
          <a:xfrm>
            <a:off x="6181344" y="3977639"/>
            <a:ext cx="5623560" cy="16459"/>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6236207" y="4041648"/>
            <a:ext cx="1170432" cy="539496"/>
          </a:xfrm>
          <a:prstGeom prst="rect">
            <a:avLst/>
          </a:prstGeom>
          <a:noFill/>
        </p:spPr>
        <p:txBody>
          <a:bodyPr wrap="square" lIns="0" rIns="0" tIns="0" bIns="0" anchor="t">
            <a:spAutoFit/>
          </a:bodyPr>
          <a:lstStyle/>
          <a:p>
            <a:pPr>
              <a:spcAft>
                <a:spcPts val="0"/>
              </a:spcAft>
            </a:pPr>
            <a:r>
              <a:rPr sz="1180" b="1" i="0">
                <a:solidFill>
                  <a:srgbClr val="082B55"/>
                </a:solidFill>
                <a:latin typeface="Arial"/>
              </a:rPr>
              <a:t>Tibialis anterior
</a:t>
            </a:r>
            <a:r>
              <a:rPr sz="900" b="0" i="0">
                <a:solidFill>
                  <a:srgbClr val="8A969E"/>
                </a:solidFill>
                <a:latin typeface="Arial"/>
              </a:rPr>
              <a:t>4 genes</a:t>
            </a:r>
          </a:p>
        </p:txBody>
      </p:sp>
      <p:sp>
        <p:nvSpPr>
          <p:cNvPr id="62" name="TextBox 61"/>
          <p:cNvSpPr txBox="1"/>
          <p:nvPr/>
        </p:nvSpPr>
        <p:spPr>
          <a:xfrm>
            <a:off x="7434071" y="4032503"/>
            <a:ext cx="621792" cy="219456"/>
          </a:xfrm>
          <a:prstGeom prst="rect">
            <a:avLst/>
          </a:prstGeom>
          <a:noFill/>
        </p:spPr>
        <p:txBody>
          <a:bodyPr wrap="square" lIns="0" rIns="0" tIns="0" bIns="0" anchor="t">
            <a:spAutoFit/>
          </a:bodyPr>
          <a:lstStyle/>
          <a:p>
            <a:pPr algn="l">
              <a:spcAft>
                <a:spcPts val="0"/>
              </a:spcAft>
            </a:pPr>
            <a:r>
              <a:rPr sz="900" b="1" i="0">
                <a:solidFill>
                  <a:srgbClr val="D96552"/>
                </a:solidFill>
                <a:latin typeface="Arial"/>
              </a:rPr>
              <a:t>FLT higher</a:t>
            </a:r>
          </a:p>
        </p:txBody>
      </p:sp>
      <p:sp>
        <p:nvSpPr>
          <p:cNvPr id="63" name="TextBox 62"/>
          <p:cNvSpPr txBox="1"/>
          <p:nvPr/>
        </p:nvSpPr>
        <p:spPr>
          <a:xfrm>
            <a:off x="8119871" y="4032503"/>
            <a:ext cx="3611880" cy="356616"/>
          </a:xfrm>
          <a:prstGeom prst="rect">
            <a:avLst/>
          </a:prstGeom>
          <a:noFill/>
        </p:spPr>
        <p:txBody>
          <a:bodyPr wrap="square" lIns="0" rIns="0" tIns="0" bIns="0" anchor="t">
            <a:spAutoFit/>
          </a:bodyPr>
          <a:lstStyle/>
          <a:p>
            <a:pPr>
              <a:spcAft>
                <a:spcPts val="0"/>
              </a:spcAft>
            </a:pPr>
            <a:r>
              <a:rPr sz="910" b="1" i="0">
                <a:solidFill>
                  <a:srgbClr val="D96552"/>
                </a:solidFill>
                <a:latin typeface="Arial"/>
              </a:rPr>
              <a:t>[P]</a:t>
            </a:r>
            <a:r>
              <a:rPr sz="980" b="1" i="1">
                <a:solidFill>
                  <a:srgbClr val="2D6496"/>
                </a:solidFill>
                <a:latin typeface="Arial"/>
              </a:rPr>
              <a:t>Cebpd</a:t>
            </a:r>
            <a:r>
              <a:rPr sz="980" b="0" i="0">
                <a:solidFill>
                  <a:srgbClr val="8A969E"/>
                </a:solidFill>
                <a:latin typeface="Arial"/>
              </a:rPr>
              <a:t>, </a:t>
            </a:r>
            <a:r>
              <a:rPr sz="910" b="1" i="0">
                <a:solidFill>
                  <a:srgbClr val="178681"/>
                </a:solidFill>
                <a:latin typeface="Arial"/>
              </a:rPr>
              <a:t>[R]</a:t>
            </a:r>
            <a:r>
              <a:rPr sz="980" b="1" i="1">
                <a:solidFill>
                  <a:srgbClr val="D37B00"/>
                </a:solidFill>
                <a:latin typeface="Arial"/>
              </a:rPr>
              <a:t>Cdkn1a</a:t>
            </a:r>
            <a:r>
              <a:rPr sz="980" b="0" i="0">
                <a:solidFill>
                  <a:srgbClr val="8A969E"/>
                </a:solidFill>
                <a:latin typeface="Arial"/>
              </a:rPr>
              <a:t>, </a:t>
            </a:r>
            <a:r>
              <a:rPr sz="910" b="1" i="0">
                <a:solidFill>
                  <a:srgbClr val="178681"/>
                </a:solidFill>
                <a:latin typeface="Arial"/>
              </a:rPr>
              <a:t>[R]</a:t>
            </a:r>
            <a:r>
              <a:rPr sz="980" b="1" i="1">
                <a:solidFill>
                  <a:srgbClr val="2D6496"/>
                </a:solidFill>
                <a:latin typeface="Arial"/>
              </a:rPr>
              <a:t>St3gal5</a:t>
            </a:r>
            <a:r>
              <a:rPr sz="980" b="0" i="0">
                <a:solidFill>
                  <a:srgbClr val="8A969E"/>
                </a:solidFill>
                <a:latin typeface="Arial"/>
              </a:rPr>
              <a:t>, </a:t>
            </a:r>
            <a:r>
              <a:rPr sz="910" b="1" i="0">
                <a:solidFill>
                  <a:srgbClr val="178681"/>
                </a:solidFill>
                <a:latin typeface="Arial"/>
              </a:rPr>
              <a:t>[R]</a:t>
            </a:r>
            <a:r>
              <a:rPr sz="980" b="1" i="1">
                <a:solidFill>
                  <a:srgbClr val="2D6496"/>
                </a:solidFill>
                <a:latin typeface="Arial"/>
              </a:rPr>
              <a:t>Bnip3</a:t>
            </a:r>
          </a:p>
        </p:txBody>
      </p:sp>
      <p:sp>
        <p:nvSpPr>
          <p:cNvPr id="64" name="TextBox 63"/>
          <p:cNvSpPr txBox="1"/>
          <p:nvPr/>
        </p:nvSpPr>
        <p:spPr>
          <a:xfrm>
            <a:off x="7434071" y="4389119"/>
            <a:ext cx="621792" cy="173735"/>
          </a:xfrm>
          <a:prstGeom prst="rect">
            <a:avLst/>
          </a:prstGeom>
          <a:noFill/>
        </p:spPr>
        <p:txBody>
          <a:bodyPr wrap="square" lIns="0" rIns="0" tIns="0" bIns="0" anchor="t">
            <a:spAutoFit/>
          </a:bodyPr>
          <a:lstStyle/>
          <a:p>
            <a:pPr algn="l">
              <a:spcAft>
                <a:spcPts val="0"/>
              </a:spcAft>
            </a:pPr>
            <a:r>
              <a:rPr sz="900" b="1" i="0">
                <a:solidFill>
                  <a:srgbClr val="178681"/>
                </a:solidFill>
                <a:latin typeface="Arial"/>
              </a:rPr>
              <a:t>FLT lower</a:t>
            </a:r>
          </a:p>
        </p:txBody>
      </p:sp>
      <p:sp>
        <p:nvSpPr>
          <p:cNvPr id="65" name="TextBox 64"/>
          <p:cNvSpPr txBox="1"/>
          <p:nvPr/>
        </p:nvSpPr>
        <p:spPr>
          <a:xfrm>
            <a:off x="8119871" y="4389119"/>
            <a:ext cx="3611880" cy="173735"/>
          </a:xfrm>
          <a:prstGeom prst="rect">
            <a:avLst/>
          </a:prstGeom>
          <a:noFill/>
        </p:spPr>
        <p:txBody>
          <a:bodyPr wrap="square" lIns="0" rIns="0" tIns="0" bIns="0" anchor="t">
            <a:spAutoFit/>
          </a:bodyPr>
          <a:lstStyle/>
          <a:p>
            <a:pPr>
              <a:spcAft>
                <a:spcPts val="0"/>
              </a:spcAft>
            </a:pPr>
            <a:r>
              <a:rPr sz="980" b="0" i="1">
                <a:solidFill>
                  <a:srgbClr val="8A969E"/>
                </a:solidFill>
                <a:latin typeface="Arial"/>
              </a:rPr>
              <a:t>none</a:t>
            </a:r>
          </a:p>
        </p:txBody>
      </p:sp>
      <p:sp>
        <p:nvSpPr>
          <p:cNvPr id="66" name="Rectangle 65"/>
          <p:cNvSpPr/>
          <p:nvPr/>
        </p:nvSpPr>
        <p:spPr>
          <a:xfrm>
            <a:off x="6181344" y="4690872"/>
            <a:ext cx="5623560" cy="16459"/>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6236207" y="4754880"/>
            <a:ext cx="1170432" cy="466344"/>
          </a:xfrm>
          <a:prstGeom prst="rect">
            <a:avLst/>
          </a:prstGeom>
          <a:noFill/>
        </p:spPr>
        <p:txBody>
          <a:bodyPr wrap="square" lIns="0" rIns="0" tIns="0" bIns="0" anchor="t">
            <a:spAutoFit/>
          </a:bodyPr>
          <a:lstStyle/>
          <a:p>
            <a:pPr>
              <a:spcAft>
                <a:spcPts val="0"/>
              </a:spcAft>
            </a:pPr>
            <a:r>
              <a:rPr sz="1180" b="1" i="0">
                <a:solidFill>
                  <a:srgbClr val="082B55"/>
                </a:solidFill>
                <a:latin typeface="Arial"/>
              </a:rPr>
              <a:t>Adrenal gland
</a:t>
            </a:r>
            <a:r>
              <a:rPr sz="900" b="0" i="0">
                <a:solidFill>
                  <a:srgbClr val="8A969E"/>
                </a:solidFill>
                <a:latin typeface="Arial"/>
              </a:rPr>
              <a:t>2 genes</a:t>
            </a:r>
          </a:p>
        </p:txBody>
      </p:sp>
      <p:sp>
        <p:nvSpPr>
          <p:cNvPr id="68" name="TextBox 67"/>
          <p:cNvSpPr txBox="1"/>
          <p:nvPr/>
        </p:nvSpPr>
        <p:spPr>
          <a:xfrm>
            <a:off x="7434071" y="4745736"/>
            <a:ext cx="621792" cy="164592"/>
          </a:xfrm>
          <a:prstGeom prst="rect">
            <a:avLst/>
          </a:prstGeom>
          <a:noFill/>
        </p:spPr>
        <p:txBody>
          <a:bodyPr wrap="square" lIns="0" rIns="0" tIns="0" bIns="0" anchor="t">
            <a:spAutoFit/>
          </a:bodyPr>
          <a:lstStyle/>
          <a:p>
            <a:pPr algn="l">
              <a:spcAft>
                <a:spcPts val="0"/>
              </a:spcAft>
            </a:pPr>
            <a:r>
              <a:rPr sz="900" b="1" i="0">
                <a:solidFill>
                  <a:srgbClr val="D96552"/>
                </a:solidFill>
                <a:latin typeface="Arial"/>
              </a:rPr>
              <a:t>FLT higher</a:t>
            </a:r>
          </a:p>
        </p:txBody>
      </p:sp>
      <p:sp>
        <p:nvSpPr>
          <p:cNvPr id="69" name="TextBox 68"/>
          <p:cNvSpPr txBox="1"/>
          <p:nvPr/>
        </p:nvSpPr>
        <p:spPr>
          <a:xfrm>
            <a:off x="8119871" y="4745736"/>
            <a:ext cx="3611880" cy="164592"/>
          </a:xfrm>
          <a:prstGeom prst="rect">
            <a:avLst/>
          </a:prstGeom>
          <a:noFill/>
        </p:spPr>
        <p:txBody>
          <a:bodyPr wrap="square" lIns="0" rIns="0" tIns="0" bIns="0" anchor="t">
            <a:spAutoFit/>
          </a:bodyPr>
          <a:lstStyle/>
          <a:p>
            <a:pPr>
              <a:spcAft>
                <a:spcPts val="0"/>
              </a:spcAft>
            </a:pPr>
            <a:r>
              <a:rPr sz="980" b="0" i="1">
                <a:solidFill>
                  <a:srgbClr val="8A969E"/>
                </a:solidFill>
                <a:latin typeface="Arial"/>
              </a:rPr>
              <a:t>none</a:t>
            </a:r>
          </a:p>
        </p:txBody>
      </p:sp>
      <p:sp>
        <p:nvSpPr>
          <p:cNvPr id="70" name="TextBox 69"/>
          <p:cNvSpPr txBox="1"/>
          <p:nvPr/>
        </p:nvSpPr>
        <p:spPr>
          <a:xfrm>
            <a:off x="7434071" y="4910327"/>
            <a:ext cx="621792" cy="219456"/>
          </a:xfrm>
          <a:prstGeom prst="rect">
            <a:avLst/>
          </a:prstGeom>
          <a:noFill/>
        </p:spPr>
        <p:txBody>
          <a:bodyPr wrap="square" lIns="0" rIns="0" tIns="0" bIns="0" anchor="t">
            <a:spAutoFit/>
          </a:bodyPr>
          <a:lstStyle/>
          <a:p>
            <a:pPr algn="l">
              <a:spcAft>
                <a:spcPts val="0"/>
              </a:spcAft>
            </a:pPr>
            <a:r>
              <a:rPr sz="900" b="1" i="0">
                <a:solidFill>
                  <a:srgbClr val="178681"/>
                </a:solidFill>
                <a:latin typeface="Arial"/>
              </a:rPr>
              <a:t>FLT lower</a:t>
            </a:r>
          </a:p>
        </p:txBody>
      </p:sp>
      <p:sp>
        <p:nvSpPr>
          <p:cNvPr id="71" name="TextBox 70"/>
          <p:cNvSpPr txBox="1"/>
          <p:nvPr/>
        </p:nvSpPr>
        <p:spPr>
          <a:xfrm>
            <a:off x="8119871" y="4910327"/>
            <a:ext cx="3611880" cy="292608"/>
          </a:xfrm>
          <a:prstGeom prst="rect">
            <a:avLst/>
          </a:prstGeom>
          <a:noFill/>
        </p:spPr>
        <p:txBody>
          <a:bodyPr wrap="square" lIns="0" rIns="0" tIns="0" bIns="0" anchor="t">
            <a:spAutoFit/>
          </a:bodyPr>
          <a:lstStyle/>
          <a:p>
            <a:pPr>
              <a:spcAft>
                <a:spcPts val="0"/>
              </a:spcAft>
            </a:pPr>
            <a:r>
              <a:rPr sz="910" b="1" i="0">
                <a:solidFill>
                  <a:srgbClr val="D96552"/>
                </a:solidFill>
                <a:latin typeface="Arial"/>
              </a:rPr>
              <a:t>[P]</a:t>
            </a:r>
            <a:r>
              <a:rPr sz="980" b="1" i="1">
                <a:solidFill>
                  <a:srgbClr val="8063A6"/>
                </a:solidFill>
                <a:latin typeface="Arial"/>
              </a:rPr>
              <a:t>Psmb8</a:t>
            </a:r>
            <a:r>
              <a:rPr sz="980" b="0" i="0">
                <a:solidFill>
                  <a:srgbClr val="8A969E"/>
                </a:solidFill>
                <a:latin typeface="Arial"/>
              </a:rPr>
              <a:t>, </a:t>
            </a:r>
            <a:r>
              <a:rPr sz="910" b="1" i="0">
                <a:solidFill>
                  <a:srgbClr val="178681"/>
                </a:solidFill>
                <a:latin typeface="Arial"/>
              </a:rPr>
              <a:t>[R]</a:t>
            </a:r>
            <a:r>
              <a:rPr sz="980" b="1" i="1">
                <a:solidFill>
                  <a:srgbClr val="8063A6"/>
                </a:solidFill>
                <a:latin typeface="Arial"/>
              </a:rPr>
              <a:t>Tspan4</a:t>
            </a:r>
          </a:p>
        </p:txBody>
      </p:sp>
      <p:sp>
        <p:nvSpPr>
          <p:cNvPr id="72" name="Rectangle 71"/>
          <p:cNvSpPr/>
          <p:nvPr/>
        </p:nvSpPr>
        <p:spPr>
          <a:xfrm>
            <a:off x="6181344" y="5330952"/>
            <a:ext cx="5623560" cy="16459"/>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6236207" y="5394960"/>
            <a:ext cx="1170432" cy="411480"/>
          </a:xfrm>
          <a:prstGeom prst="rect">
            <a:avLst/>
          </a:prstGeom>
          <a:noFill/>
        </p:spPr>
        <p:txBody>
          <a:bodyPr wrap="square" lIns="0" rIns="0" tIns="0" bIns="0" anchor="t">
            <a:spAutoFit/>
          </a:bodyPr>
          <a:lstStyle/>
          <a:p>
            <a:pPr>
              <a:spcAft>
                <a:spcPts val="0"/>
              </a:spcAft>
            </a:pPr>
            <a:r>
              <a:rPr sz="1180" b="1" i="0">
                <a:solidFill>
                  <a:srgbClr val="082B55"/>
                </a:solidFill>
                <a:latin typeface="Arial"/>
              </a:rPr>
              <a:t>Skin
</a:t>
            </a:r>
            <a:r>
              <a:rPr sz="900" b="0" i="0">
                <a:solidFill>
                  <a:srgbClr val="8A969E"/>
                </a:solidFill>
                <a:latin typeface="Arial"/>
              </a:rPr>
              <a:t>1 gene</a:t>
            </a:r>
          </a:p>
        </p:txBody>
      </p:sp>
      <p:sp>
        <p:nvSpPr>
          <p:cNvPr id="74" name="TextBox 73"/>
          <p:cNvSpPr txBox="1"/>
          <p:nvPr/>
        </p:nvSpPr>
        <p:spPr>
          <a:xfrm>
            <a:off x="7434071" y="5385816"/>
            <a:ext cx="621792" cy="219456"/>
          </a:xfrm>
          <a:prstGeom prst="rect">
            <a:avLst/>
          </a:prstGeom>
          <a:noFill/>
        </p:spPr>
        <p:txBody>
          <a:bodyPr wrap="square" lIns="0" rIns="0" tIns="0" bIns="0" anchor="t">
            <a:spAutoFit/>
          </a:bodyPr>
          <a:lstStyle/>
          <a:p>
            <a:pPr algn="l">
              <a:spcAft>
                <a:spcPts val="0"/>
              </a:spcAft>
            </a:pPr>
            <a:r>
              <a:rPr sz="900" b="1" i="0">
                <a:solidFill>
                  <a:srgbClr val="D96552"/>
                </a:solidFill>
                <a:latin typeface="Arial"/>
              </a:rPr>
              <a:t>FLT higher</a:t>
            </a:r>
          </a:p>
        </p:txBody>
      </p:sp>
      <p:sp>
        <p:nvSpPr>
          <p:cNvPr id="75" name="TextBox 74"/>
          <p:cNvSpPr txBox="1"/>
          <p:nvPr/>
        </p:nvSpPr>
        <p:spPr>
          <a:xfrm>
            <a:off x="8119871" y="5385816"/>
            <a:ext cx="3611880" cy="265176"/>
          </a:xfrm>
          <a:prstGeom prst="rect">
            <a:avLst/>
          </a:prstGeom>
          <a:noFill/>
        </p:spPr>
        <p:txBody>
          <a:bodyPr wrap="square" lIns="0" rIns="0" tIns="0" bIns="0" anchor="t">
            <a:spAutoFit/>
          </a:bodyPr>
          <a:lstStyle/>
          <a:p>
            <a:pPr>
              <a:spcAft>
                <a:spcPts val="0"/>
              </a:spcAft>
            </a:pPr>
            <a:r>
              <a:rPr sz="910" b="1" i="0">
                <a:solidFill>
                  <a:srgbClr val="D96552"/>
                </a:solidFill>
                <a:latin typeface="Arial"/>
              </a:rPr>
              <a:t>[P]</a:t>
            </a:r>
            <a:r>
              <a:rPr sz="980" b="1" i="1">
                <a:solidFill>
                  <a:srgbClr val="2D6496"/>
                </a:solidFill>
                <a:latin typeface="Arial"/>
              </a:rPr>
              <a:t>Plscr1</a:t>
            </a:r>
          </a:p>
        </p:txBody>
      </p:sp>
      <p:sp>
        <p:nvSpPr>
          <p:cNvPr id="76" name="TextBox 75"/>
          <p:cNvSpPr txBox="1"/>
          <p:nvPr/>
        </p:nvSpPr>
        <p:spPr>
          <a:xfrm>
            <a:off x="7434071" y="5650992"/>
            <a:ext cx="621792" cy="137160"/>
          </a:xfrm>
          <a:prstGeom prst="rect">
            <a:avLst/>
          </a:prstGeom>
          <a:noFill/>
        </p:spPr>
        <p:txBody>
          <a:bodyPr wrap="square" lIns="0" rIns="0" tIns="0" bIns="0" anchor="t">
            <a:spAutoFit/>
          </a:bodyPr>
          <a:lstStyle/>
          <a:p>
            <a:pPr algn="l">
              <a:spcAft>
                <a:spcPts val="0"/>
              </a:spcAft>
            </a:pPr>
            <a:r>
              <a:rPr sz="900" b="1" i="0">
                <a:solidFill>
                  <a:srgbClr val="178681"/>
                </a:solidFill>
                <a:latin typeface="Arial"/>
              </a:rPr>
              <a:t>FLT lower</a:t>
            </a:r>
          </a:p>
        </p:txBody>
      </p:sp>
      <p:sp>
        <p:nvSpPr>
          <p:cNvPr id="77" name="TextBox 76"/>
          <p:cNvSpPr txBox="1"/>
          <p:nvPr/>
        </p:nvSpPr>
        <p:spPr>
          <a:xfrm>
            <a:off x="8119871" y="5650992"/>
            <a:ext cx="3611880" cy="137160"/>
          </a:xfrm>
          <a:prstGeom prst="rect">
            <a:avLst/>
          </a:prstGeom>
          <a:noFill/>
        </p:spPr>
        <p:txBody>
          <a:bodyPr wrap="square" lIns="0" rIns="0" tIns="0" bIns="0" anchor="t">
            <a:spAutoFit/>
          </a:bodyPr>
          <a:lstStyle/>
          <a:p>
            <a:pPr>
              <a:spcAft>
                <a:spcPts val="0"/>
              </a:spcAft>
            </a:pPr>
            <a:r>
              <a:rPr sz="980" b="0" i="1">
                <a:solidFill>
                  <a:srgbClr val="8A969E"/>
                </a:solidFill>
                <a:latin typeface="Arial"/>
              </a:rPr>
              <a:t>none</a:t>
            </a:r>
          </a:p>
        </p:txBody>
      </p:sp>
      <p:sp>
        <p:nvSpPr>
          <p:cNvPr id="78" name="TextBox 77"/>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[P]/[R] tags report repeated feature selection; gene color independently reports literature interpretation for all 49 associations.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THYMUS</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Thymus points to lower proliferative renewal</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The core panel recovers cell-cycle biology; two flight-higher genes extend the hypothesis.</a:t>
            </a:r>
          </a:p>
        </p:txBody>
      </p:sp>
      <p:pic>
        <p:nvPicPr>
          <p:cNvPr id="7" name="Thymus gene effects and Reactome processes" descr="Thymus gene effects and Reactome processes"/>
          <p:cNvPicPr>
            <a:picLocks noChangeAspect="1"/>
          </p:cNvPicPr>
          <p:nvPr/>
        </p:nvPicPr>
        <p:blipFill>
          <a:blip r:embed="rId2"/>
          <a:stretch>
            <a:fillRect/>
          </a:stretch>
        </p:blipFill>
        <p:spPr>
          <a:xfrm>
            <a:off x="320040" y="1895403"/>
            <a:ext cx="7818120" cy="4109608"/>
          </a:xfrm>
          <a:prstGeom prst="rect">
            <a:avLst/>
          </a:prstGeom>
        </p:spPr>
      </p:pic>
      <p:sp>
        <p:nvSpPr>
          <p:cNvPr id="8" name="Rounded Rectangle 7"/>
          <p:cNvSpPr/>
          <p:nvPr/>
        </p:nvSpPr>
        <p:spPr>
          <a:xfrm>
            <a:off x="8321040" y="1847088"/>
            <a:ext cx="3493008" cy="4178808"/>
          </a:xfrm>
          <a:prstGeom prst="roundRect">
            <a:avLst/>
          </a:prstGeom>
          <a:solidFill>
            <a:srgbClr val="F8ECE9"/>
          </a:solidFill>
          <a:ln w="10160">
            <a:solidFill>
              <a:srgbClr val="E8C9C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22792" y="2139696"/>
            <a:ext cx="1005840" cy="594360"/>
          </a:xfrm>
          <a:prstGeom prst="rect">
            <a:avLst/>
          </a:prstGeom>
          <a:noFill/>
        </p:spPr>
        <p:txBody>
          <a:bodyPr wrap="square" lIns="18288" rIns="18288" tIns="18288" bIns="18288" anchor="t">
            <a:spAutoFit/>
          </a:bodyPr>
          <a:lstStyle/>
          <a:p>
            <a:pPr algn="l">
              <a:spcAft>
                <a:spcPts val="0"/>
              </a:spcAft>
            </a:pPr>
            <a:r>
              <a:rPr sz="3500" b="1" i="0">
                <a:solidFill>
                  <a:srgbClr val="D96552"/>
                </a:solidFill>
                <a:latin typeface="Arial"/>
              </a:rPr>
              <a:t>16</a:t>
            </a:r>
          </a:p>
        </p:txBody>
      </p:sp>
      <p:sp>
        <p:nvSpPr>
          <p:cNvPr id="10" name="TextBox 9"/>
          <p:cNvSpPr txBox="1"/>
          <p:nvPr/>
        </p:nvSpPr>
        <p:spPr>
          <a:xfrm>
            <a:off x="9491472" y="2176272"/>
            <a:ext cx="1938528" cy="566928"/>
          </a:xfrm>
          <a:prstGeom prst="rect">
            <a:avLst/>
          </a:prstGeom>
          <a:noFill/>
        </p:spPr>
        <p:txBody>
          <a:bodyPr wrap="square" lIns="18288" rIns="18288" tIns="18288" bIns="18288" anchor="t">
            <a:spAutoFit/>
          </a:bodyPr>
          <a:lstStyle/>
          <a:p>
            <a:pPr algn="l">
              <a:spcAft>
                <a:spcPts val="0"/>
              </a:spcAft>
            </a:pPr>
            <a:r>
              <a:rPr sz="1400" b="1" i="0">
                <a:solidFill>
                  <a:srgbClr val="263746"/>
                </a:solidFill>
                <a:latin typeface="Arial"/>
              </a:rPr>
              <a:t>synthetic-informed
BH-FDR associations</a:t>
            </a:r>
          </a:p>
        </p:txBody>
      </p:sp>
      <p:sp>
        <p:nvSpPr>
          <p:cNvPr id="11" name="TextBox 10"/>
          <p:cNvSpPr txBox="1"/>
          <p:nvPr/>
        </p:nvSpPr>
        <p:spPr>
          <a:xfrm>
            <a:off x="8631936" y="2862072"/>
            <a:ext cx="2788920" cy="274320"/>
          </a:xfrm>
          <a:prstGeom prst="rect">
            <a:avLst/>
          </a:prstGeom>
          <a:noFill/>
        </p:spPr>
        <p:txBody>
          <a:bodyPr wrap="square" lIns="18288" rIns="18288" tIns="18288" bIns="18288" anchor="t">
            <a:spAutoFit/>
          </a:bodyPr>
          <a:lstStyle/>
          <a:p>
            <a:pPr algn="l">
              <a:spcAft>
                <a:spcPts val="0"/>
              </a:spcAft>
            </a:pPr>
            <a:r>
              <a:rPr sz="1400" b="1" i="0">
                <a:solidFill>
                  <a:srgbClr val="178681"/>
                </a:solidFill>
                <a:latin typeface="Arial"/>
              </a:rPr>
              <a:t>13 promoted | 3 reinforced</a:t>
            </a:r>
          </a:p>
        </p:txBody>
      </p:sp>
      <p:sp>
        <p:nvSpPr>
          <p:cNvPr id="12" name="Oval 11"/>
          <p:cNvSpPr/>
          <p:nvPr/>
        </p:nvSpPr>
        <p:spPr>
          <a:xfrm>
            <a:off x="8631936" y="3337560"/>
            <a:ext cx="91440" cy="91440"/>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796528" y="3227832"/>
            <a:ext cx="2606039" cy="585216"/>
          </a:xfrm>
          <a:prstGeom prst="rect">
            <a:avLst/>
          </a:prstGeom>
          <a:noFill/>
        </p:spPr>
        <p:txBody>
          <a:bodyPr wrap="square" lIns="18288" rIns="18288" tIns="18288" bIns="18288" anchor="ctr">
            <a:spAutoFit/>
          </a:bodyPr>
          <a:lstStyle/>
          <a:p>
            <a:pPr algn="l">
              <a:spcAft>
                <a:spcPts val="0"/>
              </a:spcAft>
            </a:pPr>
            <a:r>
              <a:rPr sz="1220" b="0" i="0">
                <a:solidFill>
                  <a:srgbClr val="263746"/>
                </a:solidFill>
                <a:latin typeface="Arial"/>
              </a:rPr>
              <a:t>Lower Nusap1, Stmn1, Birc5, Cdk1, Top2a and related genes</a:t>
            </a:r>
          </a:p>
        </p:txBody>
      </p:sp>
      <p:sp>
        <p:nvSpPr>
          <p:cNvPr id="14" name="Oval 13"/>
          <p:cNvSpPr/>
          <p:nvPr/>
        </p:nvSpPr>
        <p:spPr>
          <a:xfrm>
            <a:off x="8631936" y="3922776"/>
            <a:ext cx="91440" cy="91440"/>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796528" y="3813048"/>
            <a:ext cx="2606039" cy="585216"/>
          </a:xfrm>
          <a:prstGeom prst="rect">
            <a:avLst/>
          </a:prstGeom>
          <a:noFill/>
        </p:spPr>
        <p:txBody>
          <a:bodyPr wrap="square" lIns="18288" rIns="18288" tIns="18288" bIns="18288" anchor="ctr">
            <a:spAutoFit/>
          </a:bodyPr>
          <a:lstStyle/>
          <a:p>
            <a:pPr algn="l">
              <a:spcAft>
                <a:spcPts val="0"/>
              </a:spcAft>
            </a:pPr>
            <a:r>
              <a:rPr sz="1220" b="0" i="0">
                <a:solidFill>
                  <a:srgbClr val="263746"/>
                </a:solidFill>
                <a:latin typeface="Arial"/>
              </a:rPr>
              <a:t>Cell cycle, DNA replication, APC/C and G2/M processes</a:t>
            </a:r>
          </a:p>
        </p:txBody>
      </p:sp>
      <p:sp>
        <p:nvSpPr>
          <p:cNvPr id="16" name="Oval 15"/>
          <p:cNvSpPr/>
          <p:nvPr/>
        </p:nvSpPr>
        <p:spPr>
          <a:xfrm>
            <a:off x="8631936" y="4507992"/>
            <a:ext cx="91440" cy="91440"/>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796528" y="4398264"/>
            <a:ext cx="2606039" cy="585216"/>
          </a:xfrm>
          <a:prstGeom prst="rect">
            <a:avLst/>
          </a:prstGeom>
          <a:noFill/>
        </p:spPr>
        <p:txBody>
          <a:bodyPr wrap="square" lIns="18288" rIns="18288" tIns="18288" bIns="18288" anchor="ctr">
            <a:spAutoFit/>
          </a:bodyPr>
          <a:lstStyle/>
          <a:p>
            <a:pPr algn="l">
              <a:spcAft>
                <a:spcPts val="0"/>
              </a:spcAft>
            </a:pPr>
            <a:r>
              <a:rPr sz="1220" b="0" i="0">
                <a:solidFill>
                  <a:srgbClr val="263746"/>
                </a:solidFill>
                <a:latin typeface="Arial"/>
              </a:rPr>
              <a:t>Higher Hsd17b11 and Etv1 suggest lipid or T-cell-state shifts</a:t>
            </a:r>
          </a:p>
        </p:txBody>
      </p:sp>
      <p:sp>
        <p:nvSpPr>
          <p:cNvPr id="18" name="Oval 17"/>
          <p:cNvSpPr/>
          <p:nvPr/>
        </p:nvSpPr>
        <p:spPr>
          <a:xfrm>
            <a:off x="8631936" y="5093207"/>
            <a:ext cx="91440" cy="91440"/>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796528" y="4983479"/>
            <a:ext cx="2606039" cy="585216"/>
          </a:xfrm>
          <a:prstGeom prst="rect">
            <a:avLst/>
          </a:prstGeom>
          <a:noFill/>
        </p:spPr>
        <p:txBody>
          <a:bodyPr wrap="square" lIns="18288" rIns="18288" tIns="18288" bIns="18288" anchor="ctr">
            <a:spAutoFit/>
          </a:bodyPr>
          <a:lstStyle/>
          <a:p>
            <a:pPr algn="l">
              <a:spcAft>
                <a:spcPts val="0"/>
              </a:spcAft>
            </a:pPr>
            <a:r>
              <a:rPr sz="1220" b="0" i="0">
                <a:solidFill>
                  <a:srgbClr val="263746"/>
                </a:solidFill>
                <a:latin typeface="Arial"/>
              </a:rPr>
              <a:t>Bulk RNA-seq cannot separate cell loss from lower transcription</a:t>
            </a:r>
          </a:p>
        </p:txBody>
      </p:sp>
      <p:sp>
        <p:nvSpPr>
          <p:cNvPr id="20" name="TextBox 19"/>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Context: Gridley et al. (2013), Horie et al. (2019), Keenan et al. (2025), and Shi et al. (2026).</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SOLEUS</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Soleus reinforces a mitochondrial and lipid program</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This result strengthens an existing real-data pattern rather than promoting a new soleus gene.</a:t>
            </a:r>
          </a:p>
        </p:txBody>
      </p:sp>
      <p:pic>
        <p:nvPicPr>
          <p:cNvPr id="7" name="Soleus gene effects and Reactome processes" descr="Soleus gene effects and Reactome processes"/>
          <p:cNvPicPr>
            <a:picLocks noChangeAspect="1"/>
          </p:cNvPicPr>
          <p:nvPr/>
        </p:nvPicPr>
        <p:blipFill>
          <a:blip r:embed="rId2"/>
          <a:stretch>
            <a:fillRect/>
          </a:stretch>
        </p:blipFill>
        <p:spPr>
          <a:xfrm>
            <a:off x="310896" y="1984025"/>
            <a:ext cx="8366760" cy="3914076"/>
          </a:xfrm>
          <a:prstGeom prst="rect">
            <a:avLst/>
          </a:prstGeom>
        </p:spPr>
      </p:pic>
      <p:sp>
        <p:nvSpPr>
          <p:cNvPr id="8" name="Rounded Rectangle 7"/>
          <p:cNvSpPr/>
          <p:nvPr/>
        </p:nvSpPr>
        <p:spPr>
          <a:xfrm>
            <a:off x="8805672" y="1865376"/>
            <a:ext cx="2971800" cy="4133087"/>
          </a:xfrm>
          <a:prstGeom prst="roundRect">
            <a:avLst/>
          </a:prstGeom>
          <a:solidFill>
            <a:srgbClr val="E8F3F1"/>
          </a:solidFill>
          <a:ln w="10160">
            <a:solidFill>
              <a:srgbClr val="C7DD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043416" y="2139696"/>
            <a:ext cx="2487168" cy="384048"/>
          </a:xfrm>
          <a:prstGeom prst="rect">
            <a:avLst/>
          </a:prstGeom>
          <a:noFill/>
        </p:spPr>
        <p:txBody>
          <a:bodyPr wrap="square" lIns="18288" rIns="18288" tIns="18288" bIns="18288" anchor="t">
            <a:spAutoFit/>
          </a:bodyPr>
          <a:lstStyle/>
          <a:p>
            <a:pPr algn="ctr">
              <a:spcAft>
                <a:spcPts val="0"/>
              </a:spcAft>
            </a:pPr>
            <a:r>
              <a:rPr sz="2000" b="1" i="0">
                <a:solidFill>
                  <a:srgbClr val="178681"/>
                </a:solidFill>
                <a:latin typeface="Arial"/>
              </a:rPr>
              <a:t>0.925 -&gt; 0.963</a:t>
            </a:r>
          </a:p>
        </p:txBody>
      </p:sp>
      <p:sp>
        <p:nvSpPr>
          <p:cNvPr id="10" name="TextBox 9"/>
          <p:cNvSpPr txBox="1"/>
          <p:nvPr/>
        </p:nvSpPr>
        <p:spPr>
          <a:xfrm>
            <a:off x="9125712" y="2542032"/>
            <a:ext cx="2331720" cy="256032"/>
          </a:xfrm>
          <a:prstGeom prst="rect">
            <a:avLst/>
          </a:prstGeom>
          <a:noFill/>
        </p:spPr>
        <p:txBody>
          <a:bodyPr wrap="square" lIns="18288" rIns="18288" tIns="18288" bIns="18288" anchor="t">
            <a:spAutoFit/>
          </a:bodyPr>
          <a:lstStyle/>
          <a:p>
            <a:pPr algn="ctr">
              <a:spcAft>
                <a:spcPts val="0"/>
              </a:spcAft>
            </a:pPr>
            <a:r>
              <a:rPr sz="1250" b="0" i="0">
                <a:solidFill>
                  <a:srgbClr val="59697A"/>
                </a:solidFill>
                <a:latin typeface="Arial"/>
              </a:rPr>
              <a:t>balanced accuracy</a:t>
            </a:r>
          </a:p>
        </p:txBody>
      </p:sp>
      <p:sp>
        <p:nvSpPr>
          <p:cNvPr id="11" name="TextBox 10"/>
          <p:cNvSpPr txBox="1"/>
          <p:nvPr/>
        </p:nvSpPr>
        <p:spPr>
          <a:xfrm>
            <a:off x="9025128" y="2990088"/>
            <a:ext cx="2532888" cy="310896"/>
          </a:xfrm>
          <a:prstGeom prst="rect">
            <a:avLst/>
          </a:prstGeom>
          <a:noFill/>
        </p:spPr>
        <p:txBody>
          <a:bodyPr wrap="square" lIns="18288" rIns="18288" tIns="18288" bIns="18288" anchor="t">
            <a:spAutoFit/>
          </a:bodyPr>
          <a:lstStyle/>
          <a:p>
            <a:pPr algn="ctr">
              <a:spcAft>
                <a:spcPts val="0"/>
              </a:spcAft>
            </a:pPr>
            <a:r>
              <a:rPr sz="1500" b="1" i="0">
                <a:solidFill>
                  <a:srgbClr val="082B55"/>
                </a:solidFill>
                <a:latin typeface="Arial"/>
              </a:rPr>
              <a:t>5 reinforced | 0 promoted</a:t>
            </a:r>
          </a:p>
        </p:txBody>
      </p:sp>
      <p:sp>
        <p:nvSpPr>
          <p:cNvPr id="12" name="Oval 11"/>
          <p:cNvSpPr/>
          <p:nvPr/>
        </p:nvSpPr>
        <p:spPr>
          <a:xfrm>
            <a:off x="9089136" y="3566160"/>
            <a:ext cx="91440" cy="91440"/>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253728" y="3456432"/>
            <a:ext cx="2157984" cy="530352"/>
          </a:xfrm>
          <a:prstGeom prst="rect">
            <a:avLst/>
          </a:prstGeom>
          <a:noFill/>
        </p:spPr>
        <p:txBody>
          <a:bodyPr wrap="square" lIns="18288" rIns="18288" tIns="18288" bIns="18288" anchor="ctr">
            <a:spAutoFit/>
          </a:bodyPr>
          <a:lstStyle/>
          <a:p>
            <a:pPr algn="l">
              <a:spcAft>
                <a:spcPts val="0"/>
              </a:spcAft>
            </a:pPr>
            <a:r>
              <a:rPr sz="1280" b="0" i="0">
                <a:solidFill>
                  <a:srgbClr val="263746"/>
                </a:solidFill>
                <a:latin typeface="Arial"/>
              </a:rPr>
              <a:t>Lower Bdh1, Ech1, Bnip3 and Decr1</a:t>
            </a:r>
          </a:p>
        </p:txBody>
      </p:sp>
      <p:sp>
        <p:nvSpPr>
          <p:cNvPr id="14" name="Oval 13"/>
          <p:cNvSpPr/>
          <p:nvPr/>
        </p:nvSpPr>
        <p:spPr>
          <a:xfrm>
            <a:off x="9089136" y="4096511"/>
            <a:ext cx="91440" cy="91440"/>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253728" y="3986783"/>
            <a:ext cx="2157984" cy="530352"/>
          </a:xfrm>
          <a:prstGeom prst="rect">
            <a:avLst/>
          </a:prstGeom>
          <a:noFill/>
        </p:spPr>
        <p:txBody>
          <a:bodyPr wrap="square" lIns="18288" rIns="18288" tIns="18288" bIns="18288" anchor="ctr">
            <a:spAutoFit/>
          </a:bodyPr>
          <a:lstStyle/>
          <a:p>
            <a:pPr algn="l">
              <a:spcAft>
                <a:spcPts val="0"/>
              </a:spcAft>
            </a:pPr>
            <a:r>
              <a:rPr sz="1280" b="0" i="0">
                <a:solidFill>
                  <a:srgbClr val="263746"/>
                </a:solidFill>
                <a:latin typeface="Arial"/>
              </a:rPr>
              <a:t>Higher Tpm1</a:t>
            </a:r>
          </a:p>
        </p:txBody>
      </p:sp>
      <p:sp>
        <p:nvSpPr>
          <p:cNvPr id="16" name="Oval 15"/>
          <p:cNvSpPr/>
          <p:nvPr/>
        </p:nvSpPr>
        <p:spPr>
          <a:xfrm>
            <a:off x="9089136" y="4626864"/>
            <a:ext cx="91440" cy="91440"/>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253728" y="4517136"/>
            <a:ext cx="2157984" cy="530352"/>
          </a:xfrm>
          <a:prstGeom prst="rect">
            <a:avLst/>
          </a:prstGeom>
          <a:noFill/>
        </p:spPr>
        <p:txBody>
          <a:bodyPr wrap="square" lIns="18288" rIns="18288" tIns="18288" bIns="18288" anchor="ctr">
            <a:spAutoFit/>
          </a:bodyPr>
          <a:lstStyle/>
          <a:p>
            <a:pPr algn="l">
              <a:spcAft>
                <a:spcPts val="0"/>
              </a:spcAft>
            </a:pPr>
            <a:r>
              <a:rPr sz="1280" b="0" i="0">
                <a:solidFill>
                  <a:srgbClr val="263746"/>
                </a:solidFill>
                <a:latin typeface="Arial"/>
              </a:rPr>
              <a:t>Mitochondrial turnover and fatty-acid metabolism</a:t>
            </a:r>
          </a:p>
        </p:txBody>
      </p:sp>
      <p:sp>
        <p:nvSpPr>
          <p:cNvPr id="18" name="Oval 17"/>
          <p:cNvSpPr/>
          <p:nvPr/>
        </p:nvSpPr>
        <p:spPr>
          <a:xfrm>
            <a:off x="9089136" y="5157216"/>
            <a:ext cx="91440" cy="91440"/>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253728" y="5047488"/>
            <a:ext cx="2157984" cy="530352"/>
          </a:xfrm>
          <a:prstGeom prst="rect">
            <a:avLst/>
          </a:prstGeom>
          <a:noFill/>
        </p:spPr>
        <p:txBody>
          <a:bodyPr wrap="square" lIns="18288" rIns="18288" tIns="18288" bIns="18288" anchor="ctr">
            <a:spAutoFit/>
          </a:bodyPr>
          <a:lstStyle/>
          <a:p>
            <a:pPr algn="l">
              <a:spcAft>
                <a:spcPts val="0"/>
              </a:spcAft>
            </a:pPr>
            <a:r>
              <a:rPr sz="1280" b="0" i="0">
                <a:solidFill>
                  <a:srgbClr val="263746"/>
                </a:solidFill>
                <a:latin typeface="Arial"/>
              </a:rPr>
              <a:t>Compatible with unloading and contractile remodeling</a:t>
            </a:r>
          </a:p>
        </p:txBody>
      </p:sp>
      <p:sp>
        <p:nvSpPr>
          <p:cNvPr id="20" name="TextBox 19"/>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Literature context: Gambara et al. (2017) and Stein et al. (2002).</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ADDITIONAL FINDINGS I</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Each additional tissue defines a separate hypothesis</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Promoted and reinforced selections are separated within every tissue.</a:t>
            </a:r>
          </a:p>
        </p:txBody>
      </p:sp>
      <p:sp>
        <p:nvSpPr>
          <p:cNvPr id="7" name="TextBox 6"/>
          <p:cNvSpPr txBox="1"/>
          <p:nvPr/>
        </p:nvSpPr>
        <p:spPr>
          <a:xfrm>
            <a:off x="658368" y="1828800"/>
            <a:ext cx="1554480" cy="256032"/>
          </a:xfrm>
          <a:prstGeom prst="rect">
            <a:avLst/>
          </a:prstGeom>
          <a:noFill/>
        </p:spPr>
        <p:txBody>
          <a:bodyPr wrap="square" lIns="18288" rIns="18288" tIns="18288" bIns="18288" anchor="t">
            <a:spAutoFit/>
          </a:bodyPr>
          <a:lstStyle/>
          <a:p>
            <a:pPr algn="l">
              <a:spcAft>
                <a:spcPts val="0"/>
              </a:spcAft>
            </a:pPr>
            <a:r>
              <a:rPr sz="1150" b="1" i="0">
                <a:solidFill>
                  <a:srgbClr val="59697A"/>
                </a:solidFill>
                <a:latin typeface="Arial"/>
              </a:rPr>
              <a:t>Analysis unit</a:t>
            </a:r>
          </a:p>
        </p:txBody>
      </p:sp>
      <p:sp>
        <p:nvSpPr>
          <p:cNvPr id="8" name="TextBox 7"/>
          <p:cNvSpPr txBox="1"/>
          <p:nvPr/>
        </p:nvSpPr>
        <p:spPr>
          <a:xfrm>
            <a:off x="2267712" y="1828800"/>
            <a:ext cx="1051560" cy="256032"/>
          </a:xfrm>
          <a:prstGeom prst="rect">
            <a:avLst/>
          </a:prstGeom>
          <a:noFill/>
        </p:spPr>
        <p:txBody>
          <a:bodyPr wrap="square" lIns="18288" rIns="18288" tIns="18288" bIns="18288" anchor="t">
            <a:spAutoFit/>
          </a:bodyPr>
          <a:lstStyle/>
          <a:p>
            <a:pPr algn="l">
              <a:spcAft>
                <a:spcPts val="0"/>
              </a:spcAft>
            </a:pPr>
            <a:r>
              <a:rPr sz="1150" b="1" i="0">
                <a:solidFill>
                  <a:srgbClr val="59697A"/>
                </a:solidFill>
                <a:latin typeface="Arial"/>
              </a:rPr>
              <a:t>Selection</a:t>
            </a:r>
          </a:p>
        </p:txBody>
      </p:sp>
      <p:sp>
        <p:nvSpPr>
          <p:cNvPr id="9" name="TextBox 8"/>
          <p:cNvSpPr txBox="1"/>
          <p:nvPr/>
        </p:nvSpPr>
        <p:spPr>
          <a:xfrm>
            <a:off x="3456432" y="1828800"/>
            <a:ext cx="2880360" cy="256032"/>
          </a:xfrm>
          <a:prstGeom prst="rect">
            <a:avLst/>
          </a:prstGeom>
          <a:noFill/>
        </p:spPr>
        <p:txBody>
          <a:bodyPr wrap="square" lIns="18288" rIns="18288" tIns="18288" bIns="18288" anchor="t">
            <a:spAutoFit/>
          </a:bodyPr>
          <a:lstStyle/>
          <a:p>
            <a:pPr algn="l">
              <a:spcAft>
                <a:spcPts val="0"/>
              </a:spcAft>
            </a:pPr>
            <a:r>
              <a:rPr sz="1150" b="1" i="0">
                <a:solidFill>
                  <a:srgbClr val="59697A"/>
                </a:solidFill>
                <a:latin typeface="Arial"/>
              </a:rPr>
              <a:t>Genes and FLT direction</a:t>
            </a:r>
          </a:p>
        </p:txBody>
      </p:sp>
      <p:sp>
        <p:nvSpPr>
          <p:cNvPr id="10" name="TextBox 9"/>
          <p:cNvSpPr txBox="1"/>
          <p:nvPr/>
        </p:nvSpPr>
        <p:spPr>
          <a:xfrm>
            <a:off x="6583680" y="1828800"/>
            <a:ext cx="4663440" cy="256032"/>
          </a:xfrm>
          <a:prstGeom prst="rect">
            <a:avLst/>
          </a:prstGeom>
          <a:noFill/>
        </p:spPr>
        <p:txBody>
          <a:bodyPr wrap="square" lIns="18288" rIns="18288" tIns="18288" bIns="18288" anchor="t">
            <a:spAutoFit/>
          </a:bodyPr>
          <a:lstStyle/>
          <a:p>
            <a:pPr algn="l">
              <a:spcAft>
                <a:spcPts val="0"/>
              </a:spcAft>
            </a:pPr>
            <a:r>
              <a:rPr sz="1150" b="1" i="0">
                <a:solidFill>
                  <a:srgbClr val="59697A"/>
                </a:solidFill>
                <a:latin typeface="Arial"/>
              </a:rPr>
              <a:t>Interpretation</a:t>
            </a:r>
          </a:p>
        </p:txBody>
      </p:sp>
      <p:sp>
        <p:nvSpPr>
          <p:cNvPr id="11" name="Rectangle 10"/>
          <p:cNvSpPr/>
          <p:nvPr/>
        </p:nvSpPr>
        <p:spPr>
          <a:xfrm>
            <a:off x="393192" y="2148840"/>
            <a:ext cx="11375136" cy="804672"/>
          </a:xfrm>
          <a:prstGeom prst="rect">
            <a:avLst/>
          </a:prstGeom>
          <a:solidFill>
            <a:srgbClr val="E9F1F7"/>
          </a:solidFill>
          <a:ln w="10160">
            <a:solidFill>
              <a:srgbClr val="DD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93192" y="2148840"/>
            <a:ext cx="73152" cy="804672"/>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8368" y="2331720"/>
            <a:ext cx="1481328" cy="402336"/>
          </a:xfrm>
          <a:prstGeom prst="rect">
            <a:avLst/>
          </a:prstGeom>
          <a:noFill/>
        </p:spPr>
        <p:txBody>
          <a:bodyPr wrap="square" lIns="18288" rIns="18288" tIns="18288" bIns="18288" anchor="ctr">
            <a:spAutoFit/>
          </a:bodyPr>
          <a:lstStyle/>
          <a:p>
            <a:pPr algn="l">
              <a:spcAft>
                <a:spcPts val="0"/>
              </a:spcAft>
            </a:pPr>
            <a:r>
              <a:rPr sz="1500" b="1" i="0">
                <a:solidFill>
                  <a:srgbClr val="2D6496"/>
                </a:solidFill>
                <a:latin typeface="Arial"/>
              </a:rPr>
              <a:t>Pooled muscle</a:t>
            </a:r>
          </a:p>
        </p:txBody>
      </p:sp>
      <p:sp>
        <p:nvSpPr>
          <p:cNvPr id="14" name="Rectangle 13"/>
          <p:cNvSpPr/>
          <p:nvPr/>
        </p:nvSpPr>
        <p:spPr>
          <a:xfrm>
            <a:off x="2212848" y="2551176"/>
            <a:ext cx="4041648" cy="10972"/>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267712" y="2221992"/>
            <a:ext cx="1024128" cy="228600"/>
          </a:xfrm>
          <a:prstGeom prst="rect">
            <a:avLst/>
          </a:prstGeom>
          <a:noFill/>
        </p:spPr>
        <p:txBody>
          <a:bodyPr wrap="square" lIns="18288" rIns="18288" tIns="18288" bIns="18288" anchor="ctr">
            <a:spAutoFit/>
          </a:bodyPr>
          <a:lstStyle/>
          <a:p>
            <a:pPr algn="l">
              <a:spcAft>
                <a:spcPts val="0"/>
              </a:spcAft>
            </a:pPr>
            <a:r>
              <a:rPr sz="1050" b="1" i="0">
                <a:solidFill>
                  <a:srgbClr val="D96552"/>
                </a:solidFill>
                <a:latin typeface="Arial"/>
              </a:rPr>
              <a:t>Promoted</a:t>
            </a:r>
          </a:p>
        </p:txBody>
      </p:sp>
      <p:sp>
        <p:nvSpPr>
          <p:cNvPr id="16" name="TextBox 15"/>
          <p:cNvSpPr txBox="1"/>
          <p:nvPr/>
        </p:nvSpPr>
        <p:spPr>
          <a:xfrm>
            <a:off x="3456432" y="2194560"/>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Lower: Klhl21, Mapkapk5, Reep5, Itgb5</a:t>
            </a:r>
          </a:p>
        </p:txBody>
      </p:sp>
      <p:sp>
        <p:nvSpPr>
          <p:cNvPr id="17" name="TextBox 16"/>
          <p:cNvSpPr txBox="1"/>
          <p:nvPr/>
        </p:nvSpPr>
        <p:spPr>
          <a:xfrm>
            <a:off x="2267712" y="2624328"/>
            <a:ext cx="1024128" cy="228600"/>
          </a:xfrm>
          <a:prstGeom prst="rect">
            <a:avLst/>
          </a:prstGeom>
          <a:noFill/>
        </p:spPr>
        <p:txBody>
          <a:bodyPr wrap="square" lIns="18288" rIns="18288" tIns="18288" bIns="18288" anchor="ctr">
            <a:spAutoFit/>
          </a:bodyPr>
          <a:lstStyle/>
          <a:p>
            <a:pPr algn="l">
              <a:spcAft>
                <a:spcPts val="0"/>
              </a:spcAft>
            </a:pPr>
            <a:r>
              <a:rPr sz="1050" b="1" i="0">
                <a:solidFill>
                  <a:srgbClr val="178681"/>
                </a:solidFill>
                <a:latin typeface="Arial"/>
              </a:rPr>
              <a:t>Reinforced</a:t>
            </a:r>
          </a:p>
        </p:txBody>
      </p:sp>
      <p:sp>
        <p:nvSpPr>
          <p:cNvPr id="18" name="TextBox 17"/>
          <p:cNvSpPr txBox="1"/>
          <p:nvPr/>
        </p:nvSpPr>
        <p:spPr>
          <a:xfrm>
            <a:off x="3456432" y="2587752"/>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Higher: Sox4, Cebpd, Sh3bp5, Prkcd, Arid5b, Sesn1, Tle1; lower: Bphl</a:t>
            </a:r>
          </a:p>
        </p:txBody>
      </p:sp>
      <p:sp>
        <p:nvSpPr>
          <p:cNvPr id="19" name="TextBox 18"/>
          <p:cNvSpPr txBox="1"/>
          <p:nvPr/>
        </p:nvSpPr>
        <p:spPr>
          <a:xfrm>
            <a:off x="6583680" y="2240280"/>
            <a:ext cx="4754880" cy="603504"/>
          </a:xfrm>
          <a:prstGeom prst="rect">
            <a:avLst/>
          </a:prstGeom>
          <a:noFill/>
        </p:spPr>
        <p:txBody>
          <a:bodyPr wrap="square" lIns="18288" rIns="18288" tIns="18288" bIns="18288" anchor="ctr">
            <a:spAutoFit/>
          </a:bodyPr>
          <a:lstStyle/>
          <a:p>
            <a:pPr algn="l">
              <a:spcAft>
                <a:spcPts val="0"/>
              </a:spcAft>
            </a:pPr>
            <a:r>
              <a:rPr sz="1220" b="0" i="0">
                <a:solidFill>
                  <a:srgbClr val="263746"/>
                </a:solidFill>
                <a:latin typeface="Arial"/>
              </a:rPr>
              <a:t>Heterogeneous stress, differentiation, interferon and sialic-acid response; interpret with the anatomical muscle groups.</a:t>
            </a:r>
          </a:p>
        </p:txBody>
      </p:sp>
      <p:sp>
        <p:nvSpPr>
          <p:cNvPr id="20" name="Rectangle 19"/>
          <p:cNvSpPr/>
          <p:nvPr/>
        </p:nvSpPr>
        <p:spPr>
          <a:xfrm>
            <a:off x="393192" y="3118104"/>
            <a:ext cx="11375136" cy="804672"/>
          </a:xfrm>
          <a:prstGeom prst="rect">
            <a:avLst/>
          </a:prstGeom>
          <a:solidFill>
            <a:srgbClr val="F0ECF6"/>
          </a:solidFill>
          <a:ln w="10160">
            <a:solidFill>
              <a:srgbClr val="DD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393192" y="3118104"/>
            <a:ext cx="73152" cy="804672"/>
          </a:xfrm>
          <a:prstGeom prst="rect">
            <a:avLst/>
          </a:prstGeom>
          <a:solidFill>
            <a:srgbClr val="8063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58368" y="3300984"/>
            <a:ext cx="1481328" cy="402336"/>
          </a:xfrm>
          <a:prstGeom prst="rect">
            <a:avLst/>
          </a:prstGeom>
          <a:noFill/>
        </p:spPr>
        <p:txBody>
          <a:bodyPr wrap="square" lIns="18288" rIns="18288" tIns="18288" bIns="18288" anchor="ctr">
            <a:spAutoFit/>
          </a:bodyPr>
          <a:lstStyle/>
          <a:p>
            <a:pPr algn="l">
              <a:spcAft>
                <a:spcPts val="0"/>
              </a:spcAft>
            </a:pPr>
            <a:r>
              <a:rPr sz="1500" b="1" i="0">
                <a:solidFill>
                  <a:srgbClr val="8063A6"/>
                </a:solidFill>
                <a:latin typeface="Arial"/>
              </a:rPr>
              <a:t>Kidney</a:t>
            </a:r>
          </a:p>
        </p:txBody>
      </p:sp>
      <p:sp>
        <p:nvSpPr>
          <p:cNvPr id="23" name="Rectangle 22"/>
          <p:cNvSpPr/>
          <p:nvPr/>
        </p:nvSpPr>
        <p:spPr>
          <a:xfrm>
            <a:off x="2212848" y="3520440"/>
            <a:ext cx="4041648" cy="10972"/>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267712" y="3191256"/>
            <a:ext cx="1024128" cy="228600"/>
          </a:xfrm>
          <a:prstGeom prst="rect">
            <a:avLst/>
          </a:prstGeom>
          <a:noFill/>
        </p:spPr>
        <p:txBody>
          <a:bodyPr wrap="square" lIns="18288" rIns="18288" tIns="18288" bIns="18288" anchor="ctr">
            <a:spAutoFit/>
          </a:bodyPr>
          <a:lstStyle/>
          <a:p>
            <a:pPr algn="l">
              <a:spcAft>
                <a:spcPts val="0"/>
              </a:spcAft>
            </a:pPr>
            <a:r>
              <a:rPr sz="1050" b="1" i="0">
                <a:solidFill>
                  <a:srgbClr val="D96552"/>
                </a:solidFill>
                <a:latin typeface="Arial"/>
              </a:rPr>
              <a:t>Promoted</a:t>
            </a:r>
          </a:p>
        </p:txBody>
      </p:sp>
      <p:sp>
        <p:nvSpPr>
          <p:cNvPr id="25" name="TextBox 24"/>
          <p:cNvSpPr txBox="1"/>
          <p:nvPr/>
        </p:nvSpPr>
        <p:spPr>
          <a:xfrm>
            <a:off x="3456432" y="3163824"/>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Inpp4b higher</a:t>
            </a:r>
          </a:p>
        </p:txBody>
      </p:sp>
      <p:sp>
        <p:nvSpPr>
          <p:cNvPr id="26" name="TextBox 25"/>
          <p:cNvSpPr txBox="1"/>
          <p:nvPr/>
        </p:nvSpPr>
        <p:spPr>
          <a:xfrm>
            <a:off x="2267712" y="3593592"/>
            <a:ext cx="1024128" cy="228600"/>
          </a:xfrm>
          <a:prstGeom prst="rect">
            <a:avLst/>
          </a:prstGeom>
          <a:noFill/>
        </p:spPr>
        <p:txBody>
          <a:bodyPr wrap="square" lIns="18288" rIns="18288" tIns="18288" bIns="18288" anchor="ctr">
            <a:spAutoFit/>
          </a:bodyPr>
          <a:lstStyle/>
          <a:p>
            <a:pPr algn="l">
              <a:spcAft>
                <a:spcPts val="0"/>
              </a:spcAft>
            </a:pPr>
            <a:r>
              <a:rPr sz="1050" b="1" i="0">
                <a:solidFill>
                  <a:srgbClr val="178681"/>
                </a:solidFill>
                <a:latin typeface="Arial"/>
              </a:rPr>
              <a:t>Reinforced</a:t>
            </a:r>
          </a:p>
        </p:txBody>
      </p:sp>
      <p:sp>
        <p:nvSpPr>
          <p:cNvPr id="27" name="TextBox 26"/>
          <p:cNvSpPr txBox="1"/>
          <p:nvPr/>
        </p:nvSpPr>
        <p:spPr>
          <a:xfrm>
            <a:off x="3456432" y="3557016"/>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Slc37a4 higher</a:t>
            </a:r>
          </a:p>
        </p:txBody>
      </p:sp>
      <p:sp>
        <p:nvSpPr>
          <p:cNvPr id="28" name="TextBox 27"/>
          <p:cNvSpPr txBox="1"/>
          <p:nvPr/>
        </p:nvSpPr>
        <p:spPr>
          <a:xfrm>
            <a:off x="6583680" y="3209544"/>
            <a:ext cx="4754880" cy="603504"/>
          </a:xfrm>
          <a:prstGeom prst="rect">
            <a:avLst/>
          </a:prstGeom>
          <a:noFill/>
        </p:spPr>
        <p:txBody>
          <a:bodyPr wrap="square" lIns="18288" rIns="18288" tIns="18288" bIns="18288" anchor="ctr">
            <a:spAutoFit/>
          </a:bodyPr>
          <a:lstStyle/>
          <a:p>
            <a:pPr algn="l">
              <a:spcAft>
                <a:spcPts val="0"/>
              </a:spcAft>
            </a:pPr>
            <a:r>
              <a:rPr sz="1220" b="0" i="0">
                <a:solidFill>
                  <a:srgbClr val="263746"/>
                </a:solidFill>
                <a:latin typeface="Arial"/>
              </a:rPr>
              <a:t>Renal phosphoinositide signaling and glucose-handling hypothesis; the pair had no shared Reactome enrichment.</a:t>
            </a:r>
          </a:p>
        </p:txBody>
      </p:sp>
      <p:sp>
        <p:nvSpPr>
          <p:cNvPr id="29" name="Rectangle 28"/>
          <p:cNvSpPr/>
          <p:nvPr/>
        </p:nvSpPr>
        <p:spPr>
          <a:xfrm>
            <a:off x="393192" y="4087368"/>
            <a:ext cx="11375136" cy="804672"/>
          </a:xfrm>
          <a:prstGeom prst="rect">
            <a:avLst/>
          </a:prstGeom>
          <a:solidFill>
            <a:srgbClr val="E8F3F1"/>
          </a:solidFill>
          <a:ln w="10160">
            <a:solidFill>
              <a:srgbClr val="DD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393192" y="4087368"/>
            <a:ext cx="73152" cy="804672"/>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58368" y="4270248"/>
            <a:ext cx="1481328" cy="402336"/>
          </a:xfrm>
          <a:prstGeom prst="rect">
            <a:avLst/>
          </a:prstGeom>
          <a:noFill/>
        </p:spPr>
        <p:txBody>
          <a:bodyPr wrap="square" lIns="18288" rIns="18288" tIns="18288" bIns="18288" anchor="ctr">
            <a:spAutoFit/>
          </a:bodyPr>
          <a:lstStyle/>
          <a:p>
            <a:pPr algn="l">
              <a:spcAft>
                <a:spcPts val="0"/>
              </a:spcAft>
            </a:pPr>
            <a:r>
              <a:rPr sz="1500" b="1" i="0">
                <a:solidFill>
                  <a:srgbClr val="178681"/>
                </a:solidFill>
                <a:latin typeface="Arial"/>
              </a:rPr>
              <a:t>Spleen</a:t>
            </a:r>
          </a:p>
        </p:txBody>
      </p:sp>
      <p:sp>
        <p:nvSpPr>
          <p:cNvPr id="32" name="Rectangle 31"/>
          <p:cNvSpPr/>
          <p:nvPr/>
        </p:nvSpPr>
        <p:spPr>
          <a:xfrm>
            <a:off x="2212848" y="4489704"/>
            <a:ext cx="4041648" cy="10972"/>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2267712" y="4160520"/>
            <a:ext cx="1024128" cy="228600"/>
          </a:xfrm>
          <a:prstGeom prst="rect">
            <a:avLst/>
          </a:prstGeom>
          <a:noFill/>
        </p:spPr>
        <p:txBody>
          <a:bodyPr wrap="square" lIns="18288" rIns="18288" tIns="18288" bIns="18288" anchor="ctr">
            <a:spAutoFit/>
          </a:bodyPr>
          <a:lstStyle/>
          <a:p>
            <a:pPr algn="l">
              <a:spcAft>
                <a:spcPts val="0"/>
              </a:spcAft>
            </a:pPr>
            <a:r>
              <a:rPr sz="1050" b="1" i="0">
                <a:solidFill>
                  <a:srgbClr val="D96552"/>
                </a:solidFill>
                <a:latin typeface="Arial"/>
              </a:rPr>
              <a:t>Promoted</a:t>
            </a:r>
          </a:p>
        </p:txBody>
      </p:sp>
      <p:sp>
        <p:nvSpPr>
          <p:cNvPr id="34" name="TextBox 33"/>
          <p:cNvSpPr txBox="1"/>
          <p:nvPr/>
        </p:nvSpPr>
        <p:spPr>
          <a:xfrm>
            <a:off x="3456432" y="4133088"/>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Rai14, Myl9, Ptprk higher</a:t>
            </a:r>
          </a:p>
        </p:txBody>
      </p:sp>
      <p:sp>
        <p:nvSpPr>
          <p:cNvPr id="35" name="TextBox 34"/>
          <p:cNvSpPr txBox="1"/>
          <p:nvPr/>
        </p:nvSpPr>
        <p:spPr>
          <a:xfrm>
            <a:off x="2267712" y="4562856"/>
            <a:ext cx="1024128" cy="228600"/>
          </a:xfrm>
          <a:prstGeom prst="rect">
            <a:avLst/>
          </a:prstGeom>
          <a:noFill/>
        </p:spPr>
        <p:txBody>
          <a:bodyPr wrap="square" lIns="18288" rIns="18288" tIns="18288" bIns="18288" anchor="ctr">
            <a:spAutoFit/>
          </a:bodyPr>
          <a:lstStyle/>
          <a:p>
            <a:pPr algn="l">
              <a:spcAft>
                <a:spcPts val="0"/>
              </a:spcAft>
            </a:pPr>
            <a:r>
              <a:rPr sz="1050" b="1" i="0">
                <a:solidFill>
                  <a:srgbClr val="178681"/>
                </a:solidFill>
                <a:latin typeface="Arial"/>
              </a:rPr>
              <a:t>Reinforced</a:t>
            </a:r>
          </a:p>
        </p:txBody>
      </p:sp>
      <p:sp>
        <p:nvSpPr>
          <p:cNvPr id="36" name="TextBox 35"/>
          <p:cNvSpPr txBox="1"/>
          <p:nvPr/>
        </p:nvSpPr>
        <p:spPr>
          <a:xfrm>
            <a:off x="3456432" y="4526280"/>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Loxl1 higher</a:t>
            </a:r>
          </a:p>
        </p:txBody>
      </p:sp>
      <p:sp>
        <p:nvSpPr>
          <p:cNvPr id="37" name="TextBox 36"/>
          <p:cNvSpPr txBox="1"/>
          <p:nvPr/>
        </p:nvSpPr>
        <p:spPr>
          <a:xfrm>
            <a:off x="6583680" y="4178808"/>
            <a:ext cx="4754880" cy="603504"/>
          </a:xfrm>
          <a:prstGeom prst="rect">
            <a:avLst/>
          </a:prstGeom>
          <a:noFill/>
        </p:spPr>
        <p:txBody>
          <a:bodyPr wrap="square" lIns="18288" rIns="18288" tIns="18288" bIns="18288" anchor="ctr">
            <a:spAutoFit/>
          </a:bodyPr>
          <a:lstStyle/>
          <a:p>
            <a:pPr algn="l">
              <a:spcAft>
                <a:spcPts val="0"/>
              </a:spcAft>
            </a:pPr>
            <a:r>
              <a:rPr sz="1220" b="0" i="0">
                <a:solidFill>
                  <a:srgbClr val="263746"/>
                </a:solidFill>
                <a:latin typeface="Arial"/>
              </a:rPr>
              <a:t>Adhesion, actomyosin and extracellular-matrix or immune-organization hypothesis; no coherent pathway enrichment.</a:t>
            </a:r>
          </a:p>
        </p:txBody>
      </p:sp>
      <p:sp>
        <p:nvSpPr>
          <p:cNvPr id="38" name="Rectangle 37"/>
          <p:cNvSpPr/>
          <p:nvPr/>
        </p:nvSpPr>
        <p:spPr>
          <a:xfrm>
            <a:off x="393192" y="5056632"/>
            <a:ext cx="11375136" cy="804672"/>
          </a:xfrm>
          <a:prstGeom prst="rect">
            <a:avLst/>
          </a:prstGeom>
          <a:solidFill>
            <a:srgbClr val="F8F1E2"/>
          </a:solidFill>
          <a:ln w="10160">
            <a:solidFill>
              <a:srgbClr val="DD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393192" y="5056632"/>
            <a:ext cx="73152" cy="804672"/>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58368" y="5239512"/>
            <a:ext cx="1481328" cy="402336"/>
          </a:xfrm>
          <a:prstGeom prst="rect">
            <a:avLst/>
          </a:prstGeom>
          <a:noFill/>
        </p:spPr>
        <p:txBody>
          <a:bodyPr wrap="square" lIns="18288" rIns="18288" tIns="18288" bIns="18288" anchor="ctr">
            <a:spAutoFit/>
          </a:bodyPr>
          <a:lstStyle/>
          <a:p>
            <a:pPr algn="l">
              <a:spcAft>
                <a:spcPts val="0"/>
              </a:spcAft>
            </a:pPr>
            <a:r>
              <a:rPr sz="1500" b="1" i="0">
                <a:solidFill>
                  <a:srgbClr val="D37B00"/>
                </a:solidFill>
                <a:latin typeface="Arial"/>
              </a:rPr>
              <a:t>Skin</a:t>
            </a:r>
          </a:p>
        </p:txBody>
      </p:sp>
      <p:sp>
        <p:nvSpPr>
          <p:cNvPr id="41" name="Rectangle 40"/>
          <p:cNvSpPr/>
          <p:nvPr/>
        </p:nvSpPr>
        <p:spPr>
          <a:xfrm>
            <a:off x="2212848" y="5458968"/>
            <a:ext cx="4041648" cy="10972"/>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2267712" y="5129784"/>
            <a:ext cx="1024128" cy="228600"/>
          </a:xfrm>
          <a:prstGeom prst="rect">
            <a:avLst/>
          </a:prstGeom>
          <a:noFill/>
        </p:spPr>
        <p:txBody>
          <a:bodyPr wrap="square" lIns="18288" rIns="18288" tIns="18288" bIns="18288" anchor="ctr">
            <a:spAutoFit/>
          </a:bodyPr>
          <a:lstStyle/>
          <a:p>
            <a:pPr algn="l">
              <a:spcAft>
                <a:spcPts val="0"/>
              </a:spcAft>
            </a:pPr>
            <a:r>
              <a:rPr sz="1050" b="1" i="0">
                <a:solidFill>
                  <a:srgbClr val="D96552"/>
                </a:solidFill>
                <a:latin typeface="Arial"/>
              </a:rPr>
              <a:t>Promoted</a:t>
            </a:r>
          </a:p>
        </p:txBody>
      </p:sp>
      <p:sp>
        <p:nvSpPr>
          <p:cNvPr id="43" name="TextBox 42"/>
          <p:cNvSpPr txBox="1"/>
          <p:nvPr/>
        </p:nvSpPr>
        <p:spPr>
          <a:xfrm>
            <a:off x="3456432" y="5102352"/>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Plscr1 higher</a:t>
            </a:r>
          </a:p>
        </p:txBody>
      </p:sp>
      <p:sp>
        <p:nvSpPr>
          <p:cNvPr id="44" name="TextBox 43"/>
          <p:cNvSpPr txBox="1"/>
          <p:nvPr/>
        </p:nvSpPr>
        <p:spPr>
          <a:xfrm>
            <a:off x="2267712" y="5532120"/>
            <a:ext cx="1024128" cy="228600"/>
          </a:xfrm>
          <a:prstGeom prst="rect">
            <a:avLst/>
          </a:prstGeom>
          <a:noFill/>
        </p:spPr>
        <p:txBody>
          <a:bodyPr wrap="square" lIns="18288" rIns="18288" tIns="18288" bIns="18288" anchor="ctr">
            <a:spAutoFit/>
          </a:bodyPr>
          <a:lstStyle/>
          <a:p>
            <a:pPr algn="l">
              <a:spcAft>
                <a:spcPts val="0"/>
              </a:spcAft>
            </a:pPr>
            <a:r>
              <a:rPr sz="1050" b="1" i="0">
                <a:solidFill>
                  <a:srgbClr val="178681"/>
                </a:solidFill>
                <a:latin typeface="Arial"/>
              </a:rPr>
              <a:t>Reinforced</a:t>
            </a:r>
          </a:p>
        </p:txBody>
      </p:sp>
      <p:sp>
        <p:nvSpPr>
          <p:cNvPr id="45" name="TextBox 44"/>
          <p:cNvSpPr txBox="1"/>
          <p:nvPr/>
        </p:nvSpPr>
        <p:spPr>
          <a:xfrm>
            <a:off x="3456432" y="5495544"/>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None</a:t>
            </a:r>
          </a:p>
        </p:txBody>
      </p:sp>
      <p:sp>
        <p:nvSpPr>
          <p:cNvPr id="46" name="TextBox 45"/>
          <p:cNvSpPr txBox="1"/>
          <p:nvPr/>
        </p:nvSpPr>
        <p:spPr>
          <a:xfrm>
            <a:off x="6583680" y="5148072"/>
            <a:ext cx="4754880" cy="603504"/>
          </a:xfrm>
          <a:prstGeom prst="rect">
            <a:avLst/>
          </a:prstGeom>
          <a:noFill/>
        </p:spPr>
        <p:txBody>
          <a:bodyPr wrap="square" lIns="18288" rIns="18288" tIns="18288" bIns="18288" anchor="ctr">
            <a:spAutoFit/>
          </a:bodyPr>
          <a:lstStyle/>
          <a:p>
            <a:pPr algn="l">
              <a:spcAft>
                <a:spcPts val="0"/>
              </a:spcAft>
            </a:pPr>
            <a:r>
              <a:rPr sz="1220" b="0" i="0">
                <a:solidFill>
                  <a:srgbClr val="263746"/>
                </a:solidFill>
                <a:latin typeface="Arial"/>
              </a:rPr>
              <a:t>Interferon-linked skin candidate within broader cell-cycle and DNA-repair responses; a single-gene result.</a:t>
            </a:r>
          </a:p>
        </p:txBody>
      </p:sp>
      <p:sp>
        <p:nvSpPr>
          <p:cNvPr id="47" name="TextBox 46"/>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All listed effects passed BH FDR in observed OSDR profiles; 'None' means no gene in that selection category.</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ADDITIONAL FINDINGS II</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Eye, adrenal and muscle-group results remain tissue-specific</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Promoted and reinforced selections are separated within every tissue.</a:t>
            </a:r>
          </a:p>
        </p:txBody>
      </p:sp>
      <p:sp>
        <p:nvSpPr>
          <p:cNvPr id="7" name="TextBox 6"/>
          <p:cNvSpPr txBox="1"/>
          <p:nvPr/>
        </p:nvSpPr>
        <p:spPr>
          <a:xfrm>
            <a:off x="658368" y="1828800"/>
            <a:ext cx="1554480" cy="256032"/>
          </a:xfrm>
          <a:prstGeom prst="rect">
            <a:avLst/>
          </a:prstGeom>
          <a:noFill/>
        </p:spPr>
        <p:txBody>
          <a:bodyPr wrap="square" lIns="18288" rIns="18288" tIns="18288" bIns="18288" anchor="t">
            <a:spAutoFit/>
          </a:bodyPr>
          <a:lstStyle/>
          <a:p>
            <a:pPr algn="l">
              <a:spcAft>
                <a:spcPts val="0"/>
              </a:spcAft>
            </a:pPr>
            <a:r>
              <a:rPr sz="1150" b="1" i="0">
                <a:solidFill>
                  <a:srgbClr val="59697A"/>
                </a:solidFill>
                <a:latin typeface="Arial"/>
              </a:rPr>
              <a:t>Analysis unit</a:t>
            </a:r>
          </a:p>
        </p:txBody>
      </p:sp>
      <p:sp>
        <p:nvSpPr>
          <p:cNvPr id="8" name="TextBox 7"/>
          <p:cNvSpPr txBox="1"/>
          <p:nvPr/>
        </p:nvSpPr>
        <p:spPr>
          <a:xfrm>
            <a:off x="2267712" y="1828800"/>
            <a:ext cx="1051560" cy="256032"/>
          </a:xfrm>
          <a:prstGeom prst="rect">
            <a:avLst/>
          </a:prstGeom>
          <a:noFill/>
        </p:spPr>
        <p:txBody>
          <a:bodyPr wrap="square" lIns="18288" rIns="18288" tIns="18288" bIns="18288" anchor="t">
            <a:spAutoFit/>
          </a:bodyPr>
          <a:lstStyle/>
          <a:p>
            <a:pPr algn="l">
              <a:spcAft>
                <a:spcPts val="0"/>
              </a:spcAft>
            </a:pPr>
            <a:r>
              <a:rPr sz="1150" b="1" i="0">
                <a:solidFill>
                  <a:srgbClr val="59697A"/>
                </a:solidFill>
                <a:latin typeface="Arial"/>
              </a:rPr>
              <a:t>Selection</a:t>
            </a:r>
          </a:p>
        </p:txBody>
      </p:sp>
      <p:sp>
        <p:nvSpPr>
          <p:cNvPr id="9" name="TextBox 8"/>
          <p:cNvSpPr txBox="1"/>
          <p:nvPr/>
        </p:nvSpPr>
        <p:spPr>
          <a:xfrm>
            <a:off x="3456432" y="1828800"/>
            <a:ext cx="2880360" cy="256032"/>
          </a:xfrm>
          <a:prstGeom prst="rect">
            <a:avLst/>
          </a:prstGeom>
          <a:noFill/>
        </p:spPr>
        <p:txBody>
          <a:bodyPr wrap="square" lIns="18288" rIns="18288" tIns="18288" bIns="18288" anchor="t">
            <a:spAutoFit/>
          </a:bodyPr>
          <a:lstStyle/>
          <a:p>
            <a:pPr algn="l">
              <a:spcAft>
                <a:spcPts val="0"/>
              </a:spcAft>
            </a:pPr>
            <a:r>
              <a:rPr sz="1150" b="1" i="0">
                <a:solidFill>
                  <a:srgbClr val="59697A"/>
                </a:solidFill>
                <a:latin typeface="Arial"/>
              </a:rPr>
              <a:t>Genes and FLT direction</a:t>
            </a:r>
          </a:p>
        </p:txBody>
      </p:sp>
      <p:sp>
        <p:nvSpPr>
          <p:cNvPr id="10" name="TextBox 9"/>
          <p:cNvSpPr txBox="1"/>
          <p:nvPr/>
        </p:nvSpPr>
        <p:spPr>
          <a:xfrm>
            <a:off x="6583680" y="1828800"/>
            <a:ext cx="4663440" cy="256032"/>
          </a:xfrm>
          <a:prstGeom prst="rect">
            <a:avLst/>
          </a:prstGeom>
          <a:noFill/>
        </p:spPr>
        <p:txBody>
          <a:bodyPr wrap="square" lIns="18288" rIns="18288" tIns="18288" bIns="18288" anchor="t">
            <a:spAutoFit/>
          </a:bodyPr>
          <a:lstStyle/>
          <a:p>
            <a:pPr algn="l">
              <a:spcAft>
                <a:spcPts val="0"/>
              </a:spcAft>
            </a:pPr>
            <a:r>
              <a:rPr sz="1150" b="1" i="0">
                <a:solidFill>
                  <a:srgbClr val="59697A"/>
                </a:solidFill>
                <a:latin typeface="Arial"/>
              </a:rPr>
              <a:t>Interpretation</a:t>
            </a:r>
          </a:p>
        </p:txBody>
      </p:sp>
      <p:sp>
        <p:nvSpPr>
          <p:cNvPr id="11" name="Rectangle 10"/>
          <p:cNvSpPr/>
          <p:nvPr/>
        </p:nvSpPr>
        <p:spPr>
          <a:xfrm>
            <a:off x="393192" y="2148840"/>
            <a:ext cx="11375136" cy="804672"/>
          </a:xfrm>
          <a:prstGeom prst="rect">
            <a:avLst/>
          </a:prstGeom>
          <a:solidFill>
            <a:srgbClr val="ECF4ED"/>
          </a:solidFill>
          <a:ln w="10160">
            <a:solidFill>
              <a:srgbClr val="DD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93192" y="2148840"/>
            <a:ext cx="73152" cy="804672"/>
          </a:xfrm>
          <a:prstGeom prst="rect">
            <a:avLst/>
          </a:prstGeom>
          <a:solidFill>
            <a:srgbClr val="478A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8368" y="2331720"/>
            <a:ext cx="1481328" cy="402336"/>
          </a:xfrm>
          <a:prstGeom prst="rect">
            <a:avLst/>
          </a:prstGeom>
          <a:noFill/>
        </p:spPr>
        <p:txBody>
          <a:bodyPr wrap="square" lIns="18288" rIns="18288" tIns="18288" bIns="18288" anchor="ctr">
            <a:spAutoFit/>
          </a:bodyPr>
          <a:lstStyle/>
          <a:p>
            <a:pPr algn="l">
              <a:spcAft>
                <a:spcPts val="0"/>
              </a:spcAft>
            </a:pPr>
            <a:r>
              <a:rPr sz="1500" b="1" i="0">
                <a:solidFill>
                  <a:srgbClr val="478A64"/>
                </a:solidFill>
                <a:latin typeface="Arial"/>
              </a:rPr>
              <a:t>Eye</a:t>
            </a:r>
          </a:p>
        </p:txBody>
      </p:sp>
      <p:sp>
        <p:nvSpPr>
          <p:cNvPr id="14" name="Rectangle 13"/>
          <p:cNvSpPr/>
          <p:nvPr/>
        </p:nvSpPr>
        <p:spPr>
          <a:xfrm>
            <a:off x="2212848" y="2551176"/>
            <a:ext cx="4041648" cy="10972"/>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267712" y="2221992"/>
            <a:ext cx="1024128" cy="228600"/>
          </a:xfrm>
          <a:prstGeom prst="rect">
            <a:avLst/>
          </a:prstGeom>
          <a:noFill/>
        </p:spPr>
        <p:txBody>
          <a:bodyPr wrap="square" lIns="18288" rIns="18288" tIns="18288" bIns="18288" anchor="ctr">
            <a:spAutoFit/>
          </a:bodyPr>
          <a:lstStyle/>
          <a:p>
            <a:pPr algn="l">
              <a:spcAft>
                <a:spcPts val="0"/>
              </a:spcAft>
            </a:pPr>
            <a:r>
              <a:rPr sz="1050" b="1" i="0">
                <a:solidFill>
                  <a:srgbClr val="D96552"/>
                </a:solidFill>
                <a:latin typeface="Arial"/>
              </a:rPr>
              <a:t>Promoted</a:t>
            </a:r>
          </a:p>
        </p:txBody>
      </p:sp>
      <p:sp>
        <p:nvSpPr>
          <p:cNvPr id="16" name="TextBox 15"/>
          <p:cNvSpPr txBox="1"/>
          <p:nvPr/>
        </p:nvSpPr>
        <p:spPr>
          <a:xfrm>
            <a:off x="3456432" y="2194560"/>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None</a:t>
            </a:r>
          </a:p>
        </p:txBody>
      </p:sp>
      <p:sp>
        <p:nvSpPr>
          <p:cNvPr id="17" name="TextBox 16"/>
          <p:cNvSpPr txBox="1"/>
          <p:nvPr/>
        </p:nvSpPr>
        <p:spPr>
          <a:xfrm>
            <a:off x="2267712" y="2624328"/>
            <a:ext cx="1024128" cy="228600"/>
          </a:xfrm>
          <a:prstGeom prst="rect">
            <a:avLst/>
          </a:prstGeom>
          <a:noFill/>
        </p:spPr>
        <p:txBody>
          <a:bodyPr wrap="square" lIns="18288" rIns="18288" tIns="18288" bIns="18288" anchor="ctr">
            <a:spAutoFit/>
          </a:bodyPr>
          <a:lstStyle/>
          <a:p>
            <a:pPr algn="l">
              <a:spcAft>
                <a:spcPts val="0"/>
              </a:spcAft>
            </a:pPr>
            <a:r>
              <a:rPr sz="1050" b="1" i="0">
                <a:solidFill>
                  <a:srgbClr val="178681"/>
                </a:solidFill>
                <a:latin typeface="Arial"/>
              </a:rPr>
              <a:t>Reinforced</a:t>
            </a:r>
          </a:p>
        </p:txBody>
      </p:sp>
      <p:sp>
        <p:nvSpPr>
          <p:cNvPr id="18" name="TextBox 17"/>
          <p:cNvSpPr txBox="1"/>
          <p:nvPr/>
        </p:nvSpPr>
        <p:spPr>
          <a:xfrm>
            <a:off x="3456432" y="2587752"/>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Klhl21 lower</a:t>
            </a:r>
          </a:p>
        </p:txBody>
      </p:sp>
      <p:sp>
        <p:nvSpPr>
          <p:cNvPr id="19" name="TextBox 18"/>
          <p:cNvSpPr txBox="1"/>
          <p:nvPr/>
        </p:nvSpPr>
        <p:spPr>
          <a:xfrm>
            <a:off x="6583680" y="2240280"/>
            <a:ext cx="4754880" cy="603504"/>
          </a:xfrm>
          <a:prstGeom prst="rect">
            <a:avLst/>
          </a:prstGeom>
          <a:noFill/>
        </p:spPr>
        <p:txBody>
          <a:bodyPr wrap="square" lIns="18288" rIns="18288" tIns="18288" bIns="18288" anchor="ctr">
            <a:spAutoFit/>
          </a:bodyPr>
          <a:lstStyle/>
          <a:p>
            <a:pPr algn="l">
              <a:spcAft>
                <a:spcPts val="0"/>
              </a:spcAft>
            </a:pPr>
            <a:r>
              <a:rPr sz="1220" b="0" i="0">
                <a:solidFill>
                  <a:srgbClr val="263746"/>
                </a:solidFill>
                <a:latin typeface="Arial"/>
              </a:rPr>
              <a:t>Process-level alignment with lower proliferation and cytokinesis in flight eye tissue; not an exact prior gene replication.</a:t>
            </a:r>
          </a:p>
        </p:txBody>
      </p:sp>
      <p:sp>
        <p:nvSpPr>
          <p:cNvPr id="20" name="Rectangle 19"/>
          <p:cNvSpPr/>
          <p:nvPr/>
        </p:nvSpPr>
        <p:spPr>
          <a:xfrm>
            <a:off x="393192" y="3118104"/>
            <a:ext cx="11375136" cy="804672"/>
          </a:xfrm>
          <a:prstGeom prst="rect">
            <a:avLst/>
          </a:prstGeom>
          <a:solidFill>
            <a:srgbClr val="F2F4F5"/>
          </a:solidFill>
          <a:ln w="10160">
            <a:solidFill>
              <a:srgbClr val="DD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393192" y="3118104"/>
            <a:ext cx="73152" cy="804672"/>
          </a:xfrm>
          <a:prstGeom prst="rect">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58368" y="3300984"/>
            <a:ext cx="1481328" cy="402336"/>
          </a:xfrm>
          <a:prstGeom prst="rect">
            <a:avLst/>
          </a:prstGeom>
          <a:noFill/>
        </p:spPr>
        <p:txBody>
          <a:bodyPr wrap="square" lIns="18288" rIns="18288" tIns="18288" bIns="18288" anchor="ctr">
            <a:spAutoFit/>
          </a:bodyPr>
          <a:lstStyle/>
          <a:p>
            <a:pPr algn="l">
              <a:spcAft>
                <a:spcPts val="0"/>
              </a:spcAft>
            </a:pPr>
            <a:r>
              <a:rPr sz="1500" b="1" i="0">
                <a:solidFill>
                  <a:srgbClr val="8A969E"/>
                </a:solidFill>
                <a:latin typeface="Arial"/>
              </a:rPr>
              <a:t>Adrenal gland</a:t>
            </a:r>
          </a:p>
        </p:txBody>
      </p:sp>
      <p:sp>
        <p:nvSpPr>
          <p:cNvPr id="23" name="Rectangle 22"/>
          <p:cNvSpPr/>
          <p:nvPr/>
        </p:nvSpPr>
        <p:spPr>
          <a:xfrm>
            <a:off x="2212848" y="3520440"/>
            <a:ext cx="4041648" cy="10972"/>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267712" y="3191256"/>
            <a:ext cx="1024128" cy="228600"/>
          </a:xfrm>
          <a:prstGeom prst="rect">
            <a:avLst/>
          </a:prstGeom>
          <a:noFill/>
        </p:spPr>
        <p:txBody>
          <a:bodyPr wrap="square" lIns="18288" rIns="18288" tIns="18288" bIns="18288" anchor="ctr">
            <a:spAutoFit/>
          </a:bodyPr>
          <a:lstStyle/>
          <a:p>
            <a:pPr algn="l">
              <a:spcAft>
                <a:spcPts val="0"/>
              </a:spcAft>
            </a:pPr>
            <a:r>
              <a:rPr sz="1050" b="1" i="0">
                <a:solidFill>
                  <a:srgbClr val="D96552"/>
                </a:solidFill>
                <a:latin typeface="Arial"/>
              </a:rPr>
              <a:t>Promoted</a:t>
            </a:r>
          </a:p>
        </p:txBody>
      </p:sp>
      <p:sp>
        <p:nvSpPr>
          <p:cNvPr id="25" name="TextBox 24"/>
          <p:cNvSpPr txBox="1"/>
          <p:nvPr/>
        </p:nvSpPr>
        <p:spPr>
          <a:xfrm>
            <a:off x="3456432" y="3163824"/>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Psmb8 lower</a:t>
            </a:r>
          </a:p>
        </p:txBody>
      </p:sp>
      <p:sp>
        <p:nvSpPr>
          <p:cNvPr id="26" name="TextBox 25"/>
          <p:cNvSpPr txBox="1"/>
          <p:nvPr/>
        </p:nvSpPr>
        <p:spPr>
          <a:xfrm>
            <a:off x="2267712" y="3593592"/>
            <a:ext cx="1024128" cy="228600"/>
          </a:xfrm>
          <a:prstGeom prst="rect">
            <a:avLst/>
          </a:prstGeom>
          <a:noFill/>
        </p:spPr>
        <p:txBody>
          <a:bodyPr wrap="square" lIns="18288" rIns="18288" tIns="18288" bIns="18288" anchor="ctr">
            <a:spAutoFit/>
          </a:bodyPr>
          <a:lstStyle/>
          <a:p>
            <a:pPr algn="l">
              <a:spcAft>
                <a:spcPts val="0"/>
              </a:spcAft>
            </a:pPr>
            <a:r>
              <a:rPr sz="1050" b="1" i="0">
                <a:solidFill>
                  <a:srgbClr val="178681"/>
                </a:solidFill>
                <a:latin typeface="Arial"/>
              </a:rPr>
              <a:t>Reinforced</a:t>
            </a:r>
          </a:p>
        </p:txBody>
      </p:sp>
      <p:sp>
        <p:nvSpPr>
          <p:cNvPr id="27" name="TextBox 26"/>
          <p:cNvSpPr txBox="1"/>
          <p:nvPr/>
        </p:nvSpPr>
        <p:spPr>
          <a:xfrm>
            <a:off x="3456432" y="3557016"/>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Tspan4 lower</a:t>
            </a:r>
          </a:p>
        </p:txBody>
      </p:sp>
      <p:sp>
        <p:nvSpPr>
          <p:cNvPr id="28" name="TextBox 27"/>
          <p:cNvSpPr txBox="1"/>
          <p:nvPr/>
        </p:nvSpPr>
        <p:spPr>
          <a:xfrm>
            <a:off x="6583680" y="3209544"/>
            <a:ext cx="4754880" cy="603504"/>
          </a:xfrm>
          <a:prstGeom prst="rect">
            <a:avLst/>
          </a:prstGeom>
          <a:noFill/>
        </p:spPr>
        <p:txBody>
          <a:bodyPr wrap="square" lIns="18288" rIns="18288" tIns="18288" bIns="18288" anchor="ctr">
            <a:spAutoFit/>
          </a:bodyPr>
          <a:lstStyle/>
          <a:p>
            <a:pPr algn="l">
              <a:spcAft>
                <a:spcPts val="0"/>
              </a:spcAft>
            </a:pPr>
            <a:r>
              <a:rPr sz="1220" b="0" i="0">
                <a:solidFill>
                  <a:srgbClr val="263746"/>
                </a:solidFill>
                <a:latin typeface="Arial"/>
              </a:rPr>
              <a:t>Literature-unmatched immune, proteostasis or tissue-composition candidates; no adrenal mechanism is established.</a:t>
            </a:r>
          </a:p>
        </p:txBody>
      </p:sp>
      <p:sp>
        <p:nvSpPr>
          <p:cNvPr id="29" name="Rectangle 28"/>
          <p:cNvSpPr/>
          <p:nvPr/>
        </p:nvSpPr>
        <p:spPr>
          <a:xfrm>
            <a:off x="393192" y="4087368"/>
            <a:ext cx="11375136" cy="804672"/>
          </a:xfrm>
          <a:prstGeom prst="rect">
            <a:avLst/>
          </a:prstGeom>
          <a:solidFill>
            <a:srgbClr val="E9F1F7"/>
          </a:solidFill>
          <a:ln w="10160">
            <a:solidFill>
              <a:srgbClr val="DD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393192" y="4087368"/>
            <a:ext cx="73152" cy="804672"/>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58368" y="4270248"/>
            <a:ext cx="1481328" cy="402336"/>
          </a:xfrm>
          <a:prstGeom prst="rect">
            <a:avLst/>
          </a:prstGeom>
          <a:noFill/>
        </p:spPr>
        <p:txBody>
          <a:bodyPr wrap="square" lIns="18288" rIns="18288" tIns="18288" bIns="18288" anchor="ctr">
            <a:spAutoFit/>
          </a:bodyPr>
          <a:lstStyle/>
          <a:p>
            <a:pPr algn="l">
              <a:spcAft>
                <a:spcPts val="0"/>
              </a:spcAft>
            </a:pPr>
            <a:r>
              <a:rPr sz="1500" b="1" i="0">
                <a:solidFill>
                  <a:srgbClr val="2D6496"/>
                </a:solidFill>
                <a:latin typeface="Arial"/>
              </a:rPr>
              <a:t>Gastrocnemius</a:t>
            </a:r>
          </a:p>
        </p:txBody>
      </p:sp>
      <p:sp>
        <p:nvSpPr>
          <p:cNvPr id="32" name="Rectangle 31"/>
          <p:cNvSpPr/>
          <p:nvPr/>
        </p:nvSpPr>
        <p:spPr>
          <a:xfrm>
            <a:off x="2212848" y="4489704"/>
            <a:ext cx="4041648" cy="10972"/>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2267712" y="4160520"/>
            <a:ext cx="1024128" cy="228600"/>
          </a:xfrm>
          <a:prstGeom prst="rect">
            <a:avLst/>
          </a:prstGeom>
          <a:noFill/>
        </p:spPr>
        <p:txBody>
          <a:bodyPr wrap="square" lIns="18288" rIns="18288" tIns="18288" bIns="18288" anchor="ctr">
            <a:spAutoFit/>
          </a:bodyPr>
          <a:lstStyle/>
          <a:p>
            <a:pPr algn="l">
              <a:spcAft>
                <a:spcPts val="0"/>
              </a:spcAft>
            </a:pPr>
            <a:r>
              <a:rPr sz="1050" b="1" i="0">
                <a:solidFill>
                  <a:srgbClr val="D96552"/>
                </a:solidFill>
                <a:latin typeface="Arial"/>
              </a:rPr>
              <a:t>Promoted</a:t>
            </a:r>
          </a:p>
        </p:txBody>
      </p:sp>
      <p:sp>
        <p:nvSpPr>
          <p:cNvPr id="34" name="TextBox 33"/>
          <p:cNvSpPr txBox="1"/>
          <p:nvPr/>
        </p:nvSpPr>
        <p:spPr>
          <a:xfrm>
            <a:off x="3456432" y="4133088"/>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Nfkbia higher; Fhl2 lower</a:t>
            </a:r>
          </a:p>
        </p:txBody>
      </p:sp>
      <p:sp>
        <p:nvSpPr>
          <p:cNvPr id="35" name="TextBox 34"/>
          <p:cNvSpPr txBox="1"/>
          <p:nvPr/>
        </p:nvSpPr>
        <p:spPr>
          <a:xfrm>
            <a:off x="2267712" y="4562856"/>
            <a:ext cx="1024128" cy="228600"/>
          </a:xfrm>
          <a:prstGeom prst="rect">
            <a:avLst/>
          </a:prstGeom>
          <a:noFill/>
        </p:spPr>
        <p:txBody>
          <a:bodyPr wrap="square" lIns="18288" rIns="18288" tIns="18288" bIns="18288" anchor="ctr">
            <a:spAutoFit/>
          </a:bodyPr>
          <a:lstStyle/>
          <a:p>
            <a:pPr algn="l">
              <a:spcAft>
                <a:spcPts val="0"/>
              </a:spcAft>
            </a:pPr>
            <a:r>
              <a:rPr sz="1050" b="1" i="0">
                <a:solidFill>
                  <a:srgbClr val="178681"/>
                </a:solidFill>
                <a:latin typeface="Arial"/>
              </a:rPr>
              <a:t>Reinforced</a:t>
            </a:r>
          </a:p>
        </p:txBody>
      </p:sp>
      <p:sp>
        <p:nvSpPr>
          <p:cNvPr id="36" name="TextBox 35"/>
          <p:cNvSpPr txBox="1"/>
          <p:nvPr/>
        </p:nvSpPr>
        <p:spPr>
          <a:xfrm>
            <a:off x="3456432" y="4526280"/>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None</a:t>
            </a:r>
          </a:p>
        </p:txBody>
      </p:sp>
      <p:sp>
        <p:nvSpPr>
          <p:cNvPr id="37" name="TextBox 36"/>
          <p:cNvSpPr txBox="1"/>
          <p:nvPr/>
        </p:nvSpPr>
        <p:spPr>
          <a:xfrm>
            <a:off x="6583680" y="4178808"/>
            <a:ext cx="4754880" cy="603504"/>
          </a:xfrm>
          <a:prstGeom prst="rect">
            <a:avLst/>
          </a:prstGeom>
          <a:noFill/>
        </p:spPr>
        <p:txBody>
          <a:bodyPr wrap="square" lIns="18288" rIns="18288" tIns="18288" bIns="18288" anchor="ctr">
            <a:spAutoFit/>
          </a:bodyPr>
          <a:lstStyle/>
          <a:p>
            <a:pPr algn="l">
              <a:spcAft>
                <a:spcPts val="0"/>
              </a:spcAft>
            </a:pPr>
            <a:r>
              <a:rPr sz="1220" b="0" i="0">
                <a:solidFill>
                  <a:srgbClr val="263746"/>
                </a:solidFill>
                <a:latin typeface="Arial"/>
              </a:rPr>
              <a:t>NF-kappaB stress alignment plus an autophagy or myogenesis candidate; the two genes do not form a coherent pathway.</a:t>
            </a:r>
          </a:p>
        </p:txBody>
      </p:sp>
      <p:sp>
        <p:nvSpPr>
          <p:cNvPr id="38" name="Rectangle 37"/>
          <p:cNvSpPr/>
          <p:nvPr/>
        </p:nvSpPr>
        <p:spPr>
          <a:xfrm>
            <a:off x="393192" y="5056632"/>
            <a:ext cx="11375136" cy="804672"/>
          </a:xfrm>
          <a:prstGeom prst="rect">
            <a:avLst/>
          </a:prstGeom>
          <a:solidFill>
            <a:srgbClr val="E8F3F1"/>
          </a:solidFill>
          <a:ln w="10160">
            <a:solidFill>
              <a:srgbClr val="DD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393192" y="5056632"/>
            <a:ext cx="73152" cy="804672"/>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58368" y="5239512"/>
            <a:ext cx="1481328" cy="402336"/>
          </a:xfrm>
          <a:prstGeom prst="rect">
            <a:avLst/>
          </a:prstGeom>
          <a:noFill/>
        </p:spPr>
        <p:txBody>
          <a:bodyPr wrap="square" lIns="18288" rIns="18288" tIns="18288" bIns="18288" anchor="ctr">
            <a:spAutoFit/>
          </a:bodyPr>
          <a:lstStyle/>
          <a:p>
            <a:pPr algn="l">
              <a:spcAft>
                <a:spcPts val="0"/>
              </a:spcAft>
            </a:pPr>
            <a:r>
              <a:rPr sz="1500" b="1" i="0">
                <a:solidFill>
                  <a:srgbClr val="178681"/>
                </a:solidFill>
                <a:latin typeface="Arial"/>
              </a:rPr>
              <a:t>Tibialis anterior</a:t>
            </a:r>
          </a:p>
        </p:txBody>
      </p:sp>
      <p:sp>
        <p:nvSpPr>
          <p:cNvPr id="41" name="Rectangle 40"/>
          <p:cNvSpPr/>
          <p:nvPr/>
        </p:nvSpPr>
        <p:spPr>
          <a:xfrm>
            <a:off x="2212848" y="5458968"/>
            <a:ext cx="4041648" cy="10972"/>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2267712" y="5129784"/>
            <a:ext cx="1024128" cy="228600"/>
          </a:xfrm>
          <a:prstGeom prst="rect">
            <a:avLst/>
          </a:prstGeom>
          <a:noFill/>
        </p:spPr>
        <p:txBody>
          <a:bodyPr wrap="square" lIns="18288" rIns="18288" tIns="18288" bIns="18288" anchor="ctr">
            <a:spAutoFit/>
          </a:bodyPr>
          <a:lstStyle/>
          <a:p>
            <a:pPr algn="l">
              <a:spcAft>
                <a:spcPts val="0"/>
              </a:spcAft>
            </a:pPr>
            <a:r>
              <a:rPr sz="1050" b="1" i="0">
                <a:solidFill>
                  <a:srgbClr val="D96552"/>
                </a:solidFill>
                <a:latin typeface="Arial"/>
              </a:rPr>
              <a:t>Promoted</a:t>
            </a:r>
          </a:p>
        </p:txBody>
      </p:sp>
      <p:sp>
        <p:nvSpPr>
          <p:cNvPr id="43" name="TextBox 42"/>
          <p:cNvSpPr txBox="1"/>
          <p:nvPr/>
        </p:nvSpPr>
        <p:spPr>
          <a:xfrm>
            <a:off x="3456432" y="5102352"/>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Cebpd higher</a:t>
            </a:r>
          </a:p>
        </p:txBody>
      </p:sp>
      <p:sp>
        <p:nvSpPr>
          <p:cNvPr id="44" name="TextBox 43"/>
          <p:cNvSpPr txBox="1"/>
          <p:nvPr/>
        </p:nvSpPr>
        <p:spPr>
          <a:xfrm>
            <a:off x="2267712" y="5532120"/>
            <a:ext cx="1024128" cy="228600"/>
          </a:xfrm>
          <a:prstGeom prst="rect">
            <a:avLst/>
          </a:prstGeom>
          <a:noFill/>
        </p:spPr>
        <p:txBody>
          <a:bodyPr wrap="square" lIns="18288" rIns="18288" tIns="18288" bIns="18288" anchor="ctr">
            <a:spAutoFit/>
          </a:bodyPr>
          <a:lstStyle/>
          <a:p>
            <a:pPr algn="l">
              <a:spcAft>
                <a:spcPts val="0"/>
              </a:spcAft>
            </a:pPr>
            <a:r>
              <a:rPr sz="1050" b="1" i="0">
                <a:solidFill>
                  <a:srgbClr val="178681"/>
                </a:solidFill>
                <a:latin typeface="Arial"/>
              </a:rPr>
              <a:t>Reinforced</a:t>
            </a:r>
          </a:p>
        </p:txBody>
      </p:sp>
      <p:sp>
        <p:nvSpPr>
          <p:cNvPr id="45" name="TextBox 44"/>
          <p:cNvSpPr txBox="1"/>
          <p:nvPr/>
        </p:nvSpPr>
        <p:spPr>
          <a:xfrm>
            <a:off x="3456432" y="5495544"/>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Cdkn1a, St3gal5, Bnip3 higher</a:t>
            </a:r>
          </a:p>
        </p:txBody>
      </p:sp>
      <p:sp>
        <p:nvSpPr>
          <p:cNvPr id="46" name="TextBox 45"/>
          <p:cNvSpPr txBox="1"/>
          <p:nvPr/>
        </p:nvSpPr>
        <p:spPr>
          <a:xfrm>
            <a:off x="6583680" y="5148072"/>
            <a:ext cx="4754880" cy="603504"/>
          </a:xfrm>
          <a:prstGeom prst="rect">
            <a:avLst/>
          </a:prstGeom>
          <a:noFill/>
        </p:spPr>
        <p:txBody>
          <a:bodyPr wrap="square" lIns="18288" rIns="18288" tIns="18288" bIns="18288" anchor="ctr">
            <a:spAutoFit/>
          </a:bodyPr>
          <a:lstStyle/>
          <a:p>
            <a:pPr algn="l">
              <a:spcAft>
                <a:spcPts val="0"/>
              </a:spcAft>
            </a:pPr>
            <a:r>
              <a:rPr sz="1220" b="0" i="0">
                <a:solidFill>
                  <a:srgbClr val="263746"/>
                </a:solidFill>
                <a:latin typeface="Arial"/>
              </a:rPr>
              <a:t>Stress, cell-cycle, ganglioside-signaling and mitophagy candidates with mixed or complementary prior evidence.</a:t>
            </a:r>
          </a:p>
        </p:txBody>
      </p:sp>
      <p:sp>
        <p:nvSpPr>
          <p:cNvPr id="47" name="TextBox 46"/>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Interpretations follow the independent literature annotations in Table S16; 'None' means no gene in that selection category.</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TAKEAWAYS</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Synthetic data helped most as a tissue-specific prior</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The generator created useful structure, not new biological replication.</a:t>
            </a:r>
          </a:p>
        </p:txBody>
      </p:sp>
      <p:sp>
        <p:nvSpPr>
          <p:cNvPr id="7" name="Rounded Rectangle 6"/>
          <p:cNvSpPr/>
          <p:nvPr/>
        </p:nvSpPr>
        <p:spPr>
          <a:xfrm>
            <a:off x="384048" y="1920240"/>
            <a:ext cx="3419856" cy="2487168"/>
          </a:xfrm>
          <a:prstGeom prst="roundRect">
            <a:avLst/>
          </a:prstGeom>
          <a:solidFill>
            <a:srgbClr val="E9F1F7"/>
          </a:solidFill>
          <a:ln w="10160">
            <a:solidFill>
              <a:srgbClr val="2D64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621792" y="2167128"/>
            <a:ext cx="475488" cy="475488"/>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21792" y="2221992"/>
            <a:ext cx="475488" cy="274320"/>
          </a:xfrm>
          <a:prstGeom prst="rect">
            <a:avLst/>
          </a:prstGeom>
          <a:noFill/>
        </p:spPr>
        <p:txBody>
          <a:bodyPr wrap="square" lIns="18288" rIns="18288" tIns="18288" bIns="18288" anchor="t">
            <a:spAutoFit/>
          </a:bodyPr>
          <a:lstStyle/>
          <a:p>
            <a:pPr algn="ctr">
              <a:spcAft>
                <a:spcPts val="0"/>
              </a:spcAft>
            </a:pPr>
            <a:r>
              <a:rPr sz="1600" b="1" i="0">
                <a:solidFill>
                  <a:srgbClr val="FFFFFF"/>
                </a:solidFill>
                <a:latin typeface="Arial"/>
              </a:rPr>
              <a:t>1</a:t>
            </a:r>
          </a:p>
        </p:txBody>
      </p:sp>
      <p:sp>
        <p:nvSpPr>
          <p:cNvPr id="10" name="TextBox 9"/>
          <p:cNvSpPr txBox="1"/>
          <p:nvPr/>
        </p:nvSpPr>
        <p:spPr>
          <a:xfrm>
            <a:off x="1216152" y="2176272"/>
            <a:ext cx="2240280" cy="329184"/>
          </a:xfrm>
          <a:prstGeom prst="rect">
            <a:avLst/>
          </a:prstGeom>
          <a:noFill/>
        </p:spPr>
        <p:txBody>
          <a:bodyPr wrap="square" lIns="18288" rIns="18288" tIns="18288" bIns="18288" anchor="t">
            <a:spAutoFit/>
          </a:bodyPr>
          <a:lstStyle/>
          <a:p>
            <a:pPr algn="l">
              <a:spcAft>
                <a:spcPts val="0"/>
              </a:spcAft>
            </a:pPr>
            <a:r>
              <a:rPr sz="1900" b="1" i="0">
                <a:solidFill>
                  <a:srgbClr val="2D6496"/>
                </a:solidFill>
                <a:latin typeface="Arial"/>
              </a:rPr>
              <a:t>Generate</a:t>
            </a:r>
          </a:p>
        </p:txBody>
      </p:sp>
      <p:sp>
        <p:nvSpPr>
          <p:cNvPr id="11" name="TextBox 10"/>
          <p:cNvSpPr txBox="1"/>
          <p:nvPr/>
        </p:nvSpPr>
        <p:spPr>
          <a:xfrm>
            <a:off x="640080" y="2816352"/>
            <a:ext cx="2880360" cy="1216152"/>
          </a:xfrm>
          <a:prstGeom prst="rect">
            <a:avLst/>
          </a:prstGeom>
          <a:noFill/>
        </p:spPr>
        <p:txBody>
          <a:bodyPr wrap="square" lIns="18288" rIns="18288" tIns="18288" bIns="18288" anchor="t">
            <a:spAutoFit/>
          </a:bodyPr>
          <a:lstStyle/>
          <a:p>
            <a:pPr algn="l">
              <a:spcAft>
                <a:spcPts val="0"/>
              </a:spcAft>
            </a:pPr>
            <a:r>
              <a:rPr sz="1500" b="0" i="0">
                <a:solidFill>
                  <a:srgbClr val="263746"/>
                </a:solidFill>
                <a:latin typeface="Arial"/>
              </a:rPr>
              <a:t>Conditional DDIM produced high-fidelity profiles with near-chance real-versus-synthetic separation.</a:t>
            </a:r>
          </a:p>
        </p:txBody>
      </p:sp>
      <p:sp>
        <p:nvSpPr>
          <p:cNvPr id="12" name="Rounded Rectangle 11"/>
          <p:cNvSpPr/>
          <p:nvPr/>
        </p:nvSpPr>
        <p:spPr>
          <a:xfrm>
            <a:off x="4059936" y="1920240"/>
            <a:ext cx="3419856" cy="2487168"/>
          </a:xfrm>
          <a:prstGeom prst="roundRect">
            <a:avLst/>
          </a:prstGeom>
          <a:solidFill>
            <a:srgbClr val="E8F3F1"/>
          </a:solidFill>
          <a:ln w="101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4297680" y="2167128"/>
            <a:ext cx="475488" cy="475488"/>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297680" y="2221992"/>
            <a:ext cx="475488" cy="274320"/>
          </a:xfrm>
          <a:prstGeom prst="rect">
            <a:avLst/>
          </a:prstGeom>
          <a:noFill/>
        </p:spPr>
        <p:txBody>
          <a:bodyPr wrap="square" lIns="18288" rIns="18288" tIns="18288" bIns="18288" anchor="t">
            <a:spAutoFit/>
          </a:bodyPr>
          <a:lstStyle/>
          <a:p>
            <a:pPr algn="ctr">
              <a:spcAft>
                <a:spcPts val="0"/>
              </a:spcAft>
            </a:pPr>
            <a:r>
              <a:rPr sz="1600" b="1" i="0">
                <a:solidFill>
                  <a:srgbClr val="FFFFFF"/>
                </a:solidFill>
                <a:latin typeface="Arial"/>
              </a:rPr>
              <a:t>2</a:t>
            </a:r>
          </a:p>
        </p:txBody>
      </p:sp>
      <p:sp>
        <p:nvSpPr>
          <p:cNvPr id="15" name="TextBox 14"/>
          <p:cNvSpPr txBox="1"/>
          <p:nvPr/>
        </p:nvSpPr>
        <p:spPr>
          <a:xfrm>
            <a:off x="4892040" y="2176272"/>
            <a:ext cx="2240280" cy="329184"/>
          </a:xfrm>
          <a:prstGeom prst="rect">
            <a:avLst/>
          </a:prstGeom>
          <a:noFill/>
        </p:spPr>
        <p:txBody>
          <a:bodyPr wrap="square" lIns="18288" rIns="18288" tIns="18288" bIns="18288" anchor="t">
            <a:spAutoFit/>
          </a:bodyPr>
          <a:lstStyle/>
          <a:p>
            <a:pPr algn="l">
              <a:spcAft>
                <a:spcPts val="0"/>
              </a:spcAft>
            </a:pPr>
            <a:r>
              <a:rPr sz="1900" b="1" i="0">
                <a:solidFill>
                  <a:srgbClr val="178681"/>
                </a:solidFill>
                <a:latin typeface="Arial"/>
              </a:rPr>
              <a:t>Use</a:t>
            </a:r>
          </a:p>
        </p:txBody>
      </p:sp>
      <p:sp>
        <p:nvSpPr>
          <p:cNvPr id="16" name="TextBox 15"/>
          <p:cNvSpPr txBox="1"/>
          <p:nvPr/>
        </p:nvSpPr>
        <p:spPr>
          <a:xfrm>
            <a:off x="4315968" y="2816352"/>
            <a:ext cx="2880360" cy="1216152"/>
          </a:xfrm>
          <a:prstGeom prst="rect">
            <a:avLst/>
          </a:prstGeom>
          <a:noFill/>
        </p:spPr>
        <p:txBody>
          <a:bodyPr wrap="square" lIns="18288" rIns="18288" tIns="18288" bIns="18288" anchor="t">
            <a:spAutoFit/>
          </a:bodyPr>
          <a:lstStyle/>
          <a:p>
            <a:pPr algn="l">
              <a:spcAft>
                <a:spcPts val="0"/>
              </a:spcAft>
            </a:pPr>
            <a:r>
              <a:rPr sz="1500" b="0" i="0">
                <a:solidFill>
                  <a:srgbClr val="263746"/>
                </a:solidFill>
                <a:latin typeface="Arial"/>
              </a:rPr>
              <a:t>Pooled augmentation failed. Tissue-specific ranking and low-weight training were more useful.</a:t>
            </a:r>
          </a:p>
        </p:txBody>
      </p:sp>
      <p:sp>
        <p:nvSpPr>
          <p:cNvPr id="17" name="Rounded Rectangle 16"/>
          <p:cNvSpPr/>
          <p:nvPr/>
        </p:nvSpPr>
        <p:spPr>
          <a:xfrm>
            <a:off x="7735824" y="1920240"/>
            <a:ext cx="3419856" cy="2487168"/>
          </a:xfrm>
          <a:prstGeom prst="roundRect">
            <a:avLst/>
          </a:prstGeom>
          <a:solidFill>
            <a:srgbClr val="F8F1E2"/>
          </a:solidFill>
          <a:ln w="10160">
            <a:solidFill>
              <a:srgbClr val="D37B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973568" y="2167128"/>
            <a:ext cx="475488" cy="475488"/>
          </a:xfrm>
          <a:prstGeom prst="ellipse">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973568" y="2221992"/>
            <a:ext cx="475488" cy="274320"/>
          </a:xfrm>
          <a:prstGeom prst="rect">
            <a:avLst/>
          </a:prstGeom>
          <a:noFill/>
        </p:spPr>
        <p:txBody>
          <a:bodyPr wrap="square" lIns="18288" rIns="18288" tIns="18288" bIns="18288" anchor="t">
            <a:spAutoFit/>
          </a:bodyPr>
          <a:lstStyle/>
          <a:p>
            <a:pPr algn="ctr">
              <a:spcAft>
                <a:spcPts val="0"/>
              </a:spcAft>
            </a:pPr>
            <a:r>
              <a:rPr sz="1600" b="1" i="0">
                <a:solidFill>
                  <a:srgbClr val="FFFFFF"/>
                </a:solidFill>
                <a:latin typeface="Arial"/>
              </a:rPr>
              <a:t>3</a:t>
            </a:r>
          </a:p>
        </p:txBody>
      </p:sp>
      <p:sp>
        <p:nvSpPr>
          <p:cNvPr id="20" name="TextBox 19"/>
          <p:cNvSpPr txBox="1"/>
          <p:nvPr/>
        </p:nvSpPr>
        <p:spPr>
          <a:xfrm>
            <a:off x="8567928" y="2176272"/>
            <a:ext cx="2240280" cy="329184"/>
          </a:xfrm>
          <a:prstGeom prst="rect">
            <a:avLst/>
          </a:prstGeom>
          <a:noFill/>
        </p:spPr>
        <p:txBody>
          <a:bodyPr wrap="square" lIns="18288" rIns="18288" tIns="18288" bIns="18288" anchor="t">
            <a:spAutoFit/>
          </a:bodyPr>
          <a:lstStyle/>
          <a:p>
            <a:pPr algn="l">
              <a:spcAft>
                <a:spcPts val="0"/>
              </a:spcAft>
            </a:pPr>
            <a:r>
              <a:rPr sz="1900" b="1" i="0">
                <a:solidFill>
                  <a:srgbClr val="D37B00"/>
                </a:solidFill>
                <a:latin typeface="Arial"/>
              </a:rPr>
              <a:t>Interpret</a:t>
            </a:r>
          </a:p>
        </p:txBody>
      </p:sp>
      <p:sp>
        <p:nvSpPr>
          <p:cNvPr id="21" name="TextBox 20"/>
          <p:cNvSpPr txBox="1"/>
          <p:nvPr/>
        </p:nvSpPr>
        <p:spPr>
          <a:xfrm>
            <a:off x="7991856" y="2816352"/>
            <a:ext cx="2880360" cy="1216152"/>
          </a:xfrm>
          <a:prstGeom prst="rect">
            <a:avLst/>
          </a:prstGeom>
          <a:noFill/>
        </p:spPr>
        <p:txBody>
          <a:bodyPr wrap="square" lIns="18288" rIns="18288" tIns="18288" bIns="18288" anchor="t">
            <a:spAutoFit/>
          </a:bodyPr>
          <a:lstStyle/>
          <a:p>
            <a:pPr algn="l">
              <a:spcAft>
                <a:spcPts val="0"/>
              </a:spcAft>
            </a:pPr>
            <a:r>
              <a:rPr sz="1500" b="0" i="0">
                <a:solidFill>
                  <a:srgbClr val="263746"/>
                </a:solidFill>
                <a:latin typeface="Arial"/>
              </a:rPr>
              <a:t>Thymus and soleus were clearest. Literature review separated recovery from complementary hypotheses.</a:t>
            </a:r>
          </a:p>
        </p:txBody>
      </p:sp>
      <p:sp>
        <p:nvSpPr>
          <p:cNvPr id="22" name="Rounded Rectangle 21"/>
          <p:cNvSpPr/>
          <p:nvPr/>
        </p:nvSpPr>
        <p:spPr>
          <a:xfrm>
            <a:off x="384048" y="4709160"/>
            <a:ext cx="10972800" cy="1188720"/>
          </a:xfrm>
          <a:prstGeom prst="roundRect">
            <a:avLst/>
          </a:prstGeom>
          <a:solidFill>
            <a:srgbClr val="082B55"/>
          </a:solidFill>
          <a:ln w="10160">
            <a:solidFill>
              <a:srgbClr val="082B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85800" y="5010912"/>
            <a:ext cx="1261872" cy="310896"/>
          </a:xfrm>
          <a:prstGeom prst="rect">
            <a:avLst/>
          </a:prstGeom>
          <a:noFill/>
        </p:spPr>
        <p:txBody>
          <a:bodyPr wrap="square" lIns="18288" rIns="18288" tIns="18288" bIns="18288" anchor="t">
            <a:spAutoFit/>
          </a:bodyPr>
          <a:lstStyle/>
          <a:p>
            <a:pPr algn="l">
              <a:spcAft>
                <a:spcPts val="0"/>
              </a:spcAft>
            </a:pPr>
            <a:r>
              <a:rPr sz="1700" b="1" i="0">
                <a:solidFill>
                  <a:srgbClr val="FFD69A"/>
                </a:solidFill>
                <a:latin typeface="Arial"/>
              </a:rPr>
              <a:t>Next test</a:t>
            </a:r>
          </a:p>
        </p:txBody>
      </p:sp>
      <p:sp>
        <p:nvSpPr>
          <p:cNvPr id="24" name="TextBox 23"/>
          <p:cNvSpPr txBox="1"/>
          <p:nvPr/>
        </p:nvSpPr>
        <p:spPr>
          <a:xfrm>
            <a:off x="1874519" y="4937760"/>
            <a:ext cx="9070848" cy="530352"/>
          </a:xfrm>
          <a:prstGeom prst="rect">
            <a:avLst/>
          </a:prstGeom>
          <a:noFill/>
        </p:spPr>
        <p:txBody>
          <a:bodyPr wrap="square" lIns="18288" rIns="18288" tIns="18288" bIns="18288" anchor="ctr">
            <a:spAutoFit/>
          </a:bodyPr>
          <a:lstStyle/>
          <a:p>
            <a:pPr algn="l">
              <a:spcAft>
                <a:spcPts val="0"/>
              </a:spcAft>
            </a:pPr>
            <a:r>
              <a:rPr sz="1600" b="0" i="0">
                <a:solidFill>
                  <a:srgbClr val="FFFFFF"/>
                </a:solidFill>
                <a:latin typeface="Arial"/>
              </a:rPr>
              <a:t>Use independent samples and cell-resolved assays to test thymus proliferation, soleus metabolism and prioritized candidates from additional tissues.</a:t>
            </a:r>
          </a:p>
        </p:txBody>
      </p:sp>
      <p:sp>
        <p:nvSpPr>
          <p:cNvPr id="25" name="TextBox 24"/>
          <p:cNvSpPr txBox="1"/>
          <p:nvPr/>
        </p:nvSpPr>
        <p:spPr>
          <a:xfrm>
            <a:off x="1874519" y="5532120"/>
            <a:ext cx="9070848" cy="256032"/>
          </a:xfrm>
          <a:prstGeom prst="rect">
            <a:avLst/>
          </a:prstGeom>
          <a:noFill/>
        </p:spPr>
        <p:txBody>
          <a:bodyPr wrap="square" lIns="18288" rIns="18288" tIns="18288" bIns="18288" anchor="t">
            <a:spAutoFit/>
          </a:bodyPr>
          <a:lstStyle/>
          <a:p>
            <a:pPr algn="l">
              <a:spcAft>
                <a:spcPts val="0"/>
              </a:spcAft>
            </a:pPr>
            <a:r>
              <a:rPr sz="1250" b="0" i="0">
                <a:solidFill>
                  <a:srgbClr val="BFD0E1"/>
                </a:solidFill>
                <a:latin typeface="Arial"/>
              </a:rPr>
              <a:t>Generated profiles never enter the biological sample count or the BH-FDR test.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Rectangle 3"/>
          <p:cNvSpPr/>
          <p:nvPr/>
        </p:nvSpPr>
        <p:spPr>
          <a:xfrm>
            <a:off x="0" y="347472"/>
            <a:ext cx="12191999" cy="6510528"/>
          </a:xfrm>
          <a:prstGeom prst="rect">
            <a:avLst/>
          </a:prstGeom>
          <a:solidFill>
            <a:srgbClr val="082B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94360" y="1115568"/>
            <a:ext cx="4937760" cy="731520"/>
          </a:xfrm>
          <a:prstGeom prst="rect">
            <a:avLst/>
          </a:prstGeom>
          <a:noFill/>
        </p:spPr>
        <p:txBody>
          <a:bodyPr wrap="square" lIns="18288" rIns="18288" tIns="18288" bIns="18288" anchor="t">
            <a:spAutoFit/>
          </a:bodyPr>
          <a:lstStyle/>
          <a:p>
            <a:pPr algn="l">
              <a:spcAft>
                <a:spcPts val="0"/>
              </a:spcAft>
            </a:pPr>
            <a:r>
              <a:rPr sz="3400" b="1" i="0">
                <a:solidFill>
                  <a:srgbClr val="FFFFFF"/>
                </a:solidFill>
                <a:latin typeface="Arial"/>
              </a:rPr>
              <a:t>Thank you</a:t>
            </a:r>
          </a:p>
        </p:txBody>
      </p:sp>
      <p:sp>
        <p:nvSpPr>
          <p:cNvPr id="6" name="TextBox 5"/>
          <p:cNvSpPr txBox="1"/>
          <p:nvPr/>
        </p:nvSpPr>
        <p:spPr>
          <a:xfrm>
            <a:off x="612648" y="1920240"/>
            <a:ext cx="3657600" cy="411480"/>
          </a:xfrm>
          <a:prstGeom prst="rect">
            <a:avLst/>
          </a:prstGeom>
          <a:noFill/>
        </p:spPr>
        <p:txBody>
          <a:bodyPr wrap="square" lIns="18288" rIns="18288" tIns="18288" bIns="18288" anchor="t">
            <a:spAutoFit/>
          </a:bodyPr>
          <a:lstStyle/>
          <a:p>
            <a:pPr algn="l">
              <a:spcAft>
                <a:spcPts val="0"/>
              </a:spcAft>
            </a:pPr>
            <a:r>
              <a:rPr sz="2100" b="0" i="0">
                <a:solidFill>
                  <a:srgbClr val="BFD0E1"/>
                </a:solidFill>
                <a:latin typeface="Arial"/>
              </a:rPr>
              <a:t>Questions?</a:t>
            </a:r>
          </a:p>
        </p:txBody>
      </p:sp>
      <p:sp>
        <p:nvSpPr>
          <p:cNvPr id="7" name="Rectangle 6"/>
          <p:cNvSpPr/>
          <p:nvPr/>
        </p:nvSpPr>
        <p:spPr>
          <a:xfrm>
            <a:off x="621792" y="2596896"/>
            <a:ext cx="2743200" cy="45720"/>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21792" y="2935224"/>
            <a:ext cx="2743200" cy="320040"/>
          </a:xfrm>
          <a:prstGeom prst="rect">
            <a:avLst/>
          </a:prstGeom>
          <a:noFill/>
        </p:spPr>
        <p:txBody>
          <a:bodyPr wrap="square" lIns="18288" rIns="18288" tIns="18288" bIns="18288" anchor="t">
            <a:spAutoFit/>
          </a:bodyPr>
          <a:lstStyle/>
          <a:p>
            <a:pPr algn="l">
              <a:spcAft>
                <a:spcPts val="0"/>
              </a:spcAft>
            </a:pPr>
            <a:r>
              <a:rPr sz="1800" b="1" i="0">
                <a:solidFill>
                  <a:srgbClr val="FFFFFF"/>
                </a:solidFill>
                <a:latin typeface="Arial"/>
              </a:rPr>
              <a:t>Jason Trinh</a:t>
            </a:r>
          </a:p>
        </p:txBody>
      </p:sp>
      <p:sp>
        <p:nvSpPr>
          <p:cNvPr id="9" name="TextBox 8"/>
          <p:cNvSpPr txBox="1"/>
          <p:nvPr/>
        </p:nvSpPr>
        <p:spPr>
          <a:xfrm>
            <a:off x="621792" y="3319272"/>
            <a:ext cx="3200400" cy="274320"/>
          </a:xfrm>
          <a:prstGeom prst="rect">
            <a:avLst/>
          </a:prstGeom>
          <a:noFill/>
        </p:spPr>
        <p:txBody>
          <a:bodyPr wrap="square" lIns="18288" rIns="18288" tIns="18288" bIns="18288" anchor="t">
            <a:spAutoFit/>
          </a:bodyPr>
          <a:lstStyle/>
          <a:p>
            <a:pPr algn="l">
              <a:spcAft>
                <a:spcPts val="0"/>
              </a:spcAft>
            </a:pPr>
            <a:r>
              <a:rPr sz="1400" b="0" i="0">
                <a:solidFill>
                  <a:srgbClr val="BFD0E1"/>
                </a:solidFill>
                <a:latin typeface="Arial"/>
              </a:rPr>
              <a:t>jasontrinh@berkeley.edu</a:t>
            </a:r>
          </a:p>
        </p:txBody>
      </p:sp>
      <p:sp>
        <p:nvSpPr>
          <p:cNvPr id="10" name="TextBox 9"/>
          <p:cNvSpPr txBox="1"/>
          <p:nvPr/>
        </p:nvSpPr>
        <p:spPr>
          <a:xfrm>
            <a:off x="5504688" y="1353312"/>
            <a:ext cx="1188720" cy="246888"/>
          </a:xfrm>
          <a:prstGeom prst="rect">
            <a:avLst/>
          </a:prstGeom>
          <a:noFill/>
        </p:spPr>
        <p:txBody>
          <a:bodyPr wrap="square" lIns="18288" rIns="18288" tIns="18288" bIns="18288" anchor="t">
            <a:spAutoFit/>
          </a:bodyPr>
          <a:lstStyle/>
          <a:p>
            <a:pPr algn="l">
              <a:spcAft>
                <a:spcPts val="0"/>
              </a:spcAft>
            </a:pPr>
            <a:r>
              <a:rPr sz="1100" b="1" i="0">
                <a:solidFill>
                  <a:srgbClr val="7FA0BC"/>
                </a:solidFill>
                <a:latin typeface="Arial"/>
              </a:rPr>
              <a:t>Mentor</a:t>
            </a:r>
          </a:p>
        </p:txBody>
      </p:sp>
      <p:sp>
        <p:nvSpPr>
          <p:cNvPr id="11" name="TextBox 10"/>
          <p:cNvSpPr txBox="1"/>
          <p:nvPr/>
        </p:nvSpPr>
        <p:spPr>
          <a:xfrm>
            <a:off x="6793992" y="1325880"/>
            <a:ext cx="4160520" cy="310896"/>
          </a:xfrm>
          <a:prstGeom prst="rect">
            <a:avLst/>
          </a:prstGeom>
          <a:noFill/>
        </p:spPr>
        <p:txBody>
          <a:bodyPr wrap="square" lIns="18288" rIns="18288" tIns="18288" bIns="18288" anchor="t">
            <a:spAutoFit/>
          </a:bodyPr>
          <a:lstStyle/>
          <a:p>
            <a:pPr algn="l">
              <a:spcAft>
                <a:spcPts val="0"/>
              </a:spcAft>
            </a:pPr>
            <a:r>
              <a:rPr sz="1700" b="1" i="0">
                <a:solidFill>
                  <a:srgbClr val="FFFFFF"/>
                </a:solidFill>
                <a:latin typeface="Arial"/>
              </a:rPr>
              <a:t>James Casaletto</a:t>
            </a:r>
          </a:p>
        </p:txBody>
      </p:sp>
      <p:sp>
        <p:nvSpPr>
          <p:cNvPr id="12" name="TextBox 11"/>
          <p:cNvSpPr txBox="1"/>
          <p:nvPr/>
        </p:nvSpPr>
        <p:spPr>
          <a:xfrm>
            <a:off x="5504688" y="1975104"/>
            <a:ext cx="1188720" cy="246888"/>
          </a:xfrm>
          <a:prstGeom prst="rect">
            <a:avLst/>
          </a:prstGeom>
          <a:noFill/>
        </p:spPr>
        <p:txBody>
          <a:bodyPr wrap="square" lIns="18288" rIns="18288" tIns="18288" bIns="18288" anchor="t">
            <a:spAutoFit/>
          </a:bodyPr>
          <a:lstStyle/>
          <a:p>
            <a:pPr algn="l">
              <a:spcAft>
                <a:spcPts val="0"/>
              </a:spcAft>
            </a:pPr>
            <a:r>
              <a:rPr sz="1100" b="1" i="0">
                <a:solidFill>
                  <a:srgbClr val="7FA0BC"/>
                </a:solidFill>
                <a:latin typeface="Arial"/>
              </a:rPr>
              <a:t>Program</a:t>
            </a:r>
          </a:p>
        </p:txBody>
      </p:sp>
      <p:sp>
        <p:nvSpPr>
          <p:cNvPr id="13" name="TextBox 12"/>
          <p:cNvSpPr txBox="1"/>
          <p:nvPr/>
        </p:nvSpPr>
        <p:spPr>
          <a:xfrm>
            <a:off x="6793992" y="1947672"/>
            <a:ext cx="4407408" cy="475488"/>
          </a:xfrm>
          <a:prstGeom prst="rect">
            <a:avLst/>
          </a:prstGeom>
          <a:noFill/>
        </p:spPr>
        <p:txBody>
          <a:bodyPr wrap="square" lIns="18288" rIns="18288" tIns="18288" bIns="18288" anchor="t">
            <a:spAutoFit/>
          </a:bodyPr>
          <a:lstStyle/>
          <a:p>
            <a:pPr algn="l">
              <a:spcAft>
                <a:spcPts val="0"/>
              </a:spcAft>
            </a:pPr>
            <a:r>
              <a:rPr sz="1500" b="0" i="0">
                <a:solidFill>
                  <a:srgbClr val="FFFFFF"/>
                </a:solidFill>
                <a:latin typeface="Arial"/>
              </a:rPr>
              <a:t>NASA Space Life Sciences Training Program</a:t>
            </a:r>
          </a:p>
        </p:txBody>
      </p:sp>
      <p:sp>
        <p:nvSpPr>
          <p:cNvPr id="14" name="TextBox 13"/>
          <p:cNvSpPr txBox="1"/>
          <p:nvPr/>
        </p:nvSpPr>
        <p:spPr>
          <a:xfrm>
            <a:off x="5504688" y="2779776"/>
            <a:ext cx="1188720" cy="246888"/>
          </a:xfrm>
          <a:prstGeom prst="rect">
            <a:avLst/>
          </a:prstGeom>
          <a:noFill/>
        </p:spPr>
        <p:txBody>
          <a:bodyPr wrap="square" lIns="18288" rIns="18288" tIns="18288" bIns="18288" anchor="t">
            <a:spAutoFit/>
          </a:bodyPr>
          <a:lstStyle/>
          <a:p>
            <a:pPr algn="l">
              <a:spcAft>
                <a:spcPts val="0"/>
              </a:spcAft>
            </a:pPr>
            <a:r>
              <a:rPr sz="1100" b="1" i="0">
                <a:solidFill>
                  <a:srgbClr val="7FA0BC"/>
                </a:solidFill>
                <a:latin typeface="Arial"/>
              </a:rPr>
              <a:t>Data</a:t>
            </a:r>
          </a:p>
        </p:txBody>
      </p:sp>
      <p:sp>
        <p:nvSpPr>
          <p:cNvPr id="15" name="TextBox 14"/>
          <p:cNvSpPr txBox="1"/>
          <p:nvPr/>
        </p:nvSpPr>
        <p:spPr>
          <a:xfrm>
            <a:off x="6793992" y="2752344"/>
            <a:ext cx="4160520" cy="310896"/>
          </a:xfrm>
          <a:prstGeom prst="rect">
            <a:avLst/>
          </a:prstGeom>
          <a:noFill/>
        </p:spPr>
        <p:txBody>
          <a:bodyPr wrap="square" lIns="18288" rIns="18288" tIns="18288" bIns="18288" anchor="t">
            <a:spAutoFit/>
          </a:bodyPr>
          <a:lstStyle/>
          <a:p>
            <a:pPr algn="l">
              <a:spcAft>
                <a:spcPts val="0"/>
              </a:spcAft>
            </a:pPr>
            <a:r>
              <a:rPr sz="1500" b="0" i="0">
                <a:solidFill>
                  <a:srgbClr val="FFFFFF"/>
                </a:solidFill>
                <a:latin typeface="Arial"/>
              </a:rPr>
              <a:t>NASA OSDR | ARCHS4 | Reactome</a:t>
            </a:r>
          </a:p>
        </p:txBody>
      </p:sp>
      <p:sp>
        <p:nvSpPr>
          <p:cNvPr id="16" name="TextBox 15"/>
          <p:cNvSpPr txBox="1"/>
          <p:nvPr/>
        </p:nvSpPr>
        <p:spPr>
          <a:xfrm>
            <a:off x="5504688" y="3410712"/>
            <a:ext cx="1188720" cy="246888"/>
          </a:xfrm>
          <a:prstGeom prst="rect">
            <a:avLst/>
          </a:prstGeom>
          <a:noFill/>
        </p:spPr>
        <p:txBody>
          <a:bodyPr wrap="square" lIns="18288" rIns="18288" tIns="18288" bIns="18288" anchor="t">
            <a:spAutoFit/>
          </a:bodyPr>
          <a:lstStyle/>
          <a:p>
            <a:pPr algn="l">
              <a:spcAft>
                <a:spcPts val="0"/>
              </a:spcAft>
            </a:pPr>
            <a:r>
              <a:rPr sz="1100" b="1" i="0">
                <a:solidFill>
                  <a:srgbClr val="7FA0BC"/>
                </a:solidFill>
                <a:latin typeface="Arial"/>
              </a:rPr>
              <a:t>Compute</a:t>
            </a:r>
          </a:p>
        </p:txBody>
      </p:sp>
      <p:sp>
        <p:nvSpPr>
          <p:cNvPr id="17" name="TextBox 16"/>
          <p:cNvSpPr txBox="1"/>
          <p:nvPr/>
        </p:nvSpPr>
        <p:spPr>
          <a:xfrm>
            <a:off x="6793992" y="3383280"/>
            <a:ext cx="4160520" cy="310896"/>
          </a:xfrm>
          <a:prstGeom prst="rect">
            <a:avLst/>
          </a:prstGeom>
          <a:noFill/>
        </p:spPr>
        <p:txBody>
          <a:bodyPr wrap="square" lIns="18288" rIns="18288" tIns="18288" bIns="18288" anchor="t">
            <a:spAutoFit/>
          </a:bodyPr>
          <a:lstStyle/>
          <a:p>
            <a:pPr algn="l">
              <a:spcAft>
                <a:spcPts val="0"/>
              </a:spcAft>
            </a:pPr>
            <a:r>
              <a:rPr sz="1500" b="0" i="0">
                <a:solidFill>
                  <a:srgbClr val="FFFFFF"/>
                </a:solidFill>
                <a:latin typeface="Arial"/>
              </a:rPr>
              <a:t>NASA Ames Research Center</a:t>
            </a:r>
          </a:p>
        </p:txBody>
      </p:sp>
      <p:sp>
        <p:nvSpPr>
          <p:cNvPr id="18" name="TextBox 17"/>
          <p:cNvSpPr txBox="1"/>
          <p:nvPr/>
        </p:nvSpPr>
        <p:spPr>
          <a:xfrm>
            <a:off x="5504688" y="4041648"/>
            <a:ext cx="1188720" cy="365760"/>
          </a:xfrm>
          <a:prstGeom prst="rect">
            <a:avLst/>
          </a:prstGeom>
          <a:noFill/>
        </p:spPr>
        <p:txBody>
          <a:bodyPr wrap="square" lIns="18288" rIns="18288" tIns="18288" bIns="18288" anchor="t">
            <a:spAutoFit/>
          </a:bodyPr>
          <a:lstStyle/>
          <a:p>
            <a:pPr algn="l">
              <a:spcAft>
                <a:spcPts val="0"/>
              </a:spcAft>
            </a:pPr>
            <a:r>
              <a:rPr sz="1100" b="1" i="0">
                <a:solidFill>
                  <a:srgbClr val="7FA0BC"/>
                </a:solidFill>
                <a:latin typeface="Arial"/>
              </a:rPr>
              <a:t>Code and manuscript</a:t>
            </a:r>
          </a:p>
        </p:txBody>
      </p:sp>
      <p:sp>
        <p:nvSpPr>
          <p:cNvPr id="19" name="TextBox 18"/>
          <p:cNvSpPr txBox="1"/>
          <p:nvPr/>
        </p:nvSpPr>
        <p:spPr>
          <a:xfrm>
            <a:off x="6793992" y="4023360"/>
            <a:ext cx="4160520" cy="310896"/>
          </a:xfrm>
          <a:prstGeom prst="rect">
            <a:avLst/>
          </a:prstGeom>
          <a:noFill/>
        </p:spPr>
        <p:txBody>
          <a:bodyPr wrap="square" lIns="18288" rIns="18288" tIns="18288" bIns="18288" anchor="t">
            <a:spAutoFit/>
          </a:bodyPr>
          <a:lstStyle/>
          <a:p>
            <a:pPr algn="l">
              <a:spcAft>
                <a:spcPts val="0"/>
              </a:spcAft>
            </a:pPr>
            <a:r>
              <a:rPr sz="1500" b="0" i="0">
                <a:solidFill>
                  <a:srgbClr val="FFFFFF"/>
                </a:solidFill>
                <a:latin typeface="Arial"/>
              </a:rPr>
              <a:t>github.com/jasont314/nasa-mouse</a:t>
            </a:r>
          </a:p>
        </p:txBody>
      </p:sp>
      <p:sp>
        <p:nvSpPr>
          <p:cNvPr id="20" name="TextBox 19"/>
          <p:cNvSpPr txBox="1"/>
          <p:nvPr/>
        </p:nvSpPr>
        <p:spPr>
          <a:xfrm>
            <a:off x="5504688" y="5029200"/>
            <a:ext cx="5486400" cy="365760"/>
          </a:xfrm>
          <a:prstGeom prst="rect">
            <a:avLst/>
          </a:prstGeom>
          <a:noFill/>
        </p:spPr>
        <p:txBody>
          <a:bodyPr wrap="square" lIns="18288" rIns="18288" tIns="18288" bIns="18288" anchor="t">
            <a:spAutoFit/>
          </a:bodyPr>
          <a:lstStyle/>
          <a:p>
            <a:pPr algn="l">
              <a:spcAft>
                <a:spcPts val="0"/>
              </a:spcAft>
            </a:pPr>
            <a:r>
              <a:rPr sz="1350" b="0" i="1">
                <a:solidFill>
                  <a:srgbClr val="BFD0E1"/>
                </a:solidFill>
                <a:latin typeface="Arial"/>
              </a:rPr>
              <a:t>All biological associations were tested in observed OSDR profiles.</a:t>
            </a:r>
          </a:p>
        </p:txBody>
      </p:sp>
    </p:spTree>
  </p:cSld>
  <p:clrMapOvr>
    <a:masterClrMapping/>
  </p:clrMapOvr>
</p:sld>
</file>

<file path=ppt/theme/theme1.xml><?xml version="1.0" encoding="utf-8"?>
<a:theme xmlns:a="http://schemas.openxmlformats.org/drawingml/2006/main" name="1_Office Theme">
  <a:themeElements>
    <a:clrScheme name="BPS_2024_gold">
      <a:dk1>
        <a:srgbClr val="061F49"/>
      </a:dk1>
      <a:lt1>
        <a:srgbClr val="FFFFFF"/>
      </a:lt1>
      <a:dk2>
        <a:srgbClr val="061F49"/>
      </a:dk2>
      <a:lt2>
        <a:srgbClr val="E7E6E6"/>
      </a:lt2>
      <a:accent1>
        <a:srgbClr val="061F48"/>
      </a:accent1>
      <a:accent2>
        <a:srgbClr val="276644"/>
      </a:accent2>
      <a:accent3>
        <a:srgbClr val="D47800"/>
      </a:accent3>
      <a:accent4>
        <a:srgbClr val="D4BF88"/>
      </a:accent4>
      <a:accent5>
        <a:srgbClr val="8F6725"/>
      </a:accent5>
      <a:accent6>
        <a:srgbClr val="205391"/>
      </a:accent6>
      <a:hlink>
        <a:srgbClr val="205391"/>
      </a:hlink>
      <a:folHlink>
        <a:srgbClr val="0B3C91"/>
      </a:folHlink>
    </a:clrScheme>
    <a:fontScheme name="Arial Black-Arial">
      <a:majorFont>
        <a:latin typeface="Arial Black" panose="020B0A04020102020204"/>
        <a:ea typeface=""/>
        <a:cs typeface=""/>
        <a:font script="Jpan" typeface="ＭＳ ゴシック"/>
        <a:font script="Hang" typeface="굴림"/>
        <a:font script="Hans" typeface="微软雅黑"/>
        <a:font script="Hant" typeface="微軟正黑體"/>
        <a:font script="Arab" typeface="Tahoma"/>
        <a:font script="Hebr" typeface="Tahoma"/>
        <a:font script="Thai" typeface="Frees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2024-01-24_BPS_PPT_Template" id="{F69818ED-1EB5-154C-9646-61EECBC32C17}" vid="{337BE73D-1FC8-8444-A6A2-B6928143BD4C}"/>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SharedWithUsers xmlns="43f8f0fe-7515-424d-86d7-0a337e4aa03f">
      <UserInfo>
        <DisplayName>Mangan, Keara L. (HQ-DP000)[BOOZ ALLEN &amp; HAMILTON INC]</DisplayName>
        <AccountId>13</AccountId>
        <AccountType/>
      </UserInfo>
      <UserInfo>
        <DisplayName>Gilbertson, Gamble (HQ-DP000)[EAST2]</DisplayName>
        <AccountId>15</AccountId>
        <AccountType/>
      </UserInfo>
      <UserInfo>
        <DisplayName>Lee, Jemie (HQ-DP000)[BOOZ ALLEN &amp; HAMILTON INC]</DisplayName>
        <AccountId>14</AccountId>
        <AccountType/>
      </UserInfo>
      <UserInfo>
        <DisplayName>White Lyons, Melanie M. (HQ-DP000)[BOOZ ALLEN &amp; HAMILTON INC]</DisplayName>
        <AccountId>12</AccountId>
        <AccountType/>
      </UserInfo>
      <UserInfo>
        <DisplayName>Lele, Julie (HQ-DM000)[BOOZ ALLEN &amp; HAMILTON INC]</DisplayName>
        <AccountId>10</AccountId>
        <AccountType/>
      </UserInfo>
      <UserInfo>
        <DisplayName>Burg, Joseph A. (HQ-DP000)[BOOZ ALLEN &amp; HAMILTON INC]</DisplayName>
        <AccountId>119</AccountId>
        <AccountType/>
      </UserInfo>
      <UserInfo>
        <DisplayName>Carnell, Lisa (HQ-DP000)</DisplayName>
        <AccountId>21</AccountId>
        <AccountType/>
      </UserInfo>
      <UserInfo>
        <DisplayName>Hertz, Paul (HQ-DA000)</DisplayName>
        <AccountId>100</AccountId>
        <AccountType/>
      </UserInfo>
      <UserInfo>
        <DisplayName>Fauntleroy, Haley (HQ-DP000)[BOOZ ALLEN &amp; HAMILTON INC]</DisplayName>
        <AccountId>22</AccountId>
        <AccountType/>
      </UserInfo>
      <UserInfo>
        <DisplayName>Cubberley, Hannah (HQ-DP000)[BOOZ ALLEN &amp; HAMILTON INC]</DisplayName>
        <AccountId>28</AccountId>
        <AccountType/>
      </UserInfo>
      <UserInfo>
        <DisplayName>Galazka, Jonathan M. (ARC-SC)</DisplayName>
        <AccountId>182</AccountId>
        <AccountType/>
      </UserInfo>
      <UserInfo>
        <DisplayName>Massa, Gioia D. (KSC-UBA00)</DisplayName>
        <AccountId>183</AccountId>
        <AccountType/>
      </UserInfo>
      <UserInfo>
        <DisplayName>Callas, John L (JPL-7500)[JPL Employee]</DisplayName>
        <AccountId>58</AccountId>
        <AccountType/>
      </UserInfo>
    </SharedWithUsers>
    <lcf76f155ced4ddcb4097134ff3c332f xmlns="6527ccf2-24c5-4a86-be07-80241091aeab">
      <Terms xmlns="http://schemas.microsoft.com/office/infopath/2007/PartnerControls"/>
    </lcf76f155ced4ddcb4097134ff3c332f>
    <TaxCatchAll xmlns="d900e117-17a0-4b24-9e47-511ef1d02c43" xsi:nil="true"/>
  </documentManagement>
</p:properties>
</file>

<file path=customXml/item2.xml><?xml version="1.0" encoding="utf-8"?>
<ct:contentTypeSchema xmlns:ct="http://schemas.microsoft.com/office/2006/metadata/contentType" xmlns:ma="http://schemas.microsoft.com/office/2006/metadata/properties/metaAttributes" ct:_="" ma:_="" ma:contentTypeName="Document" ma:contentTypeID="0x01010019211DFDB3DA3845BD556C40032E64D0" ma:contentTypeVersion="16" ma:contentTypeDescription="Create a new document." ma:contentTypeScope="" ma:versionID="6fb8bd780a822da7d8e3d3891ea50a85">
  <xsd:schema xmlns:xsd="http://www.w3.org/2001/XMLSchema" xmlns:xs="http://www.w3.org/2001/XMLSchema" xmlns:p="http://schemas.microsoft.com/office/2006/metadata/properties" xmlns:ns2="6527ccf2-24c5-4a86-be07-80241091aeab" xmlns:ns3="43f8f0fe-7515-424d-86d7-0a337e4aa03f" xmlns:ns4="d900e117-17a0-4b24-9e47-511ef1d02c43" targetNamespace="http://schemas.microsoft.com/office/2006/metadata/properties" ma:root="true" ma:fieldsID="cb6437ea38db5bccedba4b312cc29faa" ns2:_="" ns3:_="" ns4:_="">
    <xsd:import namespace="6527ccf2-24c5-4a86-be07-80241091aeab"/>
    <xsd:import namespace="43f8f0fe-7515-424d-86d7-0a337e4aa03f"/>
    <xsd:import namespace="d900e117-17a0-4b24-9e47-511ef1d02c43"/>
    <xsd:element name="properties">
      <xsd:complexType>
        <xsd:sequence>
          <xsd:element name="documentManagement">
            <xsd:complexType>
              <xsd:all>
                <xsd:element ref="ns2:MediaServiceMetadata" minOccurs="0"/>
                <xsd:element ref="ns2:MediaServiceFastMetadata" minOccurs="0"/>
                <xsd:element ref="ns2:MediaServiceDateTaken" minOccurs="0"/>
                <xsd:element ref="ns2:MediaServiceGenerationTime" minOccurs="0"/>
                <xsd:element ref="ns2:MediaServiceEventHashCode" minOccurs="0"/>
                <xsd:element ref="ns2:MediaServiceOCR" minOccurs="0"/>
                <xsd:element ref="ns2:MediaServiceLocation" minOccurs="0"/>
                <xsd:element ref="ns3:SharedWithUsers" minOccurs="0"/>
                <xsd:element ref="ns3:SharedWithDetails" minOccurs="0"/>
                <xsd:element ref="ns2:lcf76f155ced4ddcb4097134ff3c332f" minOccurs="0"/>
                <xsd:element ref="ns4:TaxCatchAll" minOccurs="0"/>
                <xsd:element ref="ns2:MediaLengthInSeconds" minOccurs="0"/>
                <xsd:element ref="ns2:MediaServiceObjectDetectorVersions" minOccurs="0"/>
                <xsd:element ref="ns2: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6527ccf2-24c5-4a86-be07-80241091aeab"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DateTaken" ma:index="10" nillable="true" ma:displayName="MediaServiceDateTaken" ma:hidden="true" ma:internalName="MediaServiceDateTaken" ma:readOnly="true">
      <xsd:simpleType>
        <xsd:restriction base="dms:Text"/>
      </xsd:simpleType>
    </xsd:element>
    <xsd:element name="MediaServiceGenerationTime" ma:index="11" nillable="true" ma:displayName="MediaServiceGenerationTime" ma:hidden="true" ma:internalName="MediaServiceGenerationTime"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OCR" ma:index="13" nillable="true" ma:displayName="Extracted Text" ma:internalName="MediaServiceOCR" ma:readOnly="true">
      <xsd:simpleType>
        <xsd:restriction base="dms:Note">
          <xsd:maxLength value="255"/>
        </xsd:restriction>
      </xsd:simpleType>
    </xsd:element>
    <xsd:element name="MediaServiceLocation" ma:index="14" nillable="true" ma:displayName="Location" ma:internalName="MediaServiceLocation" ma:readOnly="true">
      <xsd:simpleType>
        <xsd:restriction base="dms:Text"/>
      </xsd:simpleType>
    </xsd:element>
    <xsd:element name="lcf76f155ced4ddcb4097134ff3c332f" ma:index="18" nillable="true" ma:taxonomy="true" ma:internalName="lcf76f155ced4ddcb4097134ff3c332f" ma:taxonomyFieldName="MediaServiceImageTags" ma:displayName="Image Tags" ma:readOnly="false" ma:fieldId="{5cf76f15-5ced-4ddc-b409-7134ff3c332f}" ma:taxonomyMulti="true" ma:sspId="0fb68aea-d2ee-4a6c-85e6-e4b5686e96e8" ma:termSetId="09814cd3-568e-fe90-9814-8d621ff8fb84" ma:anchorId="fba54fb3-c3e1-fe81-a776-ca4b69148c4d" ma:open="true" ma:isKeyword="false">
      <xsd:complexType>
        <xsd:sequence>
          <xsd:element ref="pc:Terms" minOccurs="0" maxOccurs="1"/>
        </xsd:sequence>
      </xsd:complexType>
    </xsd:element>
    <xsd:element name="MediaLengthInSeconds" ma:index="20" nillable="true" ma:displayName="MediaLengthInSeconds" ma:hidden="true" ma:internalName="MediaLengthInSeconds" ma:readOnly="true">
      <xsd:simpleType>
        <xsd:restriction base="dms:Unknown"/>
      </xsd:simpleType>
    </xsd:element>
    <xsd:element name="MediaServiceObjectDetectorVersions" ma:index="21" nillable="true" ma:displayName="MediaServiceObjectDetectorVersions" ma:hidden="true" ma:indexed="true" ma:internalName="MediaServiceObjectDetectorVersions" ma:readOnly="true">
      <xsd:simpleType>
        <xsd:restriction base="dms:Text"/>
      </xsd:simpleType>
    </xsd:element>
    <xsd:element name="MediaServiceSearchProperties" ma:index="22" nillable="true" ma:displayName="MediaServiceSearchProperties" ma:hidden="true" ma:internalName="MediaServiceSearchPropertie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43f8f0fe-7515-424d-86d7-0a337e4aa03f" elementFormDefault="qualified">
    <xsd:import namespace="http://schemas.microsoft.com/office/2006/documentManagement/types"/>
    <xsd:import namespace="http://schemas.microsoft.com/office/infopath/2007/PartnerControls"/>
    <xsd:element name="SharedWithUsers" ma:index="15"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6" nillable="true" ma:displayName="Shared With Details" ma:internalName="SharedWithDetails" ma:readOnly="true">
      <xsd:simpleType>
        <xsd:restriction base="dms:Note">
          <xsd:maxLength value="255"/>
        </xsd:restriction>
      </xsd:simpleType>
    </xsd:element>
  </xsd:schema>
  <xsd:schema xmlns:xsd="http://www.w3.org/2001/XMLSchema" xmlns:xs="http://www.w3.org/2001/XMLSchema" xmlns:dms="http://schemas.microsoft.com/office/2006/documentManagement/types" xmlns:pc="http://schemas.microsoft.com/office/infopath/2007/PartnerControls" targetNamespace="d900e117-17a0-4b24-9e47-511ef1d02c43" elementFormDefault="qualified">
    <xsd:import namespace="http://schemas.microsoft.com/office/2006/documentManagement/types"/>
    <xsd:import namespace="http://schemas.microsoft.com/office/infopath/2007/PartnerControls"/>
    <xsd:element name="TaxCatchAll" ma:index="19" nillable="true" ma:displayName="Taxonomy Catch All Column" ma:hidden="true" ma:list="{dea376dd-3888-4ec2-aac9-035288c88b0b}" ma:internalName="TaxCatchAll" ma:showField="CatchAllData" ma:web="43f8f0fe-7515-424d-86d7-0a337e4aa03f">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8462A2FE-7911-4E6A-8BD5-16877A182B2F}">
  <ds:schemaRefs>
    <ds:schemaRef ds:uri="http://schemas.openxmlformats.org/package/2006/metadata/core-properties"/>
    <ds:schemaRef ds:uri="a3f7648c-ef34-4383-9913-3e4132c38d7f"/>
    <ds:schemaRef ds:uri="http://schemas.microsoft.com/office/infopath/2007/PartnerControls"/>
    <ds:schemaRef ds:uri="http://purl.org/dc/dcmitype/"/>
    <ds:schemaRef ds:uri="http://schemas.microsoft.com/office/2006/documentManagement/types"/>
    <ds:schemaRef ds:uri="http://purl.org/dc/elements/1.1/"/>
    <ds:schemaRef ds:uri="http://schemas.microsoft.com/office/2006/metadata/properties"/>
    <ds:schemaRef ds:uri="http://www.w3.org/XML/1998/namespace"/>
    <ds:schemaRef ds:uri="http://purl.org/dc/terms/"/>
    <ds:schemaRef ds:uri="c852713b-0caa-4ac0-ba75-048f00e27b76"/>
    <ds:schemaRef ds:uri="43f8f0fe-7515-424d-86d7-0a337e4aa03f"/>
    <ds:schemaRef ds:uri="6527ccf2-24c5-4a86-be07-80241091aeab"/>
    <ds:schemaRef ds:uri="d900e117-17a0-4b24-9e47-511ef1d02c43"/>
  </ds:schemaRefs>
</ds:datastoreItem>
</file>

<file path=customXml/itemProps2.xml><?xml version="1.0" encoding="utf-8"?>
<ds:datastoreItem xmlns:ds="http://schemas.openxmlformats.org/officeDocument/2006/customXml" ds:itemID="{2FDDDE26-D355-44FB-AB9E-19995162FF73}">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6527ccf2-24c5-4a86-be07-80241091aeab"/>
    <ds:schemaRef ds:uri="43f8f0fe-7515-424d-86d7-0a337e4aa03f"/>
    <ds:schemaRef ds:uri="d900e117-17a0-4b24-9e47-511ef1d02c43"/>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706B03FA-AE60-4B79-AD46-B79CDABDEAE0}">
  <ds:schemaRefs>
    <ds:schemaRef ds:uri="http://schemas.microsoft.com/sharepoint/v3/contenttype/forms"/>
  </ds:schemaRefs>
</ds:datastoreItem>
</file>

<file path=docMetadata/LabelInfo.xml><?xml version="1.0" encoding="utf-8"?>
<clbl:labelList xmlns:clbl="http://schemas.microsoft.com/office/2020/mipLabelMetadata">
  <clbl:label id="{7005d458-45be-48ae-8140-d43da96dd17b}" enabled="0" method="" siteId="{7005d458-45be-48ae-8140-d43da96dd17b}" removed="1"/>
</clbl:labelList>
</file>

<file path=docProps/app.xml><?xml version="1.0" encoding="utf-8"?>
<Properties xmlns="http://schemas.openxmlformats.org/officeDocument/2006/extended-properties" xmlns:vt="http://schemas.openxmlformats.org/officeDocument/2006/docPropsVTypes">
  <Template>2024-01-29_BPS_PPT_Template</Template>
  <TotalTime>5180</TotalTime>
  <Words>15</Words>
  <Application>Microsoft Office PowerPoint</Application>
  <PresentationFormat>Widescreen</PresentationFormat>
  <Paragraphs>6</Paragraphs>
  <Slides>2</Slides>
  <Notes>0</Notes>
  <HiddenSlides>0</HiddenSlides>
  <MMClips>0</MMClips>
  <ScaleCrop>false</ScaleCrop>
  <HeadingPairs>
    <vt:vector size="4" baseType="variant">
      <vt:variant>
        <vt:lpstr>Theme</vt:lpstr>
      </vt:variant>
      <vt:variant>
        <vt:i4>1</vt:i4>
      </vt:variant>
      <vt:variant>
        <vt:lpstr>Slide Titles</vt:lpstr>
      </vt:variant>
      <vt:variant>
        <vt:i4>2</vt:i4>
      </vt:variant>
    </vt:vector>
  </HeadingPairs>
  <TitlesOfParts>
    <vt:vector size="3" baseType="lpstr">
      <vt:lpstr>1_Office Theme</vt:lpstr>
      <vt:lpstr>PowerPoint Presentation</vt:lpstr>
      <vt:lpstr>PowerPoint Presentation</vt:lpstr>
    </vt:vector>
  </TitlesOfParts>
  <Company>NASA OCIO</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Lele, Julie (HQ-DM000)[BOOZ ALLEN &amp; HAMILTON INC]</dc:creator>
  <cp:lastModifiedBy>Keller, Elizabeth E. (ARC-SC)[Amentum Services, Inc]</cp:lastModifiedBy>
  <cp:revision>178</cp:revision>
  <dcterms:created xsi:type="dcterms:W3CDTF">2024-01-29T19:52:06Z</dcterms:created>
  <dcterms:modified xsi:type="dcterms:W3CDTF">2026-06-29T22:38:13Z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0x01010019211DFDB3DA3845BD556C40032E64D0</vt:lpwstr>
  </property>
  <property fmtid="{D5CDD505-2E9C-101B-9397-08002B2CF9AE}" pid="3" name="MediaServiceImageTags">
    <vt:lpwstr/>
  </property>
</Properties>
</file>