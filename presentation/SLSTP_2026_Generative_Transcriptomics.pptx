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Each column shows the alternatives available at one pipeline stage; outlines identify the downstream branch. We used both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left diagram shows the model used downstream: a 974-to-8192-to-8192-to-974 noise predictor, adapted to OSDR with rank-512 LoRA and tissue, condition, accession and material context. Both WGAN-GP and DDIM had high correlation and F1. DDIM had adversarial accuracy near 0.5 and a lower Frechet-distance ratio, so it was harder to separate from real profiles and closer in distribution. The metrics use each model's stated evaluation split.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Reinforced genes were selected with and without synthetic guidance. Promoted genes crossed the stable-selection rule only with synthetic guidance. Promoted does not mean biologically novel. All 49 synthetic-informed tissue-gene associations also had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evidence scope and source IDs; Table S17 records citations, DOI or URL and whether the evidence is independent, overlapping or mechanistic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discussion focuses later, but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The literature is mixed for Bnip3 and Tpm1, which is recorded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are shown on separate subrows for each tissue. Pooled muscle, kidney, spleen and skin each produced a distinct synthetic-informed result. The rows share a slide for presentation space; each remains a separate hypothesis.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NASA Rodent Research-1 hardware aboard the ISS" descr="NASA astronaut Barry Wilmore sets up Rodent Research-1 hardware aboard the International Space Station."/>
          <p:cNvPicPr>
            <a:picLocks noChangeAspect="1"/>
          </p:cNvPicPr>
          <p:nvPr/>
        </p:nvPicPr>
        <p:blipFill>
          <a:blip r:embed="rId2"/>
          <a:stretch>
            <a:fillRect/>
          </a:stretch>
        </p:blipFill>
        <p:spPr>
          <a:xfrm>
            <a:off x="0" y="0"/>
            <a:ext cx="12191999" cy="6858000"/>
          </a:xfrm>
          <a:prstGeom prst="rect">
            <a:avLst/>
          </a:prstGeom>
        </p:spPr>
      </p:pic>
      <p:sp>
        <p:nvSpPr>
          <p:cNvPr id="5" name="Title readability overlay"/>
          <p:cNvSpPr/>
          <p:nvPr/>
        </p:nvSpPr>
        <p:spPr>
          <a:xfrm>
            <a:off x="0" y="0"/>
            <a:ext cx="5166360" cy="685800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6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1938528"/>
            <a:ext cx="4297680" cy="1554480"/>
          </a:xfrm>
        </p:spPr>
        <p:txBody>
          <a:bodyPr wrap="square" lIns="0" rIns="0" tIns="0" bIns="0" anchor="t"/>
          <a:lstStyle/>
          <a:p>
            <a:pPr>
              <a:lnSpc>
                <a:spcPct val="100000"/>
              </a:lnSpc>
              <a:spcBef>
                <a:spcPts val="0"/>
              </a:spcBef>
              <a:spcAft>
                <a:spcPts val="0"/>
              </a:spcAft>
            </a:pPr>
            <a:r>
              <a:rPr sz="3200" b="1">
                <a:solidFill>
                  <a:srgbClr val="FFFFFF"/>
                </a:solidFill>
                <a:latin typeface="Arial"/>
              </a:rPr>
              <a:t>Synthetic transcriptomics for mouse spaceflight</a:t>
            </a:r>
          </a:p>
        </p:txBody>
      </p:sp>
      <p:sp>
        <p:nvSpPr>
          <p:cNvPr id="6" name="Rectangle 5"/>
          <p:cNvSpPr/>
          <p:nvPr/>
        </p:nvSpPr>
        <p:spPr>
          <a:xfrm>
            <a:off x="5138928" y="749808"/>
            <a:ext cx="41148" cy="55321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
        <p:nvSpPr>
          <p:cNvPr id="8" name="TextBox 7"/>
          <p:cNvSpPr txBox="1"/>
          <p:nvPr/>
        </p:nvSpPr>
        <p:spPr>
          <a:xfrm>
            <a:off x="5623560" y="6501384"/>
            <a:ext cx="5989320" cy="182880"/>
          </a:xfrm>
          <a:prstGeom prst="rect">
            <a:avLst/>
          </a:prstGeom>
          <a:noFill/>
        </p:spPr>
        <p:txBody>
          <a:bodyPr wrap="square" lIns="18288" rIns="18288" tIns="18288" bIns="18288" anchor="t">
            <a:spAutoFit/>
          </a:bodyPr>
          <a:lstStyle/>
          <a:p>
            <a:pPr algn="r">
              <a:spcAft>
                <a:spcPts val="0"/>
              </a:spcAft>
            </a:pPr>
            <a:r>
              <a:rPr sz="750" b="0" i="0">
                <a:solidFill>
                  <a:srgbClr val="E2E8EE"/>
                </a:solidFill>
                <a:latin typeface="Arial"/>
              </a:rPr>
              <a:t>NASA astronaut Barry Wilmore with Rodent Research-1 hardware aboard the ISS. Credit: NASA Johnson.</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TextBox 21"/>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23" name="TextBox 22"/>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24" name="TextBox 23"/>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25" name="TextBox 24"/>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26" name="TextBox 25"/>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27" name="TextBox 26"/>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28" name="TextBox 27"/>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29" name="TextBox 28"/>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30" name="Rectangle 29"/>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34" name="TextBox 33"/>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35" name="TextBox 34"/>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36" name="TextBox 35"/>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37" name="Right Arrow 36"/>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9" name="TextBox 38"/>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40" name="TextBox 39"/>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41" name="Rectangle 40"/>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43" name="TextBox 42"/>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44" name="TextBox 43"/>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45" name="TextBox 44"/>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46" name="TextBox 45"/>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47" name="TextBox 46"/>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48" name="TextBox 47"/>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49" name="TextBox 4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3337560" cy="292608"/>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Conditional DDIM</a:t>
            </a:r>
          </a:p>
        </p:txBody>
      </p:sp>
      <p:sp>
        <p:nvSpPr>
          <p:cNvPr id="8" name="TextBox 7"/>
          <p:cNvSpPr txBox="1"/>
          <p:nvPr/>
        </p:nvSpPr>
        <p:spPr>
          <a:xfrm>
            <a:off x="475488" y="2221992"/>
            <a:ext cx="3337560" cy="219456"/>
          </a:xfrm>
          <a:prstGeom prst="rect">
            <a:avLst/>
          </a:prstGeom>
          <a:noFill/>
        </p:spPr>
        <p:txBody>
          <a:bodyPr wrap="square" lIns="18288" rIns="18288" tIns="18288" bIns="18288" anchor="t">
            <a:spAutoFit/>
          </a:bodyPr>
          <a:lstStyle/>
          <a:p>
            <a:pPr algn="l">
              <a:spcAft>
                <a:spcPts val="0"/>
              </a:spcAft>
            </a:pPr>
            <a:r>
              <a:rPr sz="1120" b="0" i="0">
                <a:solidFill>
                  <a:srgbClr val="59697A"/>
                </a:solidFill>
                <a:latin typeface="Arial"/>
              </a:rPr>
              <a:t>The diagram matches the model used downstream.</a:t>
            </a:r>
          </a:p>
        </p:txBody>
      </p:sp>
      <p:sp>
        <p:nvSpPr>
          <p:cNvPr id="9" name="TextBox 8"/>
          <p:cNvSpPr txBox="1"/>
          <p:nvPr/>
        </p:nvSpPr>
        <p:spPr>
          <a:xfrm>
            <a:off x="502920" y="2615184"/>
            <a:ext cx="841248" cy="164592"/>
          </a:xfrm>
          <a:prstGeom prst="rect">
            <a:avLst/>
          </a:prstGeom>
          <a:noFill/>
        </p:spPr>
        <p:txBody>
          <a:bodyPr wrap="square" lIns="0" rIns="0" tIns="0" bIns="0" anchor="t">
            <a:spAutoFit/>
          </a:bodyPr>
          <a:lstStyle/>
          <a:p>
            <a:pPr algn="l">
              <a:spcAft>
                <a:spcPts val="0"/>
              </a:spcAft>
            </a:pPr>
            <a:r>
              <a:rPr sz="770" b="1" i="0">
                <a:solidFill>
                  <a:srgbClr val="178681"/>
                </a:solidFill>
                <a:latin typeface="Arial"/>
              </a:rPr>
              <a:t>OSDR CONTEXT</a:t>
            </a:r>
          </a:p>
        </p:txBody>
      </p:sp>
      <p:sp>
        <p:nvSpPr>
          <p:cNvPr id="10" name="TextBox 9"/>
          <p:cNvSpPr txBox="1"/>
          <p:nvPr/>
        </p:nvSpPr>
        <p:spPr>
          <a:xfrm>
            <a:off x="1371600" y="2569464"/>
            <a:ext cx="2706624" cy="219456"/>
          </a:xfrm>
          <a:prstGeom prst="rect">
            <a:avLst/>
          </a:prstGeom>
          <a:noFill/>
        </p:spPr>
        <p:txBody>
          <a:bodyPr wrap="square" lIns="0" rIns="0" tIns="0" bIns="0" anchor="t">
            <a:spAutoFit/>
          </a:bodyPr>
          <a:lstStyle/>
          <a:p>
            <a:pPr algn="l">
              <a:spcAft>
                <a:spcPts val="0"/>
              </a:spcAft>
            </a:pPr>
            <a:r>
              <a:rPr sz="900" b="1" i="0">
                <a:solidFill>
                  <a:srgbClr val="263746"/>
                </a:solidFill>
                <a:latin typeface="Arial"/>
              </a:rPr>
              <a:t>timestep + tissue + FLT/GC + accession + material</a:t>
            </a:r>
          </a:p>
        </p:txBody>
      </p:sp>
      <p:sp>
        <p:nvSpPr>
          <p:cNvPr id="11" name="Rectangle 10"/>
          <p:cNvSpPr/>
          <p:nvPr/>
        </p:nvSpPr>
        <p:spPr>
          <a:xfrm>
            <a:off x="2267712" y="2834640"/>
            <a:ext cx="16459" cy="27432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218688"/>
            <a:ext cx="694944" cy="7863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364992"/>
            <a:ext cx="621792" cy="557784"/>
          </a:xfrm>
          <a:prstGeom prst="rect">
            <a:avLst/>
          </a:prstGeom>
          <a:noFill/>
        </p:spPr>
        <p:txBody>
          <a:bodyPr wrap="square" lIns="0" rIns="0" tIns="0" bIns="0" anchor="ctr">
            <a:spAutoFit/>
          </a:bodyPr>
          <a:lstStyle/>
          <a:p>
            <a:pPr algn="ctr">
              <a:spcAft>
                <a:spcPts val="0"/>
              </a:spcAft>
            </a:pPr>
            <a:r>
              <a:rPr sz="1220" b="1" i="0">
                <a:solidFill>
                  <a:srgbClr val="082B55"/>
                </a:solidFill>
                <a:latin typeface="Arial"/>
              </a:rPr>
              <a:t>x_t
974</a:t>
            </a:r>
          </a:p>
        </p:txBody>
      </p:sp>
      <p:sp>
        <p:nvSpPr>
          <p:cNvPr id="14" name="TextBox 13"/>
          <p:cNvSpPr txBox="1"/>
          <p:nvPr/>
        </p:nvSpPr>
        <p:spPr>
          <a:xfrm>
            <a:off x="411480" y="4224528"/>
            <a:ext cx="877824" cy="201168"/>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noisy genes</a:t>
            </a:r>
          </a:p>
        </p:txBody>
      </p:sp>
      <p:sp>
        <p:nvSpPr>
          <p:cNvPr id="15" name="Rectangle 14"/>
          <p:cNvSpPr/>
          <p:nvPr/>
        </p:nvSpPr>
        <p:spPr>
          <a:xfrm>
            <a:off x="1435608" y="3081528"/>
            <a:ext cx="749808" cy="106070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72184" y="3227832"/>
            <a:ext cx="676656" cy="832103"/>
          </a:xfrm>
          <a:prstGeom prst="rect">
            <a:avLst/>
          </a:prstGeom>
          <a:noFill/>
        </p:spPr>
        <p:txBody>
          <a:bodyPr wrap="square" lIns="0" rIns="0" tIns="0" bIns="0" anchor="ctr">
            <a:spAutoFit/>
          </a:bodyPr>
          <a:lstStyle/>
          <a:p>
            <a:pPr algn="ctr">
              <a:spcAft>
                <a:spcPts val="0"/>
              </a:spcAft>
            </a:pPr>
            <a:r>
              <a:rPr sz="1220" b="1" i="0">
                <a:solidFill>
                  <a:srgbClr val="082B55"/>
                </a:solidFill>
                <a:latin typeface="Arial"/>
              </a:rPr>
              <a:t>8192</a:t>
            </a:r>
          </a:p>
        </p:txBody>
      </p:sp>
      <p:sp>
        <p:nvSpPr>
          <p:cNvPr id="17" name="TextBox 16"/>
          <p:cNvSpPr txBox="1"/>
          <p:nvPr/>
        </p:nvSpPr>
        <p:spPr>
          <a:xfrm>
            <a:off x="1344168" y="4224528"/>
            <a:ext cx="932688" cy="201168"/>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hidden</a:t>
            </a:r>
          </a:p>
        </p:txBody>
      </p:sp>
      <p:sp>
        <p:nvSpPr>
          <p:cNvPr id="18" name="Rectangle 17"/>
          <p:cNvSpPr/>
          <p:nvPr/>
        </p:nvSpPr>
        <p:spPr>
          <a:xfrm>
            <a:off x="2441448" y="3081528"/>
            <a:ext cx="749808" cy="106070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78024" y="3227832"/>
            <a:ext cx="676656" cy="832103"/>
          </a:xfrm>
          <a:prstGeom prst="rect">
            <a:avLst/>
          </a:prstGeom>
          <a:noFill/>
        </p:spPr>
        <p:txBody>
          <a:bodyPr wrap="square" lIns="0" rIns="0" tIns="0" bIns="0" anchor="ctr">
            <a:spAutoFit/>
          </a:bodyPr>
          <a:lstStyle/>
          <a:p>
            <a:pPr algn="ctr">
              <a:spcAft>
                <a:spcPts val="0"/>
              </a:spcAft>
            </a:pPr>
            <a:r>
              <a:rPr sz="1220" b="1" i="0">
                <a:solidFill>
                  <a:srgbClr val="082B55"/>
                </a:solidFill>
                <a:latin typeface="Arial"/>
              </a:rPr>
              <a:t>8192</a:t>
            </a:r>
          </a:p>
        </p:txBody>
      </p:sp>
      <p:sp>
        <p:nvSpPr>
          <p:cNvPr id="20" name="TextBox 19"/>
          <p:cNvSpPr txBox="1"/>
          <p:nvPr/>
        </p:nvSpPr>
        <p:spPr>
          <a:xfrm>
            <a:off x="2350008" y="4224528"/>
            <a:ext cx="932688" cy="201168"/>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hidden</a:t>
            </a:r>
          </a:p>
        </p:txBody>
      </p:sp>
      <p:sp>
        <p:nvSpPr>
          <p:cNvPr id="21" name="Rectangle 20"/>
          <p:cNvSpPr/>
          <p:nvPr/>
        </p:nvSpPr>
        <p:spPr>
          <a:xfrm>
            <a:off x="3447288" y="3218688"/>
            <a:ext cx="694944" cy="7863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83864" y="3364992"/>
            <a:ext cx="621792" cy="557784"/>
          </a:xfrm>
          <a:prstGeom prst="rect">
            <a:avLst/>
          </a:prstGeom>
          <a:noFill/>
        </p:spPr>
        <p:txBody>
          <a:bodyPr wrap="square" lIns="0" rIns="0" tIns="0" bIns="0" anchor="ctr">
            <a:spAutoFit/>
          </a:bodyPr>
          <a:lstStyle/>
          <a:p>
            <a:pPr algn="ctr">
              <a:spcAft>
                <a:spcPts val="0"/>
              </a:spcAft>
            </a:pPr>
            <a:r>
              <a:rPr sz="1220" b="1" i="0">
                <a:solidFill>
                  <a:srgbClr val="082B55"/>
                </a:solidFill>
                <a:latin typeface="Arial"/>
              </a:rPr>
              <a:t>epsilon
974</a:t>
            </a:r>
          </a:p>
        </p:txBody>
      </p:sp>
      <p:sp>
        <p:nvSpPr>
          <p:cNvPr id="23" name="TextBox 22"/>
          <p:cNvSpPr txBox="1"/>
          <p:nvPr/>
        </p:nvSpPr>
        <p:spPr>
          <a:xfrm>
            <a:off x="3355848" y="4224528"/>
            <a:ext cx="877824" cy="201168"/>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predicted noise</a:t>
            </a:r>
          </a:p>
        </p:txBody>
      </p:sp>
      <p:sp>
        <p:nvSpPr>
          <p:cNvPr id="24" name="Right Arrow 23"/>
          <p:cNvSpPr/>
          <p:nvPr/>
        </p:nvSpPr>
        <p:spPr>
          <a:xfrm>
            <a:off x="1225296" y="3438144"/>
            <a:ext cx="164592" cy="201168"/>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2231136" y="3438144"/>
            <a:ext cx="164592" cy="201168"/>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3236976" y="3438144"/>
            <a:ext cx="164592" cy="201168"/>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435608" y="4572000"/>
            <a:ext cx="175564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08176" y="4645152"/>
            <a:ext cx="1828800" cy="210312"/>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OSDR LoRA adapter: rank 512</a:t>
            </a:r>
          </a:p>
        </p:txBody>
      </p:sp>
      <p:sp>
        <p:nvSpPr>
          <p:cNvPr id="29" name="TextBox 28"/>
          <p:cNvSpPr txBox="1"/>
          <p:nvPr/>
        </p:nvSpPr>
        <p:spPr>
          <a:xfrm>
            <a:off x="502920" y="4965192"/>
            <a:ext cx="3639312" cy="219456"/>
          </a:xfrm>
          <a:prstGeom prst="rect">
            <a:avLst/>
          </a:prstGeom>
          <a:noFill/>
        </p:spPr>
        <p:txBody>
          <a:bodyPr wrap="square" lIns="18288" rIns="18288" tIns="18288" bIns="18288" anchor="t">
            <a:spAutoFit/>
          </a:bodyPr>
          <a:lstStyle/>
          <a:p>
            <a:pPr algn="ctr">
              <a:spcAft>
                <a:spcPts val="0"/>
              </a:spcAft>
            </a:pPr>
            <a:r>
              <a:rPr sz="1019" b="0" i="0">
                <a:solidFill>
                  <a:srgbClr val="59697A"/>
                </a:solidFill>
                <a:latin typeface="Arial"/>
              </a:rPr>
              <a:t>100 reverse steps at evaluation</a:t>
            </a:r>
          </a:p>
        </p:txBody>
      </p:sp>
      <p:sp>
        <p:nvSpPr>
          <p:cNvPr id="30" name="Rectangle 29"/>
          <p:cNvSpPr/>
          <p:nvPr/>
        </p:nvSpPr>
        <p:spPr>
          <a:xfrm>
            <a:off x="4233672" y="1874519"/>
            <a:ext cx="13716" cy="342900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98848" y="1984248"/>
            <a:ext cx="19202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Metric</a:t>
            </a:r>
          </a:p>
        </p:txBody>
      </p:sp>
      <p:sp>
        <p:nvSpPr>
          <p:cNvPr id="32" name="TextBox 31"/>
          <p:cNvSpPr txBox="1"/>
          <p:nvPr/>
        </p:nvSpPr>
        <p:spPr>
          <a:xfrm>
            <a:off x="6720840" y="1984248"/>
            <a:ext cx="1188720" cy="256032"/>
          </a:xfrm>
          <a:prstGeom prst="rect">
            <a:avLst/>
          </a:prstGeom>
          <a:noFill/>
        </p:spPr>
        <p:txBody>
          <a:bodyPr wrap="square" lIns="18288" rIns="18288" tIns="18288" bIns="18288" anchor="t">
            <a:spAutoFit/>
          </a:bodyPr>
          <a:lstStyle/>
          <a:p>
            <a:pPr algn="ctr">
              <a:spcAft>
                <a:spcPts val="0"/>
              </a:spcAft>
            </a:pPr>
            <a:r>
              <a:rPr sz="1150" b="1" i="0">
                <a:solidFill>
                  <a:srgbClr val="D96552"/>
                </a:solidFill>
                <a:latin typeface="Arial"/>
              </a:rPr>
              <a:t>WGAN-GP</a:t>
            </a:r>
          </a:p>
        </p:txBody>
      </p:sp>
      <p:sp>
        <p:nvSpPr>
          <p:cNvPr id="33" name="TextBox 32"/>
          <p:cNvSpPr txBox="1"/>
          <p:nvPr/>
        </p:nvSpPr>
        <p:spPr>
          <a:xfrm>
            <a:off x="8311896" y="1984248"/>
            <a:ext cx="1188720" cy="256032"/>
          </a:xfrm>
          <a:prstGeom prst="rect">
            <a:avLst/>
          </a:prstGeom>
          <a:noFill/>
        </p:spPr>
        <p:txBody>
          <a:bodyPr wrap="square" lIns="18288" rIns="18288" tIns="18288" bIns="18288" anchor="t">
            <a:spAutoFit/>
          </a:bodyPr>
          <a:lstStyle/>
          <a:p>
            <a:pPr algn="ctr">
              <a:spcAft>
                <a:spcPts val="0"/>
              </a:spcAft>
            </a:pPr>
            <a:r>
              <a:rPr sz="1150" b="1" i="0">
                <a:solidFill>
                  <a:srgbClr val="178681"/>
                </a:solidFill>
                <a:latin typeface="Arial"/>
              </a:rPr>
              <a:t>DDIM</a:t>
            </a:r>
          </a:p>
        </p:txBody>
      </p:sp>
      <p:sp>
        <p:nvSpPr>
          <p:cNvPr id="34" name="TextBox 33"/>
          <p:cNvSpPr txBox="1"/>
          <p:nvPr/>
        </p:nvSpPr>
        <p:spPr>
          <a:xfrm>
            <a:off x="9838944" y="1984248"/>
            <a:ext cx="1627632"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How to read it</a:t>
            </a:r>
          </a:p>
        </p:txBody>
      </p:sp>
      <p:sp>
        <p:nvSpPr>
          <p:cNvPr id="35" name="Rectangle 34"/>
          <p:cNvSpPr/>
          <p:nvPr/>
        </p:nvSpPr>
        <p:spPr>
          <a:xfrm>
            <a:off x="4498848" y="2340864"/>
            <a:ext cx="7059168"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480560" y="2505456"/>
            <a:ext cx="7086600" cy="49377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62856" y="2578608"/>
            <a:ext cx="1920240" cy="310896"/>
          </a:xfrm>
          <a:prstGeom prst="rect">
            <a:avLst/>
          </a:prstGeom>
          <a:noFill/>
        </p:spPr>
        <p:txBody>
          <a:bodyPr wrap="square" lIns="18288" rIns="18288" tIns="18288" bIns="18288" anchor="t">
            <a:spAutoFit/>
          </a:bodyPr>
          <a:lstStyle/>
          <a:p>
            <a:pPr algn="l">
              <a:spcAft>
                <a:spcPts val="0"/>
              </a:spcAft>
            </a:pPr>
            <a:r>
              <a:rPr sz="1350" b="0" i="0">
                <a:solidFill>
                  <a:srgbClr val="263746"/>
                </a:solidFill>
                <a:latin typeface="Arial"/>
              </a:rPr>
              <a:t>Correlation</a:t>
            </a:r>
          </a:p>
        </p:txBody>
      </p:sp>
      <p:sp>
        <p:nvSpPr>
          <p:cNvPr id="38" name="TextBox 37"/>
          <p:cNvSpPr txBox="1"/>
          <p:nvPr/>
        </p:nvSpPr>
        <p:spPr>
          <a:xfrm>
            <a:off x="6684264" y="2578608"/>
            <a:ext cx="1261872" cy="310896"/>
          </a:xfrm>
          <a:prstGeom prst="rect">
            <a:avLst/>
          </a:prstGeom>
          <a:noFill/>
        </p:spPr>
        <p:txBody>
          <a:bodyPr wrap="square" lIns="18288" rIns="18288" tIns="18288" bIns="18288" anchor="t">
            <a:spAutoFit/>
          </a:bodyPr>
          <a:lstStyle/>
          <a:p>
            <a:pPr algn="ctr">
              <a:spcAft>
                <a:spcPts val="0"/>
              </a:spcAft>
            </a:pPr>
            <a:r>
              <a:rPr sz="1550" b="1" i="0">
                <a:solidFill>
                  <a:srgbClr val="D96552"/>
                </a:solidFill>
                <a:latin typeface="Arial"/>
              </a:rPr>
              <a:t>0.976</a:t>
            </a:r>
          </a:p>
        </p:txBody>
      </p:sp>
      <p:sp>
        <p:nvSpPr>
          <p:cNvPr id="39" name="TextBox 38"/>
          <p:cNvSpPr txBox="1"/>
          <p:nvPr/>
        </p:nvSpPr>
        <p:spPr>
          <a:xfrm>
            <a:off x="8275320" y="2578608"/>
            <a:ext cx="1261872" cy="310896"/>
          </a:xfrm>
          <a:prstGeom prst="rect">
            <a:avLst/>
          </a:prstGeom>
          <a:noFill/>
        </p:spPr>
        <p:txBody>
          <a:bodyPr wrap="square" lIns="18288" rIns="18288" tIns="18288" bIns="18288" anchor="t">
            <a:spAutoFit/>
          </a:bodyPr>
          <a:lstStyle/>
          <a:p>
            <a:pPr algn="ctr">
              <a:spcAft>
                <a:spcPts val="0"/>
              </a:spcAft>
            </a:pPr>
            <a:r>
              <a:rPr sz="1550" b="1" i="0">
                <a:solidFill>
                  <a:srgbClr val="178681"/>
                </a:solidFill>
                <a:latin typeface="Arial"/>
              </a:rPr>
              <a:t>0.974</a:t>
            </a:r>
          </a:p>
        </p:txBody>
      </p:sp>
      <p:sp>
        <p:nvSpPr>
          <p:cNvPr id="40" name="TextBox 39"/>
          <p:cNvSpPr txBox="1"/>
          <p:nvPr/>
        </p:nvSpPr>
        <p:spPr>
          <a:xfrm>
            <a:off x="9857232" y="2578608"/>
            <a:ext cx="1481328" cy="310896"/>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similar</a:t>
            </a:r>
          </a:p>
        </p:txBody>
      </p:sp>
      <p:sp>
        <p:nvSpPr>
          <p:cNvPr id="41" name="TextBox 40"/>
          <p:cNvSpPr txBox="1"/>
          <p:nvPr/>
        </p:nvSpPr>
        <p:spPr>
          <a:xfrm>
            <a:off x="4562856" y="3163824"/>
            <a:ext cx="1920240" cy="310896"/>
          </a:xfrm>
          <a:prstGeom prst="rect">
            <a:avLst/>
          </a:prstGeom>
          <a:noFill/>
        </p:spPr>
        <p:txBody>
          <a:bodyPr wrap="square" lIns="18288" rIns="18288" tIns="18288" bIns="18288" anchor="t">
            <a:spAutoFit/>
          </a:bodyPr>
          <a:lstStyle/>
          <a:p>
            <a:pPr algn="l">
              <a:spcAft>
                <a:spcPts val="0"/>
              </a:spcAft>
            </a:pPr>
            <a:r>
              <a:rPr sz="1350" b="0" i="0">
                <a:solidFill>
                  <a:srgbClr val="263746"/>
                </a:solidFill>
                <a:latin typeface="Arial"/>
              </a:rPr>
              <a:t>F1</a:t>
            </a:r>
          </a:p>
        </p:txBody>
      </p:sp>
      <p:sp>
        <p:nvSpPr>
          <p:cNvPr id="42" name="TextBox 41"/>
          <p:cNvSpPr txBox="1"/>
          <p:nvPr/>
        </p:nvSpPr>
        <p:spPr>
          <a:xfrm>
            <a:off x="6684264" y="3163824"/>
            <a:ext cx="1261872" cy="310896"/>
          </a:xfrm>
          <a:prstGeom prst="rect">
            <a:avLst/>
          </a:prstGeom>
          <a:noFill/>
        </p:spPr>
        <p:txBody>
          <a:bodyPr wrap="square" lIns="18288" rIns="18288" tIns="18288" bIns="18288" anchor="t">
            <a:spAutoFit/>
          </a:bodyPr>
          <a:lstStyle/>
          <a:p>
            <a:pPr algn="ctr">
              <a:spcAft>
                <a:spcPts val="0"/>
              </a:spcAft>
            </a:pPr>
            <a:r>
              <a:rPr sz="1550" b="1" i="0">
                <a:solidFill>
                  <a:srgbClr val="D96552"/>
                </a:solidFill>
                <a:latin typeface="Arial"/>
              </a:rPr>
              <a:t>0.985</a:t>
            </a:r>
          </a:p>
        </p:txBody>
      </p:sp>
      <p:sp>
        <p:nvSpPr>
          <p:cNvPr id="43" name="TextBox 42"/>
          <p:cNvSpPr txBox="1"/>
          <p:nvPr/>
        </p:nvSpPr>
        <p:spPr>
          <a:xfrm>
            <a:off x="8275320" y="3163824"/>
            <a:ext cx="1261872" cy="310896"/>
          </a:xfrm>
          <a:prstGeom prst="rect">
            <a:avLst/>
          </a:prstGeom>
          <a:noFill/>
        </p:spPr>
        <p:txBody>
          <a:bodyPr wrap="square" lIns="18288" rIns="18288" tIns="18288" bIns="18288" anchor="t">
            <a:spAutoFit/>
          </a:bodyPr>
          <a:lstStyle/>
          <a:p>
            <a:pPr algn="ctr">
              <a:spcAft>
                <a:spcPts val="0"/>
              </a:spcAft>
            </a:pPr>
            <a:r>
              <a:rPr sz="1550" b="1" i="0">
                <a:solidFill>
                  <a:srgbClr val="178681"/>
                </a:solidFill>
                <a:latin typeface="Arial"/>
              </a:rPr>
              <a:t>0.997</a:t>
            </a:r>
          </a:p>
        </p:txBody>
      </p:sp>
      <p:sp>
        <p:nvSpPr>
          <p:cNvPr id="44" name="TextBox 43"/>
          <p:cNvSpPr txBox="1"/>
          <p:nvPr/>
        </p:nvSpPr>
        <p:spPr>
          <a:xfrm>
            <a:off x="9857232" y="3163824"/>
            <a:ext cx="1481328" cy="310896"/>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higher</a:t>
            </a:r>
          </a:p>
        </p:txBody>
      </p:sp>
      <p:sp>
        <p:nvSpPr>
          <p:cNvPr id="45" name="Rectangle 44"/>
          <p:cNvSpPr/>
          <p:nvPr/>
        </p:nvSpPr>
        <p:spPr>
          <a:xfrm>
            <a:off x="4480560" y="3675887"/>
            <a:ext cx="7086600" cy="49377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62856" y="3749039"/>
            <a:ext cx="1920240" cy="310896"/>
          </a:xfrm>
          <a:prstGeom prst="rect">
            <a:avLst/>
          </a:prstGeom>
          <a:noFill/>
        </p:spPr>
        <p:txBody>
          <a:bodyPr wrap="square" lIns="18288" rIns="18288" tIns="18288" bIns="18288" anchor="t">
            <a:spAutoFit/>
          </a:bodyPr>
          <a:lstStyle/>
          <a:p>
            <a:pPr algn="l">
              <a:spcAft>
                <a:spcPts val="0"/>
              </a:spcAft>
            </a:pPr>
            <a:r>
              <a:rPr sz="1350" b="1" i="0">
                <a:solidFill>
                  <a:srgbClr val="263746"/>
                </a:solidFill>
                <a:latin typeface="Arial"/>
              </a:rPr>
              <a:t>Adversarial accuracy</a:t>
            </a:r>
          </a:p>
        </p:txBody>
      </p:sp>
      <p:sp>
        <p:nvSpPr>
          <p:cNvPr id="47" name="TextBox 46"/>
          <p:cNvSpPr txBox="1"/>
          <p:nvPr/>
        </p:nvSpPr>
        <p:spPr>
          <a:xfrm>
            <a:off x="6684264" y="3749039"/>
            <a:ext cx="1261872" cy="310896"/>
          </a:xfrm>
          <a:prstGeom prst="rect">
            <a:avLst/>
          </a:prstGeom>
          <a:noFill/>
        </p:spPr>
        <p:txBody>
          <a:bodyPr wrap="square" lIns="18288" rIns="18288" tIns="18288" bIns="18288" anchor="t">
            <a:spAutoFit/>
          </a:bodyPr>
          <a:lstStyle/>
          <a:p>
            <a:pPr algn="ctr">
              <a:spcAft>
                <a:spcPts val="0"/>
              </a:spcAft>
            </a:pPr>
            <a:r>
              <a:rPr sz="1550" b="1" i="0">
                <a:solidFill>
                  <a:srgbClr val="D96552"/>
                </a:solidFill>
                <a:latin typeface="Arial"/>
              </a:rPr>
              <a:t>0.636</a:t>
            </a:r>
          </a:p>
        </p:txBody>
      </p:sp>
      <p:sp>
        <p:nvSpPr>
          <p:cNvPr id="48" name="TextBox 47"/>
          <p:cNvSpPr txBox="1"/>
          <p:nvPr/>
        </p:nvSpPr>
        <p:spPr>
          <a:xfrm>
            <a:off x="8275320" y="3749039"/>
            <a:ext cx="1261872" cy="310896"/>
          </a:xfrm>
          <a:prstGeom prst="rect">
            <a:avLst/>
          </a:prstGeom>
          <a:noFill/>
        </p:spPr>
        <p:txBody>
          <a:bodyPr wrap="square" lIns="18288" rIns="18288" tIns="18288" bIns="18288" anchor="t">
            <a:spAutoFit/>
          </a:bodyPr>
          <a:lstStyle/>
          <a:p>
            <a:pPr algn="ctr">
              <a:spcAft>
                <a:spcPts val="0"/>
              </a:spcAft>
            </a:pPr>
            <a:r>
              <a:rPr sz="1550" b="1" i="0">
                <a:solidFill>
                  <a:srgbClr val="178681"/>
                </a:solidFill>
                <a:latin typeface="Arial"/>
              </a:rPr>
              <a:t>0.475</a:t>
            </a:r>
          </a:p>
        </p:txBody>
      </p:sp>
      <p:sp>
        <p:nvSpPr>
          <p:cNvPr id="49" name="TextBox 48"/>
          <p:cNvSpPr txBox="1"/>
          <p:nvPr/>
        </p:nvSpPr>
        <p:spPr>
          <a:xfrm>
            <a:off x="9857232" y="3749039"/>
            <a:ext cx="1481328" cy="310896"/>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closer to 0.5</a:t>
            </a:r>
          </a:p>
        </p:txBody>
      </p:sp>
      <p:sp>
        <p:nvSpPr>
          <p:cNvPr id="50" name="TextBox 49"/>
          <p:cNvSpPr txBox="1"/>
          <p:nvPr/>
        </p:nvSpPr>
        <p:spPr>
          <a:xfrm>
            <a:off x="4562856" y="4334256"/>
            <a:ext cx="1920240" cy="310896"/>
          </a:xfrm>
          <a:prstGeom prst="rect">
            <a:avLst/>
          </a:prstGeom>
          <a:noFill/>
        </p:spPr>
        <p:txBody>
          <a:bodyPr wrap="square" lIns="18288" rIns="18288" tIns="18288" bIns="18288" anchor="t">
            <a:spAutoFit/>
          </a:bodyPr>
          <a:lstStyle/>
          <a:p>
            <a:pPr algn="l">
              <a:spcAft>
                <a:spcPts val="0"/>
              </a:spcAft>
            </a:pPr>
            <a:r>
              <a:rPr sz="1350" b="1" i="0">
                <a:solidFill>
                  <a:srgbClr val="263746"/>
                </a:solidFill>
                <a:latin typeface="Arial"/>
              </a:rPr>
              <a:t>FD / real P95</a:t>
            </a:r>
          </a:p>
        </p:txBody>
      </p:sp>
      <p:sp>
        <p:nvSpPr>
          <p:cNvPr id="51" name="TextBox 50"/>
          <p:cNvSpPr txBox="1"/>
          <p:nvPr/>
        </p:nvSpPr>
        <p:spPr>
          <a:xfrm>
            <a:off x="6684264" y="4334256"/>
            <a:ext cx="1261872" cy="310896"/>
          </a:xfrm>
          <a:prstGeom prst="rect">
            <a:avLst/>
          </a:prstGeom>
          <a:noFill/>
        </p:spPr>
        <p:txBody>
          <a:bodyPr wrap="square" lIns="18288" rIns="18288" tIns="18288" bIns="18288" anchor="t">
            <a:spAutoFit/>
          </a:bodyPr>
          <a:lstStyle/>
          <a:p>
            <a:pPr algn="ctr">
              <a:spcAft>
                <a:spcPts val="0"/>
              </a:spcAft>
            </a:pPr>
            <a:r>
              <a:rPr sz="1550" b="1" i="0">
                <a:solidFill>
                  <a:srgbClr val="D96552"/>
                </a:solidFill>
                <a:latin typeface="Arial"/>
              </a:rPr>
              <a:t>0.144</a:t>
            </a:r>
          </a:p>
        </p:txBody>
      </p:sp>
      <p:sp>
        <p:nvSpPr>
          <p:cNvPr id="52" name="TextBox 51"/>
          <p:cNvSpPr txBox="1"/>
          <p:nvPr/>
        </p:nvSpPr>
        <p:spPr>
          <a:xfrm>
            <a:off x="8275320" y="4334256"/>
            <a:ext cx="1261872" cy="310896"/>
          </a:xfrm>
          <a:prstGeom prst="rect">
            <a:avLst/>
          </a:prstGeom>
          <a:noFill/>
        </p:spPr>
        <p:txBody>
          <a:bodyPr wrap="square" lIns="18288" rIns="18288" tIns="18288" bIns="18288" anchor="t">
            <a:spAutoFit/>
          </a:bodyPr>
          <a:lstStyle/>
          <a:p>
            <a:pPr algn="ctr">
              <a:spcAft>
                <a:spcPts val="0"/>
              </a:spcAft>
            </a:pPr>
            <a:r>
              <a:rPr sz="1550" b="1" i="0">
                <a:solidFill>
                  <a:srgbClr val="178681"/>
                </a:solidFill>
                <a:latin typeface="Arial"/>
              </a:rPr>
              <a:t>0.074</a:t>
            </a:r>
          </a:p>
        </p:txBody>
      </p:sp>
      <p:sp>
        <p:nvSpPr>
          <p:cNvPr id="53" name="TextBox 52"/>
          <p:cNvSpPr txBox="1"/>
          <p:nvPr/>
        </p:nvSpPr>
        <p:spPr>
          <a:xfrm>
            <a:off x="9857232" y="4334256"/>
            <a:ext cx="1481328" cy="310896"/>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lower</a:t>
            </a:r>
          </a:p>
        </p:txBody>
      </p:sp>
      <p:sp>
        <p:nvSpPr>
          <p:cNvPr id="54" name="TextBox 53"/>
          <p:cNvSpPr txBox="1"/>
          <p:nvPr/>
        </p:nvSpPr>
        <p:spPr>
          <a:xfrm>
            <a:off x="502920" y="5431536"/>
            <a:ext cx="1463040" cy="219456"/>
          </a:xfrm>
          <a:prstGeom prst="rect">
            <a:avLst/>
          </a:prstGeom>
          <a:noFill/>
        </p:spPr>
        <p:txBody>
          <a:bodyPr wrap="square" lIns="0" rIns="0" tIns="0" bIns="0" anchor="t">
            <a:spAutoFit/>
          </a:bodyPr>
          <a:lstStyle/>
          <a:p>
            <a:pPr algn="l">
              <a:spcAft>
                <a:spcPts val="0"/>
              </a:spcAft>
            </a:pPr>
            <a:r>
              <a:rPr sz="1000" b="1" i="0">
                <a:solidFill>
                  <a:srgbClr val="2D6496"/>
                </a:solidFill>
                <a:latin typeface="Arial"/>
              </a:rPr>
              <a:t>ARCHS4 tissue probe</a:t>
            </a:r>
          </a:p>
        </p:txBody>
      </p:sp>
      <p:sp>
        <p:nvSpPr>
          <p:cNvPr id="55" name="TextBox 54"/>
          <p:cNvSpPr txBox="1"/>
          <p:nvPr/>
        </p:nvSpPr>
        <p:spPr>
          <a:xfrm>
            <a:off x="1874519" y="5413248"/>
            <a:ext cx="2231136" cy="246888"/>
          </a:xfrm>
          <a:prstGeom prst="rect">
            <a:avLst/>
          </a:prstGeom>
          <a:noFill/>
        </p:spPr>
        <p:txBody>
          <a:bodyPr wrap="square" lIns="0" rIns="0" tIns="0" bIns="0" anchor="t">
            <a:spAutoFit/>
          </a:bodyPr>
          <a:lstStyle/>
          <a:p>
            <a:pPr algn="r">
              <a:spcAft>
                <a:spcPts val="0"/>
              </a:spcAft>
            </a:pPr>
            <a:r>
              <a:rPr sz="1000" b="0" i="0">
                <a:solidFill>
                  <a:srgbClr val="263746"/>
                </a:solidFill>
                <a:latin typeface="Arial"/>
              </a:rPr>
              <a:t>Real 0.781  |  Synthetic 0.781</a:t>
            </a:r>
          </a:p>
        </p:txBody>
      </p:sp>
      <p:sp>
        <p:nvSpPr>
          <p:cNvPr id="56" name="Rectangle 55"/>
          <p:cNvSpPr/>
          <p:nvPr/>
        </p:nvSpPr>
        <p:spPr>
          <a:xfrm>
            <a:off x="4498848" y="5266944"/>
            <a:ext cx="50292" cy="67665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736592" y="5358384"/>
            <a:ext cx="1353312" cy="283464"/>
          </a:xfrm>
          <a:prstGeom prst="rect">
            <a:avLst/>
          </a:prstGeom>
          <a:noFill/>
        </p:spPr>
        <p:txBody>
          <a:bodyPr wrap="square" lIns="0" rIns="0" tIns="0" bIns="0" anchor="t">
            <a:spAutoFit/>
          </a:bodyPr>
          <a:lstStyle/>
          <a:p>
            <a:pPr algn="l">
              <a:spcAft>
                <a:spcPts val="0"/>
              </a:spcAft>
            </a:pPr>
            <a:r>
              <a:rPr sz="1700" b="1" i="0">
                <a:solidFill>
                  <a:srgbClr val="082B55"/>
                </a:solidFill>
                <a:latin typeface="Arial"/>
              </a:rPr>
              <a:t>Use DDIM</a:t>
            </a:r>
          </a:p>
        </p:txBody>
      </p:sp>
      <p:sp>
        <p:nvSpPr>
          <p:cNvPr id="58" name="TextBox 57"/>
          <p:cNvSpPr txBox="1"/>
          <p:nvPr/>
        </p:nvSpPr>
        <p:spPr>
          <a:xfrm>
            <a:off x="6272784" y="5349240"/>
            <a:ext cx="5084064" cy="292608"/>
          </a:xfrm>
          <a:prstGeom prst="rect">
            <a:avLst/>
          </a:prstGeom>
          <a:noFill/>
        </p:spPr>
        <p:txBody>
          <a:bodyPr wrap="square" lIns="0" rIns="0" tIns="0" bIns="0" anchor="t">
            <a:spAutoFit/>
          </a:bodyPr>
          <a:lstStyle/>
          <a:p>
            <a:pPr algn="l">
              <a:spcAft>
                <a:spcPts val="0"/>
              </a:spcAft>
            </a:pPr>
            <a:r>
              <a:rPr sz="1330" b="0" i="0">
                <a:solidFill>
                  <a:srgbClr val="263746"/>
                </a:solidFill>
                <a:latin typeface="Arial"/>
              </a:rPr>
              <a:t>Comparable correlation, higher F1, and lower separability and FD.</a:t>
            </a:r>
          </a:p>
        </p:txBody>
      </p:sp>
      <p:sp>
        <p:nvSpPr>
          <p:cNvPr id="59" name="TextBox 58"/>
          <p:cNvSpPr txBox="1"/>
          <p:nvPr/>
        </p:nvSpPr>
        <p:spPr>
          <a:xfrm>
            <a:off x="4736592" y="5742432"/>
            <a:ext cx="6620256" cy="228600"/>
          </a:xfrm>
          <a:prstGeom prst="rect">
            <a:avLst/>
          </a:prstGeom>
          <a:noFill/>
        </p:spPr>
        <p:txBody>
          <a:bodyPr wrap="square" lIns="0" rIns="0" tIns="0" bIns="0" anchor="t">
            <a:spAutoFit/>
          </a:bodyPr>
          <a:lstStyle/>
          <a:p>
            <a:pPr algn="l">
              <a:spcAft>
                <a:spcPts val="0"/>
              </a:spcAft>
            </a:pPr>
            <a:r>
              <a:rPr sz="1070" b="0" i="0">
                <a:solidFill>
                  <a:srgbClr val="59697A"/>
                </a:solidFill>
                <a:latin typeface="Arial"/>
              </a:rPr>
              <a:t>AA near 0.5 means real and generated profiles are difficult to separate.</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analysis arms tested different uses of synthetic data</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Held-out real profiles determined which arm, if any, was eligible within each tissue.</a:t>
            </a:r>
          </a:p>
        </p:txBody>
      </p:sp>
      <p:sp>
        <p:nvSpPr>
          <p:cNvPr id="7" name="TextBox 6"/>
          <p:cNvSpPr txBox="1"/>
          <p:nvPr/>
        </p:nvSpPr>
        <p:spPr>
          <a:xfrm>
            <a:off x="420624" y="1847088"/>
            <a:ext cx="1078992" cy="210312"/>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Inputs</a:t>
            </a:r>
          </a:p>
        </p:txBody>
      </p:sp>
      <p:sp>
        <p:nvSpPr>
          <p:cNvPr id="8" name="TextBox 7"/>
          <p:cNvSpPr txBox="1"/>
          <p:nvPr/>
        </p:nvSpPr>
        <p:spPr>
          <a:xfrm>
            <a:off x="1234440" y="1828800"/>
            <a:ext cx="1078992" cy="228600"/>
          </a:xfrm>
          <a:prstGeom prst="rect">
            <a:avLst/>
          </a:prstGeom>
          <a:noFill/>
        </p:spPr>
        <p:txBody>
          <a:bodyPr wrap="square" lIns="0" rIns="0" tIns="0" bIns="0" anchor="t">
            <a:spAutoFit/>
          </a:bodyPr>
          <a:lstStyle/>
          <a:p>
            <a:pPr algn="l">
              <a:spcAft>
                <a:spcPts val="0"/>
              </a:spcAft>
            </a:pPr>
            <a:r>
              <a:rPr sz="1150" b="1" i="0">
                <a:solidFill>
                  <a:srgbClr val="2D6496"/>
                </a:solidFill>
                <a:latin typeface="Arial"/>
              </a:rPr>
              <a:t>Real OSDR</a:t>
            </a:r>
          </a:p>
        </p:txBody>
      </p:sp>
      <p:sp>
        <p:nvSpPr>
          <p:cNvPr id="9" name="TextBox 8"/>
          <p:cNvSpPr txBox="1"/>
          <p:nvPr/>
        </p:nvSpPr>
        <p:spPr>
          <a:xfrm>
            <a:off x="2176272" y="1828800"/>
            <a:ext cx="1280160" cy="228600"/>
          </a:xfrm>
          <a:prstGeom prst="rect">
            <a:avLst/>
          </a:prstGeom>
          <a:noFill/>
        </p:spPr>
        <p:txBody>
          <a:bodyPr wrap="square" lIns="0" rIns="0" tIns="0" bIns="0" anchor="t">
            <a:spAutoFit/>
          </a:bodyPr>
          <a:lstStyle/>
          <a:p>
            <a:pPr algn="l">
              <a:spcAft>
                <a:spcPts val="0"/>
              </a:spcAft>
            </a:pPr>
            <a:r>
              <a:rPr sz="1040" b="0" i="0">
                <a:solidFill>
                  <a:srgbClr val="59697A"/>
                </a:solidFill>
                <a:latin typeface="Arial"/>
              </a:rPr>
              <a:t>observed profiles</a:t>
            </a:r>
          </a:p>
        </p:txBody>
      </p:sp>
      <p:sp>
        <p:nvSpPr>
          <p:cNvPr id="10" name="TextBox 9"/>
          <p:cNvSpPr txBox="1"/>
          <p:nvPr/>
        </p:nvSpPr>
        <p:spPr>
          <a:xfrm>
            <a:off x="3749039" y="1828800"/>
            <a:ext cx="621792" cy="228600"/>
          </a:xfrm>
          <a:prstGeom prst="rect">
            <a:avLst/>
          </a:prstGeom>
          <a:noFill/>
        </p:spPr>
        <p:txBody>
          <a:bodyPr wrap="square" lIns="0" rIns="0" tIns="0" bIns="0" anchor="t">
            <a:spAutoFit/>
          </a:bodyPr>
          <a:lstStyle/>
          <a:p>
            <a:pPr algn="l">
              <a:spcAft>
                <a:spcPts val="0"/>
              </a:spcAft>
            </a:pPr>
            <a:r>
              <a:rPr sz="1150" b="1" i="0">
                <a:solidFill>
                  <a:srgbClr val="D96552"/>
                </a:solidFill>
                <a:latin typeface="Arial"/>
              </a:rPr>
              <a:t>DDIM</a:t>
            </a:r>
          </a:p>
        </p:txBody>
      </p:sp>
      <p:sp>
        <p:nvSpPr>
          <p:cNvPr id="11" name="TextBox 10"/>
          <p:cNvSpPr txBox="1"/>
          <p:nvPr/>
        </p:nvSpPr>
        <p:spPr>
          <a:xfrm>
            <a:off x="4370832" y="1828800"/>
            <a:ext cx="1874519" cy="228600"/>
          </a:xfrm>
          <a:prstGeom prst="rect">
            <a:avLst/>
          </a:prstGeom>
          <a:noFill/>
        </p:spPr>
        <p:txBody>
          <a:bodyPr wrap="square" lIns="0" rIns="0" tIns="0" bIns="0" anchor="t">
            <a:spAutoFit/>
          </a:bodyPr>
          <a:lstStyle/>
          <a:p>
            <a:pPr algn="l">
              <a:spcAft>
                <a:spcPts val="0"/>
              </a:spcAft>
            </a:pPr>
            <a:r>
              <a:rPr sz="1040" b="0" i="0">
                <a:solidFill>
                  <a:srgbClr val="59697A"/>
                </a:solidFill>
                <a:latin typeface="Arial"/>
              </a:rPr>
              <a:t>matched synthetic profiles</a:t>
            </a:r>
          </a:p>
        </p:txBody>
      </p:sp>
      <p:sp>
        <p:nvSpPr>
          <p:cNvPr id="12" name="Rectangle 11"/>
          <p:cNvSpPr/>
          <p:nvPr/>
        </p:nvSpPr>
        <p:spPr>
          <a:xfrm>
            <a:off x="1481328" y="2240280"/>
            <a:ext cx="1938528"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7904"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Real only</a:t>
            </a:r>
          </a:p>
        </p:txBody>
      </p:sp>
      <p:sp>
        <p:nvSpPr>
          <p:cNvPr id="14" name="Rectangle 13"/>
          <p:cNvSpPr/>
          <p:nvPr/>
        </p:nvSpPr>
        <p:spPr>
          <a:xfrm>
            <a:off x="3511296" y="2240280"/>
            <a:ext cx="1938528" cy="3200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Generated only</a:t>
            </a:r>
          </a:p>
        </p:txBody>
      </p:sp>
      <p:sp>
        <p:nvSpPr>
          <p:cNvPr id="16" name="Rectangle 15"/>
          <p:cNvSpPr/>
          <p:nvPr/>
        </p:nvSpPr>
        <p:spPr>
          <a:xfrm>
            <a:off x="5541264" y="2240280"/>
            <a:ext cx="1938528"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Real + generated</a:t>
            </a:r>
          </a:p>
        </p:txBody>
      </p:sp>
      <p:sp>
        <p:nvSpPr>
          <p:cNvPr id="18" name="Rectangle 17"/>
          <p:cNvSpPr/>
          <p:nvPr/>
        </p:nvSpPr>
        <p:spPr>
          <a:xfrm>
            <a:off x="7571232" y="2240280"/>
            <a:ext cx="1938528"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07808"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Guided, real fit</a:t>
            </a:r>
          </a:p>
        </p:txBody>
      </p:sp>
      <p:sp>
        <p:nvSpPr>
          <p:cNvPr id="20" name="Rectangle 19"/>
          <p:cNvSpPr/>
          <p:nvPr/>
        </p:nvSpPr>
        <p:spPr>
          <a:xfrm>
            <a:off x="9601200" y="2240280"/>
            <a:ext cx="1938528"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37776"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Guided, 5% synthetic</a:t>
            </a:r>
          </a:p>
        </p:txBody>
      </p:sp>
      <p:sp>
        <p:nvSpPr>
          <p:cNvPr id="22" name="Rectangle 21"/>
          <p:cNvSpPr/>
          <p:nvPr/>
        </p:nvSpPr>
        <p:spPr>
          <a:xfrm>
            <a:off x="420624" y="2807208"/>
            <a:ext cx="11201400" cy="557784"/>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 y="2944368"/>
            <a:ext cx="841248" cy="219456"/>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RANK</a:t>
            </a:r>
          </a:p>
        </p:txBody>
      </p:sp>
      <p:sp>
        <p:nvSpPr>
          <p:cNvPr id="24" name="TextBox 23"/>
          <p:cNvSpPr txBox="1"/>
          <p:nvPr/>
        </p:nvSpPr>
        <p:spPr>
          <a:xfrm>
            <a:off x="1527048"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a:t>
            </a:r>
          </a:p>
        </p:txBody>
      </p:sp>
      <p:sp>
        <p:nvSpPr>
          <p:cNvPr id="25" name="TextBox 24"/>
          <p:cNvSpPr txBox="1"/>
          <p:nvPr/>
        </p:nvSpPr>
        <p:spPr>
          <a:xfrm>
            <a:off x="3557016"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Generated</a:t>
            </a:r>
          </a:p>
        </p:txBody>
      </p:sp>
      <p:sp>
        <p:nvSpPr>
          <p:cNvPr id="26" name="TextBox 25"/>
          <p:cNvSpPr txBox="1"/>
          <p:nvPr/>
        </p:nvSpPr>
        <p:spPr>
          <a:xfrm>
            <a:off x="5586984"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Consensus</a:t>
            </a:r>
          </a:p>
        </p:txBody>
      </p:sp>
      <p:sp>
        <p:nvSpPr>
          <p:cNvPr id="27" name="TextBox 26"/>
          <p:cNvSpPr txBox="1"/>
          <p:nvPr/>
        </p:nvSpPr>
        <p:spPr>
          <a:xfrm>
            <a:off x="7616952"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Consensus</a:t>
            </a:r>
          </a:p>
        </p:txBody>
      </p:sp>
      <p:sp>
        <p:nvSpPr>
          <p:cNvPr id="28" name="TextBox 27"/>
          <p:cNvSpPr txBox="1"/>
          <p:nvPr/>
        </p:nvSpPr>
        <p:spPr>
          <a:xfrm>
            <a:off x="9646920"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Consensus</a:t>
            </a:r>
          </a:p>
        </p:txBody>
      </p:sp>
      <p:sp>
        <p:nvSpPr>
          <p:cNvPr id="29" name="TextBox 28"/>
          <p:cNvSpPr txBox="1"/>
          <p:nvPr/>
        </p:nvSpPr>
        <p:spPr>
          <a:xfrm>
            <a:off x="466344" y="3621023"/>
            <a:ext cx="841248" cy="219456"/>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FIT</a:t>
            </a:r>
          </a:p>
        </p:txBody>
      </p:sp>
      <p:sp>
        <p:nvSpPr>
          <p:cNvPr id="30" name="TextBox 29"/>
          <p:cNvSpPr txBox="1"/>
          <p:nvPr/>
        </p:nvSpPr>
        <p:spPr>
          <a:xfrm>
            <a:off x="1527048"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a:t>
            </a:r>
          </a:p>
        </p:txBody>
      </p:sp>
      <p:sp>
        <p:nvSpPr>
          <p:cNvPr id="31" name="TextBox 30"/>
          <p:cNvSpPr txBox="1"/>
          <p:nvPr/>
        </p:nvSpPr>
        <p:spPr>
          <a:xfrm>
            <a:off x="3557016"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Generated</a:t>
            </a:r>
          </a:p>
        </p:txBody>
      </p:sp>
      <p:sp>
        <p:nvSpPr>
          <p:cNvPr id="32" name="TextBox 31"/>
          <p:cNvSpPr txBox="1"/>
          <p:nvPr/>
        </p:nvSpPr>
        <p:spPr>
          <a:xfrm>
            <a:off x="5586984"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Equal weight</a:t>
            </a:r>
          </a:p>
        </p:txBody>
      </p:sp>
      <p:sp>
        <p:nvSpPr>
          <p:cNvPr id="33" name="TextBox 32"/>
          <p:cNvSpPr txBox="1"/>
          <p:nvPr/>
        </p:nvSpPr>
        <p:spPr>
          <a:xfrm>
            <a:off x="7616952"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a:t>
            </a:r>
          </a:p>
        </p:txBody>
      </p:sp>
      <p:sp>
        <p:nvSpPr>
          <p:cNvPr id="34" name="TextBox 33"/>
          <p:cNvSpPr txBox="1"/>
          <p:nvPr/>
        </p:nvSpPr>
        <p:spPr>
          <a:xfrm>
            <a:off x="9646920"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 + 5% synthetic</a:t>
            </a:r>
          </a:p>
        </p:txBody>
      </p:sp>
      <p:sp>
        <p:nvSpPr>
          <p:cNvPr id="35" name="Rectangle 34"/>
          <p:cNvSpPr/>
          <p:nvPr/>
        </p:nvSpPr>
        <p:spPr>
          <a:xfrm>
            <a:off x="420624" y="4160520"/>
            <a:ext cx="11201400" cy="557784"/>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6344" y="4297680"/>
            <a:ext cx="841248" cy="219456"/>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ROLE</a:t>
            </a:r>
          </a:p>
        </p:txBody>
      </p:sp>
      <p:sp>
        <p:nvSpPr>
          <p:cNvPr id="37" name="TextBox 36"/>
          <p:cNvSpPr txBox="1"/>
          <p:nvPr/>
        </p:nvSpPr>
        <p:spPr>
          <a:xfrm>
            <a:off x="1527048"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Baseline</a:t>
            </a:r>
          </a:p>
        </p:txBody>
      </p:sp>
      <p:sp>
        <p:nvSpPr>
          <p:cNvPr id="38" name="TextBox 37"/>
          <p:cNvSpPr txBox="1"/>
          <p:nvPr/>
        </p:nvSpPr>
        <p:spPr>
          <a:xfrm>
            <a:off x="3557016"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Stress test</a:t>
            </a:r>
          </a:p>
        </p:txBody>
      </p:sp>
      <p:sp>
        <p:nvSpPr>
          <p:cNvPr id="39" name="TextBox 38"/>
          <p:cNvSpPr txBox="1"/>
          <p:nvPr/>
        </p:nvSpPr>
        <p:spPr>
          <a:xfrm>
            <a:off x="5586984"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Augmentation</a:t>
            </a:r>
          </a:p>
        </p:txBody>
      </p:sp>
      <p:sp>
        <p:nvSpPr>
          <p:cNvPr id="40" name="TextBox 39"/>
          <p:cNvSpPr txBox="1"/>
          <p:nvPr/>
        </p:nvSpPr>
        <p:spPr>
          <a:xfrm>
            <a:off x="7616952"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Feature guidance</a:t>
            </a:r>
          </a:p>
        </p:txBody>
      </p:sp>
      <p:sp>
        <p:nvSpPr>
          <p:cNvPr id="41" name="TextBox 40"/>
          <p:cNvSpPr txBox="1"/>
          <p:nvPr/>
        </p:nvSpPr>
        <p:spPr>
          <a:xfrm>
            <a:off x="9646920"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Low-weight training</a:t>
            </a:r>
          </a:p>
        </p:txBody>
      </p:sp>
      <p:sp>
        <p:nvSpPr>
          <p:cNvPr id="42" name="Rectangle 41"/>
          <p:cNvSpPr/>
          <p:nvPr/>
        </p:nvSpPr>
        <p:spPr>
          <a:xfrm>
            <a:off x="420624" y="4937760"/>
            <a:ext cx="11173968"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30352" y="5138928"/>
            <a:ext cx="1874519" cy="274320"/>
          </a:xfrm>
          <a:prstGeom prst="rect">
            <a:avLst/>
          </a:prstGeom>
          <a:noFill/>
        </p:spPr>
        <p:txBody>
          <a:bodyPr wrap="square" lIns="18288" rIns="18288" tIns="18288" bIns="18288" anchor="t">
            <a:spAutoFit/>
          </a:bodyPr>
          <a:lstStyle/>
          <a:p>
            <a:pPr algn="ctr">
              <a:spcAft>
                <a:spcPts val="0"/>
              </a:spcAft>
            </a:pPr>
            <a:r>
              <a:rPr sz="1450" b="1" i="0">
                <a:solidFill>
                  <a:srgbClr val="082B55"/>
                </a:solidFill>
                <a:latin typeface="Arial"/>
              </a:rPr>
              <a:t>Held-out real profiles</a:t>
            </a:r>
          </a:p>
        </p:txBody>
      </p:sp>
      <p:sp>
        <p:nvSpPr>
          <p:cNvPr id="44" name="Right Arrow 43"/>
          <p:cNvSpPr/>
          <p:nvPr/>
        </p:nvSpPr>
        <p:spPr>
          <a:xfrm>
            <a:off x="2542032" y="5184648"/>
            <a:ext cx="365760"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090672" y="5138928"/>
            <a:ext cx="1938528" cy="274320"/>
          </a:xfrm>
          <a:prstGeom prst="rect">
            <a:avLst/>
          </a:prstGeom>
          <a:noFill/>
        </p:spPr>
        <p:txBody>
          <a:bodyPr wrap="square" lIns="18288" rIns="18288" tIns="18288" bIns="18288" anchor="t">
            <a:spAutoFit/>
          </a:bodyPr>
          <a:lstStyle/>
          <a:p>
            <a:pPr algn="ctr">
              <a:spcAft>
                <a:spcPts val="0"/>
              </a:spcAft>
            </a:pPr>
            <a:r>
              <a:rPr sz="1330" b="1" i="0">
                <a:solidFill>
                  <a:srgbClr val="263746"/>
                </a:solidFill>
                <a:latin typeface="Arial"/>
              </a:rPr>
              <a:t>BA  |  AUROC  |  AP</a:t>
            </a:r>
          </a:p>
        </p:txBody>
      </p:sp>
      <p:sp>
        <p:nvSpPr>
          <p:cNvPr id="46" name="Right Arrow 45"/>
          <p:cNvSpPr/>
          <p:nvPr/>
        </p:nvSpPr>
        <p:spPr>
          <a:xfrm>
            <a:off x="5193792" y="5184648"/>
            <a:ext cx="365760"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42432" y="5111496"/>
            <a:ext cx="3520440" cy="310896"/>
          </a:xfrm>
          <a:prstGeom prst="rect">
            <a:avLst/>
          </a:prstGeom>
          <a:noFill/>
        </p:spPr>
        <p:txBody>
          <a:bodyPr wrap="square" lIns="18288" rIns="18288" tIns="18288" bIns="18288" anchor="t">
            <a:spAutoFit/>
          </a:bodyPr>
          <a:lstStyle/>
          <a:p>
            <a:pPr algn="ctr">
              <a:spcAft>
                <a:spcPts val="0"/>
              </a:spcAft>
            </a:pPr>
            <a:r>
              <a:rPr sz="1400" b="1" i="0">
                <a:solidFill>
                  <a:srgbClr val="178681"/>
                </a:solidFill>
                <a:latin typeface="Arial"/>
              </a:rPr>
              <a:t>Choose an eligible arm within each tissue</a:t>
            </a:r>
          </a:p>
        </p:txBody>
      </p:sp>
      <p:sp>
        <p:nvSpPr>
          <p:cNvPr id="48" name="Rectangle 47"/>
          <p:cNvSpPr/>
          <p:nvPr/>
        </p:nvSpPr>
        <p:spPr>
          <a:xfrm>
            <a:off x="420624" y="5632704"/>
            <a:ext cx="11173968" cy="56692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6656" y="5779008"/>
            <a:ext cx="1325880" cy="246888"/>
          </a:xfrm>
          <a:prstGeom prst="rect">
            <a:avLst/>
          </a:prstGeom>
          <a:noFill/>
        </p:spPr>
        <p:txBody>
          <a:bodyPr wrap="square" lIns="0" rIns="0" tIns="0" bIns="0" anchor="t">
            <a:spAutoFit/>
          </a:bodyPr>
          <a:lstStyle/>
          <a:p>
            <a:pPr algn="l">
              <a:spcAft>
                <a:spcPts val="0"/>
              </a:spcAft>
            </a:pPr>
            <a:r>
              <a:rPr sz="1450" b="1" i="0">
                <a:solidFill>
                  <a:srgbClr val="FFFFFF"/>
                </a:solidFill>
                <a:latin typeface="Arial"/>
              </a:rPr>
              <a:t>Biology check</a:t>
            </a:r>
          </a:p>
        </p:txBody>
      </p:sp>
      <p:sp>
        <p:nvSpPr>
          <p:cNvPr id="50" name="TextBox 49"/>
          <p:cNvSpPr txBox="1"/>
          <p:nvPr/>
        </p:nvSpPr>
        <p:spPr>
          <a:xfrm>
            <a:off x="2176272" y="5760720"/>
            <a:ext cx="6172200" cy="265176"/>
          </a:xfrm>
          <a:prstGeom prst="rect">
            <a:avLst/>
          </a:prstGeom>
          <a:noFill/>
        </p:spPr>
        <p:txBody>
          <a:bodyPr wrap="square" lIns="0" rIns="0" tIns="0" bIns="0" anchor="t">
            <a:spAutoFit/>
          </a:bodyPr>
          <a:lstStyle/>
          <a:p>
            <a:pPr algn="l">
              <a:spcAft>
                <a:spcPts val="0"/>
              </a:spcAft>
            </a:pPr>
            <a:r>
              <a:rPr sz="1360" b="0" i="0">
                <a:solidFill>
                  <a:srgbClr val="DCE7F2"/>
                </a:solidFill>
                <a:latin typeface="Arial"/>
              </a:rPr>
              <a:t>FLT vs GC effects and BH FDR use observed OSDR profiles only.</a:t>
            </a:r>
          </a:p>
        </p:txBody>
      </p:sp>
      <p:sp>
        <p:nvSpPr>
          <p:cNvPr id="51" name="TextBox 50"/>
          <p:cNvSpPr txBox="1"/>
          <p:nvPr/>
        </p:nvSpPr>
        <p:spPr>
          <a:xfrm>
            <a:off x="8394192" y="5760720"/>
            <a:ext cx="2871216" cy="265176"/>
          </a:xfrm>
          <a:prstGeom prst="rect">
            <a:avLst/>
          </a:prstGeom>
          <a:noFill/>
        </p:spPr>
        <p:txBody>
          <a:bodyPr wrap="square" lIns="0" rIns="0" tIns="0" bIns="0" anchor="t">
            <a:spAutoFit/>
          </a:bodyPr>
          <a:lstStyle/>
          <a:p>
            <a:pPr algn="r">
              <a:spcAft>
                <a:spcPts val="0"/>
              </a:spcAft>
            </a:pPr>
            <a:r>
              <a:rPr sz="1180" b="1" i="0">
                <a:solidFill>
                  <a:srgbClr val="FFD69A"/>
                </a:solidFill>
                <a:latin typeface="Arial"/>
              </a:rPr>
              <a:t>Animal n stays unchanged.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Rectangle 8"/>
          <p:cNvSpPr/>
          <p:nvPr/>
        </p:nvSpPr>
        <p:spPr>
          <a:xfrm>
            <a:off x="640080" y="54864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1" name="Rectangle 10"/>
          <p:cNvSpPr/>
          <p:nvPr/>
        </p:nvSpPr>
        <p:spPr>
          <a:xfrm>
            <a:off x="640080" y="41148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3" name="Rectangle 12"/>
          <p:cNvSpPr/>
          <p:nvPr/>
        </p:nvSpPr>
        <p:spPr>
          <a:xfrm>
            <a:off x="640080" y="27432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5" name="Rectangle 14"/>
          <p:cNvSpPr/>
          <p:nvPr/>
        </p:nvSpPr>
        <p:spPr>
          <a:xfrm>
            <a:off x="713232"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7" name="TextBox 16"/>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8" name="Rectangle 17"/>
          <p:cNvSpPr/>
          <p:nvPr/>
        </p:nvSpPr>
        <p:spPr>
          <a:xfrm>
            <a:off x="1591056"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0" name="TextBox 19"/>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21" name="Rectangle 20"/>
          <p:cNvSpPr/>
          <p:nvPr/>
        </p:nvSpPr>
        <p:spPr>
          <a:xfrm>
            <a:off x="2468880"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3" name="TextBox 22"/>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24" name="Rectangle 23"/>
          <p:cNvSpPr/>
          <p:nvPr/>
        </p:nvSpPr>
        <p:spPr>
          <a:xfrm>
            <a:off x="640080" y="5486400"/>
            <a:ext cx="2633472"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(0-1)</a:t>
            </a: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ectangle 15"/>
          <p:cNvSpPr/>
          <p:nvPr/>
        </p:nvSpPr>
        <p:spPr>
          <a:xfrm>
            <a:off x="3218688" y="4535424"/>
            <a:ext cx="1700784" cy="713232"/>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9904" y="2020824"/>
            <a:ext cx="16459" cy="338328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240280"/>
            <a:ext cx="4846320"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ectangle 27"/>
          <p:cNvSpPr/>
          <p:nvPr/>
        </p:nvSpPr>
        <p:spPr>
          <a:xfrm>
            <a:off x="6547104" y="4681728"/>
            <a:ext cx="4572000" cy="47548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ectangle 29"/>
          <p:cNvSpPr/>
          <p:nvPr/>
        </p:nvSpPr>
        <p:spPr>
          <a:xfrm>
            <a:off x="475488" y="5650992"/>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3968496"/>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07408"/>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46320"/>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285231"/>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