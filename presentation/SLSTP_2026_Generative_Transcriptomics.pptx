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 id="310" r:id="rId34"/>
    <p:sldId id="311" r:id="rId35"/>
    <p:sldId id="312" r:id="rId36"/>
    <p:sldId id="313" r:id="rId37"/>
    <p:sldId id="314" r:id="rId38"/>
    <p:sldId id="31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This project uses machine learning to study mouse bulk RNA-seq from NASA spaceflight experiments. One model asks which pathways change. The other asks whether realistic synthetic samples can improve a tissue-specific comparison of flight and ground control.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Both parts start with the same OSDR flight and ground-control data. expiMap summarizes expression as Reactome pathways. The generative pipeline learns the broader expression patterns and tests whether generated samples improve FLT-GC prediction and gene ranking.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An autoencoder compresses thousands of gene measurements into a smaller set of features and then reconstructs the original profile. This compressed representation is often called latent space. Samples with similar expression sit near one another. expiMap gives each compressed feature a biological meaning by connecting it to a known Reactome gene program.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Each OSDR sample receives one score per Reactome program. The table shows average flight and ground-control scores, followed by flight minus ground control. We first compare FLT and GC within each study, where the samples share the same experimental setting, and then combine those study-level changes. A lower program score in flight does not by itself prove that the pathway is biochemically inhibited.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Thymus showed lower repair, cytoskeletal, and stromal-interaction programs. Skin showed lower chromatin regulation, repair, Hedgehog, sphingolipid, and cell-junction programs. Liver showed lower MHC class II and T-cell receptor scores. Spleen combined lower T-cell receptor, neutrophil-degranulation, and C-type lectin programs.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A generator learns patterns from measured RNA-seq and creates new numeric expression profiles for a chosen tissue and FLT or GC condition. These profiles are useful model outputs, but they are not new animals or independent biological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OSDR contains 1,610 profiles from 75 studies. NASA identifiers for those studies are sometimes called accessions. ARCHS4 supplies a much larger mouse reference. The generator must reproduce tissue and condition patterns without mistaking differences between studies for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The left animation shows diffusion for images: start with random noise and remove it step by step until an image appears. The right side applies the same idea to gene expression. The phrase data manifold on the slide means the region occupied by real expression profiles.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A GAN trains two networks against each other. The generator makes expression profiles. The critic, which is similar to a discriminator, scores how much each profile resembles measured data. Tissue, FLT or GC, study, and sample material tell the generator what type of profile to make.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We tested different data sources, processing methods, study corrections, models, and conditioning variables. The selected branch converts expression to TPM, rescales each gene to a common range, and uses 974 informative genes. It first learns general mouse tissue patterns from ARCHS4, then adapts to OSDR and receives tissue, FLT or GC, study, and sample-material labels.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We compared WGAN-GP with diffusion. Correlation measures gene-expression agreement. Coverage F1 asks whether generated samples cover the same regions as measured samples. Real-versus-synthetic accuracy asks whether a prediction model can tell the two apart, where 0.5 is ideal. Distribution distance measures overall separation, so lower is better. Diffusion had better coverage, near-chance discrimination, and the smaller distance, so we used it for the biological analysis.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1,024 generated samples begin as noise, develop tissue structure by step 200, and reach their final expression profiles at step zero. PCA compresses the 974 gene values to two axes so the movement can be plotted.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left panel colors each sample by tissue and the right colors it by study. Circles are measured samples and crosses are generated samples. Their overlap shows that the generator reproduced both tissue differences and study-related variation.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left panel colors the same samples by FLT or GC. The right repeats the study view. FLT and GC overlap much more than the study clusters, so we estimate the FLT-GC difference separately within each study before combining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a controlled comparison, not a claim that individual animals were matched. Every prediction model uses the same 974 genes, processing, train-test splits, and settings. We train it on real samples, synthetic samples, or both, then test all three versions on the same unseen real samples. Balanced accuracy gives equal weight to FLT and GC accuracy. AUROC measures ranking, and average precision focuses on correct FLT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We also rank genes separately in the real and synthetic data. A gene that ranks well in both moves upward in the combined ranking. We then test small panels containing the top 10, 25, 50, or 100 genes. This analysis is useful for finding related gene groups, but the controlled all-gene test is the clearer test of whether synthetic training helps.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Several genes in one pathway can carry nearly the same information. If we shuffle Gene A, Genes B and C may still support the prediction, so performance changes little. The one-gene score can therefore be small even when the group matters. The combined ranking helps keep these correlated genes together as a panel.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A single prediction model across all tissues became slightly worse after synthetic samples were added. Separate tissue models worked better: 18 of 27 analyses improved or held steady on all six checks. The checks cover overall prediction and the average result across studies. Teal marks tissues that passed every check; coral marks mixed results.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controlled all-gene test retained 21 tissue-gene associations. The combined ranking retained 49, and 11 appeared in both. Every association had FDR below 0.05 in measured OSDR data. FDR is the expected fraction of false positives among results called significant after testing many genes.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means a gene entered the selected panel only after the synthetic ranking was added. Reinforced means the real-only and combined rankings both selected it. The literature label asks a different question: does prior work directly agree, support a related mechanism, give mixed evidence, or provide no close match?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Four tissue analyses improved prediction and retained at least one significant gene that helped classification. Fourteen more improved prediction but did not retain a gene under both criteria. Nine had a mixed prediction result. Better classification does not automatically produce a biological finding.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This slide lists all 49 combined-ranking associations. Rows separate genes that were higher or lower in flight and whether they were promoted or reinforced. Gene color shows the separate literature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controlled test retained 15 thymus genes, including seven added after synthetic training. Reactome analysis found 26 significant terms led by mitotic cell cycle. Nine of those genes also appear in the 16-gene combined panel, which adds related cell-cycle genes. Together they suggest less proliferative renewal or fewer cycling thymocytes in flight.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combined ranking found lower Bdh1, Ech1, Bnip3, and Decr1 with higher Tpm1. That pattern suggests changes in mitochondrial turnover and fatty-acid metabolism. However, only one of the three prediction measures improved when synthetic samples were added, so soleus remains a biological hypothesis rather than confirmed synthetic benefit.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Liver contributes four flight-lower genes without pathway enrichment. Skin Plscr1 and spleen Loxl1 appear in both analyses. Pooled muscle prediction improved after adding synthetic samples, but the individual genes come from the secondary combined ranking.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Kidney, adrenal gland, gastrocnemius, and tibialis anterior produced smaller tissue-specific panels. These panels did not meet the controlled all-gene criteria, so we treat them as hypotheses for follow-up rather than firm evidence of synthetic benefit.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Diffusion generated realistic tissue-specific expression profiles. Adding those profiles improved all six prediction checks in 18 of 27 tissue analyses. The controlled and combined-ranking analyses both point most strongly to a lower cell-cycle signal in thymus. All statistical claims about FLT-GC biology still come from measured OSDR samples.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James Casaletto, SLSTP, NASA OSDR, ARCHS4, Reactome, and NASA Ames compute,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jpg"/><Relationship Id="rId3" Type="http://schemas.openxmlformats.org/officeDocument/2006/relationships/image" Target="../media/image75.jpg"/><Relationship Id="rId4" Type="http://schemas.openxmlformats.org/officeDocument/2006/relationships/image" Target="../media/image76.jpg"/><Relationship Id="rId5" Type="http://schemas.openxmlformats.org/officeDocument/2006/relationships/image" Target="../media/image77.jpg"/><Relationship Id="rId6" Type="http://schemas.openxmlformats.org/officeDocument/2006/relationships/image" Target="../media/image78.gif"/><Relationship Id="rId7" Type="http://schemas.openxmlformats.org/officeDocument/2006/relationships/image" Target="../media/image79.gif"/><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0.jpg"/><Relationship Id="rId3" Type="http://schemas.openxmlformats.org/officeDocument/2006/relationships/image" Target="../media/image81.jpg"/><Relationship Id="rId4" Type="http://schemas.openxmlformats.org/officeDocument/2006/relationships/image" Target="../media/image82.jpg"/><Relationship Id="rId5" Type="http://schemas.openxmlformats.org/officeDocument/2006/relationships/image" Target="../media/image83.jpg"/><Relationship Id="rId6" Type="http://schemas.openxmlformats.org/officeDocument/2006/relationships/image" Target="../media/image84.gif"/><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Interpretable and generative models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rPr>
                <a:latin typeface="Arial"/>
              </a:rP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PROJECT</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One dataset, two machine-learning questions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used mouse bulk RNA-seq to study how spaceflight changes genes, pathways, and tissue state.</a:t>
            </a:r>
          </a:p>
        </p:txBody>
      </p:sp>
      <p:sp>
        <p:nvSpPr>
          <p:cNvPr id="22" name="Rectangle 21"/>
          <p:cNvSpPr/>
          <p:nvPr/>
        </p:nvSpPr>
        <p:spPr>
          <a:xfrm>
            <a:off x="502920" y="1874519"/>
            <a:ext cx="11192256" cy="69494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011680"/>
            <a:ext cx="1627632" cy="283464"/>
          </a:xfrm>
          <a:prstGeom prst="rect">
            <a:avLst/>
          </a:prstGeom>
          <a:noFill/>
        </p:spPr>
        <p:txBody>
          <a:bodyPr wrap="square" lIns="0" rIns="0" tIns="0" bIns="0" anchor="t">
            <a:spAutoFit/>
          </a:bodyPr>
          <a:lstStyle/>
          <a:p>
            <a:pPr algn="l">
              <a:spcAft>
                <a:spcPts val="0"/>
              </a:spcAft>
            </a:pPr>
            <a:r>
              <a:rPr sz="1600" b="1" i="0">
                <a:solidFill>
                  <a:srgbClr val="FFFFFF"/>
                </a:solidFill>
                <a:latin typeface="Arial"/>
              </a:rPr>
              <a:t>NASA OSDR API</a:t>
            </a:r>
          </a:p>
        </p:txBody>
      </p:sp>
      <p:sp>
        <p:nvSpPr>
          <p:cNvPr id="24" name="TextBox 23"/>
          <p:cNvSpPr txBox="1"/>
          <p:nvPr/>
        </p:nvSpPr>
        <p:spPr>
          <a:xfrm>
            <a:off x="2487168" y="1993392"/>
            <a:ext cx="8759952" cy="310896"/>
          </a:xfrm>
          <a:prstGeom prst="rect">
            <a:avLst/>
          </a:prstGeom>
          <a:noFill/>
        </p:spPr>
        <p:txBody>
          <a:bodyPr wrap="square" lIns="0" rIns="0" tIns="0" bIns="0" anchor="ctr">
            <a:spAutoFit/>
          </a:bodyPr>
          <a:lstStyle/>
          <a:p>
            <a:pPr algn="l">
              <a:spcAft>
                <a:spcPts val="0"/>
              </a:spcAft>
            </a:pPr>
            <a:r>
              <a:rPr sz="1320" b="0" i="0">
                <a:solidFill>
                  <a:srgbClr val="DCE7F2"/>
                </a:solidFill>
                <a:latin typeface="Arial"/>
              </a:rPr>
              <a:t>Mus musculus bulk RNA-seq | spaceflight (FLT) and ground control (GC) | multiple missions and tissues</a:t>
            </a:r>
          </a:p>
        </p:txBody>
      </p:sp>
      <p:sp>
        <p:nvSpPr>
          <p:cNvPr id="25" name="Rectangle 24"/>
          <p:cNvSpPr/>
          <p:nvPr/>
        </p:nvSpPr>
        <p:spPr>
          <a:xfrm>
            <a:off x="502920" y="2944368"/>
            <a:ext cx="5449824" cy="2926080"/>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3182112"/>
            <a:ext cx="411480"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7" name="TextBox 26"/>
          <p:cNvSpPr txBox="1"/>
          <p:nvPr/>
        </p:nvSpPr>
        <p:spPr>
          <a:xfrm>
            <a:off x="1252728"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Which biological programs change?</a:t>
            </a:r>
          </a:p>
        </p:txBody>
      </p:sp>
      <p:sp>
        <p:nvSpPr>
          <p:cNvPr id="28" name="Rectangle 27"/>
          <p:cNvSpPr/>
          <p:nvPr/>
        </p:nvSpPr>
        <p:spPr>
          <a:xfrm>
            <a:off x="731520" y="3767328"/>
            <a:ext cx="4965192"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995928"/>
            <a:ext cx="4846320" cy="310896"/>
          </a:xfrm>
          <a:prstGeom prst="rect">
            <a:avLst/>
          </a:prstGeom>
          <a:noFill/>
        </p:spPr>
        <p:txBody>
          <a:bodyPr wrap="square" lIns="0" rIns="0" tIns="0" bIns="0" anchor="t">
            <a:spAutoFit/>
          </a:bodyPr>
          <a:lstStyle/>
          <a:p>
            <a:pPr algn="l">
              <a:spcAft>
                <a:spcPts val="0"/>
              </a:spcAft>
            </a:pPr>
            <a:r>
              <a:rPr sz="1540" b="1" i="0">
                <a:solidFill>
                  <a:srgbClr val="2D6496"/>
                </a:solidFill>
                <a:latin typeface="Arial"/>
              </a:rPr>
              <a:t>expiMap</a:t>
            </a:r>
          </a:p>
        </p:txBody>
      </p:sp>
      <p:sp>
        <p:nvSpPr>
          <p:cNvPr id="30" name="TextBox 29"/>
          <p:cNvSpPr txBox="1"/>
          <p:nvPr/>
        </p:nvSpPr>
        <p:spPr>
          <a:xfrm>
            <a:off x="731520"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Train a pathway-constrained reference on ARCHS4, then map OSDR samples into mouse Reactome programs.</a:t>
            </a:r>
          </a:p>
        </p:txBody>
      </p:sp>
      <p:sp>
        <p:nvSpPr>
          <p:cNvPr id="31" name="TextBox 30"/>
          <p:cNvSpPr txBox="1"/>
          <p:nvPr/>
        </p:nvSpPr>
        <p:spPr>
          <a:xfrm>
            <a:off x="731520"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tissue-specific pathway shifts</a:t>
            </a:r>
          </a:p>
        </p:txBody>
      </p:sp>
      <p:sp>
        <p:nvSpPr>
          <p:cNvPr id="32" name="Rectangle 31"/>
          <p:cNvSpPr/>
          <p:nvPr/>
        </p:nvSpPr>
        <p:spPr>
          <a:xfrm>
            <a:off x="6245352" y="2944368"/>
            <a:ext cx="5449824" cy="2926080"/>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4808" y="3182112"/>
            <a:ext cx="411480"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02</a:t>
            </a:r>
          </a:p>
        </p:txBody>
      </p:sp>
      <p:sp>
        <p:nvSpPr>
          <p:cNvPr id="34" name="TextBox 33"/>
          <p:cNvSpPr txBox="1"/>
          <p:nvPr/>
        </p:nvSpPr>
        <p:spPr>
          <a:xfrm>
            <a:off x="6995160"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Can synthetic profiles sharpen the analysis?</a:t>
            </a:r>
          </a:p>
        </p:txBody>
      </p:sp>
      <p:sp>
        <p:nvSpPr>
          <p:cNvPr id="35" name="Rectangle 34"/>
          <p:cNvSpPr/>
          <p:nvPr/>
        </p:nvSpPr>
        <p:spPr>
          <a:xfrm>
            <a:off x="6473952" y="3767328"/>
            <a:ext cx="49651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3952" y="3995928"/>
            <a:ext cx="4846320" cy="310896"/>
          </a:xfrm>
          <a:prstGeom prst="rect">
            <a:avLst/>
          </a:prstGeom>
          <a:noFill/>
        </p:spPr>
        <p:txBody>
          <a:bodyPr wrap="square" lIns="0" rIns="0" tIns="0" bIns="0" anchor="t">
            <a:spAutoFit/>
          </a:bodyPr>
          <a:lstStyle/>
          <a:p>
            <a:pPr algn="l">
              <a:spcAft>
                <a:spcPts val="0"/>
              </a:spcAft>
            </a:pPr>
            <a:r>
              <a:rPr sz="1540" b="1" i="0">
                <a:solidFill>
                  <a:srgbClr val="178681"/>
                </a:solidFill>
                <a:latin typeface="Arial"/>
              </a:rPr>
              <a:t>Conditional generation</a:t>
            </a:r>
          </a:p>
        </p:txBody>
      </p:sp>
      <p:sp>
        <p:nvSpPr>
          <p:cNvPr id="37" name="TextBox 36"/>
          <p:cNvSpPr txBox="1"/>
          <p:nvPr/>
        </p:nvSpPr>
        <p:spPr>
          <a:xfrm>
            <a:off x="6473952"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Generate condition-specific expression profiles by tissue, study, and FLT or GC condition.</a:t>
            </a:r>
          </a:p>
        </p:txBody>
      </p:sp>
      <p:sp>
        <p:nvSpPr>
          <p:cNvPr id="38" name="TextBox 37"/>
          <p:cNvSpPr txBox="1"/>
          <p:nvPr/>
        </p:nvSpPr>
        <p:spPr>
          <a:xfrm>
            <a:off x="6473952"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validated profiles and gene ranking</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Data source: NASA Open Science Data Repository Biological Data API.</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NEURAL NETWORKS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Autoencoders compress thousands of genes into a few features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encoder summarizes a gene profile; the decoder learns enough structure to reconstruct it.</a:t>
            </a:r>
          </a:p>
        </p:txBody>
      </p:sp>
      <p:sp>
        <p:nvSpPr>
          <p:cNvPr id="7" name="TextBox 6"/>
          <p:cNvSpPr txBox="1"/>
          <p:nvPr/>
        </p:nvSpPr>
        <p:spPr>
          <a:xfrm>
            <a:off x="530352" y="1874519"/>
            <a:ext cx="131673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AUTOENCODER</a:t>
            </a:r>
          </a:p>
        </p:txBody>
      </p:sp>
      <p:sp>
        <p:nvSpPr>
          <p:cNvPr id="8" name="Rectangle 7"/>
          <p:cNvSpPr/>
          <p:nvPr/>
        </p:nvSpPr>
        <p:spPr>
          <a:xfrm>
            <a:off x="457200" y="2157984"/>
            <a:ext cx="6748272" cy="3547872"/>
          </a:xfrm>
          <a:prstGeom prst="rect">
            <a:avLst/>
          </a:prstGeom>
          <a:solidFill>
            <a:srgbClr val="F7F9FA"/>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493008"/>
            <a:ext cx="658368" cy="475488"/>
          </a:xfrm>
          <a:prstGeom prst="rect">
            <a:avLst/>
          </a:prstGeom>
          <a:noFill/>
        </p:spPr>
        <p:txBody>
          <a:bodyPr wrap="square" lIns="0" rIns="0" tIns="0" bIns="0" anchor="t">
            <a:spAutoFit/>
          </a:bodyPr>
          <a:lstStyle/>
          <a:p>
            <a:pPr algn="ctr">
              <a:spcAft>
                <a:spcPts val="0"/>
              </a:spcAft>
            </a:pPr>
            <a:r>
              <a:rPr sz="1120" b="1" i="0">
                <a:solidFill>
                  <a:srgbClr val="59697A"/>
                </a:solidFill>
                <a:latin typeface="Arial"/>
              </a:rPr>
              <a:t>gene
profile</a:t>
            </a:r>
          </a:p>
        </p:txBody>
      </p:sp>
      <p:sp>
        <p:nvSpPr>
          <p:cNvPr id="10" name="Rectangle 9"/>
          <p:cNvSpPr/>
          <p:nvPr/>
        </p:nvSpPr>
        <p:spPr>
          <a:xfrm>
            <a:off x="1499616" y="3785615"/>
            <a:ext cx="100584" cy="53035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73351" y="3337559"/>
            <a:ext cx="100584" cy="9784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47088" y="3648456"/>
            <a:ext cx="100584"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20824" y="3108959"/>
            <a:ext cx="100584" cy="12070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94560" y="3493008"/>
            <a:ext cx="100584" cy="8229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368296" y="3895344"/>
            <a:ext cx="100584" cy="420624"/>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2615184"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3136392"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136392"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6392"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136392"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136392"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136392"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36392"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36392"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36392"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3592" y="2816352"/>
            <a:ext cx="960120"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593592" y="2816352"/>
            <a:ext cx="960120"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593592" y="2816352"/>
            <a:ext cx="960120"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93592" y="3236976"/>
            <a:ext cx="960120"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93592" y="3639312"/>
            <a:ext cx="960120"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593592" y="3739896"/>
            <a:ext cx="960120"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593592" y="3236976"/>
            <a:ext cx="960120"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593592" y="3639312"/>
            <a:ext cx="960120"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593592" y="4041648"/>
            <a:ext cx="960120"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553712" y="2816352"/>
            <a:ext cx="896112"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553712" y="3236976"/>
            <a:ext cx="896112"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553712" y="3236976"/>
            <a:ext cx="896112"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553712" y="2816352"/>
            <a:ext cx="896112"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553712" y="3639312"/>
            <a:ext cx="896112"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553712" y="3639312"/>
            <a:ext cx="896112"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553712" y="2816352"/>
            <a:ext cx="896112"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53712" y="3739896"/>
            <a:ext cx="896112"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553712" y="4041648"/>
            <a:ext cx="896112"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449824"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449824"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449824"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449824"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449824"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449824"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449824"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449824"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449824"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3063240"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063240"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063240"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063240"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3063240"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520440"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520440"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520440"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907792"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encoder</a:t>
            </a:r>
          </a:p>
        </p:txBody>
      </p:sp>
      <p:sp>
        <p:nvSpPr>
          <p:cNvPr id="74" name="Oval 73"/>
          <p:cNvSpPr/>
          <p:nvPr/>
        </p:nvSpPr>
        <p:spPr>
          <a:xfrm>
            <a:off x="4462272" y="3145536"/>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4462272" y="3547872"/>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4462272" y="3950208"/>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123944" y="4462272"/>
            <a:ext cx="859536" cy="438912"/>
          </a:xfrm>
          <a:prstGeom prst="rect">
            <a:avLst/>
          </a:prstGeom>
          <a:noFill/>
        </p:spPr>
        <p:txBody>
          <a:bodyPr wrap="square" lIns="0" rIns="0" tIns="0" bIns="0" anchor="t">
            <a:spAutoFit/>
          </a:bodyPr>
          <a:lstStyle/>
          <a:p>
            <a:pPr algn="ctr">
              <a:spcAft>
                <a:spcPts val="0"/>
              </a:spcAft>
            </a:pPr>
            <a:r>
              <a:rPr sz="980" b="1" i="0">
                <a:solidFill>
                  <a:srgbClr val="D37B00"/>
                </a:solidFill>
                <a:latin typeface="Arial"/>
              </a:rPr>
              <a:t>compressed
features</a:t>
            </a:r>
          </a:p>
        </p:txBody>
      </p:sp>
      <p:sp>
        <p:nvSpPr>
          <p:cNvPr id="78" name="Oval 77"/>
          <p:cNvSpPr/>
          <p:nvPr/>
        </p:nvSpPr>
        <p:spPr>
          <a:xfrm>
            <a:off x="5376672"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5376672"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5376672"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5833872"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833872"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833872"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833872"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833872"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212080"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decoder</a:t>
            </a:r>
          </a:p>
        </p:txBody>
      </p:sp>
      <p:sp>
        <p:nvSpPr>
          <p:cNvPr id="87" name="Right Arrow 86"/>
          <p:cNvSpPr/>
          <p:nvPr/>
        </p:nvSpPr>
        <p:spPr>
          <a:xfrm>
            <a:off x="6236208" y="3529584"/>
            <a:ext cx="274320"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675120" y="3401568"/>
            <a:ext cx="438912" cy="512064"/>
          </a:xfrm>
          <a:prstGeom prst="rect">
            <a:avLst/>
          </a:prstGeom>
          <a:noFill/>
        </p:spPr>
        <p:txBody>
          <a:bodyPr wrap="square" lIns="0" rIns="0" tIns="0" bIns="0" anchor="t">
            <a:spAutoFit/>
          </a:bodyPr>
          <a:lstStyle/>
          <a:p>
            <a:pPr algn="ctr">
              <a:spcAft>
                <a:spcPts val="0"/>
              </a:spcAft>
            </a:pPr>
            <a:r>
              <a:rPr sz="1000" b="1" i="0">
                <a:solidFill>
                  <a:srgbClr val="59697A"/>
                </a:solidFill>
                <a:latin typeface="Arial"/>
              </a:rPr>
              <a:t>output
profile</a:t>
            </a:r>
          </a:p>
        </p:txBody>
      </p:sp>
      <p:sp>
        <p:nvSpPr>
          <p:cNvPr id="89" name="TextBox 88"/>
          <p:cNvSpPr txBox="1"/>
          <p:nvPr/>
        </p:nvSpPr>
        <p:spPr>
          <a:xfrm>
            <a:off x="7589520" y="1874519"/>
            <a:ext cx="1627632"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COMPRESSED SPACE</a:t>
            </a:r>
          </a:p>
        </p:txBody>
      </p:sp>
      <p:sp>
        <p:nvSpPr>
          <p:cNvPr id="90" name="Rectangle 89"/>
          <p:cNvSpPr/>
          <p:nvPr/>
        </p:nvSpPr>
        <p:spPr>
          <a:xfrm>
            <a:off x="7516368" y="2157984"/>
            <a:ext cx="4187952" cy="35478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73568" y="5074920"/>
            <a:ext cx="3136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973568" y="2615184"/>
            <a:ext cx="16459" cy="2478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357616" y="4169663"/>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04504" y="408736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14232" y="427939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8476488" y="43982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549640" y="4251959"/>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400032" y="32826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9646920" y="320040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756648" y="339242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518904" y="35112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592056" y="336499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0323576" y="43068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570464" y="422452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680192" y="441655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442448" y="45354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10515600" y="438912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165592" y="5230368"/>
            <a:ext cx="2834640" cy="384048"/>
          </a:xfrm>
          <a:prstGeom prst="rect">
            <a:avLst/>
          </a:prstGeom>
          <a:noFill/>
        </p:spPr>
        <p:txBody>
          <a:bodyPr wrap="square" lIns="0" rIns="0" tIns="0" bIns="0" anchor="t">
            <a:spAutoFit/>
          </a:bodyPr>
          <a:lstStyle/>
          <a:p>
            <a:pPr algn="ctr">
              <a:spcAft>
                <a:spcPts val="0"/>
              </a:spcAft>
            </a:pPr>
            <a:r>
              <a:rPr sz="1050" b="0" i="0">
                <a:solidFill>
                  <a:srgbClr val="59697A"/>
                </a:solidFill>
                <a:latin typeface="Arial"/>
              </a:rPr>
              <a:t>profiles with similar expression
occupy nearby regions</a:t>
            </a:r>
          </a:p>
        </p:txBody>
      </p:sp>
      <p:sp>
        <p:nvSpPr>
          <p:cNvPr id="109" name="Rectangle 108"/>
          <p:cNvSpPr/>
          <p:nvPr/>
        </p:nvSpPr>
        <p:spPr>
          <a:xfrm>
            <a:off x="457200" y="5852160"/>
            <a:ext cx="1124712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749808" y="5980176"/>
            <a:ext cx="841248" cy="210312"/>
          </a:xfrm>
          <a:prstGeom prst="rect">
            <a:avLst/>
          </a:prstGeom>
          <a:noFill/>
        </p:spPr>
        <p:txBody>
          <a:bodyPr wrap="square" lIns="0" rIns="0" tIns="0" bIns="0" anchor="t">
            <a:spAutoFit/>
          </a:bodyPr>
          <a:lstStyle/>
          <a:p>
            <a:pPr algn="l">
              <a:spcAft>
                <a:spcPts val="0"/>
              </a:spcAft>
            </a:pPr>
            <a:r>
              <a:rPr sz="1220" b="1" i="0">
                <a:solidFill>
                  <a:srgbClr val="FFFFFF"/>
                </a:solidFill>
                <a:latin typeface="Arial"/>
              </a:rPr>
              <a:t>expiMap:</a:t>
            </a:r>
          </a:p>
        </p:txBody>
      </p:sp>
      <p:sp>
        <p:nvSpPr>
          <p:cNvPr id="111" name="TextBox 110"/>
          <p:cNvSpPr txBox="1"/>
          <p:nvPr/>
        </p:nvSpPr>
        <p:spPr>
          <a:xfrm>
            <a:off x="1655064" y="5980176"/>
            <a:ext cx="9509760" cy="210312"/>
          </a:xfrm>
          <a:prstGeom prst="rect">
            <a:avLst/>
          </a:prstGeom>
          <a:noFill/>
        </p:spPr>
        <p:txBody>
          <a:bodyPr wrap="square" lIns="0" rIns="0" tIns="0" bIns="0" anchor="t">
            <a:spAutoFit/>
          </a:bodyPr>
          <a:lstStyle/>
          <a:p>
            <a:pPr algn="l">
              <a:spcAft>
                <a:spcPts val="0"/>
              </a:spcAft>
            </a:pPr>
            <a:r>
              <a:rPr sz="1220" b="0" i="0">
                <a:solidFill>
                  <a:srgbClr val="DCE7F2"/>
                </a:solidFill>
                <a:latin typeface="Arial"/>
              </a:rPr>
              <a:t>each compressed feature corresponds to a Reactome gene program.</a:t>
            </a:r>
          </a:p>
        </p:txBody>
      </p:sp>
      <p:sp>
        <p:nvSpPr>
          <p:cNvPr id="112" name="TextBox 11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Concept adapted from the midpoint presentation. expiMap: Lotfollahi et al., Nature Cell Biology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SCORES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Program scores turn expression into pathway-level changes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Each sample receives a Reactome program score; FLT minus GC shows whether the score rises or falls in flight.</a:t>
            </a:r>
          </a:p>
        </p:txBody>
      </p:sp>
      <p:sp>
        <p:nvSpPr>
          <p:cNvPr id="7" name="Rectangle 6"/>
          <p:cNvSpPr/>
          <p:nvPr/>
        </p:nvSpPr>
        <p:spPr>
          <a:xfrm>
            <a:off x="429768" y="1865376"/>
            <a:ext cx="8065008" cy="4160520"/>
          </a:xfrm>
          <a:prstGeom prst="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2057400"/>
            <a:ext cx="3291840" cy="210312"/>
          </a:xfrm>
          <a:prstGeom prst="rect">
            <a:avLst/>
          </a:prstGeom>
          <a:noFill/>
        </p:spPr>
        <p:txBody>
          <a:bodyPr wrap="square" lIns="0" rIns="0" tIns="0" bIns="0" anchor="t">
            <a:spAutoFit/>
          </a:bodyPr>
          <a:lstStyle/>
          <a:p>
            <a:pPr algn="l">
              <a:spcAft>
                <a:spcPts val="0"/>
              </a:spcAft>
            </a:pPr>
            <a:r>
              <a:rPr sz="930" b="1" i="0">
                <a:solidFill>
                  <a:srgbClr val="2D6496"/>
                </a:solidFill>
                <a:latin typeface="Arial"/>
              </a:rPr>
              <a:t>REPRESENTATIVE OBSERVED OSDR PROGRAMS</a:t>
            </a:r>
          </a:p>
        </p:txBody>
      </p:sp>
      <p:sp>
        <p:nvSpPr>
          <p:cNvPr id="9" name="TextBox 8"/>
          <p:cNvSpPr txBox="1"/>
          <p:nvPr/>
        </p:nvSpPr>
        <p:spPr>
          <a:xfrm>
            <a:off x="4133087" y="2258568"/>
            <a:ext cx="987552" cy="237744"/>
          </a:xfrm>
          <a:prstGeom prst="rect">
            <a:avLst/>
          </a:prstGeom>
          <a:noFill/>
        </p:spPr>
        <p:txBody>
          <a:bodyPr wrap="square" lIns="0" rIns="0" tIns="0" bIns="0" anchor="t">
            <a:spAutoFit/>
          </a:bodyPr>
          <a:lstStyle/>
          <a:p>
            <a:pPr algn="ctr">
              <a:spcAft>
                <a:spcPts val="0"/>
              </a:spcAft>
            </a:pPr>
            <a:r>
              <a:rPr sz="1050" b="1" i="0">
                <a:solidFill>
                  <a:srgbClr val="D37B00"/>
                </a:solidFill>
                <a:latin typeface="Arial"/>
              </a:rPr>
              <a:t>FLT score</a:t>
            </a:r>
          </a:p>
        </p:txBody>
      </p:sp>
      <p:sp>
        <p:nvSpPr>
          <p:cNvPr id="10" name="TextBox 9"/>
          <p:cNvSpPr txBox="1"/>
          <p:nvPr/>
        </p:nvSpPr>
        <p:spPr>
          <a:xfrm>
            <a:off x="5650992" y="2258568"/>
            <a:ext cx="987552" cy="237744"/>
          </a:xfrm>
          <a:prstGeom prst="rect">
            <a:avLst/>
          </a:prstGeom>
          <a:noFill/>
        </p:spPr>
        <p:txBody>
          <a:bodyPr wrap="square" lIns="0" rIns="0" tIns="0" bIns="0" anchor="t">
            <a:spAutoFit/>
          </a:bodyPr>
          <a:lstStyle/>
          <a:p>
            <a:pPr algn="ctr">
              <a:spcAft>
                <a:spcPts val="0"/>
              </a:spcAft>
            </a:pPr>
            <a:r>
              <a:rPr sz="1050" b="1" i="0">
                <a:solidFill>
                  <a:srgbClr val="2D6496"/>
                </a:solidFill>
                <a:latin typeface="Arial"/>
              </a:rPr>
              <a:t>GC score</a:t>
            </a:r>
          </a:p>
        </p:txBody>
      </p:sp>
      <p:sp>
        <p:nvSpPr>
          <p:cNvPr id="11" name="TextBox 10"/>
          <p:cNvSpPr txBox="1"/>
          <p:nvPr/>
        </p:nvSpPr>
        <p:spPr>
          <a:xfrm>
            <a:off x="7196328" y="2258568"/>
            <a:ext cx="987552" cy="237744"/>
          </a:xfrm>
          <a:prstGeom prst="rect">
            <a:avLst/>
          </a:prstGeom>
          <a:noFill/>
        </p:spPr>
        <p:txBody>
          <a:bodyPr wrap="square" lIns="0" rIns="0" tIns="0" bIns="0" anchor="t">
            <a:spAutoFit/>
          </a:bodyPr>
          <a:lstStyle/>
          <a:p>
            <a:pPr algn="ctr">
              <a:spcAft>
                <a:spcPts val="0"/>
              </a:spcAft>
            </a:pPr>
            <a:r>
              <a:rPr sz="1050" b="1" i="0">
                <a:solidFill>
                  <a:srgbClr val="178681"/>
                </a:solidFill>
                <a:latin typeface="Arial"/>
              </a:rPr>
              <a:t>FLT - GC</a:t>
            </a:r>
          </a:p>
        </p:txBody>
      </p:sp>
      <p:sp>
        <p:nvSpPr>
          <p:cNvPr id="12" name="TextBox 11"/>
          <p:cNvSpPr txBox="1"/>
          <p:nvPr/>
        </p:nvSpPr>
        <p:spPr>
          <a:xfrm>
            <a:off x="5303520" y="2258568"/>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13" name="TextBox 12"/>
          <p:cNvSpPr txBox="1"/>
          <p:nvPr/>
        </p:nvSpPr>
        <p:spPr>
          <a:xfrm>
            <a:off x="6821424" y="2258568"/>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14" name="Rectangle 13"/>
          <p:cNvSpPr/>
          <p:nvPr/>
        </p:nvSpPr>
        <p:spPr>
          <a:xfrm>
            <a:off x="704088" y="2715768"/>
            <a:ext cx="54864" cy="4389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2660904"/>
            <a:ext cx="859536" cy="219456"/>
          </a:xfrm>
          <a:prstGeom prst="rect">
            <a:avLst/>
          </a:prstGeom>
          <a:noFill/>
        </p:spPr>
        <p:txBody>
          <a:bodyPr wrap="square" lIns="0" rIns="0" tIns="0" bIns="0" anchor="t">
            <a:spAutoFit/>
          </a:bodyPr>
          <a:lstStyle/>
          <a:p>
            <a:pPr algn="l">
              <a:spcAft>
                <a:spcPts val="0"/>
              </a:spcAft>
            </a:pPr>
            <a:r>
              <a:rPr sz="1100" b="1" i="0">
                <a:solidFill>
                  <a:srgbClr val="8063A6"/>
                </a:solidFill>
                <a:latin typeface="Arial"/>
              </a:rPr>
              <a:t>Thymus</a:t>
            </a:r>
          </a:p>
        </p:txBody>
      </p:sp>
      <p:sp>
        <p:nvSpPr>
          <p:cNvPr id="16" name="TextBox 15"/>
          <p:cNvSpPr txBox="1"/>
          <p:nvPr/>
        </p:nvSpPr>
        <p:spPr>
          <a:xfrm>
            <a:off x="1746504" y="2660904"/>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DNA repair</a:t>
            </a:r>
          </a:p>
        </p:txBody>
      </p:sp>
      <p:sp>
        <p:nvSpPr>
          <p:cNvPr id="17" name="Rectangle 16"/>
          <p:cNvSpPr/>
          <p:nvPr/>
        </p:nvSpPr>
        <p:spPr>
          <a:xfrm>
            <a:off x="4133087" y="2642616"/>
            <a:ext cx="987552" cy="438912"/>
          </a:xfrm>
          <a:prstGeom prst="rect">
            <a:avLst/>
          </a:prstGeom>
          <a:solidFill>
            <a:srgbClr val="A4BCD1"/>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33087" y="2724912"/>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-0.45</a:t>
            </a:r>
          </a:p>
        </p:txBody>
      </p:sp>
      <p:sp>
        <p:nvSpPr>
          <p:cNvPr id="19" name="Rectangle 18"/>
          <p:cNvSpPr/>
          <p:nvPr/>
        </p:nvSpPr>
        <p:spPr>
          <a:xfrm>
            <a:off x="5650992" y="2642616"/>
            <a:ext cx="987552" cy="438912"/>
          </a:xfrm>
          <a:prstGeom prst="rect">
            <a:avLst/>
          </a:prstGeom>
          <a:solidFill>
            <a:srgbClr val="E8B978"/>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724912"/>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+0.55</a:t>
            </a:r>
          </a:p>
        </p:txBody>
      </p:sp>
      <p:sp>
        <p:nvSpPr>
          <p:cNvPr id="21" name="Rectangle 20"/>
          <p:cNvSpPr/>
          <p:nvPr/>
        </p:nvSpPr>
        <p:spPr>
          <a:xfrm>
            <a:off x="7196328" y="2642616"/>
            <a:ext cx="987552" cy="438912"/>
          </a:xfrm>
          <a:prstGeom prst="rect">
            <a:avLst/>
          </a:prstGeom>
          <a:solidFill>
            <a:srgbClr val="356A9A"/>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8" y="2724912"/>
            <a:ext cx="987552" cy="219456"/>
          </a:xfrm>
          <a:prstGeom prst="rect">
            <a:avLst/>
          </a:prstGeom>
          <a:noFill/>
        </p:spPr>
        <p:txBody>
          <a:bodyPr wrap="square" lIns="0" rIns="0" tIns="0" bIns="0" anchor="t">
            <a:spAutoFit/>
          </a:bodyPr>
          <a:lstStyle/>
          <a:p>
            <a:pPr algn="ctr">
              <a:spcAft>
                <a:spcPts val="0"/>
              </a:spcAft>
            </a:pPr>
            <a:r>
              <a:rPr sz="1100" b="1" i="0">
                <a:solidFill>
                  <a:srgbClr val="FFFFFF"/>
                </a:solidFill>
                <a:latin typeface="Arial"/>
              </a:rPr>
              <a:t>-1.01</a:t>
            </a:r>
          </a:p>
        </p:txBody>
      </p:sp>
      <p:sp>
        <p:nvSpPr>
          <p:cNvPr id="23" name="TextBox 22"/>
          <p:cNvSpPr txBox="1"/>
          <p:nvPr/>
        </p:nvSpPr>
        <p:spPr>
          <a:xfrm>
            <a:off x="5303520" y="2706624"/>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24" name="TextBox 23"/>
          <p:cNvSpPr txBox="1"/>
          <p:nvPr/>
        </p:nvSpPr>
        <p:spPr>
          <a:xfrm>
            <a:off x="6821424" y="2706624"/>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25" name="Rectangle 24"/>
          <p:cNvSpPr/>
          <p:nvPr/>
        </p:nvSpPr>
        <p:spPr>
          <a:xfrm>
            <a:off x="704088" y="3255263"/>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4088" y="3410711"/>
            <a:ext cx="54864" cy="4389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355848"/>
            <a:ext cx="859536" cy="219456"/>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Skin</a:t>
            </a:r>
          </a:p>
        </p:txBody>
      </p:sp>
      <p:sp>
        <p:nvSpPr>
          <p:cNvPr id="28" name="TextBox 27"/>
          <p:cNvSpPr txBox="1"/>
          <p:nvPr/>
        </p:nvSpPr>
        <p:spPr>
          <a:xfrm>
            <a:off x="1746504" y="3355848"/>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Cell-cell junction organization</a:t>
            </a:r>
          </a:p>
        </p:txBody>
      </p:sp>
      <p:sp>
        <p:nvSpPr>
          <p:cNvPr id="29" name="Rectangle 28"/>
          <p:cNvSpPr/>
          <p:nvPr/>
        </p:nvSpPr>
        <p:spPr>
          <a:xfrm>
            <a:off x="4133087" y="3337560"/>
            <a:ext cx="987552" cy="438912"/>
          </a:xfrm>
          <a:prstGeom prst="rect">
            <a:avLst/>
          </a:prstGeom>
          <a:solidFill>
            <a:srgbClr val="ECF1F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33087"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-0.09</a:t>
            </a:r>
          </a:p>
        </p:txBody>
      </p:sp>
      <p:sp>
        <p:nvSpPr>
          <p:cNvPr id="31" name="Rectangle 30"/>
          <p:cNvSpPr/>
          <p:nvPr/>
        </p:nvSpPr>
        <p:spPr>
          <a:xfrm>
            <a:off x="5650992" y="3337560"/>
            <a:ext cx="987552" cy="438912"/>
          </a:xfrm>
          <a:prstGeom prst="rect">
            <a:avLst/>
          </a:prstGeom>
          <a:solidFill>
            <a:srgbClr val="FBF2E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50992"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+0.11</a:t>
            </a:r>
          </a:p>
        </p:txBody>
      </p:sp>
      <p:sp>
        <p:nvSpPr>
          <p:cNvPr id="33" name="Rectangle 32"/>
          <p:cNvSpPr/>
          <p:nvPr/>
        </p:nvSpPr>
        <p:spPr>
          <a:xfrm>
            <a:off x="7196328" y="3337560"/>
            <a:ext cx="987552" cy="438912"/>
          </a:xfrm>
          <a:prstGeom prst="rect">
            <a:avLst/>
          </a:prstGeom>
          <a:solidFill>
            <a:srgbClr val="D8E2EC"/>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-0.20</a:t>
            </a:r>
          </a:p>
        </p:txBody>
      </p:sp>
      <p:sp>
        <p:nvSpPr>
          <p:cNvPr id="35" name="TextBox 34"/>
          <p:cNvSpPr txBox="1"/>
          <p:nvPr/>
        </p:nvSpPr>
        <p:spPr>
          <a:xfrm>
            <a:off x="5303520" y="3401568"/>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36" name="TextBox 35"/>
          <p:cNvSpPr txBox="1"/>
          <p:nvPr/>
        </p:nvSpPr>
        <p:spPr>
          <a:xfrm>
            <a:off x="6821424" y="3401568"/>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37" name="Rectangle 36"/>
          <p:cNvSpPr/>
          <p:nvPr/>
        </p:nvSpPr>
        <p:spPr>
          <a:xfrm>
            <a:off x="704088" y="3950207"/>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4088" y="4105655"/>
            <a:ext cx="54864" cy="438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6112" y="4050791"/>
            <a:ext cx="859536" cy="219456"/>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Liver</a:t>
            </a:r>
          </a:p>
        </p:txBody>
      </p:sp>
      <p:sp>
        <p:nvSpPr>
          <p:cNvPr id="40" name="TextBox 39"/>
          <p:cNvSpPr txBox="1"/>
          <p:nvPr/>
        </p:nvSpPr>
        <p:spPr>
          <a:xfrm>
            <a:off x="1746504" y="4050791"/>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MHC class II antigen presentation</a:t>
            </a:r>
          </a:p>
        </p:txBody>
      </p:sp>
      <p:sp>
        <p:nvSpPr>
          <p:cNvPr id="41" name="Rectangle 40"/>
          <p:cNvSpPr/>
          <p:nvPr/>
        </p:nvSpPr>
        <p:spPr>
          <a:xfrm>
            <a:off x="4133087" y="4032503"/>
            <a:ext cx="987552" cy="438912"/>
          </a:xfrm>
          <a:prstGeom prst="rect">
            <a:avLst/>
          </a:prstGeom>
          <a:solidFill>
            <a:srgbClr val="EFF3F7"/>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33087"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-0.07</a:t>
            </a:r>
          </a:p>
        </p:txBody>
      </p:sp>
      <p:sp>
        <p:nvSpPr>
          <p:cNvPr id="43" name="Rectangle 42"/>
          <p:cNvSpPr/>
          <p:nvPr/>
        </p:nvSpPr>
        <p:spPr>
          <a:xfrm>
            <a:off x="5650992" y="4032503"/>
            <a:ext cx="987552" cy="438912"/>
          </a:xfrm>
          <a:prstGeom prst="rect">
            <a:avLst/>
          </a:prstGeom>
          <a:solidFill>
            <a:srgbClr val="FBF4EA"/>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50992"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+0.09</a:t>
            </a:r>
          </a:p>
        </p:txBody>
      </p:sp>
      <p:sp>
        <p:nvSpPr>
          <p:cNvPr id="45" name="Rectangle 44"/>
          <p:cNvSpPr/>
          <p:nvPr/>
        </p:nvSpPr>
        <p:spPr>
          <a:xfrm>
            <a:off x="7196328" y="4032503"/>
            <a:ext cx="987552" cy="438912"/>
          </a:xfrm>
          <a:prstGeom prst="rect">
            <a:avLst/>
          </a:prstGeom>
          <a:solidFill>
            <a:srgbClr val="DFE7EF"/>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6328"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-0.16</a:t>
            </a:r>
          </a:p>
        </p:txBody>
      </p:sp>
      <p:sp>
        <p:nvSpPr>
          <p:cNvPr id="47" name="TextBox 46"/>
          <p:cNvSpPr txBox="1"/>
          <p:nvPr/>
        </p:nvSpPr>
        <p:spPr>
          <a:xfrm>
            <a:off x="5303520" y="4096511"/>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48" name="TextBox 47"/>
          <p:cNvSpPr txBox="1"/>
          <p:nvPr/>
        </p:nvSpPr>
        <p:spPr>
          <a:xfrm>
            <a:off x="6821424" y="4096511"/>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49" name="Rectangle 48"/>
          <p:cNvSpPr/>
          <p:nvPr/>
        </p:nvSpPr>
        <p:spPr>
          <a:xfrm>
            <a:off x="704088" y="4645152"/>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04088" y="4800600"/>
            <a:ext cx="54864" cy="4389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4745736"/>
            <a:ext cx="859536" cy="219456"/>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Spleen</a:t>
            </a:r>
          </a:p>
        </p:txBody>
      </p:sp>
      <p:sp>
        <p:nvSpPr>
          <p:cNvPr id="52" name="TextBox 51"/>
          <p:cNvSpPr txBox="1"/>
          <p:nvPr/>
        </p:nvSpPr>
        <p:spPr>
          <a:xfrm>
            <a:off x="1746504" y="4745736"/>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T-cell receptor signaling</a:t>
            </a:r>
          </a:p>
        </p:txBody>
      </p:sp>
      <p:sp>
        <p:nvSpPr>
          <p:cNvPr id="53" name="Rectangle 52"/>
          <p:cNvSpPr/>
          <p:nvPr/>
        </p:nvSpPr>
        <p:spPr>
          <a:xfrm>
            <a:off x="4133087" y="4727448"/>
            <a:ext cx="987552" cy="438912"/>
          </a:xfrm>
          <a:prstGeom prst="rect">
            <a:avLst/>
          </a:prstGeom>
          <a:solidFill>
            <a:srgbClr val="E5ECF2"/>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33087"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-0.13</a:t>
            </a:r>
          </a:p>
        </p:txBody>
      </p:sp>
      <p:sp>
        <p:nvSpPr>
          <p:cNvPr id="55" name="Rectangle 54"/>
          <p:cNvSpPr/>
          <p:nvPr/>
        </p:nvSpPr>
        <p:spPr>
          <a:xfrm>
            <a:off x="5650992" y="4727448"/>
            <a:ext cx="987552" cy="438912"/>
          </a:xfrm>
          <a:prstGeom prst="rect">
            <a:avLst/>
          </a:prstGeom>
          <a:solidFill>
            <a:srgbClr val="FAEFE0"/>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650992"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+0.13</a:t>
            </a:r>
          </a:p>
        </p:txBody>
      </p:sp>
      <p:sp>
        <p:nvSpPr>
          <p:cNvPr id="57" name="Rectangle 56"/>
          <p:cNvSpPr/>
          <p:nvPr/>
        </p:nvSpPr>
        <p:spPr>
          <a:xfrm>
            <a:off x="7196328" y="4727448"/>
            <a:ext cx="987552" cy="438912"/>
          </a:xfrm>
          <a:prstGeom prst="rect">
            <a:avLst/>
          </a:prstGeom>
          <a:solidFill>
            <a:srgbClr val="CBD9E5"/>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196328"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-0.26</a:t>
            </a:r>
          </a:p>
        </p:txBody>
      </p:sp>
      <p:sp>
        <p:nvSpPr>
          <p:cNvPr id="59" name="TextBox 58"/>
          <p:cNvSpPr txBox="1"/>
          <p:nvPr/>
        </p:nvSpPr>
        <p:spPr>
          <a:xfrm>
            <a:off x="5303520" y="4791456"/>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60" name="TextBox 59"/>
          <p:cNvSpPr txBox="1"/>
          <p:nvPr/>
        </p:nvSpPr>
        <p:spPr>
          <a:xfrm>
            <a:off x="6821424" y="4791456"/>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61" name="Rectangle 60"/>
          <p:cNvSpPr/>
          <p:nvPr/>
        </p:nvSpPr>
        <p:spPr>
          <a:xfrm>
            <a:off x="3017520" y="5650992"/>
            <a:ext cx="228600" cy="164592"/>
          </a:xfrm>
          <a:prstGeom prst="rect">
            <a:avLst/>
          </a:prstGeom>
          <a:solidFill>
            <a:srgbClr val="2D649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300984"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lower</a:t>
            </a:r>
          </a:p>
        </p:txBody>
      </p:sp>
      <p:sp>
        <p:nvSpPr>
          <p:cNvPr id="63" name="Rectangle 62"/>
          <p:cNvSpPr/>
          <p:nvPr/>
        </p:nvSpPr>
        <p:spPr>
          <a:xfrm>
            <a:off x="4114800" y="5650992"/>
            <a:ext cx="228600" cy="164592"/>
          </a:xfrm>
          <a:prstGeom prst="rect">
            <a:avLst/>
          </a:prstGeom>
          <a:solidFill>
            <a:srgbClr val="FFFEFE"/>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398264"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no shift</a:t>
            </a:r>
          </a:p>
        </p:txBody>
      </p:sp>
      <p:sp>
        <p:nvSpPr>
          <p:cNvPr id="65" name="Rectangle 64"/>
          <p:cNvSpPr/>
          <p:nvPr/>
        </p:nvSpPr>
        <p:spPr>
          <a:xfrm>
            <a:off x="5212079" y="5650992"/>
            <a:ext cx="228600" cy="164592"/>
          </a:xfrm>
          <a:prstGeom prst="rect">
            <a:avLst/>
          </a:prstGeom>
          <a:solidFill>
            <a:srgbClr val="D37B00"/>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95543"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higher</a:t>
            </a:r>
          </a:p>
        </p:txBody>
      </p:sp>
      <p:sp>
        <p:nvSpPr>
          <p:cNvPr id="67" name="Rectangle 66"/>
          <p:cNvSpPr/>
          <p:nvPr/>
        </p:nvSpPr>
        <p:spPr>
          <a:xfrm>
            <a:off x="8796528" y="1938528"/>
            <a:ext cx="13716" cy="399592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70848" y="2048256"/>
            <a:ext cx="1901952"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HOW TO READ IT</a:t>
            </a:r>
          </a:p>
        </p:txBody>
      </p:sp>
      <p:sp>
        <p:nvSpPr>
          <p:cNvPr id="69" name="Oval 68"/>
          <p:cNvSpPr/>
          <p:nvPr/>
        </p:nvSpPr>
        <p:spPr>
          <a:xfrm>
            <a:off x="9079992" y="2532888"/>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079992" y="2569464"/>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1</a:t>
            </a:r>
          </a:p>
        </p:txBody>
      </p:sp>
      <p:sp>
        <p:nvSpPr>
          <p:cNvPr id="71" name="TextBox 70"/>
          <p:cNvSpPr txBox="1"/>
          <p:nvPr/>
        </p:nvSpPr>
        <p:spPr>
          <a:xfrm>
            <a:off x="9500616" y="2514600"/>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Score each sample</a:t>
            </a:r>
          </a:p>
        </p:txBody>
      </p:sp>
      <p:sp>
        <p:nvSpPr>
          <p:cNvPr id="72" name="TextBox 71"/>
          <p:cNvSpPr txBox="1"/>
          <p:nvPr/>
        </p:nvSpPr>
        <p:spPr>
          <a:xfrm>
            <a:off x="9500616" y="2825496"/>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One score summarizes the genes in a Reactome program.</a:t>
            </a:r>
          </a:p>
        </p:txBody>
      </p:sp>
      <p:sp>
        <p:nvSpPr>
          <p:cNvPr id="73" name="Oval 72"/>
          <p:cNvSpPr/>
          <p:nvPr/>
        </p:nvSpPr>
        <p:spPr>
          <a:xfrm>
            <a:off x="9079992" y="3474720"/>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79992" y="3511296"/>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2</a:t>
            </a:r>
          </a:p>
        </p:txBody>
      </p:sp>
      <p:sp>
        <p:nvSpPr>
          <p:cNvPr id="75" name="TextBox 74"/>
          <p:cNvSpPr txBox="1"/>
          <p:nvPr/>
        </p:nvSpPr>
        <p:spPr>
          <a:xfrm>
            <a:off x="9500616" y="3456432"/>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Compare within study</a:t>
            </a:r>
          </a:p>
        </p:txBody>
      </p:sp>
      <p:sp>
        <p:nvSpPr>
          <p:cNvPr id="76" name="TextBox 75"/>
          <p:cNvSpPr txBox="1"/>
          <p:nvPr/>
        </p:nvSpPr>
        <p:spPr>
          <a:xfrm>
            <a:off x="9500616" y="3767328"/>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Flight samples are compared with ground controls from the same study.</a:t>
            </a:r>
          </a:p>
        </p:txBody>
      </p:sp>
      <p:sp>
        <p:nvSpPr>
          <p:cNvPr id="77" name="Oval 76"/>
          <p:cNvSpPr/>
          <p:nvPr/>
        </p:nvSpPr>
        <p:spPr>
          <a:xfrm>
            <a:off x="9079992" y="4416552"/>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079992" y="4453128"/>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3</a:t>
            </a:r>
          </a:p>
        </p:txBody>
      </p:sp>
      <p:sp>
        <p:nvSpPr>
          <p:cNvPr id="79" name="TextBox 78"/>
          <p:cNvSpPr txBox="1"/>
          <p:nvPr/>
        </p:nvSpPr>
        <p:spPr>
          <a:xfrm>
            <a:off x="9500616" y="4398264"/>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Combine study results</a:t>
            </a:r>
          </a:p>
        </p:txBody>
      </p:sp>
      <p:sp>
        <p:nvSpPr>
          <p:cNvPr id="80" name="TextBox 79"/>
          <p:cNvSpPr txBox="1"/>
          <p:nvPr/>
        </p:nvSpPr>
        <p:spPr>
          <a:xfrm>
            <a:off x="9500616" y="4709160"/>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The study-level changes are combined across missions.</a:t>
            </a:r>
          </a:p>
        </p:txBody>
      </p:sp>
      <p:sp>
        <p:nvSpPr>
          <p:cNvPr id="81" name="Rectangle 80"/>
          <p:cNvSpPr/>
          <p:nvPr/>
        </p:nvSpPr>
        <p:spPr>
          <a:xfrm>
            <a:off x="9061704" y="5413248"/>
            <a:ext cx="2432304" cy="484632"/>
          </a:xfrm>
          <a:prstGeom prst="rect">
            <a:avLst/>
          </a:prstGeom>
          <a:solidFill>
            <a:srgbClr val="E9F1F7"/>
          </a:solidFill>
          <a:ln w="10160">
            <a:solidFill>
              <a:srgbClr val="CBDD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217152" y="5513832"/>
            <a:ext cx="2121408" cy="256032"/>
          </a:xfrm>
          <a:prstGeom prst="rect">
            <a:avLst/>
          </a:prstGeom>
          <a:noFill/>
        </p:spPr>
        <p:txBody>
          <a:bodyPr wrap="square" lIns="0" rIns="0" tIns="0" bIns="0" anchor="t">
            <a:spAutoFit/>
          </a:bodyPr>
          <a:lstStyle/>
          <a:p>
            <a:pPr algn="ctr">
              <a:spcAft>
                <a:spcPts val="0"/>
              </a:spcAft>
            </a:pPr>
            <a:r>
              <a:rPr sz="1050" b="1" i="0">
                <a:solidFill>
                  <a:srgbClr val="082B55"/>
                </a:solidFill>
                <a:latin typeface="Arial"/>
              </a:rPr>
              <a:t>Negative change = lower program score in flight</a:t>
            </a:r>
          </a:p>
        </p:txBody>
      </p:sp>
      <p:sp>
        <p:nvSpPr>
          <p:cNvPr id="83" name="TextBox 8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Measured example scores: expiMap manuscript Table S33. Effects are estimated within study; lower scores do not prove biochemical inhibition.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Four tissues produced the clearest pathway patterns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FLT and GC were compared within each study before the study-level changes were combined.</a:t>
            </a:r>
          </a:p>
        </p:txBody>
      </p:sp>
      <p:sp>
        <p:nvSpPr>
          <p:cNvPr id="7" name="Rectangle 6"/>
          <p:cNvSpPr/>
          <p:nvPr/>
        </p:nvSpPr>
        <p:spPr>
          <a:xfrm>
            <a:off x="438912" y="1847088"/>
            <a:ext cx="11320272" cy="896112"/>
          </a:xfrm>
          <a:prstGeom prst="rect">
            <a:avLst/>
          </a:prstGeom>
          <a:solidFill>
            <a:srgbClr val="F1EDF7"/>
          </a:solidFill>
          <a:ln w="10160">
            <a:solidFill>
              <a:srgbClr val="F1ED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847088"/>
            <a:ext cx="68580" cy="8961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011680"/>
            <a:ext cx="1298448" cy="292608"/>
          </a:xfrm>
          <a:prstGeom prst="rect">
            <a:avLst/>
          </a:prstGeom>
          <a:noFill/>
        </p:spPr>
        <p:txBody>
          <a:bodyPr wrap="square" lIns="0" rIns="0" tIns="0" bIns="0" anchor="t">
            <a:spAutoFit/>
          </a:bodyPr>
          <a:lstStyle/>
          <a:p>
            <a:pPr algn="l">
              <a:spcAft>
                <a:spcPts val="0"/>
              </a:spcAft>
            </a:pPr>
            <a:r>
              <a:rPr sz="1700" b="1" i="0">
                <a:solidFill>
                  <a:srgbClr val="8063A6"/>
                </a:solidFill>
                <a:latin typeface="Arial"/>
              </a:rPr>
              <a:t>Thymus</a:t>
            </a:r>
          </a:p>
        </p:txBody>
      </p:sp>
      <p:sp>
        <p:nvSpPr>
          <p:cNvPr id="10" name="TextBox 9"/>
          <p:cNvSpPr txBox="1"/>
          <p:nvPr/>
        </p:nvSpPr>
        <p:spPr>
          <a:xfrm>
            <a:off x="694944" y="2359152"/>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117 samples | 5 projects</a:t>
            </a:r>
          </a:p>
        </p:txBody>
      </p:sp>
      <p:sp>
        <p:nvSpPr>
          <p:cNvPr id="11" name="TextBox 10"/>
          <p:cNvSpPr txBox="1"/>
          <p:nvPr/>
        </p:nvSpPr>
        <p:spPr>
          <a:xfrm>
            <a:off x="2322576" y="1993392"/>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12" name="TextBox 11"/>
          <p:cNvSpPr txBox="1"/>
          <p:nvPr/>
        </p:nvSpPr>
        <p:spPr>
          <a:xfrm>
            <a:off x="2322576" y="2240280"/>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DNA repair; RHOA cytoskeletal cycle; lymphoid-stromal interactions</a:t>
            </a:r>
          </a:p>
        </p:txBody>
      </p:sp>
      <p:sp>
        <p:nvSpPr>
          <p:cNvPr id="13" name="Rectangle 12"/>
          <p:cNvSpPr/>
          <p:nvPr/>
        </p:nvSpPr>
        <p:spPr>
          <a:xfrm>
            <a:off x="6419088" y="1993392"/>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020824"/>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Known involution may also involve lower repair, motility, and niche coordination.</a:t>
            </a:r>
          </a:p>
        </p:txBody>
      </p:sp>
      <p:sp>
        <p:nvSpPr>
          <p:cNvPr id="15" name="Rectangle 14"/>
          <p:cNvSpPr/>
          <p:nvPr/>
        </p:nvSpPr>
        <p:spPr>
          <a:xfrm>
            <a:off x="438912" y="2916936"/>
            <a:ext cx="11320272" cy="896112"/>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916936"/>
            <a:ext cx="68580" cy="8961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081528"/>
            <a:ext cx="1298448" cy="292608"/>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Skin</a:t>
            </a:r>
          </a:p>
        </p:txBody>
      </p:sp>
      <p:sp>
        <p:nvSpPr>
          <p:cNvPr id="18" name="TextBox 17"/>
          <p:cNvSpPr txBox="1"/>
          <p:nvPr/>
        </p:nvSpPr>
        <p:spPr>
          <a:xfrm>
            <a:off x="694944" y="3429000"/>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151 samples | 4 projects</a:t>
            </a:r>
          </a:p>
        </p:txBody>
      </p:sp>
      <p:sp>
        <p:nvSpPr>
          <p:cNvPr id="19" name="TextBox 18"/>
          <p:cNvSpPr txBox="1"/>
          <p:nvPr/>
        </p:nvSpPr>
        <p:spPr>
          <a:xfrm>
            <a:off x="2322576" y="3063240"/>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0" name="TextBox 19"/>
          <p:cNvSpPr txBox="1"/>
          <p:nvPr/>
        </p:nvSpPr>
        <p:spPr>
          <a:xfrm>
            <a:off x="2322576" y="3310128"/>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Chromatin regulation; DNA repair; Hedgehog; sphingolipids; cell junctions</a:t>
            </a:r>
          </a:p>
        </p:txBody>
      </p:sp>
      <p:sp>
        <p:nvSpPr>
          <p:cNvPr id="21" name="Rectangle 20"/>
          <p:cNvSpPr/>
          <p:nvPr/>
        </p:nvSpPr>
        <p:spPr>
          <a:xfrm>
            <a:off x="6419088" y="3063240"/>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3090672"/>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Barrier injury may include a broader loss of tissue maintenance and coordination.</a:t>
            </a:r>
          </a:p>
        </p:txBody>
      </p:sp>
      <p:sp>
        <p:nvSpPr>
          <p:cNvPr id="23" name="Rectangle 22"/>
          <p:cNvSpPr/>
          <p:nvPr/>
        </p:nvSpPr>
        <p:spPr>
          <a:xfrm>
            <a:off x="438912" y="3986783"/>
            <a:ext cx="11320272" cy="896112"/>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8912" y="3986783"/>
            <a:ext cx="68580" cy="8961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4151375"/>
            <a:ext cx="1298448" cy="292608"/>
          </a:xfrm>
          <a:prstGeom prst="rect">
            <a:avLst/>
          </a:prstGeom>
          <a:noFill/>
        </p:spPr>
        <p:txBody>
          <a:bodyPr wrap="square" lIns="0" rIns="0" tIns="0" bIns="0" anchor="t">
            <a:spAutoFit/>
          </a:bodyPr>
          <a:lstStyle/>
          <a:p>
            <a:pPr algn="l">
              <a:spcAft>
                <a:spcPts val="0"/>
              </a:spcAft>
            </a:pPr>
            <a:r>
              <a:rPr sz="1700" b="1" i="0">
                <a:solidFill>
                  <a:srgbClr val="178681"/>
                </a:solidFill>
                <a:latin typeface="Arial"/>
              </a:rPr>
              <a:t>Liver</a:t>
            </a:r>
          </a:p>
        </p:txBody>
      </p:sp>
      <p:sp>
        <p:nvSpPr>
          <p:cNvPr id="26" name="TextBox 25"/>
          <p:cNvSpPr txBox="1"/>
          <p:nvPr/>
        </p:nvSpPr>
        <p:spPr>
          <a:xfrm>
            <a:off x="694944" y="4498848"/>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197 samples | 9 projects</a:t>
            </a:r>
          </a:p>
        </p:txBody>
      </p:sp>
      <p:sp>
        <p:nvSpPr>
          <p:cNvPr id="27" name="TextBox 26"/>
          <p:cNvSpPr txBox="1"/>
          <p:nvPr/>
        </p:nvSpPr>
        <p:spPr>
          <a:xfrm>
            <a:off x="2322576" y="4133087"/>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8" name="TextBox 27"/>
          <p:cNvSpPr txBox="1"/>
          <p:nvPr/>
        </p:nvSpPr>
        <p:spPr>
          <a:xfrm>
            <a:off x="2322576" y="4379975"/>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MHC class II antigen presentation; T-cell receptor signaling</a:t>
            </a:r>
          </a:p>
        </p:txBody>
      </p:sp>
      <p:sp>
        <p:nvSpPr>
          <p:cNvPr id="29" name="Rectangle 28"/>
          <p:cNvSpPr/>
          <p:nvPr/>
        </p:nvSpPr>
        <p:spPr>
          <a:xfrm>
            <a:off x="6419088" y="4133087"/>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160520"/>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Metabolic heterogeneity coexisted with lower adaptive immune communication.</a:t>
            </a:r>
          </a:p>
        </p:txBody>
      </p:sp>
      <p:sp>
        <p:nvSpPr>
          <p:cNvPr id="31" name="Rectangle 30"/>
          <p:cNvSpPr/>
          <p:nvPr/>
        </p:nvSpPr>
        <p:spPr>
          <a:xfrm>
            <a:off x="438912" y="5056631"/>
            <a:ext cx="11320272" cy="896112"/>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5056631"/>
            <a:ext cx="68580" cy="8961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5221223"/>
            <a:ext cx="1298448" cy="292608"/>
          </a:xfrm>
          <a:prstGeom prst="rect">
            <a:avLst/>
          </a:prstGeom>
          <a:noFill/>
        </p:spPr>
        <p:txBody>
          <a:bodyPr wrap="square" lIns="0" rIns="0" tIns="0" bIns="0" anchor="t">
            <a:spAutoFit/>
          </a:bodyPr>
          <a:lstStyle/>
          <a:p>
            <a:pPr algn="l">
              <a:spcAft>
                <a:spcPts val="0"/>
              </a:spcAft>
            </a:pPr>
            <a:r>
              <a:rPr sz="1700" b="1" i="0">
                <a:solidFill>
                  <a:srgbClr val="D96552"/>
                </a:solidFill>
                <a:latin typeface="Arial"/>
              </a:rPr>
              <a:t>Spleen</a:t>
            </a:r>
          </a:p>
        </p:txBody>
      </p:sp>
      <p:sp>
        <p:nvSpPr>
          <p:cNvPr id="34" name="TextBox 33"/>
          <p:cNvSpPr txBox="1"/>
          <p:nvPr/>
        </p:nvSpPr>
        <p:spPr>
          <a:xfrm>
            <a:off x="694944" y="5568696"/>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100 samples | 5 projects</a:t>
            </a:r>
          </a:p>
        </p:txBody>
      </p:sp>
      <p:sp>
        <p:nvSpPr>
          <p:cNvPr id="35" name="TextBox 34"/>
          <p:cNvSpPr txBox="1"/>
          <p:nvPr/>
        </p:nvSpPr>
        <p:spPr>
          <a:xfrm>
            <a:off x="2322576" y="5202936"/>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36" name="TextBox 35"/>
          <p:cNvSpPr txBox="1"/>
          <p:nvPr/>
        </p:nvSpPr>
        <p:spPr>
          <a:xfrm>
            <a:off x="2322576" y="5449823"/>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T-cell receptor signaling; neutrophil degranulation; C-type lectin signaling</a:t>
            </a:r>
          </a:p>
        </p:txBody>
      </p:sp>
      <p:sp>
        <p:nvSpPr>
          <p:cNvPr id="37" name="Rectangle 36"/>
          <p:cNvSpPr/>
          <p:nvPr/>
        </p:nvSpPr>
        <p:spPr>
          <a:xfrm>
            <a:off x="6419088" y="5202936"/>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5230368"/>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The most consistent multi-pathway result joined adaptive and innate immune changes.</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Figures 3 and 6. Lower program scores do not by themselves prove biochemical inhibition.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7" name="TextBox 6"/>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8" name="TextBox 7"/>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9" name="Rectangle 8"/>
          <p:cNvSpPr/>
          <p:nvPr/>
        </p:nvSpPr>
        <p:spPr>
          <a:xfrm>
            <a:off x="457200" y="2359152"/>
            <a:ext cx="3273552" cy="340156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2144"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790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4942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51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52144"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1790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8366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49424"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151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63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5214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17904"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8366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49424"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51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63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5214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517904"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88366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4942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6151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63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214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51790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83664"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4942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151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41" name="TextBox 40"/>
          <p:cNvSpPr txBox="1"/>
          <p:nvPr/>
        </p:nvSpPr>
        <p:spPr>
          <a:xfrm>
            <a:off x="2962656"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42" name="Rectangle 41"/>
          <p:cNvSpPr/>
          <p:nvPr/>
        </p:nvSpPr>
        <p:spPr>
          <a:xfrm>
            <a:off x="713232"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Measured gene expression from real mouse tissue</a:t>
            </a:r>
          </a:p>
        </p:txBody>
      </p:sp>
      <p:sp>
        <p:nvSpPr>
          <p:cNvPr id="44" name="Right Arrow 43"/>
          <p:cNvSpPr/>
          <p:nvPr/>
        </p:nvSpPr>
        <p:spPr>
          <a:xfrm>
            <a:off x="3794760"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46" name="TextBox 45"/>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expression patterns</a:t>
            </a:r>
          </a:p>
        </p:txBody>
      </p:sp>
      <p:sp>
        <p:nvSpPr>
          <p:cNvPr id="47" name="Rectangle 46"/>
          <p:cNvSpPr/>
          <p:nvPr/>
        </p:nvSpPr>
        <p:spPr>
          <a:xfrm>
            <a:off x="4224528" y="2359152"/>
            <a:ext cx="3273552" cy="340156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4626864" y="2999232"/>
            <a:ext cx="612648" cy="475488"/>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626864" y="3474720"/>
            <a:ext cx="612648" cy="512064"/>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39512" y="2999232"/>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39512" y="3493008"/>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5907024" y="2999232"/>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907024" y="3493008"/>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565392" y="2999232"/>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565392" y="3493008"/>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4553712" y="3401568"/>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16636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16636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833872"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49224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49224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040880"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480560"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498848"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Capture gene relationships and variation by tissue and FLT/GC condition</a:t>
            </a:r>
          </a:p>
        </p:txBody>
      </p:sp>
      <p:sp>
        <p:nvSpPr>
          <p:cNvPr id="65" name="Right Arrow 64"/>
          <p:cNvSpPr/>
          <p:nvPr/>
        </p:nvSpPr>
        <p:spPr>
          <a:xfrm>
            <a:off x="7562088"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67" name="TextBox 66"/>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68" name="Rectangle 67"/>
          <p:cNvSpPr/>
          <p:nvPr/>
        </p:nvSpPr>
        <p:spPr>
          <a:xfrm>
            <a:off x="7991856" y="2359152"/>
            <a:ext cx="3273552" cy="3401568"/>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86800"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5256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1832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784080"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1498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3210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68680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052560"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784080"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1498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3210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68680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52560"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41832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8408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1498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3210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68680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05256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418320"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78408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1498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3210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686800"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05256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418320"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78408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1498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321040"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100" name="TextBox 99"/>
          <p:cNvSpPr txBox="1"/>
          <p:nvPr/>
        </p:nvSpPr>
        <p:spPr>
          <a:xfrm>
            <a:off x="10497312"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101" name="Rectangle 100"/>
          <p:cNvSpPr/>
          <p:nvPr/>
        </p:nvSpPr>
        <p:spPr>
          <a:xfrm>
            <a:off x="8247888"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266176"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Sample new numeric expression vectors for a selected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OSDR studies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pic>
        <p:nvPicPr>
          <p:cNvPr id="4" name="Midpoint slide 20 tile 1" descr="Original midpoint slide 20, quadrant 1"/>
          <p:cNvPicPr>
            <a:picLocks noChangeAspect="1"/>
          </p:cNvPicPr>
          <p:nvPr/>
        </p:nvPicPr>
        <p:blipFill>
          <a:blip r:embed="rId2"/>
          <a:stretch>
            <a:fillRect/>
          </a:stretch>
        </p:blipFill>
        <p:spPr>
          <a:xfrm>
            <a:off x="0" y="0"/>
            <a:ext cx="6095999" cy="3429000"/>
          </a:xfrm>
          <a:prstGeom prst="rect">
            <a:avLst/>
          </a:prstGeom>
        </p:spPr>
      </p:pic>
      <p:pic>
        <p:nvPicPr>
          <p:cNvPr id="5" name="Midpoint slide 20 tile 2" descr="Original midpoint slide 20, quadrant 2"/>
          <p:cNvPicPr>
            <a:picLocks noChangeAspect="1"/>
          </p:cNvPicPr>
          <p:nvPr/>
        </p:nvPicPr>
        <p:blipFill>
          <a:blip r:embed="rId3"/>
          <a:stretch>
            <a:fillRect/>
          </a:stretch>
        </p:blipFill>
        <p:spPr>
          <a:xfrm>
            <a:off x="6083299" y="0"/>
            <a:ext cx="6108699" cy="3429000"/>
          </a:xfrm>
          <a:prstGeom prst="rect">
            <a:avLst/>
          </a:prstGeom>
        </p:spPr>
      </p:pic>
      <p:pic>
        <p:nvPicPr>
          <p:cNvPr id="6" name="Midpoint slide 20 tile 3" descr="Original midpoint slide 20, quadrant 3"/>
          <p:cNvPicPr>
            <a:picLocks noChangeAspect="1"/>
          </p:cNvPicPr>
          <p:nvPr/>
        </p:nvPicPr>
        <p:blipFill>
          <a:blip r:embed="rId4"/>
          <a:stretch>
            <a:fillRect/>
          </a:stretch>
        </p:blipFill>
        <p:spPr>
          <a:xfrm>
            <a:off x="0" y="3416300"/>
            <a:ext cx="6095999" cy="3441700"/>
          </a:xfrm>
          <a:prstGeom prst="rect">
            <a:avLst/>
          </a:prstGeom>
        </p:spPr>
      </p:pic>
      <p:pic>
        <p:nvPicPr>
          <p:cNvPr id="7" name="Midpoint slide 20 tile 4" descr="Original midpoint slide 20, quadrant 4"/>
          <p:cNvPicPr>
            <a:picLocks noChangeAspect="1"/>
          </p:cNvPicPr>
          <p:nvPr/>
        </p:nvPicPr>
        <p:blipFill>
          <a:blip r:embed="rId5"/>
          <a:stretch>
            <a:fillRect/>
          </a:stretch>
        </p:blipFill>
        <p:spPr>
          <a:xfrm>
            <a:off x="6083299" y="3416300"/>
            <a:ext cx="6108699" cy="3441700"/>
          </a:xfrm>
          <a:prstGeom prst="rect">
            <a:avLst/>
          </a:prstGeom>
        </p:spPr>
      </p:pic>
      <p:pic>
        <p:nvPicPr>
          <p:cNvPr id="8" name="anim_diffimg.gif" descr="Animated image denoising example"/>
          <p:cNvPicPr>
            <a:picLocks noChangeAspect="1"/>
          </p:cNvPicPr>
          <p:nvPr/>
        </p:nvPicPr>
        <p:blipFill>
          <a:blip r:embed="rId6"/>
          <a:stretch>
            <a:fillRect/>
          </a:stretch>
        </p:blipFill>
        <p:spPr>
          <a:xfrm>
            <a:off x="2051049" y="3595370"/>
            <a:ext cx="2438399" cy="1371600"/>
          </a:xfrm>
          <a:prstGeom prst="rect">
            <a:avLst/>
          </a:prstGeom>
        </p:spPr>
      </p:pic>
      <p:pic>
        <p:nvPicPr>
          <p:cNvPr id="9" name="anim_diffdata.gif" descr="Animated FLT- and GC-conditioned expression diffusion example"/>
          <p:cNvPicPr>
            <a:picLocks noChangeAspect="1"/>
          </p:cNvPicPr>
          <p:nvPr/>
        </p:nvPicPr>
        <p:blipFill>
          <a:blip r:embed="rId7"/>
          <a:stretch>
            <a:fillRect/>
          </a:stretch>
        </p:blipFill>
        <p:spPr>
          <a:xfrm>
            <a:off x="6991985" y="2097405"/>
            <a:ext cx="3858895" cy="4366895"/>
          </a:xfrm>
          <a:prstGeom prst="rect">
            <a:avLst/>
          </a:prstGeom>
        </p:spPr>
      </p:pic>
      <p:sp>
        <p:nvSpPr>
          <p:cNvPr id="10" name="Rounded Rectangle 9"/>
          <p:cNvSpPr/>
          <p:nvPr/>
        </p:nvSpPr>
        <p:spPr>
          <a:xfrm>
            <a:off x="11466576" y="91440"/>
            <a:ext cx="475488" cy="274320"/>
          </a:xfrm>
          <a:prstGeom prst="roundRect">
            <a:avLst/>
          </a:prstGeom>
          <a:solidFill>
            <a:srgbClr val="0827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66576" y="123444"/>
            <a:ext cx="475488" cy="192024"/>
          </a:xfrm>
          <a:prstGeom prst="rect">
            <a:avLst/>
          </a:prstGeom>
          <a:noFill/>
        </p:spPr>
        <p:txBody>
          <a:bodyPr wrap="square" lIns="0" rIns="0" tIns="0" bIns="0" anchor="ctr">
            <a:spAutoFit/>
          </a:bodyPr>
          <a:lstStyle/>
          <a:p>
            <a:pPr algn="ctr">
              <a:spcAft>
                <a:spcPts val="0"/>
              </a:spcAft>
            </a:pPr>
            <a:r>
              <a:rPr sz="1150" b="1" i="0">
                <a:solidFill>
                  <a:srgbClr val="FFFFFF"/>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pic>
        <p:nvPicPr>
          <p:cNvPr id="4" name="Midpoint slide 21 tile 1" descr="Original midpoint slide 21, quadrant 1"/>
          <p:cNvPicPr>
            <a:picLocks noChangeAspect="1"/>
          </p:cNvPicPr>
          <p:nvPr/>
        </p:nvPicPr>
        <p:blipFill>
          <a:blip r:embed="rId2"/>
          <a:stretch>
            <a:fillRect/>
          </a:stretch>
        </p:blipFill>
        <p:spPr>
          <a:xfrm>
            <a:off x="0" y="0"/>
            <a:ext cx="6095999" cy="3429000"/>
          </a:xfrm>
          <a:prstGeom prst="rect">
            <a:avLst/>
          </a:prstGeom>
        </p:spPr>
      </p:pic>
      <p:pic>
        <p:nvPicPr>
          <p:cNvPr id="5" name="Midpoint slide 21 tile 2" descr="Original midpoint slide 21, quadrant 2"/>
          <p:cNvPicPr>
            <a:picLocks noChangeAspect="1"/>
          </p:cNvPicPr>
          <p:nvPr/>
        </p:nvPicPr>
        <p:blipFill>
          <a:blip r:embed="rId3"/>
          <a:stretch>
            <a:fillRect/>
          </a:stretch>
        </p:blipFill>
        <p:spPr>
          <a:xfrm>
            <a:off x="6083299" y="0"/>
            <a:ext cx="6108699" cy="3429000"/>
          </a:xfrm>
          <a:prstGeom prst="rect">
            <a:avLst/>
          </a:prstGeom>
        </p:spPr>
      </p:pic>
      <p:pic>
        <p:nvPicPr>
          <p:cNvPr id="6" name="Midpoint slide 21 tile 3" descr="Original midpoint slide 21, quadrant 3"/>
          <p:cNvPicPr>
            <a:picLocks noChangeAspect="1"/>
          </p:cNvPicPr>
          <p:nvPr/>
        </p:nvPicPr>
        <p:blipFill>
          <a:blip r:embed="rId4"/>
          <a:stretch>
            <a:fillRect/>
          </a:stretch>
        </p:blipFill>
        <p:spPr>
          <a:xfrm>
            <a:off x="0" y="3416300"/>
            <a:ext cx="6095999" cy="3441700"/>
          </a:xfrm>
          <a:prstGeom prst="rect">
            <a:avLst/>
          </a:prstGeom>
        </p:spPr>
      </p:pic>
      <p:pic>
        <p:nvPicPr>
          <p:cNvPr id="7" name="Midpoint slide 21 tile 4" descr="Original midpoint slide 21, quadrant 4"/>
          <p:cNvPicPr>
            <a:picLocks noChangeAspect="1"/>
          </p:cNvPicPr>
          <p:nvPr/>
        </p:nvPicPr>
        <p:blipFill>
          <a:blip r:embed="rId5"/>
          <a:stretch>
            <a:fillRect/>
          </a:stretch>
        </p:blipFill>
        <p:spPr>
          <a:xfrm>
            <a:off x="6083299" y="3416300"/>
            <a:ext cx="6108699" cy="3441700"/>
          </a:xfrm>
          <a:prstGeom prst="rect">
            <a:avLst/>
          </a:prstGeom>
        </p:spPr>
      </p:pic>
      <p:pic>
        <p:nvPicPr>
          <p:cNvPr id="8" name="anim_wgan.gif" descr="Animated WGAN comparison between real OSDR and generated expression profiles"/>
          <p:cNvPicPr>
            <a:picLocks noChangeAspect="1"/>
          </p:cNvPicPr>
          <p:nvPr/>
        </p:nvPicPr>
        <p:blipFill>
          <a:blip r:embed="rId6"/>
          <a:stretch>
            <a:fillRect/>
          </a:stretch>
        </p:blipFill>
        <p:spPr>
          <a:xfrm>
            <a:off x="6956425" y="2097405"/>
            <a:ext cx="3930015" cy="4366895"/>
          </a:xfrm>
          <a:prstGeom prst="rect">
            <a:avLst/>
          </a:prstGeom>
        </p:spPr>
      </p:pic>
      <p:sp>
        <p:nvSpPr>
          <p:cNvPr id="9" name="Rounded Rectangle 8"/>
          <p:cNvSpPr/>
          <p:nvPr/>
        </p:nvSpPr>
        <p:spPr>
          <a:xfrm>
            <a:off x="11466576" y="91440"/>
            <a:ext cx="475488" cy="274320"/>
          </a:xfrm>
          <a:prstGeom prst="roundRect">
            <a:avLst/>
          </a:prstGeom>
          <a:solidFill>
            <a:srgbClr val="0827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66576" y="123444"/>
            <a:ext cx="475488" cy="192024"/>
          </a:xfrm>
          <a:prstGeom prst="rect">
            <a:avLst/>
          </a:prstGeom>
          <a:noFill/>
        </p:spPr>
        <p:txBody>
          <a:bodyPr wrap="square" lIns="0" rIns="0" tIns="0" bIns="0" anchor="ctr">
            <a:spAutoFit/>
          </a:bodyPr>
          <a:lstStyle/>
          <a:p>
            <a:pPr algn="ctr">
              <a:spcAft>
                <a:spcPts val="0"/>
              </a:spcAft>
            </a:pPr>
            <a:r>
              <a:rPr sz="1150" b="1" i="0">
                <a:solidFill>
                  <a:srgbClr val="FFFFFF"/>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tested alternative processing, study correction, training, and conditioning choices.</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Processing</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Range scale</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Variable</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974 genes</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Study effects</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Alternative methods</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ARCHS4 then OSDR</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Study</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scaled / 974 genes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Study</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controlled liver correction comparisons. Models: Vinas et al. (2022); Lacan et al.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best reproduced the measured expression distribution</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models reproduced gene expression. Diffusion samples were harder to distinguish from measured samples.</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The network repeatedly predicts and removes noise using tissue and time information.</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For OSDR, the model also receives FLT/GC, study, and sample-material information.</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Expression corr.</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Coverage (F1)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Real-vs-synth.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0.5 is ideal</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Distribution distance</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73736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Tissue identity retained</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417320"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diffusion</a:t>
            </a:r>
          </a:p>
        </p:txBody>
      </p:sp>
      <p:sp>
        <p:nvSpPr>
          <p:cNvPr id="41" name="TextBox 40"/>
          <p:cNvSpPr txBox="1"/>
          <p:nvPr/>
        </p:nvSpPr>
        <p:spPr>
          <a:xfrm>
            <a:off x="9089136" y="4919472"/>
            <a:ext cx="2350008" cy="429768"/>
          </a:xfrm>
          <a:prstGeom prst="rect">
            <a:avLst/>
          </a:prstGeom>
          <a:noFill/>
        </p:spPr>
        <p:txBody>
          <a:bodyPr wrap="square" lIns="0" rIns="0" tIns="0" bIns="0" anchor="ctr">
            <a:spAutoFit/>
          </a:bodyPr>
          <a:lstStyle/>
          <a:p>
            <a:pPr algn="l">
              <a:spcAft>
                <a:spcPts val="0"/>
              </a:spcAft>
            </a:pPr>
            <a:r>
              <a:rPr sz="1080" b="0" i="0">
                <a:solidFill>
                  <a:srgbClr val="263746"/>
                </a:solidFill>
                <a:latin typeface="Arial"/>
              </a:rPr>
              <a:t>Better coverage and closer to the real distribution.</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10" b="0" i="0">
                <a:solidFill>
                  <a:srgbClr val="59697A"/>
                </a:solidFill>
                <a:latin typeface="Arial"/>
              </a:rPr>
              <a:t>A score near 0.5 means a prediction model cannot reliably tell measured and generated samples apart.</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Lacan et al. (2026), Fig. 1C, doi:10.1186/s12859-026-06470-8. Each model was evaluated on its own fixed test split.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Tissue and study structure dominate the PCA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tissue. Right: study. Circles are measured samples; crosses are generated samples.</a:t>
            </a:r>
          </a:p>
        </p:txBody>
      </p:sp>
      <p:pic>
        <p:nvPicPr>
          <p:cNvPr id="7" name="PCA of measured and generated profiles colored by tissue and study" descr="PCA of measured and generated profiles colored by tissue and study"/>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Generated samples reproduce the tissue and study patterns in the measured data.</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Same 293 measured and 293 generated samples; both panels use one PCA fit to the combined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Flight condition is subtler than study structure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FLT or GC. Right: study. Circles are measured samples; crosses are generated samples.</a:t>
            </a:r>
          </a:p>
        </p:txBody>
      </p:sp>
      <p:pic>
        <p:nvPicPr>
          <p:cNvPr id="7" name="PCA of measured and generated profiles colored by condition and study" descr="PCA of measured and generated profiles colored by condition and study"/>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FLT and GC overlap more than samples from different studies do.</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Study colors are shared across the two PCA slides. FLT-GC differences are estimated within each study.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PRIMARY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 fair test changes only the training data</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Each prediction model uses the same genes, processing, train/test splits, and settings.</a:t>
            </a:r>
          </a:p>
        </p:txBody>
      </p:sp>
      <p:sp>
        <p:nvSpPr>
          <p:cNvPr id="7" name="Rectangle 6"/>
          <p:cNvSpPr/>
          <p:nvPr/>
        </p:nvSpPr>
        <p:spPr>
          <a:xfrm>
            <a:off x="429768" y="1810512"/>
            <a:ext cx="11137392" cy="658368"/>
          </a:xfrm>
          <a:prstGeom prst="rect">
            <a:avLst/>
          </a:prstGeom>
          <a:solidFill>
            <a:srgbClr val="F2F5F7"/>
          </a:solidFill>
          <a:ln w="10160">
            <a:solidFill>
              <a:srgbClr val="D3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974 genes</a:t>
            </a:r>
          </a:p>
        </p:txBody>
      </p:sp>
      <p:sp>
        <p:nvSpPr>
          <p:cNvPr id="9" name="Rectangle 8"/>
          <p:cNvSpPr/>
          <p:nvPr/>
        </p:nvSpPr>
        <p:spPr>
          <a:xfrm>
            <a:off x="2734056"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0088"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train/test splits</a:t>
            </a:r>
          </a:p>
        </p:txBody>
      </p:sp>
      <p:sp>
        <p:nvSpPr>
          <p:cNvPr id="11" name="Rectangle 10"/>
          <p:cNvSpPr/>
          <p:nvPr/>
        </p:nvSpPr>
        <p:spPr>
          <a:xfrm>
            <a:off x="5358383"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14416"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scaling</a:t>
            </a:r>
          </a:p>
        </p:txBody>
      </p:sp>
      <p:sp>
        <p:nvSpPr>
          <p:cNvPr id="13" name="Rectangle 12"/>
          <p:cNvSpPr/>
          <p:nvPr/>
        </p:nvSpPr>
        <p:spPr>
          <a:xfrm>
            <a:off x="8138160"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94192"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model settings</a:t>
            </a:r>
          </a:p>
        </p:txBody>
      </p:sp>
      <p:sp>
        <p:nvSpPr>
          <p:cNvPr id="15" name="Rectangle 14"/>
          <p:cNvSpPr/>
          <p:nvPr/>
        </p:nvSpPr>
        <p:spPr>
          <a:xfrm>
            <a:off x="438912" y="2679192"/>
            <a:ext cx="3328416" cy="126187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679192"/>
            <a:ext cx="3328416" cy="5029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7" y="2898648"/>
            <a:ext cx="2980944" cy="237744"/>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 ONLY</a:t>
            </a:r>
          </a:p>
        </p:txBody>
      </p:sp>
      <p:sp>
        <p:nvSpPr>
          <p:cNvPr id="18" name="Oval 17"/>
          <p:cNvSpPr/>
          <p:nvPr/>
        </p:nvSpPr>
        <p:spPr>
          <a:xfrm>
            <a:off x="1856232" y="3264408"/>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56232"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0" name="TextBox 19"/>
          <p:cNvSpPr txBox="1"/>
          <p:nvPr/>
        </p:nvSpPr>
        <p:spPr>
          <a:xfrm>
            <a:off x="621792"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Baseline</a:t>
            </a:r>
          </a:p>
        </p:txBody>
      </p:sp>
      <p:sp>
        <p:nvSpPr>
          <p:cNvPr id="21" name="Right Arrow 20"/>
          <p:cNvSpPr/>
          <p:nvPr/>
        </p:nvSpPr>
        <p:spPr>
          <a:xfrm>
            <a:off x="1865376"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2679192"/>
            <a:ext cx="3328416" cy="1261872"/>
          </a:xfrm>
          <a:prstGeom prst="rect">
            <a:avLst/>
          </a:prstGeom>
          <a:solidFill>
            <a:srgbClr val="FFFFFF"/>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0" y="2679192"/>
            <a:ext cx="3328416" cy="5029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88536" y="2898648"/>
            <a:ext cx="2980944" cy="237744"/>
          </a:xfrm>
          <a:prstGeom prst="rect">
            <a:avLst/>
          </a:prstGeom>
          <a:noFill/>
        </p:spPr>
        <p:txBody>
          <a:bodyPr wrap="square" lIns="0" rIns="0" tIns="0" bIns="0" anchor="t">
            <a:spAutoFit/>
          </a:bodyPr>
          <a:lstStyle/>
          <a:p>
            <a:pPr algn="ctr">
              <a:spcAft>
                <a:spcPts val="0"/>
              </a:spcAft>
            </a:pPr>
            <a:r>
              <a:rPr sz="1300" b="1" i="0">
                <a:solidFill>
                  <a:srgbClr val="D96552"/>
                </a:solidFill>
                <a:latin typeface="Arial"/>
              </a:rPr>
              <a:t>SYNTHETIC ONLY</a:t>
            </a:r>
          </a:p>
        </p:txBody>
      </p:sp>
      <p:sp>
        <p:nvSpPr>
          <p:cNvPr id="25" name="Oval 24"/>
          <p:cNvSpPr/>
          <p:nvPr/>
        </p:nvSpPr>
        <p:spPr>
          <a:xfrm>
            <a:off x="5532120" y="3264408"/>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532120"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27" name="TextBox 26"/>
          <p:cNvSpPr txBox="1"/>
          <p:nvPr/>
        </p:nvSpPr>
        <p:spPr>
          <a:xfrm>
            <a:off x="4297680"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Learn from generated samples</a:t>
            </a:r>
          </a:p>
        </p:txBody>
      </p:sp>
      <p:sp>
        <p:nvSpPr>
          <p:cNvPr id="28" name="Right Arrow 27"/>
          <p:cNvSpPr/>
          <p:nvPr/>
        </p:nvSpPr>
        <p:spPr>
          <a:xfrm>
            <a:off x="5541264"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90688" y="2679192"/>
            <a:ext cx="3328416" cy="126187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90688" y="2679192"/>
            <a:ext cx="3328416" cy="5029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64423" y="2898648"/>
            <a:ext cx="2980944" cy="237744"/>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REAL + SYNTHETIC</a:t>
            </a:r>
          </a:p>
        </p:txBody>
      </p:sp>
      <p:sp>
        <p:nvSpPr>
          <p:cNvPr id="32" name="Oval 31"/>
          <p:cNvSpPr/>
          <p:nvPr/>
        </p:nvSpPr>
        <p:spPr>
          <a:xfrm>
            <a:off x="8933688" y="3264408"/>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33688"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4" name="TextBox 33"/>
          <p:cNvSpPr txBox="1"/>
          <p:nvPr/>
        </p:nvSpPr>
        <p:spPr>
          <a:xfrm>
            <a:off x="9226296" y="3273552"/>
            <a:ext cx="210312" cy="201168"/>
          </a:xfrm>
          <a:prstGeom prst="rect">
            <a:avLst/>
          </a:prstGeom>
          <a:noFill/>
        </p:spPr>
        <p:txBody>
          <a:bodyPr wrap="square" lIns="0" rIns="0" tIns="0" bIns="0" anchor="t">
            <a:spAutoFit/>
          </a:bodyPr>
          <a:lstStyle/>
          <a:p>
            <a:pPr algn="ctr">
              <a:spcAft>
                <a:spcPts val="0"/>
              </a:spcAft>
            </a:pPr>
            <a:r>
              <a:rPr sz="1100" b="1" i="0">
                <a:solidFill>
                  <a:srgbClr val="59697A"/>
                </a:solidFill>
                <a:latin typeface="Arial"/>
              </a:rPr>
              <a:t>+</a:t>
            </a:r>
          </a:p>
        </p:txBody>
      </p:sp>
      <p:sp>
        <p:nvSpPr>
          <p:cNvPr id="35" name="Oval 34"/>
          <p:cNvSpPr/>
          <p:nvPr/>
        </p:nvSpPr>
        <p:spPr>
          <a:xfrm>
            <a:off x="9473184" y="3264408"/>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73184"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7" name="TextBox 36"/>
          <p:cNvSpPr txBox="1"/>
          <p:nvPr/>
        </p:nvSpPr>
        <p:spPr>
          <a:xfrm>
            <a:off x="7973567"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Add generated samples to training</a:t>
            </a:r>
          </a:p>
        </p:txBody>
      </p:sp>
      <p:sp>
        <p:nvSpPr>
          <p:cNvPr id="38" name="Right Arrow 37"/>
          <p:cNvSpPr/>
          <p:nvPr/>
        </p:nvSpPr>
        <p:spPr>
          <a:xfrm>
            <a:off x="9217152"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9768" y="4352544"/>
            <a:ext cx="11137392" cy="786384"/>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544568"/>
            <a:ext cx="3017520" cy="274320"/>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Same unseen real samples</a:t>
            </a:r>
          </a:p>
        </p:txBody>
      </p:sp>
      <p:sp>
        <p:nvSpPr>
          <p:cNvPr id="41" name="Rectangle 40"/>
          <p:cNvSpPr/>
          <p:nvPr/>
        </p:nvSpPr>
        <p:spPr>
          <a:xfrm>
            <a:off x="3904487" y="4507992"/>
            <a:ext cx="10972" cy="457200"/>
          </a:xfrm>
          <a:prstGeom prst="rect">
            <a:avLst/>
          </a:prstGeom>
          <a:solidFill>
            <a:srgbClr val="AFC0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15384" y="4498848"/>
            <a:ext cx="2057400" cy="228600"/>
          </a:xfrm>
          <a:prstGeom prst="rect">
            <a:avLst/>
          </a:prstGeom>
          <a:noFill/>
        </p:spPr>
        <p:txBody>
          <a:bodyPr wrap="square" lIns="0" rIns="0" tIns="0" bIns="0" anchor="t">
            <a:spAutoFit/>
          </a:bodyPr>
          <a:lstStyle/>
          <a:p>
            <a:pPr algn="ctr">
              <a:spcAft>
                <a:spcPts val="0"/>
              </a:spcAft>
            </a:pPr>
            <a:r>
              <a:rPr sz="1260" b="1" i="0">
                <a:solidFill>
                  <a:srgbClr val="082B55"/>
                </a:solidFill>
                <a:latin typeface="Arial"/>
              </a:rPr>
              <a:t>Overall prediction</a:t>
            </a:r>
          </a:p>
        </p:txBody>
      </p:sp>
      <p:sp>
        <p:nvSpPr>
          <p:cNvPr id="43" name="TextBox 42"/>
          <p:cNvSpPr txBox="1"/>
          <p:nvPr/>
        </p:nvSpPr>
        <p:spPr>
          <a:xfrm>
            <a:off x="4078224" y="4754880"/>
            <a:ext cx="2331720" cy="201168"/>
          </a:xfrm>
          <a:prstGeom prst="rect">
            <a:avLst/>
          </a:prstGeom>
          <a:noFill/>
        </p:spPr>
        <p:txBody>
          <a:bodyPr wrap="square" lIns="0" rIns="0" tIns="0" bIns="0" anchor="t">
            <a:spAutoFit/>
          </a:bodyPr>
          <a:lstStyle/>
          <a:p>
            <a:pPr algn="ctr">
              <a:spcAft>
                <a:spcPts val="0"/>
              </a:spcAft>
            </a:pPr>
            <a:r>
              <a:rPr sz="960" b="0" i="0">
                <a:solidFill>
                  <a:srgbClr val="59697A"/>
                </a:solidFill>
                <a:latin typeface="Arial"/>
              </a:rPr>
              <a:t>accuracy | ranking | precision</a:t>
            </a:r>
          </a:p>
        </p:txBody>
      </p:sp>
      <p:sp>
        <p:nvSpPr>
          <p:cNvPr id="44" name="Rectangle 43"/>
          <p:cNvSpPr/>
          <p:nvPr/>
        </p:nvSpPr>
        <p:spPr>
          <a:xfrm>
            <a:off x="6464808" y="4507992"/>
            <a:ext cx="10972" cy="457200"/>
          </a:xfrm>
          <a:prstGeom prst="rect">
            <a:avLst/>
          </a:prstGeom>
          <a:solidFill>
            <a:srgbClr val="AFC0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57416" y="4498848"/>
            <a:ext cx="2423160" cy="228600"/>
          </a:xfrm>
          <a:prstGeom prst="rect">
            <a:avLst/>
          </a:prstGeom>
          <a:noFill/>
        </p:spPr>
        <p:txBody>
          <a:bodyPr wrap="square" lIns="0" rIns="0" tIns="0" bIns="0" anchor="t">
            <a:spAutoFit/>
          </a:bodyPr>
          <a:lstStyle/>
          <a:p>
            <a:pPr algn="ctr">
              <a:spcAft>
                <a:spcPts val="0"/>
              </a:spcAft>
            </a:pPr>
            <a:r>
              <a:rPr sz="1260" b="1" i="0">
                <a:solidFill>
                  <a:srgbClr val="082B55"/>
                </a:solidFill>
                <a:latin typeface="Arial"/>
              </a:rPr>
              <a:t>Average across studies</a:t>
            </a:r>
          </a:p>
        </p:txBody>
      </p:sp>
      <p:sp>
        <p:nvSpPr>
          <p:cNvPr id="46" name="TextBox 45"/>
          <p:cNvSpPr txBox="1"/>
          <p:nvPr/>
        </p:nvSpPr>
        <p:spPr>
          <a:xfrm>
            <a:off x="6711696" y="4754880"/>
            <a:ext cx="2514600" cy="201168"/>
          </a:xfrm>
          <a:prstGeom prst="rect">
            <a:avLst/>
          </a:prstGeom>
          <a:noFill/>
        </p:spPr>
        <p:txBody>
          <a:bodyPr wrap="square" lIns="0" rIns="0" tIns="0" bIns="0" anchor="t">
            <a:spAutoFit/>
          </a:bodyPr>
          <a:lstStyle/>
          <a:p>
            <a:pPr algn="ctr">
              <a:spcAft>
                <a:spcPts val="0"/>
              </a:spcAft>
            </a:pPr>
            <a:r>
              <a:rPr sz="960" b="0" i="0">
                <a:solidFill>
                  <a:srgbClr val="59697A"/>
                </a:solidFill>
                <a:latin typeface="Arial"/>
              </a:rPr>
              <a:t>accuracy | ranking | precision</a:t>
            </a:r>
          </a:p>
        </p:txBody>
      </p:sp>
      <p:sp>
        <p:nvSpPr>
          <p:cNvPr id="47" name="TextBox 46"/>
          <p:cNvSpPr txBox="1"/>
          <p:nvPr/>
        </p:nvSpPr>
        <p:spPr>
          <a:xfrm>
            <a:off x="9262872" y="4498848"/>
            <a:ext cx="2029968" cy="438912"/>
          </a:xfrm>
          <a:prstGeom prst="rect">
            <a:avLst/>
          </a:prstGeom>
          <a:noFill/>
        </p:spPr>
        <p:txBody>
          <a:bodyPr wrap="square" lIns="0" rIns="0" tIns="0" bIns="0" anchor="ctr">
            <a:spAutoFit/>
          </a:bodyPr>
          <a:lstStyle/>
          <a:p>
            <a:pPr algn="ctr">
              <a:spcAft>
                <a:spcPts val="0"/>
              </a:spcAft>
            </a:pPr>
            <a:r>
              <a:rPr sz="1080" b="1" i="0">
                <a:solidFill>
                  <a:srgbClr val="178681"/>
                </a:solidFill>
                <a:latin typeface="Arial"/>
              </a:rPr>
              <a:t>Keep only if none of the six checks worsens</a:t>
            </a:r>
          </a:p>
        </p:txBody>
      </p:sp>
      <p:sp>
        <p:nvSpPr>
          <p:cNvPr id="48" name="Rectangle 47"/>
          <p:cNvSpPr/>
          <p:nvPr/>
        </p:nvSpPr>
        <p:spPr>
          <a:xfrm>
            <a:off x="429768" y="5404104"/>
            <a:ext cx="11137392" cy="731520"/>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5596128"/>
            <a:ext cx="1965960" cy="256032"/>
          </a:xfrm>
          <a:prstGeom prst="rect">
            <a:avLst/>
          </a:prstGeom>
          <a:noFill/>
        </p:spPr>
        <p:txBody>
          <a:bodyPr wrap="square" lIns="0" rIns="0" tIns="0" bIns="0" anchor="t">
            <a:spAutoFit/>
          </a:bodyPr>
          <a:lstStyle/>
          <a:p>
            <a:pPr algn="l">
              <a:spcAft>
                <a:spcPts val="0"/>
              </a:spcAft>
            </a:pPr>
            <a:r>
              <a:rPr sz="1420" b="1" i="0">
                <a:solidFill>
                  <a:srgbClr val="FFFFFF"/>
                </a:solidFill>
                <a:latin typeface="Arial"/>
              </a:rPr>
              <a:t>Which genes helped?</a:t>
            </a:r>
          </a:p>
        </p:txBody>
      </p:sp>
      <p:sp>
        <p:nvSpPr>
          <p:cNvPr id="50" name="TextBox 49"/>
          <p:cNvSpPr txBox="1"/>
          <p:nvPr/>
        </p:nvSpPr>
        <p:spPr>
          <a:xfrm>
            <a:off x="2770632" y="5577840"/>
            <a:ext cx="4956048" cy="274320"/>
          </a:xfrm>
          <a:prstGeom prst="rect">
            <a:avLst/>
          </a:prstGeom>
          <a:noFill/>
        </p:spPr>
        <p:txBody>
          <a:bodyPr wrap="square" lIns="0" rIns="0" tIns="0" bIns="0" anchor="t">
            <a:spAutoFit/>
          </a:bodyPr>
          <a:lstStyle/>
          <a:p>
            <a:pPr algn="l">
              <a:spcAft>
                <a:spcPts val="0"/>
              </a:spcAft>
            </a:pPr>
            <a:r>
              <a:rPr sz="1240" b="0" i="0">
                <a:solidFill>
                  <a:srgbClr val="DCE7F2"/>
                </a:solidFill>
                <a:latin typeface="Arial"/>
              </a:rPr>
              <a:t>Measure each gene's contribution on unseen real samples</a:t>
            </a:r>
          </a:p>
        </p:txBody>
      </p:sp>
      <p:sp>
        <p:nvSpPr>
          <p:cNvPr id="51" name="TextBox 50"/>
          <p:cNvSpPr txBox="1"/>
          <p:nvPr/>
        </p:nvSpPr>
        <p:spPr>
          <a:xfrm>
            <a:off x="7964424" y="5577840"/>
            <a:ext cx="3273552" cy="274320"/>
          </a:xfrm>
          <a:prstGeom prst="rect">
            <a:avLst/>
          </a:prstGeom>
          <a:noFill/>
        </p:spPr>
        <p:txBody>
          <a:bodyPr wrap="square" lIns="0" rIns="0" tIns="0" bIns="0" anchor="t">
            <a:spAutoFit/>
          </a:bodyPr>
          <a:lstStyle/>
          <a:p>
            <a:pPr algn="r">
              <a:spcAft>
                <a:spcPts val="0"/>
              </a:spcAft>
            </a:pPr>
            <a:r>
              <a:rPr sz="1180" b="1" i="0">
                <a:solidFill>
                  <a:srgbClr val="FFD69A"/>
                </a:solidFill>
                <a:latin typeface="Arial"/>
              </a:rPr>
              <a:t>Significance comes from real OSDR data</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Controlled comparison: 27 tissue analyses, eight train/test repeats, and 648 fitted prediction models. Generated profiles do not add animals.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Combine real and synthetic rankings to choose a small gene panel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Genes supported by both datasets rise in the combined ranking; only the highest-ranked genes enter the FLT-GC model.</a:t>
            </a:r>
          </a:p>
        </p:txBody>
      </p:sp>
      <p:sp>
        <p:nvSpPr>
          <p:cNvPr id="7" name="Rectangle 6"/>
          <p:cNvSpPr/>
          <p:nvPr/>
        </p:nvSpPr>
        <p:spPr>
          <a:xfrm>
            <a:off x="438912" y="1874519"/>
            <a:ext cx="3300984" cy="23774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2148840" cy="228600"/>
          </a:xfrm>
          <a:prstGeom prst="rect">
            <a:avLst/>
          </a:prstGeom>
          <a:noFill/>
        </p:spPr>
        <p:txBody>
          <a:bodyPr wrap="square" lIns="0" rIns="0" tIns="0" bIns="0" anchor="t">
            <a:spAutoFit/>
          </a:bodyPr>
          <a:lstStyle/>
          <a:p>
            <a:pPr algn="l">
              <a:spcAft>
                <a:spcPts val="0"/>
              </a:spcAft>
            </a:pPr>
            <a:r>
              <a:rPr sz="1310" b="1" i="0">
                <a:solidFill>
                  <a:srgbClr val="2D6496"/>
                </a:solidFill>
                <a:latin typeface="Arial"/>
              </a:rPr>
              <a:t>1  REAL-DATA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13" name="Rectangle 12"/>
          <p:cNvSpPr/>
          <p:nvPr/>
        </p:nvSpPr>
        <p:spPr>
          <a:xfrm>
            <a:off x="1481328"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92831" y="28849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16" name="Rectangle 15"/>
          <p:cNvSpPr/>
          <p:nvPr/>
        </p:nvSpPr>
        <p:spPr>
          <a:xfrm>
            <a:off x="1481328"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2379" y="31135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19" name="Rectangle 18"/>
          <p:cNvSpPr/>
          <p:nvPr/>
        </p:nvSpPr>
        <p:spPr>
          <a:xfrm>
            <a:off x="1481328"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76814" y="33421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22" name="Rectangle 21"/>
          <p:cNvSpPr/>
          <p:nvPr/>
        </p:nvSpPr>
        <p:spPr>
          <a:xfrm>
            <a:off x="1481328"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95910" y="35707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25" name="Rectangle 24"/>
          <p:cNvSpPr/>
          <p:nvPr/>
        </p:nvSpPr>
        <p:spPr>
          <a:xfrm>
            <a:off x="1481328"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27224" y="3799331"/>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874519"/>
            <a:ext cx="3300984" cy="23774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2075688"/>
            <a:ext cx="2761488" cy="228600"/>
          </a:xfrm>
          <a:prstGeom prst="rect">
            <a:avLst/>
          </a:prstGeom>
          <a:noFill/>
        </p:spPr>
        <p:txBody>
          <a:bodyPr wrap="square" lIns="0" rIns="0" tIns="0" bIns="0" anchor="t">
            <a:spAutoFit/>
          </a:bodyPr>
          <a:lstStyle/>
          <a:p>
            <a:pPr algn="l">
              <a:spcAft>
                <a:spcPts val="0"/>
              </a:spcAft>
            </a:pPr>
            <a:r>
              <a:rPr sz="1230" b="1" i="0">
                <a:solidFill>
                  <a:srgbClr val="D96552"/>
                </a:solidFill>
                <a:latin typeface="Arial"/>
              </a:rPr>
              <a:t>2  SYNTHETIC-DATA RANKING</a:t>
            </a:r>
          </a:p>
        </p:txBody>
      </p:sp>
      <p:sp>
        <p:nvSpPr>
          <p:cNvPr id="30" name="TextBox 29"/>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31" name="TextBox 30"/>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2" name="TextBox 31"/>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3" name="TextBox 32"/>
          <p:cNvSpPr txBox="1"/>
          <p:nvPr/>
        </p:nvSpPr>
        <p:spPr>
          <a:xfrm>
            <a:off x="4334256"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34" name="Rectangle 33"/>
          <p:cNvSpPr/>
          <p:nvPr/>
        </p:nvSpPr>
        <p:spPr>
          <a:xfrm>
            <a:off x="5157216"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33606" y="28849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34256"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37" name="Rectangle 36"/>
          <p:cNvSpPr/>
          <p:nvPr/>
        </p:nvSpPr>
        <p:spPr>
          <a:xfrm>
            <a:off x="5157216"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78677" y="31135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40" name="Rectangle 39"/>
          <p:cNvSpPr/>
          <p:nvPr/>
        </p:nvSpPr>
        <p:spPr>
          <a:xfrm>
            <a:off x="5157216"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8493" y="33421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34256"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43" name="Rectangle 42"/>
          <p:cNvSpPr/>
          <p:nvPr/>
        </p:nvSpPr>
        <p:spPr>
          <a:xfrm>
            <a:off x="5157216"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282476" y="35707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46" name="Rectangle 45"/>
          <p:cNvSpPr/>
          <p:nvPr/>
        </p:nvSpPr>
        <p:spPr>
          <a:xfrm>
            <a:off x="5157216"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650443" y="3799331"/>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90688" y="1874519"/>
            <a:ext cx="3776472" cy="237744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075688"/>
            <a:ext cx="2331720" cy="228600"/>
          </a:xfrm>
          <a:prstGeom prst="rect">
            <a:avLst/>
          </a:prstGeom>
          <a:noFill/>
        </p:spPr>
        <p:txBody>
          <a:bodyPr wrap="square" lIns="0" rIns="0" tIns="0" bIns="0" anchor="t">
            <a:spAutoFit/>
          </a:bodyPr>
          <a:lstStyle/>
          <a:p>
            <a:pPr algn="l">
              <a:spcAft>
                <a:spcPts val="0"/>
              </a:spcAft>
            </a:pPr>
            <a:r>
              <a:rPr sz="1340" b="1" i="0">
                <a:solidFill>
                  <a:srgbClr val="178681"/>
                </a:solidFill>
                <a:latin typeface="Arial"/>
              </a:rPr>
              <a:t>3  COMBINED RANKING</a:t>
            </a:r>
          </a:p>
        </p:txBody>
      </p:sp>
      <p:sp>
        <p:nvSpPr>
          <p:cNvPr id="51" name="TextBox 5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Agreement moves genes upward</a:t>
            </a:r>
          </a:p>
        </p:txBody>
      </p:sp>
      <p:sp>
        <p:nvSpPr>
          <p:cNvPr id="52" name="TextBox 5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53" name="TextBox 5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54" name="TextBox 53"/>
          <p:cNvSpPr txBox="1"/>
          <p:nvPr/>
        </p:nvSpPr>
        <p:spPr>
          <a:xfrm>
            <a:off x="8010144"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55" name="Rectangle 54"/>
          <p:cNvSpPr/>
          <p:nvPr/>
        </p:nvSpPr>
        <p:spPr>
          <a:xfrm>
            <a:off x="8833104"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27050" y="28849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16768" y="28575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58" name="TextBox 57"/>
          <p:cNvSpPr txBox="1"/>
          <p:nvPr/>
        </p:nvSpPr>
        <p:spPr>
          <a:xfrm>
            <a:off x="8010144"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59" name="Rectangle 58"/>
          <p:cNvSpPr/>
          <p:nvPr/>
        </p:nvSpPr>
        <p:spPr>
          <a:xfrm>
            <a:off x="8833104"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35469" y="31135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716768" y="30861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62" name="TextBox 61"/>
          <p:cNvSpPr txBox="1"/>
          <p:nvPr/>
        </p:nvSpPr>
        <p:spPr>
          <a:xfrm>
            <a:off x="8010144"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63" name="Rectangle 62"/>
          <p:cNvSpPr/>
          <p:nvPr/>
        </p:nvSpPr>
        <p:spPr>
          <a:xfrm>
            <a:off x="8833104"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151485" y="33421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16768" y="33147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66" name="TextBox 65"/>
          <p:cNvSpPr txBox="1"/>
          <p:nvPr/>
        </p:nvSpPr>
        <p:spPr>
          <a:xfrm>
            <a:off x="8010144"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67" name="Rectangle 66"/>
          <p:cNvSpPr/>
          <p:nvPr/>
        </p:nvSpPr>
        <p:spPr>
          <a:xfrm>
            <a:off x="8833104"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853025" y="35707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716768" y="35433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0" name="TextBox 69"/>
          <p:cNvSpPr txBox="1"/>
          <p:nvPr/>
        </p:nvSpPr>
        <p:spPr>
          <a:xfrm>
            <a:off x="8010144"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71" name="Rectangle 70"/>
          <p:cNvSpPr/>
          <p:nvPr/>
        </p:nvSpPr>
        <p:spPr>
          <a:xfrm>
            <a:off x="8833104"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343887" y="3799331"/>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716768" y="37719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4" name="Rectangle 73"/>
          <p:cNvSpPr/>
          <p:nvPr/>
        </p:nvSpPr>
        <p:spPr>
          <a:xfrm>
            <a:off x="10149840" y="2834640"/>
            <a:ext cx="20116" cy="116128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5560" y="4041648"/>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76" name="TextBox 75"/>
          <p:cNvSpPr txBox="1"/>
          <p:nvPr/>
        </p:nvSpPr>
        <p:spPr>
          <a:xfrm>
            <a:off x="475488" y="4425696"/>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model inputs</a:t>
            </a:r>
          </a:p>
        </p:txBody>
      </p:sp>
      <p:sp>
        <p:nvSpPr>
          <p:cNvPr id="77" name="Rectangle 76"/>
          <p:cNvSpPr/>
          <p:nvPr/>
        </p:nvSpPr>
        <p:spPr>
          <a:xfrm>
            <a:off x="466344" y="4736592"/>
            <a:ext cx="3081528" cy="11704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04088" y="4983480"/>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79" name="TextBox 78"/>
          <p:cNvSpPr txBox="1"/>
          <p:nvPr/>
        </p:nvSpPr>
        <p:spPr>
          <a:xfrm>
            <a:off x="704088" y="5376672"/>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synthetic, or combined</a:t>
            </a:r>
          </a:p>
        </p:txBody>
      </p:sp>
      <p:sp>
        <p:nvSpPr>
          <p:cNvPr id="80" name="Right Arrow 79"/>
          <p:cNvSpPr/>
          <p:nvPr/>
        </p:nvSpPr>
        <p:spPr>
          <a:xfrm>
            <a:off x="364845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032504" y="4736592"/>
            <a:ext cx="3081528" cy="11704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70248" y="4928616"/>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83" name="TextBox 82"/>
          <p:cNvSpPr txBox="1"/>
          <p:nvPr/>
        </p:nvSpPr>
        <p:spPr>
          <a:xfrm>
            <a:off x="4270248" y="5266944"/>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84" name="TextBox 83"/>
          <p:cNvSpPr txBox="1"/>
          <p:nvPr/>
        </p:nvSpPr>
        <p:spPr>
          <a:xfrm>
            <a:off x="4270248" y="5541264"/>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real-data tests choose panel size</a:t>
            </a:r>
          </a:p>
        </p:txBody>
      </p:sp>
      <p:sp>
        <p:nvSpPr>
          <p:cNvPr id="85" name="Right Arrow 84"/>
          <p:cNvSpPr/>
          <p:nvPr/>
        </p:nvSpPr>
        <p:spPr>
          <a:xfrm>
            <a:off x="721461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98664" y="4736592"/>
            <a:ext cx="3968496" cy="11704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836408" y="4983480"/>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prediction model</a:t>
            </a:r>
          </a:p>
        </p:txBody>
      </p:sp>
      <p:sp>
        <p:nvSpPr>
          <p:cNvPr id="88" name="TextBox 87"/>
          <p:cNvSpPr txBox="1"/>
          <p:nvPr/>
        </p:nvSpPr>
        <p:spPr>
          <a:xfrm>
            <a:off x="7836408" y="5376672"/>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89" name="TextBox 8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Five genes illustrate the method. The real-data and synthetic-data positions are combined into one ranking.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Correlated genes can hide one another in one-at-a-time tests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pathway can matter even when shuffling one gene causes only a small drop in prediction.</a:t>
            </a:r>
          </a:p>
        </p:txBody>
      </p:sp>
      <p:sp>
        <p:nvSpPr>
          <p:cNvPr id="7" name="Rectangle 6"/>
          <p:cNvSpPr/>
          <p:nvPr/>
        </p:nvSpPr>
        <p:spPr>
          <a:xfrm>
            <a:off x="420624" y="1856231"/>
            <a:ext cx="3337560" cy="3529584"/>
          </a:xfrm>
          <a:prstGeom prst="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 y="2029968"/>
            <a:ext cx="384048" cy="310896"/>
          </a:xfrm>
          <a:prstGeom prst="rect">
            <a:avLst/>
          </a:prstGeom>
          <a:noFill/>
        </p:spPr>
        <p:txBody>
          <a:bodyPr wrap="square" lIns="0" rIns="0" tIns="0" bIns="0" anchor="t">
            <a:spAutoFit/>
          </a:bodyPr>
          <a:lstStyle/>
          <a:p>
            <a:pPr algn="l">
              <a:spcAft>
                <a:spcPts val="0"/>
              </a:spcAft>
            </a:pPr>
            <a:r>
              <a:rPr sz="1800" b="1" i="0">
                <a:solidFill>
                  <a:srgbClr val="2D6496"/>
                </a:solidFill>
                <a:latin typeface="Arial"/>
              </a:rPr>
              <a:t>1</a:t>
            </a:r>
          </a:p>
        </p:txBody>
      </p:sp>
      <p:sp>
        <p:nvSpPr>
          <p:cNvPr id="9" name="TextBox 8"/>
          <p:cNvSpPr txBox="1"/>
          <p:nvPr/>
        </p:nvSpPr>
        <p:spPr>
          <a:xfrm>
            <a:off x="1051560"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CORRELATED MODULE</a:t>
            </a:r>
          </a:p>
        </p:txBody>
      </p:sp>
      <p:sp>
        <p:nvSpPr>
          <p:cNvPr id="10" name="Rectangle 9"/>
          <p:cNvSpPr/>
          <p:nvPr/>
        </p:nvSpPr>
        <p:spPr>
          <a:xfrm>
            <a:off x="4096512" y="1856231"/>
            <a:ext cx="3337560" cy="3529584"/>
          </a:xfrm>
          <a:prstGeom prst="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2029968"/>
            <a:ext cx="384048" cy="310896"/>
          </a:xfrm>
          <a:prstGeom prst="rect">
            <a:avLst/>
          </a:prstGeom>
          <a:noFill/>
        </p:spPr>
        <p:txBody>
          <a:bodyPr wrap="square" lIns="0" rIns="0" tIns="0" bIns="0" anchor="t">
            <a:spAutoFit/>
          </a:bodyPr>
          <a:lstStyle/>
          <a:p>
            <a:pPr algn="l">
              <a:spcAft>
                <a:spcPts val="0"/>
              </a:spcAft>
            </a:pPr>
            <a:r>
              <a:rPr sz="1800" b="1" i="0">
                <a:solidFill>
                  <a:srgbClr val="D96552"/>
                </a:solidFill>
                <a:latin typeface="Arial"/>
              </a:rPr>
              <a:t>2</a:t>
            </a:r>
          </a:p>
        </p:txBody>
      </p:sp>
      <p:sp>
        <p:nvSpPr>
          <p:cNvPr id="12" name="TextBox 11"/>
          <p:cNvSpPr txBox="1"/>
          <p:nvPr/>
        </p:nvSpPr>
        <p:spPr>
          <a:xfrm>
            <a:off x="4727448"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SHUFFLE ONE GENE</a:t>
            </a:r>
          </a:p>
        </p:txBody>
      </p:sp>
      <p:sp>
        <p:nvSpPr>
          <p:cNvPr id="13" name="Rectangle 12"/>
          <p:cNvSpPr/>
          <p:nvPr/>
        </p:nvSpPr>
        <p:spPr>
          <a:xfrm>
            <a:off x="7772400" y="1856231"/>
            <a:ext cx="3337560" cy="3529584"/>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2029968"/>
            <a:ext cx="384048" cy="310896"/>
          </a:xfrm>
          <a:prstGeom prst="rect">
            <a:avLst/>
          </a:prstGeom>
          <a:noFill/>
        </p:spPr>
        <p:txBody>
          <a:bodyPr wrap="square" lIns="0" rIns="0" tIns="0" bIns="0" anchor="t">
            <a:spAutoFit/>
          </a:bodyPr>
          <a:lstStyle/>
          <a:p>
            <a:pPr algn="l">
              <a:spcAft>
                <a:spcPts val="0"/>
              </a:spcAft>
            </a:pPr>
            <a:r>
              <a:rPr sz="1800" b="1" i="0">
                <a:solidFill>
                  <a:srgbClr val="178681"/>
                </a:solidFill>
                <a:latin typeface="Arial"/>
              </a:rPr>
              <a:t>3</a:t>
            </a:r>
          </a:p>
        </p:txBody>
      </p:sp>
      <p:sp>
        <p:nvSpPr>
          <p:cNvPr id="15" name="TextBox 14"/>
          <p:cNvSpPr txBox="1"/>
          <p:nvPr/>
        </p:nvSpPr>
        <p:spPr>
          <a:xfrm>
            <a:off x="8403336"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COMBINED PANEL</a:t>
            </a:r>
          </a:p>
        </p:txBody>
      </p:sp>
      <p:sp>
        <p:nvSpPr>
          <p:cNvPr id="16" name="Rectangle 15"/>
          <p:cNvSpPr/>
          <p:nvPr/>
        </p:nvSpPr>
        <p:spPr>
          <a:xfrm>
            <a:off x="749808" y="2697480"/>
            <a:ext cx="960120" cy="39319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779776"/>
            <a:ext cx="813816" cy="201168"/>
          </a:xfrm>
          <a:prstGeom prst="rect">
            <a:avLst/>
          </a:prstGeom>
          <a:noFill/>
        </p:spPr>
        <p:txBody>
          <a:bodyPr wrap="square" lIns="0" rIns="0" tIns="0" bIns="0" anchor="t">
            <a:spAutoFit/>
          </a:bodyPr>
          <a:lstStyle/>
          <a:p>
            <a:pPr algn="ctr">
              <a:spcAft>
                <a:spcPts val="0"/>
              </a:spcAft>
            </a:pPr>
            <a:r>
              <a:rPr sz="1120" b="1" i="0">
                <a:solidFill>
                  <a:srgbClr val="2D6496"/>
                </a:solidFill>
                <a:latin typeface="Arial"/>
              </a:rPr>
              <a:t>Gene A</a:t>
            </a:r>
          </a:p>
        </p:txBody>
      </p:sp>
      <p:sp>
        <p:nvSpPr>
          <p:cNvPr id="18" name="Right Arrow 17"/>
          <p:cNvSpPr/>
          <p:nvPr/>
        </p:nvSpPr>
        <p:spPr>
          <a:xfrm>
            <a:off x="1847088" y="2788920"/>
            <a:ext cx="475488" cy="210312"/>
          </a:xfrm>
          <a:prstGeom prst="rightArrow">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3337560"/>
            <a:ext cx="960120" cy="39319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19856"/>
            <a:ext cx="813816" cy="201168"/>
          </a:xfrm>
          <a:prstGeom prst="rect">
            <a:avLst/>
          </a:prstGeom>
          <a:noFill/>
        </p:spPr>
        <p:txBody>
          <a:bodyPr wrap="square" lIns="0" rIns="0" tIns="0" bIns="0" anchor="t">
            <a:spAutoFit/>
          </a:bodyPr>
          <a:lstStyle/>
          <a:p>
            <a:pPr algn="ctr">
              <a:spcAft>
                <a:spcPts val="0"/>
              </a:spcAft>
            </a:pPr>
            <a:r>
              <a:rPr sz="1120" b="1" i="0">
                <a:solidFill>
                  <a:srgbClr val="178681"/>
                </a:solidFill>
                <a:latin typeface="Arial"/>
              </a:rPr>
              <a:t>Gene B</a:t>
            </a:r>
          </a:p>
        </p:txBody>
      </p:sp>
      <p:sp>
        <p:nvSpPr>
          <p:cNvPr id="21" name="Right Arrow 20"/>
          <p:cNvSpPr/>
          <p:nvPr/>
        </p:nvSpPr>
        <p:spPr>
          <a:xfrm>
            <a:off x="1847088" y="3429000"/>
            <a:ext cx="475488" cy="2103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9808" y="3977639"/>
            <a:ext cx="960120" cy="393192"/>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059935"/>
            <a:ext cx="813816" cy="201168"/>
          </a:xfrm>
          <a:prstGeom prst="rect">
            <a:avLst/>
          </a:prstGeom>
          <a:noFill/>
        </p:spPr>
        <p:txBody>
          <a:bodyPr wrap="square" lIns="0" rIns="0" tIns="0" bIns="0" anchor="t">
            <a:spAutoFit/>
          </a:bodyPr>
          <a:lstStyle/>
          <a:p>
            <a:pPr algn="ctr">
              <a:spcAft>
                <a:spcPts val="0"/>
              </a:spcAft>
            </a:pPr>
            <a:r>
              <a:rPr sz="1120" b="1" i="0">
                <a:solidFill>
                  <a:srgbClr val="D37B00"/>
                </a:solidFill>
                <a:latin typeface="Arial"/>
              </a:rPr>
              <a:t>Gene C</a:t>
            </a:r>
          </a:p>
        </p:txBody>
      </p:sp>
      <p:sp>
        <p:nvSpPr>
          <p:cNvPr id="24" name="Right Arrow 23"/>
          <p:cNvSpPr/>
          <p:nvPr/>
        </p:nvSpPr>
        <p:spPr>
          <a:xfrm>
            <a:off x="1847088" y="4069079"/>
            <a:ext cx="475488" cy="210312"/>
          </a:xfrm>
          <a:prstGeom prst="rightArrow">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468880" y="3154680"/>
            <a:ext cx="914400" cy="658368"/>
          </a:xfrm>
          <a:prstGeom prst="rect">
            <a:avLst/>
          </a:prstGeom>
          <a:solidFill>
            <a:srgbClr val="FFFFFF"/>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51176" y="3264408"/>
            <a:ext cx="749808" cy="411480"/>
          </a:xfrm>
          <a:prstGeom prst="rect">
            <a:avLst/>
          </a:prstGeom>
          <a:noFill/>
        </p:spPr>
        <p:txBody>
          <a:bodyPr wrap="square" lIns="0" rIns="0" tIns="0" bIns="0" anchor="t">
            <a:spAutoFit/>
          </a:bodyPr>
          <a:lstStyle/>
          <a:p>
            <a:pPr algn="ctr">
              <a:spcAft>
                <a:spcPts val="0"/>
              </a:spcAft>
            </a:pPr>
            <a:r>
              <a:rPr sz="1080" b="1" i="0">
                <a:solidFill>
                  <a:srgbClr val="082B55"/>
                </a:solidFill>
                <a:latin typeface="Arial"/>
              </a:rPr>
              <a:t>FLT/GC
model</a:t>
            </a:r>
          </a:p>
        </p:txBody>
      </p:sp>
      <p:sp>
        <p:nvSpPr>
          <p:cNvPr id="27" name="TextBox 26"/>
          <p:cNvSpPr txBox="1"/>
          <p:nvPr/>
        </p:nvSpPr>
        <p:spPr>
          <a:xfrm>
            <a:off x="713232" y="4709160"/>
            <a:ext cx="2816352"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Similar expression lets these genes share predictive weight.</a:t>
            </a:r>
          </a:p>
        </p:txBody>
      </p:sp>
      <p:sp>
        <p:nvSpPr>
          <p:cNvPr id="28" name="Rectangle 27"/>
          <p:cNvSpPr/>
          <p:nvPr/>
        </p:nvSpPr>
        <p:spPr>
          <a:xfrm>
            <a:off x="4425696" y="2697480"/>
            <a:ext cx="960120" cy="39319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98848" y="2779776"/>
            <a:ext cx="813816" cy="201168"/>
          </a:xfrm>
          <a:prstGeom prst="rect">
            <a:avLst/>
          </a:prstGeom>
          <a:noFill/>
        </p:spPr>
        <p:txBody>
          <a:bodyPr wrap="square" lIns="0" rIns="0" tIns="0" bIns="0" anchor="t">
            <a:spAutoFit/>
          </a:bodyPr>
          <a:lstStyle/>
          <a:p>
            <a:pPr algn="ctr">
              <a:spcAft>
                <a:spcPts val="0"/>
              </a:spcAft>
            </a:pPr>
            <a:r>
              <a:rPr sz="1120" b="1" i="0">
                <a:solidFill>
                  <a:srgbClr val="2D6496"/>
                </a:solidFill>
                <a:latin typeface="Arial"/>
              </a:rPr>
              <a:t>Gene A</a:t>
            </a:r>
          </a:p>
        </p:txBody>
      </p:sp>
      <p:sp>
        <p:nvSpPr>
          <p:cNvPr id="30" name="Rectangle 29"/>
          <p:cNvSpPr/>
          <p:nvPr/>
        </p:nvSpPr>
        <p:spPr>
          <a:xfrm>
            <a:off x="4425696" y="3337560"/>
            <a:ext cx="960120" cy="39319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98848" y="3419856"/>
            <a:ext cx="813816" cy="201168"/>
          </a:xfrm>
          <a:prstGeom prst="rect">
            <a:avLst/>
          </a:prstGeom>
          <a:noFill/>
        </p:spPr>
        <p:txBody>
          <a:bodyPr wrap="square" lIns="0" rIns="0" tIns="0" bIns="0" anchor="t">
            <a:spAutoFit/>
          </a:bodyPr>
          <a:lstStyle/>
          <a:p>
            <a:pPr algn="ctr">
              <a:spcAft>
                <a:spcPts val="0"/>
              </a:spcAft>
            </a:pPr>
            <a:r>
              <a:rPr sz="1120" b="1" i="0">
                <a:solidFill>
                  <a:srgbClr val="178681"/>
                </a:solidFill>
                <a:latin typeface="Arial"/>
              </a:rPr>
              <a:t>Gene B</a:t>
            </a:r>
          </a:p>
        </p:txBody>
      </p:sp>
      <p:sp>
        <p:nvSpPr>
          <p:cNvPr id="32" name="Right Arrow 31"/>
          <p:cNvSpPr/>
          <p:nvPr/>
        </p:nvSpPr>
        <p:spPr>
          <a:xfrm>
            <a:off x="5522976" y="3429000"/>
            <a:ext cx="475488" cy="2103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425696" y="3977639"/>
            <a:ext cx="960120" cy="393192"/>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98848" y="4059935"/>
            <a:ext cx="813816" cy="201168"/>
          </a:xfrm>
          <a:prstGeom prst="rect">
            <a:avLst/>
          </a:prstGeom>
          <a:noFill/>
        </p:spPr>
        <p:txBody>
          <a:bodyPr wrap="square" lIns="0" rIns="0" tIns="0" bIns="0" anchor="t">
            <a:spAutoFit/>
          </a:bodyPr>
          <a:lstStyle/>
          <a:p>
            <a:pPr algn="ctr">
              <a:spcAft>
                <a:spcPts val="0"/>
              </a:spcAft>
            </a:pPr>
            <a:r>
              <a:rPr sz="1120" b="1" i="0">
                <a:solidFill>
                  <a:srgbClr val="D37B00"/>
                </a:solidFill>
                <a:latin typeface="Arial"/>
              </a:rPr>
              <a:t>Gene C</a:t>
            </a:r>
          </a:p>
        </p:txBody>
      </p:sp>
      <p:sp>
        <p:nvSpPr>
          <p:cNvPr id="35" name="Right Arrow 34"/>
          <p:cNvSpPr/>
          <p:nvPr/>
        </p:nvSpPr>
        <p:spPr>
          <a:xfrm>
            <a:off x="5522976" y="4069079"/>
            <a:ext cx="475488" cy="210312"/>
          </a:xfrm>
          <a:prstGeom prst="rightArrow">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54880" y="2578608"/>
            <a:ext cx="292608" cy="274320"/>
          </a:xfrm>
          <a:prstGeom prst="rect">
            <a:avLst/>
          </a:prstGeom>
          <a:noFill/>
        </p:spPr>
        <p:txBody>
          <a:bodyPr wrap="square" lIns="0" rIns="0" tIns="0" bIns="0" anchor="t">
            <a:spAutoFit/>
          </a:bodyPr>
          <a:lstStyle/>
          <a:p>
            <a:pPr algn="ctr">
              <a:spcAft>
                <a:spcPts val="0"/>
              </a:spcAft>
            </a:pPr>
            <a:r>
              <a:rPr sz="2000" b="1" i="0">
                <a:solidFill>
                  <a:srgbClr val="D96552"/>
                </a:solidFill>
                <a:latin typeface="Arial"/>
              </a:rPr>
              <a:t>x</a:t>
            </a:r>
          </a:p>
        </p:txBody>
      </p:sp>
      <p:sp>
        <p:nvSpPr>
          <p:cNvPr id="37" name="Rectangle 36"/>
          <p:cNvSpPr/>
          <p:nvPr/>
        </p:nvSpPr>
        <p:spPr>
          <a:xfrm>
            <a:off x="6144768" y="3154680"/>
            <a:ext cx="914400" cy="658368"/>
          </a:xfrm>
          <a:prstGeom prst="rect">
            <a:avLst/>
          </a:prstGeom>
          <a:solidFill>
            <a:srgbClr val="FFFFFF"/>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27064" y="3264408"/>
            <a:ext cx="749808" cy="411480"/>
          </a:xfrm>
          <a:prstGeom prst="rect">
            <a:avLst/>
          </a:prstGeom>
          <a:noFill/>
        </p:spPr>
        <p:txBody>
          <a:bodyPr wrap="square" lIns="0" rIns="0" tIns="0" bIns="0" anchor="t">
            <a:spAutoFit/>
          </a:bodyPr>
          <a:lstStyle/>
          <a:p>
            <a:pPr algn="ctr">
              <a:spcAft>
                <a:spcPts val="0"/>
              </a:spcAft>
            </a:pPr>
            <a:r>
              <a:rPr sz="1080" b="1" i="0">
                <a:solidFill>
                  <a:srgbClr val="082B55"/>
                </a:solidFill>
                <a:latin typeface="Arial"/>
              </a:rPr>
              <a:t>FLT/GC
model</a:t>
            </a:r>
          </a:p>
        </p:txBody>
      </p:sp>
      <p:sp>
        <p:nvSpPr>
          <p:cNvPr id="39" name="TextBox 38"/>
          <p:cNvSpPr txBox="1"/>
          <p:nvPr/>
        </p:nvSpPr>
        <p:spPr>
          <a:xfrm>
            <a:off x="4370832" y="4709160"/>
            <a:ext cx="2907792"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Genes B and C retain the shared signal, so the score changes little.</a:t>
            </a:r>
          </a:p>
        </p:txBody>
      </p:sp>
      <p:sp>
        <p:nvSpPr>
          <p:cNvPr id="40" name="TextBox 39"/>
          <p:cNvSpPr txBox="1"/>
          <p:nvPr/>
        </p:nvSpPr>
        <p:spPr>
          <a:xfrm>
            <a:off x="8101583" y="2660904"/>
            <a:ext cx="832104" cy="210312"/>
          </a:xfrm>
          <a:prstGeom prst="rect">
            <a:avLst/>
          </a:prstGeom>
          <a:noFill/>
        </p:spPr>
        <p:txBody>
          <a:bodyPr wrap="square" lIns="0" rIns="0" tIns="0" bIns="0" anchor="t">
            <a:spAutoFit/>
          </a:bodyPr>
          <a:lstStyle/>
          <a:p>
            <a:pPr algn="l">
              <a:spcAft>
                <a:spcPts val="0"/>
              </a:spcAft>
            </a:pPr>
            <a:r>
              <a:rPr sz="1030" b="1" i="0">
                <a:solidFill>
                  <a:srgbClr val="2D6496"/>
                </a:solidFill>
                <a:latin typeface="Arial"/>
              </a:rPr>
              <a:t>Real rank</a:t>
            </a:r>
          </a:p>
        </p:txBody>
      </p:sp>
      <p:sp>
        <p:nvSpPr>
          <p:cNvPr id="41" name="TextBox 40"/>
          <p:cNvSpPr txBox="1"/>
          <p:nvPr/>
        </p:nvSpPr>
        <p:spPr>
          <a:xfrm>
            <a:off x="9418320" y="2660904"/>
            <a:ext cx="1106424" cy="210312"/>
          </a:xfrm>
          <a:prstGeom prst="rect">
            <a:avLst/>
          </a:prstGeom>
          <a:noFill/>
        </p:spPr>
        <p:txBody>
          <a:bodyPr wrap="square" lIns="0" rIns="0" tIns="0" bIns="0" anchor="t">
            <a:spAutoFit/>
          </a:bodyPr>
          <a:lstStyle/>
          <a:p>
            <a:pPr algn="l">
              <a:spcAft>
                <a:spcPts val="0"/>
              </a:spcAft>
            </a:pPr>
            <a:r>
              <a:rPr sz="1030" b="1" i="0">
                <a:solidFill>
                  <a:srgbClr val="D96552"/>
                </a:solidFill>
                <a:latin typeface="Arial"/>
              </a:rPr>
              <a:t>Synthetic rank</a:t>
            </a:r>
          </a:p>
        </p:txBody>
      </p:sp>
      <p:sp>
        <p:nvSpPr>
          <p:cNvPr id="42" name="TextBox 41"/>
          <p:cNvSpPr txBox="1"/>
          <p:nvPr/>
        </p:nvSpPr>
        <p:spPr>
          <a:xfrm>
            <a:off x="8083296" y="3044952"/>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A</a:t>
            </a:r>
          </a:p>
        </p:txBody>
      </p:sp>
      <p:sp>
        <p:nvSpPr>
          <p:cNvPr id="43" name="Rectangle 42"/>
          <p:cNvSpPr/>
          <p:nvPr/>
        </p:nvSpPr>
        <p:spPr>
          <a:xfrm>
            <a:off x="8833104" y="3136392"/>
            <a:ext cx="740664"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021824" y="3136392"/>
            <a:ext cx="691286"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08208" y="3044952"/>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46" name="TextBox 45"/>
          <p:cNvSpPr txBox="1"/>
          <p:nvPr/>
        </p:nvSpPr>
        <p:spPr>
          <a:xfrm>
            <a:off x="8083296" y="3483864"/>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B</a:t>
            </a:r>
          </a:p>
        </p:txBody>
      </p:sp>
      <p:sp>
        <p:nvSpPr>
          <p:cNvPr id="47" name="Rectangle 46"/>
          <p:cNvSpPr/>
          <p:nvPr/>
        </p:nvSpPr>
        <p:spPr>
          <a:xfrm>
            <a:off x="8833104" y="3575304"/>
            <a:ext cx="683056"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21824" y="3575304"/>
            <a:ext cx="724204"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808208" y="3483864"/>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50" name="TextBox 49"/>
          <p:cNvSpPr txBox="1"/>
          <p:nvPr/>
        </p:nvSpPr>
        <p:spPr>
          <a:xfrm>
            <a:off x="8083296" y="3922776"/>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C</a:t>
            </a:r>
          </a:p>
        </p:txBody>
      </p:sp>
      <p:sp>
        <p:nvSpPr>
          <p:cNvPr id="51" name="Rectangle 50"/>
          <p:cNvSpPr/>
          <p:nvPr/>
        </p:nvSpPr>
        <p:spPr>
          <a:xfrm>
            <a:off x="8833104" y="4014215"/>
            <a:ext cx="641908"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021824" y="4014215"/>
            <a:ext cx="666597"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808208" y="3922776"/>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54" name="TextBox 53"/>
          <p:cNvSpPr txBox="1"/>
          <p:nvPr/>
        </p:nvSpPr>
        <p:spPr>
          <a:xfrm>
            <a:off x="8083296" y="4361688"/>
            <a:ext cx="694944" cy="219456"/>
          </a:xfrm>
          <a:prstGeom prst="rect">
            <a:avLst/>
          </a:prstGeom>
          <a:noFill/>
        </p:spPr>
        <p:txBody>
          <a:bodyPr wrap="square" lIns="0" rIns="0" tIns="0" bIns="0" anchor="t">
            <a:spAutoFit/>
          </a:bodyPr>
          <a:lstStyle/>
          <a:p>
            <a:pPr algn="l">
              <a:spcAft>
                <a:spcPts val="0"/>
              </a:spcAft>
            </a:pPr>
            <a:r>
              <a:rPr sz="1019" b="0" i="0">
                <a:solidFill>
                  <a:srgbClr val="8A969E"/>
                </a:solidFill>
                <a:latin typeface="Arial"/>
              </a:rPr>
              <a:t>Gene D</a:t>
            </a:r>
          </a:p>
        </p:txBody>
      </p:sp>
      <p:sp>
        <p:nvSpPr>
          <p:cNvPr id="55" name="Rectangle 54"/>
          <p:cNvSpPr/>
          <p:nvPr/>
        </p:nvSpPr>
        <p:spPr>
          <a:xfrm>
            <a:off x="8833104" y="4453127"/>
            <a:ext cx="329184"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021824" y="4453127"/>
            <a:ext cx="263347"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08208" y="4361688"/>
            <a:ext cx="566928" cy="219456"/>
          </a:xfrm>
          <a:prstGeom prst="rect">
            <a:avLst/>
          </a:prstGeom>
          <a:noFill/>
        </p:spPr>
        <p:txBody>
          <a:bodyPr wrap="square" lIns="0" rIns="0" tIns="0" bIns="0" anchor="t">
            <a:spAutoFit/>
          </a:bodyPr>
          <a:lstStyle/>
          <a:p>
            <a:pPr algn="r">
              <a:spcAft>
                <a:spcPts val="0"/>
              </a:spcAft>
            </a:pPr>
            <a:r>
              <a:rPr sz="819" b="0" i="0">
                <a:solidFill>
                  <a:srgbClr val="8A969E"/>
                </a:solidFill>
                <a:latin typeface="Arial"/>
              </a:rPr>
              <a:t>not selected</a:t>
            </a:r>
          </a:p>
        </p:txBody>
      </p:sp>
      <p:sp>
        <p:nvSpPr>
          <p:cNvPr id="58" name="TextBox 57"/>
          <p:cNvSpPr txBox="1"/>
          <p:nvPr/>
        </p:nvSpPr>
        <p:spPr>
          <a:xfrm>
            <a:off x="8065008" y="4892040"/>
            <a:ext cx="3145536"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Repeated support keeps the correlated genes together as one panel.</a:t>
            </a:r>
          </a:p>
        </p:txBody>
      </p:sp>
      <p:sp>
        <p:nvSpPr>
          <p:cNvPr id="59" name="Rectangle 58"/>
          <p:cNvSpPr/>
          <p:nvPr/>
        </p:nvSpPr>
        <p:spPr>
          <a:xfrm>
            <a:off x="429768" y="5605272"/>
            <a:ext cx="11137392"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4944" y="5751576"/>
            <a:ext cx="10607040" cy="246888"/>
          </a:xfrm>
          <a:prstGeom prst="rect">
            <a:avLst/>
          </a:prstGeom>
          <a:noFill/>
        </p:spPr>
        <p:txBody>
          <a:bodyPr wrap="square" lIns="0" rIns="0" tIns="0" bIns="0" anchor="t">
            <a:spAutoFit/>
          </a:bodyPr>
          <a:lstStyle/>
          <a:p>
            <a:pPr algn="ctr">
              <a:spcAft>
                <a:spcPts val="0"/>
              </a:spcAft>
            </a:pPr>
            <a:r>
              <a:rPr sz="1250" b="1" i="0">
                <a:solidFill>
                  <a:srgbClr val="FFFFFF"/>
                </a:solidFill>
                <a:latin typeface="Arial"/>
              </a:rPr>
              <a:t>A low one-gene score can mean that another correlated gene carries the same information. It does not make the gene irrelevant.</a:t>
            </a:r>
          </a:p>
        </p:txBody>
      </p:sp>
      <p:sp>
        <p:nvSpPr>
          <p:cNvPr id="61" name="TextBox 6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Illustration of why testing one gene at a time can miss members of a correlated gene group.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PREDICTION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Adding synthetic samples helped many tissues, but not all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kept the genes and model settings fixed. Only the training data changed.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600" b="1" i="0">
                <a:solidFill>
                  <a:srgbClr val="082B55"/>
                </a:solidFill>
                <a:latin typeface="Arial"/>
              </a:rPr>
              <a:t>One model across all tissues</a:t>
            </a:r>
          </a:p>
        </p:txBody>
      </p:sp>
      <p:sp>
        <p:nvSpPr>
          <p:cNvPr id="9" name="TextBox 8"/>
          <p:cNvSpPr txBox="1"/>
          <p:nvPr/>
        </p:nvSpPr>
        <p:spPr>
          <a:xfrm rot="16200000">
            <a:off x="0" y="3977639"/>
            <a:ext cx="1188720" cy="256032"/>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Balanced accuracy</a:t>
            </a:r>
          </a:p>
        </p:txBody>
      </p:sp>
      <p:sp>
        <p:nvSpPr>
          <p:cNvPr id="10" name="Rectangle 9"/>
          <p:cNvSpPr/>
          <p:nvPr/>
        </p:nvSpPr>
        <p:spPr>
          <a:xfrm>
            <a:off x="1005840" y="5486400"/>
            <a:ext cx="2304288"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1005840" y="4114800"/>
            <a:ext cx="2304288"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1005840" y="2743200"/>
            <a:ext cx="2304288"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1042415"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3"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923543"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828800"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55648"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709928"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615184"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2032"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96312"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1005840" y="5486400"/>
            <a:ext cx="2304288"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457200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Real + synthetic, analyzed by tissue</a:t>
            </a:r>
          </a:p>
        </p:txBody>
      </p:sp>
      <p:pic>
        <p:nvPicPr>
          <p:cNvPr id="29" name="Balanced accuracy before and after adding synthetic samples to training" descr="Balanced accuracy before and after adding synthetic samples to training"/>
          <p:cNvPicPr>
            <a:picLocks noChangeAspect="1"/>
          </p:cNvPicPr>
          <p:nvPr/>
        </p:nvPicPr>
        <p:blipFill>
          <a:blip r:embed="rId2"/>
          <a:stretch>
            <a:fillRect/>
          </a:stretch>
        </p:blipFill>
        <p:spPr>
          <a:xfrm>
            <a:off x="4865185" y="2423160"/>
            <a:ext cx="5777853" cy="3383280"/>
          </a:xfrm>
          <a:prstGeom prst="rect">
            <a:avLst/>
          </a:prstGeom>
        </p:spPr>
      </p:pic>
      <p:sp>
        <p:nvSpPr>
          <p:cNvPr id="30" name="TextBox 29"/>
          <p:cNvSpPr txBox="1"/>
          <p:nvPr/>
        </p:nvSpPr>
        <p:spPr>
          <a:xfrm>
            <a:off x="4059936" y="5715000"/>
            <a:ext cx="6583680" cy="246888"/>
          </a:xfrm>
          <a:prstGeom prst="rect">
            <a:avLst/>
          </a:prstGeom>
          <a:noFill/>
        </p:spPr>
        <p:txBody>
          <a:bodyPr wrap="square" lIns="18288" rIns="18288" tIns="18288" bIns="18288" anchor="t">
            <a:spAutoFit/>
          </a:bodyPr>
          <a:lstStyle/>
          <a:p>
            <a:pPr algn="l">
              <a:spcAft>
                <a:spcPts val="0"/>
              </a:spcAft>
            </a:pPr>
            <a:r>
              <a:rPr sz="1150" b="0" i="1">
                <a:solidFill>
                  <a:srgbClr val="59697A"/>
                </a:solidFill>
                <a:latin typeface="Arial"/>
              </a:rPr>
              <a:t>Teal improved every overall and study-average check; coral had mixed results.</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Controlled comparison on unseen real samples. Every model used the same 974 genes and prediction settings.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All-gene tests and compact gene panels answer different questions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require FDR &lt; 0.05 in measured data. FDR controls false positives when many genes are tested.</a:t>
            </a:r>
          </a:p>
        </p:txBody>
      </p:sp>
      <p:sp>
        <p:nvSpPr>
          <p:cNvPr id="7" name="TextBox 6"/>
          <p:cNvSpPr txBox="1"/>
          <p:nvPr/>
        </p:nvSpPr>
        <p:spPr>
          <a:xfrm>
            <a:off x="576072" y="1874519"/>
            <a:ext cx="5257800" cy="283464"/>
          </a:xfrm>
          <a:prstGeom prst="rect">
            <a:avLst/>
          </a:prstGeom>
          <a:noFill/>
        </p:spPr>
        <p:txBody>
          <a:bodyPr wrap="square" lIns="0" rIns="0" tIns="0" bIns="0" anchor="t">
            <a:spAutoFit/>
          </a:bodyPr>
          <a:lstStyle/>
          <a:p>
            <a:pPr algn="ctr">
              <a:spcAft>
                <a:spcPts val="0"/>
              </a:spcAft>
            </a:pPr>
            <a:r>
              <a:rPr sz="1400" b="1" i="0">
                <a:solidFill>
                  <a:srgbClr val="082B55"/>
                </a:solidFill>
                <a:latin typeface="Arial"/>
              </a:rPr>
              <a:t>Genes significant in measured OSDR data (FDR &lt; 0.05)</a:t>
            </a:r>
          </a:p>
        </p:txBody>
      </p:sp>
      <p:sp>
        <p:nvSpPr>
          <p:cNvPr id="8" name="Oval 7"/>
          <p:cNvSpPr/>
          <p:nvPr/>
        </p:nvSpPr>
        <p:spPr>
          <a:xfrm>
            <a:off x="658368" y="2395728"/>
            <a:ext cx="3456432" cy="2468880"/>
          </a:xfrm>
          <a:prstGeom prst="ellipse">
            <a:avLst/>
          </a:prstGeom>
          <a:solidFill>
            <a:srgbClr val="D96552">
              <a:alpha val="22000"/>
            </a:srgbClr>
          </a:solidFill>
          <a:ln w="3048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679192" y="2395728"/>
            <a:ext cx="3456432" cy="2468880"/>
          </a:xfrm>
          <a:prstGeom prst="ellipse">
            <a:avLst/>
          </a:prstGeom>
          <a:solidFill>
            <a:srgbClr val="2D6496">
              <a:alpha val="20000"/>
            </a:srgbClr>
          </a:solid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176272"/>
            <a:ext cx="2240280" cy="246888"/>
          </a:xfrm>
          <a:prstGeom prst="rect">
            <a:avLst/>
          </a:prstGeom>
          <a:noFill/>
        </p:spPr>
        <p:txBody>
          <a:bodyPr wrap="square" lIns="0" rIns="0" tIns="0" bIns="0" anchor="t">
            <a:spAutoFit/>
          </a:bodyPr>
          <a:lstStyle/>
          <a:p>
            <a:pPr algn="ctr">
              <a:spcAft>
                <a:spcPts val="0"/>
              </a:spcAft>
            </a:pPr>
            <a:r>
              <a:rPr sz="1170" b="1" i="0">
                <a:solidFill>
                  <a:srgbClr val="D96552"/>
                </a:solidFill>
                <a:latin typeface="Arial"/>
              </a:rPr>
              <a:t>Controlled all-gene test</a:t>
            </a:r>
          </a:p>
        </p:txBody>
      </p:sp>
      <p:sp>
        <p:nvSpPr>
          <p:cNvPr id="11" name="TextBox 10"/>
          <p:cNvSpPr txBox="1"/>
          <p:nvPr/>
        </p:nvSpPr>
        <p:spPr>
          <a:xfrm>
            <a:off x="3950208" y="2176272"/>
            <a:ext cx="2148840" cy="246888"/>
          </a:xfrm>
          <a:prstGeom prst="rect">
            <a:avLst/>
          </a:prstGeom>
          <a:noFill/>
        </p:spPr>
        <p:txBody>
          <a:bodyPr wrap="square" lIns="0" rIns="0" tIns="0" bIns="0" anchor="t">
            <a:spAutoFit/>
          </a:bodyPr>
          <a:lstStyle/>
          <a:p>
            <a:pPr algn="ctr">
              <a:spcAft>
                <a:spcPts val="0"/>
              </a:spcAft>
            </a:pPr>
            <a:r>
              <a:rPr sz="1170" b="1" i="0">
                <a:solidFill>
                  <a:srgbClr val="2D6496"/>
                </a:solidFill>
                <a:latin typeface="Arial"/>
              </a:rPr>
              <a:t>Combined gene panels</a:t>
            </a:r>
          </a:p>
        </p:txBody>
      </p:sp>
      <p:sp>
        <p:nvSpPr>
          <p:cNvPr id="12" name="TextBox 11"/>
          <p:cNvSpPr txBox="1"/>
          <p:nvPr/>
        </p:nvSpPr>
        <p:spPr>
          <a:xfrm>
            <a:off x="1143000" y="3172968"/>
            <a:ext cx="1097280" cy="457200"/>
          </a:xfrm>
          <a:prstGeom prst="rect">
            <a:avLst/>
          </a:prstGeom>
          <a:noFill/>
        </p:spPr>
        <p:txBody>
          <a:bodyPr wrap="square" lIns="0" rIns="0" tIns="0" bIns="0" anchor="t">
            <a:spAutoFit/>
          </a:bodyPr>
          <a:lstStyle/>
          <a:p>
            <a:pPr algn="ctr">
              <a:spcAft>
                <a:spcPts val="0"/>
              </a:spcAft>
            </a:pPr>
            <a:r>
              <a:rPr sz="2900" b="1" i="0">
                <a:solidFill>
                  <a:srgbClr val="D96552"/>
                </a:solidFill>
                <a:latin typeface="Arial"/>
              </a:rPr>
              <a:t>10</a:t>
            </a:r>
          </a:p>
        </p:txBody>
      </p:sp>
      <p:sp>
        <p:nvSpPr>
          <p:cNvPr id="13" name="TextBox 12"/>
          <p:cNvSpPr txBox="1"/>
          <p:nvPr/>
        </p:nvSpPr>
        <p:spPr>
          <a:xfrm>
            <a:off x="1051560" y="3685032"/>
            <a:ext cx="1280160"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all-gene only</a:t>
            </a:r>
          </a:p>
        </p:txBody>
      </p:sp>
      <p:sp>
        <p:nvSpPr>
          <p:cNvPr id="14" name="TextBox 13"/>
          <p:cNvSpPr txBox="1"/>
          <p:nvPr/>
        </p:nvSpPr>
        <p:spPr>
          <a:xfrm>
            <a:off x="2834640" y="3172968"/>
            <a:ext cx="1097280" cy="457200"/>
          </a:xfrm>
          <a:prstGeom prst="rect">
            <a:avLst/>
          </a:prstGeom>
          <a:noFill/>
        </p:spPr>
        <p:txBody>
          <a:bodyPr wrap="square" lIns="0" rIns="0" tIns="0" bIns="0" anchor="t">
            <a:spAutoFit/>
          </a:bodyPr>
          <a:lstStyle/>
          <a:p>
            <a:pPr algn="ctr">
              <a:spcAft>
                <a:spcPts val="0"/>
              </a:spcAft>
            </a:pPr>
            <a:r>
              <a:rPr sz="2900" b="1" i="0">
                <a:solidFill>
                  <a:srgbClr val="082B55"/>
                </a:solidFill>
                <a:latin typeface="Arial"/>
              </a:rPr>
              <a:t>11</a:t>
            </a:r>
          </a:p>
        </p:txBody>
      </p:sp>
      <p:sp>
        <p:nvSpPr>
          <p:cNvPr id="15" name="TextBox 14"/>
          <p:cNvSpPr txBox="1"/>
          <p:nvPr/>
        </p:nvSpPr>
        <p:spPr>
          <a:xfrm>
            <a:off x="2834640" y="3685032"/>
            <a:ext cx="1097280"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both</a:t>
            </a:r>
          </a:p>
        </p:txBody>
      </p:sp>
      <p:sp>
        <p:nvSpPr>
          <p:cNvPr id="16" name="TextBox 15"/>
          <p:cNvSpPr txBox="1"/>
          <p:nvPr/>
        </p:nvSpPr>
        <p:spPr>
          <a:xfrm>
            <a:off x="4544568" y="3172968"/>
            <a:ext cx="1097280" cy="457200"/>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38</a:t>
            </a:r>
          </a:p>
        </p:txBody>
      </p:sp>
      <p:sp>
        <p:nvSpPr>
          <p:cNvPr id="17" name="TextBox 16"/>
          <p:cNvSpPr txBox="1"/>
          <p:nvPr/>
        </p:nvSpPr>
        <p:spPr>
          <a:xfrm>
            <a:off x="4398264" y="3685032"/>
            <a:ext cx="1389888"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panel only</a:t>
            </a:r>
          </a:p>
        </p:txBody>
      </p:sp>
      <p:sp>
        <p:nvSpPr>
          <p:cNvPr id="18" name="TextBox 17"/>
          <p:cNvSpPr txBox="1"/>
          <p:nvPr/>
        </p:nvSpPr>
        <p:spPr>
          <a:xfrm>
            <a:off x="1435608" y="4617720"/>
            <a:ext cx="1417320" cy="256032"/>
          </a:xfrm>
          <a:prstGeom prst="rect">
            <a:avLst/>
          </a:prstGeom>
          <a:noFill/>
        </p:spPr>
        <p:txBody>
          <a:bodyPr wrap="square" lIns="0" rIns="0" tIns="0" bIns="0" anchor="t">
            <a:spAutoFit/>
          </a:bodyPr>
          <a:lstStyle/>
          <a:p>
            <a:pPr algn="ctr">
              <a:spcAft>
                <a:spcPts val="0"/>
              </a:spcAft>
            </a:pPr>
            <a:r>
              <a:rPr sz="1200" b="1" i="0">
                <a:solidFill>
                  <a:srgbClr val="D96552"/>
                </a:solidFill>
                <a:latin typeface="Arial"/>
              </a:rPr>
              <a:t>21 total</a:t>
            </a:r>
          </a:p>
        </p:txBody>
      </p:sp>
      <p:sp>
        <p:nvSpPr>
          <p:cNvPr id="19" name="TextBox 18"/>
          <p:cNvSpPr txBox="1"/>
          <p:nvPr/>
        </p:nvSpPr>
        <p:spPr>
          <a:xfrm>
            <a:off x="3950208" y="4617720"/>
            <a:ext cx="1417320" cy="256032"/>
          </a:xfrm>
          <a:prstGeom prst="rect">
            <a:avLst/>
          </a:prstGeom>
          <a:noFill/>
        </p:spPr>
        <p:txBody>
          <a:bodyPr wrap="square" lIns="0" rIns="0" tIns="0" bIns="0" anchor="t">
            <a:spAutoFit/>
          </a:bodyPr>
          <a:lstStyle/>
          <a:p>
            <a:pPr algn="ctr">
              <a:spcAft>
                <a:spcPts val="0"/>
              </a:spcAft>
            </a:pPr>
            <a:r>
              <a:rPr sz="1200" b="1" i="0">
                <a:solidFill>
                  <a:srgbClr val="2D6496"/>
                </a:solidFill>
                <a:latin typeface="Arial"/>
              </a:rPr>
              <a:t>49 total</a:t>
            </a:r>
          </a:p>
        </p:txBody>
      </p:sp>
      <p:sp>
        <p:nvSpPr>
          <p:cNvPr id="20" name="Rectangle 19"/>
          <p:cNvSpPr/>
          <p:nvPr/>
        </p:nvSpPr>
        <p:spPr>
          <a:xfrm>
            <a:off x="6492240" y="1874519"/>
            <a:ext cx="13716" cy="402336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1984248"/>
            <a:ext cx="4663440" cy="969264"/>
          </a:xfrm>
          <a:prstGeom prst="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22592" y="2148840"/>
            <a:ext cx="914400" cy="210312"/>
          </a:xfrm>
          <a:prstGeom prst="rect">
            <a:avLst/>
          </a:prstGeom>
          <a:noFill/>
        </p:spPr>
        <p:txBody>
          <a:bodyPr wrap="square" lIns="0" rIns="0" tIns="0" bIns="0" anchor="t">
            <a:spAutoFit/>
          </a:bodyPr>
          <a:lstStyle/>
          <a:p>
            <a:pPr algn="l">
              <a:spcAft>
                <a:spcPts val="0"/>
              </a:spcAft>
            </a:pPr>
            <a:r>
              <a:rPr sz="919" b="1" i="0">
                <a:solidFill>
                  <a:srgbClr val="D96552"/>
                </a:solidFill>
                <a:latin typeface="Arial"/>
              </a:rPr>
              <a:t>PRIMARY</a:t>
            </a:r>
          </a:p>
        </p:txBody>
      </p:sp>
      <p:sp>
        <p:nvSpPr>
          <p:cNvPr id="23" name="TextBox 22"/>
          <p:cNvSpPr txBox="1"/>
          <p:nvPr/>
        </p:nvSpPr>
        <p:spPr>
          <a:xfrm>
            <a:off x="8074152" y="2112264"/>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Controlled all-gene test</a:t>
            </a:r>
          </a:p>
        </p:txBody>
      </p:sp>
      <p:sp>
        <p:nvSpPr>
          <p:cNvPr id="24" name="TextBox 23"/>
          <p:cNvSpPr txBox="1"/>
          <p:nvPr/>
        </p:nvSpPr>
        <p:spPr>
          <a:xfrm>
            <a:off x="7022592" y="2450591"/>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Only the training data change. Prediction and gene importance are tested on unseen real samples.</a:t>
            </a:r>
          </a:p>
        </p:txBody>
      </p:sp>
      <p:sp>
        <p:nvSpPr>
          <p:cNvPr id="25" name="Rectangle 24"/>
          <p:cNvSpPr/>
          <p:nvPr/>
        </p:nvSpPr>
        <p:spPr>
          <a:xfrm>
            <a:off x="6784848" y="3200400"/>
            <a:ext cx="4663440" cy="969264"/>
          </a:xfrm>
          <a:prstGeom prst="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22592" y="3364992"/>
            <a:ext cx="914400" cy="21031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SECONDARY</a:t>
            </a:r>
          </a:p>
        </p:txBody>
      </p:sp>
      <p:sp>
        <p:nvSpPr>
          <p:cNvPr id="27" name="TextBox 26"/>
          <p:cNvSpPr txBox="1"/>
          <p:nvPr/>
        </p:nvSpPr>
        <p:spPr>
          <a:xfrm>
            <a:off x="8074152" y="3328416"/>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Combined gene panel</a:t>
            </a:r>
          </a:p>
        </p:txBody>
      </p:sp>
      <p:sp>
        <p:nvSpPr>
          <p:cNvPr id="28" name="TextBox 27"/>
          <p:cNvSpPr txBox="1"/>
          <p:nvPr/>
        </p:nvSpPr>
        <p:spPr>
          <a:xfrm>
            <a:off x="7022592" y="3666744"/>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Combines real and synthetic rankings to retain small groups of correlated genes.</a:t>
            </a:r>
          </a:p>
        </p:txBody>
      </p:sp>
      <p:sp>
        <p:nvSpPr>
          <p:cNvPr id="29" name="Rectangle 28"/>
          <p:cNvSpPr/>
          <p:nvPr/>
        </p:nvSpPr>
        <p:spPr>
          <a:xfrm>
            <a:off x="6784848" y="4416552"/>
            <a:ext cx="4663440" cy="969264"/>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22592" y="4581144"/>
            <a:ext cx="914400" cy="210312"/>
          </a:xfrm>
          <a:prstGeom prst="rect">
            <a:avLst/>
          </a:prstGeom>
          <a:noFill/>
        </p:spPr>
        <p:txBody>
          <a:bodyPr wrap="square" lIns="0" rIns="0" tIns="0" bIns="0" anchor="t">
            <a:spAutoFit/>
          </a:bodyPr>
          <a:lstStyle/>
          <a:p>
            <a:pPr algn="l">
              <a:spcAft>
                <a:spcPts val="0"/>
              </a:spcAft>
            </a:pPr>
            <a:r>
              <a:rPr sz="919" b="1" i="0">
                <a:solidFill>
                  <a:srgbClr val="178681"/>
                </a:solidFill>
                <a:latin typeface="Arial"/>
              </a:rPr>
              <a:t>SHARED</a:t>
            </a:r>
          </a:p>
        </p:txBody>
      </p:sp>
      <p:sp>
        <p:nvSpPr>
          <p:cNvPr id="31" name="TextBox 30"/>
          <p:cNvSpPr txBox="1"/>
          <p:nvPr/>
        </p:nvSpPr>
        <p:spPr>
          <a:xfrm>
            <a:off x="8074152" y="4544568"/>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Measured-data significance</a:t>
            </a:r>
          </a:p>
        </p:txBody>
      </p:sp>
      <p:sp>
        <p:nvSpPr>
          <p:cNvPr id="32" name="TextBox 31"/>
          <p:cNvSpPr txBox="1"/>
          <p:nvPr/>
        </p:nvSpPr>
        <p:spPr>
          <a:xfrm>
            <a:off x="7022592" y="4882896"/>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FLT-GC differences and false-discovery correction use measured OSDR samples only.</a:t>
            </a:r>
          </a:p>
        </p:txBody>
      </p:sp>
      <p:sp>
        <p:nvSpPr>
          <p:cNvPr id="33" name="Rectangle 32"/>
          <p:cNvSpPr/>
          <p:nvPr/>
        </p:nvSpPr>
        <p:spPr>
          <a:xfrm>
            <a:off x="530352" y="5367528"/>
            <a:ext cx="10991088" cy="585216"/>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532120"/>
            <a:ext cx="10497312" cy="256032"/>
          </a:xfrm>
          <a:prstGeom prst="rect">
            <a:avLst/>
          </a:prstGeom>
          <a:noFill/>
        </p:spPr>
        <p:txBody>
          <a:bodyPr wrap="square" lIns="0" rIns="0" tIns="0" bIns="0" anchor="t">
            <a:spAutoFit/>
          </a:bodyPr>
          <a:lstStyle/>
          <a:p>
            <a:pPr algn="ctr">
              <a:spcAft>
                <a:spcPts val="0"/>
              </a:spcAft>
            </a:pPr>
            <a:r>
              <a:rPr sz="1350" b="1" i="0">
                <a:solidFill>
                  <a:srgbClr val="FFFFFF"/>
                </a:solidFill>
                <a:latin typeface="Arial"/>
              </a:rPr>
              <a:t>Thymus is strongest because both methods identify the same cell-cycle signal.</a:t>
            </a:r>
          </a:p>
        </p:txBody>
      </p:sp>
      <p:sp>
        <p:nvSpPr>
          <p:cNvPr id="35" name="TextBox 34"/>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Overlap: 21 all-gene associations, 49 combined-panel associations, and 11 found by both methods.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How a gene was selected and what the literature says are separate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labeled all 49 combined-panel associations by selection pattern and by prior biological evidence.</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Selected only after adding the synthetic ranking</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Selected by both real-only and combined rankings</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Selection describes our analysis. The literature label describes previous biological evidence.</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CONTROLLED-TEST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ran the same controlled test in all 27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Better FLT-GC prediction and interpretable genes did not always occur together.</a:t>
            </a:r>
          </a:p>
        </p:txBody>
      </p:sp>
      <p:sp>
        <p:nvSpPr>
          <p:cNvPr id="7" name="Rectangle 6"/>
          <p:cNvSpPr/>
          <p:nvPr/>
        </p:nvSpPr>
        <p:spPr>
          <a:xfrm>
            <a:off x="393192" y="1865376"/>
            <a:ext cx="3337560" cy="3200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D96552"/>
                </a:solidFill>
                <a:latin typeface="Arial"/>
              </a:rPr>
              <a:t>4</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Prediction + genes</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All six checks improved; at least one significant gene helped prediction</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645920" cy="173736"/>
          </a:xfrm>
          <a:prstGeom prst="rect">
            <a:avLst/>
          </a:prstGeom>
          <a:noFill/>
        </p:spPr>
        <p:txBody>
          <a:bodyPr wrap="square" lIns="0" rIns="0" tIns="0" bIns="0" anchor="t">
            <a:spAutoFit/>
          </a:bodyPr>
          <a:lstStyle/>
          <a:p>
            <a:pPr algn="l">
              <a:spcAft>
                <a:spcPts val="0"/>
              </a:spcAft>
            </a:pPr>
            <a:r>
              <a:rPr sz="830" b="1" i="0">
                <a:solidFill>
                  <a:srgbClr val="59697A"/>
                </a:solidFill>
                <a:latin typeface="Arial"/>
              </a:rPr>
              <a:t>TISSUES / MUSCLE GROUPS</a:t>
            </a:r>
          </a:p>
        </p:txBody>
      </p:sp>
      <p:sp>
        <p:nvSpPr>
          <p:cNvPr id="13" name="Rectangle 12"/>
          <p:cNvSpPr/>
          <p:nvPr/>
        </p:nvSpPr>
        <p:spPr>
          <a:xfrm>
            <a:off x="420623" y="3765041"/>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Liver</a:t>
            </a:r>
          </a:p>
        </p:txBody>
      </p:sp>
      <p:sp>
        <p:nvSpPr>
          <p:cNvPr id="15" name="Rectangle 14"/>
          <p:cNvSpPr/>
          <p:nvPr/>
        </p:nvSpPr>
        <p:spPr>
          <a:xfrm>
            <a:off x="420623" y="4094226"/>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950208"/>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Skin</a:t>
            </a:r>
          </a:p>
        </p:txBody>
      </p:sp>
      <p:sp>
        <p:nvSpPr>
          <p:cNvPr id="17" name="Rectangle 16"/>
          <p:cNvSpPr/>
          <p:nvPr/>
        </p:nvSpPr>
        <p:spPr>
          <a:xfrm>
            <a:off x="420623" y="4423409"/>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279392"/>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Spleen</a:t>
            </a:r>
          </a:p>
        </p:txBody>
      </p:sp>
      <p:sp>
        <p:nvSpPr>
          <p:cNvPr id="19" name="Rectangle 18"/>
          <p:cNvSpPr/>
          <p:nvPr/>
        </p:nvSpPr>
        <p:spPr>
          <a:xfrm>
            <a:off x="420623" y="4752594"/>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608576"/>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Thymus</a:t>
            </a:r>
          </a:p>
        </p:txBody>
      </p:sp>
      <p:sp>
        <p:nvSpPr>
          <p:cNvPr id="21" name="Rectangle 20"/>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05656"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14</a:t>
            </a:r>
          </a:p>
        </p:txBody>
      </p:sp>
      <p:sp>
        <p:nvSpPr>
          <p:cNvPr id="24" name="TextBox 23"/>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Prediction only</a:t>
            </a:r>
          </a:p>
        </p:txBody>
      </p:sp>
      <p:sp>
        <p:nvSpPr>
          <p:cNvPr id="25" name="TextBox 24"/>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All six checks improved; no gene met both criteria</a:t>
            </a:r>
          </a:p>
        </p:txBody>
      </p:sp>
      <p:sp>
        <p:nvSpPr>
          <p:cNvPr id="26" name="Rectangle 25"/>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23944" y="3346704"/>
            <a:ext cx="1645920" cy="173736"/>
          </a:xfrm>
          <a:prstGeom prst="rect">
            <a:avLst/>
          </a:prstGeom>
          <a:noFill/>
        </p:spPr>
        <p:txBody>
          <a:bodyPr wrap="square" lIns="0" rIns="0" tIns="0" bIns="0" anchor="t">
            <a:spAutoFit/>
          </a:bodyPr>
          <a:lstStyle/>
          <a:p>
            <a:pPr algn="l">
              <a:spcAft>
                <a:spcPts val="0"/>
              </a:spcAft>
            </a:pPr>
            <a:r>
              <a:rPr sz="830" b="1" i="0">
                <a:solidFill>
                  <a:srgbClr val="59697A"/>
                </a:solidFill>
                <a:latin typeface="Arial"/>
              </a:rPr>
              <a:t>TISSUES / MUSCLE GROUPS</a:t>
            </a:r>
          </a:p>
        </p:txBody>
      </p:sp>
      <p:sp>
        <p:nvSpPr>
          <p:cNvPr id="28" name="Rectangle 27"/>
          <p:cNvSpPr/>
          <p:nvPr/>
        </p:nvSpPr>
        <p:spPr>
          <a:xfrm>
            <a:off x="4133088" y="367948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3621024"/>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EDL</a:t>
            </a:r>
          </a:p>
        </p:txBody>
      </p:sp>
      <p:sp>
        <p:nvSpPr>
          <p:cNvPr id="30" name="Rectangle 29"/>
          <p:cNvSpPr/>
          <p:nvPr/>
        </p:nvSpPr>
        <p:spPr>
          <a:xfrm>
            <a:off x="4133088" y="383754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34256" y="3779084"/>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Adrenal Gland</a:t>
            </a:r>
          </a:p>
        </p:txBody>
      </p:sp>
      <p:sp>
        <p:nvSpPr>
          <p:cNvPr id="32" name="Rectangle 31"/>
          <p:cNvSpPr/>
          <p:nvPr/>
        </p:nvSpPr>
        <p:spPr>
          <a:xfrm>
            <a:off x="4133088" y="39956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34256" y="3937145"/>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Bone Marrow</a:t>
            </a:r>
          </a:p>
        </p:txBody>
      </p:sp>
      <p:sp>
        <p:nvSpPr>
          <p:cNvPr id="34" name="Rectangle 33"/>
          <p:cNvSpPr/>
          <p:nvPr/>
        </p:nvSpPr>
        <p:spPr>
          <a:xfrm>
            <a:off x="4133088" y="415366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34256" y="4095205"/>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Brain</a:t>
            </a:r>
          </a:p>
        </p:txBody>
      </p:sp>
      <p:sp>
        <p:nvSpPr>
          <p:cNvPr id="36" name="Rectangle 35"/>
          <p:cNvSpPr/>
          <p:nvPr/>
        </p:nvSpPr>
        <p:spPr>
          <a:xfrm>
            <a:off x="4133088" y="431172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34256" y="4253266"/>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Brown adipose tissue</a:t>
            </a:r>
          </a:p>
        </p:txBody>
      </p:sp>
      <p:sp>
        <p:nvSpPr>
          <p:cNvPr id="38" name="Rectangle 37"/>
          <p:cNvSpPr/>
          <p:nvPr/>
        </p:nvSpPr>
        <p:spPr>
          <a:xfrm>
            <a:off x="4133088" y="4469783"/>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4411326"/>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Cerebellum</a:t>
            </a:r>
          </a:p>
        </p:txBody>
      </p:sp>
      <p:sp>
        <p:nvSpPr>
          <p:cNvPr id="40" name="Rectangle 39"/>
          <p:cNvSpPr/>
          <p:nvPr/>
        </p:nvSpPr>
        <p:spPr>
          <a:xfrm>
            <a:off x="4133088" y="4627843"/>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4569387"/>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Colon</a:t>
            </a:r>
          </a:p>
        </p:txBody>
      </p:sp>
      <p:sp>
        <p:nvSpPr>
          <p:cNvPr id="42" name="Rectangle 41"/>
          <p:cNvSpPr/>
          <p:nvPr/>
        </p:nvSpPr>
        <p:spPr>
          <a:xfrm>
            <a:off x="4133088" y="4785904"/>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4727448"/>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Eye</a:t>
            </a:r>
          </a:p>
        </p:txBody>
      </p:sp>
      <p:sp>
        <p:nvSpPr>
          <p:cNvPr id="44" name="Rectangle 43"/>
          <p:cNvSpPr/>
          <p:nvPr/>
        </p:nvSpPr>
        <p:spPr>
          <a:xfrm>
            <a:off x="4133088" y="4943964"/>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885508"/>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Lung</a:t>
            </a:r>
          </a:p>
        </p:txBody>
      </p:sp>
      <p:sp>
        <p:nvSpPr>
          <p:cNvPr id="46" name="Rectangle 45"/>
          <p:cNvSpPr/>
          <p:nvPr/>
        </p:nvSpPr>
        <p:spPr>
          <a:xfrm>
            <a:off x="4133088" y="510202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5043569"/>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Mammary Gland</a:t>
            </a:r>
          </a:p>
        </p:txBody>
      </p:sp>
      <p:sp>
        <p:nvSpPr>
          <p:cNvPr id="48" name="Rectangle 47"/>
          <p:cNvSpPr/>
          <p:nvPr/>
        </p:nvSpPr>
        <p:spPr>
          <a:xfrm>
            <a:off x="4133088"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5201629"/>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Optic Nerve</a:t>
            </a:r>
          </a:p>
        </p:txBody>
      </p:sp>
      <p:sp>
        <p:nvSpPr>
          <p:cNvPr id="50" name="Rectangle 49"/>
          <p:cNvSpPr/>
          <p:nvPr/>
        </p:nvSpPr>
        <p:spPr>
          <a:xfrm>
            <a:off x="4133088" y="54181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34256" y="5359690"/>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Retina</a:t>
            </a:r>
          </a:p>
        </p:txBody>
      </p:sp>
      <p:sp>
        <p:nvSpPr>
          <p:cNvPr id="52" name="Rectangle 51"/>
          <p:cNvSpPr/>
          <p:nvPr/>
        </p:nvSpPr>
        <p:spPr>
          <a:xfrm>
            <a:off x="4133088" y="557620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34256" y="5517750"/>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Skeletal muscle (pooled)</a:t>
            </a:r>
          </a:p>
        </p:txBody>
      </p:sp>
      <p:sp>
        <p:nvSpPr>
          <p:cNvPr id="54" name="Rectangle 53"/>
          <p:cNvSpPr/>
          <p:nvPr/>
        </p:nvSpPr>
        <p:spPr>
          <a:xfrm>
            <a:off x="4133088" y="573426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334256" y="5675811"/>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White adipose tissue</a:t>
            </a:r>
          </a:p>
        </p:txBody>
      </p:sp>
      <p:sp>
        <p:nvSpPr>
          <p:cNvPr id="56" name="Rectangle 55"/>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7818120"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9</a:t>
            </a:r>
          </a:p>
        </p:txBody>
      </p:sp>
      <p:sp>
        <p:nvSpPr>
          <p:cNvPr id="59" name="TextBox 58"/>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Mixed result</a:t>
            </a:r>
          </a:p>
        </p:txBody>
      </p:sp>
      <p:sp>
        <p:nvSpPr>
          <p:cNvPr id="60" name="TextBox 59"/>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At least one prediction check worsened</a:t>
            </a:r>
          </a:p>
        </p:txBody>
      </p:sp>
      <p:sp>
        <p:nvSpPr>
          <p:cNvPr id="61" name="Rectangle 60"/>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36408" y="3346704"/>
            <a:ext cx="1645920" cy="173736"/>
          </a:xfrm>
          <a:prstGeom prst="rect">
            <a:avLst/>
          </a:prstGeom>
          <a:noFill/>
        </p:spPr>
        <p:txBody>
          <a:bodyPr wrap="square" lIns="0" rIns="0" tIns="0" bIns="0" anchor="t">
            <a:spAutoFit/>
          </a:bodyPr>
          <a:lstStyle/>
          <a:p>
            <a:pPr algn="l">
              <a:spcAft>
                <a:spcPts val="0"/>
              </a:spcAft>
            </a:pPr>
            <a:r>
              <a:rPr sz="830" b="1" i="0">
                <a:solidFill>
                  <a:srgbClr val="59697A"/>
                </a:solidFill>
                <a:latin typeface="Arial"/>
              </a:rPr>
              <a:t>TISSUES / MUSCLE GROUPS</a:t>
            </a:r>
          </a:p>
        </p:txBody>
      </p:sp>
      <p:sp>
        <p:nvSpPr>
          <p:cNvPr id="63" name="Rectangle 62"/>
          <p:cNvSpPr/>
          <p:nvPr/>
        </p:nvSpPr>
        <p:spPr>
          <a:xfrm>
            <a:off x="7845552" y="3723385"/>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3621024"/>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Gastrocnemius</a:t>
            </a:r>
          </a:p>
        </p:txBody>
      </p:sp>
      <p:sp>
        <p:nvSpPr>
          <p:cNvPr id="65" name="Rectangle 64"/>
          <p:cNvSpPr/>
          <p:nvPr/>
        </p:nvSpPr>
        <p:spPr>
          <a:xfrm>
            <a:off x="7845552" y="396925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3866896"/>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Quadriceps</a:t>
            </a:r>
          </a:p>
        </p:txBody>
      </p:sp>
      <p:sp>
        <p:nvSpPr>
          <p:cNvPr id="67" name="Rectangle 66"/>
          <p:cNvSpPr/>
          <p:nvPr/>
        </p:nvSpPr>
        <p:spPr>
          <a:xfrm>
            <a:off x="7845552" y="421512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112767"/>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Soleus</a:t>
            </a:r>
          </a:p>
        </p:txBody>
      </p:sp>
      <p:sp>
        <p:nvSpPr>
          <p:cNvPr id="69" name="Rectangle 68"/>
          <p:cNvSpPr/>
          <p:nvPr/>
        </p:nvSpPr>
        <p:spPr>
          <a:xfrm>
            <a:off x="7845552" y="4461002"/>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358640"/>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Tibialis Anterior</a:t>
            </a:r>
          </a:p>
        </p:txBody>
      </p:sp>
      <p:sp>
        <p:nvSpPr>
          <p:cNvPr id="71" name="Rectangle 70"/>
          <p:cNvSpPr/>
          <p:nvPr/>
        </p:nvSpPr>
        <p:spPr>
          <a:xfrm>
            <a:off x="7845552" y="470687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604512"/>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Bone</a:t>
            </a:r>
          </a:p>
        </p:txBody>
      </p:sp>
      <p:sp>
        <p:nvSpPr>
          <p:cNvPr id="73" name="Rectangle 72"/>
          <p:cNvSpPr/>
          <p:nvPr/>
        </p:nvSpPr>
        <p:spPr>
          <a:xfrm>
            <a:off x="7845552" y="4952745"/>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4850384"/>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Cecum</a:t>
            </a:r>
          </a:p>
        </p:txBody>
      </p:sp>
      <p:sp>
        <p:nvSpPr>
          <p:cNvPr id="75" name="Rectangle 74"/>
          <p:cNvSpPr/>
          <p:nvPr/>
        </p:nvSpPr>
        <p:spPr>
          <a:xfrm>
            <a:off x="7845552" y="519861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096256"/>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Heart</a:t>
            </a:r>
          </a:p>
        </p:txBody>
      </p:sp>
      <p:sp>
        <p:nvSpPr>
          <p:cNvPr id="77" name="Rectangle 76"/>
          <p:cNvSpPr/>
          <p:nvPr/>
        </p:nvSpPr>
        <p:spPr>
          <a:xfrm>
            <a:off x="7845552" y="5444490"/>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342128"/>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Hippocampus</a:t>
            </a:r>
          </a:p>
        </p:txBody>
      </p:sp>
      <p:sp>
        <p:nvSpPr>
          <p:cNvPr id="79" name="Rectangle 78"/>
          <p:cNvSpPr/>
          <p:nvPr/>
        </p:nvSpPr>
        <p:spPr>
          <a:xfrm>
            <a:off x="7845552" y="569036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588000"/>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Kidney</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Real-plus-synthetic comparison across 22 tissue categories and five anatomical muscle groups.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COMBINED-RANKING 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had genes prioritized by the combined ranking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were significant in real OSDR data (FDR &lt; 0.05). Synthetic data changed priority, not significance.</a:t>
            </a:r>
          </a:p>
        </p:txBody>
      </p:sp>
      <p:sp>
        <p:nvSpPr>
          <p:cNvPr id="7" name="TextBox 6"/>
          <p:cNvSpPr txBox="1"/>
          <p:nvPr/>
        </p:nvSpPr>
        <p:spPr>
          <a:xfrm>
            <a:off x="411480" y="1700784"/>
            <a:ext cx="2432304" cy="228600"/>
          </a:xfrm>
          <a:prstGeom prst="rect">
            <a:avLst/>
          </a:prstGeom>
          <a:noFill/>
        </p:spPr>
        <p:txBody>
          <a:bodyPr wrap="square" lIns="18288" rIns="18288" tIns="18288" bIns="18288" anchor="t">
            <a:spAutoFit/>
          </a:bodyPr>
          <a:lstStyle/>
          <a:p>
            <a:pPr algn="l">
              <a:spcAft>
                <a:spcPts val="0"/>
              </a:spcAft>
            </a:pPr>
            <a:r>
              <a:rPr sz="950" b="1" i="0">
                <a:solidFill>
                  <a:srgbClr val="082B55"/>
                </a:solidFill>
                <a:latin typeface="Arial"/>
              </a:rPr>
              <a:t>Rows: FLT direction + selection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Rows show FLT direction and selection status. Gene color separately shows the literature interpretation.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is strongest across both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controlled test supports a synthetic contribution; the combined ranking adds related cell-cycle genes.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320040" y="1764792"/>
            <a:ext cx="7818120" cy="438912"/>
          </a:xfrm>
          <a:prstGeom prst="rect">
            <a:avLst/>
          </a:prstGeom>
          <a:solidFill>
            <a:srgbClr val="FFFFFF"/>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 y="1901952"/>
            <a:ext cx="7333488" cy="219456"/>
          </a:xfrm>
          <a:prstGeom prst="rect">
            <a:avLst/>
          </a:prstGeom>
          <a:noFill/>
        </p:spPr>
        <p:txBody>
          <a:bodyPr wrap="square" lIns="0" rIns="0" tIns="0" bIns="0" anchor="t">
            <a:spAutoFit/>
          </a:bodyPr>
          <a:lstStyle/>
          <a:p>
            <a:pPr algn="l">
              <a:spcAft>
                <a:spcPts val="0"/>
              </a:spcAft>
            </a:pPr>
            <a:r>
              <a:rPr sz="1150" b="1" i="0">
                <a:solidFill>
                  <a:srgbClr val="263746"/>
                </a:solidFill>
                <a:latin typeface="Arial"/>
              </a:rPr>
              <a:t>Thymus genes point to lower cell-cycle activity in flight</a:t>
            </a:r>
          </a:p>
        </p:txBody>
      </p:sp>
      <p:sp>
        <p:nvSpPr>
          <p:cNvPr id="10" name="Rectangle 9"/>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22792" y="2075688"/>
            <a:ext cx="2697480" cy="210312"/>
          </a:xfrm>
          <a:prstGeom prst="rect">
            <a:avLst/>
          </a:prstGeom>
          <a:noFill/>
        </p:spPr>
        <p:txBody>
          <a:bodyPr wrap="square" lIns="0" rIns="0" tIns="0" bIns="0" anchor="t">
            <a:spAutoFit/>
          </a:bodyPr>
          <a:lstStyle/>
          <a:p>
            <a:pPr algn="l">
              <a:spcAft>
                <a:spcPts val="0"/>
              </a:spcAft>
            </a:pPr>
            <a:r>
              <a:rPr sz="919" b="1" i="0">
                <a:solidFill>
                  <a:srgbClr val="D96552"/>
                </a:solidFill>
                <a:latin typeface="Arial"/>
              </a:rPr>
              <a:t>CONTROLLED ALL-GENE TEST</a:t>
            </a:r>
          </a:p>
        </p:txBody>
      </p:sp>
      <p:sp>
        <p:nvSpPr>
          <p:cNvPr id="12" name="TextBox 11"/>
          <p:cNvSpPr txBox="1"/>
          <p:nvPr/>
        </p:nvSpPr>
        <p:spPr>
          <a:xfrm>
            <a:off x="8622792" y="2340864"/>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15</a:t>
            </a:r>
          </a:p>
        </p:txBody>
      </p:sp>
      <p:sp>
        <p:nvSpPr>
          <p:cNvPr id="13" name="TextBox 12"/>
          <p:cNvSpPr txBox="1"/>
          <p:nvPr/>
        </p:nvSpPr>
        <p:spPr>
          <a:xfrm>
            <a:off x="9491472" y="2359152"/>
            <a:ext cx="1938528" cy="566928"/>
          </a:xfrm>
          <a:prstGeom prst="rect">
            <a:avLst/>
          </a:prstGeom>
          <a:noFill/>
        </p:spPr>
        <p:txBody>
          <a:bodyPr wrap="square" lIns="18288" rIns="18288" tIns="18288" bIns="18288" anchor="t">
            <a:spAutoFit/>
          </a:bodyPr>
          <a:lstStyle/>
          <a:p>
            <a:pPr algn="l">
              <a:spcAft>
                <a:spcPts val="0"/>
              </a:spcAft>
            </a:pPr>
            <a:r>
              <a:rPr sz="1270" b="1" i="0">
                <a:solidFill>
                  <a:srgbClr val="263746"/>
                </a:solidFill>
                <a:latin typeface="Arial"/>
              </a:rPr>
              <a:t>significant genes that also
helped FLT-GC prediction</a:t>
            </a:r>
          </a:p>
        </p:txBody>
      </p:sp>
      <p:sp>
        <p:nvSpPr>
          <p:cNvPr id="14" name="TextBox 13"/>
          <p:cNvSpPr txBox="1"/>
          <p:nvPr/>
        </p:nvSpPr>
        <p:spPr>
          <a:xfrm>
            <a:off x="8631936" y="3054096"/>
            <a:ext cx="2788920" cy="274320"/>
          </a:xfrm>
          <a:prstGeom prst="rect">
            <a:avLst/>
          </a:prstGeom>
          <a:noFill/>
        </p:spPr>
        <p:txBody>
          <a:bodyPr wrap="square" lIns="18288" rIns="18288" tIns="18288" bIns="18288" anchor="t">
            <a:spAutoFit/>
          </a:bodyPr>
          <a:lstStyle/>
          <a:p>
            <a:pPr algn="l">
              <a:spcAft>
                <a:spcPts val="0"/>
              </a:spcAft>
            </a:pPr>
            <a:r>
              <a:rPr sz="1320" b="1" i="0">
                <a:solidFill>
                  <a:srgbClr val="178681"/>
                </a:solidFill>
                <a:latin typeface="Arial"/>
              </a:rPr>
              <a:t>7 synthetic-added | 8 shared</a:t>
            </a:r>
          </a:p>
        </p:txBody>
      </p:sp>
      <p:sp>
        <p:nvSpPr>
          <p:cNvPr id="15" name="Oval 14"/>
          <p:cNvSpPr/>
          <p:nvPr/>
        </p:nvSpPr>
        <p:spPr>
          <a:xfrm>
            <a:off x="8631936" y="3538728"/>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14815" y="3447288"/>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26 significant Reactome terms; mitotic cell cycle leads</a:t>
            </a:r>
          </a:p>
        </p:txBody>
      </p:sp>
      <p:sp>
        <p:nvSpPr>
          <p:cNvPr id="17" name="Oval 16"/>
          <p:cNvSpPr/>
          <p:nvPr/>
        </p:nvSpPr>
        <p:spPr>
          <a:xfrm>
            <a:off x="8631936" y="4096511"/>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14815" y="4005072"/>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Nine genes overlap the 16-gene combined panel</a:t>
            </a:r>
          </a:p>
        </p:txBody>
      </p:sp>
      <p:sp>
        <p:nvSpPr>
          <p:cNvPr id="19" name="Oval 18"/>
          <p:cNvSpPr/>
          <p:nvPr/>
        </p:nvSpPr>
        <p:spPr>
          <a:xfrm>
            <a:off x="8631936" y="465429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14815" y="4562856"/>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The combined ranking adds Cdk1, Top2a, Aurka, Ccne2, Pcna and Ccnf</a:t>
            </a:r>
          </a:p>
        </p:txBody>
      </p:sp>
      <p:sp>
        <p:nvSpPr>
          <p:cNvPr id="21" name="Oval 20"/>
          <p:cNvSpPr/>
          <p:nvPr/>
        </p:nvSpPr>
        <p:spPr>
          <a:xfrm>
            <a:off x="8631936" y="521207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14815" y="5120640"/>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Lower mitotic renewal or fewer cycling thymocytes in flight</a:t>
            </a:r>
          </a:p>
        </p:txBody>
      </p:sp>
      <p:sp>
        <p:nvSpPr>
          <p:cNvPr id="23" name="TextBox 2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Figure shows the combined panel; controlled-test genes and Reactome results are in Tables S19-S20. Context: Gridley et al. (2013); Horie et al. (2019).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has a coherent secondary gene panel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five genes form a biological story, but adding synthetic samples did not improve every prediction check.</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25128" y="2103120"/>
            <a:ext cx="2532888" cy="566928"/>
          </a:xfrm>
          <a:prstGeom prst="rect">
            <a:avLst/>
          </a:prstGeom>
          <a:noFill/>
        </p:spPr>
        <p:txBody>
          <a:bodyPr wrap="square" lIns="18288" rIns="18288" tIns="18288" bIns="18288" anchor="t">
            <a:spAutoFit/>
          </a:bodyPr>
          <a:lstStyle/>
          <a:p>
            <a:pPr algn="ctr">
              <a:spcAft>
                <a:spcPts val="0"/>
              </a:spcAft>
            </a:pPr>
            <a:r>
              <a:rPr sz="1700" b="1" i="0">
                <a:solidFill>
                  <a:srgbClr val="178681"/>
                </a:solidFill>
                <a:latin typeface="Arial"/>
              </a:rPr>
              <a:t>5-gene combined panel</a:t>
            </a:r>
          </a:p>
        </p:txBody>
      </p:sp>
      <p:sp>
        <p:nvSpPr>
          <p:cNvPr id="10" name="TextBox 9"/>
          <p:cNvSpPr txBox="1"/>
          <p:nvPr/>
        </p:nvSpPr>
        <p:spPr>
          <a:xfrm>
            <a:off x="9052560" y="2706624"/>
            <a:ext cx="2468880" cy="329184"/>
          </a:xfrm>
          <a:prstGeom prst="rect">
            <a:avLst/>
          </a:prstGeom>
          <a:noFill/>
        </p:spPr>
        <p:txBody>
          <a:bodyPr wrap="square" lIns="18288" rIns="18288" tIns="18288" bIns="18288" anchor="t">
            <a:spAutoFit/>
          </a:bodyPr>
          <a:lstStyle/>
          <a:p>
            <a:pPr algn="ctr">
              <a:spcAft>
                <a:spcPts val="0"/>
              </a:spcAft>
            </a:pPr>
            <a:r>
              <a:rPr sz="1040" b="0" i="0">
                <a:solidFill>
                  <a:srgbClr val="59697A"/>
                </a:solidFill>
                <a:latin typeface="Arial"/>
              </a:rPr>
              <a:t>selected by both real and combined rankings</a:t>
            </a:r>
          </a:p>
        </p:txBody>
      </p:sp>
      <p:sp>
        <p:nvSpPr>
          <p:cNvPr id="11" name="Rectangle 10"/>
          <p:cNvSpPr/>
          <p:nvPr/>
        </p:nvSpPr>
        <p:spPr>
          <a:xfrm>
            <a:off x="9070848" y="3099816"/>
            <a:ext cx="2423160" cy="676656"/>
          </a:xfrm>
          <a:prstGeom prst="rect">
            <a:avLst/>
          </a:prstGeom>
          <a:solidFill>
            <a:srgbClr val="FFFFFF"/>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0" y="3200400"/>
            <a:ext cx="2103120" cy="228600"/>
          </a:xfrm>
          <a:prstGeom prst="rect">
            <a:avLst/>
          </a:prstGeom>
          <a:noFill/>
        </p:spPr>
        <p:txBody>
          <a:bodyPr wrap="square" lIns="0" rIns="0" tIns="0" bIns="0" anchor="t">
            <a:spAutoFit/>
          </a:bodyPr>
          <a:lstStyle/>
          <a:p>
            <a:pPr algn="ctr">
              <a:spcAft>
                <a:spcPts val="0"/>
              </a:spcAft>
            </a:pPr>
            <a:r>
              <a:rPr sz="1180" b="1" i="0">
                <a:solidFill>
                  <a:srgbClr val="D96552"/>
                </a:solidFill>
                <a:latin typeface="Arial"/>
              </a:rPr>
              <a:t>Prediction criteria not met</a:t>
            </a:r>
          </a:p>
        </p:txBody>
      </p:sp>
      <p:sp>
        <p:nvSpPr>
          <p:cNvPr id="13" name="TextBox 12"/>
          <p:cNvSpPr txBox="1"/>
          <p:nvPr/>
        </p:nvSpPr>
        <p:spPr>
          <a:xfrm>
            <a:off x="9171432" y="3465576"/>
            <a:ext cx="2231136" cy="182880"/>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1 measure improved; 2 declined</a:t>
            </a:r>
          </a:p>
        </p:txBody>
      </p:sp>
      <p:sp>
        <p:nvSpPr>
          <p:cNvPr id="14" name="Oval 13"/>
          <p:cNvSpPr/>
          <p:nvPr/>
        </p:nvSpPr>
        <p:spPr>
          <a:xfrm>
            <a:off x="9089136" y="403250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41063"/>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Lower Bdh1, Ech1, Bnip3 and Decr1</a:t>
            </a:r>
          </a:p>
        </p:txBody>
      </p:sp>
      <p:sp>
        <p:nvSpPr>
          <p:cNvPr id="16" name="Oval 15"/>
          <p:cNvSpPr/>
          <p:nvPr/>
        </p:nvSpPr>
        <p:spPr>
          <a:xfrm>
            <a:off x="9089136" y="450799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416552"/>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Higher Tpm1</a:t>
            </a:r>
          </a:p>
        </p:txBody>
      </p:sp>
      <p:sp>
        <p:nvSpPr>
          <p:cNvPr id="18" name="Oval 17"/>
          <p:cNvSpPr/>
          <p:nvPr/>
        </p:nvSpPr>
        <p:spPr>
          <a:xfrm>
            <a:off x="9089136" y="4983479"/>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4892040"/>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Mitochondrial turnover and fatty-acid metabolism</a:t>
            </a:r>
          </a:p>
        </p:txBody>
      </p:sp>
      <p:sp>
        <p:nvSpPr>
          <p:cNvPr id="20" name="Oval 19"/>
          <p:cNvSpPr/>
          <p:nvPr/>
        </p:nvSpPr>
        <p:spPr>
          <a:xfrm>
            <a:off x="9089136" y="545896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2015" y="5367527"/>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Panel-level hypothesis; no confirmed synthetic benefit</a:t>
            </a:r>
          </a:p>
        </p:txBody>
      </p:sp>
      <p:sp>
        <p:nvSpPr>
          <p:cNvPr id="22" name="TextBox 2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CONTROLLED-TEST FINDINGS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Liver, skin and spleen add narrower gene-level results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Pooled muscle improves prediction, while its gene panel remains a secondary result.</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234440" cy="256032"/>
          </a:xfrm>
          <a:prstGeom prst="rect">
            <a:avLst/>
          </a:prstGeom>
          <a:noFill/>
        </p:spPr>
        <p:txBody>
          <a:bodyPr wrap="square" lIns="18288" rIns="18288" tIns="18288" bIns="18288" anchor="t">
            <a:spAutoFit/>
          </a:bodyPr>
          <a:lstStyle/>
          <a:p>
            <a:pPr algn="l">
              <a:spcAft>
                <a:spcPts val="0"/>
              </a:spcAft>
            </a:pPr>
            <a:r>
              <a:rPr sz="1120" b="1" i="0">
                <a:solidFill>
                  <a:srgbClr val="59697A"/>
                </a:solidFill>
                <a:latin typeface="Arial"/>
              </a:rPr>
              <a:t>Evidence source</a:t>
            </a:r>
          </a:p>
        </p:txBody>
      </p:sp>
      <p:sp>
        <p:nvSpPr>
          <p:cNvPr id="9" name="TextBox 8"/>
          <p:cNvSpPr txBox="1"/>
          <p:nvPr/>
        </p:nvSpPr>
        <p:spPr>
          <a:xfrm>
            <a:off x="3593592" y="1828800"/>
            <a:ext cx="274320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Liver</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216152" cy="228600"/>
          </a:xfrm>
          <a:prstGeom prst="rect">
            <a:avLst/>
          </a:prstGeom>
          <a:noFill/>
        </p:spPr>
        <p:txBody>
          <a:bodyPr wrap="square" lIns="18288" rIns="18288" tIns="18288" bIns="18288" anchor="ctr">
            <a:spAutoFit/>
          </a:bodyPr>
          <a:lstStyle/>
          <a:p>
            <a:pPr algn="l">
              <a:spcAft>
                <a:spcPts val="0"/>
              </a:spcAft>
            </a:pPr>
            <a:r>
              <a:rPr sz="980" b="1" i="0">
                <a:solidFill>
                  <a:srgbClr val="D96552"/>
                </a:solidFill>
                <a:latin typeface="Arial"/>
              </a:rPr>
              <a:t>All-gene test</a:t>
            </a:r>
          </a:p>
        </p:txBody>
      </p:sp>
      <p:sp>
        <p:nvSpPr>
          <p:cNvPr id="16" name="TextBox 15"/>
          <p:cNvSpPr txBox="1"/>
          <p:nvPr/>
        </p:nvSpPr>
        <p:spPr>
          <a:xfrm>
            <a:off x="3593592" y="2194560"/>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Lower: Grb10, Ppic, H2-DMa, Gtf2a2</a:t>
            </a:r>
          </a:p>
        </p:txBody>
      </p:sp>
      <p:sp>
        <p:nvSpPr>
          <p:cNvPr id="17" name="TextBox 16"/>
          <p:cNvSpPr txBox="1"/>
          <p:nvPr/>
        </p:nvSpPr>
        <p:spPr>
          <a:xfrm>
            <a:off x="2267712" y="2624328"/>
            <a:ext cx="1216152" cy="228600"/>
          </a:xfrm>
          <a:prstGeom prst="rect">
            <a:avLst/>
          </a:prstGeom>
          <a:noFill/>
        </p:spPr>
        <p:txBody>
          <a:bodyPr wrap="square" lIns="18288" rIns="18288" tIns="18288" bIns="18288" anchor="ctr">
            <a:spAutoFit/>
          </a:bodyPr>
          <a:lstStyle/>
          <a:p>
            <a:pPr algn="l">
              <a:spcAft>
                <a:spcPts val="0"/>
              </a:spcAft>
            </a:pPr>
            <a:r>
              <a:rPr sz="980" b="1" i="0">
                <a:solidFill>
                  <a:srgbClr val="178681"/>
                </a:solidFill>
                <a:latin typeface="Arial"/>
              </a:rPr>
              <a:t>Combined ranking</a:t>
            </a:r>
          </a:p>
        </p:txBody>
      </p:sp>
      <p:sp>
        <p:nvSpPr>
          <p:cNvPr id="18" name="TextBox 17"/>
          <p:cNvSpPr txBox="1"/>
          <p:nvPr/>
        </p:nvSpPr>
        <p:spPr>
          <a:xfrm>
            <a:off x="3593592" y="2587752"/>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No retained panel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Four shared-importance candidates; no significant Reactome set enrichment.</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Skin</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216152" cy="228600"/>
          </a:xfrm>
          <a:prstGeom prst="rect">
            <a:avLst/>
          </a:prstGeom>
          <a:noFill/>
        </p:spPr>
        <p:txBody>
          <a:bodyPr wrap="square" lIns="18288" rIns="18288" tIns="18288" bIns="18288" anchor="ctr">
            <a:spAutoFit/>
          </a:bodyPr>
          <a:lstStyle/>
          <a:p>
            <a:pPr algn="l">
              <a:spcAft>
                <a:spcPts val="0"/>
              </a:spcAft>
            </a:pPr>
            <a:r>
              <a:rPr sz="980" b="1" i="0">
                <a:solidFill>
                  <a:srgbClr val="D96552"/>
                </a:solidFill>
                <a:latin typeface="Arial"/>
              </a:rPr>
              <a:t>All-gene test</a:t>
            </a:r>
          </a:p>
        </p:txBody>
      </p:sp>
      <p:sp>
        <p:nvSpPr>
          <p:cNvPr id="25" name="TextBox 24"/>
          <p:cNvSpPr txBox="1"/>
          <p:nvPr/>
        </p:nvSpPr>
        <p:spPr>
          <a:xfrm>
            <a:off x="3593592" y="3163824"/>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Higher: Plscr1</a:t>
            </a:r>
          </a:p>
        </p:txBody>
      </p:sp>
      <p:sp>
        <p:nvSpPr>
          <p:cNvPr id="26" name="TextBox 25"/>
          <p:cNvSpPr txBox="1"/>
          <p:nvPr/>
        </p:nvSpPr>
        <p:spPr>
          <a:xfrm>
            <a:off x="2267712" y="3593592"/>
            <a:ext cx="1216152" cy="228600"/>
          </a:xfrm>
          <a:prstGeom prst="rect">
            <a:avLst/>
          </a:prstGeom>
          <a:noFill/>
        </p:spPr>
        <p:txBody>
          <a:bodyPr wrap="square" lIns="18288" rIns="18288" tIns="18288" bIns="18288" anchor="ctr">
            <a:spAutoFit/>
          </a:bodyPr>
          <a:lstStyle/>
          <a:p>
            <a:pPr algn="l">
              <a:spcAft>
                <a:spcPts val="0"/>
              </a:spcAft>
            </a:pPr>
            <a:r>
              <a:rPr sz="980" b="1" i="0">
                <a:solidFill>
                  <a:srgbClr val="178681"/>
                </a:solidFill>
                <a:latin typeface="Arial"/>
              </a:rPr>
              <a:t>Combined ranking</a:t>
            </a:r>
          </a:p>
        </p:txBody>
      </p:sp>
      <p:sp>
        <p:nvSpPr>
          <p:cNvPr id="27" name="TextBox 26"/>
          <p:cNvSpPr txBox="1"/>
          <p:nvPr/>
        </p:nvSpPr>
        <p:spPr>
          <a:xfrm>
            <a:off x="3593592" y="3557016"/>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Higher: Plscr1 plus broader selected pathways</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Both analyses support Plscr1; broader cell-cycle and DNA-repair context comes from the gene panel.</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216152" cy="228600"/>
          </a:xfrm>
          <a:prstGeom prst="rect">
            <a:avLst/>
          </a:prstGeom>
          <a:noFill/>
        </p:spPr>
        <p:txBody>
          <a:bodyPr wrap="square" lIns="18288" rIns="18288" tIns="18288" bIns="18288" anchor="ctr">
            <a:spAutoFit/>
          </a:bodyPr>
          <a:lstStyle/>
          <a:p>
            <a:pPr algn="l">
              <a:spcAft>
                <a:spcPts val="0"/>
              </a:spcAft>
            </a:pPr>
            <a:r>
              <a:rPr sz="980" b="1" i="0">
                <a:solidFill>
                  <a:srgbClr val="D96552"/>
                </a:solidFill>
                <a:latin typeface="Arial"/>
              </a:rPr>
              <a:t>All-gene test</a:t>
            </a:r>
          </a:p>
        </p:txBody>
      </p:sp>
      <p:sp>
        <p:nvSpPr>
          <p:cNvPr id="34" name="TextBox 33"/>
          <p:cNvSpPr txBox="1"/>
          <p:nvPr/>
        </p:nvSpPr>
        <p:spPr>
          <a:xfrm>
            <a:off x="3593592" y="4133088"/>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Higher: Loxl1</a:t>
            </a:r>
          </a:p>
        </p:txBody>
      </p:sp>
      <p:sp>
        <p:nvSpPr>
          <p:cNvPr id="35" name="TextBox 34"/>
          <p:cNvSpPr txBox="1"/>
          <p:nvPr/>
        </p:nvSpPr>
        <p:spPr>
          <a:xfrm>
            <a:off x="2267712" y="4562856"/>
            <a:ext cx="1216152" cy="228600"/>
          </a:xfrm>
          <a:prstGeom prst="rect">
            <a:avLst/>
          </a:prstGeom>
          <a:noFill/>
        </p:spPr>
        <p:txBody>
          <a:bodyPr wrap="square" lIns="18288" rIns="18288" tIns="18288" bIns="18288" anchor="ctr">
            <a:spAutoFit/>
          </a:bodyPr>
          <a:lstStyle/>
          <a:p>
            <a:pPr algn="l">
              <a:spcAft>
                <a:spcPts val="0"/>
              </a:spcAft>
            </a:pPr>
            <a:r>
              <a:rPr sz="980" b="1" i="0">
                <a:solidFill>
                  <a:srgbClr val="178681"/>
                </a:solidFill>
                <a:latin typeface="Arial"/>
              </a:rPr>
              <a:t>Combined ranking</a:t>
            </a:r>
          </a:p>
        </p:txBody>
      </p:sp>
      <p:sp>
        <p:nvSpPr>
          <p:cNvPr id="36" name="TextBox 35"/>
          <p:cNvSpPr txBox="1"/>
          <p:nvPr/>
        </p:nvSpPr>
        <p:spPr>
          <a:xfrm>
            <a:off x="3593592" y="4526280"/>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Higher: Loxl1, Rai14, Ptprk, Myl9</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Loxl1 appears in the controlled test; the four-gene adhesion and cytoskeletal panel is tentative.</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Pooled muscle</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216152" cy="228600"/>
          </a:xfrm>
          <a:prstGeom prst="rect">
            <a:avLst/>
          </a:prstGeom>
          <a:noFill/>
        </p:spPr>
        <p:txBody>
          <a:bodyPr wrap="square" lIns="18288" rIns="18288" tIns="18288" bIns="18288" anchor="ctr">
            <a:spAutoFit/>
          </a:bodyPr>
          <a:lstStyle/>
          <a:p>
            <a:pPr algn="l">
              <a:spcAft>
                <a:spcPts val="0"/>
              </a:spcAft>
            </a:pPr>
            <a:r>
              <a:rPr sz="980" b="1" i="0">
                <a:solidFill>
                  <a:srgbClr val="D96552"/>
                </a:solidFill>
                <a:latin typeface="Arial"/>
              </a:rPr>
              <a:t>All-gene test</a:t>
            </a:r>
          </a:p>
        </p:txBody>
      </p:sp>
      <p:sp>
        <p:nvSpPr>
          <p:cNvPr id="43" name="TextBox 42"/>
          <p:cNvSpPr txBox="1"/>
          <p:nvPr/>
        </p:nvSpPr>
        <p:spPr>
          <a:xfrm>
            <a:off x="3593592" y="5102352"/>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All six checks improved; no single gene met both criteria</a:t>
            </a:r>
          </a:p>
        </p:txBody>
      </p:sp>
      <p:sp>
        <p:nvSpPr>
          <p:cNvPr id="44" name="TextBox 43"/>
          <p:cNvSpPr txBox="1"/>
          <p:nvPr/>
        </p:nvSpPr>
        <p:spPr>
          <a:xfrm>
            <a:off x="2267712" y="5532120"/>
            <a:ext cx="1216152" cy="228600"/>
          </a:xfrm>
          <a:prstGeom prst="rect">
            <a:avLst/>
          </a:prstGeom>
          <a:noFill/>
        </p:spPr>
        <p:txBody>
          <a:bodyPr wrap="square" lIns="18288" rIns="18288" tIns="18288" bIns="18288" anchor="ctr">
            <a:spAutoFit/>
          </a:bodyPr>
          <a:lstStyle/>
          <a:p>
            <a:pPr algn="l">
              <a:spcAft>
                <a:spcPts val="0"/>
              </a:spcAft>
            </a:pPr>
            <a:r>
              <a:rPr sz="980" b="1" i="0">
                <a:solidFill>
                  <a:srgbClr val="178681"/>
                </a:solidFill>
                <a:latin typeface="Arial"/>
              </a:rPr>
              <a:t>Combined ranking</a:t>
            </a:r>
          </a:p>
        </p:txBody>
      </p:sp>
      <p:sp>
        <p:nvSpPr>
          <p:cNvPr id="45" name="TextBox 44"/>
          <p:cNvSpPr txBox="1"/>
          <p:nvPr/>
        </p:nvSpPr>
        <p:spPr>
          <a:xfrm>
            <a:off x="3593592" y="5495544"/>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12-gene interferon and sialic-acid panel</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Adding synthetic samples improves prediction; individual genes come from the secondary ranking analysis.</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All-gene candidates are significant in real data and help prediction. Combined-ranking rows provide secondary panel context.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COMBINED-RANKING FINDINGS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Several smaller panels did not pass the controlled all-gene criteria</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These remain tissue-specific hypotheses from the secondary ranking analysis.</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234440" cy="256032"/>
          </a:xfrm>
          <a:prstGeom prst="rect">
            <a:avLst/>
          </a:prstGeom>
          <a:noFill/>
        </p:spPr>
        <p:txBody>
          <a:bodyPr wrap="square" lIns="18288" rIns="18288" tIns="18288" bIns="18288" anchor="t">
            <a:spAutoFit/>
          </a:bodyPr>
          <a:lstStyle/>
          <a:p>
            <a:pPr algn="l">
              <a:spcAft>
                <a:spcPts val="0"/>
              </a:spcAft>
            </a:pPr>
            <a:r>
              <a:rPr sz="1120" b="1" i="0">
                <a:solidFill>
                  <a:srgbClr val="59697A"/>
                </a:solidFill>
                <a:latin typeface="Arial"/>
              </a:rPr>
              <a:t>Selection</a:t>
            </a:r>
          </a:p>
        </p:txBody>
      </p:sp>
      <p:sp>
        <p:nvSpPr>
          <p:cNvPr id="9" name="TextBox 8"/>
          <p:cNvSpPr txBox="1"/>
          <p:nvPr/>
        </p:nvSpPr>
        <p:spPr>
          <a:xfrm>
            <a:off x="3593592" y="1828800"/>
            <a:ext cx="274320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Kidney</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216152" cy="228600"/>
          </a:xfrm>
          <a:prstGeom prst="rect">
            <a:avLst/>
          </a:prstGeom>
          <a:noFill/>
        </p:spPr>
        <p:txBody>
          <a:bodyPr wrap="square" lIns="18288" rIns="18288" tIns="18288" bIns="18288" anchor="ctr">
            <a:spAutoFit/>
          </a:bodyPr>
          <a:lstStyle/>
          <a:p>
            <a:pPr algn="l">
              <a:spcAft>
                <a:spcPts val="0"/>
              </a:spcAft>
            </a:pPr>
            <a:r>
              <a:rPr sz="980" b="1" i="0">
                <a:solidFill>
                  <a:srgbClr val="D96552"/>
                </a:solidFill>
                <a:latin typeface="Arial"/>
              </a:rPr>
              <a:t>Promoted</a:t>
            </a:r>
          </a:p>
        </p:txBody>
      </p:sp>
      <p:sp>
        <p:nvSpPr>
          <p:cNvPr id="16" name="TextBox 15"/>
          <p:cNvSpPr txBox="1"/>
          <p:nvPr/>
        </p:nvSpPr>
        <p:spPr>
          <a:xfrm>
            <a:off x="3593592" y="2194560"/>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Inpp4b higher</a:t>
            </a:r>
          </a:p>
        </p:txBody>
      </p:sp>
      <p:sp>
        <p:nvSpPr>
          <p:cNvPr id="17" name="TextBox 16"/>
          <p:cNvSpPr txBox="1"/>
          <p:nvPr/>
        </p:nvSpPr>
        <p:spPr>
          <a:xfrm>
            <a:off x="2267712" y="2624328"/>
            <a:ext cx="1216152" cy="228600"/>
          </a:xfrm>
          <a:prstGeom prst="rect">
            <a:avLst/>
          </a:prstGeom>
          <a:noFill/>
        </p:spPr>
        <p:txBody>
          <a:bodyPr wrap="square" lIns="18288" rIns="18288" tIns="18288" bIns="18288" anchor="ctr">
            <a:spAutoFit/>
          </a:bodyPr>
          <a:lstStyle/>
          <a:p>
            <a:pPr algn="l">
              <a:spcAft>
                <a:spcPts val="0"/>
              </a:spcAft>
            </a:pPr>
            <a:r>
              <a:rPr sz="980" b="1" i="0">
                <a:solidFill>
                  <a:srgbClr val="178681"/>
                </a:solidFill>
                <a:latin typeface="Arial"/>
              </a:rPr>
              <a:t>Reinforced</a:t>
            </a:r>
          </a:p>
        </p:txBody>
      </p:sp>
      <p:sp>
        <p:nvSpPr>
          <p:cNvPr id="18" name="TextBox 17"/>
          <p:cNvSpPr txBox="1"/>
          <p:nvPr/>
        </p:nvSpPr>
        <p:spPr>
          <a:xfrm>
            <a:off x="3593592" y="2587752"/>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Slc37a4 higher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216152" cy="228600"/>
          </a:xfrm>
          <a:prstGeom prst="rect">
            <a:avLst/>
          </a:prstGeom>
          <a:noFill/>
        </p:spPr>
        <p:txBody>
          <a:bodyPr wrap="square" lIns="18288" rIns="18288" tIns="18288" bIns="18288" anchor="ctr">
            <a:spAutoFit/>
          </a:bodyPr>
          <a:lstStyle/>
          <a:p>
            <a:pPr algn="l">
              <a:spcAft>
                <a:spcPts val="0"/>
              </a:spcAft>
            </a:pPr>
            <a:r>
              <a:rPr sz="980" b="1" i="0">
                <a:solidFill>
                  <a:srgbClr val="D96552"/>
                </a:solidFill>
                <a:latin typeface="Arial"/>
              </a:rPr>
              <a:t>Promoted</a:t>
            </a:r>
          </a:p>
        </p:txBody>
      </p:sp>
      <p:sp>
        <p:nvSpPr>
          <p:cNvPr id="25" name="TextBox 24"/>
          <p:cNvSpPr txBox="1"/>
          <p:nvPr/>
        </p:nvSpPr>
        <p:spPr>
          <a:xfrm>
            <a:off x="3593592" y="3163824"/>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Psmb8 lower</a:t>
            </a:r>
          </a:p>
        </p:txBody>
      </p:sp>
      <p:sp>
        <p:nvSpPr>
          <p:cNvPr id="26" name="TextBox 25"/>
          <p:cNvSpPr txBox="1"/>
          <p:nvPr/>
        </p:nvSpPr>
        <p:spPr>
          <a:xfrm>
            <a:off x="2267712" y="3593592"/>
            <a:ext cx="1216152" cy="228600"/>
          </a:xfrm>
          <a:prstGeom prst="rect">
            <a:avLst/>
          </a:prstGeom>
          <a:noFill/>
        </p:spPr>
        <p:txBody>
          <a:bodyPr wrap="square" lIns="18288" rIns="18288" tIns="18288" bIns="18288" anchor="ctr">
            <a:spAutoFit/>
          </a:bodyPr>
          <a:lstStyle/>
          <a:p>
            <a:pPr algn="l">
              <a:spcAft>
                <a:spcPts val="0"/>
              </a:spcAft>
            </a:pPr>
            <a:r>
              <a:rPr sz="980" b="1" i="0">
                <a:solidFill>
                  <a:srgbClr val="178681"/>
                </a:solidFill>
                <a:latin typeface="Arial"/>
              </a:rPr>
              <a:t>Reinforced</a:t>
            </a:r>
          </a:p>
        </p:txBody>
      </p:sp>
      <p:sp>
        <p:nvSpPr>
          <p:cNvPr id="27" name="TextBox 26"/>
          <p:cNvSpPr txBox="1"/>
          <p:nvPr/>
        </p:nvSpPr>
        <p:spPr>
          <a:xfrm>
            <a:off x="3593592" y="3557016"/>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No close prior match was found for these immune, proteostasis, or tissue-composition candidates.</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216152" cy="228600"/>
          </a:xfrm>
          <a:prstGeom prst="rect">
            <a:avLst/>
          </a:prstGeom>
          <a:noFill/>
        </p:spPr>
        <p:txBody>
          <a:bodyPr wrap="square" lIns="18288" rIns="18288" tIns="18288" bIns="18288" anchor="ctr">
            <a:spAutoFit/>
          </a:bodyPr>
          <a:lstStyle/>
          <a:p>
            <a:pPr algn="l">
              <a:spcAft>
                <a:spcPts val="0"/>
              </a:spcAft>
            </a:pPr>
            <a:r>
              <a:rPr sz="980" b="1" i="0">
                <a:solidFill>
                  <a:srgbClr val="D96552"/>
                </a:solidFill>
                <a:latin typeface="Arial"/>
              </a:rPr>
              <a:t>Promoted</a:t>
            </a:r>
          </a:p>
        </p:txBody>
      </p:sp>
      <p:sp>
        <p:nvSpPr>
          <p:cNvPr id="34" name="TextBox 33"/>
          <p:cNvSpPr txBox="1"/>
          <p:nvPr/>
        </p:nvSpPr>
        <p:spPr>
          <a:xfrm>
            <a:off x="3593592" y="4133088"/>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Nfkbia higher; Fhl2 lower</a:t>
            </a:r>
          </a:p>
        </p:txBody>
      </p:sp>
      <p:sp>
        <p:nvSpPr>
          <p:cNvPr id="35" name="TextBox 34"/>
          <p:cNvSpPr txBox="1"/>
          <p:nvPr/>
        </p:nvSpPr>
        <p:spPr>
          <a:xfrm>
            <a:off x="2267712" y="4562856"/>
            <a:ext cx="1216152" cy="228600"/>
          </a:xfrm>
          <a:prstGeom prst="rect">
            <a:avLst/>
          </a:prstGeom>
          <a:noFill/>
        </p:spPr>
        <p:txBody>
          <a:bodyPr wrap="square" lIns="18288" rIns="18288" tIns="18288" bIns="18288" anchor="ctr">
            <a:spAutoFit/>
          </a:bodyPr>
          <a:lstStyle/>
          <a:p>
            <a:pPr algn="l">
              <a:spcAft>
                <a:spcPts val="0"/>
              </a:spcAft>
            </a:pPr>
            <a:r>
              <a:rPr sz="980" b="1" i="0">
                <a:solidFill>
                  <a:srgbClr val="178681"/>
                </a:solidFill>
                <a:latin typeface="Arial"/>
              </a:rPr>
              <a:t>Reinforced</a:t>
            </a:r>
          </a:p>
        </p:txBody>
      </p:sp>
      <p:sp>
        <p:nvSpPr>
          <p:cNvPr id="36" name="TextBox 35"/>
          <p:cNvSpPr txBox="1"/>
          <p:nvPr/>
        </p:nvSpPr>
        <p:spPr>
          <a:xfrm>
            <a:off x="3593592" y="4526280"/>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216152" cy="228600"/>
          </a:xfrm>
          <a:prstGeom prst="rect">
            <a:avLst/>
          </a:prstGeom>
          <a:noFill/>
        </p:spPr>
        <p:txBody>
          <a:bodyPr wrap="square" lIns="18288" rIns="18288" tIns="18288" bIns="18288" anchor="ctr">
            <a:spAutoFit/>
          </a:bodyPr>
          <a:lstStyle/>
          <a:p>
            <a:pPr algn="l">
              <a:spcAft>
                <a:spcPts val="0"/>
              </a:spcAft>
            </a:pPr>
            <a:r>
              <a:rPr sz="980" b="1" i="0">
                <a:solidFill>
                  <a:srgbClr val="D96552"/>
                </a:solidFill>
                <a:latin typeface="Arial"/>
              </a:rPr>
              <a:t>Promoted</a:t>
            </a:r>
          </a:p>
        </p:txBody>
      </p:sp>
      <p:sp>
        <p:nvSpPr>
          <p:cNvPr id="43" name="TextBox 42"/>
          <p:cNvSpPr txBox="1"/>
          <p:nvPr/>
        </p:nvSpPr>
        <p:spPr>
          <a:xfrm>
            <a:off x="3593592" y="5102352"/>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Cebpd higher</a:t>
            </a:r>
          </a:p>
        </p:txBody>
      </p:sp>
      <p:sp>
        <p:nvSpPr>
          <p:cNvPr id="44" name="TextBox 43"/>
          <p:cNvSpPr txBox="1"/>
          <p:nvPr/>
        </p:nvSpPr>
        <p:spPr>
          <a:xfrm>
            <a:off x="2267712" y="5532120"/>
            <a:ext cx="1216152" cy="228600"/>
          </a:xfrm>
          <a:prstGeom prst="rect">
            <a:avLst/>
          </a:prstGeom>
          <a:noFill/>
        </p:spPr>
        <p:txBody>
          <a:bodyPr wrap="square" lIns="18288" rIns="18288" tIns="18288" bIns="18288" anchor="ctr">
            <a:spAutoFit/>
          </a:bodyPr>
          <a:lstStyle/>
          <a:p>
            <a:pPr algn="l">
              <a:spcAft>
                <a:spcPts val="0"/>
              </a:spcAft>
            </a:pPr>
            <a:r>
              <a:rPr sz="980" b="1" i="0">
                <a:solidFill>
                  <a:srgbClr val="178681"/>
                </a:solidFill>
                <a:latin typeface="Arial"/>
              </a:rPr>
              <a:t>Reinforced</a:t>
            </a:r>
          </a:p>
        </p:txBody>
      </p:sp>
      <p:sp>
        <p:nvSpPr>
          <p:cNvPr id="45" name="TextBox 44"/>
          <p:cNvSpPr txBox="1"/>
          <p:nvPr/>
        </p:nvSpPr>
        <p:spPr>
          <a:xfrm>
            <a:off x="3593592" y="5495544"/>
            <a:ext cx="2679192" cy="320040"/>
          </a:xfrm>
          <a:prstGeom prst="rect">
            <a:avLst/>
          </a:prstGeom>
          <a:noFill/>
        </p:spPr>
        <p:txBody>
          <a:bodyPr wrap="square" lIns="18288" rIns="18288" tIns="18288" bIns="18288" anchor="ctr">
            <a:spAutoFit/>
          </a:bodyPr>
          <a:lstStyle/>
          <a:p>
            <a:pPr algn="l">
              <a:spcAft>
                <a:spcPts val="0"/>
              </a:spcAft>
            </a:pPr>
            <a:r>
              <a:rPr sz="103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Secondary combined-ranking results and independent literature annotations are reported in Tables S10 and S16.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Use controlled tests to measure benefit; combined rankings to interpret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Synthetic profiles can help prediction and gene prioritization, but biological significance still comes from measured OSDR samples.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Conditional diffusion produced realistic expression profiles that were difficult to distinguish from measured samples.</a:t>
            </a:r>
          </a:p>
        </p:txBody>
      </p:sp>
      <p:sp>
        <p:nvSpPr>
          <p:cNvPr id="11" name="Rectangle 10"/>
          <p:cNvSpPr/>
          <p:nvPr/>
        </p:nvSpPr>
        <p:spPr>
          <a:xfrm>
            <a:off x="3877056"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Test</a:t>
            </a:r>
          </a:p>
        </p:txBody>
      </p:sp>
      <p:sp>
        <p:nvSpPr>
          <p:cNvPr id="15" name="TextBox 14"/>
          <p:cNvSpPr txBox="1"/>
          <p:nvPr/>
        </p:nvSpPr>
        <p:spPr>
          <a:xfrm>
            <a:off x="4087368"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Adding synthetic profiles improved all six checks in 18 of 27 tissue analyses and retained 21 significant gene associations.</a:t>
            </a:r>
          </a:p>
        </p:txBody>
      </p:sp>
      <p:sp>
        <p:nvSpPr>
          <p:cNvPr id="16" name="Rectangle 15"/>
          <p:cNvSpPr/>
          <p:nvPr/>
        </p:nvSpPr>
        <p:spPr>
          <a:xfrm>
            <a:off x="7552944"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The combined ranking recovered broader groups of correlated genes. Thymus was strongest across both analyses; soleus remained secondary.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