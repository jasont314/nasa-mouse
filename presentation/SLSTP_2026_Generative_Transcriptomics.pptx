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1:15</a:t>
            </a:r>
          </a:p>
          <a:p/>
          <a:p>
            <a:r>
              <a:t>We built one pipeline that can change data source, transformation, feature set, harmonization, model, training scope and conditions without changing the evaluation contract. It supports OSDR-only, ARCHS4-only and ARCHS4-pretrained plus OSDR-adapted runs, with pooled or per-tissue cohorts. We completed WGAN-GP and DDIM generator branches. The selected path used TPM, 974 mouse landmarks, no global correction and a DDIM conditioned on tissue, FLT/GC, accession and material.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This is PCA, not UMAP. Circles are locked real OSDR profiles and crosses are matched DDIM profiles in the same PCA space. On the left, generated samples track the tissue-defined branches. On the right, FLT and GC remain interspersed because condition effects are smaller than tissue effects. Visual overlap is useful but descriptive; the next slide provides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Both WGAN-GP and DDIM had high correlation and F1. DDIM had adversarial accuracy near 0.5 and a lower Frechet-distance ratio, so it was harder to separate from real profiles and closer in distribution. The metrics use each model's stated evaluation split, so this is a model-choice summary rather than a paired significance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The simplest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Reinforced genes were selected with and without synthetic guidance. Promoted genes crossed the stable-selection rule only with synthetic guidance. Promoted does not mean biologically novel. All 49 synthetic-informed tissue-gene associations also had a supporting effect and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This slide separates four questions. Promoted tells us that synthetic guidance changed stable feature ranking. BH FDR tells us the association is present in real OSDR profiles. The literature label describes whether prior work is exact, related, mixed or unmatched. The biological interpretation remains a hypothesis. Eleven associations aligned, 13 were complementary, one was ambiguous and one was literature unmatched. Only Ccnb2, Ccne2 and Nfkbia were exact gene-tissue-direction matches. Psmb8 was unmatched in adrenal spaceflight literature but remains mechanistically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1:15</a:t>
            </a:r>
          </a:p>
          <a:p/>
          <a:p>
            <a:r>
              <a:t>Thymus produced the clearest promoted panel. The lower mitotic and DNA-replication genes agree with prior reports of thymic involution and altered cell-cycle expression after flight. Higher Hsd17b11 and Etv1 add lipid-handling and T-cell-state hypotheses, but neither is a direct prior flight replication or an established driver.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Kidney supplied the strongest secondary pair: promoted Inpp4b and reinforced Slc37a4. Spleen and skin results are narrower. Adrenal Psmb8 has plausible immunoproteasome biology but no prior adrenal flight match. Lung and retina improved predictively without a synthetic-informed BH-FDR gene, while liver, EDL and quadriceps retained real-only models.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useful role was tissue-specific feature ranking or limited regularization, not increasing biological sample size. Literature annotation then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Data scope, transforms, harmonization, training and conditioning can change without changing the evaluation contract.</a:t>
            </a:r>
          </a:p>
        </p:txBody>
      </p:sp>
      <p:sp>
        <p:nvSpPr>
          <p:cNvPr id="7" name="Rounded Rectangle 6"/>
          <p:cNvSpPr/>
          <p:nvPr/>
        </p:nvSpPr>
        <p:spPr>
          <a:xfrm>
            <a:off x="320040" y="1901952"/>
            <a:ext cx="2148840" cy="235915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901952"/>
            <a:ext cx="214884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Data + scope</a:t>
            </a:r>
          </a:p>
        </p:txBody>
      </p:sp>
      <p:sp>
        <p:nvSpPr>
          <p:cNvPr id="10" name="TextBox 9"/>
          <p:cNvSpPr txBox="1"/>
          <p:nvPr/>
        </p:nvSpPr>
        <p:spPr>
          <a:xfrm>
            <a:off x="48463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OSDR API or ARCHS4
one or many studies
pooled or per tissue</a:t>
            </a:r>
          </a:p>
        </p:txBody>
      </p:sp>
      <p:sp>
        <p:nvSpPr>
          <p:cNvPr id="11" name="Rounded Rectangle 10"/>
          <p:cNvSpPr/>
          <p:nvPr/>
        </p:nvSpPr>
        <p:spPr>
          <a:xfrm>
            <a:off x="2651760" y="1901952"/>
            <a:ext cx="2148840" cy="235915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51760" y="1901952"/>
            <a:ext cx="214884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Transform</a:t>
            </a:r>
          </a:p>
        </p:txBody>
      </p:sp>
      <p:sp>
        <p:nvSpPr>
          <p:cNvPr id="14" name="TextBox 13"/>
          <p:cNvSpPr txBox="1"/>
          <p:nvPr/>
        </p:nvSpPr>
        <p:spPr>
          <a:xfrm>
            <a:off x="281635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raw / CPM / TPM
log + scaling
all genes / HVG / L1000</a:t>
            </a:r>
          </a:p>
        </p:txBody>
      </p:sp>
      <p:sp>
        <p:nvSpPr>
          <p:cNvPr id="15" name="Rounded Rectangle 14"/>
          <p:cNvSpPr/>
          <p:nvPr/>
        </p:nvSpPr>
        <p:spPr>
          <a:xfrm>
            <a:off x="4983480" y="1901952"/>
            <a:ext cx="2148840" cy="235915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983480" y="1901952"/>
            <a:ext cx="2148840" cy="36576"/>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807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Harmonize</a:t>
            </a:r>
          </a:p>
        </p:txBody>
      </p:sp>
      <p:sp>
        <p:nvSpPr>
          <p:cNvPr id="18" name="TextBox 17"/>
          <p:cNvSpPr txBox="1"/>
          <p:nvPr/>
        </p:nvSpPr>
        <p:spPr>
          <a:xfrm>
            <a:off x="514807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none or study z
ComBat / MBatch
MOBER adapter</a:t>
            </a:r>
          </a:p>
        </p:txBody>
      </p:sp>
      <p:sp>
        <p:nvSpPr>
          <p:cNvPr id="19" name="Rounded Rectangle 18"/>
          <p:cNvSpPr/>
          <p:nvPr/>
        </p:nvSpPr>
        <p:spPr>
          <a:xfrm>
            <a:off x="7315200" y="1901952"/>
            <a:ext cx="2148840" cy="235915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901952"/>
            <a:ext cx="2148840" cy="3657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Model + train</a:t>
            </a:r>
          </a:p>
        </p:txBody>
      </p:sp>
      <p:sp>
        <p:nvSpPr>
          <p:cNvPr id="22" name="TextBox 21"/>
          <p:cNvSpPr txBox="1"/>
          <p:nvPr/>
        </p:nvSpPr>
        <p:spPr>
          <a:xfrm>
            <a:off x="747979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WGAN-GP or DDIM
OSDR or ARCHS4
pretrain + adapt</a:t>
            </a:r>
          </a:p>
        </p:txBody>
      </p:sp>
      <p:sp>
        <p:nvSpPr>
          <p:cNvPr id="23" name="Rounded Rectangle 22"/>
          <p:cNvSpPr/>
          <p:nvPr/>
        </p:nvSpPr>
        <p:spPr>
          <a:xfrm>
            <a:off x="9646920" y="1901952"/>
            <a:ext cx="2148840" cy="2359152"/>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646920" y="1901952"/>
            <a:ext cx="2148840" cy="36576"/>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1151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478A64"/>
                </a:solidFill>
                <a:latin typeface="Arial"/>
              </a:rPr>
              <a:t>Condition</a:t>
            </a:r>
          </a:p>
        </p:txBody>
      </p:sp>
      <p:sp>
        <p:nvSpPr>
          <p:cNvPr id="26" name="TextBox 25"/>
          <p:cNvSpPr txBox="1"/>
          <p:nvPr/>
        </p:nvSpPr>
        <p:spPr>
          <a:xfrm>
            <a:off x="981151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FLT/GC + tissue
study + material
available covariates</a:t>
            </a:r>
          </a:p>
        </p:txBody>
      </p:sp>
      <p:sp>
        <p:nvSpPr>
          <p:cNvPr id="27" name="Rounded Rectangle 26"/>
          <p:cNvSpPr/>
          <p:nvPr/>
        </p:nvSpPr>
        <p:spPr>
          <a:xfrm>
            <a:off x="320040" y="4526280"/>
            <a:ext cx="11475720" cy="117043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 y="4736592"/>
            <a:ext cx="1508760" cy="256032"/>
          </a:xfrm>
          <a:prstGeom prst="rect">
            <a:avLst/>
          </a:prstGeom>
          <a:noFill/>
        </p:spPr>
        <p:txBody>
          <a:bodyPr wrap="square" lIns="18288" rIns="18288" tIns="18288" bIns="18288" anchor="t">
            <a:spAutoFit/>
          </a:bodyPr>
          <a:lstStyle/>
          <a:p>
            <a:pPr algn="l">
              <a:spcAft>
                <a:spcPts val="0"/>
              </a:spcAft>
            </a:pPr>
            <a:r>
              <a:rPr sz="1300" b="1" i="0">
                <a:solidFill>
                  <a:srgbClr val="9A6B20"/>
                </a:solidFill>
                <a:latin typeface="Arial"/>
              </a:rPr>
              <a:t>Selected branch</a:t>
            </a:r>
          </a:p>
        </p:txBody>
      </p:sp>
      <p:sp>
        <p:nvSpPr>
          <p:cNvPr id="29" name="TextBox 28"/>
          <p:cNvSpPr txBox="1"/>
          <p:nvPr/>
        </p:nvSpPr>
        <p:spPr>
          <a:xfrm>
            <a:off x="2057400" y="4681728"/>
            <a:ext cx="9281160" cy="502920"/>
          </a:xfrm>
          <a:prstGeom prst="rect">
            <a:avLst/>
          </a:prstGeom>
          <a:noFill/>
        </p:spPr>
        <p:txBody>
          <a:bodyPr wrap="square" lIns="18288" rIns="18288" tIns="18288" bIns="18288" anchor="t">
            <a:spAutoFit/>
          </a:bodyPr>
          <a:lstStyle/>
          <a:p>
            <a:pPr>
              <a:spcAft>
                <a:spcPts val="0"/>
              </a:spcAft>
            </a:pPr>
            <a:r>
              <a:rPr sz="1460" b="1" i="0">
                <a:solidFill>
                  <a:srgbClr val="082B55"/>
                </a:solidFill>
                <a:latin typeface="Arial"/>
              </a:rPr>
              <a:t>TPM / MaxAbs -&gt; ARCHS4 DDIM -&gt; OSDR adaptation. </a:t>
            </a:r>
            <a:r>
              <a:rPr sz="1460" b="0" i="0">
                <a:solidFill>
                  <a:srgbClr val="263746"/>
                </a:solidFill>
                <a:latin typeface="Arial"/>
              </a:rPr>
              <a:t>Conditions: tissue, FLT/GC, accession and material; no global batch correction.</a:t>
            </a:r>
          </a:p>
        </p:txBody>
      </p:sp>
      <p:sp>
        <p:nvSpPr>
          <p:cNvPr id="30" name="TextBox 29"/>
          <p:cNvSpPr txBox="1"/>
          <p:nvPr/>
        </p:nvSpPr>
        <p:spPr>
          <a:xfrm>
            <a:off x="2057400" y="5212080"/>
            <a:ext cx="9281160" cy="301752"/>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 463-row experiment plan and nine matched liver harmonization arms were screened before full training.</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Generator sources: Vinas et al., Bioinformatics (2022); Lacan et al., BMC Bioinformatics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713232" y="5126766"/>
            <a:ext cx="566928" cy="359633"/>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672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1" name="TextBox 10"/>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2" name="Rectangle 11"/>
          <p:cNvSpPr/>
          <p:nvPr/>
        </p:nvSpPr>
        <p:spPr>
          <a:xfrm>
            <a:off x="1591056" y="5312892"/>
            <a:ext cx="566928" cy="173507"/>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4992852"/>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14" name="TextBox 13"/>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15" name="Rectangle 14"/>
          <p:cNvSpPr/>
          <p:nvPr/>
        </p:nvSpPr>
        <p:spPr>
          <a:xfrm>
            <a:off x="2468880" y="5180396"/>
            <a:ext cx="566928" cy="306003"/>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95728" y="486035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17" name="TextBox 16"/>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18" name="Rectangle 17"/>
          <p:cNvSpPr/>
          <p:nvPr/>
        </p:nvSpPr>
        <p:spPr>
          <a:xfrm>
            <a:off x="576072" y="5486400"/>
            <a:ext cx="269748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a:t>
            </a:r>
          </a:p>
        </p:txBody>
      </p:sp>
      <p:sp>
        <p:nvSpPr>
          <p:cNvPr id="20" name="Rounded Rectangle 19"/>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2"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3" name="TextBox 22"/>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24" name="TextBox 2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Annotation separates recovery from hypothesis extension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label describes the relationship to prior evidence, not whether a gene is biologically plausible.</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6976872"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136392"/>
            <a:ext cx="638251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What the 26 promoted associations showed</a:t>
            </a:r>
          </a:p>
        </p:txBody>
      </p:sp>
      <p:sp>
        <p:nvSpPr>
          <p:cNvPr id="24" name="Oval 23"/>
          <p:cNvSpPr/>
          <p:nvPr/>
        </p:nvSpPr>
        <p:spPr>
          <a:xfrm>
            <a:off x="685800"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11</a:t>
            </a:r>
          </a:p>
        </p:txBody>
      </p:sp>
      <p:sp>
        <p:nvSpPr>
          <p:cNvPr id="26" name="TextBox 25"/>
          <p:cNvSpPr txBox="1"/>
          <p:nvPr/>
        </p:nvSpPr>
        <p:spPr>
          <a:xfrm>
            <a:off x="1188720" y="3575304"/>
            <a:ext cx="1755648"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27" name="TextBox 26"/>
          <p:cNvSpPr txBox="1"/>
          <p:nvPr/>
        </p:nvSpPr>
        <p:spPr>
          <a:xfrm>
            <a:off x="2907792" y="3575304"/>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3 exact matches + 8 same-tissue process matches</a:t>
            </a:r>
          </a:p>
        </p:txBody>
      </p:sp>
      <p:sp>
        <p:nvSpPr>
          <p:cNvPr id="28" name="Oval 27"/>
          <p:cNvSpPr/>
          <p:nvPr/>
        </p:nvSpPr>
        <p:spPr>
          <a:xfrm>
            <a:off x="685800"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13</a:t>
            </a:r>
          </a:p>
        </p:txBody>
      </p:sp>
      <p:sp>
        <p:nvSpPr>
          <p:cNvPr id="30" name="TextBox 29"/>
          <p:cNvSpPr txBox="1"/>
          <p:nvPr/>
        </p:nvSpPr>
        <p:spPr>
          <a:xfrm>
            <a:off x="1188720" y="4096512"/>
            <a:ext cx="1755648"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31" name="TextBox 30"/>
          <p:cNvSpPr txBox="1"/>
          <p:nvPr/>
        </p:nvSpPr>
        <p:spPr>
          <a:xfrm>
            <a:off x="2907792" y="4096512"/>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Related process or mechanism; not direct replication</a:t>
            </a:r>
          </a:p>
        </p:txBody>
      </p:sp>
      <p:sp>
        <p:nvSpPr>
          <p:cNvPr id="32" name="Oval 31"/>
          <p:cNvSpPr/>
          <p:nvPr/>
        </p:nvSpPr>
        <p:spPr>
          <a:xfrm>
            <a:off x="685800"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4" name="TextBox 33"/>
          <p:cNvSpPr txBox="1"/>
          <p:nvPr/>
        </p:nvSpPr>
        <p:spPr>
          <a:xfrm>
            <a:off x="1188720" y="4617720"/>
            <a:ext cx="1755648"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35" name="TextBox 34"/>
          <p:cNvSpPr txBox="1"/>
          <p:nvPr/>
        </p:nvSpPr>
        <p:spPr>
          <a:xfrm>
            <a:off x="2907792" y="4617720"/>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Birc5 differed across mission contexts</a:t>
            </a:r>
          </a:p>
        </p:txBody>
      </p:sp>
      <p:sp>
        <p:nvSpPr>
          <p:cNvPr id="36" name="Oval 35"/>
          <p:cNvSpPr/>
          <p:nvPr/>
        </p:nvSpPr>
        <p:spPr>
          <a:xfrm>
            <a:off x="685800"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8" name="TextBox 37"/>
          <p:cNvSpPr txBox="1"/>
          <p:nvPr/>
        </p:nvSpPr>
        <p:spPr>
          <a:xfrm>
            <a:off x="1188720" y="5138928"/>
            <a:ext cx="1755648"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Literature-unmatched</a:t>
            </a:r>
          </a:p>
        </p:txBody>
      </p:sp>
      <p:sp>
        <p:nvSpPr>
          <p:cNvPr id="39" name="TextBox 38"/>
          <p:cNvSpPr txBox="1"/>
          <p:nvPr/>
        </p:nvSpPr>
        <p:spPr>
          <a:xfrm>
            <a:off x="2907792" y="5138928"/>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Psmb8 remains mechanistically plausible</a:t>
            </a:r>
          </a:p>
        </p:txBody>
      </p:sp>
      <p:sp>
        <p:nvSpPr>
          <p:cNvPr id="40" name="Rounded Rectangle 39"/>
          <p:cNvSpPr/>
          <p:nvPr/>
        </p:nvSpPr>
        <p:spPr>
          <a:xfrm>
            <a:off x="7616952" y="2916936"/>
            <a:ext cx="4151376" cy="2980944"/>
          </a:xfrm>
          <a:prstGeom prst="roundRect">
            <a:avLst/>
          </a:prstGeom>
          <a:solidFill>
            <a:srgbClr val="F8F1E2"/>
          </a:solidFill>
          <a:ln w="10160">
            <a:solidFill>
              <a:srgbClr val="E3C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00416" y="3136392"/>
            <a:ext cx="3602736" cy="310896"/>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How to read a result</a:t>
            </a:r>
          </a:p>
        </p:txBody>
      </p:sp>
      <p:sp>
        <p:nvSpPr>
          <p:cNvPr id="42" name="Oval 41"/>
          <p:cNvSpPr/>
          <p:nvPr/>
        </p:nvSpPr>
        <p:spPr>
          <a:xfrm>
            <a:off x="7909560" y="3685032"/>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74152" y="3575304"/>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Promoted: synthetic guidance changed stable ranking</a:t>
            </a:r>
          </a:p>
        </p:txBody>
      </p:sp>
      <p:sp>
        <p:nvSpPr>
          <p:cNvPr id="44" name="Oval 43"/>
          <p:cNvSpPr/>
          <p:nvPr/>
        </p:nvSpPr>
        <p:spPr>
          <a:xfrm>
            <a:off x="7909560" y="4206240"/>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74152" y="4096512"/>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BH FDR: the association is present in real OSDR data</a:t>
            </a:r>
          </a:p>
        </p:txBody>
      </p:sp>
      <p:sp>
        <p:nvSpPr>
          <p:cNvPr id="46" name="Oval 45"/>
          <p:cNvSpPr/>
          <p:nvPr/>
        </p:nvSpPr>
        <p:spPr>
          <a:xfrm>
            <a:off x="7909560" y="4727448"/>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4617720"/>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Literature class: direct, related, mixed, or unmatched</a:t>
            </a:r>
          </a:p>
        </p:txBody>
      </p:sp>
      <p:sp>
        <p:nvSpPr>
          <p:cNvPr id="48" name="Oval 47"/>
          <p:cNvSpPr/>
          <p:nvPr/>
        </p:nvSpPr>
        <p:spPr>
          <a:xfrm>
            <a:off x="7909560" y="5248656"/>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74152" y="5138928"/>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Interpretation: a testable hypothesis, not independent proof</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11 align and 13 extend prior biology; only 3 are exact gene-tissue-direction matches.</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full decisions and 19-source inventory are in Supplementary Tables S16-S17.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OTHER TISSUES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Kidney adds a focused signal; other tissues are exploratory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strongest process-level stories were thymus and soleus, but several tissues produced narrower candidates.</a:t>
            </a:r>
          </a:p>
        </p:txBody>
      </p:sp>
      <p:sp>
        <p:nvSpPr>
          <p:cNvPr id="7" name="Rectangle 6"/>
          <p:cNvSpPr/>
          <p:nvPr/>
        </p:nvSpPr>
        <p:spPr>
          <a:xfrm>
            <a:off x="393192" y="1847088"/>
            <a:ext cx="11375136" cy="66751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3192" y="1847088"/>
            <a:ext cx="73152"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002536"/>
            <a:ext cx="1938528" cy="310896"/>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Kidney</a:t>
            </a:r>
          </a:p>
        </p:txBody>
      </p:sp>
      <p:sp>
        <p:nvSpPr>
          <p:cNvPr id="10" name="TextBox 9"/>
          <p:cNvSpPr txBox="1"/>
          <p:nvPr/>
        </p:nvSpPr>
        <p:spPr>
          <a:xfrm>
            <a:off x="2551176" y="1975104"/>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Inpp4b promoted, Slc37a4 reinforced; both higher in flight</a:t>
            </a:r>
          </a:p>
        </p:txBody>
      </p:sp>
      <p:sp>
        <p:nvSpPr>
          <p:cNvPr id="11" name="TextBox 10"/>
          <p:cNvSpPr txBox="1"/>
          <p:nvPr/>
        </p:nvSpPr>
        <p:spPr>
          <a:xfrm>
            <a:off x="9756648" y="1993392"/>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2D6496"/>
                </a:solidFill>
                <a:latin typeface="Arial"/>
              </a:rPr>
              <a:t>Focused secondary</a:t>
            </a:r>
          </a:p>
        </p:txBody>
      </p:sp>
      <p:sp>
        <p:nvSpPr>
          <p:cNvPr id="12" name="Rectangle 11"/>
          <p:cNvSpPr/>
          <p:nvPr/>
        </p:nvSpPr>
        <p:spPr>
          <a:xfrm>
            <a:off x="393192" y="2660904"/>
            <a:ext cx="11375136" cy="66751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93192" y="2660904"/>
            <a:ext cx="73152" cy="6675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16352"/>
            <a:ext cx="1938528" cy="310896"/>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Spleen</a:t>
            </a:r>
          </a:p>
        </p:txBody>
      </p:sp>
      <p:sp>
        <p:nvSpPr>
          <p:cNvPr id="15" name="TextBox 14"/>
          <p:cNvSpPr txBox="1"/>
          <p:nvPr/>
        </p:nvSpPr>
        <p:spPr>
          <a:xfrm>
            <a:off x="2551176" y="2788920"/>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Rai14, Ptprk and Myl9 promoted; Loxl1 reinforced; no Reactome enrichment</a:t>
            </a:r>
          </a:p>
        </p:txBody>
      </p:sp>
      <p:sp>
        <p:nvSpPr>
          <p:cNvPr id="16" name="TextBox 15"/>
          <p:cNvSpPr txBox="1"/>
          <p:nvPr/>
        </p:nvSpPr>
        <p:spPr>
          <a:xfrm>
            <a:off x="9756648" y="2807208"/>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063A6"/>
                </a:solidFill>
                <a:latin typeface="Arial"/>
              </a:rPr>
              <a:t>Exploratory</a:t>
            </a:r>
          </a:p>
        </p:txBody>
      </p:sp>
      <p:sp>
        <p:nvSpPr>
          <p:cNvPr id="17" name="Rectangle 16"/>
          <p:cNvSpPr/>
          <p:nvPr/>
        </p:nvSpPr>
        <p:spPr>
          <a:xfrm>
            <a:off x="393192" y="3474720"/>
            <a:ext cx="11375136" cy="66751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3192" y="3474720"/>
            <a:ext cx="73152" cy="6675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630168"/>
            <a:ext cx="1938528" cy="310896"/>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Skin + adrenal</a:t>
            </a:r>
          </a:p>
        </p:txBody>
      </p:sp>
      <p:sp>
        <p:nvSpPr>
          <p:cNvPr id="20" name="TextBox 19"/>
          <p:cNvSpPr txBox="1"/>
          <p:nvPr/>
        </p:nvSpPr>
        <p:spPr>
          <a:xfrm>
            <a:off x="2551176" y="3602736"/>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Plscr1 higher in skin; adrenal Psmb8 is plausible but literature-unmatched</a:t>
            </a:r>
          </a:p>
        </p:txBody>
      </p:sp>
      <p:sp>
        <p:nvSpPr>
          <p:cNvPr id="21" name="TextBox 20"/>
          <p:cNvSpPr txBox="1"/>
          <p:nvPr/>
        </p:nvSpPr>
        <p:spPr>
          <a:xfrm>
            <a:off x="9756648" y="3621024"/>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D37B00"/>
                </a:solidFill>
                <a:latin typeface="Arial"/>
              </a:rPr>
              <a:t>Exploratory</a:t>
            </a:r>
          </a:p>
        </p:txBody>
      </p:sp>
      <p:sp>
        <p:nvSpPr>
          <p:cNvPr id="22" name="Rectangle 21"/>
          <p:cNvSpPr/>
          <p:nvPr/>
        </p:nvSpPr>
        <p:spPr>
          <a:xfrm>
            <a:off x="393192" y="4288536"/>
            <a:ext cx="11375136" cy="66751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 y="4288536"/>
            <a:ext cx="73152" cy="6675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43983"/>
            <a:ext cx="1938528" cy="310896"/>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Lung + retina</a:t>
            </a:r>
          </a:p>
        </p:txBody>
      </p:sp>
      <p:sp>
        <p:nvSpPr>
          <p:cNvPr id="25" name="TextBox 24"/>
          <p:cNvSpPr txBox="1"/>
          <p:nvPr/>
        </p:nvSpPr>
        <p:spPr>
          <a:xfrm>
            <a:off x="2551176" y="4416551"/>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Predictive gains without a synthetic-informed BH-FDR gene</a:t>
            </a:r>
          </a:p>
        </p:txBody>
      </p:sp>
      <p:sp>
        <p:nvSpPr>
          <p:cNvPr id="26" name="TextBox 25"/>
          <p:cNvSpPr txBox="1"/>
          <p:nvPr/>
        </p:nvSpPr>
        <p:spPr>
          <a:xfrm>
            <a:off x="9756648" y="4434840"/>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178681"/>
                </a:solidFill>
                <a:latin typeface="Arial"/>
              </a:rPr>
              <a:t>Prediction only</a:t>
            </a:r>
          </a:p>
        </p:txBody>
      </p:sp>
      <p:sp>
        <p:nvSpPr>
          <p:cNvPr id="27" name="Rectangle 26"/>
          <p:cNvSpPr/>
          <p:nvPr/>
        </p:nvSpPr>
        <p:spPr>
          <a:xfrm>
            <a:off x="393192" y="5102352"/>
            <a:ext cx="11375136" cy="66751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3192" y="5102352"/>
            <a:ext cx="73152" cy="66751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257800"/>
            <a:ext cx="1938528" cy="310896"/>
          </a:xfrm>
          <a:prstGeom prst="rect">
            <a:avLst/>
          </a:prstGeom>
          <a:noFill/>
        </p:spPr>
        <p:txBody>
          <a:bodyPr wrap="square" lIns="18288" rIns="18288" tIns="18288" bIns="18288" anchor="t">
            <a:spAutoFit/>
          </a:bodyPr>
          <a:lstStyle/>
          <a:p>
            <a:pPr algn="l">
              <a:spcAft>
                <a:spcPts val="0"/>
              </a:spcAft>
            </a:pPr>
            <a:r>
              <a:rPr sz="1600" b="1" i="0">
                <a:solidFill>
                  <a:srgbClr val="8A969E"/>
                </a:solidFill>
                <a:latin typeface="Arial"/>
              </a:rPr>
              <a:t>Liver + EDL + quadriceps</a:t>
            </a:r>
          </a:p>
        </p:txBody>
      </p:sp>
      <p:sp>
        <p:nvSpPr>
          <p:cNvPr id="30" name="TextBox 29"/>
          <p:cNvSpPr txBox="1"/>
          <p:nvPr/>
        </p:nvSpPr>
        <p:spPr>
          <a:xfrm>
            <a:off x="2551176" y="5230368"/>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Real-only arm retained</a:t>
            </a:r>
          </a:p>
        </p:txBody>
      </p:sp>
      <p:sp>
        <p:nvSpPr>
          <p:cNvPr id="31" name="TextBox 30"/>
          <p:cNvSpPr txBox="1"/>
          <p:nvPr/>
        </p:nvSpPr>
        <p:spPr>
          <a:xfrm>
            <a:off x="9756648" y="5248656"/>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A969E"/>
                </a:solidFill>
                <a:latin typeface="Arial"/>
              </a:rPr>
              <a:t>No synthetic claim</a:t>
            </a:r>
          </a:p>
        </p:txBody>
      </p:sp>
      <p:sp>
        <p:nvSpPr>
          <p:cNvPr id="32" name="TextBox 31"/>
          <p:cNvSpPr txBox="1"/>
          <p:nvPr/>
        </p:nvSpPr>
        <p:spPr>
          <a:xfrm>
            <a:off x="685800" y="6035040"/>
            <a:ext cx="10789920" cy="301752"/>
          </a:xfrm>
          <a:prstGeom prst="rect">
            <a:avLst/>
          </a:prstGeom>
          <a:noFill/>
        </p:spPr>
        <p:txBody>
          <a:bodyPr wrap="square" lIns="18288" rIns="18288" tIns="18288" bIns="18288" anchor="t">
            <a:spAutoFit/>
          </a:bodyPr>
          <a:lstStyle/>
          <a:p>
            <a:pPr algn="ctr">
              <a:spcAft>
                <a:spcPts val="0"/>
              </a:spcAft>
            </a:pPr>
            <a:r>
              <a:rPr sz="1400" b="0" i="1">
                <a:solidFill>
                  <a:srgbClr val="59697A"/>
                </a:solidFill>
                <a:latin typeface="Arial"/>
              </a:rPr>
              <a:t>A plausible mechanism is not independent validation; these candidates still require targeted experiments.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kidney signaling and adrenal Psmb8.</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