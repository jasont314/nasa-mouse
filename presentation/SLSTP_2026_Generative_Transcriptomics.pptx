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card shows alternatives available at one pipeline stage, and the heavy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Both WGAN-GP and DDIM had high correlation and F1. DDIM had adversarial accuracy near 0.5 and a lower Frechet-distance ratio, so it was harder to separate from real profiles and closer in distribution. The metrics use each model's stated evaluation split. DDIM was used for the remaining analyses.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narrative focuses later, but no completed tissue result is hidden.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stage exposes alternatives; a strong outline marks the configuration used downstream.</a:t>
            </a:r>
          </a:p>
        </p:txBody>
      </p:sp>
      <p:sp>
        <p:nvSpPr>
          <p:cNvPr id="7" name="Rounded Rectangle 6"/>
          <p:cNvSpPr/>
          <p:nvPr/>
        </p:nvSpPr>
        <p:spPr>
          <a:xfrm>
            <a:off x="320040" y="1828800"/>
            <a:ext cx="2148840" cy="3063240"/>
          </a:xfrm>
          <a:prstGeom prst="round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66344" y="1993392"/>
            <a:ext cx="292608" cy="29260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1</a:t>
            </a:r>
          </a:p>
        </p:txBody>
      </p:sp>
      <p:sp>
        <p:nvSpPr>
          <p:cNvPr id="10" name="TextBox 9"/>
          <p:cNvSpPr txBox="1"/>
          <p:nvPr/>
        </p:nvSpPr>
        <p:spPr>
          <a:xfrm>
            <a:off x="85039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2D6496"/>
                </a:solidFill>
                <a:latin typeface="Arial"/>
              </a:rPr>
              <a:t>Data scope</a:t>
            </a:r>
          </a:p>
        </p:txBody>
      </p:sp>
      <p:sp>
        <p:nvSpPr>
          <p:cNvPr id="11" name="Rectangle 10"/>
          <p:cNvSpPr/>
          <p:nvPr/>
        </p:nvSpPr>
        <p:spPr>
          <a:xfrm>
            <a:off x="466344" y="2359152"/>
            <a:ext cx="1856231"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3" name="Rounded Rectangle 12"/>
          <p:cNvSpPr/>
          <p:nvPr/>
        </p:nvSpPr>
        <p:spPr>
          <a:xfrm>
            <a:off x="466344"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16636"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OSDR API</a:t>
            </a:r>
          </a:p>
        </p:txBody>
      </p:sp>
      <p:sp>
        <p:nvSpPr>
          <p:cNvPr id="16" name="Rounded Rectangle 15"/>
          <p:cNvSpPr/>
          <p:nvPr/>
        </p:nvSpPr>
        <p:spPr>
          <a:xfrm>
            <a:off x="1417319" y="2688336"/>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467611" y="2827324"/>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79"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ARCHS4</a:t>
            </a:r>
          </a:p>
        </p:txBody>
      </p:sp>
      <p:sp>
        <p:nvSpPr>
          <p:cNvPr id="19" name="TextBox 18"/>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0" name="Rounded Rectangle 19"/>
          <p:cNvSpPr/>
          <p:nvPr/>
        </p:nvSpPr>
        <p:spPr>
          <a:xfrm>
            <a:off x="466344" y="3383280"/>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 y="3433572"/>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Single</a:t>
            </a:r>
          </a:p>
        </p:txBody>
      </p:sp>
      <p:sp>
        <p:nvSpPr>
          <p:cNvPr id="22" name="Rounded Rectangle 21"/>
          <p:cNvSpPr/>
          <p:nvPr/>
        </p:nvSpPr>
        <p:spPr>
          <a:xfrm>
            <a:off x="1417319" y="3383280"/>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67611" y="3522268"/>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79" y="3433572"/>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Multiple</a:t>
            </a:r>
          </a:p>
        </p:txBody>
      </p:sp>
      <p:sp>
        <p:nvSpPr>
          <p:cNvPr id="25" name="TextBox 24"/>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6" name="Rounded Rectangle 25"/>
          <p:cNvSpPr/>
          <p:nvPr/>
        </p:nvSpPr>
        <p:spPr>
          <a:xfrm>
            <a:off x="466344" y="4078224"/>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 y="4128515"/>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Per tissue</a:t>
            </a:r>
          </a:p>
        </p:txBody>
      </p:sp>
      <p:sp>
        <p:nvSpPr>
          <p:cNvPr id="28" name="Rounded Rectangle 27"/>
          <p:cNvSpPr/>
          <p:nvPr/>
        </p:nvSpPr>
        <p:spPr>
          <a:xfrm>
            <a:off x="1417319" y="4078224"/>
            <a:ext cx="905255"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467611" y="4217212"/>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54479" y="4128515"/>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All tissues</a:t>
            </a:r>
          </a:p>
        </p:txBody>
      </p:sp>
      <p:sp>
        <p:nvSpPr>
          <p:cNvPr id="31" name="Rounded Rectangle 30"/>
          <p:cNvSpPr/>
          <p:nvPr/>
        </p:nvSpPr>
        <p:spPr>
          <a:xfrm>
            <a:off x="2651760" y="1828800"/>
            <a:ext cx="2148840" cy="3063240"/>
          </a:xfrm>
          <a:prstGeom prst="round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798064" y="1993392"/>
            <a:ext cx="292608" cy="29260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9806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2</a:t>
            </a:r>
          </a:p>
        </p:txBody>
      </p:sp>
      <p:sp>
        <p:nvSpPr>
          <p:cNvPr id="34" name="TextBox 33"/>
          <p:cNvSpPr txBox="1"/>
          <p:nvPr/>
        </p:nvSpPr>
        <p:spPr>
          <a:xfrm>
            <a:off x="318211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178681"/>
                </a:solidFill>
                <a:latin typeface="Arial"/>
              </a:rPr>
              <a:t>Transform</a:t>
            </a:r>
          </a:p>
        </p:txBody>
      </p:sp>
      <p:sp>
        <p:nvSpPr>
          <p:cNvPr id="35" name="Rectangle 34"/>
          <p:cNvSpPr/>
          <p:nvPr/>
        </p:nvSpPr>
        <p:spPr>
          <a:xfrm>
            <a:off x="2798064" y="2359152"/>
            <a:ext cx="1856231"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7" name="Rounded Rectangle 36"/>
          <p:cNvSpPr/>
          <p:nvPr/>
        </p:nvSpPr>
        <p:spPr>
          <a:xfrm>
            <a:off x="2798064"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52928"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Raw</a:t>
            </a:r>
          </a:p>
        </p:txBody>
      </p:sp>
      <p:sp>
        <p:nvSpPr>
          <p:cNvPr id="39" name="Rounded Rectangle 38"/>
          <p:cNvSpPr/>
          <p:nvPr/>
        </p:nvSpPr>
        <p:spPr>
          <a:xfrm>
            <a:off x="3432048" y="2688336"/>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86912" y="2738628"/>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CPM</a:t>
            </a:r>
          </a:p>
        </p:txBody>
      </p:sp>
      <p:sp>
        <p:nvSpPr>
          <p:cNvPr id="41" name="Rounded Rectangle 40"/>
          <p:cNvSpPr/>
          <p:nvPr/>
        </p:nvSpPr>
        <p:spPr>
          <a:xfrm>
            <a:off x="4066031" y="2688336"/>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116323" y="2827324"/>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03192" y="2738628"/>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TPM</a:t>
            </a:r>
          </a:p>
        </p:txBody>
      </p:sp>
      <p:sp>
        <p:nvSpPr>
          <p:cNvPr id="44" name="TextBox 43"/>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5" name="Rounded Rectangle 44"/>
          <p:cNvSpPr/>
          <p:nvPr/>
        </p:nvSpPr>
        <p:spPr>
          <a:xfrm>
            <a:off x="2798064"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852928"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None</a:t>
            </a:r>
          </a:p>
        </p:txBody>
      </p:sp>
      <p:sp>
        <p:nvSpPr>
          <p:cNvPr id="47" name="Rounded Rectangle 46"/>
          <p:cNvSpPr/>
          <p:nvPr/>
        </p:nvSpPr>
        <p:spPr>
          <a:xfrm>
            <a:off x="3432048" y="3383280"/>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86912" y="3433572"/>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Z-score</a:t>
            </a:r>
          </a:p>
        </p:txBody>
      </p:sp>
      <p:sp>
        <p:nvSpPr>
          <p:cNvPr id="49" name="Rounded Rectangle 48"/>
          <p:cNvSpPr/>
          <p:nvPr/>
        </p:nvSpPr>
        <p:spPr>
          <a:xfrm>
            <a:off x="4066031" y="3383280"/>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116323" y="3522268"/>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3192" y="3433572"/>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MaxAbs</a:t>
            </a:r>
          </a:p>
        </p:txBody>
      </p:sp>
      <p:sp>
        <p:nvSpPr>
          <p:cNvPr id="52" name="TextBox 51"/>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53" name="Rounded Rectangle 52"/>
          <p:cNvSpPr/>
          <p:nvPr/>
        </p:nvSpPr>
        <p:spPr>
          <a:xfrm>
            <a:off x="2798064"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852928"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All</a:t>
            </a:r>
          </a:p>
        </p:txBody>
      </p:sp>
      <p:sp>
        <p:nvSpPr>
          <p:cNvPr id="55" name="Rounded Rectangle 54"/>
          <p:cNvSpPr/>
          <p:nvPr/>
        </p:nvSpPr>
        <p:spPr>
          <a:xfrm>
            <a:off x="3432048" y="4078224"/>
            <a:ext cx="588263"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486912" y="4128515"/>
            <a:ext cx="478535" cy="210312"/>
          </a:xfrm>
          <a:prstGeom prst="rect">
            <a:avLst/>
          </a:prstGeom>
          <a:noFill/>
        </p:spPr>
        <p:txBody>
          <a:bodyPr wrap="square" lIns="0" rIns="0" tIns="0" bIns="0" anchor="ctr">
            <a:spAutoFit/>
          </a:bodyPr>
          <a:lstStyle/>
          <a:p>
            <a:pPr algn="ctr">
              <a:spcAft>
                <a:spcPts val="0"/>
              </a:spcAft>
            </a:pPr>
            <a:r>
              <a:rPr sz="819" b="0" i="0">
                <a:solidFill>
                  <a:srgbClr val="59697A"/>
                </a:solidFill>
                <a:latin typeface="Arial"/>
              </a:rPr>
              <a:t>HVG</a:t>
            </a:r>
          </a:p>
        </p:txBody>
      </p:sp>
      <p:sp>
        <p:nvSpPr>
          <p:cNvPr id="57" name="Rounded Rectangle 56"/>
          <p:cNvSpPr/>
          <p:nvPr/>
        </p:nvSpPr>
        <p:spPr>
          <a:xfrm>
            <a:off x="4066031" y="4078224"/>
            <a:ext cx="588263" cy="329184"/>
          </a:xfrm>
          <a:prstGeom prst="roundRect">
            <a:avLst/>
          </a:prstGeom>
          <a:solidFill>
            <a:srgbClr val="FFFFFF"/>
          </a:solidFill>
          <a:ln w="2540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116323" y="4217212"/>
            <a:ext cx="50292" cy="5029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03192" y="4128515"/>
            <a:ext cx="423671" cy="210312"/>
          </a:xfrm>
          <a:prstGeom prst="rect">
            <a:avLst/>
          </a:prstGeom>
          <a:noFill/>
        </p:spPr>
        <p:txBody>
          <a:bodyPr wrap="square" lIns="0" rIns="0" tIns="0" bIns="0" anchor="ctr">
            <a:spAutoFit/>
          </a:bodyPr>
          <a:lstStyle/>
          <a:p>
            <a:pPr algn="ctr">
              <a:spcAft>
                <a:spcPts val="0"/>
              </a:spcAft>
            </a:pPr>
            <a:r>
              <a:rPr sz="819" b="1" i="0">
                <a:solidFill>
                  <a:srgbClr val="263746"/>
                </a:solidFill>
                <a:latin typeface="Arial"/>
              </a:rPr>
              <a:t>L1000</a:t>
            </a:r>
          </a:p>
        </p:txBody>
      </p:sp>
      <p:sp>
        <p:nvSpPr>
          <p:cNvPr id="60" name="Rounded Rectangle 59"/>
          <p:cNvSpPr/>
          <p:nvPr/>
        </p:nvSpPr>
        <p:spPr>
          <a:xfrm>
            <a:off x="4983480" y="1828800"/>
            <a:ext cx="2148840" cy="3063240"/>
          </a:xfrm>
          <a:prstGeom prst="round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29784" y="1993392"/>
            <a:ext cx="292608" cy="29260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2978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3</a:t>
            </a:r>
          </a:p>
        </p:txBody>
      </p:sp>
      <p:sp>
        <p:nvSpPr>
          <p:cNvPr id="63" name="TextBox 62"/>
          <p:cNvSpPr txBox="1"/>
          <p:nvPr/>
        </p:nvSpPr>
        <p:spPr>
          <a:xfrm>
            <a:off x="551383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8063A6"/>
                </a:solidFill>
                <a:latin typeface="Arial"/>
              </a:rPr>
              <a:t>Harmonization</a:t>
            </a:r>
          </a:p>
        </p:txBody>
      </p:sp>
      <p:sp>
        <p:nvSpPr>
          <p:cNvPr id="64" name="Rectangle 63"/>
          <p:cNvSpPr/>
          <p:nvPr/>
        </p:nvSpPr>
        <p:spPr>
          <a:xfrm>
            <a:off x="5129784" y="2359152"/>
            <a:ext cx="1856231"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66" name="Rounded Rectangle 65"/>
          <p:cNvSpPr/>
          <p:nvPr/>
        </p:nvSpPr>
        <p:spPr>
          <a:xfrm>
            <a:off x="5129784" y="2688336"/>
            <a:ext cx="1856231" cy="329184"/>
          </a:xfrm>
          <a:prstGeom prst="roundRect">
            <a:avLst/>
          </a:prstGeom>
          <a:solidFill>
            <a:srgbClr val="FFFFFF"/>
          </a:solidFill>
          <a:ln w="2540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180076" y="2827324"/>
            <a:ext cx="50292" cy="5029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266944" y="2738628"/>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None</a:t>
            </a:r>
          </a:p>
        </p:txBody>
      </p:sp>
      <p:sp>
        <p:nvSpPr>
          <p:cNvPr id="69" name="Rounded Rectangle 68"/>
          <p:cNvSpPr/>
          <p:nvPr/>
        </p:nvSpPr>
        <p:spPr>
          <a:xfrm>
            <a:off x="5129784" y="31455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184648" y="31958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Within-study z-score</a:t>
            </a:r>
          </a:p>
        </p:txBody>
      </p:sp>
      <p:sp>
        <p:nvSpPr>
          <p:cNvPr id="71" name="Rounded Rectangle 70"/>
          <p:cNvSpPr/>
          <p:nvPr/>
        </p:nvSpPr>
        <p:spPr>
          <a:xfrm>
            <a:off x="5129784" y="3602736"/>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184648" y="3653028"/>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ComBat / MBatch</a:t>
            </a:r>
          </a:p>
        </p:txBody>
      </p:sp>
      <p:sp>
        <p:nvSpPr>
          <p:cNvPr id="73" name="Rounded Rectangle 72"/>
          <p:cNvSpPr/>
          <p:nvPr/>
        </p:nvSpPr>
        <p:spPr>
          <a:xfrm>
            <a:off x="5129784" y="4059935"/>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84648" y="4110227"/>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MOBER</a:t>
            </a:r>
          </a:p>
        </p:txBody>
      </p:sp>
      <p:sp>
        <p:nvSpPr>
          <p:cNvPr id="75" name="Rounded Rectangle 74"/>
          <p:cNvSpPr/>
          <p:nvPr/>
        </p:nvSpPr>
        <p:spPr>
          <a:xfrm>
            <a:off x="7315200" y="1828800"/>
            <a:ext cx="2148840" cy="3063240"/>
          </a:xfrm>
          <a:prstGeom prst="round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461504" y="1993392"/>
            <a:ext cx="292608" cy="29260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46150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4</a:t>
            </a:r>
          </a:p>
        </p:txBody>
      </p:sp>
      <p:sp>
        <p:nvSpPr>
          <p:cNvPr id="78" name="TextBox 77"/>
          <p:cNvSpPr txBox="1"/>
          <p:nvPr/>
        </p:nvSpPr>
        <p:spPr>
          <a:xfrm>
            <a:off x="784555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D37B00"/>
                </a:solidFill>
                <a:latin typeface="Arial"/>
              </a:rPr>
              <a:t>Model training</a:t>
            </a:r>
          </a:p>
        </p:txBody>
      </p:sp>
      <p:sp>
        <p:nvSpPr>
          <p:cNvPr id="79" name="Rectangle 78"/>
          <p:cNvSpPr/>
          <p:nvPr/>
        </p:nvSpPr>
        <p:spPr>
          <a:xfrm>
            <a:off x="7461504" y="2359152"/>
            <a:ext cx="1856231"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81" name="Rounded Rectangle 80"/>
          <p:cNvSpPr/>
          <p:nvPr/>
        </p:nvSpPr>
        <p:spPr>
          <a:xfrm>
            <a:off x="7461504" y="2688336"/>
            <a:ext cx="905255"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516368" y="2738628"/>
            <a:ext cx="795527" cy="210312"/>
          </a:xfrm>
          <a:prstGeom prst="rect">
            <a:avLst/>
          </a:prstGeom>
          <a:noFill/>
        </p:spPr>
        <p:txBody>
          <a:bodyPr wrap="square" lIns="0" rIns="0" tIns="0" bIns="0" anchor="ctr">
            <a:spAutoFit/>
          </a:bodyPr>
          <a:lstStyle/>
          <a:p>
            <a:pPr algn="ctr">
              <a:spcAft>
                <a:spcPts val="0"/>
              </a:spcAft>
            </a:pPr>
            <a:r>
              <a:rPr sz="880" b="0" i="0">
                <a:solidFill>
                  <a:srgbClr val="59697A"/>
                </a:solidFill>
                <a:latin typeface="Arial"/>
              </a:rPr>
              <a:t>WGAN-GP</a:t>
            </a:r>
          </a:p>
        </p:txBody>
      </p:sp>
      <p:sp>
        <p:nvSpPr>
          <p:cNvPr id="83" name="Rounded Rectangle 82"/>
          <p:cNvSpPr/>
          <p:nvPr/>
        </p:nvSpPr>
        <p:spPr>
          <a:xfrm>
            <a:off x="8412480" y="2688336"/>
            <a:ext cx="905255"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462772" y="2827324"/>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549640" y="2738628"/>
            <a:ext cx="740663" cy="210312"/>
          </a:xfrm>
          <a:prstGeom prst="rect">
            <a:avLst/>
          </a:prstGeom>
          <a:noFill/>
        </p:spPr>
        <p:txBody>
          <a:bodyPr wrap="square" lIns="0" rIns="0" tIns="0" bIns="0" anchor="ctr">
            <a:spAutoFit/>
          </a:bodyPr>
          <a:lstStyle/>
          <a:p>
            <a:pPr algn="ctr">
              <a:spcAft>
                <a:spcPts val="0"/>
              </a:spcAft>
            </a:pPr>
            <a:r>
              <a:rPr sz="880" b="1" i="0">
                <a:solidFill>
                  <a:srgbClr val="263746"/>
                </a:solidFill>
                <a:latin typeface="Arial"/>
              </a:rPr>
              <a:t>DDIM</a:t>
            </a:r>
          </a:p>
        </p:txBody>
      </p:sp>
      <p:sp>
        <p:nvSpPr>
          <p:cNvPr id="86" name="TextBox 85"/>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87" name="Rounded Rectangle 86"/>
          <p:cNvSpPr/>
          <p:nvPr/>
        </p:nvSpPr>
        <p:spPr>
          <a:xfrm>
            <a:off x="7461504" y="33832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516368" y="34335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OSDR only</a:t>
            </a:r>
          </a:p>
        </p:txBody>
      </p:sp>
      <p:sp>
        <p:nvSpPr>
          <p:cNvPr id="89" name="Rounded Rectangle 88"/>
          <p:cNvSpPr/>
          <p:nvPr/>
        </p:nvSpPr>
        <p:spPr>
          <a:xfrm>
            <a:off x="7461504" y="384048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516368" y="3890772"/>
            <a:ext cx="1746503" cy="210312"/>
          </a:xfrm>
          <a:prstGeom prst="rect">
            <a:avLst/>
          </a:prstGeom>
          <a:noFill/>
        </p:spPr>
        <p:txBody>
          <a:bodyPr wrap="square" lIns="0" rIns="0" tIns="0" bIns="0" anchor="ctr">
            <a:spAutoFit/>
          </a:bodyPr>
          <a:lstStyle/>
          <a:p>
            <a:pPr algn="ctr">
              <a:spcAft>
                <a:spcPts val="0"/>
              </a:spcAft>
            </a:pPr>
            <a:r>
              <a:rPr sz="919" b="0" i="0">
                <a:solidFill>
                  <a:srgbClr val="59697A"/>
                </a:solidFill>
                <a:latin typeface="Arial"/>
              </a:rPr>
              <a:t>ARCHS4 only</a:t>
            </a:r>
          </a:p>
        </p:txBody>
      </p:sp>
      <p:sp>
        <p:nvSpPr>
          <p:cNvPr id="91" name="Rounded Rectangle 90"/>
          <p:cNvSpPr/>
          <p:nvPr/>
        </p:nvSpPr>
        <p:spPr>
          <a:xfrm>
            <a:off x="7461504" y="4297680"/>
            <a:ext cx="1856231" cy="329184"/>
          </a:xfrm>
          <a:prstGeom prst="roundRect">
            <a:avLst/>
          </a:prstGeom>
          <a:solidFill>
            <a:srgbClr val="FFFFFF"/>
          </a:solidFill>
          <a:ln w="2540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511796" y="4436668"/>
            <a:ext cx="50292" cy="5029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598664" y="4347972"/>
            <a:ext cx="1691639" cy="210312"/>
          </a:xfrm>
          <a:prstGeom prst="rect">
            <a:avLst/>
          </a:prstGeom>
          <a:noFill/>
        </p:spPr>
        <p:txBody>
          <a:bodyPr wrap="square" lIns="0" rIns="0" tIns="0" bIns="0" anchor="ctr">
            <a:spAutoFit/>
          </a:bodyPr>
          <a:lstStyle/>
          <a:p>
            <a:pPr algn="ctr">
              <a:spcAft>
                <a:spcPts val="0"/>
              </a:spcAft>
            </a:pPr>
            <a:r>
              <a:rPr sz="919" b="1" i="0">
                <a:solidFill>
                  <a:srgbClr val="263746"/>
                </a:solidFill>
                <a:latin typeface="Arial"/>
              </a:rPr>
              <a:t>Pretrain + adapt</a:t>
            </a:r>
          </a:p>
        </p:txBody>
      </p:sp>
      <p:sp>
        <p:nvSpPr>
          <p:cNvPr id="94" name="Rounded Rectangle 93"/>
          <p:cNvSpPr/>
          <p:nvPr/>
        </p:nvSpPr>
        <p:spPr>
          <a:xfrm>
            <a:off x="9646920" y="1828800"/>
            <a:ext cx="2148840" cy="3063240"/>
          </a:xfrm>
          <a:prstGeom prst="round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9793224" y="1993392"/>
            <a:ext cx="292608" cy="29260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793224" y="2034540"/>
            <a:ext cx="292608" cy="182880"/>
          </a:xfrm>
          <a:prstGeom prst="rect">
            <a:avLst/>
          </a:prstGeom>
          <a:noFill/>
        </p:spPr>
        <p:txBody>
          <a:bodyPr wrap="square" lIns="0" rIns="0" tIns="0" bIns="0" anchor="t">
            <a:spAutoFit/>
          </a:bodyPr>
          <a:lstStyle/>
          <a:p>
            <a:pPr algn="ctr">
              <a:spcAft>
                <a:spcPts val="0"/>
              </a:spcAft>
            </a:pPr>
            <a:r>
              <a:rPr sz="1050" b="1" i="0">
                <a:solidFill>
                  <a:srgbClr val="FFFFFF"/>
                </a:solidFill>
                <a:latin typeface="Arial"/>
              </a:rPr>
              <a:t>5</a:t>
            </a:r>
          </a:p>
        </p:txBody>
      </p:sp>
      <p:sp>
        <p:nvSpPr>
          <p:cNvPr id="97" name="TextBox 96"/>
          <p:cNvSpPr txBox="1"/>
          <p:nvPr/>
        </p:nvSpPr>
        <p:spPr>
          <a:xfrm>
            <a:off x="10177272" y="2002536"/>
            <a:ext cx="1435608" cy="274320"/>
          </a:xfrm>
          <a:prstGeom prst="rect">
            <a:avLst/>
          </a:prstGeom>
          <a:noFill/>
        </p:spPr>
        <p:txBody>
          <a:bodyPr wrap="square" lIns="18288" rIns="18288" tIns="18288" bIns="18288" anchor="ctr">
            <a:spAutoFit/>
          </a:bodyPr>
          <a:lstStyle/>
          <a:p>
            <a:pPr algn="l">
              <a:spcAft>
                <a:spcPts val="0"/>
              </a:spcAft>
            </a:pPr>
            <a:r>
              <a:rPr sz="1400" b="1" i="0">
                <a:solidFill>
                  <a:srgbClr val="478A64"/>
                </a:solidFill>
                <a:latin typeface="Arial"/>
              </a:rPr>
              <a:t>Conditioning</a:t>
            </a:r>
          </a:p>
        </p:txBody>
      </p:sp>
      <p:sp>
        <p:nvSpPr>
          <p:cNvPr id="98" name="Rectangle 97"/>
          <p:cNvSpPr/>
          <p:nvPr/>
        </p:nvSpPr>
        <p:spPr>
          <a:xfrm>
            <a:off x="9793224" y="2359152"/>
            <a:ext cx="1856231" cy="2286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100" name="Rounded Rectangle 99"/>
          <p:cNvSpPr/>
          <p:nvPr/>
        </p:nvSpPr>
        <p:spPr>
          <a:xfrm>
            <a:off x="9793224" y="2670048"/>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843516" y="280903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930384" y="2720340"/>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Tissue</a:t>
            </a:r>
          </a:p>
        </p:txBody>
      </p:sp>
      <p:sp>
        <p:nvSpPr>
          <p:cNvPr id="103" name="Rounded Rectangle 102"/>
          <p:cNvSpPr/>
          <p:nvPr/>
        </p:nvSpPr>
        <p:spPr>
          <a:xfrm>
            <a:off x="9793224" y="3054096"/>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843516" y="3193084"/>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930384" y="3104388"/>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FLT / GC</a:t>
            </a:r>
          </a:p>
        </p:txBody>
      </p:sp>
      <p:sp>
        <p:nvSpPr>
          <p:cNvPr id="106" name="Rounded Rectangle 105"/>
          <p:cNvSpPr/>
          <p:nvPr/>
        </p:nvSpPr>
        <p:spPr>
          <a:xfrm>
            <a:off x="9793224" y="3438144"/>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843516" y="3577132"/>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930384" y="3488436"/>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Accession</a:t>
            </a:r>
          </a:p>
        </p:txBody>
      </p:sp>
      <p:sp>
        <p:nvSpPr>
          <p:cNvPr id="109" name="Rounded Rectangle 108"/>
          <p:cNvSpPr/>
          <p:nvPr/>
        </p:nvSpPr>
        <p:spPr>
          <a:xfrm>
            <a:off x="9793224" y="3822191"/>
            <a:ext cx="1856231"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843516" y="3961180"/>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930384" y="3872483"/>
            <a:ext cx="1691639" cy="210312"/>
          </a:xfrm>
          <a:prstGeom prst="rect">
            <a:avLst/>
          </a:prstGeom>
          <a:noFill/>
        </p:spPr>
        <p:txBody>
          <a:bodyPr wrap="square" lIns="0" rIns="0" tIns="0" bIns="0" anchor="ctr">
            <a:spAutoFit/>
          </a:bodyPr>
          <a:lstStyle/>
          <a:p>
            <a:pPr algn="ctr">
              <a:spcAft>
                <a:spcPts val="0"/>
              </a:spcAft>
            </a:pPr>
            <a:r>
              <a:rPr sz="890" b="1" i="0">
                <a:solidFill>
                  <a:srgbClr val="263746"/>
                </a:solidFill>
                <a:latin typeface="Arial"/>
              </a:rPr>
              <a:t>Material type</a:t>
            </a:r>
          </a:p>
        </p:txBody>
      </p:sp>
      <p:sp>
        <p:nvSpPr>
          <p:cNvPr id="112" name="Rounded Rectangle 111"/>
          <p:cNvSpPr/>
          <p:nvPr/>
        </p:nvSpPr>
        <p:spPr>
          <a:xfrm>
            <a:off x="9793224" y="4206240"/>
            <a:ext cx="1856231" cy="329184"/>
          </a:xfrm>
          <a:prstGeom prst="roundRect">
            <a:avLst/>
          </a:prstGeom>
          <a:solidFill>
            <a:srgbClr val="F7F9FA"/>
          </a:solidFill>
          <a:ln w="8255">
            <a:solidFill>
              <a:srgbClr val="C9D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848088" y="4256531"/>
            <a:ext cx="1746503" cy="210312"/>
          </a:xfrm>
          <a:prstGeom prst="rect">
            <a:avLst/>
          </a:prstGeom>
          <a:noFill/>
        </p:spPr>
        <p:txBody>
          <a:bodyPr wrap="square" lIns="0" rIns="0" tIns="0" bIns="0" anchor="ctr">
            <a:spAutoFit/>
          </a:bodyPr>
          <a:lstStyle/>
          <a:p>
            <a:pPr algn="ctr">
              <a:spcAft>
                <a:spcPts val="0"/>
              </a:spcAft>
            </a:pPr>
            <a:r>
              <a:rPr sz="890" b="0" i="0">
                <a:solidFill>
                  <a:srgbClr val="59697A"/>
                </a:solidFill>
                <a:latin typeface="Arial"/>
              </a:rPr>
              <a:t>Sex / age</a:t>
            </a:r>
          </a:p>
        </p:txBody>
      </p:sp>
      <p:sp>
        <p:nvSpPr>
          <p:cNvPr id="114" name="Rounded Rectangle 113"/>
          <p:cNvSpPr/>
          <p:nvPr/>
        </p:nvSpPr>
        <p:spPr>
          <a:xfrm>
            <a:off x="320040" y="5120640"/>
            <a:ext cx="11475720" cy="1097280"/>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85216" y="5312664"/>
            <a:ext cx="1298448" cy="228600"/>
          </a:xfrm>
          <a:prstGeom prst="rect">
            <a:avLst/>
          </a:prstGeom>
          <a:noFill/>
        </p:spPr>
        <p:txBody>
          <a:bodyPr wrap="square" lIns="18288" rIns="18288" tIns="18288" bIns="18288" anchor="t">
            <a:spAutoFit/>
          </a:bodyPr>
          <a:lstStyle/>
          <a:p>
            <a:pPr algn="l">
              <a:spcAft>
                <a:spcPts val="0"/>
              </a:spcAft>
            </a:pPr>
            <a:r>
              <a:rPr sz="1080" b="1" i="0">
                <a:solidFill>
                  <a:srgbClr val="9A6B20"/>
                </a:solidFill>
                <a:latin typeface="Arial"/>
              </a:rPr>
              <a:t>Selected branch</a:t>
            </a:r>
          </a:p>
        </p:txBody>
      </p:sp>
      <p:sp>
        <p:nvSpPr>
          <p:cNvPr id="116" name="TextBox 115"/>
          <p:cNvSpPr txBox="1"/>
          <p:nvPr/>
        </p:nvSpPr>
        <p:spPr>
          <a:xfrm>
            <a:off x="585216" y="5660136"/>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Used downstream</a:t>
            </a:r>
          </a:p>
        </p:txBody>
      </p:sp>
      <p:sp>
        <p:nvSpPr>
          <p:cNvPr id="117" name="Rounded Rectangle 116"/>
          <p:cNvSpPr/>
          <p:nvPr/>
        </p:nvSpPr>
        <p:spPr>
          <a:xfrm>
            <a:off x="1920240" y="5239512"/>
            <a:ext cx="1965960" cy="448056"/>
          </a:xfrm>
          <a:prstGeom prst="round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119" name="TextBox 11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20" name="Right Arrow 11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4251960" y="5239512"/>
            <a:ext cx="1691640" cy="448056"/>
          </a:xfrm>
          <a:prstGeom prst="round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23" name="TextBox 12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24" name="Right Arrow 12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6309360" y="5239512"/>
            <a:ext cx="1691640" cy="448056"/>
          </a:xfrm>
          <a:prstGeom prst="round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27" name="TextBox 12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28" name="Right Arrow 12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8366760" y="5239512"/>
            <a:ext cx="2240280" cy="448056"/>
          </a:xfrm>
          <a:prstGeom prst="round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31" name="TextBox 13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32" name="TextBox 13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478A64"/>
                </a:solidFill>
                <a:latin typeface="Arial"/>
              </a:rPr>
              <a:t>CONDITION</a:t>
            </a:r>
          </a:p>
        </p:txBody>
      </p:sp>
      <p:sp>
        <p:nvSpPr>
          <p:cNvPr id="133" name="Rounded Rectangle 132"/>
          <p:cNvSpPr/>
          <p:nvPr/>
        </p:nvSpPr>
        <p:spPr>
          <a:xfrm>
            <a:off x="2633472" y="5733288"/>
            <a:ext cx="822960"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683764" y="587227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2770632" y="5783579"/>
            <a:ext cx="658368" cy="210312"/>
          </a:xfrm>
          <a:prstGeom prst="rect">
            <a:avLst/>
          </a:prstGeom>
          <a:noFill/>
        </p:spPr>
        <p:txBody>
          <a:bodyPr wrap="square" lIns="0" rIns="0" tIns="0" bIns="0" anchor="ctr">
            <a:spAutoFit/>
          </a:bodyPr>
          <a:lstStyle/>
          <a:p>
            <a:pPr algn="ctr">
              <a:spcAft>
                <a:spcPts val="0"/>
              </a:spcAft>
            </a:pPr>
            <a:r>
              <a:rPr sz="780" b="1" i="0">
                <a:solidFill>
                  <a:srgbClr val="263746"/>
                </a:solidFill>
                <a:latin typeface="Arial"/>
              </a:rPr>
              <a:t>Tissue</a:t>
            </a:r>
          </a:p>
        </p:txBody>
      </p:sp>
      <p:sp>
        <p:nvSpPr>
          <p:cNvPr id="136" name="Rounded Rectangle 135"/>
          <p:cNvSpPr/>
          <p:nvPr/>
        </p:nvSpPr>
        <p:spPr>
          <a:xfrm>
            <a:off x="3520440" y="5733288"/>
            <a:ext cx="914400"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70732" y="587227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657600" y="5783579"/>
            <a:ext cx="749808" cy="210312"/>
          </a:xfrm>
          <a:prstGeom prst="rect">
            <a:avLst/>
          </a:prstGeom>
          <a:noFill/>
        </p:spPr>
        <p:txBody>
          <a:bodyPr wrap="square" lIns="0" rIns="0" tIns="0" bIns="0" anchor="ctr">
            <a:spAutoFit/>
          </a:bodyPr>
          <a:lstStyle/>
          <a:p>
            <a:pPr algn="ctr">
              <a:spcAft>
                <a:spcPts val="0"/>
              </a:spcAft>
            </a:pPr>
            <a:r>
              <a:rPr sz="780" b="1" i="0">
                <a:solidFill>
                  <a:srgbClr val="263746"/>
                </a:solidFill>
                <a:latin typeface="Arial"/>
              </a:rPr>
              <a:t>FLT / GC</a:t>
            </a:r>
          </a:p>
        </p:txBody>
      </p:sp>
      <p:sp>
        <p:nvSpPr>
          <p:cNvPr id="139" name="Rounded Rectangle 138"/>
          <p:cNvSpPr/>
          <p:nvPr/>
        </p:nvSpPr>
        <p:spPr>
          <a:xfrm>
            <a:off x="4498848" y="5733288"/>
            <a:ext cx="1042415"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549140" y="587227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4636008" y="5783579"/>
            <a:ext cx="877824" cy="210312"/>
          </a:xfrm>
          <a:prstGeom prst="rect">
            <a:avLst/>
          </a:prstGeom>
          <a:noFill/>
        </p:spPr>
        <p:txBody>
          <a:bodyPr wrap="square" lIns="0" rIns="0" tIns="0" bIns="0" anchor="ctr">
            <a:spAutoFit/>
          </a:bodyPr>
          <a:lstStyle/>
          <a:p>
            <a:pPr algn="ctr">
              <a:spcAft>
                <a:spcPts val="0"/>
              </a:spcAft>
            </a:pPr>
            <a:r>
              <a:rPr sz="780" b="1" i="0">
                <a:solidFill>
                  <a:srgbClr val="263746"/>
                </a:solidFill>
                <a:latin typeface="Arial"/>
              </a:rPr>
              <a:t>Accession</a:t>
            </a:r>
          </a:p>
        </p:txBody>
      </p:sp>
      <p:sp>
        <p:nvSpPr>
          <p:cNvPr id="142" name="Rounded Rectangle 141"/>
          <p:cNvSpPr/>
          <p:nvPr/>
        </p:nvSpPr>
        <p:spPr>
          <a:xfrm>
            <a:off x="5605272" y="5733288"/>
            <a:ext cx="1261872" cy="329184"/>
          </a:xfrm>
          <a:prstGeom prst="roundRect">
            <a:avLst/>
          </a:prstGeom>
          <a:solidFill>
            <a:srgbClr val="FFFFFF"/>
          </a:solidFill>
          <a:ln w="2540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5655564" y="5872276"/>
            <a:ext cx="50292" cy="50292"/>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5742432" y="5783579"/>
            <a:ext cx="1097280" cy="210312"/>
          </a:xfrm>
          <a:prstGeom prst="rect">
            <a:avLst/>
          </a:prstGeom>
          <a:noFill/>
        </p:spPr>
        <p:txBody>
          <a:bodyPr wrap="square" lIns="0" rIns="0" tIns="0" bIns="0" anchor="ctr">
            <a:spAutoFit/>
          </a:bodyPr>
          <a:lstStyle/>
          <a:p>
            <a:pPr algn="ctr">
              <a:spcAft>
                <a:spcPts val="0"/>
              </a:spcAft>
            </a:pPr>
            <a:r>
              <a:rPr sz="780" b="1" i="0">
                <a:solidFill>
                  <a:srgbClr val="263746"/>
                </a:solidFill>
                <a:latin typeface="Arial"/>
              </a:rPr>
              <a:t>Material type</a:t>
            </a:r>
          </a:p>
        </p:txBody>
      </p:sp>
      <p:sp>
        <p:nvSpPr>
          <p:cNvPr id="145" name="TextBox 14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8063A6"/>
                </a:solidFill>
                <a:latin typeface="Arial"/>
              </a:rPr>
              <a:t>HARMONIZE</a:t>
            </a:r>
          </a:p>
        </p:txBody>
      </p:sp>
      <p:sp>
        <p:nvSpPr>
          <p:cNvPr id="146" name="Rounded Rectangle 145"/>
          <p:cNvSpPr/>
          <p:nvPr/>
        </p:nvSpPr>
        <p:spPr>
          <a:xfrm>
            <a:off x="7909560" y="5733288"/>
            <a:ext cx="713232" cy="329184"/>
          </a:xfrm>
          <a:prstGeom prst="roundRect">
            <a:avLst/>
          </a:prstGeom>
          <a:solidFill>
            <a:srgbClr val="FFFFFF"/>
          </a:solidFill>
          <a:ln w="2540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7959852" y="5872276"/>
            <a:ext cx="50292" cy="5029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8046720" y="5783579"/>
            <a:ext cx="548640" cy="210312"/>
          </a:xfrm>
          <a:prstGeom prst="rect">
            <a:avLst/>
          </a:prstGeom>
          <a:noFill/>
        </p:spPr>
        <p:txBody>
          <a:bodyPr wrap="square" lIns="0" rIns="0" tIns="0" bIns="0" anchor="ctr">
            <a:spAutoFit/>
          </a:bodyPr>
          <a:lstStyle/>
          <a:p>
            <a:pPr algn="ctr">
              <a:spcAft>
                <a:spcPts val="0"/>
              </a:spcAft>
            </a:pPr>
            <a:r>
              <a:rPr sz="780" b="1" i="0">
                <a:solidFill>
                  <a:srgbClr val="263746"/>
                </a:solidFill>
                <a:latin typeface="Arial"/>
              </a:rPr>
              <a:t>None</a:t>
            </a:r>
          </a:p>
        </p:txBody>
      </p:sp>
      <p:sp>
        <p:nvSpPr>
          <p:cNvPr id="149" name="TextBox 14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50" name="Rounded Rectangle 149"/>
          <p:cNvSpPr/>
          <p:nvPr/>
        </p:nvSpPr>
        <p:spPr>
          <a:xfrm>
            <a:off x="9363456" y="5733288"/>
            <a:ext cx="1097280" cy="329184"/>
          </a:xfrm>
          <a:prstGeom prst="roundRect">
            <a:avLst/>
          </a:prstGeom>
          <a:solidFill>
            <a:srgbClr val="FFFFFF"/>
          </a:solidFill>
          <a:ln w="2540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9413748" y="5872276"/>
            <a:ext cx="50292" cy="5029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9500616" y="5783579"/>
            <a:ext cx="932688" cy="210312"/>
          </a:xfrm>
          <a:prstGeom prst="rect">
            <a:avLst/>
          </a:prstGeom>
          <a:noFill/>
        </p:spPr>
        <p:txBody>
          <a:bodyPr wrap="square" lIns="0" rIns="0" tIns="0" bIns="0" anchor="ctr">
            <a:spAutoFit/>
          </a:bodyPr>
          <a:lstStyle/>
          <a:p>
            <a:pPr algn="ctr">
              <a:spcAft>
                <a:spcPts val="0"/>
              </a:spcAft>
            </a:pPr>
            <a:r>
              <a:rPr sz="780" b="1" i="0">
                <a:solidFill>
                  <a:srgbClr val="263746"/>
                </a:solidFill>
                <a:latin typeface="Arial"/>
              </a:rPr>
              <a:t>All tissues</a:t>
            </a:r>
          </a:p>
        </p:txBody>
      </p:sp>
      <p:sp>
        <p:nvSpPr>
          <p:cNvPr id="153" name="TextBox 15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2424" y="2039112"/>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2D6496"/>
                </a:solidFill>
                <a:latin typeface="Arial"/>
              </a:rPr>
              <a:t>Real only</a:t>
            </a:r>
          </a:p>
        </p:txBody>
      </p:sp>
      <p:sp>
        <p:nvSpPr>
          <p:cNvPr id="16" name="Rectangle 15"/>
          <p:cNvSpPr/>
          <p:nvPr/>
        </p:nvSpPr>
        <p:spPr>
          <a:xfrm>
            <a:off x="3429000" y="2404872"/>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38144" y="252374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18" name="TextBox 17"/>
          <p:cNvSpPr txBox="1"/>
          <p:nvPr/>
        </p:nvSpPr>
        <p:spPr>
          <a:xfrm>
            <a:off x="3822191" y="2487168"/>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Real</a:t>
            </a:r>
          </a:p>
        </p:txBody>
      </p:sp>
      <p:sp>
        <p:nvSpPr>
          <p:cNvPr id="19" name="TextBox 18"/>
          <p:cNvSpPr txBox="1"/>
          <p:nvPr/>
        </p:nvSpPr>
        <p:spPr>
          <a:xfrm>
            <a:off x="3438144" y="279806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20" name="TextBox 19"/>
          <p:cNvSpPr txBox="1"/>
          <p:nvPr/>
        </p:nvSpPr>
        <p:spPr>
          <a:xfrm>
            <a:off x="3822191" y="2752344"/>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Real</a:t>
            </a:r>
          </a:p>
        </p:txBody>
      </p:sp>
      <p:sp>
        <p:nvSpPr>
          <p:cNvPr id="21" name="Rounded Rectangle 20"/>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84064" y="2039112"/>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D96552"/>
                </a:solidFill>
                <a:latin typeface="Arial"/>
              </a:rPr>
              <a:t>Generated only</a:t>
            </a:r>
          </a:p>
        </p:txBody>
      </p:sp>
      <p:sp>
        <p:nvSpPr>
          <p:cNvPr id="23" name="Rectangle 22"/>
          <p:cNvSpPr/>
          <p:nvPr/>
        </p:nvSpPr>
        <p:spPr>
          <a:xfrm>
            <a:off x="5120640" y="2404872"/>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9783" y="252374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25" name="TextBox 24"/>
          <p:cNvSpPr txBox="1"/>
          <p:nvPr/>
        </p:nvSpPr>
        <p:spPr>
          <a:xfrm>
            <a:off x="5513831" y="2487168"/>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Generated</a:t>
            </a:r>
          </a:p>
        </p:txBody>
      </p:sp>
      <p:sp>
        <p:nvSpPr>
          <p:cNvPr id="26" name="TextBox 25"/>
          <p:cNvSpPr txBox="1"/>
          <p:nvPr/>
        </p:nvSpPr>
        <p:spPr>
          <a:xfrm>
            <a:off x="5129783" y="279806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27" name="TextBox 26"/>
          <p:cNvSpPr txBox="1"/>
          <p:nvPr/>
        </p:nvSpPr>
        <p:spPr>
          <a:xfrm>
            <a:off x="5513831" y="2752344"/>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Generated</a:t>
            </a:r>
          </a:p>
        </p:txBody>
      </p:sp>
      <p:sp>
        <p:nvSpPr>
          <p:cNvPr id="28" name="Rounded Rectangle 27"/>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75704" y="2039112"/>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178681"/>
                </a:solidFill>
                <a:latin typeface="Arial"/>
              </a:rPr>
              <a:t>Real + generated</a:t>
            </a:r>
          </a:p>
        </p:txBody>
      </p:sp>
      <p:sp>
        <p:nvSpPr>
          <p:cNvPr id="30" name="Rectangle 29"/>
          <p:cNvSpPr/>
          <p:nvPr/>
        </p:nvSpPr>
        <p:spPr>
          <a:xfrm>
            <a:off x="6812280" y="2404872"/>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1424" y="252374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32" name="TextBox 31"/>
          <p:cNvSpPr txBox="1"/>
          <p:nvPr/>
        </p:nvSpPr>
        <p:spPr>
          <a:xfrm>
            <a:off x="7205472" y="2487168"/>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Consensus</a:t>
            </a:r>
          </a:p>
        </p:txBody>
      </p:sp>
      <p:sp>
        <p:nvSpPr>
          <p:cNvPr id="33" name="TextBox 32"/>
          <p:cNvSpPr txBox="1"/>
          <p:nvPr/>
        </p:nvSpPr>
        <p:spPr>
          <a:xfrm>
            <a:off x="6821424" y="2798064"/>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34" name="TextBox 33"/>
          <p:cNvSpPr txBox="1"/>
          <p:nvPr/>
        </p:nvSpPr>
        <p:spPr>
          <a:xfrm>
            <a:off x="7205472" y="2752344"/>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Equal weight</a:t>
            </a:r>
          </a:p>
        </p:txBody>
      </p:sp>
      <p:sp>
        <p:nvSpPr>
          <p:cNvPr id="35" name="Rounded Rectangle 34"/>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42816" y="3529584"/>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8063A6"/>
                </a:solidFill>
                <a:latin typeface="Arial"/>
              </a:rPr>
              <a:t>Guided: real fit</a:t>
            </a:r>
          </a:p>
        </p:txBody>
      </p:sp>
      <p:sp>
        <p:nvSpPr>
          <p:cNvPr id="37" name="Rectangle 36"/>
          <p:cNvSpPr/>
          <p:nvPr/>
        </p:nvSpPr>
        <p:spPr>
          <a:xfrm>
            <a:off x="4279392" y="3895344"/>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88536" y="4014215"/>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39" name="TextBox 38"/>
          <p:cNvSpPr txBox="1"/>
          <p:nvPr/>
        </p:nvSpPr>
        <p:spPr>
          <a:xfrm>
            <a:off x="4672583" y="3977639"/>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Consensus</a:t>
            </a:r>
          </a:p>
        </p:txBody>
      </p:sp>
      <p:sp>
        <p:nvSpPr>
          <p:cNvPr id="40" name="TextBox 39"/>
          <p:cNvSpPr txBox="1"/>
          <p:nvPr/>
        </p:nvSpPr>
        <p:spPr>
          <a:xfrm>
            <a:off x="4288536" y="4288536"/>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41" name="TextBox 40"/>
          <p:cNvSpPr txBox="1"/>
          <p:nvPr/>
        </p:nvSpPr>
        <p:spPr>
          <a:xfrm>
            <a:off x="4672583" y="4242816"/>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Real</a:t>
            </a:r>
          </a:p>
        </p:txBody>
      </p:sp>
      <p:sp>
        <p:nvSpPr>
          <p:cNvPr id="42" name="Rounded Rectangle 41"/>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34456" y="3529584"/>
            <a:ext cx="1344168" cy="310896"/>
          </a:xfrm>
          <a:prstGeom prst="rect">
            <a:avLst/>
          </a:prstGeom>
          <a:noFill/>
        </p:spPr>
        <p:txBody>
          <a:bodyPr wrap="square" lIns="18288" rIns="18288" tIns="18288" bIns="18288" anchor="ctr">
            <a:spAutoFit/>
          </a:bodyPr>
          <a:lstStyle/>
          <a:p>
            <a:pPr algn="ctr">
              <a:spcAft>
                <a:spcPts val="0"/>
              </a:spcAft>
            </a:pPr>
            <a:r>
              <a:rPr sz="1240" b="1" i="0">
                <a:solidFill>
                  <a:srgbClr val="D37B00"/>
                </a:solidFill>
                <a:latin typeface="Arial"/>
              </a:rPr>
              <a:t>Guided: 5% synthetic</a:t>
            </a:r>
          </a:p>
        </p:txBody>
      </p:sp>
      <p:sp>
        <p:nvSpPr>
          <p:cNvPr id="44" name="Rectangle 43"/>
          <p:cNvSpPr/>
          <p:nvPr/>
        </p:nvSpPr>
        <p:spPr>
          <a:xfrm>
            <a:off x="5971032" y="3895344"/>
            <a:ext cx="1271016"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80176" y="4014215"/>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Rank</a:t>
            </a:r>
          </a:p>
        </p:txBody>
      </p:sp>
      <p:sp>
        <p:nvSpPr>
          <p:cNvPr id="46" name="TextBox 45"/>
          <p:cNvSpPr txBox="1"/>
          <p:nvPr/>
        </p:nvSpPr>
        <p:spPr>
          <a:xfrm>
            <a:off x="6364224" y="3977639"/>
            <a:ext cx="832104" cy="237744"/>
          </a:xfrm>
          <a:prstGeom prst="rect">
            <a:avLst/>
          </a:prstGeom>
          <a:noFill/>
        </p:spPr>
        <p:txBody>
          <a:bodyPr wrap="square" lIns="0" rIns="0" tIns="0" bIns="0" anchor="ctr">
            <a:spAutoFit/>
          </a:bodyPr>
          <a:lstStyle/>
          <a:p>
            <a:pPr algn="r">
              <a:spcAft>
                <a:spcPts val="0"/>
              </a:spcAft>
            </a:pPr>
            <a:r>
              <a:rPr sz="1060" b="1" i="0">
                <a:solidFill>
                  <a:srgbClr val="263746"/>
                </a:solidFill>
                <a:latin typeface="Arial"/>
              </a:rPr>
              <a:t>Consensus</a:t>
            </a:r>
          </a:p>
        </p:txBody>
      </p:sp>
      <p:sp>
        <p:nvSpPr>
          <p:cNvPr id="47" name="TextBox 46"/>
          <p:cNvSpPr txBox="1"/>
          <p:nvPr/>
        </p:nvSpPr>
        <p:spPr>
          <a:xfrm>
            <a:off x="5980176" y="4288536"/>
            <a:ext cx="365760" cy="182880"/>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Fit</a:t>
            </a:r>
          </a:p>
        </p:txBody>
      </p:sp>
      <p:sp>
        <p:nvSpPr>
          <p:cNvPr id="48" name="TextBox 47"/>
          <p:cNvSpPr txBox="1"/>
          <p:nvPr/>
        </p:nvSpPr>
        <p:spPr>
          <a:xfrm>
            <a:off x="6364224" y="4242816"/>
            <a:ext cx="832104" cy="283464"/>
          </a:xfrm>
          <a:prstGeom prst="rect">
            <a:avLst/>
          </a:prstGeom>
          <a:noFill/>
        </p:spPr>
        <p:txBody>
          <a:bodyPr wrap="square" lIns="0" rIns="0" tIns="0" bIns="0" anchor="ctr">
            <a:spAutoFit/>
          </a:bodyPr>
          <a:lstStyle/>
          <a:p>
            <a:pPr algn="r">
              <a:spcAft>
                <a:spcPts val="0"/>
              </a:spcAft>
            </a:pPr>
            <a:r>
              <a:rPr sz="969" b="1" i="0">
                <a:solidFill>
                  <a:srgbClr val="263746"/>
                </a:solidFill>
                <a:latin typeface="Arial"/>
              </a:rPr>
              <a:t>Real + 5% synthetic</a:t>
            </a:r>
          </a:p>
        </p:txBody>
      </p:sp>
      <p:sp>
        <p:nvSpPr>
          <p:cNvPr id="49" name="Right Arrow 4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354312" y="2414016"/>
            <a:ext cx="2212848" cy="347472"/>
          </a:xfrm>
          <a:prstGeom prst="rect">
            <a:avLst/>
          </a:prstGeom>
          <a:noFill/>
        </p:spPr>
        <p:txBody>
          <a:bodyPr wrap="square" lIns="18288" rIns="18288" tIns="18288" bIns="18288" anchor="t">
            <a:spAutoFit/>
          </a:bodyPr>
          <a:lstStyle/>
          <a:p>
            <a:pPr algn="ctr">
              <a:spcAft>
                <a:spcPts val="0"/>
              </a:spcAft>
            </a:pPr>
            <a:r>
              <a:rPr sz="1650" b="1" i="0">
                <a:solidFill>
                  <a:srgbClr val="478A64"/>
                </a:solidFill>
                <a:latin typeface="Arial"/>
              </a:rPr>
              <a:t>Held-out real profiles</a:t>
            </a:r>
          </a:p>
        </p:txBody>
      </p:sp>
      <p:sp>
        <p:nvSpPr>
          <p:cNvPr id="52" name="Rectangle 51"/>
          <p:cNvSpPr/>
          <p:nvPr/>
        </p:nvSpPr>
        <p:spPr>
          <a:xfrm>
            <a:off x="9400032" y="2843784"/>
            <a:ext cx="2103120" cy="16459"/>
          </a:xfrm>
          <a:prstGeom prst="rect">
            <a:avLst/>
          </a:prstGeom>
          <a:solidFill>
            <a:srgbClr val="C9D9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418320" y="3017520"/>
            <a:ext cx="530352" cy="182880"/>
          </a:xfrm>
          <a:prstGeom prst="rect">
            <a:avLst/>
          </a:prstGeom>
          <a:noFill/>
        </p:spPr>
        <p:txBody>
          <a:bodyPr wrap="square" lIns="0" rIns="0" tIns="0" bIns="0" anchor="t">
            <a:spAutoFit/>
          </a:bodyPr>
          <a:lstStyle/>
          <a:p>
            <a:pPr algn="l">
              <a:spcAft>
                <a:spcPts val="0"/>
              </a:spcAft>
            </a:pPr>
            <a:r>
              <a:rPr sz="930" b="1" i="0">
                <a:solidFill>
                  <a:srgbClr val="59697A"/>
                </a:solidFill>
                <a:latin typeface="Arial"/>
              </a:rPr>
              <a:t>Metrics</a:t>
            </a:r>
          </a:p>
        </p:txBody>
      </p:sp>
      <p:sp>
        <p:nvSpPr>
          <p:cNvPr id="54" name="TextBox 53"/>
          <p:cNvSpPr txBox="1"/>
          <p:nvPr/>
        </p:nvSpPr>
        <p:spPr>
          <a:xfrm>
            <a:off x="9985248" y="2971800"/>
            <a:ext cx="1463040" cy="274320"/>
          </a:xfrm>
          <a:prstGeom prst="rect">
            <a:avLst/>
          </a:prstGeom>
          <a:noFill/>
        </p:spPr>
        <p:txBody>
          <a:bodyPr wrap="square" lIns="0" rIns="0" tIns="0" bIns="0" anchor="ctr">
            <a:spAutoFit/>
          </a:bodyPr>
          <a:lstStyle/>
          <a:p>
            <a:pPr algn="r">
              <a:spcAft>
                <a:spcPts val="0"/>
              </a:spcAft>
            </a:pPr>
            <a:r>
              <a:rPr sz="1200" b="1" i="0">
                <a:solidFill>
                  <a:srgbClr val="082B55"/>
                </a:solidFill>
                <a:latin typeface="Arial"/>
              </a:rPr>
              <a:t>BA | AUROC | AP</a:t>
            </a:r>
          </a:p>
        </p:txBody>
      </p:sp>
      <p:sp>
        <p:nvSpPr>
          <p:cNvPr id="55" name="TextBox 54"/>
          <p:cNvSpPr txBox="1"/>
          <p:nvPr/>
        </p:nvSpPr>
        <p:spPr>
          <a:xfrm>
            <a:off x="9418320" y="3465576"/>
            <a:ext cx="530352" cy="182880"/>
          </a:xfrm>
          <a:prstGeom prst="rect">
            <a:avLst/>
          </a:prstGeom>
          <a:noFill/>
        </p:spPr>
        <p:txBody>
          <a:bodyPr wrap="square" lIns="0" rIns="0" tIns="0" bIns="0" anchor="t">
            <a:spAutoFit/>
          </a:bodyPr>
          <a:lstStyle/>
          <a:p>
            <a:pPr algn="l">
              <a:spcAft>
                <a:spcPts val="0"/>
              </a:spcAft>
            </a:pPr>
            <a:r>
              <a:rPr sz="930" b="1" i="0">
                <a:solidFill>
                  <a:srgbClr val="59697A"/>
                </a:solidFill>
                <a:latin typeface="Arial"/>
              </a:rPr>
              <a:t>Decision</a:t>
            </a:r>
          </a:p>
        </p:txBody>
      </p:sp>
      <p:sp>
        <p:nvSpPr>
          <p:cNvPr id="56" name="TextBox 55"/>
          <p:cNvSpPr txBox="1"/>
          <p:nvPr/>
        </p:nvSpPr>
        <p:spPr>
          <a:xfrm>
            <a:off x="9985248" y="3383280"/>
            <a:ext cx="1463040" cy="475488"/>
          </a:xfrm>
          <a:prstGeom prst="rect">
            <a:avLst/>
          </a:prstGeom>
          <a:noFill/>
        </p:spPr>
        <p:txBody>
          <a:bodyPr wrap="square" lIns="0" rIns="0" tIns="0" bIns="0" anchor="ctr">
            <a:spAutoFit/>
          </a:bodyPr>
          <a:lstStyle/>
          <a:p>
            <a:pPr algn="r">
              <a:spcAft>
                <a:spcPts val="0"/>
              </a:spcAft>
            </a:pPr>
            <a:r>
              <a:rPr sz="1120" b="1" i="0">
                <a:solidFill>
                  <a:srgbClr val="263746"/>
                </a:solidFill>
                <a:latin typeface="Arial"/>
              </a:rPr>
              <a:t>Eligible arm
for each tissue</a:t>
            </a:r>
          </a:p>
        </p:txBody>
      </p:sp>
      <p:sp>
        <p:nvSpPr>
          <p:cNvPr id="57" name="Rounded Rectangle 56"/>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59" name="TextBox 58"/>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60" name="TextBox 59"/>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ounded Rectangle 25"/>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8"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9" name="TextBox 28"/>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0" name="TextBox 2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Rounded Rectangle 6"/>
          <p:cNvSpPr/>
          <p:nvPr/>
        </p:nvSpPr>
        <p:spPr>
          <a:xfrm>
            <a:off x="411480" y="1828800"/>
            <a:ext cx="2331720" cy="89611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1956816"/>
            <a:ext cx="283464" cy="2834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1</a:t>
            </a:r>
          </a:p>
        </p:txBody>
      </p:sp>
      <p:sp>
        <p:nvSpPr>
          <p:cNvPr id="10" name="TextBox 9"/>
          <p:cNvSpPr txBox="1"/>
          <p:nvPr/>
        </p:nvSpPr>
        <p:spPr>
          <a:xfrm>
            <a:off x="941832"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2D6496"/>
                </a:solidFill>
                <a:latin typeface="Arial"/>
              </a:rPr>
              <a:t>Candidate</a:t>
            </a:r>
          </a:p>
        </p:txBody>
      </p:sp>
      <p:sp>
        <p:nvSpPr>
          <p:cNvPr id="11" name="Rectangle 10"/>
          <p:cNvSpPr/>
          <p:nvPr/>
        </p:nvSpPr>
        <p:spPr>
          <a:xfrm>
            <a:off x="548640"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Fix</a:t>
            </a:r>
          </a:p>
        </p:txBody>
      </p:sp>
      <p:sp>
        <p:nvSpPr>
          <p:cNvPr id="13" name="TextBox 12"/>
          <p:cNvSpPr txBox="1"/>
          <p:nvPr/>
        </p:nvSpPr>
        <p:spPr>
          <a:xfrm>
            <a:off x="1088136"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Gene, tissue, and FLT direction</a:t>
            </a:r>
          </a:p>
        </p:txBody>
      </p:sp>
      <p:sp>
        <p:nvSpPr>
          <p:cNvPr id="14" name="Right Arrow 13"/>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64408" y="1828800"/>
            <a:ext cx="2331720" cy="89611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401568" y="1956816"/>
            <a:ext cx="283464" cy="2834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2</a:t>
            </a:r>
          </a:p>
        </p:txBody>
      </p:sp>
      <p:sp>
        <p:nvSpPr>
          <p:cNvPr id="18" name="TextBox 17"/>
          <p:cNvSpPr txBox="1"/>
          <p:nvPr/>
        </p:nvSpPr>
        <p:spPr>
          <a:xfrm>
            <a:off x="3794760"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178681"/>
                </a:solidFill>
                <a:latin typeface="Arial"/>
              </a:rPr>
              <a:t>Search</a:t>
            </a:r>
          </a:p>
        </p:txBody>
      </p:sp>
      <p:sp>
        <p:nvSpPr>
          <p:cNvPr id="19" name="Rectangle 18"/>
          <p:cNvSpPr/>
          <p:nvPr/>
        </p:nvSpPr>
        <p:spPr>
          <a:xfrm>
            <a:off x="3401568"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0712"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Query</a:t>
            </a:r>
          </a:p>
        </p:txBody>
      </p:sp>
      <p:sp>
        <p:nvSpPr>
          <p:cNvPr id="21" name="TextBox 20"/>
          <p:cNvSpPr txBox="1"/>
          <p:nvPr/>
        </p:nvSpPr>
        <p:spPr>
          <a:xfrm>
            <a:off x="3941064"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Spaceflight and mechanism literature</a:t>
            </a:r>
          </a:p>
        </p:txBody>
      </p:sp>
      <p:sp>
        <p:nvSpPr>
          <p:cNvPr id="22" name="Right Arrow 21"/>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17336" y="1828800"/>
            <a:ext cx="2331720" cy="89611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54496" y="1956816"/>
            <a:ext cx="283464" cy="2834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54496"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3</a:t>
            </a:r>
          </a:p>
        </p:txBody>
      </p:sp>
      <p:sp>
        <p:nvSpPr>
          <p:cNvPr id="26" name="TextBox 25"/>
          <p:cNvSpPr txBox="1"/>
          <p:nvPr/>
        </p:nvSpPr>
        <p:spPr>
          <a:xfrm>
            <a:off x="6647688"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D37B00"/>
                </a:solidFill>
                <a:latin typeface="Arial"/>
              </a:rPr>
              <a:t>Classify</a:t>
            </a:r>
          </a:p>
        </p:txBody>
      </p:sp>
      <p:sp>
        <p:nvSpPr>
          <p:cNvPr id="27" name="Rectangle 26"/>
          <p:cNvSpPr/>
          <p:nvPr/>
        </p:nvSpPr>
        <p:spPr>
          <a:xfrm>
            <a:off x="6254496"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Match</a:t>
            </a:r>
          </a:p>
        </p:txBody>
      </p:sp>
      <p:sp>
        <p:nvSpPr>
          <p:cNvPr id="29" name="TextBox 28"/>
          <p:cNvSpPr txBox="1"/>
          <p:nvPr/>
        </p:nvSpPr>
        <p:spPr>
          <a:xfrm>
            <a:off x="6793992"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Result with published evidence</a:t>
            </a:r>
          </a:p>
        </p:txBody>
      </p:sp>
      <p:sp>
        <p:nvSpPr>
          <p:cNvPr id="30" name="Right Arrow 29"/>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70263" y="1828800"/>
            <a:ext cx="2331720" cy="89611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107424" y="1956816"/>
            <a:ext cx="283464" cy="283464"/>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1997964"/>
            <a:ext cx="283464" cy="173736"/>
          </a:xfrm>
          <a:prstGeom prst="rect">
            <a:avLst/>
          </a:prstGeom>
          <a:noFill/>
        </p:spPr>
        <p:txBody>
          <a:bodyPr wrap="square" lIns="0" rIns="0" tIns="0" bIns="0" anchor="t">
            <a:spAutoFit/>
          </a:bodyPr>
          <a:lstStyle/>
          <a:p>
            <a:pPr algn="ctr">
              <a:spcAft>
                <a:spcPts val="0"/>
              </a:spcAft>
            </a:pPr>
            <a:r>
              <a:rPr sz="1040" b="1" i="0">
                <a:solidFill>
                  <a:srgbClr val="FFFFFF"/>
                </a:solidFill>
                <a:latin typeface="Arial"/>
              </a:rPr>
              <a:t>4</a:t>
            </a:r>
          </a:p>
        </p:txBody>
      </p:sp>
      <p:sp>
        <p:nvSpPr>
          <p:cNvPr id="34" name="TextBox 33"/>
          <p:cNvSpPr txBox="1"/>
          <p:nvPr/>
        </p:nvSpPr>
        <p:spPr>
          <a:xfrm>
            <a:off x="9500615" y="1947672"/>
            <a:ext cx="1581912" cy="256032"/>
          </a:xfrm>
          <a:prstGeom prst="rect">
            <a:avLst/>
          </a:prstGeom>
          <a:noFill/>
        </p:spPr>
        <p:txBody>
          <a:bodyPr wrap="square" lIns="18288" rIns="18288" tIns="18288" bIns="18288" anchor="ctr">
            <a:spAutoFit/>
          </a:bodyPr>
          <a:lstStyle/>
          <a:p>
            <a:pPr algn="l">
              <a:spcAft>
                <a:spcPts val="0"/>
              </a:spcAft>
            </a:pPr>
            <a:r>
              <a:rPr sz="1400" b="1" i="0">
                <a:solidFill>
                  <a:srgbClr val="8063A6"/>
                </a:solidFill>
                <a:latin typeface="Arial"/>
              </a:rPr>
              <a:t>Interpret</a:t>
            </a:r>
          </a:p>
        </p:txBody>
      </p:sp>
      <p:sp>
        <p:nvSpPr>
          <p:cNvPr id="35" name="Rectangle 34"/>
          <p:cNvSpPr/>
          <p:nvPr/>
        </p:nvSpPr>
        <p:spPr>
          <a:xfrm>
            <a:off x="9107424" y="2295144"/>
            <a:ext cx="2057400"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16567" y="2423160"/>
            <a:ext cx="475488" cy="173736"/>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Record</a:t>
            </a:r>
          </a:p>
        </p:txBody>
      </p:sp>
      <p:sp>
        <p:nvSpPr>
          <p:cNvPr id="37" name="TextBox 36"/>
          <p:cNvSpPr txBox="1"/>
          <p:nvPr/>
        </p:nvSpPr>
        <p:spPr>
          <a:xfrm>
            <a:off x="9646919" y="2368296"/>
            <a:ext cx="1499616" cy="283464"/>
          </a:xfrm>
          <a:prstGeom prst="rect">
            <a:avLst/>
          </a:prstGeom>
          <a:noFill/>
        </p:spPr>
        <p:txBody>
          <a:bodyPr wrap="square" lIns="0" rIns="0" tIns="0" bIns="0" anchor="ctr">
            <a:spAutoFit/>
          </a:bodyPr>
          <a:lstStyle/>
          <a:p>
            <a:pPr algn="r">
              <a:spcAft>
                <a:spcPts val="0"/>
              </a:spcAft>
            </a:pPr>
            <a:r>
              <a:rPr sz="980" b="1" i="0">
                <a:solidFill>
                  <a:srgbClr val="263746"/>
                </a:solidFill>
                <a:latin typeface="Arial"/>
              </a:rPr>
              <a:t>Category, rationale, and source IDs</a:t>
            </a:r>
          </a:p>
        </p:txBody>
      </p:sp>
      <p:sp>
        <p:nvSpPr>
          <p:cNvPr id="38" name="Rounded Rectangle 37"/>
          <p:cNvSpPr/>
          <p:nvPr/>
        </p:nvSpPr>
        <p:spPr>
          <a:xfrm>
            <a:off x="411480" y="2916936"/>
            <a:ext cx="3785615" cy="2980944"/>
          </a:xfrm>
          <a:prstGeom prst="roundRect">
            <a:avLst/>
          </a:prstGeom>
          <a:solidFill>
            <a:srgbClr val="E9F1F7"/>
          </a:solidFill>
          <a:ln w="10160">
            <a:solidFill>
              <a:srgbClr val="C9D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3136392"/>
            <a:ext cx="3273552" cy="310896"/>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Selection status</a:t>
            </a:r>
          </a:p>
        </p:txBody>
      </p:sp>
      <p:sp>
        <p:nvSpPr>
          <p:cNvPr id="40" name="Oval 39"/>
          <p:cNvSpPr/>
          <p:nvPr/>
        </p:nvSpPr>
        <p:spPr>
          <a:xfrm>
            <a:off x="685800" y="3730752"/>
            <a:ext cx="457200" cy="45720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803904"/>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26</a:t>
            </a:r>
          </a:p>
        </p:txBody>
      </p:sp>
      <p:sp>
        <p:nvSpPr>
          <p:cNvPr id="42" name="TextBox 41"/>
          <p:cNvSpPr txBox="1"/>
          <p:nvPr/>
        </p:nvSpPr>
        <p:spPr>
          <a:xfrm>
            <a:off x="1325880" y="3712464"/>
            <a:ext cx="2423160" cy="274320"/>
          </a:xfrm>
          <a:prstGeom prst="rect">
            <a:avLst/>
          </a:prstGeom>
          <a:noFill/>
        </p:spPr>
        <p:txBody>
          <a:bodyPr wrap="square" lIns="18288" rIns="18288" tIns="18288" bIns="18288" anchor="t">
            <a:spAutoFit/>
          </a:bodyPr>
          <a:lstStyle/>
          <a:p>
            <a:pPr algn="l">
              <a:spcAft>
                <a:spcPts val="0"/>
              </a:spcAft>
            </a:pPr>
            <a:r>
              <a:rPr sz="1500" b="1" i="0">
                <a:solidFill>
                  <a:srgbClr val="D96552"/>
                </a:solidFill>
                <a:latin typeface="Arial"/>
              </a:rPr>
              <a:t>Promoted</a:t>
            </a:r>
          </a:p>
        </p:txBody>
      </p:sp>
      <p:sp>
        <p:nvSpPr>
          <p:cNvPr id="43" name="TextBox 42"/>
          <p:cNvSpPr txBox="1"/>
          <p:nvPr/>
        </p:nvSpPr>
        <p:spPr>
          <a:xfrm>
            <a:off x="1325880" y="4014215"/>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only with synthetic guidance</a:t>
            </a:r>
          </a:p>
        </p:txBody>
      </p:sp>
      <p:sp>
        <p:nvSpPr>
          <p:cNvPr id="44" name="Oval 43"/>
          <p:cNvSpPr/>
          <p:nvPr/>
        </p:nvSpPr>
        <p:spPr>
          <a:xfrm>
            <a:off x="685800" y="4581144"/>
            <a:ext cx="457200" cy="45720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4654296"/>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23</a:t>
            </a:r>
          </a:p>
        </p:txBody>
      </p:sp>
      <p:sp>
        <p:nvSpPr>
          <p:cNvPr id="46" name="TextBox 45"/>
          <p:cNvSpPr txBox="1"/>
          <p:nvPr/>
        </p:nvSpPr>
        <p:spPr>
          <a:xfrm>
            <a:off x="1325880" y="4562856"/>
            <a:ext cx="2423160" cy="274320"/>
          </a:xfrm>
          <a:prstGeom prst="rect">
            <a:avLst/>
          </a:prstGeom>
          <a:noFill/>
        </p:spPr>
        <p:txBody>
          <a:bodyPr wrap="square" lIns="18288" rIns="18288" tIns="18288" bIns="18288" anchor="t">
            <a:spAutoFit/>
          </a:bodyPr>
          <a:lstStyle/>
          <a:p>
            <a:pPr algn="l">
              <a:spcAft>
                <a:spcPts val="0"/>
              </a:spcAft>
            </a:pPr>
            <a:r>
              <a:rPr sz="1500" b="1" i="0">
                <a:solidFill>
                  <a:srgbClr val="178681"/>
                </a:solidFill>
                <a:latin typeface="Arial"/>
              </a:rPr>
              <a:t>Reinforced</a:t>
            </a:r>
          </a:p>
        </p:txBody>
      </p:sp>
      <p:sp>
        <p:nvSpPr>
          <p:cNvPr id="47" name="TextBox 46"/>
          <p:cNvSpPr txBox="1"/>
          <p:nvPr/>
        </p:nvSpPr>
        <p:spPr>
          <a:xfrm>
            <a:off x="1325880" y="4864607"/>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with and without guidance</a:t>
            </a:r>
          </a:p>
        </p:txBody>
      </p:sp>
      <p:sp>
        <p:nvSpPr>
          <p:cNvPr id="48" name="Rounded Rectangle 47"/>
          <p:cNvSpPr/>
          <p:nvPr/>
        </p:nvSpPr>
        <p:spPr>
          <a:xfrm>
            <a:off x="4389120" y="2916936"/>
            <a:ext cx="7379208"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645152" y="3136392"/>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50" name="Oval 49"/>
          <p:cNvSpPr/>
          <p:nvPr/>
        </p:nvSpPr>
        <p:spPr>
          <a:xfrm>
            <a:off x="4654296"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54296"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22</a:t>
            </a:r>
          </a:p>
        </p:txBody>
      </p:sp>
      <p:sp>
        <p:nvSpPr>
          <p:cNvPr id="52" name="TextBox 51"/>
          <p:cNvSpPr txBox="1"/>
          <p:nvPr/>
        </p:nvSpPr>
        <p:spPr>
          <a:xfrm>
            <a:off x="5138928" y="3575304"/>
            <a:ext cx="1591056"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53" name="TextBox 52"/>
          <p:cNvSpPr txBox="1"/>
          <p:nvPr/>
        </p:nvSpPr>
        <p:spPr>
          <a:xfrm>
            <a:off x="6784848" y="3575304"/>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Direct or same-tissue process agreement</a:t>
            </a:r>
          </a:p>
        </p:txBody>
      </p:sp>
      <p:sp>
        <p:nvSpPr>
          <p:cNvPr id="54" name="Oval 53"/>
          <p:cNvSpPr/>
          <p:nvPr/>
        </p:nvSpPr>
        <p:spPr>
          <a:xfrm>
            <a:off x="4654296"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54296"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19</a:t>
            </a:r>
          </a:p>
        </p:txBody>
      </p:sp>
      <p:sp>
        <p:nvSpPr>
          <p:cNvPr id="56" name="TextBox 55"/>
          <p:cNvSpPr txBox="1"/>
          <p:nvPr/>
        </p:nvSpPr>
        <p:spPr>
          <a:xfrm>
            <a:off x="5138928" y="4096512"/>
            <a:ext cx="1591056"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57" name="TextBox 56"/>
          <p:cNvSpPr txBox="1"/>
          <p:nvPr/>
        </p:nvSpPr>
        <p:spPr>
          <a:xfrm>
            <a:off x="6784848" y="4096512"/>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Related process or mechanism</a:t>
            </a:r>
          </a:p>
        </p:txBody>
      </p:sp>
      <p:sp>
        <p:nvSpPr>
          <p:cNvPr id="58" name="Oval 57"/>
          <p:cNvSpPr/>
          <p:nvPr/>
        </p:nvSpPr>
        <p:spPr>
          <a:xfrm>
            <a:off x="4654296"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54296"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60" name="TextBox 59"/>
          <p:cNvSpPr txBox="1"/>
          <p:nvPr/>
        </p:nvSpPr>
        <p:spPr>
          <a:xfrm>
            <a:off x="5138928" y="4617720"/>
            <a:ext cx="1591056"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61" name="TextBox 60"/>
          <p:cNvSpPr txBox="1"/>
          <p:nvPr/>
        </p:nvSpPr>
        <p:spPr>
          <a:xfrm>
            <a:off x="6784848" y="4617720"/>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Mixed or context-dependent evidence</a:t>
            </a:r>
          </a:p>
        </p:txBody>
      </p:sp>
      <p:sp>
        <p:nvSpPr>
          <p:cNvPr id="62" name="Oval 61"/>
          <p:cNvSpPr/>
          <p:nvPr/>
        </p:nvSpPr>
        <p:spPr>
          <a:xfrm>
            <a:off x="4654296"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54296"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64" name="TextBox 63"/>
          <p:cNvSpPr txBox="1"/>
          <p:nvPr/>
        </p:nvSpPr>
        <p:spPr>
          <a:xfrm>
            <a:off x="5138928" y="5138928"/>
            <a:ext cx="1591056"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Unmatched</a:t>
            </a:r>
          </a:p>
        </p:txBody>
      </p:sp>
      <p:sp>
        <p:nvSpPr>
          <p:cNvPr id="65" name="TextBox 64"/>
          <p:cNvSpPr txBox="1"/>
          <p:nvPr/>
        </p:nvSpPr>
        <p:spPr>
          <a:xfrm>
            <a:off x="6784848" y="5138928"/>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No sufficiently specific match found</a:t>
            </a:r>
          </a:p>
        </p:txBody>
      </p:sp>
      <p:sp>
        <p:nvSpPr>
          <p:cNvPr id="66" name="Rounded Rectangle 65"/>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A reinforced gene can be complementary, ambiguous, or unmatched; an aligning gene can be promoted.</a:t>
            </a:r>
          </a:p>
        </p:txBody>
      </p:sp>
      <p:sp>
        <p:nvSpPr>
          <p:cNvPr id="68" name="TextBox 6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 27 completed tissue analyses were retained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narrative narrows only after reporting synthetic-informed, real-only, and null outcomes.</a:t>
            </a:r>
          </a:p>
        </p:txBody>
      </p:sp>
      <p:sp>
        <p:nvSpPr>
          <p:cNvPr id="7" name="Rounded Rectangle 6"/>
          <p:cNvSpPr/>
          <p:nvPr/>
        </p:nvSpPr>
        <p:spPr>
          <a:xfrm>
            <a:off x="393192" y="1847088"/>
            <a:ext cx="3502152" cy="429768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057400"/>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139696"/>
            <a:ext cx="475488" cy="228600"/>
          </a:xfrm>
          <a:prstGeom prst="rect">
            <a:avLst/>
          </a:prstGeom>
          <a:noFill/>
        </p:spPr>
        <p:txBody>
          <a:bodyPr wrap="square" lIns="0" rIns="0" tIns="0" bIns="0" anchor="t">
            <a:spAutoFit/>
          </a:bodyPr>
          <a:lstStyle/>
          <a:p>
            <a:pPr algn="ctr">
              <a:spcAft>
                <a:spcPts val="0"/>
              </a:spcAft>
            </a:pPr>
            <a:r>
              <a:rPr sz="1450" b="1" i="0">
                <a:solidFill>
                  <a:srgbClr val="FFFFFF"/>
                </a:solidFill>
                <a:latin typeface="Arial"/>
              </a:rPr>
              <a:t>10</a:t>
            </a:r>
          </a:p>
        </p:txBody>
      </p:sp>
      <p:sp>
        <p:nvSpPr>
          <p:cNvPr id="10" name="TextBox 9"/>
          <p:cNvSpPr txBox="1"/>
          <p:nvPr/>
        </p:nvSpPr>
        <p:spPr>
          <a:xfrm>
            <a:off x="1234440" y="2075688"/>
            <a:ext cx="2359152" cy="347472"/>
          </a:xfrm>
          <a:prstGeom prst="rect">
            <a:avLst/>
          </a:prstGeom>
          <a:noFill/>
        </p:spPr>
        <p:txBody>
          <a:bodyPr wrap="square" lIns="18288" rIns="18288" tIns="18288" bIns="18288" anchor="ctr">
            <a:spAutoFit/>
          </a:bodyPr>
          <a:lstStyle/>
          <a:p>
            <a:pPr algn="l">
              <a:spcAft>
                <a:spcPts val="0"/>
              </a:spcAft>
            </a:pPr>
            <a:r>
              <a:rPr sz="1630" b="1" i="0">
                <a:solidFill>
                  <a:srgbClr val="178681"/>
                </a:solidFill>
                <a:latin typeface="Arial"/>
              </a:rPr>
              <a:t>Synthetic-informed</a:t>
            </a:r>
          </a:p>
        </p:txBody>
      </p:sp>
      <p:sp>
        <p:nvSpPr>
          <p:cNvPr id="11" name="Rectangle 10"/>
          <p:cNvSpPr/>
          <p:nvPr/>
        </p:nvSpPr>
        <p:spPr>
          <a:xfrm>
            <a:off x="649224" y="258775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743200"/>
            <a:ext cx="694944" cy="164592"/>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Criterion</a:t>
            </a:r>
          </a:p>
        </p:txBody>
      </p:sp>
      <p:sp>
        <p:nvSpPr>
          <p:cNvPr id="13" name="TextBox 12"/>
          <p:cNvSpPr txBox="1"/>
          <p:nvPr/>
        </p:nvSpPr>
        <p:spPr>
          <a:xfrm>
            <a:off x="1380744" y="2688336"/>
            <a:ext cx="2212848" cy="356616"/>
          </a:xfrm>
          <a:prstGeom prst="rect">
            <a:avLst/>
          </a:prstGeom>
          <a:noFill/>
        </p:spPr>
        <p:txBody>
          <a:bodyPr wrap="square" lIns="0" rIns="0" tIns="0" bIns="0" anchor="ctr">
            <a:spAutoFit/>
          </a:bodyPr>
          <a:lstStyle/>
          <a:p>
            <a:pPr algn="r">
              <a:spcAft>
                <a:spcPts val="0"/>
              </a:spcAft>
            </a:pPr>
            <a:r>
              <a:rPr sz="1019" b="1" i="0">
                <a:solidFill>
                  <a:srgbClr val="263746"/>
                </a:solidFill>
                <a:latin typeface="Arial"/>
              </a:rPr>
              <a:t>Promoted or reinforced BH-FDR gene</a:t>
            </a:r>
          </a:p>
        </p:txBody>
      </p:sp>
      <p:sp>
        <p:nvSpPr>
          <p:cNvPr id="14" name="Rectangle 13"/>
          <p:cNvSpPr/>
          <p:nvPr/>
        </p:nvSpPr>
        <p:spPr>
          <a:xfrm>
            <a:off x="649224" y="318211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6" name="Oval 15"/>
          <p:cNvSpPr/>
          <p:nvPr/>
        </p:nvSpPr>
        <p:spPr>
          <a:xfrm>
            <a:off x="676656" y="3722522"/>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3" y="3639312"/>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8" name="Oval 17"/>
          <p:cNvSpPr/>
          <p:nvPr/>
        </p:nvSpPr>
        <p:spPr>
          <a:xfrm>
            <a:off x="676656" y="3943807"/>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3" y="3860596"/>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20" name="Oval 19"/>
          <p:cNvSpPr/>
          <p:nvPr/>
        </p:nvSpPr>
        <p:spPr>
          <a:xfrm>
            <a:off x="676656" y="4165092"/>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3" y="4081881"/>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22" name="Oval 21"/>
          <p:cNvSpPr/>
          <p:nvPr/>
        </p:nvSpPr>
        <p:spPr>
          <a:xfrm>
            <a:off x="676656" y="4386376"/>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3" y="4303166"/>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4" name="Oval 23"/>
          <p:cNvSpPr/>
          <p:nvPr/>
        </p:nvSpPr>
        <p:spPr>
          <a:xfrm>
            <a:off x="676656" y="4607661"/>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3" y="4524451"/>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6" name="Oval 25"/>
          <p:cNvSpPr/>
          <p:nvPr/>
        </p:nvSpPr>
        <p:spPr>
          <a:xfrm>
            <a:off x="676656" y="4828946"/>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3" y="4745736"/>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8" name="Oval 27"/>
          <p:cNvSpPr/>
          <p:nvPr/>
        </p:nvSpPr>
        <p:spPr>
          <a:xfrm>
            <a:off x="676656" y="5050231"/>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3" y="4967020"/>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30" name="Oval 29"/>
          <p:cNvSpPr/>
          <p:nvPr/>
        </p:nvSpPr>
        <p:spPr>
          <a:xfrm>
            <a:off x="676656" y="5271516"/>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3" y="5188305"/>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32" name="Oval 31"/>
          <p:cNvSpPr/>
          <p:nvPr/>
        </p:nvSpPr>
        <p:spPr>
          <a:xfrm>
            <a:off x="676656" y="5492800"/>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3" y="5409590"/>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4" name="Oval 33"/>
          <p:cNvSpPr/>
          <p:nvPr/>
        </p:nvSpPr>
        <p:spPr>
          <a:xfrm>
            <a:off x="676656" y="5714085"/>
            <a:ext cx="54864" cy="5486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3" y="5630875"/>
            <a:ext cx="2761488"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6" name="Rounded Rectangle 35"/>
          <p:cNvSpPr/>
          <p:nvPr/>
        </p:nvSpPr>
        <p:spPr>
          <a:xfrm>
            <a:off x="4105656" y="1847088"/>
            <a:ext cx="3502152" cy="429768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334256" y="2057400"/>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34256" y="2139696"/>
            <a:ext cx="475488" cy="228600"/>
          </a:xfrm>
          <a:prstGeom prst="rect">
            <a:avLst/>
          </a:prstGeom>
          <a:noFill/>
        </p:spPr>
        <p:txBody>
          <a:bodyPr wrap="square" lIns="0" rIns="0" tIns="0" bIns="0" anchor="t">
            <a:spAutoFit/>
          </a:bodyPr>
          <a:lstStyle/>
          <a:p>
            <a:pPr algn="ctr">
              <a:spcAft>
                <a:spcPts val="0"/>
              </a:spcAft>
            </a:pPr>
            <a:r>
              <a:rPr sz="1450" b="1" i="0">
                <a:solidFill>
                  <a:srgbClr val="FFFFFF"/>
                </a:solidFill>
                <a:latin typeface="Arial"/>
              </a:rPr>
              <a:t>5</a:t>
            </a:r>
          </a:p>
        </p:txBody>
      </p:sp>
      <p:sp>
        <p:nvSpPr>
          <p:cNvPr id="39" name="TextBox 38"/>
          <p:cNvSpPr txBox="1"/>
          <p:nvPr/>
        </p:nvSpPr>
        <p:spPr>
          <a:xfrm>
            <a:off x="4946904" y="2075688"/>
            <a:ext cx="2359152" cy="347472"/>
          </a:xfrm>
          <a:prstGeom prst="rect">
            <a:avLst/>
          </a:prstGeom>
          <a:noFill/>
        </p:spPr>
        <p:txBody>
          <a:bodyPr wrap="square" lIns="18288" rIns="18288" tIns="18288" bIns="18288" anchor="ctr">
            <a:spAutoFit/>
          </a:bodyPr>
          <a:lstStyle/>
          <a:p>
            <a:pPr algn="l">
              <a:spcAft>
                <a:spcPts val="0"/>
              </a:spcAft>
            </a:pPr>
            <a:r>
              <a:rPr sz="1630" b="1" i="0">
                <a:solidFill>
                  <a:srgbClr val="2D6496"/>
                </a:solidFill>
                <a:latin typeface="Arial"/>
              </a:rPr>
              <a:t>Real BH-FDR only</a:t>
            </a:r>
          </a:p>
        </p:txBody>
      </p:sp>
      <p:sp>
        <p:nvSpPr>
          <p:cNvPr id="40" name="Rectangle 39"/>
          <p:cNvSpPr/>
          <p:nvPr/>
        </p:nvSpPr>
        <p:spPr>
          <a:xfrm>
            <a:off x="4361688" y="258775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6" y="2743200"/>
            <a:ext cx="694944" cy="164592"/>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Criterion</a:t>
            </a:r>
          </a:p>
        </p:txBody>
      </p:sp>
      <p:sp>
        <p:nvSpPr>
          <p:cNvPr id="42" name="TextBox 41"/>
          <p:cNvSpPr txBox="1"/>
          <p:nvPr/>
        </p:nvSpPr>
        <p:spPr>
          <a:xfrm>
            <a:off x="5093208" y="2688336"/>
            <a:ext cx="2212848" cy="356616"/>
          </a:xfrm>
          <a:prstGeom prst="rect">
            <a:avLst/>
          </a:prstGeom>
          <a:noFill/>
        </p:spPr>
        <p:txBody>
          <a:bodyPr wrap="square" lIns="0" rIns="0" tIns="0" bIns="0" anchor="ctr">
            <a:spAutoFit/>
          </a:bodyPr>
          <a:lstStyle/>
          <a:p>
            <a:pPr algn="r">
              <a:spcAft>
                <a:spcPts val="0"/>
              </a:spcAft>
            </a:pPr>
            <a:r>
              <a:rPr sz="1019" b="1" i="0">
                <a:solidFill>
                  <a:srgbClr val="263746"/>
                </a:solidFill>
                <a:latin typeface="Arial"/>
              </a:rPr>
              <a:t>Real association, no synthetic-informed selection</a:t>
            </a:r>
          </a:p>
        </p:txBody>
      </p:sp>
      <p:sp>
        <p:nvSpPr>
          <p:cNvPr id="43" name="Rectangle 42"/>
          <p:cNvSpPr/>
          <p:nvPr/>
        </p:nvSpPr>
        <p:spPr>
          <a:xfrm>
            <a:off x="4361688" y="318211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379976"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5" name="Oval 44"/>
          <p:cNvSpPr/>
          <p:nvPr/>
        </p:nvSpPr>
        <p:spPr>
          <a:xfrm>
            <a:off x="4389120" y="3776472"/>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44568" y="3639312"/>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7" name="Oval 46"/>
          <p:cNvSpPr/>
          <p:nvPr/>
        </p:nvSpPr>
        <p:spPr>
          <a:xfrm>
            <a:off x="4389120" y="4105656"/>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44568" y="3968496"/>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9" name="Oval 48"/>
          <p:cNvSpPr/>
          <p:nvPr/>
        </p:nvSpPr>
        <p:spPr>
          <a:xfrm>
            <a:off x="4389120" y="4434840"/>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44568" y="4297680"/>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51" name="Oval 50"/>
          <p:cNvSpPr/>
          <p:nvPr/>
        </p:nvSpPr>
        <p:spPr>
          <a:xfrm>
            <a:off x="4389120" y="4764024"/>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44568" y="4626864"/>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53" name="Oval 52"/>
          <p:cNvSpPr/>
          <p:nvPr/>
        </p:nvSpPr>
        <p:spPr>
          <a:xfrm>
            <a:off x="4389120" y="5093208"/>
            <a:ext cx="54864" cy="54864"/>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4568" y="4956048"/>
            <a:ext cx="2761488"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5" name="Rounded Rectangle 54"/>
          <p:cNvSpPr/>
          <p:nvPr/>
        </p:nvSpPr>
        <p:spPr>
          <a:xfrm>
            <a:off x="7818120" y="1847088"/>
            <a:ext cx="3502152" cy="429768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046720" y="2057400"/>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46720" y="2139696"/>
            <a:ext cx="475488" cy="228600"/>
          </a:xfrm>
          <a:prstGeom prst="rect">
            <a:avLst/>
          </a:prstGeom>
          <a:noFill/>
        </p:spPr>
        <p:txBody>
          <a:bodyPr wrap="square" lIns="0" rIns="0" tIns="0" bIns="0" anchor="t">
            <a:spAutoFit/>
          </a:bodyPr>
          <a:lstStyle/>
          <a:p>
            <a:pPr algn="ctr">
              <a:spcAft>
                <a:spcPts val="0"/>
              </a:spcAft>
            </a:pPr>
            <a:r>
              <a:rPr sz="1450" b="1" i="0">
                <a:solidFill>
                  <a:srgbClr val="FFFFFF"/>
                </a:solidFill>
                <a:latin typeface="Arial"/>
              </a:rPr>
              <a:t>12</a:t>
            </a:r>
          </a:p>
        </p:txBody>
      </p:sp>
      <p:sp>
        <p:nvSpPr>
          <p:cNvPr id="58" name="TextBox 57"/>
          <p:cNvSpPr txBox="1"/>
          <p:nvPr/>
        </p:nvSpPr>
        <p:spPr>
          <a:xfrm>
            <a:off x="8659368" y="2075688"/>
            <a:ext cx="2359152" cy="347472"/>
          </a:xfrm>
          <a:prstGeom prst="rect">
            <a:avLst/>
          </a:prstGeom>
          <a:noFill/>
        </p:spPr>
        <p:txBody>
          <a:bodyPr wrap="square" lIns="18288" rIns="18288" tIns="18288" bIns="18288" anchor="ctr">
            <a:spAutoFit/>
          </a:bodyPr>
          <a:lstStyle/>
          <a:p>
            <a:pPr algn="l">
              <a:spcAft>
                <a:spcPts val="0"/>
              </a:spcAft>
            </a:pPr>
            <a:r>
              <a:rPr sz="1630" b="1" i="0">
                <a:solidFill>
                  <a:srgbClr val="D37B00"/>
                </a:solidFill>
                <a:latin typeface="Arial"/>
              </a:rPr>
              <a:t>No BH-FDR gene</a:t>
            </a:r>
          </a:p>
        </p:txBody>
      </p:sp>
      <p:sp>
        <p:nvSpPr>
          <p:cNvPr id="59" name="Rectangle 58"/>
          <p:cNvSpPr/>
          <p:nvPr/>
        </p:nvSpPr>
        <p:spPr>
          <a:xfrm>
            <a:off x="8074152" y="258775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92440" y="2743200"/>
            <a:ext cx="694944" cy="164592"/>
          </a:xfrm>
          <a:prstGeom prst="rect">
            <a:avLst/>
          </a:prstGeom>
          <a:noFill/>
        </p:spPr>
        <p:txBody>
          <a:bodyPr wrap="square" lIns="0" rIns="0" tIns="0" bIns="0" anchor="t">
            <a:spAutoFit/>
          </a:bodyPr>
          <a:lstStyle/>
          <a:p>
            <a:pPr algn="l">
              <a:spcAft>
                <a:spcPts val="0"/>
              </a:spcAft>
            </a:pPr>
            <a:r>
              <a:rPr sz="869" b="1" i="0">
                <a:solidFill>
                  <a:srgbClr val="59697A"/>
                </a:solidFill>
                <a:latin typeface="Arial"/>
              </a:rPr>
              <a:t>Criterion</a:t>
            </a:r>
          </a:p>
        </p:txBody>
      </p:sp>
      <p:sp>
        <p:nvSpPr>
          <p:cNvPr id="61" name="TextBox 60"/>
          <p:cNvSpPr txBox="1"/>
          <p:nvPr/>
        </p:nvSpPr>
        <p:spPr>
          <a:xfrm>
            <a:off x="8805672" y="2688336"/>
            <a:ext cx="2212848" cy="356616"/>
          </a:xfrm>
          <a:prstGeom prst="rect">
            <a:avLst/>
          </a:prstGeom>
          <a:noFill/>
        </p:spPr>
        <p:txBody>
          <a:bodyPr wrap="square" lIns="0" rIns="0" tIns="0" bIns="0" anchor="ctr">
            <a:spAutoFit/>
          </a:bodyPr>
          <a:lstStyle/>
          <a:p>
            <a:pPr algn="r">
              <a:spcAft>
                <a:spcPts val="0"/>
              </a:spcAft>
            </a:pPr>
            <a:r>
              <a:rPr sz="1019" b="1" i="0">
                <a:solidFill>
                  <a:srgbClr val="263746"/>
                </a:solidFill>
                <a:latin typeface="Arial"/>
              </a:rPr>
              <a:t>No BH-FDR gene in the 974-gene panel</a:t>
            </a:r>
          </a:p>
        </p:txBody>
      </p:sp>
      <p:sp>
        <p:nvSpPr>
          <p:cNvPr id="62" name="Rectangle 61"/>
          <p:cNvSpPr/>
          <p:nvPr/>
        </p:nvSpPr>
        <p:spPr>
          <a:xfrm>
            <a:off x="8074152" y="3182112"/>
            <a:ext cx="2990088"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9244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64" name="Oval 63"/>
          <p:cNvSpPr/>
          <p:nvPr/>
        </p:nvSpPr>
        <p:spPr>
          <a:xfrm>
            <a:off x="8101584" y="3704082"/>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257032" y="3639312"/>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66" name="Oval 65"/>
          <p:cNvSpPr/>
          <p:nvPr/>
        </p:nvSpPr>
        <p:spPr>
          <a:xfrm>
            <a:off x="8101584" y="3888486"/>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257032" y="3823716"/>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8" name="Oval 67"/>
          <p:cNvSpPr/>
          <p:nvPr/>
        </p:nvSpPr>
        <p:spPr>
          <a:xfrm>
            <a:off x="8101584" y="4072890"/>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257032" y="4008119"/>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70" name="Oval 69"/>
          <p:cNvSpPr/>
          <p:nvPr/>
        </p:nvSpPr>
        <p:spPr>
          <a:xfrm>
            <a:off x="8101584" y="4257294"/>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257032" y="4192524"/>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72" name="Oval 71"/>
          <p:cNvSpPr/>
          <p:nvPr/>
        </p:nvSpPr>
        <p:spPr>
          <a:xfrm>
            <a:off x="8101584" y="4441698"/>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57032" y="4376928"/>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74" name="Oval 73"/>
          <p:cNvSpPr/>
          <p:nvPr/>
        </p:nvSpPr>
        <p:spPr>
          <a:xfrm>
            <a:off x="8101584" y="4626102"/>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57032" y="4561332"/>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76" name="Oval 75"/>
          <p:cNvSpPr/>
          <p:nvPr/>
        </p:nvSpPr>
        <p:spPr>
          <a:xfrm>
            <a:off x="8101584" y="4810506"/>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57032" y="4745736"/>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8" name="Oval 77"/>
          <p:cNvSpPr/>
          <p:nvPr/>
        </p:nvSpPr>
        <p:spPr>
          <a:xfrm>
            <a:off x="8101584" y="4994910"/>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57032" y="4930140"/>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80" name="Oval 79"/>
          <p:cNvSpPr/>
          <p:nvPr/>
        </p:nvSpPr>
        <p:spPr>
          <a:xfrm>
            <a:off x="8101584" y="5179314"/>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57032" y="5114544"/>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82" name="Oval 81"/>
          <p:cNvSpPr/>
          <p:nvPr/>
        </p:nvSpPr>
        <p:spPr>
          <a:xfrm>
            <a:off x="8101584" y="5363718"/>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57032" y="5298948"/>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84" name="Oval 83"/>
          <p:cNvSpPr/>
          <p:nvPr/>
        </p:nvSpPr>
        <p:spPr>
          <a:xfrm>
            <a:off x="8101584" y="5548122"/>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257032" y="5483351"/>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86" name="Oval 85"/>
          <p:cNvSpPr/>
          <p:nvPr/>
        </p:nvSpPr>
        <p:spPr>
          <a:xfrm>
            <a:off x="8101584" y="5732526"/>
            <a:ext cx="54864" cy="5486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257032" y="5667756"/>
            <a:ext cx="2761488"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8" name="TextBox 8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Each additional tissue defines a separate hypothesis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and prioritized candidates from additional tissues.</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