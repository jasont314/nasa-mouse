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For each tissue, ARCHS4 supplies a non-spaceflight reference and Reactome supplies the gene-program mask. expiMap learns the reference, then maps OSDR flight and ground samples as an accession-conditioned query. The analysis used about two thousand highly variable genes and several hundred Reactome programs per tissue. The implementation is under src/expiMap_scarches/nasa_mouse_expimap.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occupy the same broad tissue branches. FLT and GC remain much closer because the condition effect is smaller than the tissue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five arms vary which profiles rank genes and which profiles fit the classifier. The guided arms use real and generated rankings together. One then fits on real profiles only; the other gives generated profiles five percent of the training weight. Association tests still use observed OSDR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the selected top set. The classifier is then trained using only the selected expression columns.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Opaque points are training profiles and transparent points are held-out real profiles. The panels use the same held-out samples. A useful synthetic-guided feature set changes the fitted boundary so that more held-out labels fall on the correct side.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One classifier across all tissues did not improve with generated profiles. Tissue-specific classifiers gave a different result because the useful synthetic arm varied by tissue.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Twenty-three associations were selected with and without guidance, so we call them reinforced. Twenty-six crossed the repeated selection threshold only with guidance, so we call them promoted. All 49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The full screen includes 22 canonical tissues and five anatomical muscle groups. Ten analyses had a synthetic-informed BH-FDR association, five had real-data BH-FDR genes without synthetic support, and 12 had no BH-FDR gene in the landmark panel.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synthetic-informed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Thymus produced the clearest promoted panel. Lower mitotic and DNA-replication genes fit prior reports of thymic involution. Hsd17b11 and Etv1 add lipid-handling and T-cell-state hypotheses. Bulk RNA-seq cannot separate transcriptional regulation from cell-composition change.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Soleus improved with real plus generated training. Lower Bdh1, Ech1, Bnip3, and Decr1 with higher Tpm1 support altered oxidative metabolism and contractile remodeling. The real association remains, but its synthetic reinforcement was sensitive to material conditioning.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Pooled muscle, kidney, spleen, and skin each produced a separate result. Promoted and reinforced genes are kept on separate rows so the selection claim stays clear.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Eye, adrenal gland, gastrocnemius, and tibialis anterior add smaller tissue-specific candidates. These are follow-up hypotheses rather than one shared systemic signature.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Conditional DDIM produced realistic profiles. Tissue-specific ranking and light synthetic training improved held-out prediction in selected tissues. The final biological associations and FDR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4" name="Oval 73"/>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78" name="Oval 77"/>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7" name="Right Arrow 86"/>
          <p:cNvSpPr/>
          <p:nvPr/>
        </p:nvSpPr>
        <p:spPr>
          <a:xfrm>
            <a:off x="6291072"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47104" y="3401568"/>
            <a:ext cx="493776"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89" name="TextBox 88"/>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90" name="Rectangle 8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09" name="Rectangle 108"/>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1" name="TextBox 110"/>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112" name="TextBox 11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Reactome pathways make the latent space interpretable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Tissue-matched ARCHS4 references define the background; OSDR FLT and GC samples are mapped as queries.</a:t>
            </a:r>
          </a:p>
        </p:txBody>
      </p:sp>
      <p:pic>
        <p:nvPicPr>
          <p:cNvPr id="7" name="expiMap ARCHS4 reference training, Reactome mask, and OSDR query workflow" descr="expiMap ARCHS4 reference training, Reactome mask, and OSDR query workflow"/>
          <p:cNvPicPr>
            <a:picLocks noChangeAspect="1"/>
          </p:cNvPicPr>
          <p:nvPr/>
        </p:nvPicPr>
        <p:blipFill>
          <a:blip r:embed="rId2"/>
          <a:stretch>
            <a:fillRect/>
          </a:stretch>
        </p:blipFill>
        <p:spPr>
          <a:xfrm>
            <a:off x="704972" y="1755648"/>
            <a:ext cx="6965958" cy="4498848"/>
          </a:xfrm>
          <a:prstGeom prst="rect">
            <a:avLst/>
          </a:prstGeom>
        </p:spPr>
      </p:pic>
      <p:sp>
        <p:nvSpPr>
          <p:cNvPr id="8" name="Rectangle 7"/>
          <p:cNvSpPr/>
          <p:nvPr/>
        </p:nvSpPr>
        <p:spPr>
          <a:xfrm>
            <a:off x="8229600" y="1847088"/>
            <a:ext cx="13716" cy="420624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920240"/>
            <a:ext cx="122529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MODEL SCOPE</a:t>
            </a:r>
          </a:p>
        </p:txBody>
      </p:sp>
      <p:sp>
        <p:nvSpPr>
          <p:cNvPr id="10" name="TextBox 9"/>
          <p:cNvSpPr txBox="1"/>
          <p:nvPr/>
        </p:nvSpPr>
        <p:spPr>
          <a:xfrm>
            <a:off x="8540496" y="2331720"/>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17,708</a:t>
            </a:r>
          </a:p>
        </p:txBody>
      </p:sp>
      <p:sp>
        <p:nvSpPr>
          <p:cNvPr id="11" name="TextBox 10"/>
          <p:cNvSpPr txBox="1"/>
          <p:nvPr/>
        </p:nvSpPr>
        <p:spPr>
          <a:xfrm>
            <a:off x="9738360" y="2350008"/>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ARCHS4 reference profiles</a:t>
            </a:r>
          </a:p>
        </p:txBody>
      </p:sp>
      <p:sp>
        <p:nvSpPr>
          <p:cNvPr id="12" name="Rectangle 11"/>
          <p:cNvSpPr/>
          <p:nvPr/>
        </p:nvSpPr>
        <p:spPr>
          <a:xfrm>
            <a:off x="8540496" y="2971799"/>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0496" y="3118103"/>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700</a:t>
            </a:r>
          </a:p>
        </p:txBody>
      </p:sp>
      <p:sp>
        <p:nvSpPr>
          <p:cNvPr id="14" name="TextBox 13"/>
          <p:cNvSpPr txBox="1"/>
          <p:nvPr/>
        </p:nvSpPr>
        <p:spPr>
          <a:xfrm>
            <a:off x="9738360" y="3136391"/>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OSDR profiles in the primary effects</a:t>
            </a:r>
          </a:p>
        </p:txBody>
      </p:sp>
      <p:sp>
        <p:nvSpPr>
          <p:cNvPr id="15" name="Rectangle 14"/>
          <p:cNvSpPr/>
          <p:nvPr/>
        </p:nvSpPr>
        <p:spPr>
          <a:xfrm>
            <a:off x="8540496" y="3758183"/>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0496" y="3904487"/>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~2,000</a:t>
            </a:r>
          </a:p>
        </p:txBody>
      </p:sp>
      <p:sp>
        <p:nvSpPr>
          <p:cNvPr id="17" name="TextBox 16"/>
          <p:cNvSpPr txBox="1"/>
          <p:nvPr/>
        </p:nvSpPr>
        <p:spPr>
          <a:xfrm>
            <a:off x="9738360" y="3922775"/>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highly variable genes per tissue</a:t>
            </a:r>
          </a:p>
        </p:txBody>
      </p:sp>
      <p:sp>
        <p:nvSpPr>
          <p:cNvPr id="18" name="Rectangle 17"/>
          <p:cNvSpPr/>
          <p:nvPr/>
        </p:nvSpPr>
        <p:spPr>
          <a:xfrm>
            <a:off x="8540496" y="4544568"/>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4690872"/>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319-387</a:t>
            </a:r>
          </a:p>
        </p:txBody>
      </p:sp>
      <p:sp>
        <p:nvSpPr>
          <p:cNvPr id="20" name="TextBox 19"/>
          <p:cNvSpPr txBox="1"/>
          <p:nvPr/>
        </p:nvSpPr>
        <p:spPr>
          <a:xfrm>
            <a:off x="9738360" y="4709159"/>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Reactome programs per primary model</a:t>
            </a:r>
          </a:p>
        </p:txBody>
      </p:sp>
      <p:sp>
        <p:nvSpPr>
          <p:cNvPr id="21" name="TextBox 20"/>
          <p:cNvSpPr txBox="1"/>
          <p:nvPr/>
        </p:nvSpPr>
        <p:spPr>
          <a:xfrm>
            <a:off x="8540496" y="5541264"/>
            <a:ext cx="2743200" cy="457200"/>
          </a:xfrm>
          <a:prstGeom prst="rect">
            <a:avLst/>
          </a:prstGeom>
          <a:noFill/>
        </p:spPr>
        <p:txBody>
          <a:bodyPr wrap="square" lIns="0" rIns="0" tIns="0" bIns="0" anchor="t">
            <a:spAutoFit/>
          </a:bodyPr>
          <a:lstStyle/>
          <a:p>
            <a:pPr algn="l">
              <a:spcAft>
                <a:spcPts val="0"/>
              </a:spcAft>
            </a:pPr>
            <a:r>
              <a:rPr sz="1130" b="0" i="0">
                <a:solidFill>
                  <a:srgbClr val="59697A"/>
                </a:solidFill>
                <a:latin typeface="Arial"/>
              </a:rPr>
              <a:t>Reference training and query mapping were run separately for each tissue.</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 1 and Tables 1/S25. Implementation: src/expiMap_scarches/nasa_mouse_expimap/.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can shift the FLT/GC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Opaque points train the classifier; transparent points are the same held-out real profiles in both panels.</a:t>
            </a:r>
          </a:p>
        </p:txBody>
      </p:sp>
      <p:sp>
        <p:nvSpPr>
          <p:cNvPr id="7" name="Oval 6"/>
          <p:cNvSpPr/>
          <p:nvPr/>
        </p:nvSpPr>
        <p:spPr>
          <a:xfrm>
            <a:off x="8037575" y="179222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11312" y="1755648"/>
            <a:ext cx="329184"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FLT</a:t>
            </a:r>
          </a:p>
        </p:txBody>
      </p:sp>
      <p:sp>
        <p:nvSpPr>
          <p:cNvPr id="9" name="Oval 8"/>
          <p:cNvSpPr/>
          <p:nvPr/>
        </p:nvSpPr>
        <p:spPr>
          <a:xfrm>
            <a:off x="8686800" y="179222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0536" y="1755648"/>
            <a:ext cx="310896"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GC</a:t>
            </a:r>
          </a:p>
        </p:txBody>
      </p:sp>
      <p:sp>
        <p:nvSpPr>
          <p:cNvPr id="11" name="Oval 10"/>
          <p:cNvSpPr/>
          <p:nvPr/>
        </p:nvSpPr>
        <p:spPr>
          <a:xfrm>
            <a:off x="9418320" y="1792224"/>
            <a:ext cx="118872" cy="118872"/>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92056" y="1755648"/>
            <a:ext cx="56692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training</a:t>
            </a:r>
          </a:p>
        </p:txBody>
      </p:sp>
      <p:sp>
        <p:nvSpPr>
          <p:cNvPr id="13" name="Oval 12"/>
          <p:cNvSpPr/>
          <p:nvPr/>
        </p:nvSpPr>
        <p:spPr>
          <a:xfrm>
            <a:off x="10314432" y="1773936"/>
            <a:ext cx="146304" cy="146304"/>
          </a:xfrm>
          <a:prstGeom prst="ellipse">
            <a:avLst/>
          </a:prstGeom>
          <a:solidFill>
            <a:srgbClr val="8A969E">
              <a:alpha val="42000"/>
            </a:srgbClr>
          </a:solidFill>
          <a:ln w="12700">
            <a:solidFill>
              <a:srgbClr val="8A96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33888" y="1755648"/>
            <a:ext cx="65836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held-out</a:t>
            </a:r>
          </a:p>
        </p:txBody>
      </p:sp>
      <p:sp>
        <p:nvSpPr>
          <p:cNvPr id="15" name="TextBox 14"/>
          <p:cNvSpPr txBox="1"/>
          <p:nvPr/>
        </p:nvSpPr>
        <p:spPr>
          <a:xfrm>
            <a:off x="658368" y="2039112"/>
            <a:ext cx="4343400"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6" name="TextBox 15"/>
          <p:cNvSpPr txBox="1"/>
          <p:nvPr/>
        </p:nvSpPr>
        <p:spPr>
          <a:xfrm>
            <a:off x="7178040" y="2039112"/>
            <a:ext cx="4343400"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7" name="Rectangle 16"/>
          <p:cNvSpPr/>
          <p:nvPr/>
        </p:nvSpPr>
        <p:spPr>
          <a:xfrm>
            <a:off x="658368"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69848"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08176"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755648"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075688"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58568"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264408"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38728"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858768"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224528"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44568"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532887"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743200"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17520"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218687"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350008" y="2560320"/>
            <a:ext cx="32004" cy="2724912"/>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35" name="TextBox 34"/>
          <p:cNvSpPr txBox="1"/>
          <p:nvPr/>
        </p:nvSpPr>
        <p:spPr>
          <a:xfrm>
            <a:off x="3840480"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36" name="Rectangle 35"/>
          <p:cNvSpPr/>
          <p:nvPr/>
        </p:nvSpPr>
        <p:spPr>
          <a:xfrm>
            <a:off x="7178040"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78040"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89519"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927848"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75319"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595360"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778240"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784080"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058400"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378440"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744200"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064240"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052559"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262872"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537192"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738359"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390888" y="2560320"/>
            <a:ext cx="41148" cy="2724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87768"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54" name="TextBox 53"/>
          <p:cNvSpPr txBox="1"/>
          <p:nvPr/>
        </p:nvSpPr>
        <p:spPr>
          <a:xfrm>
            <a:off x="10360152"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55" name="Right Arrow 54"/>
          <p:cNvSpPr/>
          <p:nvPr/>
        </p:nvSpPr>
        <p:spPr>
          <a:xfrm>
            <a:off x="5367528" y="3547872"/>
            <a:ext cx="749808" cy="4023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93208" y="4069080"/>
            <a:ext cx="1298448" cy="356616"/>
          </a:xfrm>
          <a:prstGeom prst="rect">
            <a:avLst/>
          </a:prstGeom>
          <a:noFill/>
        </p:spPr>
        <p:txBody>
          <a:bodyPr wrap="square" lIns="0" rIns="0" tIns="0" bIns="0" anchor="t">
            <a:spAutoFit/>
          </a:bodyPr>
          <a:lstStyle/>
          <a:p>
            <a:pPr algn="ctr">
              <a:spcAft>
                <a:spcPts val="0"/>
              </a:spcAft>
            </a:pPr>
            <a:r>
              <a:rPr sz="960" b="1" i="0">
                <a:solidFill>
                  <a:srgbClr val="59697A"/>
                </a:solidFill>
                <a:latin typeface="Arial"/>
              </a:rPr>
              <a:t>same held-out profiles</a:t>
            </a:r>
          </a:p>
        </p:txBody>
      </p:sp>
      <p:sp>
        <p:nvSpPr>
          <p:cNvPr id="57" name="TextBox 5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of the held-out evaluation used for each tissue-specific classifier candidate.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Tissue-specific consensus ranking and light synthetic regularization improved held-out prediction in selected tissues.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Promoted and reinforced genes supported tissue-specific hypotheses. Literature review separated prior alignment from complementary findings.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