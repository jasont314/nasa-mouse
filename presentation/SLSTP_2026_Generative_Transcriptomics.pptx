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so the process-level result did not depend on that label.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matched no-material sensitivity model, soleus selected the real-only arm and the synthetic attribution disappeared. The real OSDR association remains, but the contribution attributed to generated profiles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analysis arms tested different uses of synthetic data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Held-out real profiles determined which arm, if any, was eligible within each tissue.</a:t>
            </a:r>
          </a:p>
        </p:txBody>
      </p:sp>
      <p:sp>
        <p:nvSpPr>
          <p:cNvPr id="7" name="TextBox 6"/>
          <p:cNvSpPr txBox="1"/>
          <p:nvPr/>
        </p:nvSpPr>
        <p:spPr>
          <a:xfrm>
            <a:off x="420624" y="1847088"/>
            <a:ext cx="1078992" cy="210312"/>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Inputs</a:t>
            </a:r>
          </a:p>
        </p:txBody>
      </p:sp>
      <p:sp>
        <p:nvSpPr>
          <p:cNvPr id="8" name="TextBox 7"/>
          <p:cNvSpPr txBox="1"/>
          <p:nvPr/>
        </p:nvSpPr>
        <p:spPr>
          <a:xfrm>
            <a:off x="1234440" y="1828800"/>
            <a:ext cx="1078992" cy="228600"/>
          </a:xfrm>
          <a:prstGeom prst="rect">
            <a:avLst/>
          </a:prstGeom>
          <a:noFill/>
        </p:spPr>
        <p:txBody>
          <a:bodyPr wrap="square" lIns="0" rIns="0" tIns="0" bIns="0" anchor="t">
            <a:spAutoFit/>
          </a:bodyPr>
          <a:lstStyle/>
          <a:p>
            <a:pPr algn="l">
              <a:spcAft>
                <a:spcPts val="0"/>
              </a:spcAft>
            </a:pPr>
            <a:r>
              <a:rPr sz="1150" b="1" i="0">
                <a:solidFill>
                  <a:srgbClr val="2D6496"/>
                </a:solidFill>
                <a:latin typeface="Arial"/>
              </a:rPr>
              <a:t>Real OSDR</a:t>
            </a:r>
          </a:p>
        </p:txBody>
      </p:sp>
      <p:sp>
        <p:nvSpPr>
          <p:cNvPr id="9" name="TextBox 8"/>
          <p:cNvSpPr txBox="1"/>
          <p:nvPr/>
        </p:nvSpPr>
        <p:spPr>
          <a:xfrm>
            <a:off x="2176272" y="1828800"/>
            <a:ext cx="1280160"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observed profiles</a:t>
            </a:r>
          </a:p>
        </p:txBody>
      </p:sp>
      <p:sp>
        <p:nvSpPr>
          <p:cNvPr id="10" name="TextBox 9"/>
          <p:cNvSpPr txBox="1"/>
          <p:nvPr/>
        </p:nvSpPr>
        <p:spPr>
          <a:xfrm>
            <a:off x="3749039" y="1828800"/>
            <a:ext cx="621792" cy="228600"/>
          </a:xfrm>
          <a:prstGeom prst="rect">
            <a:avLst/>
          </a:prstGeom>
          <a:noFill/>
        </p:spPr>
        <p:txBody>
          <a:bodyPr wrap="square" lIns="0" rIns="0" tIns="0" bIns="0" anchor="t">
            <a:spAutoFit/>
          </a:bodyPr>
          <a:lstStyle/>
          <a:p>
            <a:pPr algn="l">
              <a:spcAft>
                <a:spcPts val="0"/>
              </a:spcAft>
            </a:pPr>
            <a:r>
              <a:rPr sz="1150" b="1" i="0">
                <a:solidFill>
                  <a:srgbClr val="D96552"/>
                </a:solidFill>
                <a:latin typeface="Arial"/>
              </a:rPr>
              <a:t>DDIM</a:t>
            </a:r>
          </a:p>
        </p:txBody>
      </p:sp>
      <p:sp>
        <p:nvSpPr>
          <p:cNvPr id="11" name="TextBox 10"/>
          <p:cNvSpPr txBox="1"/>
          <p:nvPr/>
        </p:nvSpPr>
        <p:spPr>
          <a:xfrm>
            <a:off x="4370832" y="1828800"/>
            <a:ext cx="1874519"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matched synthetic profiles</a:t>
            </a:r>
          </a:p>
        </p:txBody>
      </p:sp>
      <p:sp>
        <p:nvSpPr>
          <p:cNvPr id="12" name="Rectangle 11"/>
          <p:cNvSpPr/>
          <p:nvPr/>
        </p:nvSpPr>
        <p:spPr>
          <a:xfrm>
            <a:off x="1481328" y="2240280"/>
            <a:ext cx="1938528"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only</a:t>
            </a:r>
          </a:p>
        </p:txBody>
      </p:sp>
      <p:sp>
        <p:nvSpPr>
          <p:cNvPr id="14" name="Rectangle 13"/>
          <p:cNvSpPr/>
          <p:nvPr/>
        </p:nvSpPr>
        <p:spPr>
          <a:xfrm>
            <a:off x="3511296" y="2240280"/>
            <a:ext cx="1938528"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Generated only</a:t>
            </a:r>
          </a:p>
        </p:txBody>
      </p:sp>
      <p:sp>
        <p:nvSpPr>
          <p:cNvPr id="16" name="Rectangle 15"/>
          <p:cNvSpPr/>
          <p:nvPr/>
        </p:nvSpPr>
        <p:spPr>
          <a:xfrm>
            <a:off x="5541264"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 generated</a:t>
            </a:r>
          </a:p>
        </p:txBody>
      </p:sp>
      <p:sp>
        <p:nvSpPr>
          <p:cNvPr id="18" name="Rectangle 17"/>
          <p:cNvSpPr/>
          <p:nvPr/>
        </p:nvSpPr>
        <p:spPr>
          <a:xfrm>
            <a:off x="7571232"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7808"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real fit</a:t>
            </a:r>
          </a:p>
        </p:txBody>
      </p:sp>
      <p:sp>
        <p:nvSpPr>
          <p:cNvPr id="20" name="Rectangle 19"/>
          <p:cNvSpPr/>
          <p:nvPr/>
        </p:nvSpPr>
        <p:spPr>
          <a:xfrm>
            <a:off x="9601200" y="2240280"/>
            <a:ext cx="1938528"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5% synthetic</a:t>
            </a:r>
          </a:p>
        </p:txBody>
      </p:sp>
      <p:sp>
        <p:nvSpPr>
          <p:cNvPr id="22" name="Rectangle 21"/>
          <p:cNvSpPr/>
          <p:nvPr/>
        </p:nvSpPr>
        <p:spPr>
          <a:xfrm>
            <a:off x="420624" y="2807208"/>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 y="2944368"/>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RANK</a:t>
            </a:r>
          </a:p>
        </p:txBody>
      </p:sp>
      <p:sp>
        <p:nvSpPr>
          <p:cNvPr id="24" name="TextBox 23"/>
          <p:cNvSpPr txBox="1"/>
          <p:nvPr/>
        </p:nvSpPr>
        <p:spPr>
          <a:xfrm>
            <a:off x="1527048"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25" name="TextBox 24"/>
          <p:cNvSpPr txBox="1"/>
          <p:nvPr/>
        </p:nvSpPr>
        <p:spPr>
          <a:xfrm>
            <a:off x="3557016"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26" name="TextBox 25"/>
          <p:cNvSpPr txBox="1"/>
          <p:nvPr/>
        </p:nvSpPr>
        <p:spPr>
          <a:xfrm>
            <a:off x="5586984"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7" name="TextBox 26"/>
          <p:cNvSpPr txBox="1"/>
          <p:nvPr/>
        </p:nvSpPr>
        <p:spPr>
          <a:xfrm>
            <a:off x="7616952"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8" name="TextBox 27"/>
          <p:cNvSpPr txBox="1"/>
          <p:nvPr/>
        </p:nvSpPr>
        <p:spPr>
          <a:xfrm>
            <a:off x="9646920"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9" name="TextBox 28"/>
          <p:cNvSpPr txBox="1"/>
          <p:nvPr/>
        </p:nvSpPr>
        <p:spPr>
          <a:xfrm>
            <a:off x="466344" y="3621023"/>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FIT</a:t>
            </a:r>
          </a:p>
        </p:txBody>
      </p:sp>
      <p:sp>
        <p:nvSpPr>
          <p:cNvPr id="30" name="TextBox 29"/>
          <p:cNvSpPr txBox="1"/>
          <p:nvPr/>
        </p:nvSpPr>
        <p:spPr>
          <a:xfrm>
            <a:off x="1527048"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1" name="TextBox 30"/>
          <p:cNvSpPr txBox="1"/>
          <p:nvPr/>
        </p:nvSpPr>
        <p:spPr>
          <a:xfrm>
            <a:off x="3557016"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32" name="TextBox 31"/>
          <p:cNvSpPr txBox="1"/>
          <p:nvPr/>
        </p:nvSpPr>
        <p:spPr>
          <a:xfrm>
            <a:off x="5586984"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Equal weight</a:t>
            </a:r>
          </a:p>
        </p:txBody>
      </p:sp>
      <p:sp>
        <p:nvSpPr>
          <p:cNvPr id="33" name="TextBox 32"/>
          <p:cNvSpPr txBox="1"/>
          <p:nvPr/>
        </p:nvSpPr>
        <p:spPr>
          <a:xfrm>
            <a:off x="7616952"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4" name="TextBox 33"/>
          <p:cNvSpPr txBox="1"/>
          <p:nvPr/>
        </p:nvSpPr>
        <p:spPr>
          <a:xfrm>
            <a:off x="9646920"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 + 5% synthetic</a:t>
            </a:r>
          </a:p>
        </p:txBody>
      </p:sp>
      <p:sp>
        <p:nvSpPr>
          <p:cNvPr id="35" name="Rectangle 34"/>
          <p:cNvSpPr/>
          <p:nvPr/>
        </p:nvSpPr>
        <p:spPr>
          <a:xfrm>
            <a:off x="420624" y="4160520"/>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 y="4297680"/>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ROLE</a:t>
            </a:r>
          </a:p>
        </p:txBody>
      </p:sp>
      <p:sp>
        <p:nvSpPr>
          <p:cNvPr id="37" name="TextBox 36"/>
          <p:cNvSpPr txBox="1"/>
          <p:nvPr/>
        </p:nvSpPr>
        <p:spPr>
          <a:xfrm>
            <a:off x="1527048"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Baseline</a:t>
            </a:r>
          </a:p>
        </p:txBody>
      </p:sp>
      <p:sp>
        <p:nvSpPr>
          <p:cNvPr id="38" name="TextBox 37"/>
          <p:cNvSpPr txBox="1"/>
          <p:nvPr/>
        </p:nvSpPr>
        <p:spPr>
          <a:xfrm>
            <a:off x="3557016"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Stress test</a:t>
            </a:r>
          </a:p>
        </p:txBody>
      </p:sp>
      <p:sp>
        <p:nvSpPr>
          <p:cNvPr id="39" name="TextBox 38"/>
          <p:cNvSpPr txBox="1"/>
          <p:nvPr/>
        </p:nvSpPr>
        <p:spPr>
          <a:xfrm>
            <a:off x="5586984"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Augmentation</a:t>
            </a:r>
          </a:p>
        </p:txBody>
      </p:sp>
      <p:sp>
        <p:nvSpPr>
          <p:cNvPr id="40" name="TextBox 39"/>
          <p:cNvSpPr txBox="1"/>
          <p:nvPr/>
        </p:nvSpPr>
        <p:spPr>
          <a:xfrm>
            <a:off x="7616952"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Feature guidance</a:t>
            </a:r>
          </a:p>
        </p:txBody>
      </p:sp>
      <p:sp>
        <p:nvSpPr>
          <p:cNvPr id="41" name="TextBox 40"/>
          <p:cNvSpPr txBox="1"/>
          <p:nvPr/>
        </p:nvSpPr>
        <p:spPr>
          <a:xfrm>
            <a:off x="9646920"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Low-weight training</a:t>
            </a:r>
          </a:p>
        </p:txBody>
      </p:sp>
      <p:sp>
        <p:nvSpPr>
          <p:cNvPr id="42" name="Rectangle 41"/>
          <p:cNvSpPr/>
          <p:nvPr/>
        </p:nvSpPr>
        <p:spPr>
          <a:xfrm>
            <a:off x="420624" y="4937760"/>
            <a:ext cx="11173968"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0352" y="5138928"/>
            <a:ext cx="1874519" cy="274320"/>
          </a:xfrm>
          <a:prstGeom prst="rect">
            <a:avLst/>
          </a:prstGeom>
          <a:noFill/>
        </p:spPr>
        <p:txBody>
          <a:bodyPr wrap="square" lIns="18288" rIns="18288" tIns="18288" bIns="18288" anchor="t">
            <a:spAutoFit/>
          </a:bodyPr>
          <a:lstStyle/>
          <a:p>
            <a:pPr algn="ctr">
              <a:spcAft>
                <a:spcPts val="0"/>
              </a:spcAft>
            </a:pPr>
            <a:r>
              <a:rPr sz="1450" b="1" i="0">
                <a:solidFill>
                  <a:srgbClr val="082B55"/>
                </a:solidFill>
                <a:latin typeface="Arial"/>
              </a:rPr>
              <a:t>Held-out real profiles</a:t>
            </a:r>
          </a:p>
        </p:txBody>
      </p:sp>
      <p:sp>
        <p:nvSpPr>
          <p:cNvPr id="44" name="Right Arrow 43"/>
          <p:cNvSpPr/>
          <p:nvPr/>
        </p:nvSpPr>
        <p:spPr>
          <a:xfrm>
            <a:off x="254203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90672" y="5138928"/>
            <a:ext cx="1938528" cy="274320"/>
          </a:xfrm>
          <a:prstGeom prst="rect">
            <a:avLst/>
          </a:prstGeom>
          <a:noFill/>
        </p:spPr>
        <p:txBody>
          <a:bodyPr wrap="square" lIns="18288" rIns="18288" tIns="18288" bIns="18288" anchor="t">
            <a:spAutoFit/>
          </a:bodyPr>
          <a:lstStyle/>
          <a:p>
            <a:pPr algn="ctr">
              <a:spcAft>
                <a:spcPts val="0"/>
              </a:spcAft>
            </a:pPr>
            <a:r>
              <a:rPr sz="1330" b="1" i="0">
                <a:solidFill>
                  <a:srgbClr val="263746"/>
                </a:solidFill>
                <a:latin typeface="Arial"/>
              </a:rPr>
              <a:t>BA  |  AUROC  |  AP</a:t>
            </a:r>
          </a:p>
        </p:txBody>
      </p:sp>
      <p:sp>
        <p:nvSpPr>
          <p:cNvPr id="46" name="Right Arrow 45"/>
          <p:cNvSpPr/>
          <p:nvPr/>
        </p:nvSpPr>
        <p:spPr>
          <a:xfrm>
            <a:off x="519379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42432" y="5111496"/>
            <a:ext cx="3520440" cy="310896"/>
          </a:xfrm>
          <a:prstGeom prst="rect">
            <a:avLst/>
          </a:prstGeom>
          <a:noFill/>
        </p:spPr>
        <p:txBody>
          <a:bodyPr wrap="square" lIns="18288" rIns="18288" tIns="18288" bIns="18288" anchor="t">
            <a:spAutoFit/>
          </a:bodyPr>
          <a:lstStyle/>
          <a:p>
            <a:pPr algn="ctr">
              <a:spcAft>
                <a:spcPts val="0"/>
              </a:spcAft>
            </a:pPr>
            <a:r>
              <a:rPr sz="1400" b="1" i="0">
                <a:solidFill>
                  <a:srgbClr val="178681"/>
                </a:solidFill>
                <a:latin typeface="Arial"/>
              </a:rPr>
              <a:t>Choose an eligible arm within each tissue</a:t>
            </a:r>
          </a:p>
        </p:txBody>
      </p:sp>
      <p:sp>
        <p:nvSpPr>
          <p:cNvPr id="48" name="Rectangle 47"/>
          <p:cNvSpPr/>
          <p:nvPr/>
        </p:nvSpPr>
        <p:spPr>
          <a:xfrm>
            <a:off x="420624" y="5632704"/>
            <a:ext cx="11173968" cy="56692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656" y="5779008"/>
            <a:ext cx="1325880" cy="246888"/>
          </a:xfrm>
          <a:prstGeom prst="rect">
            <a:avLst/>
          </a:prstGeom>
          <a:noFill/>
        </p:spPr>
        <p:txBody>
          <a:bodyPr wrap="square" lIns="0" rIns="0" tIns="0" bIns="0" anchor="t">
            <a:spAutoFit/>
          </a:bodyPr>
          <a:lstStyle/>
          <a:p>
            <a:pPr algn="l">
              <a:spcAft>
                <a:spcPts val="0"/>
              </a:spcAft>
            </a:pPr>
            <a:r>
              <a:rPr sz="1450" b="1" i="0">
                <a:solidFill>
                  <a:srgbClr val="FFFFFF"/>
                </a:solidFill>
                <a:latin typeface="Arial"/>
              </a:rPr>
              <a:t>Biology check</a:t>
            </a:r>
          </a:p>
        </p:txBody>
      </p:sp>
      <p:sp>
        <p:nvSpPr>
          <p:cNvPr id="50" name="TextBox 49"/>
          <p:cNvSpPr txBox="1"/>
          <p:nvPr/>
        </p:nvSpPr>
        <p:spPr>
          <a:xfrm>
            <a:off x="2176272" y="5760720"/>
            <a:ext cx="6172200" cy="265176"/>
          </a:xfrm>
          <a:prstGeom prst="rect">
            <a:avLst/>
          </a:prstGeom>
          <a:noFill/>
        </p:spPr>
        <p:txBody>
          <a:bodyPr wrap="square" lIns="0" rIns="0" tIns="0" bIns="0" anchor="t">
            <a:spAutoFit/>
          </a:bodyPr>
          <a:lstStyle/>
          <a:p>
            <a:pPr algn="l">
              <a:spcAft>
                <a:spcPts val="0"/>
              </a:spcAft>
            </a:pPr>
            <a:r>
              <a:rPr sz="1360" b="0" i="0">
                <a:solidFill>
                  <a:srgbClr val="DCE7F2"/>
                </a:solidFill>
                <a:latin typeface="Arial"/>
              </a:rPr>
              <a:t>FLT vs GC effects and BH FDR use observed OSDR profiles only.</a:t>
            </a:r>
          </a:p>
        </p:txBody>
      </p:sp>
      <p:sp>
        <p:nvSpPr>
          <p:cNvPr id="51" name="TextBox 50"/>
          <p:cNvSpPr txBox="1"/>
          <p:nvPr/>
        </p:nvSpPr>
        <p:spPr>
          <a:xfrm>
            <a:off x="8394192" y="5760720"/>
            <a:ext cx="2871216" cy="265176"/>
          </a:xfrm>
          <a:prstGeom prst="rect">
            <a:avLst/>
          </a:prstGeom>
          <a:noFill/>
        </p:spPr>
        <p:txBody>
          <a:bodyPr wrap="square" lIns="0" rIns="0" tIns="0" bIns="0" anchor="t">
            <a:spAutoFit/>
          </a:bodyPr>
          <a:lstStyle/>
          <a:p>
            <a:pPr algn="r">
              <a:spcAft>
                <a:spcPts val="0"/>
              </a:spcAft>
            </a:pPr>
            <a:r>
              <a:rPr sz="118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ectangle 15"/>
          <p:cNvSpPr/>
          <p:nvPr/>
        </p:nvSpPr>
        <p:spPr>
          <a:xfrm>
            <a:off x="3218688" y="4535424"/>
            <a:ext cx="1700784" cy="713232"/>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9904" y="2020824"/>
            <a:ext cx="16459" cy="33832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240280"/>
            <a:ext cx="4846320"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ectangle 27"/>
          <p:cNvSpPr/>
          <p:nvPr/>
        </p:nvSpPr>
        <p:spPr>
          <a:xfrm>
            <a:off x="6547104" y="4681728"/>
            <a:ext cx="457200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ectangle 29"/>
          <p:cNvSpPr/>
          <p:nvPr/>
        </p:nvSpPr>
        <p:spPr>
          <a:xfrm>
            <a:off x="475488" y="5650992"/>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