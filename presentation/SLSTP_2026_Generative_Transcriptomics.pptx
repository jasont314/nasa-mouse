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Each ranking orders the same 974 genes. Real-only, generated-only and consensus ranking can therefore produce different candidate gene sets. For each ranking, we test the top 10, 25, 50 and 100 genes, and held-out validation chooses the feature count and regularization. Logistic regression is then fitted using only those selected gene-expression columns. Ranking chooses which genes are available to the classifier; classifier training separately learns their coefficients and decision boundary.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held-out real samples appear in both schematic panels, so the dots are fixed and only the boundary changes. Under the hood, consensus ranking changes which genes enter the model, and the guided arm may also use low-weight generated profiles during fitting. In thymus, Cdk1 and Nusap1 went from zero of eight real-only selections to eight of eight guided selections. Effects and BH FDR still come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125712" y="3355848"/>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92056" y="3017520"/>
            <a:ext cx="1828800" cy="1042415"/>
          </a:xfrm>
          <a:prstGeom prst="rect">
            <a:avLst/>
          </a:prstGeom>
          <a:solidFill>
            <a:srgbClr val="E9F1F7"/>
          </a:solidFill>
          <a:ln w="1016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65792" y="3172968"/>
            <a:ext cx="1490472" cy="16459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OUTPUT</a:t>
            </a:r>
          </a:p>
        </p:txBody>
      </p:sp>
      <p:sp>
        <p:nvSpPr>
          <p:cNvPr id="74" name="TextBox 73"/>
          <p:cNvSpPr txBox="1"/>
          <p:nvPr/>
        </p:nvSpPr>
        <p:spPr>
          <a:xfrm>
            <a:off x="9765792" y="3429000"/>
            <a:ext cx="1490472" cy="493776"/>
          </a:xfrm>
          <a:prstGeom prst="rect">
            <a:avLst/>
          </a:prstGeom>
          <a:noFill/>
        </p:spPr>
        <p:txBody>
          <a:bodyPr wrap="square" lIns="0" rIns="0" tIns="0" bIns="0" anchor="t">
            <a:spAutoFit/>
          </a:bodyPr>
          <a:lstStyle/>
          <a:p>
            <a:pPr algn="l">
              <a:spcAft>
                <a:spcPts val="0"/>
              </a:spcAft>
            </a:pPr>
            <a:r>
              <a:rPr sz="1220" b="1" i="0">
                <a:solidFill>
                  <a:srgbClr val="082B55"/>
                </a:solidFill>
                <a:latin typeface="Arial"/>
              </a:rPr>
              <a:t>Tissue-specific
genes and pathways</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n</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n</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CONSENSUS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n</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are schematic examples from the 974-gene ranking. Real and generated normalized ranks are combined.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shifts the FLT-GC decision boundary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held-out real samples are shown in both panels; guidance changes the selected genes and fitted boundary.</a:t>
            </a:r>
          </a:p>
        </p:txBody>
      </p:sp>
      <p:sp>
        <p:nvSpPr>
          <p:cNvPr id="7" name="Oval 6"/>
          <p:cNvSpPr/>
          <p:nvPr/>
        </p:nvSpPr>
        <p:spPr>
          <a:xfrm>
            <a:off x="9592056" y="1783080"/>
            <a:ext cx="118872" cy="118872"/>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65792" y="1746504"/>
            <a:ext cx="365760"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FLT</a:t>
            </a:r>
          </a:p>
        </p:txBody>
      </p:sp>
      <p:sp>
        <p:nvSpPr>
          <p:cNvPr id="9" name="Oval 8"/>
          <p:cNvSpPr/>
          <p:nvPr/>
        </p:nvSpPr>
        <p:spPr>
          <a:xfrm>
            <a:off x="10241280" y="1783080"/>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15016" y="1746504"/>
            <a:ext cx="34747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GC</a:t>
            </a:r>
          </a:p>
        </p:txBody>
      </p:sp>
      <p:sp>
        <p:nvSpPr>
          <p:cNvPr id="11" name="TextBox 10"/>
          <p:cNvSpPr txBox="1"/>
          <p:nvPr/>
        </p:nvSpPr>
        <p:spPr>
          <a:xfrm>
            <a:off x="813816" y="2029968"/>
            <a:ext cx="3913632" cy="246888"/>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REAL-ONLY CLASSIFIER</a:t>
            </a:r>
          </a:p>
        </p:txBody>
      </p:sp>
      <p:sp>
        <p:nvSpPr>
          <p:cNvPr id="12" name="TextBox 11"/>
          <p:cNvSpPr txBox="1"/>
          <p:nvPr/>
        </p:nvSpPr>
        <p:spPr>
          <a:xfrm>
            <a:off x="6437376" y="2029968"/>
            <a:ext cx="3913632" cy="246888"/>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SYNTHETIC-GUIDED CLASSIFIER</a:t>
            </a:r>
          </a:p>
        </p:txBody>
      </p:sp>
      <p:sp>
        <p:nvSpPr>
          <p:cNvPr id="13" name="Rectangle 12"/>
          <p:cNvSpPr/>
          <p:nvPr/>
        </p:nvSpPr>
        <p:spPr>
          <a:xfrm>
            <a:off x="813816" y="4187952"/>
            <a:ext cx="3913632"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3816" y="2404872"/>
            <a:ext cx="20116" cy="180136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88720" y="266090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600200" y="32369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121408" y="366674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569464" y="286207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999232" y="34930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355848" y="268833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874519" y="3931920"/>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01368" y="27249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95144" y="339242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779776" y="296265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47288" y="3758183"/>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050791" y="27980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145536" y="4014215"/>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206240" y="3520439"/>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480000">
            <a:off x="2825496" y="2514600"/>
            <a:ext cx="32004" cy="1517904"/>
          </a:xfrm>
          <a:prstGeom prst="rect">
            <a:avLst/>
          </a:prstGeom>
          <a:solidFill>
            <a:srgbClr val="5969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37376" y="4187952"/>
            <a:ext cx="3913632" cy="2011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404872"/>
            <a:ext cx="20116" cy="1801368"/>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12280" y="266090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23760" y="32369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744968" y="366674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193024" y="286207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622792" y="3493008"/>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979408" y="268833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498079" y="3931920"/>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424928" y="27249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18704" y="339242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3336" y="296265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070848" y="3758183"/>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674352" y="27980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769096" y="4014215"/>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829800" y="3520439"/>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20880000">
            <a:off x="8522208" y="2514600"/>
            <a:ext cx="41148" cy="15179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ight Arrow 46"/>
          <p:cNvSpPr/>
          <p:nvPr/>
        </p:nvSpPr>
        <p:spPr>
          <a:xfrm>
            <a:off x="5047488" y="2962656"/>
            <a:ext cx="640080" cy="3566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09744" y="3419856"/>
            <a:ext cx="1115568"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guided model</a:t>
            </a:r>
          </a:p>
        </p:txBody>
      </p:sp>
      <p:sp>
        <p:nvSpPr>
          <p:cNvPr id="49" name="TextBox 48"/>
          <p:cNvSpPr txBox="1"/>
          <p:nvPr/>
        </p:nvSpPr>
        <p:spPr>
          <a:xfrm>
            <a:off x="813816" y="4325112"/>
            <a:ext cx="9537192" cy="228600"/>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Dots are held fixed to isolate the boundary change</a:t>
            </a:r>
          </a:p>
        </p:txBody>
      </p:sp>
      <p:sp>
        <p:nvSpPr>
          <p:cNvPr id="50" name="Rectangle 49"/>
          <p:cNvSpPr/>
          <p:nvPr/>
        </p:nvSpPr>
        <p:spPr>
          <a:xfrm>
            <a:off x="521207" y="4663440"/>
            <a:ext cx="11045952" cy="914400"/>
          </a:xfrm>
          <a:prstGeom prst="rect">
            <a:avLst/>
          </a:prstGeom>
          <a:solidFill>
            <a:srgbClr val="F5F7F8"/>
          </a:solidFill>
          <a:ln w="1016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9808" y="4809744"/>
            <a:ext cx="1664208" cy="228600"/>
          </a:xfrm>
          <a:prstGeom prst="rect">
            <a:avLst/>
          </a:prstGeom>
          <a:noFill/>
        </p:spPr>
        <p:txBody>
          <a:bodyPr wrap="square" lIns="0" rIns="0" tIns="0" bIns="0" anchor="t">
            <a:spAutoFit/>
          </a:bodyPr>
          <a:lstStyle/>
          <a:p>
            <a:pPr algn="l">
              <a:spcAft>
                <a:spcPts val="0"/>
              </a:spcAft>
            </a:pPr>
            <a:r>
              <a:rPr sz="1320" b="1" i="0">
                <a:solidFill>
                  <a:srgbClr val="082B55"/>
                </a:solidFill>
                <a:latin typeface="Arial"/>
              </a:rPr>
              <a:t>Thymus result</a:t>
            </a:r>
          </a:p>
        </p:txBody>
      </p:sp>
      <p:sp>
        <p:nvSpPr>
          <p:cNvPr id="52" name="TextBox 51"/>
          <p:cNvSpPr txBox="1"/>
          <p:nvPr/>
        </p:nvSpPr>
        <p:spPr>
          <a:xfrm>
            <a:off x="749808" y="5093208"/>
            <a:ext cx="1664208"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8 repeated splits</a:t>
            </a:r>
          </a:p>
        </p:txBody>
      </p:sp>
      <p:sp>
        <p:nvSpPr>
          <p:cNvPr id="53" name="TextBox 52"/>
          <p:cNvSpPr txBox="1"/>
          <p:nvPr/>
        </p:nvSpPr>
        <p:spPr>
          <a:xfrm>
            <a:off x="2880360" y="4800600"/>
            <a:ext cx="749808" cy="192024"/>
          </a:xfrm>
          <a:prstGeom prst="rect">
            <a:avLst/>
          </a:prstGeom>
          <a:noFill/>
        </p:spPr>
        <p:txBody>
          <a:bodyPr wrap="square" lIns="0" rIns="0" tIns="0" bIns="0" anchor="t">
            <a:spAutoFit/>
          </a:bodyPr>
          <a:lstStyle/>
          <a:p>
            <a:pPr algn="l">
              <a:spcAft>
                <a:spcPts val="0"/>
              </a:spcAft>
            </a:pPr>
            <a:r>
              <a:rPr sz="1080" b="1" i="0">
                <a:solidFill>
                  <a:srgbClr val="082B55"/>
                </a:solidFill>
                <a:latin typeface="Arial"/>
              </a:rPr>
              <a:t>Cdk1</a:t>
            </a:r>
          </a:p>
        </p:txBody>
      </p:sp>
      <p:sp>
        <p:nvSpPr>
          <p:cNvPr id="54" name="TextBox 53"/>
          <p:cNvSpPr txBox="1"/>
          <p:nvPr/>
        </p:nvSpPr>
        <p:spPr>
          <a:xfrm>
            <a:off x="3675887" y="4800600"/>
            <a:ext cx="603504" cy="182880"/>
          </a:xfrm>
          <a:prstGeom prst="rect">
            <a:avLst/>
          </a:prstGeom>
          <a:noFill/>
        </p:spPr>
        <p:txBody>
          <a:bodyPr wrap="square" lIns="0" rIns="0" tIns="0" bIns="0" anchor="t">
            <a:spAutoFit/>
          </a:bodyPr>
          <a:lstStyle/>
          <a:p>
            <a:pPr algn="l">
              <a:spcAft>
                <a:spcPts val="0"/>
              </a:spcAft>
            </a:pPr>
            <a:r>
              <a:rPr sz="819" b="1" i="0">
                <a:solidFill>
                  <a:srgbClr val="2D6496"/>
                </a:solidFill>
                <a:latin typeface="Arial"/>
              </a:rPr>
              <a:t>real only</a:t>
            </a:r>
          </a:p>
        </p:txBody>
      </p:sp>
      <p:sp>
        <p:nvSpPr>
          <p:cNvPr id="55" name="Oval 54"/>
          <p:cNvSpPr/>
          <p:nvPr/>
        </p:nvSpPr>
        <p:spPr>
          <a:xfrm>
            <a:off x="4343400"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498848"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654296"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809744"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65192"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5120640"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276088"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431536" y="4837176"/>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14416" y="4800600"/>
            <a:ext cx="347472" cy="182880"/>
          </a:xfrm>
          <a:prstGeom prst="rect">
            <a:avLst/>
          </a:prstGeom>
          <a:noFill/>
        </p:spPr>
        <p:txBody>
          <a:bodyPr wrap="square" lIns="0" rIns="0" tIns="0" bIns="0" anchor="t">
            <a:spAutoFit/>
          </a:bodyPr>
          <a:lstStyle/>
          <a:p>
            <a:pPr algn="ctr">
              <a:spcAft>
                <a:spcPts val="0"/>
              </a:spcAft>
            </a:pPr>
            <a:r>
              <a:rPr sz="860" b="1" i="0">
                <a:solidFill>
                  <a:srgbClr val="2D6496"/>
                </a:solidFill>
                <a:latin typeface="Arial"/>
              </a:rPr>
              <a:t>0/8</a:t>
            </a:r>
          </a:p>
        </p:txBody>
      </p:sp>
      <p:sp>
        <p:nvSpPr>
          <p:cNvPr id="64" name="Right Arrow 63"/>
          <p:cNvSpPr/>
          <p:nvPr/>
        </p:nvSpPr>
        <p:spPr>
          <a:xfrm>
            <a:off x="6062472" y="4832604"/>
            <a:ext cx="256032"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800600"/>
            <a:ext cx="521207" cy="182880"/>
          </a:xfrm>
          <a:prstGeom prst="rect">
            <a:avLst/>
          </a:prstGeom>
          <a:noFill/>
        </p:spPr>
        <p:txBody>
          <a:bodyPr wrap="square" lIns="0" rIns="0" tIns="0" bIns="0" anchor="t">
            <a:spAutoFit/>
          </a:bodyPr>
          <a:lstStyle/>
          <a:p>
            <a:pPr algn="l">
              <a:spcAft>
                <a:spcPts val="0"/>
              </a:spcAft>
            </a:pPr>
            <a:r>
              <a:rPr sz="819" b="1" i="0">
                <a:solidFill>
                  <a:srgbClr val="178681"/>
                </a:solidFill>
                <a:latin typeface="Arial"/>
              </a:rPr>
              <a:t>guided</a:t>
            </a:r>
          </a:p>
        </p:txBody>
      </p:sp>
      <p:sp>
        <p:nvSpPr>
          <p:cNvPr id="66" name="Oval 65"/>
          <p:cNvSpPr/>
          <p:nvPr/>
        </p:nvSpPr>
        <p:spPr>
          <a:xfrm>
            <a:off x="7031736"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7187184"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342632"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498080"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653528"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808976"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964424"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119872" y="483717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302752" y="4800600"/>
            <a:ext cx="347472" cy="182880"/>
          </a:xfrm>
          <a:prstGeom prst="rect">
            <a:avLst/>
          </a:prstGeom>
          <a:noFill/>
        </p:spPr>
        <p:txBody>
          <a:bodyPr wrap="square" lIns="0" rIns="0" tIns="0" bIns="0" anchor="t">
            <a:spAutoFit/>
          </a:bodyPr>
          <a:lstStyle/>
          <a:p>
            <a:pPr algn="ctr">
              <a:spcAft>
                <a:spcPts val="0"/>
              </a:spcAft>
            </a:pPr>
            <a:r>
              <a:rPr sz="860" b="1" i="0">
                <a:solidFill>
                  <a:srgbClr val="178681"/>
                </a:solidFill>
                <a:latin typeface="Arial"/>
              </a:rPr>
              <a:t>8/8</a:t>
            </a:r>
          </a:p>
        </p:txBody>
      </p:sp>
      <p:sp>
        <p:nvSpPr>
          <p:cNvPr id="75" name="TextBox 74"/>
          <p:cNvSpPr txBox="1"/>
          <p:nvPr/>
        </p:nvSpPr>
        <p:spPr>
          <a:xfrm>
            <a:off x="2880360" y="5129784"/>
            <a:ext cx="749808" cy="192024"/>
          </a:xfrm>
          <a:prstGeom prst="rect">
            <a:avLst/>
          </a:prstGeom>
          <a:noFill/>
        </p:spPr>
        <p:txBody>
          <a:bodyPr wrap="square" lIns="0" rIns="0" tIns="0" bIns="0" anchor="t">
            <a:spAutoFit/>
          </a:bodyPr>
          <a:lstStyle/>
          <a:p>
            <a:pPr algn="l">
              <a:spcAft>
                <a:spcPts val="0"/>
              </a:spcAft>
            </a:pPr>
            <a:r>
              <a:rPr sz="1080" b="1" i="0">
                <a:solidFill>
                  <a:srgbClr val="082B55"/>
                </a:solidFill>
                <a:latin typeface="Arial"/>
              </a:rPr>
              <a:t>Nusap1</a:t>
            </a:r>
          </a:p>
        </p:txBody>
      </p:sp>
      <p:sp>
        <p:nvSpPr>
          <p:cNvPr id="76" name="TextBox 75"/>
          <p:cNvSpPr txBox="1"/>
          <p:nvPr/>
        </p:nvSpPr>
        <p:spPr>
          <a:xfrm>
            <a:off x="3675887" y="5129784"/>
            <a:ext cx="603504" cy="182880"/>
          </a:xfrm>
          <a:prstGeom prst="rect">
            <a:avLst/>
          </a:prstGeom>
          <a:noFill/>
        </p:spPr>
        <p:txBody>
          <a:bodyPr wrap="square" lIns="0" rIns="0" tIns="0" bIns="0" anchor="t">
            <a:spAutoFit/>
          </a:bodyPr>
          <a:lstStyle/>
          <a:p>
            <a:pPr algn="l">
              <a:spcAft>
                <a:spcPts val="0"/>
              </a:spcAft>
            </a:pPr>
            <a:r>
              <a:rPr sz="819" b="1" i="0">
                <a:solidFill>
                  <a:srgbClr val="2D6496"/>
                </a:solidFill>
                <a:latin typeface="Arial"/>
              </a:rPr>
              <a:t>real only</a:t>
            </a:r>
          </a:p>
        </p:txBody>
      </p:sp>
      <p:sp>
        <p:nvSpPr>
          <p:cNvPr id="77" name="Oval 76"/>
          <p:cNvSpPr/>
          <p:nvPr/>
        </p:nvSpPr>
        <p:spPr>
          <a:xfrm>
            <a:off x="4343400"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4498848"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4654296"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809744"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4965192"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120640"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276088"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431536" y="5166360"/>
            <a:ext cx="91440" cy="91440"/>
          </a:xfrm>
          <a:prstGeom prst="ellipse">
            <a:avLst/>
          </a:prstGeom>
          <a:solidFill>
            <a:srgbClr val="FFFFFF"/>
          </a:solidFill>
          <a:ln w="889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614416" y="5129784"/>
            <a:ext cx="347472" cy="182880"/>
          </a:xfrm>
          <a:prstGeom prst="rect">
            <a:avLst/>
          </a:prstGeom>
          <a:noFill/>
        </p:spPr>
        <p:txBody>
          <a:bodyPr wrap="square" lIns="0" rIns="0" tIns="0" bIns="0" anchor="t">
            <a:spAutoFit/>
          </a:bodyPr>
          <a:lstStyle/>
          <a:p>
            <a:pPr algn="ctr">
              <a:spcAft>
                <a:spcPts val="0"/>
              </a:spcAft>
            </a:pPr>
            <a:r>
              <a:rPr sz="860" b="1" i="0">
                <a:solidFill>
                  <a:srgbClr val="2D6496"/>
                </a:solidFill>
                <a:latin typeface="Arial"/>
              </a:rPr>
              <a:t>0/8</a:t>
            </a:r>
          </a:p>
        </p:txBody>
      </p:sp>
      <p:sp>
        <p:nvSpPr>
          <p:cNvPr id="86" name="Right Arrow 85"/>
          <p:cNvSpPr/>
          <p:nvPr/>
        </p:nvSpPr>
        <p:spPr>
          <a:xfrm>
            <a:off x="6062472" y="5161788"/>
            <a:ext cx="256032"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437376" y="5129784"/>
            <a:ext cx="521207" cy="182880"/>
          </a:xfrm>
          <a:prstGeom prst="rect">
            <a:avLst/>
          </a:prstGeom>
          <a:noFill/>
        </p:spPr>
        <p:txBody>
          <a:bodyPr wrap="square" lIns="0" rIns="0" tIns="0" bIns="0" anchor="t">
            <a:spAutoFit/>
          </a:bodyPr>
          <a:lstStyle/>
          <a:p>
            <a:pPr algn="l">
              <a:spcAft>
                <a:spcPts val="0"/>
              </a:spcAft>
            </a:pPr>
            <a:r>
              <a:rPr sz="819" b="1" i="0">
                <a:solidFill>
                  <a:srgbClr val="178681"/>
                </a:solidFill>
                <a:latin typeface="Arial"/>
              </a:rPr>
              <a:t>guided</a:t>
            </a:r>
          </a:p>
        </p:txBody>
      </p:sp>
      <p:sp>
        <p:nvSpPr>
          <p:cNvPr id="88" name="Oval 87"/>
          <p:cNvSpPr/>
          <p:nvPr/>
        </p:nvSpPr>
        <p:spPr>
          <a:xfrm>
            <a:off x="7031736"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7187184"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7342632"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498080"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653528"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7808976"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7964424"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119872" y="51663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302752" y="5129784"/>
            <a:ext cx="347472" cy="182880"/>
          </a:xfrm>
          <a:prstGeom prst="rect">
            <a:avLst/>
          </a:prstGeom>
          <a:noFill/>
        </p:spPr>
        <p:txBody>
          <a:bodyPr wrap="square" lIns="0" rIns="0" tIns="0" bIns="0" anchor="t">
            <a:spAutoFit/>
          </a:bodyPr>
          <a:lstStyle/>
          <a:p>
            <a:pPr algn="ctr">
              <a:spcAft>
                <a:spcPts val="0"/>
              </a:spcAft>
            </a:pPr>
            <a:r>
              <a:rPr sz="860" b="1" i="0">
                <a:solidFill>
                  <a:srgbClr val="178681"/>
                </a:solidFill>
                <a:latin typeface="Arial"/>
              </a:rPr>
              <a:t>8/8</a:t>
            </a:r>
          </a:p>
        </p:txBody>
      </p:sp>
      <p:sp>
        <p:nvSpPr>
          <p:cNvPr id="97" name="TextBox 96"/>
          <p:cNvSpPr txBox="1"/>
          <p:nvPr/>
        </p:nvSpPr>
        <p:spPr>
          <a:xfrm>
            <a:off x="8887968" y="4855464"/>
            <a:ext cx="2286000" cy="420624"/>
          </a:xfrm>
          <a:prstGeom prst="rect">
            <a:avLst/>
          </a:prstGeom>
          <a:noFill/>
        </p:spPr>
        <p:txBody>
          <a:bodyPr wrap="square" lIns="0" rIns="0" tIns="0" bIns="0" anchor="ctr">
            <a:spAutoFit/>
          </a:bodyPr>
          <a:lstStyle/>
          <a:p>
            <a:pPr algn="l">
              <a:spcAft>
                <a:spcPts val="0"/>
              </a:spcAft>
            </a:pPr>
            <a:r>
              <a:rPr sz="1019" b="1" i="0">
                <a:solidFill>
                  <a:srgbClr val="263746"/>
                </a:solidFill>
                <a:latin typeface="Arial"/>
              </a:rPr>
              <a:t>Cdk1 and Nusap1 crossed the stability rule only with guidance.</a:t>
            </a:r>
          </a:p>
        </p:txBody>
      </p:sp>
      <p:sp>
        <p:nvSpPr>
          <p:cNvPr id="98" name="Rectangle 97"/>
          <p:cNvSpPr/>
          <p:nvPr/>
        </p:nvSpPr>
        <p:spPr>
          <a:xfrm>
            <a:off x="429768" y="5687568"/>
            <a:ext cx="11155680" cy="55778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40080" y="5797296"/>
            <a:ext cx="5266944" cy="301752"/>
          </a:xfrm>
          <a:prstGeom prst="rect">
            <a:avLst/>
          </a:prstGeom>
          <a:noFill/>
        </p:spPr>
        <p:txBody>
          <a:bodyPr wrap="square" lIns="0" rIns="0" tIns="0" bIns="0" anchor="ctr">
            <a:spAutoFit/>
          </a:bodyPr>
          <a:lstStyle/>
          <a:p>
            <a:pPr algn="l">
              <a:spcAft>
                <a:spcPts val="0"/>
              </a:spcAft>
            </a:pPr>
            <a:r>
              <a:rPr sz="1180" b="1" i="0">
                <a:solidFill>
                  <a:srgbClr val="FFFFFF"/>
                </a:solidFill>
                <a:latin typeface="Arial"/>
              </a:rPr>
              <a:t>Synthetic profiles change feature priority, not biological sample size.</a:t>
            </a:r>
          </a:p>
        </p:txBody>
      </p:sp>
      <p:sp>
        <p:nvSpPr>
          <p:cNvPr id="100" name="TextBox 99"/>
          <p:cNvSpPr txBox="1"/>
          <p:nvPr/>
        </p:nvSpPr>
        <p:spPr>
          <a:xfrm>
            <a:off x="6126480" y="5797296"/>
            <a:ext cx="5093208" cy="301752"/>
          </a:xfrm>
          <a:prstGeom prst="rect">
            <a:avLst/>
          </a:prstGeom>
          <a:noFill/>
        </p:spPr>
        <p:txBody>
          <a:bodyPr wrap="square" lIns="0" rIns="0" tIns="0" bIns="0" anchor="ctr">
            <a:spAutoFit/>
          </a:bodyPr>
          <a:lstStyle/>
          <a:p>
            <a:pPr algn="r">
              <a:spcAft>
                <a:spcPts val="0"/>
              </a:spcAft>
            </a:pPr>
            <a:r>
              <a:rPr sz="1150" b="0" i="0">
                <a:solidFill>
                  <a:srgbClr val="DCE7F2"/>
                </a:solidFill>
                <a:latin typeface="Arial"/>
              </a:rPr>
              <a:t>FLT-GC effects and BH FDR still use observed OSDR profiles.</a:t>
            </a:r>
          </a:p>
        </p:txBody>
      </p:sp>
      <p:sp>
        <p:nvSpPr>
          <p:cNvPr id="101" name="TextBox 10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Common 2D classifier view is schematic; underlying models use different selected genes. Thymus counts are observed results from Table S10.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