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 id="305" r:id="rId29"/>
    <p:sldId id="306" r:id="rId30"/>
    <p:sldId id="307" r:id="rId31"/>
    <p:sldId id="308" r:id="rId32"/>
    <p:sldId id="309" r:id="rId33"/>
    <p:sldId id="310" r:id="rId34"/>
    <p:sldId id="311" r:id="rId35"/>
    <p:sldId id="312" r:id="rId36"/>
    <p:sldId id="313"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 Id="rId34" Type="http://schemas.openxmlformats.org/officeDocument/2006/relationships/slide" Target="slides/slide23.xml"/><Relationship Id="rId35" Type="http://schemas.openxmlformats.org/officeDocument/2006/relationships/slide" Target="slides/slide24.xml"/><Relationship Id="rId36" Type="http://schemas.openxmlformats.org/officeDocument/2006/relationships/slide" Target="slides/slide25.xml"/><Relationship Id="rId37" Type="http://schemas.openxmlformats.org/officeDocument/2006/relationships/slide" Target="slides/slide2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0:15</a:t>
            </a:r>
          </a:p>
          <a:p/>
          <a:p>
            <a:r>
              <a:t>This project uses machine learning to study mouse bulk RNA-seq from NASA spaceflight experiments. The first model asks which pathways change. The second asks whether realistic synthetic profiles can improve a tissue-specific FLT versus GC analysis.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Both parts begin with the same OSDR flight and ground-control data. expiMap organizes expression into interpretable Reactome programs. The generative pipeline models the expression distribution and then tests whether generated profiles improve classification and gene ranking.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An autoencoder takes a high-dimensional gene-expression profile, compresses it into a small set of latent variables, and reconstructs the original profile. Nearby points in latent space have similar expression. In a standard autoencoder those axes may have no clear biological meaning. expiMap constrains them with known gene programs.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For each tissue, ARCHS4 supplies a non-spaceflight reference and Reactome supplies the gene-program mask. expiMap learns the reference, then maps OSDR flight and ground samples as an accession-conditioned query. The analysis used about two thousand highly variable genes and several hundred Reactome programs per tissue. The implementation is under src/expiMap_scarches/nasa_mouse_expimap.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Thymus showed lower repair, cytoskeletal, and stromal-interaction programs. Skin showed lower chromatin regulation, repair, Hedgehog, sphingolipid, and cell-junction programs. Liver showed lower MHC class II and T-cell receptor scores. Spleen combined lower T-cell receptor, neutrophil-degranulation, and C-type lectin programs.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A generator learns the distribution of measured expression and samples new numeric profiles for a chosen tissue and FLT or GC context. We use those profiles to test classifiers and rank genes. They are model output, not new animals or independent biological measurements.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OSDR covers many tissues, but its 1,610 profiles are spread across 75 accessions. ARCHS4 supplies a much larger mouse reference. The model must preserve tissue and condition structure without simply learning study identity.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pipeline can change data scope, transformation, harmonization, model, training source, and conditioning. The branch used here applies TPM, MaxAbs scaling, 974 landmarks, ARCHS4 pretraining, OSDR adaptation, and conditioning on tissue, FLT or GC, accession, and material type.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We compared WGAN-GP with the conditional diffusion model. Both matched expression well. DDIM had higher F1, adversarial accuracy close to chance, and lower distributional distance, so the remaining analysis uses DDIM.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The same generated profiles begin as noise, develop structure by timestep 200, and reach their tissue-conditioned regions at timestep zero. All three panels share PCA axes.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These panels use the same locked coordinates. The left panel colors each profile by tissue, while the right colors it by OSDR accession. Circles are observed profiles and crosses are matched DDIM profiles. Both tissue and study structure are reproduced in the generated data.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The left panel now colors the same profiles by flight or ground-control condition, while the right repeats the accession view. FLT and GC overlap much more than the study clusters. This is why the downstream analysis estimates FLT-GC effects within accession rather than treating the pooled separation as biology.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The five arms vary which profiles rank genes and which profiles fit the classifier. The guided arms use real and generated rankings together. One then fits on real profiles only; the other gives generated profiles five percent of the training weight. Association tests still use observed OSDR data.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Real and generated profiles rank the same 974 genes. Combining those rankings can move a gene into or out of the selected top set. The classifier is then trained using only the selected expression columns.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0:15</a:t>
            </a:r>
          </a:p>
          <a:p/>
          <a:p>
            <a:r>
              <a:t>Opaque points are training profiles and transparent points are held-out real profiles. The panels use the same held-out samples. A useful synthetic-guided feature set changes the fitted boundary so that more held-out labels fall on the correct side.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The pooled classifier declined with generated profiles. Within tissues, the best synthetic-informed candidate improved balanced accuracy in examples such as spleen, thymus, and skin, but declined in cecum, colon, and slightly in liver. The selection rule retained a synthetic arm only when balanced accuracy, AUROC, and average precision were all non-worse than real-only training.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Twenty-three associations were selected with and without guidance, so we call them reinforced. Twenty-six crossed the repeated selection threshold only with guidance, so we call them promoted. All 49 passed BH FDR in observed OSDR profiles.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Promoted or reinforced describes feature selection. Aligning, complementary, ambiguous, or unmatched describes the literature review. These labels answer different questions and can occur in any combination.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0:20</a:t>
            </a:r>
          </a:p>
          <a:p/>
          <a:p>
            <a:r>
              <a:t>The full screen includes 22 canonical tissues and five anatomical muscle groups. Ten analyses had a synthetic-informed BH-FDR association, five had real-data BH-FDR genes without synthetic support, and 12 had no BH-FDR gene in the landmark panel.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0:20</a:t>
            </a:r>
          </a:p>
          <a:p/>
          <a:p>
            <a:r>
              <a:t>This slide lists all 49 synthetic-informed associations. Rows separate FLT direction and selection status. Gene color gives the independent literature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Thymus produced the clearest promoted panel. Lower mitotic and DNA-replication genes fit prior reports of thymic involution. Hsd17b11 and Etv1 add lipid-handling and T-cell-state hypotheses. Bulk RNA-seq cannot separate transcriptional regulation from cell-composition change.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Soleus improved with real plus generated training. Lower Bdh1, Ech1, Bnip3, and Decr1 with higher Tpm1 support altered oxidative metabolism and contractile remodeling. The real association remains, but its synthetic reinforcement was sensitive to material conditioning.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0:20</a:t>
            </a:r>
          </a:p>
          <a:p/>
          <a:p>
            <a:r>
              <a:t>Pooled muscle, kidney, spleen, and skin each produced a separate result. Promoted and reinforced genes are kept on separate rows so the selection claim stays clear.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0:20</a:t>
            </a:r>
          </a:p>
          <a:p/>
          <a:p>
            <a:r>
              <a:t>Eye, adrenal gland, gastrocnemius, and tibialis anterior add smaller tissue-specific candidates. These are follow-up hypotheses rather than one shared systemic signature.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Conditional DDIM produced realistic profiles. Tissue-specific ranking and light synthetic training improved held-out prediction in selected tissues. The final biological associations and FDR still come from observed OSDR samples.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James Casaletto, SLSTP, NASA OSDR, ARCHS4, Reactome, and NASA Ames compute,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2100" b="1">
                <a:solidFill>
                  <a:srgbClr val="FFFFFF"/>
                </a:solidFill>
                <a:latin typeface="Arial"/>
              </a:rPr>
              <a:t>Jason Trinh</a:t>
            </a:r>
          </a:p>
          <a:p>
            <a:pPr>
              <a:spcAft>
                <a:spcPts val="200"/>
              </a:spcAft>
            </a:pPr>
            <a:r>
              <a:rPr sz="1400" b="0">
                <a:solidFill>
                  <a:srgbClr val="FFFFFF"/>
                </a:solidFill>
                <a:latin typeface="Arial"/>
              </a:rPr>
              <a:t>EECS | UC Berkeley</a:t>
            </a:r>
          </a:p>
          <a:p>
            <a:pPr>
              <a:spcAft>
                <a:spcPts val="200"/>
              </a:spcAft>
            </a:pPr>
            <a:r>
              <a:rPr sz="600" b="0">
                <a:solidFill>
                  <a:srgbClr val="FFFFFF"/>
                </a:solidFill>
                <a:latin typeface="Arial"/>
              </a:rPr>
              <a:t/>
            </a:r>
          </a:p>
          <a:p>
            <a:pPr>
              <a:spcAft>
                <a:spcPts val="200"/>
              </a:spcAft>
            </a:pPr>
            <a:r>
              <a:rPr sz="1300" b="0">
                <a:solidFill>
                  <a:srgbClr val="FFFFFF"/>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p:txBody>
          <a:bodyPr wrap="square" anchor="b"/>
          <a:lstStyle/>
          <a:p>
            <a:pPr>
              <a:lnSpc>
                <a:spcPct val="100000"/>
              </a:lnSpc>
              <a:spcBef>
                <a:spcPts val="0"/>
              </a:spcBef>
              <a:spcAft>
                <a:spcPts val="0"/>
              </a:spcAft>
            </a:pPr>
            <a:r>
              <a:rPr sz="2900" b="1">
                <a:solidFill>
                  <a:srgbClr val="FFFFFF"/>
                </a:solidFill>
                <a:latin typeface="Arial"/>
              </a:rPr>
              <a:t>Interpretable and generative models
for mouse spaceflight</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PROJECT</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One dataset, two machine-learning questions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We used mouse bulk RNA-seq to study how spaceflight changes genes, pathways, and tissue state.</a:t>
            </a:r>
          </a:p>
        </p:txBody>
      </p:sp>
      <p:sp>
        <p:nvSpPr>
          <p:cNvPr id="22" name="Rectangle 21"/>
          <p:cNvSpPr/>
          <p:nvPr/>
        </p:nvSpPr>
        <p:spPr>
          <a:xfrm>
            <a:off x="502920" y="1874519"/>
            <a:ext cx="11192256" cy="694944"/>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2011680"/>
            <a:ext cx="1627632" cy="283464"/>
          </a:xfrm>
          <a:prstGeom prst="rect">
            <a:avLst/>
          </a:prstGeom>
          <a:noFill/>
        </p:spPr>
        <p:txBody>
          <a:bodyPr wrap="square" lIns="0" rIns="0" tIns="0" bIns="0" anchor="t">
            <a:spAutoFit/>
          </a:bodyPr>
          <a:lstStyle/>
          <a:p>
            <a:pPr algn="l">
              <a:spcAft>
                <a:spcPts val="0"/>
              </a:spcAft>
            </a:pPr>
            <a:r>
              <a:rPr sz="1600" b="1" i="0">
                <a:solidFill>
                  <a:srgbClr val="FFFFFF"/>
                </a:solidFill>
                <a:latin typeface="Arial"/>
              </a:rPr>
              <a:t>NASA OSDR API</a:t>
            </a:r>
          </a:p>
        </p:txBody>
      </p:sp>
      <p:sp>
        <p:nvSpPr>
          <p:cNvPr id="24" name="TextBox 23"/>
          <p:cNvSpPr txBox="1"/>
          <p:nvPr/>
        </p:nvSpPr>
        <p:spPr>
          <a:xfrm>
            <a:off x="2487168" y="1993392"/>
            <a:ext cx="8759952" cy="310896"/>
          </a:xfrm>
          <a:prstGeom prst="rect">
            <a:avLst/>
          </a:prstGeom>
          <a:noFill/>
        </p:spPr>
        <p:txBody>
          <a:bodyPr wrap="square" lIns="0" rIns="0" tIns="0" bIns="0" anchor="ctr">
            <a:spAutoFit/>
          </a:bodyPr>
          <a:lstStyle/>
          <a:p>
            <a:pPr algn="l">
              <a:spcAft>
                <a:spcPts val="0"/>
              </a:spcAft>
            </a:pPr>
            <a:r>
              <a:rPr sz="1320" b="0" i="0">
                <a:solidFill>
                  <a:srgbClr val="DCE7F2"/>
                </a:solidFill>
                <a:latin typeface="Arial"/>
              </a:rPr>
              <a:t>Mus musculus bulk RNA-seq | spaceflight (FLT) and ground control (GC) | multiple missions and tissues</a:t>
            </a:r>
          </a:p>
        </p:txBody>
      </p:sp>
      <p:sp>
        <p:nvSpPr>
          <p:cNvPr id="25" name="Rectangle 24"/>
          <p:cNvSpPr/>
          <p:nvPr/>
        </p:nvSpPr>
        <p:spPr>
          <a:xfrm>
            <a:off x="502920" y="2944368"/>
            <a:ext cx="5449824" cy="2926080"/>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3182112"/>
            <a:ext cx="411480" cy="228600"/>
          </a:xfrm>
          <a:prstGeom prst="rect">
            <a:avLst/>
          </a:prstGeom>
          <a:noFill/>
        </p:spPr>
        <p:txBody>
          <a:bodyPr wrap="square" lIns="0" rIns="0" tIns="0" bIns="0" anchor="t">
            <a:spAutoFit/>
          </a:bodyPr>
          <a:lstStyle/>
          <a:p>
            <a:pPr algn="l">
              <a:spcAft>
                <a:spcPts val="0"/>
              </a:spcAft>
            </a:pPr>
            <a:r>
              <a:rPr sz="1100" b="1" i="0">
                <a:solidFill>
                  <a:srgbClr val="2D6496"/>
                </a:solidFill>
                <a:latin typeface="Arial"/>
              </a:rPr>
              <a:t>01</a:t>
            </a:r>
          </a:p>
        </p:txBody>
      </p:sp>
      <p:sp>
        <p:nvSpPr>
          <p:cNvPr id="27" name="TextBox 26"/>
          <p:cNvSpPr txBox="1"/>
          <p:nvPr/>
        </p:nvSpPr>
        <p:spPr>
          <a:xfrm>
            <a:off x="1252728" y="3108960"/>
            <a:ext cx="4352544" cy="457200"/>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Which biological programs change?</a:t>
            </a:r>
          </a:p>
        </p:txBody>
      </p:sp>
      <p:sp>
        <p:nvSpPr>
          <p:cNvPr id="28" name="Rectangle 27"/>
          <p:cNvSpPr/>
          <p:nvPr/>
        </p:nvSpPr>
        <p:spPr>
          <a:xfrm>
            <a:off x="731520" y="3767328"/>
            <a:ext cx="4965192"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3995928"/>
            <a:ext cx="4846320" cy="310896"/>
          </a:xfrm>
          <a:prstGeom prst="rect">
            <a:avLst/>
          </a:prstGeom>
          <a:noFill/>
        </p:spPr>
        <p:txBody>
          <a:bodyPr wrap="square" lIns="0" rIns="0" tIns="0" bIns="0" anchor="t">
            <a:spAutoFit/>
          </a:bodyPr>
          <a:lstStyle/>
          <a:p>
            <a:pPr algn="l">
              <a:spcAft>
                <a:spcPts val="0"/>
              </a:spcAft>
            </a:pPr>
            <a:r>
              <a:rPr sz="1540" b="1" i="0">
                <a:solidFill>
                  <a:srgbClr val="2D6496"/>
                </a:solidFill>
                <a:latin typeface="Arial"/>
              </a:rPr>
              <a:t>expiMap</a:t>
            </a:r>
          </a:p>
        </p:txBody>
      </p:sp>
      <p:sp>
        <p:nvSpPr>
          <p:cNvPr id="30" name="TextBox 29"/>
          <p:cNvSpPr txBox="1"/>
          <p:nvPr/>
        </p:nvSpPr>
        <p:spPr>
          <a:xfrm>
            <a:off x="731520" y="4407408"/>
            <a:ext cx="4846320" cy="603504"/>
          </a:xfrm>
          <a:prstGeom prst="rect">
            <a:avLst/>
          </a:prstGeom>
          <a:noFill/>
        </p:spPr>
        <p:txBody>
          <a:bodyPr wrap="square" lIns="0" rIns="0" tIns="0" bIns="0" anchor="t">
            <a:spAutoFit/>
          </a:bodyPr>
          <a:lstStyle/>
          <a:p>
            <a:pPr algn="l">
              <a:spcAft>
                <a:spcPts val="0"/>
              </a:spcAft>
            </a:pPr>
            <a:r>
              <a:rPr sz="1300" b="0" i="0">
                <a:solidFill>
                  <a:srgbClr val="263746"/>
                </a:solidFill>
                <a:latin typeface="Arial"/>
              </a:rPr>
              <a:t>Train a pathway-constrained reference on ARCHS4, then map OSDR samples into mouse Reactome programs.</a:t>
            </a:r>
          </a:p>
        </p:txBody>
      </p:sp>
      <p:sp>
        <p:nvSpPr>
          <p:cNvPr id="31" name="TextBox 30"/>
          <p:cNvSpPr txBox="1"/>
          <p:nvPr/>
        </p:nvSpPr>
        <p:spPr>
          <a:xfrm>
            <a:off x="731520" y="5285232"/>
            <a:ext cx="4846320" cy="283464"/>
          </a:xfrm>
          <a:prstGeom prst="rect">
            <a:avLst/>
          </a:prstGeom>
          <a:noFill/>
        </p:spPr>
        <p:txBody>
          <a:bodyPr wrap="square" lIns="0" rIns="0" tIns="0" bIns="0" anchor="t">
            <a:spAutoFit/>
          </a:bodyPr>
          <a:lstStyle/>
          <a:p>
            <a:pPr algn="l">
              <a:spcAft>
                <a:spcPts val="0"/>
              </a:spcAft>
            </a:pPr>
            <a:r>
              <a:rPr sz="1230" b="1" i="0">
                <a:solidFill>
                  <a:srgbClr val="082B55"/>
                </a:solidFill>
                <a:latin typeface="Arial"/>
              </a:rPr>
              <a:t>Output: tissue-specific pathway shifts</a:t>
            </a:r>
          </a:p>
        </p:txBody>
      </p:sp>
      <p:sp>
        <p:nvSpPr>
          <p:cNvPr id="32" name="Rectangle 31"/>
          <p:cNvSpPr/>
          <p:nvPr/>
        </p:nvSpPr>
        <p:spPr>
          <a:xfrm>
            <a:off x="6245352" y="2944368"/>
            <a:ext cx="5449824" cy="2926080"/>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64808" y="3182112"/>
            <a:ext cx="411480" cy="228600"/>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02</a:t>
            </a:r>
          </a:p>
        </p:txBody>
      </p:sp>
      <p:sp>
        <p:nvSpPr>
          <p:cNvPr id="34" name="TextBox 33"/>
          <p:cNvSpPr txBox="1"/>
          <p:nvPr/>
        </p:nvSpPr>
        <p:spPr>
          <a:xfrm>
            <a:off x="6995160" y="3108960"/>
            <a:ext cx="4352544" cy="457200"/>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Can synthetic profiles sharpen the analysis?</a:t>
            </a:r>
          </a:p>
        </p:txBody>
      </p:sp>
      <p:sp>
        <p:nvSpPr>
          <p:cNvPr id="35" name="Rectangle 34"/>
          <p:cNvSpPr/>
          <p:nvPr/>
        </p:nvSpPr>
        <p:spPr>
          <a:xfrm>
            <a:off x="6473952" y="3767328"/>
            <a:ext cx="49651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73952" y="3995928"/>
            <a:ext cx="4846320" cy="310896"/>
          </a:xfrm>
          <a:prstGeom prst="rect">
            <a:avLst/>
          </a:prstGeom>
          <a:noFill/>
        </p:spPr>
        <p:txBody>
          <a:bodyPr wrap="square" lIns="0" rIns="0" tIns="0" bIns="0" anchor="t">
            <a:spAutoFit/>
          </a:bodyPr>
          <a:lstStyle/>
          <a:p>
            <a:pPr algn="l">
              <a:spcAft>
                <a:spcPts val="0"/>
              </a:spcAft>
            </a:pPr>
            <a:r>
              <a:rPr sz="1540" b="1" i="0">
                <a:solidFill>
                  <a:srgbClr val="178681"/>
                </a:solidFill>
                <a:latin typeface="Arial"/>
              </a:rPr>
              <a:t>Conditional generation</a:t>
            </a:r>
          </a:p>
        </p:txBody>
      </p:sp>
      <p:sp>
        <p:nvSpPr>
          <p:cNvPr id="37" name="TextBox 36"/>
          <p:cNvSpPr txBox="1"/>
          <p:nvPr/>
        </p:nvSpPr>
        <p:spPr>
          <a:xfrm>
            <a:off x="6473952" y="4407408"/>
            <a:ext cx="4846320" cy="603504"/>
          </a:xfrm>
          <a:prstGeom prst="rect">
            <a:avLst/>
          </a:prstGeom>
          <a:noFill/>
        </p:spPr>
        <p:txBody>
          <a:bodyPr wrap="square" lIns="0" rIns="0" tIns="0" bIns="0" anchor="t">
            <a:spAutoFit/>
          </a:bodyPr>
          <a:lstStyle/>
          <a:p>
            <a:pPr algn="l">
              <a:spcAft>
                <a:spcPts val="0"/>
              </a:spcAft>
            </a:pPr>
            <a:r>
              <a:rPr sz="1300" b="0" i="0">
                <a:solidFill>
                  <a:srgbClr val="263746"/>
                </a:solidFill>
                <a:latin typeface="Arial"/>
              </a:rPr>
              <a:t>Generate matched expression profiles by tissue, study context, and FLT or GC condition.</a:t>
            </a:r>
          </a:p>
        </p:txBody>
      </p:sp>
      <p:sp>
        <p:nvSpPr>
          <p:cNvPr id="38" name="TextBox 37"/>
          <p:cNvSpPr txBox="1"/>
          <p:nvPr/>
        </p:nvSpPr>
        <p:spPr>
          <a:xfrm>
            <a:off x="6473952" y="5285232"/>
            <a:ext cx="4846320" cy="283464"/>
          </a:xfrm>
          <a:prstGeom prst="rect">
            <a:avLst/>
          </a:prstGeom>
          <a:noFill/>
        </p:spPr>
        <p:txBody>
          <a:bodyPr wrap="square" lIns="0" rIns="0" tIns="0" bIns="0" anchor="t">
            <a:spAutoFit/>
          </a:bodyPr>
          <a:lstStyle/>
          <a:p>
            <a:pPr algn="l">
              <a:spcAft>
                <a:spcPts val="0"/>
              </a:spcAft>
            </a:pPr>
            <a:r>
              <a:rPr sz="1230" b="1" i="0">
                <a:solidFill>
                  <a:srgbClr val="082B55"/>
                </a:solidFill>
                <a:latin typeface="Arial"/>
              </a:rPr>
              <a:t>Output: validated profiles and gene ranking</a:t>
            </a:r>
          </a:p>
        </p:txBody>
      </p:sp>
      <p:sp>
        <p:nvSpPr>
          <p:cNvPr id="39" name="TextBox 3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Data source: NASA Open Science Data Repository Biological Data API.</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NEURAL NETWORKS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Autoencoders compress expression into a latent space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encoder summarizes a gene profile; the decoder learns enough structure to reconstruct it.</a:t>
            </a:r>
          </a:p>
        </p:txBody>
      </p:sp>
      <p:sp>
        <p:nvSpPr>
          <p:cNvPr id="7" name="TextBox 6"/>
          <p:cNvSpPr txBox="1"/>
          <p:nvPr/>
        </p:nvSpPr>
        <p:spPr>
          <a:xfrm>
            <a:off x="530352" y="1874519"/>
            <a:ext cx="1316736" cy="219456"/>
          </a:xfrm>
          <a:prstGeom prst="rect">
            <a:avLst/>
          </a:prstGeom>
          <a:noFill/>
        </p:spPr>
        <p:txBody>
          <a:bodyPr wrap="square" lIns="0" rIns="0" tIns="0" bIns="0" anchor="t">
            <a:spAutoFit/>
          </a:bodyPr>
          <a:lstStyle/>
          <a:p>
            <a:pPr algn="l">
              <a:spcAft>
                <a:spcPts val="0"/>
              </a:spcAft>
            </a:pPr>
            <a:r>
              <a:rPr sz="1019" b="1" i="0">
                <a:solidFill>
                  <a:srgbClr val="2D6496"/>
                </a:solidFill>
                <a:latin typeface="Arial"/>
              </a:rPr>
              <a:t>AUTOENCODER</a:t>
            </a:r>
          </a:p>
        </p:txBody>
      </p:sp>
      <p:sp>
        <p:nvSpPr>
          <p:cNvPr id="8" name="Rectangle 7"/>
          <p:cNvSpPr/>
          <p:nvPr/>
        </p:nvSpPr>
        <p:spPr>
          <a:xfrm>
            <a:off x="457200" y="2157984"/>
            <a:ext cx="6748272" cy="3547872"/>
          </a:xfrm>
          <a:prstGeom prst="rect">
            <a:avLst/>
          </a:prstGeom>
          <a:solidFill>
            <a:srgbClr val="F7F9FA"/>
          </a:solidFill>
          <a:ln w="10160">
            <a:solidFill>
              <a:srgbClr val="D9E1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3493008"/>
            <a:ext cx="658368" cy="475488"/>
          </a:xfrm>
          <a:prstGeom prst="rect">
            <a:avLst/>
          </a:prstGeom>
          <a:noFill/>
        </p:spPr>
        <p:txBody>
          <a:bodyPr wrap="square" lIns="0" rIns="0" tIns="0" bIns="0" anchor="t">
            <a:spAutoFit/>
          </a:bodyPr>
          <a:lstStyle/>
          <a:p>
            <a:pPr algn="ctr">
              <a:spcAft>
                <a:spcPts val="0"/>
              </a:spcAft>
            </a:pPr>
            <a:r>
              <a:rPr sz="1120" b="1" i="0">
                <a:solidFill>
                  <a:srgbClr val="59697A"/>
                </a:solidFill>
                <a:latin typeface="Arial"/>
              </a:rPr>
              <a:t>gene
profile</a:t>
            </a:r>
          </a:p>
        </p:txBody>
      </p:sp>
      <p:sp>
        <p:nvSpPr>
          <p:cNvPr id="10" name="Rectangle 9"/>
          <p:cNvSpPr/>
          <p:nvPr/>
        </p:nvSpPr>
        <p:spPr>
          <a:xfrm>
            <a:off x="1499616" y="3785615"/>
            <a:ext cx="100584" cy="53035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673351" y="3337559"/>
            <a:ext cx="100584" cy="978408"/>
          </a:xfrm>
          <a:prstGeom prst="rect">
            <a:avLst/>
          </a:prstGeom>
          <a:solidFill>
            <a:srgbClr val="8FB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47088" y="3648456"/>
            <a:ext cx="100584" cy="66751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020824" y="3108959"/>
            <a:ext cx="100584" cy="1207008"/>
          </a:xfrm>
          <a:prstGeom prst="rect">
            <a:avLst/>
          </a:prstGeom>
          <a:solidFill>
            <a:srgbClr val="8FB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194560" y="3493008"/>
            <a:ext cx="100584" cy="8229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368296" y="3895344"/>
            <a:ext cx="100584" cy="420624"/>
          </a:xfrm>
          <a:prstGeom prst="rect">
            <a:avLst/>
          </a:prstGeom>
          <a:solidFill>
            <a:srgbClr val="8FB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ight Arrow 15"/>
          <p:cNvSpPr/>
          <p:nvPr/>
        </p:nvSpPr>
        <p:spPr>
          <a:xfrm>
            <a:off x="2615184" y="3529584"/>
            <a:ext cx="310896" cy="22860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3136392" y="2816352"/>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136392"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136392"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136392" y="2816352"/>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136392" y="3278124"/>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136392" y="3278124"/>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136392"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136392" y="3739896"/>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136392"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136392" y="2816352"/>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136392" y="3739896"/>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136392" y="4201668"/>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136392"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136392"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36392" y="4663440"/>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593592" y="2816352"/>
            <a:ext cx="960120" cy="42062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593592" y="2816352"/>
            <a:ext cx="960120" cy="82296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593592" y="2816352"/>
            <a:ext cx="960120" cy="122529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593592" y="3236976"/>
            <a:ext cx="960120" cy="50292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593592" y="3639312"/>
            <a:ext cx="960120" cy="10058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593592" y="3739896"/>
            <a:ext cx="960120" cy="30175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593592" y="3236976"/>
            <a:ext cx="960120" cy="142646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3593592" y="3639312"/>
            <a:ext cx="960120" cy="102412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3593592" y="4041648"/>
            <a:ext cx="960120" cy="62179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4553712" y="2816352"/>
            <a:ext cx="896112" cy="42062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553712" y="3236976"/>
            <a:ext cx="896112" cy="50292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553712" y="3236976"/>
            <a:ext cx="896112" cy="142646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4553712" y="2816352"/>
            <a:ext cx="896112" cy="82296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4553712" y="3639312"/>
            <a:ext cx="896112" cy="10058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553712" y="3639312"/>
            <a:ext cx="896112" cy="102412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553712" y="2816352"/>
            <a:ext cx="896112" cy="122529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4553712" y="3739896"/>
            <a:ext cx="896112" cy="30175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4553712" y="4041648"/>
            <a:ext cx="896112" cy="62179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449824" y="2816352"/>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449824" y="2816352"/>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5449824"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5449824" y="2816352"/>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449824"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5449824"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5449824" y="3278124"/>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5449824" y="3739896"/>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5449824" y="3739896"/>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5449824"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5449824"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5449824" y="3278124"/>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5449824"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5449824" y="4201668"/>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5449824" y="4663440"/>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sp>
        <p:nvSpPr>
          <p:cNvPr id="65" name="Oval 64"/>
          <p:cNvSpPr/>
          <p:nvPr/>
        </p:nvSpPr>
        <p:spPr>
          <a:xfrm>
            <a:off x="3063240" y="2743200"/>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063240" y="3204972"/>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3063240" y="3666744"/>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3063240" y="4128516"/>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3063240" y="4590288"/>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3520440" y="2743200"/>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3520440" y="3666744"/>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3520440" y="4590288"/>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907792" y="4892040"/>
            <a:ext cx="960120" cy="219456"/>
          </a:xfrm>
          <a:prstGeom prst="rect">
            <a:avLst/>
          </a:prstGeom>
          <a:noFill/>
        </p:spPr>
        <p:txBody>
          <a:bodyPr wrap="square" lIns="0" rIns="0" tIns="0" bIns="0" anchor="t">
            <a:spAutoFit/>
          </a:bodyPr>
          <a:lstStyle/>
          <a:p>
            <a:pPr algn="ctr">
              <a:spcAft>
                <a:spcPts val="0"/>
              </a:spcAft>
            </a:pPr>
            <a:r>
              <a:rPr sz="1019" b="1" i="0">
                <a:solidFill>
                  <a:srgbClr val="2D6496"/>
                </a:solidFill>
                <a:latin typeface="Arial"/>
              </a:rPr>
              <a:t>encoder</a:t>
            </a:r>
          </a:p>
        </p:txBody>
      </p:sp>
      <p:sp>
        <p:nvSpPr>
          <p:cNvPr id="74" name="Oval 73"/>
          <p:cNvSpPr/>
          <p:nvPr/>
        </p:nvSpPr>
        <p:spPr>
          <a:xfrm>
            <a:off x="4462272" y="3145536"/>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4462272" y="3547872"/>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4462272" y="3950208"/>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4169663" y="4462272"/>
            <a:ext cx="768096" cy="438912"/>
          </a:xfrm>
          <a:prstGeom prst="rect">
            <a:avLst/>
          </a:prstGeom>
          <a:noFill/>
        </p:spPr>
        <p:txBody>
          <a:bodyPr wrap="square" lIns="0" rIns="0" tIns="0" bIns="0" anchor="t">
            <a:spAutoFit/>
          </a:bodyPr>
          <a:lstStyle/>
          <a:p>
            <a:pPr algn="ctr">
              <a:spcAft>
                <a:spcPts val="0"/>
              </a:spcAft>
            </a:pPr>
            <a:r>
              <a:rPr sz="1019" b="1" i="0">
                <a:solidFill>
                  <a:srgbClr val="D37B00"/>
                </a:solidFill>
                <a:latin typeface="Arial"/>
              </a:rPr>
              <a:t>latent
variables</a:t>
            </a:r>
          </a:p>
        </p:txBody>
      </p:sp>
      <p:sp>
        <p:nvSpPr>
          <p:cNvPr id="78" name="Oval 77"/>
          <p:cNvSpPr/>
          <p:nvPr/>
        </p:nvSpPr>
        <p:spPr>
          <a:xfrm>
            <a:off x="5376672" y="2743200"/>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5376672" y="3666744"/>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5376672" y="4590288"/>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5833872" y="2743200"/>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5833872" y="3204972"/>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5833872" y="3666744"/>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5833872" y="4128516"/>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5833872" y="4590288"/>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212080" y="4892040"/>
            <a:ext cx="960120" cy="219456"/>
          </a:xfrm>
          <a:prstGeom prst="rect">
            <a:avLst/>
          </a:prstGeom>
          <a:noFill/>
        </p:spPr>
        <p:txBody>
          <a:bodyPr wrap="square" lIns="0" rIns="0" tIns="0" bIns="0" anchor="t">
            <a:spAutoFit/>
          </a:bodyPr>
          <a:lstStyle/>
          <a:p>
            <a:pPr algn="ctr">
              <a:spcAft>
                <a:spcPts val="0"/>
              </a:spcAft>
            </a:pPr>
            <a:r>
              <a:rPr sz="1019" b="1" i="0">
                <a:solidFill>
                  <a:srgbClr val="2D6496"/>
                </a:solidFill>
                <a:latin typeface="Arial"/>
              </a:rPr>
              <a:t>decoder</a:t>
            </a:r>
          </a:p>
        </p:txBody>
      </p:sp>
      <p:sp>
        <p:nvSpPr>
          <p:cNvPr id="87" name="Right Arrow 86"/>
          <p:cNvSpPr/>
          <p:nvPr/>
        </p:nvSpPr>
        <p:spPr>
          <a:xfrm>
            <a:off x="6291072" y="3529584"/>
            <a:ext cx="310896" cy="22860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547104" y="3401568"/>
            <a:ext cx="493776" cy="512064"/>
          </a:xfrm>
          <a:prstGeom prst="rect">
            <a:avLst/>
          </a:prstGeom>
          <a:noFill/>
        </p:spPr>
        <p:txBody>
          <a:bodyPr wrap="square" lIns="0" rIns="0" tIns="0" bIns="0" anchor="t">
            <a:spAutoFit/>
          </a:bodyPr>
          <a:lstStyle/>
          <a:p>
            <a:pPr algn="ctr">
              <a:spcAft>
                <a:spcPts val="0"/>
              </a:spcAft>
            </a:pPr>
            <a:r>
              <a:rPr sz="1000" b="1" i="0">
                <a:solidFill>
                  <a:srgbClr val="59697A"/>
                </a:solidFill>
                <a:latin typeface="Arial"/>
              </a:rPr>
              <a:t>output
profile</a:t>
            </a:r>
          </a:p>
        </p:txBody>
      </p:sp>
      <p:sp>
        <p:nvSpPr>
          <p:cNvPr id="89" name="TextBox 88"/>
          <p:cNvSpPr txBox="1"/>
          <p:nvPr/>
        </p:nvSpPr>
        <p:spPr>
          <a:xfrm>
            <a:off x="7589520" y="1874519"/>
            <a:ext cx="1225296" cy="219456"/>
          </a:xfrm>
          <a:prstGeom prst="rect">
            <a:avLst/>
          </a:prstGeom>
          <a:noFill/>
        </p:spPr>
        <p:txBody>
          <a:bodyPr wrap="square" lIns="0" rIns="0" tIns="0" bIns="0" anchor="t">
            <a:spAutoFit/>
          </a:bodyPr>
          <a:lstStyle/>
          <a:p>
            <a:pPr algn="l">
              <a:spcAft>
                <a:spcPts val="0"/>
              </a:spcAft>
            </a:pPr>
            <a:r>
              <a:rPr sz="1019" b="1" i="0">
                <a:solidFill>
                  <a:srgbClr val="178681"/>
                </a:solidFill>
                <a:latin typeface="Arial"/>
              </a:rPr>
              <a:t>LATENT SPACE</a:t>
            </a:r>
          </a:p>
        </p:txBody>
      </p:sp>
      <p:sp>
        <p:nvSpPr>
          <p:cNvPr id="90" name="Rectangle 89"/>
          <p:cNvSpPr/>
          <p:nvPr/>
        </p:nvSpPr>
        <p:spPr>
          <a:xfrm>
            <a:off x="7516368" y="2157984"/>
            <a:ext cx="4187952" cy="3547872"/>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7973568" y="5074920"/>
            <a:ext cx="3136392" cy="16459"/>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7973568" y="2615184"/>
            <a:ext cx="16459" cy="2478024"/>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8357616" y="4169663"/>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8604504" y="408736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8714232" y="4279392"/>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8476488" y="4398264"/>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549640" y="4251959"/>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9400032" y="3282696"/>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9646920" y="3200400"/>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9756648" y="3392424"/>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9518904" y="3511296"/>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9592056" y="3364992"/>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0323576" y="4306824"/>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570464" y="4224528"/>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680192" y="4416552"/>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0442448" y="4535424"/>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10515600" y="4389120"/>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8165592" y="5230368"/>
            <a:ext cx="2834640" cy="384048"/>
          </a:xfrm>
          <a:prstGeom prst="rect">
            <a:avLst/>
          </a:prstGeom>
          <a:noFill/>
        </p:spPr>
        <p:txBody>
          <a:bodyPr wrap="square" lIns="0" rIns="0" tIns="0" bIns="0" anchor="t">
            <a:spAutoFit/>
          </a:bodyPr>
          <a:lstStyle/>
          <a:p>
            <a:pPr algn="ctr">
              <a:spcAft>
                <a:spcPts val="0"/>
              </a:spcAft>
            </a:pPr>
            <a:r>
              <a:rPr sz="1050" b="0" i="0">
                <a:solidFill>
                  <a:srgbClr val="59697A"/>
                </a:solidFill>
                <a:latin typeface="Arial"/>
              </a:rPr>
              <a:t>profiles with similar expression
occupy nearby regions</a:t>
            </a:r>
          </a:p>
        </p:txBody>
      </p:sp>
      <p:sp>
        <p:nvSpPr>
          <p:cNvPr id="109" name="Rectangle 108"/>
          <p:cNvSpPr/>
          <p:nvPr/>
        </p:nvSpPr>
        <p:spPr>
          <a:xfrm>
            <a:off x="457200" y="5852160"/>
            <a:ext cx="11247120" cy="475488"/>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749808" y="5980176"/>
            <a:ext cx="841248" cy="210312"/>
          </a:xfrm>
          <a:prstGeom prst="rect">
            <a:avLst/>
          </a:prstGeom>
          <a:noFill/>
        </p:spPr>
        <p:txBody>
          <a:bodyPr wrap="square" lIns="0" rIns="0" tIns="0" bIns="0" anchor="t">
            <a:spAutoFit/>
          </a:bodyPr>
          <a:lstStyle/>
          <a:p>
            <a:pPr algn="l">
              <a:spcAft>
                <a:spcPts val="0"/>
              </a:spcAft>
            </a:pPr>
            <a:r>
              <a:rPr sz="1220" b="1" i="0">
                <a:solidFill>
                  <a:srgbClr val="FFFFFF"/>
                </a:solidFill>
                <a:latin typeface="Arial"/>
              </a:rPr>
              <a:t>expiMap:</a:t>
            </a:r>
          </a:p>
        </p:txBody>
      </p:sp>
      <p:sp>
        <p:nvSpPr>
          <p:cNvPr id="111" name="TextBox 110"/>
          <p:cNvSpPr txBox="1"/>
          <p:nvPr/>
        </p:nvSpPr>
        <p:spPr>
          <a:xfrm>
            <a:off x="1655064" y="5980176"/>
            <a:ext cx="9509760" cy="210312"/>
          </a:xfrm>
          <a:prstGeom prst="rect">
            <a:avLst/>
          </a:prstGeom>
          <a:noFill/>
        </p:spPr>
        <p:txBody>
          <a:bodyPr wrap="square" lIns="0" rIns="0" tIns="0" bIns="0" anchor="t">
            <a:spAutoFit/>
          </a:bodyPr>
          <a:lstStyle/>
          <a:p>
            <a:pPr algn="l">
              <a:spcAft>
                <a:spcPts val="0"/>
              </a:spcAft>
            </a:pPr>
            <a:r>
              <a:rPr sz="1220" b="0" i="0">
                <a:solidFill>
                  <a:srgbClr val="DCE7F2"/>
                </a:solidFill>
                <a:latin typeface="Arial"/>
              </a:rPr>
              <a:t>each constrained latent variable corresponds to a Reactome gene program.</a:t>
            </a:r>
          </a:p>
        </p:txBody>
      </p:sp>
      <p:sp>
        <p:nvSpPr>
          <p:cNvPr id="112" name="TextBox 111"/>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Concept adapted from the midpoint presentation. expiMap: Lotfollahi et al., Nature Cell Biology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EXPIMAP</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Reactome pathways make the latent space interpretable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Tissue-matched ARCHS4 references define the background; OSDR FLT and GC samples are mapped as queries.</a:t>
            </a:r>
          </a:p>
        </p:txBody>
      </p:sp>
      <p:pic>
        <p:nvPicPr>
          <p:cNvPr id="7" name="expiMap ARCHS4 reference training, Reactome mask, and OSDR query workflow" descr="expiMap ARCHS4 reference training, Reactome mask, and OSDR query workflow"/>
          <p:cNvPicPr>
            <a:picLocks noChangeAspect="1"/>
          </p:cNvPicPr>
          <p:nvPr/>
        </p:nvPicPr>
        <p:blipFill>
          <a:blip r:embed="rId2"/>
          <a:stretch>
            <a:fillRect/>
          </a:stretch>
        </p:blipFill>
        <p:spPr>
          <a:xfrm>
            <a:off x="704972" y="1755648"/>
            <a:ext cx="6965958" cy="4498848"/>
          </a:xfrm>
          <a:prstGeom prst="rect">
            <a:avLst/>
          </a:prstGeom>
        </p:spPr>
      </p:pic>
      <p:sp>
        <p:nvSpPr>
          <p:cNvPr id="8" name="Rectangle 7"/>
          <p:cNvSpPr/>
          <p:nvPr/>
        </p:nvSpPr>
        <p:spPr>
          <a:xfrm>
            <a:off x="8229600" y="1847088"/>
            <a:ext cx="13716" cy="420624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40496" y="1920240"/>
            <a:ext cx="1225296" cy="219456"/>
          </a:xfrm>
          <a:prstGeom prst="rect">
            <a:avLst/>
          </a:prstGeom>
          <a:noFill/>
        </p:spPr>
        <p:txBody>
          <a:bodyPr wrap="square" lIns="0" rIns="0" tIns="0" bIns="0" anchor="t">
            <a:spAutoFit/>
          </a:bodyPr>
          <a:lstStyle/>
          <a:p>
            <a:pPr algn="l">
              <a:spcAft>
                <a:spcPts val="0"/>
              </a:spcAft>
            </a:pPr>
            <a:r>
              <a:rPr sz="1019" b="1" i="0">
                <a:solidFill>
                  <a:srgbClr val="2D6496"/>
                </a:solidFill>
                <a:latin typeface="Arial"/>
              </a:rPr>
              <a:t>MODEL SCOPE</a:t>
            </a:r>
          </a:p>
        </p:txBody>
      </p:sp>
      <p:sp>
        <p:nvSpPr>
          <p:cNvPr id="10" name="TextBox 9"/>
          <p:cNvSpPr txBox="1"/>
          <p:nvPr/>
        </p:nvSpPr>
        <p:spPr>
          <a:xfrm>
            <a:off x="8540496" y="2331720"/>
            <a:ext cx="1133856" cy="347472"/>
          </a:xfrm>
          <a:prstGeom prst="rect">
            <a:avLst/>
          </a:prstGeom>
          <a:noFill/>
        </p:spPr>
        <p:txBody>
          <a:bodyPr wrap="square" lIns="0" rIns="0" tIns="0" bIns="0" anchor="t">
            <a:spAutoFit/>
          </a:bodyPr>
          <a:lstStyle/>
          <a:p>
            <a:pPr algn="l">
              <a:spcAft>
                <a:spcPts val="0"/>
              </a:spcAft>
            </a:pPr>
            <a:r>
              <a:rPr sz="2000" b="1" i="0">
                <a:solidFill>
                  <a:srgbClr val="178681"/>
                </a:solidFill>
                <a:latin typeface="Arial"/>
              </a:rPr>
              <a:t>17,708</a:t>
            </a:r>
          </a:p>
        </p:txBody>
      </p:sp>
      <p:sp>
        <p:nvSpPr>
          <p:cNvPr id="11" name="TextBox 10"/>
          <p:cNvSpPr txBox="1"/>
          <p:nvPr/>
        </p:nvSpPr>
        <p:spPr>
          <a:xfrm>
            <a:off x="9738360" y="2350008"/>
            <a:ext cx="1664208" cy="393192"/>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ARCHS4 reference profiles</a:t>
            </a:r>
          </a:p>
        </p:txBody>
      </p:sp>
      <p:sp>
        <p:nvSpPr>
          <p:cNvPr id="12" name="Rectangle 11"/>
          <p:cNvSpPr/>
          <p:nvPr/>
        </p:nvSpPr>
        <p:spPr>
          <a:xfrm>
            <a:off x="8540496" y="2971799"/>
            <a:ext cx="2743200"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40496" y="3118103"/>
            <a:ext cx="1133856" cy="347472"/>
          </a:xfrm>
          <a:prstGeom prst="rect">
            <a:avLst/>
          </a:prstGeom>
          <a:noFill/>
        </p:spPr>
        <p:txBody>
          <a:bodyPr wrap="square" lIns="0" rIns="0" tIns="0" bIns="0" anchor="t">
            <a:spAutoFit/>
          </a:bodyPr>
          <a:lstStyle/>
          <a:p>
            <a:pPr algn="l">
              <a:spcAft>
                <a:spcPts val="0"/>
              </a:spcAft>
            </a:pPr>
            <a:r>
              <a:rPr sz="2000" b="1" i="0">
                <a:solidFill>
                  <a:srgbClr val="178681"/>
                </a:solidFill>
                <a:latin typeface="Arial"/>
              </a:rPr>
              <a:t>700</a:t>
            </a:r>
          </a:p>
        </p:txBody>
      </p:sp>
      <p:sp>
        <p:nvSpPr>
          <p:cNvPr id="14" name="TextBox 13"/>
          <p:cNvSpPr txBox="1"/>
          <p:nvPr/>
        </p:nvSpPr>
        <p:spPr>
          <a:xfrm>
            <a:off x="9738360" y="3136391"/>
            <a:ext cx="1664208" cy="393192"/>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OSDR profiles in the primary effects</a:t>
            </a:r>
          </a:p>
        </p:txBody>
      </p:sp>
      <p:sp>
        <p:nvSpPr>
          <p:cNvPr id="15" name="Rectangle 14"/>
          <p:cNvSpPr/>
          <p:nvPr/>
        </p:nvSpPr>
        <p:spPr>
          <a:xfrm>
            <a:off x="8540496" y="3758183"/>
            <a:ext cx="2743200"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40496" y="3904487"/>
            <a:ext cx="1133856" cy="347472"/>
          </a:xfrm>
          <a:prstGeom prst="rect">
            <a:avLst/>
          </a:prstGeom>
          <a:noFill/>
        </p:spPr>
        <p:txBody>
          <a:bodyPr wrap="square" lIns="0" rIns="0" tIns="0" bIns="0" anchor="t">
            <a:spAutoFit/>
          </a:bodyPr>
          <a:lstStyle/>
          <a:p>
            <a:pPr algn="l">
              <a:spcAft>
                <a:spcPts val="0"/>
              </a:spcAft>
            </a:pPr>
            <a:r>
              <a:rPr sz="2000" b="1" i="0">
                <a:solidFill>
                  <a:srgbClr val="178681"/>
                </a:solidFill>
                <a:latin typeface="Arial"/>
              </a:rPr>
              <a:t>~2,000</a:t>
            </a:r>
          </a:p>
        </p:txBody>
      </p:sp>
      <p:sp>
        <p:nvSpPr>
          <p:cNvPr id="17" name="TextBox 16"/>
          <p:cNvSpPr txBox="1"/>
          <p:nvPr/>
        </p:nvSpPr>
        <p:spPr>
          <a:xfrm>
            <a:off x="9738360" y="3922775"/>
            <a:ext cx="1664208" cy="393192"/>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highly variable genes per tissue</a:t>
            </a:r>
          </a:p>
        </p:txBody>
      </p:sp>
      <p:sp>
        <p:nvSpPr>
          <p:cNvPr id="18" name="Rectangle 17"/>
          <p:cNvSpPr/>
          <p:nvPr/>
        </p:nvSpPr>
        <p:spPr>
          <a:xfrm>
            <a:off x="8540496" y="4544568"/>
            <a:ext cx="2743200"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40496" y="4690872"/>
            <a:ext cx="1133856" cy="347472"/>
          </a:xfrm>
          <a:prstGeom prst="rect">
            <a:avLst/>
          </a:prstGeom>
          <a:noFill/>
        </p:spPr>
        <p:txBody>
          <a:bodyPr wrap="square" lIns="0" rIns="0" tIns="0" bIns="0" anchor="t">
            <a:spAutoFit/>
          </a:bodyPr>
          <a:lstStyle/>
          <a:p>
            <a:pPr algn="l">
              <a:spcAft>
                <a:spcPts val="0"/>
              </a:spcAft>
            </a:pPr>
            <a:r>
              <a:rPr sz="2000" b="1" i="0">
                <a:solidFill>
                  <a:srgbClr val="178681"/>
                </a:solidFill>
                <a:latin typeface="Arial"/>
              </a:rPr>
              <a:t>319-387</a:t>
            </a:r>
          </a:p>
        </p:txBody>
      </p:sp>
      <p:sp>
        <p:nvSpPr>
          <p:cNvPr id="20" name="TextBox 19"/>
          <p:cNvSpPr txBox="1"/>
          <p:nvPr/>
        </p:nvSpPr>
        <p:spPr>
          <a:xfrm>
            <a:off x="9738360" y="4709159"/>
            <a:ext cx="1664208" cy="393192"/>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Reactome programs per primary model</a:t>
            </a:r>
          </a:p>
        </p:txBody>
      </p:sp>
      <p:sp>
        <p:nvSpPr>
          <p:cNvPr id="21" name="TextBox 20"/>
          <p:cNvSpPr txBox="1"/>
          <p:nvPr/>
        </p:nvSpPr>
        <p:spPr>
          <a:xfrm>
            <a:off x="8540496" y="5541264"/>
            <a:ext cx="2743200" cy="457200"/>
          </a:xfrm>
          <a:prstGeom prst="rect">
            <a:avLst/>
          </a:prstGeom>
          <a:noFill/>
        </p:spPr>
        <p:txBody>
          <a:bodyPr wrap="square" lIns="0" rIns="0" tIns="0" bIns="0" anchor="t">
            <a:spAutoFit/>
          </a:bodyPr>
          <a:lstStyle/>
          <a:p>
            <a:pPr algn="l">
              <a:spcAft>
                <a:spcPts val="0"/>
              </a:spcAft>
            </a:pPr>
            <a:r>
              <a:rPr sz="1130" b="0" i="0">
                <a:solidFill>
                  <a:srgbClr val="59697A"/>
                </a:solidFill>
                <a:latin typeface="Arial"/>
              </a:rPr>
              <a:t>Reference training and query mapping were run separately for each tissue.</a:t>
            </a:r>
          </a:p>
        </p:txBody>
      </p:sp>
      <p:sp>
        <p:nvSpPr>
          <p:cNvPr id="22" name="TextBox 21"/>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 expiMap manuscript Figure 1 and Tables 1/S25. Implementation: src/expiMap_scarches/nasa_mouse_expimap/.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EXPIMAP RESULTS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Four tissues produced the clearest pathway patterns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Effects were estimated within each project before the project-level shifts were combined.</a:t>
            </a:r>
          </a:p>
        </p:txBody>
      </p:sp>
      <p:sp>
        <p:nvSpPr>
          <p:cNvPr id="7" name="Rectangle 6"/>
          <p:cNvSpPr/>
          <p:nvPr/>
        </p:nvSpPr>
        <p:spPr>
          <a:xfrm>
            <a:off x="438912" y="1847088"/>
            <a:ext cx="11320272" cy="896112"/>
          </a:xfrm>
          <a:prstGeom prst="rect">
            <a:avLst/>
          </a:prstGeom>
          <a:solidFill>
            <a:srgbClr val="F1EDF7"/>
          </a:solidFill>
          <a:ln w="10160">
            <a:solidFill>
              <a:srgbClr val="F1ED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1847088"/>
            <a:ext cx="68580" cy="89611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2011680"/>
            <a:ext cx="1298448" cy="292608"/>
          </a:xfrm>
          <a:prstGeom prst="rect">
            <a:avLst/>
          </a:prstGeom>
          <a:noFill/>
        </p:spPr>
        <p:txBody>
          <a:bodyPr wrap="square" lIns="0" rIns="0" tIns="0" bIns="0" anchor="t">
            <a:spAutoFit/>
          </a:bodyPr>
          <a:lstStyle/>
          <a:p>
            <a:pPr algn="l">
              <a:spcAft>
                <a:spcPts val="0"/>
              </a:spcAft>
            </a:pPr>
            <a:r>
              <a:rPr sz="1700" b="1" i="0">
                <a:solidFill>
                  <a:srgbClr val="8063A6"/>
                </a:solidFill>
                <a:latin typeface="Arial"/>
              </a:rPr>
              <a:t>Thymus</a:t>
            </a:r>
          </a:p>
        </p:txBody>
      </p:sp>
      <p:sp>
        <p:nvSpPr>
          <p:cNvPr id="10" name="TextBox 9"/>
          <p:cNvSpPr txBox="1"/>
          <p:nvPr/>
        </p:nvSpPr>
        <p:spPr>
          <a:xfrm>
            <a:off x="694944" y="2359152"/>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117 samples | 5 projects</a:t>
            </a:r>
          </a:p>
        </p:txBody>
      </p:sp>
      <p:sp>
        <p:nvSpPr>
          <p:cNvPr id="11" name="TextBox 10"/>
          <p:cNvSpPr txBox="1"/>
          <p:nvPr/>
        </p:nvSpPr>
        <p:spPr>
          <a:xfrm>
            <a:off x="2322576" y="1993392"/>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12" name="TextBox 11"/>
          <p:cNvSpPr txBox="1"/>
          <p:nvPr/>
        </p:nvSpPr>
        <p:spPr>
          <a:xfrm>
            <a:off x="2322576" y="2240280"/>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DNA repair; RHOA cytoskeletal cycle; lymphoid-stromal interactions</a:t>
            </a:r>
          </a:p>
        </p:txBody>
      </p:sp>
      <p:sp>
        <p:nvSpPr>
          <p:cNvPr id="13" name="Rectangle 12"/>
          <p:cNvSpPr/>
          <p:nvPr/>
        </p:nvSpPr>
        <p:spPr>
          <a:xfrm>
            <a:off x="6419088" y="1993392"/>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2020824"/>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Known involution may also involve lower repair, motility, and niche coordination.</a:t>
            </a:r>
          </a:p>
        </p:txBody>
      </p:sp>
      <p:sp>
        <p:nvSpPr>
          <p:cNvPr id="15" name="Rectangle 14"/>
          <p:cNvSpPr/>
          <p:nvPr/>
        </p:nvSpPr>
        <p:spPr>
          <a:xfrm>
            <a:off x="438912" y="2916936"/>
            <a:ext cx="11320272" cy="896112"/>
          </a:xfrm>
          <a:prstGeom prst="rect">
            <a:avLst/>
          </a:prstGeom>
          <a:solidFill>
            <a:srgbClr val="F8F1E2"/>
          </a:solidFill>
          <a:ln w="10160">
            <a:solidFill>
              <a:srgbClr val="F8F1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 y="2916936"/>
            <a:ext cx="68580" cy="89611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944" y="3081528"/>
            <a:ext cx="1298448" cy="292608"/>
          </a:xfrm>
          <a:prstGeom prst="rect">
            <a:avLst/>
          </a:prstGeom>
          <a:noFill/>
        </p:spPr>
        <p:txBody>
          <a:bodyPr wrap="square" lIns="0" rIns="0" tIns="0" bIns="0" anchor="t">
            <a:spAutoFit/>
          </a:bodyPr>
          <a:lstStyle/>
          <a:p>
            <a:pPr algn="l">
              <a:spcAft>
                <a:spcPts val="0"/>
              </a:spcAft>
            </a:pPr>
            <a:r>
              <a:rPr sz="1700" b="1" i="0">
                <a:solidFill>
                  <a:srgbClr val="D37B00"/>
                </a:solidFill>
                <a:latin typeface="Arial"/>
              </a:rPr>
              <a:t>Skin</a:t>
            </a:r>
          </a:p>
        </p:txBody>
      </p:sp>
      <p:sp>
        <p:nvSpPr>
          <p:cNvPr id="18" name="TextBox 17"/>
          <p:cNvSpPr txBox="1"/>
          <p:nvPr/>
        </p:nvSpPr>
        <p:spPr>
          <a:xfrm>
            <a:off x="694944" y="3429000"/>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151 samples | 4 projects</a:t>
            </a:r>
          </a:p>
        </p:txBody>
      </p:sp>
      <p:sp>
        <p:nvSpPr>
          <p:cNvPr id="19" name="TextBox 18"/>
          <p:cNvSpPr txBox="1"/>
          <p:nvPr/>
        </p:nvSpPr>
        <p:spPr>
          <a:xfrm>
            <a:off x="2322576" y="3063240"/>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20" name="TextBox 19"/>
          <p:cNvSpPr txBox="1"/>
          <p:nvPr/>
        </p:nvSpPr>
        <p:spPr>
          <a:xfrm>
            <a:off x="2322576" y="3310128"/>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Chromatin regulation; DNA repair; Hedgehog; sphingolipids; cell junctions</a:t>
            </a:r>
          </a:p>
        </p:txBody>
      </p:sp>
      <p:sp>
        <p:nvSpPr>
          <p:cNvPr id="21" name="Rectangle 20"/>
          <p:cNvSpPr/>
          <p:nvPr/>
        </p:nvSpPr>
        <p:spPr>
          <a:xfrm>
            <a:off x="6419088" y="3063240"/>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0" y="3090672"/>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Barrier injury may include a broader loss of tissue maintenance and coordination.</a:t>
            </a:r>
          </a:p>
        </p:txBody>
      </p:sp>
      <p:sp>
        <p:nvSpPr>
          <p:cNvPr id="23" name="Rectangle 22"/>
          <p:cNvSpPr/>
          <p:nvPr/>
        </p:nvSpPr>
        <p:spPr>
          <a:xfrm>
            <a:off x="438912" y="3986783"/>
            <a:ext cx="11320272" cy="896112"/>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8912" y="3986783"/>
            <a:ext cx="68580" cy="89611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4944" y="4151375"/>
            <a:ext cx="1298448" cy="292608"/>
          </a:xfrm>
          <a:prstGeom prst="rect">
            <a:avLst/>
          </a:prstGeom>
          <a:noFill/>
        </p:spPr>
        <p:txBody>
          <a:bodyPr wrap="square" lIns="0" rIns="0" tIns="0" bIns="0" anchor="t">
            <a:spAutoFit/>
          </a:bodyPr>
          <a:lstStyle/>
          <a:p>
            <a:pPr algn="l">
              <a:spcAft>
                <a:spcPts val="0"/>
              </a:spcAft>
            </a:pPr>
            <a:r>
              <a:rPr sz="1700" b="1" i="0">
                <a:solidFill>
                  <a:srgbClr val="178681"/>
                </a:solidFill>
                <a:latin typeface="Arial"/>
              </a:rPr>
              <a:t>Liver</a:t>
            </a:r>
          </a:p>
        </p:txBody>
      </p:sp>
      <p:sp>
        <p:nvSpPr>
          <p:cNvPr id="26" name="TextBox 25"/>
          <p:cNvSpPr txBox="1"/>
          <p:nvPr/>
        </p:nvSpPr>
        <p:spPr>
          <a:xfrm>
            <a:off x="694944" y="4498848"/>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197 samples | 9 projects</a:t>
            </a:r>
          </a:p>
        </p:txBody>
      </p:sp>
      <p:sp>
        <p:nvSpPr>
          <p:cNvPr id="27" name="TextBox 26"/>
          <p:cNvSpPr txBox="1"/>
          <p:nvPr/>
        </p:nvSpPr>
        <p:spPr>
          <a:xfrm>
            <a:off x="2322576" y="4133087"/>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28" name="TextBox 27"/>
          <p:cNvSpPr txBox="1"/>
          <p:nvPr/>
        </p:nvSpPr>
        <p:spPr>
          <a:xfrm>
            <a:off x="2322576" y="4379975"/>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MHC class II antigen presentation; T-cell receptor signaling</a:t>
            </a:r>
          </a:p>
        </p:txBody>
      </p:sp>
      <p:sp>
        <p:nvSpPr>
          <p:cNvPr id="29" name="Rectangle 28"/>
          <p:cNvSpPr/>
          <p:nvPr/>
        </p:nvSpPr>
        <p:spPr>
          <a:xfrm>
            <a:off x="6419088" y="4133087"/>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0" y="4160520"/>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Metabolic heterogeneity coexisted with lower adaptive immune communication.</a:t>
            </a:r>
          </a:p>
        </p:txBody>
      </p:sp>
      <p:sp>
        <p:nvSpPr>
          <p:cNvPr id="31" name="Rectangle 30"/>
          <p:cNvSpPr/>
          <p:nvPr/>
        </p:nvSpPr>
        <p:spPr>
          <a:xfrm>
            <a:off x="438912" y="5056631"/>
            <a:ext cx="11320272" cy="896112"/>
          </a:xfrm>
          <a:prstGeom prst="rect">
            <a:avLst/>
          </a:prstGeom>
          <a:solidFill>
            <a:srgbClr val="F8ECE9"/>
          </a:solidFill>
          <a:ln w="10160">
            <a:solidFill>
              <a:srgbClr val="F8E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38912" y="5056631"/>
            <a:ext cx="68580" cy="896112"/>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4944" y="5221223"/>
            <a:ext cx="1298448" cy="292608"/>
          </a:xfrm>
          <a:prstGeom prst="rect">
            <a:avLst/>
          </a:prstGeom>
          <a:noFill/>
        </p:spPr>
        <p:txBody>
          <a:bodyPr wrap="square" lIns="0" rIns="0" tIns="0" bIns="0" anchor="t">
            <a:spAutoFit/>
          </a:bodyPr>
          <a:lstStyle/>
          <a:p>
            <a:pPr algn="l">
              <a:spcAft>
                <a:spcPts val="0"/>
              </a:spcAft>
            </a:pPr>
            <a:r>
              <a:rPr sz="1700" b="1" i="0">
                <a:solidFill>
                  <a:srgbClr val="D96552"/>
                </a:solidFill>
                <a:latin typeface="Arial"/>
              </a:rPr>
              <a:t>Spleen</a:t>
            </a:r>
          </a:p>
        </p:txBody>
      </p:sp>
      <p:sp>
        <p:nvSpPr>
          <p:cNvPr id="34" name="TextBox 33"/>
          <p:cNvSpPr txBox="1"/>
          <p:nvPr/>
        </p:nvSpPr>
        <p:spPr>
          <a:xfrm>
            <a:off x="694944" y="5568696"/>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100 samples | 5 projects</a:t>
            </a:r>
          </a:p>
        </p:txBody>
      </p:sp>
      <p:sp>
        <p:nvSpPr>
          <p:cNvPr id="35" name="TextBox 34"/>
          <p:cNvSpPr txBox="1"/>
          <p:nvPr/>
        </p:nvSpPr>
        <p:spPr>
          <a:xfrm>
            <a:off x="2322576" y="5202936"/>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36" name="TextBox 35"/>
          <p:cNvSpPr txBox="1"/>
          <p:nvPr/>
        </p:nvSpPr>
        <p:spPr>
          <a:xfrm>
            <a:off x="2322576" y="5449823"/>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T-cell receptor signaling; neutrophil degranulation; C-type lectin signaling</a:t>
            </a:r>
          </a:p>
        </p:txBody>
      </p:sp>
      <p:sp>
        <p:nvSpPr>
          <p:cNvPr id="37" name="Rectangle 36"/>
          <p:cNvSpPr/>
          <p:nvPr/>
        </p:nvSpPr>
        <p:spPr>
          <a:xfrm>
            <a:off x="6419088" y="5202936"/>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75120" y="5230368"/>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The most consistent multi-pathway result joined adaptive and innate immune changes.</a:t>
            </a:r>
          </a:p>
        </p:txBody>
      </p:sp>
      <p:sp>
        <p:nvSpPr>
          <p:cNvPr id="39" name="TextBox 3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 expiMap manuscript Figures 3 and 6. Lower latent scores do not by themselves prove biochemical inhibition.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BACKGROUND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What is synthetic transcriptomics?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generator learns patterns in measured RNA-seq data, then samples new expression vectors under chosen conditions.</a:t>
            </a:r>
          </a:p>
        </p:txBody>
      </p:sp>
      <p:sp>
        <p:nvSpPr>
          <p:cNvPr id="7" name="TextBox 6"/>
          <p:cNvSpPr txBox="1"/>
          <p:nvPr/>
        </p:nvSpPr>
        <p:spPr>
          <a:xfrm>
            <a:off x="457200" y="1920240"/>
            <a:ext cx="384048" cy="228600"/>
          </a:xfrm>
          <a:prstGeom prst="rect">
            <a:avLst/>
          </a:prstGeom>
          <a:noFill/>
        </p:spPr>
        <p:txBody>
          <a:bodyPr wrap="square" lIns="0" rIns="0" tIns="0" bIns="0" anchor="t">
            <a:spAutoFit/>
          </a:bodyPr>
          <a:lstStyle/>
          <a:p>
            <a:pPr algn="l">
              <a:spcAft>
                <a:spcPts val="0"/>
              </a:spcAft>
            </a:pPr>
            <a:r>
              <a:rPr sz="1100" b="1" i="0">
                <a:solidFill>
                  <a:srgbClr val="2D6496"/>
                </a:solidFill>
                <a:latin typeface="Arial"/>
              </a:rPr>
              <a:t>01</a:t>
            </a:r>
          </a:p>
        </p:txBody>
      </p:sp>
      <p:sp>
        <p:nvSpPr>
          <p:cNvPr id="8" name="TextBox 7"/>
          <p:cNvSpPr txBox="1"/>
          <p:nvPr/>
        </p:nvSpPr>
        <p:spPr>
          <a:xfrm>
            <a:off x="914400"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Observed profiles</a:t>
            </a:r>
          </a:p>
        </p:txBody>
      </p:sp>
      <p:sp>
        <p:nvSpPr>
          <p:cNvPr id="9" name="Rectangle 8"/>
          <p:cNvSpPr/>
          <p:nvPr/>
        </p:nvSpPr>
        <p:spPr>
          <a:xfrm>
            <a:off x="457200" y="2359152"/>
            <a:ext cx="3273552" cy="3401568"/>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52144" y="2770632"/>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1790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883664" y="2770632"/>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24942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518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638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152144" y="3054096"/>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51790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8366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249424" y="3054096"/>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61518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8638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15214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517904" y="3337560"/>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88366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249424" y="3337560"/>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61518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86384" y="3621024"/>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52144" y="3621024"/>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517904" y="3621024"/>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883664" y="3621024"/>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249424" y="3621024"/>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615184" y="3621024"/>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86384" y="3904487"/>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152144" y="3904487"/>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517904" y="3904487"/>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883664" y="3904487"/>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249424" y="3904487"/>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2615184" y="3904487"/>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86384" y="4315968"/>
            <a:ext cx="2093976" cy="182880"/>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genes</a:t>
            </a:r>
          </a:p>
        </p:txBody>
      </p:sp>
      <p:sp>
        <p:nvSpPr>
          <p:cNvPr id="41" name="TextBox 40"/>
          <p:cNvSpPr txBox="1"/>
          <p:nvPr/>
        </p:nvSpPr>
        <p:spPr>
          <a:xfrm>
            <a:off x="2962656" y="3310128"/>
            <a:ext cx="493776" cy="201168"/>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profiles</a:t>
            </a:r>
          </a:p>
        </p:txBody>
      </p:sp>
      <p:sp>
        <p:nvSpPr>
          <p:cNvPr id="42" name="Rectangle 41"/>
          <p:cNvSpPr/>
          <p:nvPr/>
        </p:nvSpPr>
        <p:spPr>
          <a:xfrm>
            <a:off x="713232" y="4645152"/>
            <a:ext cx="2761488" cy="16459"/>
          </a:xfrm>
          <a:prstGeom prst="rect">
            <a:avLst/>
          </a:prstGeom>
          <a:solidFill>
            <a:srgbClr val="D3D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1520" y="4846320"/>
            <a:ext cx="2724912" cy="658368"/>
          </a:xfrm>
          <a:prstGeom prst="rect">
            <a:avLst/>
          </a:prstGeom>
          <a:noFill/>
        </p:spPr>
        <p:txBody>
          <a:bodyPr wrap="square" lIns="0" rIns="0" tIns="0" bIns="0" anchor="ctr">
            <a:spAutoFit/>
          </a:bodyPr>
          <a:lstStyle/>
          <a:p>
            <a:pPr algn="l">
              <a:spcAft>
                <a:spcPts val="0"/>
              </a:spcAft>
            </a:pPr>
            <a:r>
              <a:rPr sz="1420" b="0" i="0">
                <a:solidFill>
                  <a:srgbClr val="263746"/>
                </a:solidFill>
                <a:latin typeface="Arial"/>
              </a:rPr>
              <a:t>Measured gene expression from real mouse tissue</a:t>
            </a:r>
          </a:p>
        </p:txBody>
      </p:sp>
      <p:sp>
        <p:nvSpPr>
          <p:cNvPr id="44" name="Right Arrow 43"/>
          <p:cNvSpPr/>
          <p:nvPr/>
        </p:nvSpPr>
        <p:spPr>
          <a:xfrm>
            <a:off x="3794760" y="3657600"/>
            <a:ext cx="310896"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224528" y="1920240"/>
            <a:ext cx="384048" cy="228600"/>
          </a:xfrm>
          <a:prstGeom prst="rect">
            <a:avLst/>
          </a:prstGeom>
          <a:noFill/>
        </p:spPr>
        <p:txBody>
          <a:bodyPr wrap="square" lIns="0" rIns="0" tIns="0" bIns="0" anchor="t">
            <a:spAutoFit/>
          </a:bodyPr>
          <a:lstStyle/>
          <a:p>
            <a:pPr algn="l">
              <a:spcAft>
                <a:spcPts val="0"/>
              </a:spcAft>
            </a:pPr>
            <a:r>
              <a:rPr sz="1100" b="1" i="0">
                <a:solidFill>
                  <a:srgbClr val="D37B00"/>
                </a:solidFill>
                <a:latin typeface="Arial"/>
              </a:rPr>
              <a:t>02</a:t>
            </a:r>
          </a:p>
        </p:txBody>
      </p:sp>
      <p:sp>
        <p:nvSpPr>
          <p:cNvPr id="46" name="TextBox 45"/>
          <p:cNvSpPr txBox="1"/>
          <p:nvPr/>
        </p:nvSpPr>
        <p:spPr>
          <a:xfrm>
            <a:off x="4681728"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Learn the distribution</a:t>
            </a:r>
          </a:p>
        </p:txBody>
      </p:sp>
      <p:sp>
        <p:nvSpPr>
          <p:cNvPr id="47" name="Rectangle 46"/>
          <p:cNvSpPr/>
          <p:nvPr/>
        </p:nvSpPr>
        <p:spPr>
          <a:xfrm>
            <a:off x="4224528" y="2359152"/>
            <a:ext cx="3273552" cy="3401568"/>
          </a:xfrm>
          <a:prstGeom prst="rect">
            <a:avLst/>
          </a:prstGeom>
          <a:solidFill>
            <a:srgbClr val="F8F1E2"/>
          </a:solidFill>
          <a:ln w="10160">
            <a:solidFill>
              <a:srgbClr val="F8F1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flipV="1">
            <a:off x="4626864" y="2999232"/>
            <a:ext cx="612648" cy="475488"/>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4626864" y="3474720"/>
            <a:ext cx="612648" cy="512064"/>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239512" y="2999232"/>
            <a:ext cx="667512"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239512" y="3493008"/>
            <a:ext cx="667512"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5907024" y="2999232"/>
            <a:ext cx="658368"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5907024" y="3493008"/>
            <a:ext cx="658368"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6565392" y="2999232"/>
            <a:ext cx="548640"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565392" y="3493008"/>
            <a:ext cx="548640"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4553712" y="3401568"/>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5166360" y="2926080"/>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5166360" y="3913632"/>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5833872" y="3419856"/>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6492240" y="2926080"/>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6492240" y="3913632"/>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7040880" y="3419856"/>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480560" y="4645152"/>
            <a:ext cx="2761488" cy="16459"/>
          </a:xfrm>
          <a:prstGeom prst="rect">
            <a:avLst/>
          </a:prstGeom>
          <a:solidFill>
            <a:srgbClr val="D3D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498848" y="4846320"/>
            <a:ext cx="2724912" cy="658368"/>
          </a:xfrm>
          <a:prstGeom prst="rect">
            <a:avLst/>
          </a:prstGeom>
          <a:noFill/>
        </p:spPr>
        <p:txBody>
          <a:bodyPr wrap="square" lIns="0" rIns="0" tIns="0" bIns="0" anchor="ctr">
            <a:spAutoFit/>
          </a:bodyPr>
          <a:lstStyle/>
          <a:p>
            <a:pPr algn="l">
              <a:spcAft>
                <a:spcPts val="0"/>
              </a:spcAft>
            </a:pPr>
            <a:r>
              <a:rPr sz="1420" b="0" i="0">
                <a:solidFill>
                  <a:srgbClr val="263746"/>
                </a:solidFill>
                <a:latin typeface="Arial"/>
              </a:rPr>
              <a:t>Capture gene relationships and variation by tissue and FLT/GC condition</a:t>
            </a:r>
          </a:p>
        </p:txBody>
      </p:sp>
      <p:sp>
        <p:nvSpPr>
          <p:cNvPr id="65" name="Right Arrow 64"/>
          <p:cNvSpPr/>
          <p:nvPr/>
        </p:nvSpPr>
        <p:spPr>
          <a:xfrm>
            <a:off x="7562088" y="3657600"/>
            <a:ext cx="310896"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991856" y="1920240"/>
            <a:ext cx="384048" cy="228600"/>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03</a:t>
            </a:r>
          </a:p>
        </p:txBody>
      </p:sp>
      <p:sp>
        <p:nvSpPr>
          <p:cNvPr id="67" name="TextBox 66"/>
          <p:cNvSpPr txBox="1"/>
          <p:nvPr/>
        </p:nvSpPr>
        <p:spPr>
          <a:xfrm>
            <a:off x="8449056"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Synthetic profiles</a:t>
            </a:r>
          </a:p>
        </p:txBody>
      </p:sp>
      <p:sp>
        <p:nvSpPr>
          <p:cNvPr id="68" name="Rectangle 67"/>
          <p:cNvSpPr/>
          <p:nvPr/>
        </p:nvSpPr>
        <p:spPr>
          <a:xfrm>
            <a:off x="7991856" y="2359152"/>
            <a:ext cx="3273552" cy="3401568"/>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832104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686800" y="2770632"/>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905256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41832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9784080" y="2770632"/>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014984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32104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868680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9052560" y="3054096"/>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941832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9784080" y="3054096"/>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014984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8321040" y="3337560"/>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8686800" y="3337560"/>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9052560" y="3337560"/>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418320" y="3337560"/>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9784080" y="3337560"/>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10149840" y="3337560"/>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8321040" y="3621024"/>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8686800" y="3621024"/>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9052560" y="3621024"/>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418320" y="3621024"/>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9784080" y="3621024"/>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10149840" y="3621024"/>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832104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8686800" y="3904487"/>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905256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9418320" y="3904487"/>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978408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014984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8321040" y="4315968"/>
            <a:ext cx="2093976" cy="182880"/>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genes</a:t>
            </a:r>
          </a:p>
        </p:txBody>
      </p:sp>
      <p:sp>
        <p:nvSpPr>
          <p:cNvPr id="100" name="TextBox 99"/>
          <p:cNvSpPr txBox="1"/>
          <p:nvPr/>
        </p:nvSpPr>
        <p:spPr>
          <a:xfrm>
            <a:off x="10497312" y="3310128"/>
            <a:ext cx="493776" cy="201168"/>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profiles</a:t>
            </a:r>
          </a:p>
        </p:txBody>
      </p:sp>
      <p:sp>
        <p:nvSpPr>
          <p:cNvPr id="101" name="Rectangle 100"/>
          <p:cNvSpPr/>
          <p:nvPr/>
        </p:nvSpPr>
        <p:spPr>
          <a:xfrm>
            <a:off x="8247888" y="4645152"/>
            <a:ext cx="2761488" cy="16459"/>
          </a:xfrm>
          <a:prstGeom prst="rect">
            <a:avLst/>
          </a:prstGeom>
          <a:solidFill>
            <a:srgbClr val="D3D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266176" y="4846320"/>
            <a:ext cx="2724912" cy="658368"/>
          </a:xfrm>
          <a:prstGeom prst="rect">
            <a:avLst/>
          </a:prstGeom>
          <a:noFill/>
        </p:spPr>
        <p:txBody>
          <a:bodyPr wrap="square" lIns="0" rIns="0" tIns="0" bIns="0" anchor="ctr">
            <a:spAutoFit/>
          </a:bodyPr>
          <a:lstStyle/>
          <a:p>
            <a:pPr algn="l">
              <a:spcAft>
                <a:spcPts val="0"/>
              </a:spcAft>
            </a:pPr>
            <a:r>
              <a:rPr sz="1420" b="0" i="0">
                <a:solidFill>
                  <a:srgbClr val="263746"/>
                </a:solidFill>
                <a:latin typeface="Arial"/>
              </a:rPr>
              <a:t>Sample new numeric expression vectors for a selected context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7" name="TextBox 6"/>
          <p:cNvSpPr txBox="1"/>
          <p:nvPr/>
        </p:nvSpPr>
        <p:spPr>
          <a:xfrm>
            <a:off x="566928" y="1865376"/>
            <a:ext cx="2011680" cy="27432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NASA OSDR</a:t>
            </a:r>
          </a:p>
        </p:txBody>
      </p:sp>
      <p:sp>
        <p:nvSpPr>
          <p:cNvPr id="8" name="TextBox 7"/>
          <p:cNvSpPr txBox="1"/>
          <p:nvPr/>
        </p:nvSpPr>
        <p:spPr>
          <a:xfrm>
            <a:off x="566928"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Observed spaceflight cohort</a:t>
            </a:r>
          </a:p>
        </p:txBody>
      </p:sp>
      <p:sp>
        <p:nvSpPr>
          <p:cNvPr id="9" name="TextBox 8"/>
          <p:cNvSpPr txBox="1"/>
          <p:nvPr/>
        </p:nvSpPr>
        <p:spPr>
          <a:xfrm>
            <a:off x="530352" y="2414016"/>
            <a:ext cx="2057400" cy="630936"/>
          </a:xfrm>
          <a:prstGeom prst="rect">
            <a:avLst/>
          </a:prstGeom>
          <a:noFill/>
        </p:spPr>
        <p:txBody>
          <a:bodyPr wrap="square" lIns="18288" rIns="18288" tIns="18288" bIns="18288" anchor="t">
            <a:spAutoFit/>
          </a:bodyPr>
          <a:lstStyle/>
          <a:p>
            <a:pPr algn="l">
              <a:spcAft>
                <a:spcPts val="0"/>
              </a:spcAft>
            </a:pPr>
            <a:r>
              <a:rPr sz="4200" b="1" i="0">
                <a:solidFill>
                  <a:srgbClr val="082B55"/>
                </a:solidFill>
                <a:latin typeface="Arial"/>
              </a:rPr>
              <a:t>1,610</a:t>
            </a:r>
          </a:p>
        </p:txBody>
      </p:sp>
      <p:sp>
        <p:nvSpPr>
          <p:cNvPr id="10" name="TextBox 9"/>
          <p:cNvSpPr txBox="1"/>
          <p:nvPr/>
        </p:nvSpPr>
        <p:spPr>
          <a:xfrm>
            <a:off x="585216" y="3008376"/>
            <a:ext cx="10515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a:t>
            </a:r>
          </a:p>
        </p:txBody>
      </p:sp>
      <p:sp>
        <p:nvSpPr>
          <p:cNvPr id="11" name="TextBox 10"/>
          <p:cNvSpPr txBox="1"/>
          <p:nvPr/>
        </p:nvSpPr>
        <p:spPr>
          <a:xfrm>
            <a:off x="2752344" y="2487168"/>
            <a:ext cx="1097280" cy="493776"/>
          </a:xfrm>
          <a:prstGeom prst="rect">
            <a:avLst/>
          </a:prstGeom>
          <a:noFill/>
        </p:spPr>
        <p:txBody>
          <a:bodyPr wrap="square" lIns="18288" rIns="18288" tIns="18288" bIns="18288" anchor="t">
            <a:spAutoFit/>
          </a:bodyPr>
          <a:lstStyle/>
          <a:p>
            <a:pPr algn="l">
              <a:spcAft>
                <a:spcPts val="0"/>
              </a:spcAft>
            </a:pPr>
            <a:r>
              <a:rPr sz="3100" b="1" i="0">
                <a:solidFill>
                  <a:srgbClr val="082B55"/>
                </a:solidFill>
                <a:latin typeface="Arial"/>
              </a:rPr>
              <a:t>75</a:t>
            </a:r>
          </a:p>
        </p:txBody>
      </p:sp>
      <p:sp>
        <p:nvSpPr>
          <p:cNvPr id="12" name="TextBox 11"/>
          <p:cNvSpPr txBox="1"/>
          <p:nvPr/>
        </p:nvSpPr>
        <p:spPr>
          <a:xfrm>
            <a:off x="2779776" y="2980944"/>
            <a:ext cx="12801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accessions</a:t>
            </a:r>
          </a:p>
        </p:txBody>
      </p:sp>
      <p:sp>
        <p:nvSpPr>
          <p:cNvPr id="13" name="TextBox 12"/>
          <p:cNvSpPr txBox="1"/>
          <p:nvPr/>
        </p:nvSpPr>
        <p:spPr>
          <a:xfrm>
            <a:off x="585216" y="3337560"/>
            <a:ext cx="1005840" cy="237744"/>
          </a:xfrm>
          <a:prstGeom prst="rect">
            <a:avLst/>
          </a:prstGeom>
          <a:noFill/>
        </p:spPr>
        <p:txBody>
          <a:bodyPr wrap="square" lIns="18288" rIns="18288" tIns="18288" bIns="18288" anchor="t">
            <a:spAutoFit/>
          </a:bodyPr>
          <a:lstStyle/>
          <a:p>
            <a:pPr algn="l">
              <a:spcAft>
                <a:spcPts val="0"/>
              </a:spcAft>
            </a:pPr>
            <a:r>
              <a:rPr sz="1350" b="1" i="0">
                <a:solidFill>
                  <a:srgbClr val="D96552"/>
                </a:solidFill>
                <a:latin typeface="Arial"/>
              </a:rPr>
              <a:t>835 FLT</a:t>
            </a:r>
          </a:p>
        </p:txBody>
      </p:sp>
      <p:sp>
        <p:nvSpPr>
          <p:cNvPr id="14" name="TextBox 13"/>
          <p:cNvSpPr txBox="1"/>
          <p:nvPr/>
        </p:nvSpPr>
        <p:spPr>
          <a:xfrm>
            <a:off x="4370831" y="3337560"/>
            <a:ext cx="1005840" cy="237744"/>
          </a:xfrm>
          <a:prstGeom prst="rect">
            <a:avLst/>
          </a:prstGeom>
          <a:noFill/>
        </p:spPr>
        <p:txBody>
          <a:bodyPr wrap="square" lIns="18288" rIns="18288" tIns="18288" bIns="18288" anchor="t">
            <a:spAutoFit/>
          </a:bodyPr>
          <a:lstStyle/>
          <a:p>
            <a:pPr algn="r">
              <a:spcAft>
                <a:spcPts val="0"/>
              </a:spcAft>
            </a:pPr>
            <a:r>
              <a:rPr sz="1350" b="1" i="0">
                <a:solidFill>
                  <a:srgbClr val="2D6496"/>
                </a:solidFill>
                <a:latin typeface="Arial"/>
              </a:rPr>
              <a:t>775 GC</a:t>
            </a:r>
          </a:p>
        </p:txBody>
      </p:sp>
      <p:sp>
        <p:nvSpPr>
          <p:cNvPr id="15" name="Rectangle 14"/>
          <p:cNvSpPr/>
          <p:nvPr/>
        </p:nvSpPr>
        <p:spPr>
          <a:xfrm>
            <a:off x="585216" y="3685032"/>
            <a:ext cx="2485009" cy="10972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70225" y="3685032"/>
            <a:ext cx="2306446"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34456" y="1847088"/>
            <a:ext cx="16459" cy="2020824"/>
          </a:xfrm>
          <a:prstGeom prst="rect">
            <a:avLst/>
          </a:prstGeom>
          <a:solidFill>
            <a:srgbClr val="CBD4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91072" y="1865376"/>
            <a:ext cx="2194560" cy="274320"/>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ARCHS4 mouse</a:t>
            </a:r>
          </a:p>
        </p:txBody>
      </p:sp>
      <p:sp>
        <p:nvSpPr>
          <p:cNvPr id="19" name="TextBox 18"/>
          <p:cNvSpPr txBox="1"/>
          <p:nvPr/>
        </p:nvSpPr>
        <p:spPr>
          <a:xfrm>
            <a:off x="6291072"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Reference pretraining cohort</a:t>
            </a:r>
          </a:p>
        </p:txBody>
      </p:sp>
      <p:sp>
        <p:nvSpPr>
          <p:cNvPr id="20" name="TextBox 19"/>
          <p:cNvSpPr txBox="1"/>
          <p:nvPr/>
        </p:nvSpPr>
        <p:spPr>
          <a:xfrm>
            <a:off x="6254496" y="2414016"/>
            <a:ext cx="2331720" cy="630936"/>
          </a:xfrm>
          <a:prstGeom prst="rect">
            <a:avLst/>
          </a:prstGeom>
          <a:noFill/>
        </p:spPr>
        <p:txBody>
          <a:bodyPr wrap="square" lIns="18288" rIns="18288" tIns="18288" bIns="18288" anchor="t">
            <a:spAutoFit/>
          </a:bodyPr>
          <a:lstStyle/>
          <a:p>
            <a:pPr algn="l">
              <a:spcAft>
                <a:spcPts val="0"/>
              </a:spcAft>
            </a:pPr>
            <a:r>
              <a:rPr sz="3900" b="1" i="0">
                <a:solidFill>
                  <a:srgbClr val="082B55"/>
                </a:solidFill>
                <a:latin typeface="Arial"/>
              </a:rPr>
              <a:t>997,515</a:t>
            </a:r>
          </a:p>
        </p:txBody>
      </p:sp>
      <p:sp>
        <p:nvSpPr>
          <p:cNvPr id="21" name="TextBox 20"/>
          <p:cNvSpPr txBox="1"/>
          <p:nvPr/>
        </p:nvSpPr>
        <p:spPr>
          <a:xfrm>
            <a:off x="6309360" y="3008376"/>
            <a:ext cx="160020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 screened</a:t>
            </a:r>
          </a:p>
        </p:txBody>
      </p:sp>
      <p:sp>
        <p:nvSpPr>
          <p:cNvPr id="22" name="Right Arrow 21"/>
          <p:cNvSpPr/>
          <p:nvPr/>
        </p:nvSpPr>
        <p:spPr>
          <a:xfrm>
            <a:off x="8467344" y="2633472"/>
            <a:ext cx="384048" cy="27432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15984" y="2432304"/>
            <a:ext cx="1554480" cy="493776"/>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24" name="TextBox 23"/>
          <p:cNvSpPr txBox="1"/>
          <p:nvPr/>
        </p:nvSpPr>
        <p:spPr>
          <a:xfrm>
            <a:off x="9043416" y="2962656"/>
            <a:ext cx="100584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selected</a:t>
            </a:r>
          </a:p>
        </p:txBody>
      </p:sp>
      <p:sp>
        <p:nvSpPr>
          <p:cNvPr id="25" name="TextBox 24"/>
          <p:cNvSpPr txBox="1"/>
          <p:nvPr/>
        </p:nvSpPr>
        <p:spPr>
          <a:xfrm>
            <a:off x="10442448" y="2496312"/>
            <a:ext cx="1143000" cy="329184"/>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20 tissues</a:t>
            </a:r>
          </a:p>
        </p:txBody>
      </p:sp>
      <p:sp>
        <p:nvSpPr>
          <p:cNvPr id="26" name="Rectangle 25"/>
          <p:cNvSpPr/>
          <p:nvPr/>
        </p:nvSpPr>
        <p:spPr>
          <a:xfrm>
            <a:off x="566928" y="4178808"/>
            <a:ext cx="11045952"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07408"/>
            <a:ext cx="10789920" cy="384048"/>
          </a:xfrm>
          <a:prstGeom prst="rect">
            <a:avLst/>
          </a:prstGeom>
          <a:noFill/>
        </p:spPr>
        <p:txBody>
          <a:bodyPr wrap="square" lIns="18288" rIns="18288" tIns="18288" bIns="18288" anchor="t">
            <a:spAutoFit/>
          </a:bodyPr>
          <a:lstStyle/>
          <a:p>
            <a:pPr algn="l">
              <a:spcAft>
                <a:spcPts val="0"/>
              </a:spcAft>
            </a:pPr>
            <a:r>
              <a:rPr sz="2200" b="1" i="0">
                <a:solidFill>
                  <a:srgbClr val="082B55"/>
                </a:solidFill>
                <a:latin typeface="Arial"/>
              </a:rPr>
              <a:t>Study effects can look like spaceflight biology.</a:t>
            </a:r>
          </a:p>
        </p:txBody>
      </p:sp>
      <p:sp>
        <p:nvSpPr>
          <p:cNvPr id="28" name="TextBox 27"/>
          <p:cNvSpPr txBox="1"/>
          <p:nvPr/>
        </p:nvSpPr>
        <p:spPr>
          <a:xfrm>
            <a:off x="585216" y="4956048"/>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01</a:t>
            </a:r>
          </a:p>
        </p:txBody>
      </p:sp>
      <p:sp>
        <p:nvSpPr>
          <p:cNvPr id="29" name="TextBox 28"/>
          <p:cNvSpPr txBox="1"/>
          <p:nvPr/>
        </p:nvSpPr>
        <p:spPr>
          <a:xfrm>
            <a:off x="1069848" y="4928616"/>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Preserve tissue and FLT/GC structure.</a:t>
            </a:r>
          </a:p>
        </p:txBody>
      </p:sp>
      <p:sp>
        <p:nvSpPr>
          <p:cNvPr id="30" name="TextBox 29"/>
          <p:cNvSpPr txBox="1"/>
          <p:nvPr/>
        </p:nvSpPr>
        <p:spPr>
          <a:xfrm>
            <a:off x="585216" y="5340096"/>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02</a:t>
            </a:r>
          </a:p>
        </p:txBody>
      </p:sp>
      <p:sp>
        <p:nvSpPr>
          <p:cNvPr id="31" name="TextBox 30"/>
          <p:cNvSpPr txBox="1"/>
          <p:nvPr/>
        </p:nvSpPr>
        <p:spPr>
          <a:xfrm>
            <a:off x="1069848" y="5312664"/>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Avoid memorizing individual profiles.</a:t>
            </a:r>
          </a:p>
        </p:txBody>
      </p:sp>
      <p:sp>
        <p:nvSpPr>
          <p:cNvPr id="32" name="TextBox 31"/>
          <p:cNvSpPr txBox="1"/>
          <p:nvPr/>
        </p:nvSpPr>
        <p:spPr>
          <a:xfrm>
            <a:off x="585216" y="5724144"/>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03</a:t>
            </a:r>
          </a:p>
        </p:txBody>
      </p:sp>
      <p:sp>
        <p:nvSpPr>
          <p:cNvPr id="33" name="TextBox 32"/>
          <p:cNvSpPr txBox="1"/>
          <p:nvPr/>
        </p:nvSpPr>
        <p:spPr>
          <a:xfrm>
            <a:off x="1069848" y="5696712"/>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Test biological effects in observed OSDR samples.</a:t>
            </a:r>
          </a:p>
        </p:txBody>
      </p:sp>
      <p:sp>
        <p:nvSpPr>
          <p:cNvPr id="34" name="TextBox 33"/>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downstream analysis used the outlined options; the remaining choices stay configurable.</a:t>
            </a:r>
          </a:p>
        </p:txBody>
      </p:sp>
      <p:sp>
        <p:nvSpPr>
          <p:cNvPr id="7" name="Rectangle 6"/>
          <p:cNvSpPr/>
          <p:nvPr/>
        </p:nvSpPr>
        <p:spPr>
          <a:xfrm>
            <a:off x="255117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88289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1461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54633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01</a:t>
            </a:r>
          </a:p>
        </p:txBody>
      </p:sp>
      <p:sp>
        <p:nvSpPr>
          <p:cNvPr id="12" name="TextBox 11"/>
          <p:cNvSpPr txBox="1"/>
          <p:nvPr/>
        </p:nvSpPr>
        <p:spPr>
          <a:xfrm>
            <a:off x="83210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Data scope</a:t>
            </a:r>
          </a:p>
        </p:txBody>
      </p:sp>
      <p:sp>
        <p:nvSpPr>
          <p:cNvPr id="13" name="Rectangle 12"/>
          <p:cNvSpPr/>
          <p:nvPr/>
        </p:nvSpPr>
        <p:spPr>
          <a:xfrm>
            <a:off x="448056" y="2331720"/>
            <a:ext cx="1874519"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Sources</a:t>
            </a:r>
          </a:p>
        </p:txBody>
      </p:sp>
      <p:sp>
        <p:nvSpPr>
          <p:cNvPr id="15" name="Rectangle 14"/>
          <p:cNvSpPr/>
          <p:nvPr/>
        </p:nvSpPr>
        <p:spPr>
          <a:xfrm>
            <a:off x="466344"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6344"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OSDR API</a:t>
            </a:r>
          </a:p>
        </p:txBody>
      </p:sp>
      <p:sp>
        <p:nvSpPr>
          <p:cNvPr id="18" name="Rectangle 17"/>
          <p:cNvSpPr/>
          <p:nvPr/>
        </p:nvSpPr>
        <p:spPr>
          <a:xfrm>
            <a:off x="1417319"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417319"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63039"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ARCHS4</a:t>
            </a:r>
          </a:p>
        </p:txBody>
      </p:sp>
      <p:sp>
        <p:nvSpPr>
          <p:cNvPr id="21" name="TextBox 20"/>
          <p:cNvSpPr txBox="1"/>
          <p:nvPr/>
        </p:nvSpPr>
        <p:spPr>
          <a:xfrm>
            <a:off x="46634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Studies</a:t>
            </a:r>
          </a:p>
        </p:txBody>
      </p:sp>
      <p:sp>
        <p:nvSpPr>
          <p:cNvPr id="22" name="TextBox 21"/>
          <p:cNvSpPr txBox="1"/>
          <p:nvPr/>
        </p:nvSpPr>
        <p:spPr>
          <a:xfrm>
            <a:off x="512064" y="3433572"/>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Single</a:t>
            </a:r>
          </a:p>
        </p:txBody>
      </p:sp>
      <p:sp>
        <p:nvSpPr>
          <p:cNvPr id="23" name="Rectangle 22"/>
          <p:cNvSpPr/>
          <p:nvPr/>
        </p:nvSpPr>
        <p:spPr>
          <a:xfrm>
            <a:off x="1417319" y="3383280"/>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17319" y="3383280"/>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63039" y="3433572"/>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Multiple</a:t>
            </a:r>
          </a:p>
        </p:txBody>
      </p:sp>
      <p:sp>
        <p:nvSpPr>
          <p:cNvPr id="26" name="TextBox 25"/>
          <p:cNvSpPr txBox="1"/>
          <p:nvPr/>
        </p:nvSpPr>
        <p:spPr>
          <a:xfrm>
            <a:off x="46634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Tissues</a:t>
            </a:r>
          </a:p>
        </p:txBody>
      </p:sp>
      <p:sp>
        <p:nvSpPr>
          <p:cNvPr id="27" name="TextBox 26"/>
          <p:cNvSpPr txBox="1"/>
          <p:nvPr/>
        </p:nvSpPr>
        <p:spPr>
          <a:xfrm>
            <a:off x="512064" y="4128515"/>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Per tissue</a:t>
            </a:r>
          </a:p>
        </p:txBody>
      </p:sp>
      <p:sp>
        <p:nvSpPr>
          <p:cNvPr id="28" name="Rectangle 27"/>
          <p:cNvSpPr/>
          <p:nvPr/>
        </p:nvSpPr>
        <p:spPr>
          <a:xfrm>
            <a:off x="1417319" y="4078224"/>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417319" y="4078224"/>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63039" y="4128515"/>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All tissues</a:t>
            </a:r>
          </a:p>
        </p:txBody>
      </p:sp>
      <p:sp>
        <p:nvSpPr>
          <p:cNvPr id="31" name="TextBox 30"/>
          <p:cNvSpPr txBox="1"/>
          <p:nvPr/>
        </p:nvSpPr>
        <p:spPr>
          <a:xfrm>
            <a:off x="277977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02</a:t>
            </a:r>
          </a:p>
        </p:txBody>
      </p:sp>
      <p:sp>
        <p:nvSpPr>
          <p:cNvPr id="32" name="TextBox 31"/>
          <p:cNvSpPr txBox="1"/>
          <p:nvPr/>
        </p:nvSpPr>
        <p:spPr>
          <a:xfrm>
            <a:off x="316382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Transform</a:t>
            </a:r>
          </a:p>
        </p:txBody>
      </p:sp>
      <p:sp>
        <p:nvSpPr>
          <p:cNvPr id="33" name="Rectangle 32"/>
          <p:cNvSpPr/>
          <p:nvPr/>
        </p:nvSpPr>
        <p:spPr>
          <a:xfrm>
            <a:off x="277977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9806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Expression</a:t>
            </a:r>
          </a:p>
        </p:txBody>
      </p:sp>
      <p:sp>
        <p:nvSpPr>
          <p:cNvPr id="35" name="TextBox 34"/>
          <p:cNvSpPr txBox="1"/>
          <p:nvPr/>
        </p:nvSpPr>
        <p:spPr>
          <a:xfrm>
            <a:off x="2843784"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Raw</a:t>
            </a:r>
          </a:p>
        </p:txBody>
      </p:sp>
      <p:sp>
        <p:nvSpPr>
          <p:cNvPr id="36" name="TextBox 35"/>
          <p:cNvSpPr txBox="1"/>
          <p:nvPr/>
        </p:nvSpPr>
        <p:spPr>
          <a:xfrm>
            <a:off x="3477768"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CPM</a:t>
            </a:r>
          </a:p>
        </p:txBody>
      </p:sp>
      <p:sp>
        <p:nvSpPr>
          <p:cNvPr id="37" name="Rectangle 36"/>
          <p:cNvSpPr/>
          <p:nvPr/>
        </p:nvSpPr>
        <p:spPr>
          <a:xfrm>
            <a:off x="4066031" y="2688336"/>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066031"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1751" y="2738628"/>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TPM</a:t>
            </a:r>
          </a:p>
        </p:txBody>
      </p:sp>
      <p:sp>
        <p:nvSpPr>
          <p:cNvPr id="40" name="TextBox 39"/>
          <p:cNvSpPr txBox="1"/>
          <p:nvPr/>
        </p:nvSpPr>
        <p:spPr>
          <a:xfrm>
            <a:off x="279806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Scaling</a:t>
            </a:r>
          </a:p>
        </p:txBody>
      </p:sp>
      <p:sp>
        <p:nvSpPr>
          <p:cNvPr id="41" name="TextBox 40"/>
          <p:cNvSpPr txBox="1"/>
          <p:nvPr/>
        </p:nvSpPr>
        <p:spPr>
          <a:xfrm>
            <a:off x="2843784"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None</a:t>
            </a:r>
          </a:p>
        </p:txBody>
      </p:sp>
      <p:sp>
        <p:nvSpPr>
          <p:cNvPr id="42" name="TextBox 41"/>
          <p:cNvSpPr txBox="1"/>
          <p:nvPr/>
        </p:nvSpPr>
        <p:spPr>
          <a:xfrm>
            <a:off x="3477768"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Z-score</a:t>
            </a:r>
          </a:p>
        </p:txBody>
      </p:sp>
      <p:sp>
        <p:nvSpPr>
          <p:cNvPr id="43" name="Rectangle 42"/>
          <p:cNvSpPr/>
          <p:nvPr/>
        </p:nvSpPr>
        <p:spPr>
          <a:xfrm>
            <a:off x="4066031" y="3383280"/>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066031" y="3383280"/>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1751" y="3433572"/>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MaxAbs</a:t>
            </a:r>
          </a:p>
        </p:txBody>
      </p:sp>
      <p:sp>
        <p:nvSpPr>
          <p:cNvPr id="46" name="TextBox 45"/>
          <p:cNvSpPr txBox="1"/>
          <p:nvPr/>
        </p:nvSpPr>
        <p:spPr>
          <a:xfrm>
            <a:off x="279806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Features</a:t>
            </a:r>
          </a:p>
        </p:txBody>
      </p:sp>
      <p:sp>
        <p:nvSpPr>
          <p:cNvPr id="47" name="TextBox 46"/>
          <p:cNvSpPr txBox="1"/>
          <p:nvPr/>
        </p:nvSpPr>
        <p:spPr>
          <a:xfrm>
            <a:off x="2843784"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All</a:t>
            </a:r>
          </a:p>
        </p:txBody>
      </p:sp>
      <p:sp>
        <p:nvSpPr>
          <p:cNvPr id="48" name="TextBox 47"/>
          <p:cNvSpPr txBox="1"/>
          <p:nvPr/>
        </p:nvSpPr>
        <p:spPr>
          <a:xfrm>
            <a:off x="3477768"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HVG</a:t>
            </a:r>
          </a:p>
        </p:txBody>
      </p:sp>
      <p:sp>
        <p:nvSpPr>
          <p:cNvPr id="49" name="Rectangle 48"/>
          <p:cNvSpPr/>
          <p:nvPr/>
        </p:nvSpPr>
        <p:spPr>
          <a:xfrm>
            <a:off x="4066031" y="4078224"/>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066031" y="407822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111751" y="4128515"/>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L1000</a:t>
            </a:r>
          </a:p>
        </p:txBody>
      </p:sp>
      <p:sp>
        <p:nvSpPr>
          <p:cNvPr id="52" name="TextBox 51"/>
          <p:cNvSpPr txBox="1"/>
          <p:nvPr/>
        </p:nvSpPr>
        <p:spPr>
          <a:xfrm>
            <a:off x="511149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03</a:t>
            </a:r>
          </a:p>
        </p:txBody>
      </p:sp>
      <p:sp>
        <p:nvSpPr>
          <p:cNvPr id="53" name="TextBox 52"/>
          <p:cNvSpPr txBox="1"/>
          <p:nvPr/>
        </p:nvSpPr>
        <p:spPr>
          <a:xfrm>
            <a:off x="549554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Harmonization</a:t>
            </a:r>
          </a:p>
        </p:txBody>
      </p:sp>
      <p:sp>
        <p:nvSpPr>
          <p:cNvPr id="54" name="Rectangle 53"/>
          <p:cNvSpPr/>
          <p:nvPr/>
        </p:nvSpPr>
        <p:spPr>
          <a:xfrm>
            <a:off x="511149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12978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Global or study correction</a:t>
            </a:r>
          </a:p>
        </p:txBody>
      </p:sp>
      <p:sp>
        <p:nvSpPr>
          <p:cNvPr id="56" name="Rectangle 55"/>
          <p:cNvSpPr/>
          <p:nvPr/>
        </p:nvSpPr>
        <p:spPr>
          <a:xfrm>
            <a:off x="5129784" y="268833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29784"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175504" y="2738628"/>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None</a:t>
            </a:r>
          </a:p>
        </p:txBody>
      </p:sp>
      <p:sp>
        <p:nvSpPr>
          <p:cNvPr id="59" name="TextBox 58"/>
          <p:cNvSpPr txBox="1"/>
          <p:nvPr/>
        </p:nvSpPr>
        <p:spPr>
          <a:xfrm>
            <a:off x="5175504" y="31958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Within-study z-score</a:t>
            </a:r>
          </a:p>
        </p:txBody>
      </p:sp>
      <p:sp>
        <p:nvSpPr>
          <p:cNvPr id="60" name="TextBox 59"/>
          <p:cNvSpPr txBox="1"/>
          <p:nvPr/>
        </p:nvSpPr>
        <p:spPr>
          <a:xfrm>
            <a:off x="5175504" y="36530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ComBat / MBatch</a:t>
            </a:r>
          </a:p>
        </p:txBody>
      </p:sp>
      <p:sp>
        <p:nvSpPr>
          <p:cNvPr id="61" name="TextBox 60"/>
          <p:cNvSpPr txBox="1"/>
          <p:nvPr/>
        </p:nvSpPr>
        <p:spPr>
          <a:xfrm>
            <a:off x="5175504" y="4110227"/>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MOBER</a:t>
            </a:r>
          </a:p>
        </p:txBody>
      </p:sp>
      <p:sp>
        <p:nvSpPr>
          <p:cNvPr id="62" name="TextBox 61"/>
          <p:cNvSpPr txBox="1"/>
          <p:nvPr/>
        </p:nvSpPr>
        <p:spPr>
          <a:xfrm>
            <a:off x="744321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04</a:t>
            </a:r>
          </a:p>
        </p:txBody>
      </p:sp>
      <p:sp>
        <p:nvSpPr>
          <p:cNvPr id="63" name="TextBox 62"/>
          <p:cNvSpPr txBox="1"/>
          <p:nvPr/>
        </p:nvSpPr>
        <p:spPr>
          <a:xfrm>
            <a:off x="782726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Model training</a:t>
            </a:r>
          </a:p>
        </p:txBody>
      </p:sp>
      <p:sp>
        <p:nvSpPr>
          <p:cNvPr id="64" name="Rectangle 63"/>
          <p:cNvSpPr/>
          <p:nvPr/>
        </p:nvSpPr>
        <p:spPr>
          <a:xfrm>
            <a:off x="7443216" y="2331720"/>
            <a:ext cx="1874519" cy="2011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6150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Generator</a:t>
            </a:r>
          </a:p>
        </p:txBody>
      </p:sp>
      <p:sp>
        <p:nvSpPr>
          <p:cNvPr id="66" name="TextBox 65"/>
          <p:cNvSpPr txBox="1"/>
          <p:nvPr/>
        </p:nvSpPr>
        <p:spPr>
          <a:xfrm>
            <a:off x="7507224" y="2738628"/>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WGAN-GP</a:t>
            </a:r>
          </a:p>
        </p:txBody>
      </p:sp>
      <p:sp>
        <p:nvSpPr>
          <p:cNvPr id="67" name="Rectangle 66"/>
          <p:cNvSpPr/>
          <p:nvPr/>
        </p:nvSpPr>
        <p:spPr>
          <a:xfrm>
            <a:off x="8412480" y="2688336"/>
            <a:ext cx="905255"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412480" y="2688336"/>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458200"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DDIM</a:t>
            </a:r>
          </a:p>
        </p:txBody>
      </p:sp>
      <p:sp>
        <p:nvSpPr>
          <p:cNvPr id="70" name="TextBox 69"/>
          <p:cNvSpPr txBox="1"/>
          <p:nvPr/>
        </p:nvSpPr>
        <p:spPr>
          <a:xfrm>
            <a:off x="746150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Training source</a:t>
            </a:r>
          </a:p>
        </p:txBody>
      </p:sp>
      <p:sp>
        <p:nvSpPr>
          <p:cNvPr id="71" name="TextBox 70"/>
          <p:cNvSpPr txBox="1"/>
          <p:nvPr/>
        </p:nvSpPr>
        <p:spPr>
          <a:xfrm>
            <a:off x="7507224" y="34335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OSDR only</a:t>
            </a:r>
          </a:p>
        </p:txBody>
      </p:sp>
      <p:sp>
        <p:nvSpPr>
          <p:cNvPr id="72" name="TextBox 71"/>
          <p:cNvSpPr txBox="1"/>
          <p:nvPr/>
        </p:nvSpPr>
        <p:spPr>
          <a:xfrm>
            <a:off x="7507224" y="38907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ARCHS4 only</a:t>
            </a:r>
          </a:p>
        </p:txBody>
      </p:sp>
      <p:sp>
        <p:nvSpPr>
          <p:cNvPr id="73" name="Rectangle 72"/>
          <p:cNvSpPr/>
          <p:nvPr/>
        </p:nvSpPr>
        <p:spPr>
          <a:xfrm>
            <a:off x="7461504" y="4297680"/>
            <a:ext cx="1856231"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461504" y="4297680"/>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07224" y="4347972"/>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Pretrain + adapt</a:t>
            </a:r>
          </a:p>
        </p:txBody>
      </p:sp>
      <p:sp>
        <p:nvSpPr>
          <p:cNvPr id="76" name="TextBox 75"/>
          <p:cNvSpPr txBox="1"/>
          <p:nvPr/>
        </p:nvSpPr>
        <p:spPr>
          <a:xfrm>
            <a:off x="977493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05</a:t>
            </a:r>
          </a:p>
        </p:txBody>
      </p:sp>
      <p:sp>
        <p:nvSpPr>
          <p:cNvPr id="77" name="TextBox 76"/>
          <p:cNvSpPr txBox="1"/>
          <p:nvPr/>
        </p:nvSpPr>
        <p:spPr>
          <a:xfrm>
            <a:off x="1015898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Conditioning</a:t>
            </a:r>
          </a:p>
        </p:txBody>
      </p:sp>
      <p:sp>
        <p:nvSpPr>
          <p:cNvPr id="78" name="Rectangle 77"/>
          <p:cNvSpPr/>
          <p:nvPr/>
        </p:nvSpPr>
        <p:spPr>
          <a:xfrm>
            <a:off x="977493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79322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Model inputs</a:t>
            </a:r>
          </a:p>
        </p:txBody>
      </p:sp>
      <p:sp>
        <p:nvSpPr>
          <p:cNvPr id="80" name="Rectangle 79"/>
          <p:cNvSpPr/>
          <p:nvPr/>
        </p:nvSpPr>
        <p:spPr>
          <a:xfrm>
            <a:off x="9793224" y="2670048"/>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793224" y="267004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838944" y="2720340"/>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Tissue</a:t>
            </a:r>
          </a:p>
        </p:txBody>
      </p:sp>
      <p:sp>
        <p:nvSpPr>
          <p:cNvPr id="83" name="Rectangle 82"/>
          <p:cNvSpPr/>
          <p:nvPr/>
        </p:nvSpPr>
        <p:spPr>
          <a:xfrm>
            <a:off x="9793224" y="305409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793224" y="305409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838944" y="3104388"/>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FLT / GC</a:t>
            </a:r>
          </a:p>
        </p:txBody>
      </p:sp>
      <p:sp>
        <p:nvSpPr>
          <p:cNvPr id="86" name="Rectangle 85"/>
          <p:cNvSpPr/>
          <p:nvPr/>
        </p:nvSpPr>
        <p:spPr>
          <a:xfrm>
            <a:off x="9793224" y="3438144"/>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793224" y="343814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838944" y="3488436"/>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Accession</a:t>
            </a:r>
          </a:p>
        </p:txBody>
      </p:sp>
      <p:sp>
        <p:nvSpPr>
          <p:cNvPr id="89" name="Rectangle 88"/>
          <p:cNvSpPr/>
          <p:nvPr/>
        </p:nvSpPr>
        <p:spPr>
          <a:xfrm>
            <a:off x="9793224" y="3822191"/>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793224" y="3822191"/>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38944" y="3872483"/>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Material type</a:t>
            </a:r>
          </a:p>
        </p:txBody>
      </p:sp>
      <p:sp>
        <p:nvSpPr>
          <p:cNvPr id="92" name="TextBox 91"/>
          <p:cNvSpPr txBox="1"/>
          <p:nvPr/>
        </p:nvSpPr>
        <p:spPr>
          <a:xfrm>
            <a:off x="9838944" y="4256531"/>
            <a:ext cx="1764791" cy="210312"/>
          </a:xfrm>
          <a:prstGeom prst="rect">
            <a:avLst/>
          </a:prstGeom>
          <a:noFill/>
        </p:spPr>
        <p:txBody>
          <a:bodyPr wrap="square" lIns="0" rIns="0" tIns="0" bIns="0" anchor="ctr">
            <a:spAutoFit/>
          </a:bodyPr>
          <a:lstStyle/>
          <a:p>
            <a:pPr algn="ctr">
              <a:spcAft>
                <a:spcPts val="0"/>
              </a:spcAft>
            </a:pPr>
            <a:r>
              <a:rPr sz="890" b="0" i="0">
                <a:solidFill>
                  <a:srgbClr val="8A969E"/>
                </a:solidFill>
                <a:latin typeface="Arial"/>
              </a:rPr>
              <a:t>Sex / age</a:t>
            </a:r>
          </a:p>
        </p:txBody>
      </p:sp>
      <p:sp>
        <p:nvSpPr>
          <p:cNvPr id="93" name="Rectangle 92"/>
          <p:cNvSpPr/>
          <p:nvPr/>
        </p:nvSpPr>
        <p:spPr>
          <a:xfrm>
            <a:off x="320040" y="5093208"/>
            <a:ext cx="11475720" cy="1124712"/>
          </a:xfrm>
          <a:prstGeom prst="rect">
            <a:avLst/>
          </a:prstGeom>
          <a:solidFill>
            <a:srgbClr val="F7F9FA"/>
          </a:solidFill>
          <a:ln w="10160">
            <a:solidFill>
              <a:srgbClr val="F7F9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320040" y="5093208"/>
            <a:ext cx="11475720" cy="16459"/>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85216" y="5303520"/>
            <a:ext cx="1298448" cy="228600"/>
          </a:xfrm>
          <a:prstGeom prst="rect">
            <a:avLst/>
          </a:prstGeom>
          <a:noFill/>
        </p:spPr>
        <p:txBody>
          <a:bodyPr wrap="square" lIns="18288" rIns="18288" tIns="18288" bIns="18288" anchor="t">
            <a:spAutoFit/>
          </a:bodyPr>
          <a:lstStyle/>
          <a:p>
            <a:pPr algn="l">
              <a:spcAft>
                <a:spcPts val="0"/>
              </a:spcAft>
            </a:pPr>
            <a:r>
              <a:rPr sz="1080" b="1" i="0">
                <a:solidFill>
                  <a:srgbClr val="082B55"/>
                </a:solidFill>
                <a:latin typeface="Arial"/>
              </a:rPr>
              <a:t>Downstream</a:t>
            </a:r>
          </a:p>
        </p:txBody>
      </p:sp>
      <p:sp>
        <p:nvSpPr>
          <p:cNvPr id="96" name="TextBox 95"/>
          <p:cNvSpPr txBox="1"/>
          <p:nvPr/>
        </p:nvSpPr>
        <p:spPr>
          <a:xfrm>
            <a:off x="585216" y="5641848"/>
            <a:ext cx="1234440" cy="219456"/>
          </a:xfrm>
          <a:prstGeom prst="rect">
            <a:avLst/>
          </a:prstGeom>
          <a:noFill/>
        </p:spPr>
        <p:txBody>
          <a:bodyPr wrap="square" lIns="18288" rIns="18288" tIns="18288" bIns="18288" anchor="t">
            <a:spAutoFit/>
          </a:bodyPr>
          <a:lstStyle/>
          <a:p>
            <a:pPr algn="l">
              <a:spcAft>
                <a:spcPts val="0"/>
              </a:spcAft>
            </a:pPr>
            <a:r>
              <a:rPr sz="960" b="0" i="0">
                <a:solidFill>
                  <a:srgbClr val="59697A"/>
                </a:solidFill>
                <a:latin typeface="Arial"/>
              </a:rPr>
              <a:t>configuration</a:t>
            </a:r>
          </a:p>
        </p:txBody>
      </p:sp>
      <p:sp>
        <p:nvSpPr>
          <p:cNvPr id="97" name="Rectangle 96"/>
          <p:cNvSpPr/>
          <p:nvPr/>
        </p:nvSpPr>
        <p:spPr>
          <a:xfrm>
            <a:off x="1920240" y="5230368"/>
            <a:ext cx="196596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2011680" y="5285232"/>
            <a:ext cx="178308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PREPROCESS</a:t>
            </a:r>
          </a:p>
        </p:txBody>
      </p:sp>
      <p:sp>
        <p:nvSpPr>
          <p:cNvPr id="99" name="TextBox 98"/>
          <p:cNvSpPr txBox="1"/>
          <p:nvPr/>
        </p:nvSpPr>
        <p:spPr>
          <a:xfrm>
            <a:off x="2011680" y="5431536"/>
            <a:ext cx="178308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TPM / MaxAbs / 974 landmarks</a:t>
            </a:r>
          </a:p>
        </p:txBody>
      </p:sp>
      <p:sp>
        <p:nvSpPr>
          <p:cNvPr id="100" name="Right Arrow 99"/>
          <p:cNvSpPr/>
          <p:nvPr/>
        </p:nvSpPr>
        <p:spPr>
          <a:xfrm>
            <a:off x="39502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4251960" y="5230368"/>
            <a:ext cx="169164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4343400" y="5285232"/>
            <a:ext cx="150876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PRETRAIN</a:t>
            </a:r>
          </a:p>
        </p:txBody>
      </p:sp>
      <p:sp>
        <p:nvSpPr>
          <p:cNvPr id="103" name="TextBox 102"/>
          <p:cNvSpPr txBox="1"/>
          <p:nvPr/>
        </p:nvSpPr>
        <p:spPr>
          <a:xfrm>
            <a:off x="43434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ARCHS4</a:t>
            </a:r>
          </a:p>
        </p:txBody>
      </p:sp>
      <p:sp>
        <p:nvSpPr>
          <p:cNvPr id="104" name="Right Arrow 103"/>
          <p:cNvSpPr/>
          <p:nvPr/>
        </p:nvSpPr>
        <p:spPr>
          <a:xfrm>
            <a:off x="60076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309360" y="5230368"/>
            <a:ext cx="1691640" cy="448056"/>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400800" y="5285232"/>
            <a:ext cx="1508760" cy="109728"/>
          </a:xfrm>
          <a:prstGeom prst="rect">
            <a:avLst/>
          </a:prstGeom>
          <a:noFill/>
        </p:spPr>
        <p:txBody>
          <a:bodyPr wrap="square" lIns="0" rIns="0" tIns="0" bIns="0" anchor="t">
            <a:spAutoFit/>
          </a:bodyPr>
          <a:lstStyle/>
          <a:p>
            <a:pPr algn="l">
              <a:spcAft>
                <a:spcPts val="0"/>
              </a:spcAft>
            </a:pPr>
            <a:r>
              <a:rPr sz="710" b="1" i="0">
                <a:solidFill>
                  <a:srgbClr val="2D6496"/>
                </a:solidFill>
                <a:latin typeface="Arial"/>
              </a:rPr>
              <a:t>ADAPT</a:t>
            </a:r>
          </a:p>
        </p:txBody>
      </p:sp>
      <p:sp>
        <p:nvSpPr>
          <p:cNvPr id="107" name="TextBox 106"/>
          <p:cNvSpPr txBox="1"/>
          <p:nvPr/>
        </p:nvSpPr>
        <p:spPr>
          <a:xfrm>
            <a:off x="64008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OSDR</a:t>
            </a:r>
          </a:p>
        </p:txBody>
      </p:sp>
      <p:sp>
        <p:nvSpPr>
          <p:cNvPr id="108" name="Right Arrow 107"/>
          <p:cNvSpPr/>
          <p:nvPr/>
        </p:nvSpPr>
        <p:spPr>
          <a:xfrm>
            <a:off x="80650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66760" y="5230368"/>
            <a:ext cx="2240280" cy="448056"/>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8458200" y="5285232"/>
            <a:ext cx="2057400" cy="109728"/>
          </a:xfrm>
          <a:prstGeom prst="rect">
            <a:avLst/>
          </a:prstGeom>
          <a:noFill/>
        </p:spPr>
        <p:txBody>
          <a:bodyPr wrap="square" lIns="0" rIns="0" tIns="0" bIns="0" anchor="t">
            <a:spAutoFit/>
          </a:bodyPr>
          <a:lstStyle/>
          <a:p>
            <a:pPr algn="l">
              <a:spcAft>
                <a:spcPts val="0"/>
              </a:spcAft>
            </a:pPr>
            <a:r>
              <a:rPr sz="710" b="1" i="0">
                <a:solidFill>
                  <a:srgbClr val="D37B00"/>
                </a:solidFill>
                <a:latin typeface="Arial"/>
              </a:rPr>
              <a:t>GENERATE</a:t>
            </a:r>
          </a:p>
        </p:txBody>
      </p:sp>
      <p:sp>
        <p:nvSpPr>
          <p:cNvPr id="111" name="TextBox 110"/>
          <p:cNvSpPr txBox="1"/>
          <p:nvPr/>
        </p:nvSpPr>
        <p:spPr>
          <a:xfrm>
            <a:off x="8458200" y="5431536"/>
            <a:ext cx="205740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Conditional DDIM</a:t>
            </a:r>
          </a:p>
        </p:txBody>
      </p:sp>
      <p:sp>
        <p:nvSpPr>
          <p:cNvPr id="112" name="TextBox 111"/>
          <p:cNvSpPr txBox="1"/>
          <p:nvPr/>
        </p:nvSpPr>
        <p:spPr>
          <a:xfrm>
            <a:off x="1920240" y="5824728"/>
            <a:ext cx="65836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CONDITION</a:t>
            </a:r>
          </a:p>
        </p:txBody>
      </p:sp>
      <p:sp>
        <p:nvSpPr>
          <p:cNvPr id="113" name="Rectangle 112"/>
          <p:cNvSpPr/>
          <p:nvPr/>
        </p:nvSpPr>
        <p:spPr>
          <a:xfrm>
            <a:off x="2633472" y="5733288"/>
            <a:ext cx="82296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26334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679191" y="5783579"/>
            <a:ext cx="73152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Tissue</a:t>
            </a:r>
          </a:p>
        </p:txBody>
      </p:sp>
      <p:sp>
        <p:nvSpPr>
          <p:cNvPr id="116" name="Rectangle 115"/>
          <p:cNvSpPr/>
          <p:nvPr/>
        </p:nvSpPr>
        <p:spPr>
          <a:xfrm>
            <a:off x="3520440" y="5733288"/>
            <a:ext cx="91440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352044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3566160" y="5783579"/>
            <a:ext cx="82296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FLT / GC</a:t>
            </a:r>
          </a:p>
        </p:txBody>
      </p:sp>
      <p:sp>
        <p:nvSpPr>
          <p:cNvPr id="119" name="Rectangle 118"/>
          <p:cNvSpPr/>
          <p:nvPr/>
        </p:nvSpPr>
        <p:spPr>
          <a:xfrm>
            <a:off x="4498848" y="5733288"/>
            <a:ext cx="1042415"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4498848"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4544568" y="5783579"/>
            <a:ext cx="950975"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Accession</a:t>
            </a:r>
          </a:p>
        </p:txBody>
      </p:sp>
      <p:sp>
        <p:nvSpPr>
          <p:cNvPr id="122" name="Rectangle 121"/>
          <p:cNvSpPr/>
          <p:nvPr/>
        </p:nvSpPr>
        <p:spPr>
          <a:xfrm>
            <a:off x="5605272" y="5733288"/>
            <a:ext cx="126187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6052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5650992" y="5783579"/>
            <a:ext cx="1170431"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Material type</a:t>
            </a:r>
          </a:p>
        </p:txBody>
      </p:sp>
      <p:sp>
        <p:nvSpPr>
          <p:cNvPr id="125" name="TextBox 124"/>
          <p:cNvSpPr txBox="1"/>
          <p:nvPr/>
        </p:nvSpPr>
        <p:spPr>
          <a:xfrm>
            <a:off x="7095744" y="5824728"/>
            <a:ext cx="74980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HARMONIZE</a:t>
            </a:r>
          </a:p>
        </p:txBody>
      </p:sp>
      <p:sp>
        <p:nvSpPr>
          <p:cNvPr id="126" name="Rectangle 125"/>
          <p:cNvSpPr/>
          <p:nvPr/>
        </p:nvSpPr>
        <p:spPr>
          <a:xfrm>
            <a:off x="7909560" y="5733288"/>
            <a:ext cx="71323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90956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7955280" y="5783579"/>
            <a:ext cx="621792"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None</a:t>
            </a:r>
          </a:p>
        </p:txBody>
      </p:sp>
      <p:sp>
        <p:nvSpPr>
          <p:cNvPr id="129" name="TextBox 128"/>
          <p:cNvSpPr txBox="1"/>
          <p:nvPr/>
        </p:nvSpPr>
        <p:spPr>
          <a:xfrm>
            <a:off x="8869680" y="5824728"/>
            <a:ext cx="420624" cy="146304"/>
          </a:xfrm>
          <a:prstGeom prst="rect">
            <a:avLst/>
          </a:prstGeom>
          <a:noFill/>
        </p:spPr>
        <p:txBody>
          <a:bodyPr wrap="square" lIns="0" rIns="0" tIns="0" bIns="0" anchor="t">
            <a:spAutoFit/>
          </a:bodyPr>
          <a:lstStyle/>
          <a:p>
            <a:pPr algn="l">
              <a:spcAft>
                <a:spcPts val="0"/>
              </a:spcAft>
            </a:pPr>
            <a:r>
              <a:rPr sz="730" b="1" i="0">
                <a:solidFill>
                  <a:srgbClr val="2D6496"/>
                </a:solidFill>
                <a:latin typeface="Arial"/>
              </a:rPr>
              <a:t>SCOPE</a:t>
            </a:r>
          </a:p>
        </p:txBody>
      </p:sp>
      <p:sp>
        <p:nvSpPr>
          <p:cNvPr id="130" name="Rectangle 129"/>
          <p:cNvSpPr/>
          <p:nvPr/>
        </p:nvSpPr>
        <p:spPr>
          <a:xfrm>
            <a:off x="9363456" y="5733288"/>
            <a:ext cx="1097280"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9363456" y="5733288"/>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9409176" y="5783579"/>
            <a:ext cx="1005839"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All tissues</a:t>
            </a:r>
          </a:p>
        </p:txBody>
      </p:sp>
      <p:sp>
        <p:nvSpPr>
          <p:cNvPr id="133" name="TextBox 13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Screen: 463 planned configurations and nine matched liver harmonization arms. Models: Vinas et al. (2022); Lacan et al.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had lower separability and distributional distance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Both generators matched expression. DDIM was harder to distinguish from real profiles and had higher F1.</a:t>
            </a:r>
          </a:p>
        </p:txBody>
      </p:sp>
      <p:sp>
        <p:nvSpPr>
          <p:cNvPr id="7" name="TextBox 6"/>
          <p:cNvSpPr txBox="1"/>
          <p:nvPr/>
        </p:nvSpPr>
        <p:spPr>
          <a:xfrm>
            <a:off x="475488" y="1901952"/>
            <a:ext cx="6510528" cy="292608"/>
          </a:xfrm>
          <a:prstGeom prst="rect">
            <a:avLst/>
          </a:prstGeom>
          <a:noFill/>
        </p:spPr>
        <p:txBody>
          <a:bodyPr wrap="square" lIns="18288" rIns="18288" tIns="18288" bIns="18288" anchor="t">
            <a:spAutoFit/>
          </a:bodyPr>
          <a:lstStyle/>
          <a:p>
            <a:pPr algn="l">
              <a:spcAft>
                <a:spcPts val="0"/>
              </a:spcAft>
            </a:pPr>
            <a:r>
              <a:rPr sz="1650" b="1" i="0">
                <a:solidFill>
                  <a:srgbClr val="082B55"/>
                </a:solidFill>
                <a:latin typeface="Arial"/>
              </a:rPr>
              <a:t>Architecture from Lacan et al.</a:t>
            </a:r>
          </a:p>
        </p:txBody>
      </p:sp>
      <p:pic>
        <p:nvPicPr>
          <p:cNvPr id="8" name="Lacan et al. Figure 1C residual diffusion generator architecture" descr="Lacan et al. Figure 1C residual diffusion generator architecture"/>
          <p:cNvPicPr>
            <a:picLocks noChangeAspect="1"/>
          </p:cNvPicPr>
          <p:nvPr/>
        </p:nvPicPr>
        <p:blipFill>
          <a:blip r:embed="rId2"/>
          <a:stretch>
            <a:fillRect/>
          </a:stretch>
        </p:blipFill>
        <p:spPr>
          <a:xfrm>
            <a:off x="186730" y="2185416"/>
            <a:ext cx="6832011" cy="2496312"/>
          </a:xfrm>
          <a:prstGeom prst="rect">
            <a:avLst/>
          </a:prstGeom>
        </p:spPr>
      </p:pic>
      <p:sp>
        <p:nvSpPr>
          <p:cNvPr id="9" name="TextBox 8"/>
          <p:cNvSpPr txBox="1"/>
          <p:nvPr/>
        </p:nvSpPr>
        <p:spPr>
          <a:xfrm>
            <a:off x="512064" y="4727448"/>
            <a:ext cx="6309360" cy="256032"/>
          </a:xfrm>
          <a:prstGeom prst="rect">
            <a:avLst/>
          </a:prstGeom>
          <a:noFill/>
        </p:spPr>
        <p:txBody>
          <a:bodyPr wrap="square" lIns="18288" rIns="18288" tIns="18288" bIns="18288" anchor="t">
            <a:spAutoFit/>
          </a:bodyPr>
          <a:lstStyle/>
          <a:p>
            <a:pPr algn="ctr">
              <a:spcAft>
                <a:spcPts val="0"/>
              </a:spcAft>
            </a:pPr>
            <a:r>
              <a:rPr sz="1130" b="1" i="0">
                <a:solidFill>
                  <a:srgbClr val="263746"/>
                </a:solidFill>
                <a:latin typeface="Arial"/>
              </a:rPr>
              <a:t>Residual dense denoiser conditioned on timestep and tissue.</a:t>
            </a:r>
          </a:p>
        </p:txBody>
      </p:sp>
      <p:sp>
        <p:nvSpPr>
          <p:cNvPr id="10" name="TextBox 9"/>
          <p:cNvSpPr txBox="1"/>
          <p:nvPr/>
        </p:nvSpPr>
        <p:spPr>
          <a:xfrm>
            <a:off x="512064" y="5038344"/>
            <a:ext cx="6309360" cy="310896"/>
          </a:xfrm>
          <a:prstGeom prst="rect">
            <a:avLst/>
          </a:prstGeom>
          <a:noFill/>
        </p:spPr>
        <p:txBody>
          <a:bodyPr wrap="square" lIns="18288" rIns="18288" tIns="18288" bIns="18288" anchor="t">
            <a:spAutoFit/>
          </a:bodyPr>
          <a:lstStyle/>
          <a:p>
            <a:pPr algn="ctr">
              <a:spcAft>
                <a:spcPts val="0"/>
              </a:spcAft>
            </a:pPr>
            <a:r>
              <a:rPr sz="1060" b="0" i="0">
                <a:solidFill>
                  <a:srgbClr val="59697A"/>
                </a:solidFill>
                <a:latin typeface="Arial"/>
              </a:rPr>
              <a:t>OSDR adaptation adds FLT/GC, accession and material context through LoRA.</a:t>
            </a:r>
          </a:p>
        </p:txBody>
      </p:sp>
      <p:sp>
        <p:nvSpPr>
          <p:cNvPr id="11" name="Rectangle 10"/>
          <p:cNvSpPr/>
          <p:nvPr/>
        </p:nvSpPr>
        <p:spPr>
          <a:xfrm>
            <a:off x="7159752" y="1874519"/>
            <a:ext cx="13716" cy="395020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51775" y="1984248"/>
            <a:ext cx="1298448"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Metric</a:t>
            </a:r>
          </a:p>
        </p:txBody>
      </p:sp>
      <p:sp>
        <p:nvSpPr>
          <p:cNvPr id="13" name="TextBox 12"/>
          <p:cNvSpPr txBox="1"/>
          <p:nvPr/>
        </p:nvSpPr>
        <p:spPr>
          <a:xfrm>
            <a:off x="8750808" y="1984248"/>
            <a:ext cx="777240" cy="256032"/>
          </a:xfrm>
          <a:prstGeom prst="rect">
            <a:avLst/>
          </a:prstGeom>
          <a:noFill/>
        </p:spPr>
        <p:txBody>
          <a:bodyPr wrap="square" lIns="18288" rIns="18288" tIns="18288" bIns="18288" anchor="t">
            <a:spAutoFit/>
          </a:bodyPr>
          <a:lstStyle/>
          <a:p>
            <a:pPr algn="ctr">
              <a:spcAft>
                <a:spcPts val="0"/>
              </a:spcAft>
            </a:pPr>
            <a:r>
              <a:rPr sz="1000" b="1" i="0">
                <a:solidFill>
                  <a:srgbClr val="D96552"/>
                </a:solidFill>
                <a:latin typeface="Arial"/>
              </a:rPr>
              <a:t>WGAN-GP</a:t>
            </a:r>
          </a:p>
        </p:txBody>
      </p:sp>
      <p:sp>
        <p:nvSpPr>
          <p:cNvPr id="14" name="TextBox 13"/>
          <p:cNvSpPr txBox="1"/>
          <p:nvPr/>
        </p:nvSpPr>
        <p:spPr>
          <a:xfrm>
            <a:off x="9619488" y="1984248"/>
            <a:ext cx="694944" cy="256032"/>
          </a:xfrm>
          <a:prstGeom prst="rect">
            <a:avLst/>
          </a:prstGeom>
          <a:noFill/>
        </p:spPr>
        <p:txBody>
          <a:bodyPr wrap="square" lIns="18288" rIns="18288" tIns="18288" bIns="18288" anchor="t">
            <a:spAutoFit/>
          </a:bodyPr>
          <a:lstStyle/>
          <a:p>
            <a:pPr algn="ctr">
              <a:spcAft>
                <a:spcPts val="0"/>
              </a:spcAft>
            </a:pPr>
            <a:r>
              <a:rPr sz="1000" b="1" i="0">
                <a:solidFill>
                  <a:srgbClr val="178681"/>
                </a:solidFill>
                <a:latin typeface="Arial"/>
              </a:rPr>
              <a:t>DDIM</a:t>
            </a:r>
          </a:p>
        </p:txBody>
      </p:sp>
      <p:sp>
        <p:nvSpPr>
          <p:cNvPr id="15" name="TextBox 14"/>
          <p:cNvSpPr txBox="1"/>
          <p:nvPr/>
        </p:nvSpPr>
        <p:spPr>
          <a:xfrm>
            <a:off x="10451592" y="1984248"/>
            <a:ext cx="1005840"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Read</a:t>
            </a:r>
          </a:p>
        </p:txBody>
      </p:sp>
      <p:sp>
        <p:nvSpPr>
          <p:cNvPr id="16" name="Rectangle 15"/>
          <p:cNvSpPr/>
          <p:nvPr/>
        </p:nvSpPr>
        <p:spPr>
          <a:xfrm>
            <a:off x="7351775" y="2340864"/>
            <a:ext cx="418795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33488" y="2496312"/>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0" y="2560320"/>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Correlation</a:t>
            </a:r>
          </a:p>
        </p:txBody>
      </p:sp>
      <p:sp>
        <p:nvSpPr>
          <p:cNvPr id="19" name="TextBox 18"/>
          <p:cNvSpPr txBox="1"/>
          <p:nvPr/>
        </p:nvSpPr>
        <p:spPr>
          <a:xfrm>
            <a:off x="8750808" y="2560320"/>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0.976</a:t>
            </a:r>
          </a:p>
        </p:txBody>
      </p:sp>
      <p:sp>
        <p:nvSpPr>
          <p:cNvPr id="20" name="TextBox 19"/>
          <p:cNvSpPr txBox="1"/>
          <p:nvPr/>
        </p:nvSpPr>
        <p:spPr>
          <a:xfrm>
            <a:off x="9619488" y="2560320"/>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0.974</a:t>
            </a:r>
          </a:p>
        </p:txBody>
      </p:sp>
      <p:sp>
        <p:nvSpPr>
          <p:cNvPr id="21" name="TextBox 20"/>
          <p:cNvSpPr txBox="1"/>
          <p:nvPr/>
        </p:nvSpPr>
        <p:spPr>
          <a:xfrm>
            <a:off x="10451592" y="2560320"/>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similar</a:t>
            </a:r>
          </a:p>
        </p:txBody>
      </p:sp>
      <p:sp>
        <p:nvSpPr>
          <p:cNvPr id="22" name="TextBox 21"/>
          <p:cNvSpPr txBox="1"/>
          <p:nvPr/>
        </p:nvSpPr>
        <p:spPr>
          <a:xfrm>
            <a:off x="7406640" y="3099815"/>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F1</a:t>
            </a:r>
          </a:p>
        </p:txBody>
      </p:sp>
      <p:sp>
        <p:nvSpPr>
          <p:cNvPr id="23" name="TextBox 22"/>
          <p:cNvSpPr txBox="1"/>
          <p:nvPr/>
        </p:nvSpPr>
        <p:spPr>
          <a:xfrm>
            <a:off x="8750808" y="3099815"/>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0.985</a:t>
            </a:r>
          </a:p>
        </p:txBody>
      </p:sp>
      <p:sp>
        <p:nvSpPr>
          <p:cNvPr id="24" name="TextBox 23"/>
          <p:cNvSpPr txBox="1"/>
          <p:nvPr/>
        </p:nvSpPr>
        <p:spPr>
          <a:xfrm>
            <a:off x="9619488" y="3099815"/>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0.997</a:t>
            </a:r>
          </a:p>
        </p:txBody>
      </p:sp>
      <p:sp>
        <p:nvSpPr>
          <p:cNvPr id="25" name="TextBox 24"/>
          <p:cNvSpPr txBox="1"/>
          <p:nvPr/>
        </p:nvSpPr>
        <p:spPr>
          <a:xfrm>
            <a:off x="10451592" y="3099815"/>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higher</a:t>
            </a:r>
          </a:p>
        </p:txBody>
      </p:sp>
      <p:sp>
        <p:nvSpPr>
          <p:cNvPr id="26" name="Rectangle 25"/>
          <p:cNvSpPr/>
          <p:nvPr/>
        </p:nvSpPr>
        <p:spPr>
          <a:xfrm>
            <a:off x="7333488" y="3575303"/>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0" y="3639311"/>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Adversarial acc.</a:t>
            </a:r>
          </a:p>
        </p:txBody>
      </p:sp>
      <p:sp>
        <p:nvSpPr>
          <p:cNvPr id="28" name="TextBox 27"/>
          <p:cNvSpPr txBox="1"/>
          <p:nvPr/>
        </p:nvSpPr>
        <p:spPr>
          <a:xfrm>
            <a:off x="8750808" y="3639311"/>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0.636</a:t>
            </a:r>
          </a:p>
        </p:txBody>
      </p:sp>
      <p:sp>
        <p:nvSpPr>
          <p:cNvPr id="29" name="TextBox 28"/>
          <p:cNvSpPr txBox="1"/>
          <p:nvPr/>
        </p:nvSpPr>
        <p:spPr>
          <a:xfrm>
            <a:off x="9619488" y="3639311"/>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0.475</a:t>
            </a:r>
          </a:p>
        </p:txBody>
      </p:sp>
      <p:sp>
        <p:nvSpPr>
          <p:cNvPr id="30" name="TextBox 29"/>
          <p:cNvSpPr txBox="1"/>
          <p:nvPr/>
        </p:nvSpPr>
        <p:spPr>
          <a:xfrm>
            <a:off x="10451592" y="3639311"/>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near 0.5</a:t>
            </a:r>
          </a:p>
        </p:txBody>
      </p:sp>
      <p:sp>
        <p:nvSpPr>
          <p:cNvPr id="31" name="TextBox 30"/>
          <p:cNvSpPr txBox="1"/>
          <p:nvPr/>
        </p:nvSpPr>
        <p:spPr>
          <a:xfrm>
            <a:off x="7406640" y="4178808"/>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FD / real P95</a:t>
            </a:r>
          </a:p>
        </p:txBody>
      </p:sp>
      <p:sp>
        <p:nvSpPr>
          <p:cNvPr id="32" name="TextBox 31"/>
          <p:cNvSpPr txBox="1"/>
          <p:nvPr/>
        </p:nvSpPr>
        <p:spPr>
          <a:xfrm>
            <a:off x="8750808" y="4178808"/>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0.144</a:t>
            </a:r>
          </a:p>
        </p:txBody>
      </p:sp>
      <p:sp>
        <p:nvSpPr>
          <p:cNvPr id="33" name="TextBox 32"/>
          <p:cNvSpPr txBox="1"/>
          <p:nvPr/>
        </p:nvSpPr>
        <p:spPr>
          <a:xfrm>
            <a:off x="9619488" y="4178808"/>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0.074</a:t>
            </a:r>
          </a:p>
        </p:txBody>
      </p:sp>
      <p:sp>
        <p:nvSpPr>
          <p:cNvPr id="34" name="TextBox 33"/>
          <p:cNvSpPr txBox="1"/>
          <p:nvPr/>
        </p:nvSpPr>
        <p:spPr>
          <a:xfrm>
            <a:off x="10451592" y="4178808"/>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lower</a:t>
            </a:r>
          </a:p>
        </p:txBody>
      </p:sp>
      <p:sp>
        <p:nvSpPr>
          <p:cNvPr id="35" name="Rectangle 34"/>
          <p:cNvSpPr/>
          <p:nvPr/>
        </p:nvSpPr>
        <p:spPr>
          <a:xfrm>
            <a:off x="502920" y="5404104"/>
            <a:ext cx="6428232" cy="13716"/>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5559552"/>
            <a:ext cx="1600200" cy="219456"/>
          </a:xfrm>
          <a:prstGeom prst="rect">
            <a:avLst/>
          </a:prstGeom>
          <a:noFill/>
        </p:spPr>
        <p:txBody>
          <a:bodyPr wrap="square" lIns="0" rIns="0" tIns="0" bIns="0" anchor="t">
            <a:spAutoFit/>
          </a:bodyPr>
          <a:lstStyle/>
          <a:p>
            <a:pPr algn="l">
              <a:spcAft>
                <a:spcPts val="0"/>
              </a:spcAft>
            </a:pPr>
            <a:r>
              <a:rPr sz="1040" b="1" i="0">
                <a:solidFill>
                  <a:srgbClr val="2D6496"/>
                </a:solidFill>
                <a:latin typeface="Arial"/>
              </a:rPr>
              <a:t>ARCHS4 tissue probe</a:t>
            </a:r>
          </a:p>
        </p:txBody>
      </p:sp>
      <p:sp>
        <p:nvSpPr>
          <p:cNvPr id="37" name="TextBox 36"/>
          <p:cNvSpPr txBox="1"/>
          <p:nvPr/>
        </p:nvSpPr>
        <p:spPr>
          <a:xfrm>
            <a:off x="3931920" y="5541264"/>
            <a:ext cx="2852928" cy="246888"/>
          </a:xfrm>
          <a:prstGeom prst="rect">
            <a:avLst/>
          </a:prstGeom>
          <a:noFill/>
        </p:spPr>
        <p:txBody>
          <a:bodyPr wrap="square" lIns="0" rIns="0" tIns="0" bIns="0" anchor="t">
            <a:spAutoFit/>
          </a:bodyPr>
          <a:lstStyle/>
          <a:p>
            <a:pPr algn="r">
              <a:spcAft>
                <a:spcPts val="0"/>
              </a:spcAft>
            </a:pPr>
            <a:r>
              <a:rPr sz="1040" b="0" i="0">
                <a:solidFill>
                  <a:srgbClr val="263746"/>
                </a:solidFill>
                <a:latin typeface="Arial"/>
              </a:rPr>
              <a:t>Real 0.781  |  Synthetic 0.781</a:t>
            </a:r>
          </a:p>
        </p:txBody>
      </p:sp>
      <p:sp>
        <p:nvSpPr>
          <p:cNvPr id="38" name="TextBox 37"/>
          <p:cNvSpPr txBox="1"/>
          <p:nvPr/>
        </p:nvSpPr>
        <p:spPr>
          <a:xfrm>
            <a:off x="502920" y="5843016"/>
            <a:ext cx="6281928" cy="228600"/>
          </a:xfrm>
          <a:prstGeom prst="rect">
            <a:avLst/>
          </a:prstGeom>
          <a:noFill/>
        </p:spPr>
        <p:txBody>
          <a:bodyPr wrap="square" lIns="0" rIns="0" tIns="0" bIns="0" anchor="t">
            <a:spAutoFit/>
          </a:bodyPr>
          <a:lstStyle/>
          <a:p>
            <a:pPr algn="ctr">
              <a:spcAft>
                <a:spcPts val="0"/>
              </a:spcAft>
            </a:pPr>
            <a:r>
              <a:rPr sz="969" b="0" i="0">
                <a:solidFill>
                  <a:srgbClr val="59697A"/>
                </a:solidFill>
                <a:latin typeface="Arial"/>
              </a:rPr>
              <a:t>Balanced accuracy is preserved in generated tissue labels.</a:t>
            </a:r>
          </a:p>
        </p:txBody>
      </p:sp>
      <p:sp>
        <p:nvSpPr>
          <p:cNvPr id="39" name="Rectangle 38"/>
          <p:cNvSpPr/>
          <p:nvPr/>
        </p:nvSpPr>
        <p:spPr>
          <a:xfrm>
            <a:off x="7351775" y="4901184"/>
            <a:ext cx="50292" cy="71323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0375" y="4937760"/>
            <a:ext cx="1207008" cy="283464"/>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Use DDIM</a:t>
            </a:r>
          </a:p>
        </p:txBody>
      </p:sp>
      <p:sp>
        <p:nvSpPr>
          <p:cNvPr id="41" name="TextBox 40"/>
          <p:cNvSpPr txBox="1"/>
          <p:nvPr/>
        </p:nvSpPr>
        <p:spPr>
          <a:xfrm>
            <a:off x="8897112" y="4919472"/>
            <a:ext cx="2542032" cy="429768"/>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Higher F1 with lower separability and FD.</a:t>
            </a:r>
          </a:p>
        </p:txBody>
      </p:sp>
      <p:sp>
        <p:nvSpPr>
          <p:cNvPr id="42" name="TextBox 41"/>
          <p:cNvSpPr txBox="1"/>
          <p:nvPr/>
        </p:nvSpPr>
        <p:spPr>
          <a:xfrm>
            <a:off x="7580375" y="5458968"/>
            <a:ext cx="3858768" cy="365760"/>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AA near 0.5 means real and generated profiles are difficult to separate.</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Architecture excerpt: Lacan et al. (2026), Fig. 1C, doi:10.1186/s12859-026-06470-8. Metrics use each model's stated split and are not paired.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Tissue and study structure dominate the PCA space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Left: tissue. Right: OSDR accession. Circles are observed profiles; crosses are matched DDIM profiles.</a:t>
            </a:r>
          </a:p>
        </p:txBody>
      </p:sp>
      <p:pic>
        <p:nvPicPr>
          <p:cNvPr id="7" name="PCA of observed and matched DDIM profiles colored by tissue and OSDR accession" descr="PCA of observed and matched DDIM profiles colored by tissue and OSDR accession"/>
          <p:cNvPicPr>
            <a:picLocks noChangeAspect="1"/>
          </p:cNvPicPr>
          <p:nvPr/>
        </p:nvPicPr>
        <p:blipFill>
          <a:blip r:embed="rId2"/>
          <a:stretch>
            <a:fillRect/>
          </a:stretch>
        </p:blipFill>
        <p:spPr>
          <a:xfrm>
            <a:off x="347472" y="1713098"/>
            <a:ext cx="11448288" cy="4108458"/>
          </a:xfrm>
          <a:prstGeom prst="rect">
            <a:avLst/>
          </a:prstGeom>
        </p:spPr>
      </p:pic>
      <p:sp>
        <p:nvSpPr>
          <p:cNvPr id="8" name="Rectangle 7"/>
          <p:cNvSpPr/>
          <p:nvPr/>
        </p:nvSpPr>
        <p:spPr>
          <a:xfrm>
            <a:off x="438912" y="5916168"/>
            <a:ext cx="11311128" cy="429768"/>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5998464"/>
            <a:ext cx="10789920" cy="237744"/>
          </a:xfrm>
          <a:prstGeom prst="rect">
            <a:avLst/>
          </a:prstGeom>
          <a:noFill/>
        </p:spPr>
        <p:txBody>
          <a:bodyPr wrap="square" lIns="18288" rIns="18288" tIns="18288" bIns="18288" anchor="t">
            <a:spAutoFit/>
          </a:bodyPr>
          <a:lstStyle/>
          <a:p>
            <a:pPr algn="ctr">
              <a:spcAft>
                <a:spcPts val="0"/>
              </a:spcAft>
            </a:pPr>
            <a:r>
              <a:rPr sz="1300" b="1" i="0">
                <a:solidFill>
                  <a:srgbClr val="082B55"/>
                </a:solidFill>
                <a:latin typeface="Arial"/>
              </a:rPr>
              <a:t>Tissue and accession clusters are visible across both observed and generated profiles.</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Same 293 observed and 293 seed-5020 generated profiles; PCA was fitted once to the combined locked expression space.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Flight condition is subtler than study structure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Left: FLT or GC. Right: OSDR accession. Circles are observed profiles; crosses are matched DDIM profiles.</a:t>
            </a:r>
          </a:p>
        </p:txBody>
      </p:sp>
      <p:pic>
        <p:nvPicPr>
          <p:cNvPr id="7" name="PCA of observed and matched DDIM profiles colored by condition and OSDR accession" descr="PCA of observed and matched DDIM profiles colored by condition and OSDR accession"/>
          <p:cNvPicPr>
            <a:picLocks noChangeAspect="1"/>
          </p:cNvPicPr>
          <p:nvPr/>
        </p:nvPicPr>
        <p:blipFill>
          <a:blip r:embed="rId2"/>
          <a:stretch>
            <a:fillRect/>
          </a:stretch>
        </p:blipFill>
        <p:spPr>
          <a:xfrm>
            <a:off x="347472" y="1713098"/>
            <a:ext cx="11448288" cy="4108458"/>
          </a:xfrm>
          <a:prstGeom prst="rect">
            <a:avLst/>
          </a:prstGeom>
        </p:spPr>
      </p:pic>
      <p:sp>
        <p:nvSpPr>
          <p:cNvPr id="8" name="Rectangle 7"/>
          <p:cNvSpPr/>
          <p:nvPr/>
        </p:nvSpPr>
        <p:spPr>
          <a:xfrm>
            <a:off x="438912" y="5916168"/>
            <a:ext cx="11311128" cy="429768"/>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5998464"/>
            <a:ext cx="10789920" cy="237744"/>
          </a:xfrm>
          <a:prstGeom prst="rect">
            <a:avLst/>
          </a:prstGeom>
          <a:noFill/>
        </p:spPr>
        <p:txBody>
          <a:bodyPr wrap="square" lIns="18288" rIns="18288" tIns="18288" bIns="18288" anchor="t">
            <a:spAutoFit/>
          </a:bodyPr>
          <a:lstStyle/>
          <a:p>
            <a:pPr algn="ctr">
              <a:spcAft>
                <a:spcPts val="0"/>
              </a:spcAft>
            </a:pPr>
            <a:r>
              <a:rPr sz="1300" b="1" i="0">
                <a:solidFill>
                  <a:srgbClr val="082B55"/>
                </a:solidFill>
                <a:latin typeface="Arial"/>
              </a:rPr>
              <a:t>Flight and ground-control profiles overlap within the larger accession-defined structure.</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The 74 accession colors are shared across slides 11 and 12; FLT-GC effects are evaluated within study.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Five arms separate gene ranking from classifier fitting</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Guided arms use synthetic profiles to help choose genes; they do not treat generated profiles as new animals.</a:t>
            </a:r>
          </a:p>
        </p:txBody>
      </p:sp>
      <p:sp>
        <p:nvSpPr>
          <p:cNvPr id="7" name="TextBox 6"/>
          <p:cNvSpPr txBox="1"/>
          <p:nvPr/>
        </p:nvSpPr>
        <p:spPr>
          <a:xfrm>
            <a:off x="429768" y="1828800"/>
            <a:ext cx="603504" cy="201168"/>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INPUTS</a:t>
            </a:r>
          </a:p>
        </p:txBody>
      </p:sp>
      <p:sp>
        <p:nvSpPr>
          <p:cNvPr id="8" name="Oval 7"/>
          <p:cNvSpPr/>
          <p:nvPr/>
        </p:nvSpPr>
        <p:spPr>
          <a:xfrm>
            <a:off x="1097280" y="1810512"/>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10" name="TextBox 9"/>
          <p:cNvSpPr txBox="1"/>
          <p:nvPr/>
        </p:nvSpPr>
        <p:spPr>
          <a:xfrm>
            <a:off x="1389888" y="1810512"/>
            <a:ext cx="1078992"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real OSDR</a:t>
            </a:r>
          </a:p>
        </p:txBody>
      </p:sp>
      <p:sp>
        <p:nvSpPr>
          <p:cNvPr id="11" name="Oval 10"/>
          <p:cNvSpPr/>
          <p:nvPr/>
        </p:nvSpPr>
        <p:spPr>
          <a:xfrm>
            <a:off x="2660904" y="1810512"/>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60904"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13" name="TextBox 12"/>
          <p:cNvSpPr txBox="1"/>
          <p:nvPr/>
        </p:nvSpPr>
        <p:spPr>
          <a:xfrm>
            <a:off x="2953512" y="1810512"/>
            <a:ext cx="1298448" cy="219456"/>
          </a:xfrm>
          <a:prstGeom prst="rect">
            <a:avLst/>
          </a:prstGeom>
          <a:noFill/>
        </p:spPr>
        <p:txBody>
          <a:bodyPr wrap="square" lIns="0" rIns="0" tIns="0" bIns="0" anchor="t">
            <a:spAutoFit/>
          </a:bodyPr>
          <a:lstStyle/>
          <a:p>
            <a:pPr algn="l">
              <a:spcAft>
                <a:spcPts val="0"/>
              </a:spcAft>
            </a:pPr>
            <a:r>
              <a:rPr sz="1080" b="1" i="0">
                <a:solidFill>
                  <a:srgbClr val="D96552"/>
                </a:solidFill>
                <a:latin typeface="Arial"/>
              </a:rPr>
              <a:t>matched DDIM</a:t>
            </a:r>
          </a:p>
        </p:txBody>
      </p:sp>
      <p:sp>
        <p:nvSpPr>
          <p:cNvPr id="14" name="TextBox 13"/>
          <p:cNvSpPr txBox="1"/>
          <p:nvPr/>
        </p:nvSpPr>
        <p:spPr>
          <a:xfrm>
            <a:off x="5577840" y="1819656"/>
            <a:ext cx="640080" cy="201168"/>
          </a:xfrm>
          <a:prstGeom prst="rect">
            <a:avLst/>
          </a:prstGeom>
          <a:noFill/>
        </p:spPr>
        <p:txBody>
          <a:bodyPr wrap="square" lIns="0" rIns="0" tIns="0" bIns="0" anchor="t">
            <a:spAutoFit/>
          </a:bodyPr>
          <a:lstStyle/>
          <a:p>
            <a:pPr algn="l">
              <a:spcAft>
                <a:spcPts val="0"/>
              </a:spcAft>
            </a:pPr>
            <a:r>
              <a:rPr sz="880" b="1" i="0">
                <a:solidFill>
                  <a:srgbClr val="178681"/>
                </a:solidFill>
                <a:latin typeface="Arial"/>
              </a:rPr>
              <a:t>GUIDED</a:t>
            </a:r>
          </a:p>
        </p:txBody>
      </p:sp>
      <p:sp>
        <p:nvSpPr>
          <p:cNvPr id="15" name="TextBox 14"/>
          <p:cNvSpPr txBox="1"/>
          <p:nvPr/>
        </p:nvSpPr>
        <p:spPr>
          <a:xfrm>
            <a:off x="6263640" y="1801368"/>
            <a:ext cx="1874519"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R + S help rank genes</a:t>
            </a:r>
          </a:p>
        </p:txBody>
      </p:sp>
      <p:sp>
        <p:nvSpPr>
          <p:cNvPr id="16" name="TextBox 15"/>
          <p:cNvSpPr txBox="1"/>
          <p:nvPr/>
        </p:nvSpPr>
        <p:spPr>
          <a:xfrm>
            <a:off x="8604504" y="1819656"/>
            <a:ext cx="347472" cy="201168"/>
          </a:xfrm>
          <a:prstGeom prst="rect">
            <a:avLst/>
          </a:prstGeom>
          <a:noFill/>
        </p:spPr>
        <p:txBody>
          <a:bodyPr wrap="square" lIns="0" rIns="0" tIns="0" bIns="0" anchor="t">
            <a:spAutoFit/>
          </a:bodyPr>
          <a:lstStyle/>
          <a:p>
            <a:pPr algn="l">
              <a:spcAft>
                <a:spcPts val="0"/>
              </a:spcAft>
            </a:pPr>
            <a:r>
              <a:rPr sz="880" b="1" i="0">
                <a:solidFill>
                  <a:srgbClr val="D37B00"/>
                </a:solidFill>
                <a:latin typeface="Arial"/>
              </a:rPr>
              <a:t>5%</a:t>
            </a:r>
          </a:p>
        </p:txBody>
      </p:sp>
      <p:sp>
        <p:nvSpPr>
          <p:cNvPr id="17" name="TextBox 16"/>
          <p:cNvSpPr txBox="1"/>
          <p:nvPr/>
        </p:nvSpPr>
        <p:spPr>
          <a:xfrm>
            <a:off x="8997696" y="1801368"/>
            <a:ext cx="2542032"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S carries 5% of total fit weight</a:t>
            </a:r>
          </a:p>
        </p:txBody>
      </p:sp>
      <p:sp>
        <p:nvSpPr>
          <p:cNvPr id="18" name="TextBox 17"/>
          <p:cNvSpPr txBox="1"/>
          <p:nvPr/>
        </p:nvSpPr>
        <p:spPr>
          <a:xfrm>
            <a:off x="603504" y="2176272"/>
            <a:ext cx="1993392"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ANALYSIS ARM</a:t>
            </a:r>
          </a:p>
        </p:txBody>
      </p:sp>
      <p:sp>
        <p:nvSpPr>
          <p:cNvPr id="19" name="TextBox 18"/>
          <p:cNvSpPr txBox="1"/>
          <p:nvPr/>
        </p:nvSpPr>
        <p:spPr>
          <a:xfrm>
            <a:off x="2807208" y="2176272"/>
            <a:ext cx="265176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GENE RANKING</a:t>
            </a:r>
          </a:p>
        </p:txBody>
      </p:sp>
      <p:sp>
        <p:nvSpPr>
          <p:cNvPr id="20" name="TextBox 19"/>
          <p:cNvSpPr txBox="1"/>
          <p:nvPr/>
        </p:nvSpPr>
        <p:spPr>
          <a:xfrm>
            <a:off x="5879592" y="2176272"/>
            <a:ext cx="269748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CLASSIFIER FIT</a:t>
            </a:r>
          </a:p>
        </p:txBody>
      </p:sp>
      <p:sp>
        <p:nvSpPr>
          <p:cNvPr id="21" name="TextBox 20"/>
          <p:cNvSpPr txBox="1"/>
          <p:nvPr/>
        </p:nvSpPr>
        <p:spPr>
          <a:xfrm>
            <a:off x="8979408" y="2176272"/>
            <a:ext cx="2487168"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WHAT IT TESTS</a:t>
            </a:r>
          </a:p>
        </p:txBody>
      </p:sp>
      <p:sp>
        <p:nvSpPr>
          <p:cNvPr id="22" name="Rectangle 21"/>
          <p:cNvSpPr/>
          <p:nvPr/>
        </p:nvSpPr>
        <p:spPr>
          <a:xfrm>
            <a:off x="429768" y="2414016"/>
            <a:ext cx="1113739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9768" y="2496312"/>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9768" y="2496312"/>
            <a:ext cx="50292" cy="45720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 y="2569464"/>
            <a:ext cx="1984248" cy="301752"/>
          </a:xfrm>
          <a:prstGeom prst="rect">
            <a:avLst/>
          </a:prstGeom>
          <a:noFill/>
        </p:spPr>
        <p:txBody>
          <a:bodyPr wrap="square" lIns="0" rIns="0" tIns="0" bIns="0" anchor="ctr">
            <a:spAutoFit/>
          </a:bodyPr>
          <a:lstStyle/>
          <a:p>
            <a:pPr algn="l">
              <a:spcAft>
                <a:spcPts val="0"/>
              </a:spcAft>
            </a:pPr>
            <a:r>
              <a:rPr sz="1120" b="1" i="0">
                <a:solidFill>
                  <a:srgbClr val="2D6496"/>
                </a:solidFill>
                <a:latin typeface="Arial"/>
              </a:rPr>
              <a:t>Real only</a:t>
            </a:r>
          </a:p>
        </p:txBody>
      </p:sp>
      <p:sp>
        <p:nvSpPr>
          <p:cNvPr id="26" name="Oval 25"/>
          <p:cNvSpPr/>
          <p:nvPr/>
        </p:nvSpPr>
        <p:spPr>
          <a:xfrm>
            <a:off x="2816352"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16352"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28" name="Right Arrow 27"/>
          <p:cNvSpPr/>
          <p:nvPr/>
        </p:nvSpPr>
        <p:spPr>
          <a:xfrm>
            <a:off x="3127248"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65576" y="2569464"/>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real</a:t>
            </a:r>
          </a:p>
        </p:txBody>
      </p:sp>
      <p:sp>
        <p:nvSpPr>
          <p:cNvPr id="30" name="Oval 29"/>
          <p:cNvSpPr/>
          <p:nvPr/>
        </p:nvSpPr>
        <p:spPr>
          <a:xfrm>
            <a:off x="5897880"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97880"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32" name="Right Arrow 31"/>
          <p:cNvSpPr/>
          <p:nvPr/>
        </p:nvSpPr>
        <p:spPr>
          <a:xfrm>
            <a:off x="6208776"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47104" y="2569464"/>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a:t>
            </a:r>
          </a:p>
        </p:txBody>
      </p:sp>
      <p:sp>
        <p:nvSpPr>
          <p:cNvPr id="34" name="TextBox 33"/>
          <p:cNvSpPr txBox="1"/>
          <p:nvPr/>
        </p:nvSpPr>
        <p:spPr>
          <a:xfrm>
            <a:off x="8988552" y="2569464"/>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Baseline</a:t>
            </a:r>
          </a:p>
        </p:txBody>
      </p:sp>
      <p:sp>
        <p:nvSpPr>
          <p:cNvPr id="35" name="Rectangle 34"/>
          <p:cNvSpPr/>
          <p:nvPr/>
        </p:nvSpPr>
        <p:spPr>
          <a:xfrm>
            <a:off x="429768" y="3017520"/>
            <a:ext cx="50292" cy="45720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648" y="3090672"/>
            <a:ext cx="1984248" cy="301752"/>
          </a:xfrm>
          <a:prstGeom prst="rect">
            <a:avLst/>
          </a:prstGeom>
          <a:noFill/>
        </p:spPr>
        <p:txBody>
          <a:bodyPr wrap="square" lIns="0" rIns="0" tIns="0" bIns="0" anchor="ctr">
            <a:spAutoFit/>
          </a:bodyPr>
          <a:lstStyle/>
          <a:p>
            <a:pPr algn="l">
              <a:spcAft>
                <a:spcPts val="0"/>
              </a:spcAft>
            </a:pPr>
            <a:r>
              <a:rPr sz="1120" b="1" i="0">
                <a:solidFill>
                  <a:srgbClr val="D96552"/>
                </a:solidFill>
                <a:latin typeface="Arial"/>
              </a:rPr>
              <a:t>Generated only</a:t>
            </a:r>
          </a:p>
        </p:txBody>
      </p:sp>
      <p:sp>
        <p:nvSpPr>
          <p:cNvPr id="37" name="Oval 36"/>
          <p:cNvSpPr/>
          <p:nvPr/>
        </p:nvSpPr>
        <p:spPr>
          <a:xfrm>
            <a:off x="2816352"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816352"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39" name="Right Arrow 38"/>
          <p:cNvSpPr/>
          <p:nvPr/>
        </p:nvSpPr>
        <p:spPr>
          <a:xfrm>
            <a:off x="3127248"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65576" y="3090672"/>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generated</a:t>
            </a:r>
          </a:p>
        </p:txBody>
      </p:sp>
      <p:sp>
        <p:nvSpPr>
          <p:cNvPr id="41" name="Oval 40"/>
          <p:cNvSpPr/>
          <p:nvPr/>
        </p:nvSpPr>
        <p:spPr>
          <a:xfrm>
            <a:off x="5897880"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97880"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43" name="Right Arrow 42"/>
          <p:cNvSpPr/>
          <p:nvPr/>
        </p:nvSpPr>
        <p:spPr>
          <a:xfrm>
            <a:off x="6208776"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47104" y="3090672"/>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generated</a:t>
            </a:r>
          </a:p>
        </p:txBody>
      </p:sp>
      <p:sp>
        <p:nvSpPr>
          <p:cNvPr id="45" name="TextBox 44"/>
          <p:cNvSpPr txBox="1"/>
          <p:nvPr/>
        </p:nvSpPr>
        <p:spPr>
          <a:xfrm>
            <a:off x="8988552" y="3090672"/>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Synthetic-only stress test</a:t>
            </a:r>
          </a:p>
        </p:txBody>
      </p:sp>
      <p:sp>
        <p:nvSpPr>
          <p:cNvPr id="46" name="Rectangle 45"/>
          <p:cNvSpPr/>
          <p:nvPr/>
        </p:nvSpPr>
        <p:spPr>
          <a:xfrm>
            <a:off x="429768" y="3538728"/>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29768" y="3538728"/>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2648" y="3611880"/>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Real + generated</a:t>
            </a:r>
          </a:p>
        </p:txBody>
      </p:sp>
      <p:sp>
        <p:nvSpPr>
          <p:cNvPr id="49" name="Oval 48"/>
          <p:cNvSpPr/>
          <p:nvPr/>
        </p:nvSpPr>
        <p:spPr>
          <a:xfrm>
            <a:off x="2816352"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816352"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1" name="TextBox 50"/>
          <p:cNvSpPr txBox="1"/>
          <p:nvPr/>
        </p:nvSpPr>
        <p:spPr>
          <a:xfrm>
            <a:off x="3063240"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2" name="Oval 51"/>
          <p:cNvSpPr/>
          <p:nvPr/>
        </p:nvSpPr>
        <p:spPr>
          <a:xfrm>
            <a:off x="3246120"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4612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54" name="Right Arrow 53"/>
          <p:cNvSpPr/>
          <p:nvPr/>
        </p:nvSpPr>
        <p:spPr>
          <a:xfrm>
            <a:off x="3566160"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904487" y="3611880"/>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56" name="Oval 55"/>
          <p:cNvSpPr/>
          <p:nvPr/>
        </p:nvSpPr>
        <p:spPr>
          <a:xfrm>
            <a:off x="5897880"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89788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8" name="TextBox 57"/>
          <p:cNvSpPr txBox="1"/>
          <p:nvPr/>
        </p:nvSpPr>
        <p:spPr>
          <a:xfrm>
            <a:off x="6144768"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9" name="Oval 58"/>
          <p:cNvSpPr/>
          <p:nvPr/>
        </p:nvSpPr>
        <p:spPr>
          <a:xfrm>
            <a:off x="6327648"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327648"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61" name="Right Arrow 60"/>
          <p:cNvSpPr/>
          <p:nvPr/>
        </p:nvSpPr>
        <p:spPr>
          <a:xfrm>
            <a:off x="6647688"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986016" y="3611880"/>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Equal total weight</a:t>
            </a:r>
          </a:p>
        </p:txBody>
      </p:sp>
      <p:sp>
        <p:nvSpPr>
          <p:cNvPr id="63" name="TextBox 62"/>
          <p:cNvSpPr txBox="1"/>
          <p:nvPr/>
        </p:nvSpPr>
        <p:spPr>
          <a:xfrm>
            <a:off x="8988552" y="3611880"/>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Direct augmentation</a:t>
            </a:r>
          </a:p>
        </p:txBody>
      </p:sp>
      <p:sp>
        <p:nvSpPr>
          <p:cNvPr id="64" name="Rectangle 63"/>
          <p:cNvSpPr/>
          <p:nvPr/>
        </p:nvSpPr>
        <p:spPr>
          <a:xfrm>
            <a:off x="429768" y="4059935"/>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12648" y="4133087"/>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Guided: real fit</a:t>
            </a:r>
          </a:p>
        </p:txBody>
      </p:sp>
      <p:sp>
        <p:nvSpPr>
          <p:cNvPr id="66" name="Oval 65"/>
          <p:cNvSpPr/>
          <p:nvPr/>
        </p:nvSpPr>
        <p:spPr>
          <a:xfrm>
            <a:off x="2816352"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816352"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68" name="TextBox 67"/>
          <p:cNvSpPr txBox="1"/>
          <p:nvPr/>
        </p:nvSpPr>
        <p:spPr>
          <a:xfrm>
            <a:off x="3063240" y="4187951"/>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69" name="Oval 68"/>
          <p:cNvSpPr/>
          <p:nvPr/>
        </p:nvSpPr>
        <p:spPr>
          <a:xfrm>
            <a:off x="3246120" y="4178807"/>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4612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71" name="Right Arrow 70"/>
          <p:cNvSpPr/>
          <p:nvPr/>
        </p:nvSpPr>
        <p:spPr>
          <a:xfrm>
            <a:off x="3566160"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904487" y="4133087"/>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73" name="Oval 72"/>
          <p:cNvSpPr/>
          <p:nvPr/>
        </p:nvSpPr>
        <p:spPr>
          <a:xfrm>
            <a:off x="5897880"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89788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75" name="Right Arrow 74"/>
          <p:cNvSpPr/>
          <p:nvPr/>
        </p:nvSpPr>
        <p:spPr>
          <a:xfrm>
            <a:off x="6208776"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547104" y="4133087"/>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 only</a:t>
            </a:r>
          </a:p>
        </p:txBody>
      </p:sp>
      <p:sp>
        <p:nvSpPr>
          <p:cNvPr id="77" name="TextBox 76"/>
          <p:cNvSpPr txBox="1"/>
          <p:nvPr/>
        </p:nvSpPr>
        <p:spPr>
          <a:xfrm>
            <a:off x="8988552" y="4133087"/>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Feature guidance only</a:t>
            </a:r>
          </a:p>
        </p:txBody>
      </p:sp>
      <p:sp>
        <p:nvSpPr>
          <p:cNvPr id="78" name="Rectangle 77"/>
          <p:cNvSpPr/>
          <p:nvPr/>
        </p:nvSpPr>
        <p:spPr>
          <a:xfrm>
            <a:off x="429768" y="4581144"/>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29768" y="4581144"/>
            <a:ext cx="50292" cy="45720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12648" y="4654296"/>
            <a:ext cx="1984248" cy="301752"/>
          </a:xfrm>
          <a:prstGeom prst="rect">
            <a:avLst/>
          </a:prstGeom>
          <a:noFill/>
        </p:spPr>
        <p:txBody>
          <a:bodyPr wrap="square" lIns="0" rIns="0" tIns="0" bIns="0" anchor="ctr">
            <a:spAutoFit/>
          </a:bodyPr>
          <a:lstStyle/>
          <a:p>
            <a:pPr algn="l">
              <a:spcAft>
                <a:spcPts val="0"/>
              </a:spcAft>
            </a:pPr>
            <a:r>
              <a:rPr sz="1120" b="1" i="0">
                <a:solidFill>
                  <a:srgbClr val="D37B00"/>
                </a:solidFill>
                <a:latin typeface="Arial"/>
              </a:rPr>
              <a:t>Guided: 5% synthetic</a:t>
            </a:r>
          </a:p>
        </p:txBody>
      </p:sp>
      <p:sp>
        <p:nvSpPr>
          <p:cNvPr id="81" name="Oval 80"/>
          <p:cNvSpPr/>
          <p:nvPr/>
        </p:nvSpPr>
        <p:spPr>
          <a:xfrm>
            <a:off x="2816352"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816352"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83" name="TextBox 82"/>
          <p:cNvSpPr txBox="1"/>
          <p:nvPr/>
        </p:nvSpPr>
        <p:spPr>
          <a:xfrm>
            <a:off x="3063240"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84" name="Oval 83"/>
          <p:cNvSpPr/>
          <p:nvPr/>
        </p:nvSpPr>
        <p:spPr>
          <a:xfrm>
            <a:off x="3246120"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324612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86" name="Right Arrow 85"/>
          <p:cNvSpPr/>
          <p:nvPr/>
        </p:nvSpPr>
        <p:spPr>
          <a:xfrm>
            <a:off x="3566160"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3904487" y="4654296"/>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88" name="Oval 87"/>
          <p:cNvSpPr/>
          <p:nvPr/>
        </p:nvSpPr>
        <p:spPr>
          <a:xfrm>
            <a:off x="5897880"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589788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90" name="TextBox 89"/>
          <p:cNvSpPr txBox="1"/>
          <p:nvPr/>
        </p:nvSpPr>
        <p:spPr>
          <a:xfrm>
            <a:off x="6144768"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91" name="Oval 90"/>
          <p:cNvSpPr/>
          <p:nvPr/>
        </p:nvSpPr>
        <p:spPr>
          <a:xfrm>
            <a:off x="6327648"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327648"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93" name="Right Arrow 92"/>
          <p:cNvSpPr/>
          <p:nvPr/>
        </p:nvSpPr>
        <p:spPr>
          <a:xfrm>
            <a:off x="6647688"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986016" y="4654296"/>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S = 5% weight</a:t>
            </a:r>
          </a:p>
        </p:txBody>
      </p:sp>
      <p:sp>
        <p:nvSpPr>
          <p:cNvPr id="95" name="TextBox 94"/>
          <p:cNvSpPr txBox="1"/>
          <p:nvPr/>
        </p:nvSpPr>
        <p:spPr>
          <a:xfrm>
            <a:off x="8988552" y="4654296"/>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Guidance + light regularization</a:t>
            </a:r>
          </a:p>
        </p:txBody>
      </p:sp>
      <p:sp>
        <p:nvSpPr>
          <p:cNvPr id="96" name="Rectangle 95"/>
          <p:cNvSpPr/>
          <p:nvPr/>
        </p:nvSpPr>
        <p:spPr>
          <a:xfrm>
            <a:off x="429768" y="5157216"/>
            <a:ext cx="11137392" cy="16459"/>
          </a:xfrm>
          <a:prstGeom prst="rect">
            <a:avLst/>
          </a:prstGeom>
          <a:solidFill>
            <a:srgbClr val="CDD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566928" y="5330952"/>
            <a:ext cx="1243584" cy="246888"/>
          </a:xfrm>
          <a:prstGeom prst="rect">
            <a:avLst/>
          </a:prstGeom>
          <a:noFill/>
        </p:spPr>
        <p:txBody>
          <a:bodyPr wrap="square" lIns="0" rIns="0" tIns="0" bIns="0" anchor="t">
            <a:spAutoFit/>
          </a:bodyPr>
          <a:lstStyle/>
          <a:p>
            <a:pPr algn="ctr">
              <a:spcAft>
                <a:spcPts val="0"/>
              </a:spcAft>
            </a:pPr>
            <a:r>
              <a:rPr sz="1250" b="1" i="0">
                <a:solidFill>
                  <a:srgbClr val="082B55"/>
                </a:solidFill>
                <a:latin typeface="Arial"/>
              </a:rPr>
              <a:t>All five arms</a:t>
            </a:r>
          </a:p>
        </p:txBody>
      </p:sp>
      <p:sp>
        <p:nvSpPr>
          <p:cNvPr id="98" name="Right Arrow 97"/>
          <p:cNvSpPr/>
          <p:nvPr/>
        </p:nvSpPr>
        <p:spPr>
          <a:xfrm>
            <a:off x="194767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432304" y="5321808"/>
            <a:ext cx="1828800" cy="274320"/>
          </a:xfrm>
          <a:prstGeom prst="rect">
            <a:avLst/>
          </a:prstGeom>
          <a:noFill/>
        </p:spPr>
        <p:txBody>
          <a:bodyPr wrap="square" lIns="0" rIns="0" tIns="0" bIns="0" anchor="t">
            <a:spAutoFit/>
          </a:bodyPr>
          <a:lstStyle/>
          <a:p>
            <a:pPr algn="ctr">
              <a:spcAft>
                <a:spcPts val="0"/>
              </a:spcAft>
            </a:pPr>
            <a:r>
              <a:rPr sz="1250" b="1" i="0">
                <a:solidFill>
                  <a:srgbClr val="2D6496"/>
                </a:solidFill>
                <a:latin typeface="Arial"/>
              </a:rPr>
              <a:t>Held-out real profiles</a:t>
            </a:r>
          </a:p>
        </p:txBody>
      </p:sp>
      <p:sp>
        <p:nvSpPr>
          <p:cNvPr id="100" name="Right Arrow 99"/>
          <p:cNvSpPr/>
          <p:nvPr/>
        </p:nvSpPr>
        <p:spPr>
          <a:xfrm>
            <a:off x="441655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4910328" y="5330952"/>
            <a:ext cx="1719072" cy="246888"/>
          </a:xfrm>
          <a:prstGeom prst="rect">
            <a:avLst/>
          </a:prstGeom>
          <a:noFill/>
        </p:spPr>
        <p:txBody>
          <a:bodyPr wrap="square" lIns="0" rIns="0" tIns="0" bIns="0" anchor="t">
            <a:spAutoFit/>
          </a:bodyPr>
          <a:lstStyle/>
          <a:p>
            <a:pPr algn="ctr">
              <a:spcAft>
                <a:spcPts val="0"/>
              </a:spcAft>
            </a:pPr>
            <a:r>
              <a:rPr sz="1220" b="1" i="0">
                <a:solidFill>
                  <a:srgbClr val="263746"/>
                </a:solidFill>
                <a:latin typeface="Arial"/>
              </a:rPr>
              <a:t>BA  |  AUROC  |  AP</a:t>
            </a:r>
          </a:p>
        </p:txBody>
      </p:sp>
      <p:sp>
        <p:nvSpPr>
          <p:cNvPr id="102" name="Right Arrow 101"/>
          <p:cNvSpPr/>
          <p:nvPr/>
        </p:nvSpPr>
        <p:spPr>
          <a:xfrm>
            <a:off x="6775704"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242048" y="5303520"/>
            <a:ext cx="4023360" cy="310896"/>
          </a:xfrm>
          <a:prstGeom prst="rect">
            <a:avLst/>
          </a:prstGeom>
          <a:noFill/>
        </p:spPr>
        <p:txBody>
          <a:bodyPr wrap="square" lIns="0" rIns="0" tIns="0" bIns="0" anchor="t">
            <a:spAutoFit/>
          </a:bodyPr>
          <a:lstStyle/>
          <a:p>
            <a:pPr algn="ctr">
              <a:spcAft>
                <a:spcPts val="0"/>
              </a:spcAft>
            </a:pPr>
            <a:r>
              <a:rPr sz="1280" b="1" i="0">
                <a:solidFill>
                  <a:srgbClr val="178681"/>
                </a:solidFill>
                <a:latin typeface="Arial"/>
              </a:rPr>
              <a:t>Choose an eligible arm within each tissue</a:t>
            </a:r>
          </a:p>
        </p:txBody>
      </p:sp>
      <p:sp>
        <p:nvSpPr>
          <p:cNvPr id="104" name="Rectangle 103"/>
          <p:cNvSpPr/>
          <p:nvPr/>
        </p:nvSpPr>
        <p:spPr>
          <a:xfrm>
            <a:off x="420624" y="5715000"/>
            <a:ext cx="11173968" cy="53035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76656" y="5852160"/>
            <a:ext cx="1426464" cy="228600"/>
          </a:xfrm>
          <a:prstGeom prst="rect">
            <a:avLst/>
          </a:prstGeom>
          <a:noFill/>
        </p:spPr>
        <p:txBody>
          <a:bodyPr wrap="square" lIns="0" rIns="0" tIns="0" bIns="0" anchor="t">
            <a:spAutoFit/>
          </a:bodyPr>
          <a:lstStyle/>
          <a:p>
            <a:pPr algn="l">
              <a:spcAft>
                <a:spcPts val="0"/>
              </a:spcAft>
            </a:pPr>
            <a:r>
              <a:rPr sz="1350" b="1" i="0">
                <a:solidFill>
                  <a:srgbClr val="FFFFFF"/>
                </a:solidFill>
                <a:latin typeface="Arial"/>
              </a:rPr>
              <a:t>Association test</a:t>
            </a:r>
          </a:p>
        </p:txBody>
      </p:sp>
      <p:sp>
        <p:nvSpPr>
          <p:cNvPr id="106" name="TextBox 105"/>
          <p:cNvSpPr txBox="1"/>
          <p:nvPr/>
        </p:nvSpPr>
        <p:spPr>
          <a:xfrm>
            <a:off x="2258568" y="5843016"/>
            <a:ext cx="5852160" cy="246888"/>
          </a:xfrm>
          <a:prstGeom prst="rect">
            <a:avLst/>
          </a:prstGeom>
          <a:noFill/>
        </p:spPr>
        <p:txBody>
          <a:bodyPr wrap="square" lIns="0" rIns="0" tIns="0" bIns="0" anchor="t">
            <a:spAutoFit/>
          </a:bodyPr>
          <a:lstStyle/>
          <a:p>
            <a:pPr algn="l">
              <a:spcAft>
                <a:spcPts val="0"/>
              </a:spcAft>
            </a:pPr>
            <a:r>
              <a:rPr sz="1290" b="0" i="0">
                <a:solidFill>
                  <a:srgbClr val="DCE7F2"/>
                </a:solidFill>
                <a:latin typeface="Arial"/>
              </a:rPr>
              <a:t>FLT vs GC effects and BH FDR use real OSDR profiles only.</a:t>
            </a:r>
          </a:p>
        </p:txBody>
      </p:sp>
      <p:sp>
        <p:nvSpPr>
          <p:cNvPr id="107" name="TextBox 106"/>
          <p:cNvSpPr txBox="1"/>
          <p:nvPr/>
        </p:nvSpPr>
        <p:spPr>
          <a:xfrm>
            <a:off x="8403336" y="5843016"/>
            <a:ext cx="2862072" cy="246888"/>
          </a:xfrm>
          <a:prstGeom prst="rect">
            <a:avLst/>
          </a:prstGeom>
          <a:noFill/>
        </p:spPr>
        <p:txBody>
          <a:bodyPr wrap="square" lIns="0" rIns="0" tIns="0" bIns="0" anchor="t">
            <a:spAutoFit/>
          </a:bodyPr>
          <a:lstStyle/>
          <a:p>
            <a:pPr algn="r">
              <a:spcAft>
                <a:spcPts val="0"/>
              </a:spcAft>
            </a:pPr>
            <a:r>
              <a:rPr sz="1150" b="1" i="0">
                <a:solidFill>
                  <a:srgbClr val="FFD69A"/>
                </a:solidFill>
                <a:latin typeface="Arial"/>
              </a:rPr>
              <a:t>Animal n stays unchanged.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Consensus ranking chooses the classifier input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Real and generated rankings combine, then only the top k genes are used for FLT-GC classification.</a:t>
            </a:r>
          </a:p>
        </p:txBody>
      </p:sp>
      <p:sp>
        <p:nvSpPr>
          <p:cNvPr id="7" name="Rectangle 6"/>
          <p:cNvSpPr/>
          <p:nvPr/>
        </p:nvSpPr>
        <p:spPr>
          <a:xfrm>
            <a:off x="438912" y="1874519"/>
            <a:ext cx="3300984" cy="2377440"/>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075688"/>
            <a:ext cx="1700784" cy="228600"/>
          </a:xfrm>
          <a:prstGeom prst="rect">
            <a:avLst/>
          </a:prstGeom>
          <a:noFill/>
        </p:spPr>
        <p:txBody>
          <a:bodyPr wrap="square" lIns="0" rIns="0" tIns="0" bIns="0" anchor="t">
            <a:spAutoFit/>
          </a:bodyPr>
          <a:lstStyle/>
          <a:p>
            <a:pPr algn="l">
              <a:spcAft>
                <a:spcPts val="0"/>
              </a:spcAft>
            </a:pPr>
            <a:r>
              <a:rPr sz="1400" b="1" i="0">
                <a:solidFill>
                  <a:srgbClr val="2D6496"/>
                </a:solidFill>
                <a:latin typeface="Arial"/>
              </a:rPr>
              <a:t>1  REAL RANKING</a:t>
            </a:r>
          </a:p>
        </p:txBody>
      </p:sp>
      <p:sp>
        <p:nvSpPr>
          <p:cNvPr id="9" name="TextBox 8"/>
          <p:cNvSpPr txBox="1"/>
          <p:nvPr/>
        </p:nvSpPr>
        <p:spPr>
          <a:xfrm>
            <a:off x="658368" y="2386584"/>
            <a:ext cx="276148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Rank all 974 genes using real OSDR</a:t>
            </a:r>
          </a:p>
        </p:txBody>
      </p:sp>
      <p:sp>
        <p:nvSpPr>
          <p:cNvPr id="10" name="TextBox 9"/>
          <p:cNvSpPr txBox="1"/>
          <p:nvPr/>
        </p:nvSpPr>
        <p:spPr>
          <a:xfrm>
            <a:off x="1453896"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11" name="TextBox 10"/>
          <p:cNvSpPr txBox="1"/>
          <p:nvPr/>
        </p:nvSpPr>
        <p:spPr>
          <a:xfrm>
            <a:off x="2761488"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12" name="TextBox 11"/>
          <p:cNvSpPr txBox="1"/>
          <p:nvPr/>
        </p:nvSpPr>
        <p:spPr>
          <a:xfrm>
            <a:off x="658368" y="28575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1</a:t>
            </a:r>
          </a:p>
        </p:txBody>
      </p:sp>
      <p:sp>
        <p:nvSpPr>
          <p:cNvPr id="13" name="Rectangle 12"/>
          <p:cNvSpPr/>
          <p:nvPr/>
        </p:nvSpPr>
        <p:spPr>
          <a:xfrm>
            <a:off x="1481328" y="29397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992831" y="28849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30861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2</a:t>
            </a:r>
          </a:p>
        </p:txBody>
      </p:sp>
      <p:sp>
        <p:nvSpPr>
          <p:cNvPr id="16" name="Rectangle 15"/>
          <p:cNvSpPr/>
          <p:nvPr/>
        </p:nvSpPr>
        <p:spPr>
          <a:xfrm>
            <a:off x="1481328" y="31683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852379" y="31135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33147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3</a:t>
            </a:r>
          </a:p>
        </p:txBody>
      </p:sp>
      <p:sp>
        <p:nvSpPr>
          <p:cNvPr id="19" name="Rectangle 18"/>
          <p:cNvSpPr/>
          <p:nvPr/>
        </p:nvSpPr>
        <p:spPr>
          <a:xfrm>
            <a:off x="1481328" y="33969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676814" y="33421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5433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4</a:t>
            </a:r>
          </a:p>
        </p:txBody>
      </p:sp>
      <p:sp>
        <p:nvSpPr>
          <p:cNvPr id="22" name="Rectangle 21"/>
          <p:cNvSpPr/>
          <p:nvPr/>
        </p:nvSpPr>
        <p:spPr>
          <a:xfrm>
            <a:off x="1481328" y="36255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395910" y="35707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37719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5</a:t>
            </a:r>
          </a:p>
        </p:txBody>
      </p:sp>
      <p:sp>
        <p:nvSpPr>
          <p:cNvPr id="25" name="Rectangle 24"/>
          <p:cNvSpPr/>
          <p:nvPr/>
        </p:nvSpPr>
        <p:spPr>
          <a:xfrm>
            <a:off x="1481328" y="38541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2027224" y="3799331"/>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ight Arrow 26"/>
          <p:cNvSpPr/>
          <p:nvPr/>
        </p:nvSpPr>
        <p:spPr>
          <a:xfrm>
            <a:off x="3803904" y="2679192"/>
            <a:ext cx="246888"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0" y="1874519"/>
            <a:ext cx="3300984" cy="2377440"/>
          </a:xfrm>
          <a:prstGeom prst="rect">
            <a:avLst/>
          </a:prstGeom>
          <a:solidFill>
            <a:srgbClr val="F8ECE9"/>
          </a:solidFill>
          <a:ln w="10160">
            <a:solidFill>
              <a:srgbClr val="E6CE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34256" y="2075688"/>
            <a:ext cx="2267712" cy="228600"/>
          </a:xfrm>
          <a:prstGeom prst="rect">
            <a:avLst/>
          </a:prstGeom>
          <a:noFill/>
        </p:spPr>
        <p:txBody>
          <a:bodyPr wrap="square" lIns="0" rIns="0" tIns="0" bIns="0" anchor="t">
            <a:spAutoFit/>
          </a:bodyPr>
          <a:lstStyle/>
          <a:p>
            <a:pPr algn="l">
              <a:spcAft>
                <a:spcPts val="0"/>
              </a:spcAft>
            </a:pPr>
            <a:r>
              <a:rPr sz="1400" b="1" i="0">
                <a:solidFill>
                  <a:srgbClr val="D96552"/>
                </a:solidFill>
                <a:latin typeface="Arial"/>
              </a:rPr>
              <a:t>2  GENERATED RANKING</a:t>
            </a:r>
          </a:p>
        </p:txBody>
      </p:sp>
      <p:sp>
        <p:nvSpPr>
          <p:cNvPr id="30" name="TextBox 29"/>
          <p:cNvSpPr txBox="1"/>
          <p:nvPr/>
        </p:nvSpPr>
        <p:spPr>
          <a:xfrm>
            <a:off x="4334256" y="2386584"/>
            <a:ext cx="280720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Rank the same 974 genes using generated profiles</a:t>
            </a:r>
          </a:p>
        </p:txBody>
      </p:sp>
      <p:sp>
        <p:nvSpPr>
          <p:cNvPr id="31" name="TextBox 30"/>
          <p:cNvSpPr txBox="1"/>
          <p:nvPr/>
        </p:nvSpPr>
        <p:spPr>
          <a:xfrm>
            <a:off x="5129784"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32" name="TextBox 31"/>
          <p:cNvSpPr txBox="1"/>
          <p:nvPr/>
        </p:nvSpPr>
        <p:spPr>
          <a:xfrm>
            <a:off x="6437376"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33" name="TextBox 32"/>
          <p:cNvSpPr txBox="1"/>
          <p:nvPr/>
        </p:nvSpPr>
        <p:spPr>
          <a:xfrm>
            <a:off x="4334256" y="28575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1</a:t>
            </a:r>
          </a:p>
        </p:txBody>
      </p:sp>
      <p:sp>
        <p:nvSpPr>
          <p:cNvPr id="34" name="Rectangle 33"/>
          <p:cNvSpPr/>
          <p:nvPr/>
        </p:nvSpPr>
        <p:spPr>
          <a:xfrm>
            <a:off x="5157216" y="29397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633606" y="28849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34256" y="30861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2</a:t>
            </a:r>
          </a:p>
        </p:txBody>
      </p:sp>
      <p:sp>
        <p:nvSpPr>
          <p:cNvPr id="37" name="Rectangle 36"/>
          <p:cNvSpPr/>
          <p:nvPr/>
        </p:nvSpPr>
        <p:spPr>
          <a:xfrm>
            <a:off x="5157216" y="31683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878677" y="31135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34256" y="33147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3</a:t>
            </a:r>
          </a:p>
        </p:txBody>
      </p:sp>
      <p:sp>
        <p:nvSpPr>
          <p:cNvPr id="40" name="Rectangle 39"/>
          <p:cNvSpPr/>
          <p:nvPr/>
        </p:nvSpPr>
        <p:spPr>
          <a:xfrm>
            <a:off x="5157216" y="33969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6598493" y="33421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34256" y="35433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4</a:t>
            </a:r>
          </a:p>
        </p:txBody>
      </p:sp>
      <p:sp>
        <p:nvSpPr>
          <p:cNvPr id="43" name="Rectangle 42"/>
          <p:cNvSpPr/>
          <p:nvPr/>
        </p:nvSpPr>
        <p:spPr>
          <a:xfrm>
            <a:off x="5157216" y="36255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282476" y="35707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37719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5</a:t>
            </a:r>
          </a:p>
        </p:txBody>
      </p:sp>
      <p:sp>
        <p:nvSpPr>
          <p:cNvPr id="46" name="Rectangle 45"/>
          <p:cNvSpPr/>
          <p:nvPr/>
        </p:nvSpPr>
        <p:spPr>
          <a:xfrm>
            <a:off x="5157216" y="38541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5650443" y="3799331"/>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ight Arrow 47"/>
          <p:cNvSpPr/>
          <p:nvPr/>
        </p:nvSpPr>
        <p:spPr>
          <a:xfrm>
            <a:off x="7479792" y="2679192"/>
            <a:ext cx="246888"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90688" y="1874519"/>
            <a:ext cx="3776472" cy="2377440"/>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010144" y="2075688"/>
            <a:ext cx="2331720" cy="228600"/>
          </a:xfrm>
          <a:prstGeom prst="rect">
            <a:avLst/>
          </a:prstGeom>
          <a:noFill/>
        </p:spPr>
        <p:txBody>
          <a:bodyPr wrap="square" lIns="0" rIns="0" tIns="0" bIns="0" anchor="t">
            <a:spAutoFit/>
          </a:bodyPr>
          <a:lstStyle/>
          <a:p>
            <a:pPr algn="l">
              <a:spcAft>
                <a:spcPts val="0"/>
              </a:spcAft>
            </a:pPr>
            <a:r>
              <a:rPr sz="1400" b="1" i="0">
                <a:solidFill>
                  <a:srgbClr val="178681"/>
                </a:solidFill>
                <a:latin typeface="Arial"/>
              </a:rPr>
              <a:t>3  CONSENSUS RANKING</a:t>
            </a:r>
          </a:p>
        </p:txBody>
      </p:sp>
      <p:sp>
        <p:nvSpPr>
          <p:cNvPr id="51" name="TextBox 50"/>
          <p:cNvSpPr txBox="1"/>
          <p:nvPr/>
        </p:nvSpPr>
        <p:spPr>
          <a:xfrm>
            <a:off x="8010144" y="2386584"/>
            <a:ext cx="257860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Genes supported by both move upward</a:t>
            </a:r>
          </a:p>
        </p:txBody>
      </p:sp>
      <p:sp>
        <p:nvSpPr>
          <p:cNvPr id="52" name="TextBox 51"/>
          <p:cNvSpPr txBox="1"/>
          <p:nvPr/>
        </p:nvSpPr>
        <p:spPr>
          <a:xfrm>
            <a:off x="8833104"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53" name="TextBox 52"/>
          <p:cNvSpPr txBox="1"/>
          <p:nvPr/>
        </p:nvSpPr>
        <p:spPr>
          <a:xfrm>
            <a:off x="10616184"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54" name="TextBox 53"/>
          <p:cNvSpPr txBox="1"/>
          <p:nvPr/>
        </p:nvSpPr>
        <p:spPr>
          <a:xfrm>
            <a:off x="8010144" y="28575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1</a:t>
            </a:r>
          </a:p>
        </p:txBody>
      </p:sp>
      <p:sp>
        <p:nvSpPr>
          <p:cNvPr id="55" name="Rectangle 54"/>
          <p:cNvSpPr/>
          <p:nvPr/>
        </p:nvSpPr>
        <p:spPr>
          <a:xfrm>
            <a:off x="8833104" y="29397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0327050" y="2884932"/>
            <a:ext cx="137160" cy="13716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716768" y="2857500"/>
            <a:ext cx="731520" cy="192024"/>
          </a:xfrm>
          <a:prstGeom prst="rect">
            <a:avLst/>
          </a:prstGeom>
          <a:noFill/>
        </p:spPr>
        <p:txBody>
          <a:bodyPr wrap="square" lIns="0" rIns="0" tIns="0" bIns="0" anchor="t">
            <a:spAutoFit/>
          </a:bodyPr>
          <a:lstStyle/>
          <a:p>
            <a:pPr algn="r">
              <a:spcAft>
                <a:spcPts val="0"/>
              </a:spcAft>
            </a:pPr>
            <a:r>
              <a:rPr sz="780" b="1" i="0">
                <a:solidFill>
                  <a:srgbClr val="178681"/>
                </a:solidFill>
                <a:latin typeface="Arial"/>
              </a:rPr>
              <a:t>selected</a:t>
            </a:r>
          </a:p>
        </p:txBody>
      </p:sp>
      <p:sp>
        <p:nvSpPr>
          <p:cNvPr id="58" name="TextBox 57"/>
          <p:cNvSpPr txBox="1"/>
          <p:nvPr/>
        </p:nvSpPr>
        <p:spPr>
          <a:xfrm>
            <a:off x="8010144" y="30861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2</a:t>
            </a:r>
          </a:p>
        </p:txBody>
      </p:sp>
      <p:sp>
        <p:nvSpPr>
          <p:cNvPr id="59" name="Rectangle 58"/>
          <p:cNvSpPr/>
          <p:nvPr/>
        </p:nvSpPr>
        <p:spPr>
          <a:xfrm>
            <a:off x="8833104" y="31683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9835469" y="3113532"/>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716768" y="3086100"/>
            <a:ext cx="731520" cy="192024"/>
          </a:xfrm>
          <a:prstGeom prst="rect">
            <a:avLst/>
          </a:prstGeom>
          <a:noFill/>
        </p:spPr>
        <p:txBody>
          <a:bodyPr wrap="square" lIns="0" rIns="0" tIns="0" bIns="0" anchor="t">
            <a:spAutoFit/>
          </a:bodyPr>
          <a:lstStyle/>
          <a:p>
            <a:pPr algn="r">
              <a:spcAft>
                <a:spcPts val="0"/>
              </a:spcAft>
            </a:pPr>
            <a:r>
              <a:rPr sz="780" b="1" i="0">
                <a:solidFill>
                  <a:srgbClr val="8A969E"/>
                </a:solidFill>
                <a:latin typeface="Arial"/>
              </a:rPr>
              <a:t>not selected</a:t>
            </a:r>
          </a:p>
        </p:txBody>
      </p:sp>
      <p:sp>
        <p:nvSpPr>
          <p:cNvPr id="62" name="TextBox 61"/>
          <p:cNvSpPr txBox="1"/>
          <p:nvPr/>
        </p:nvSpPr>
        <p:spPr>
          <a:xfrm>
            <a:off x="8010144" y="33147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3</a:t>
            </a:r>
          </a:p>
        </p:txBody>
      </p:sp>
      <p:sp>
        <p:nvSpPr>
          <p:cNvPr id="63" name="Rectangle 62"/>
          <p:cNvSpPr/>
          <p:nvPr/>
        </p:nvSpPr>
        <p:spPr>
          <a:xfrm>
            <a:off x="8833104" y="33969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0151485" y="3342132"/>
            <a:ext cx="137160" cy="13716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716768" y="3314700"/>
            <a:ext cx="731520" cy="192024"/>
          </a:xfrm>
          <a:prstGeom prst="rect">
            <a:avLst/>
          </a:prstGeom>
          <a:noFill/>
        </p:spPr>
        <p:txBody>
          <a:bodyPr wrap="square" lIns="0" rIns="0" tIns="0" bIns="0" anchor="t">
            <a:spAutoFit/>
          </a:bodyPr>
          <a:lstStyle/>
          <a:p>
            <a:pPr algn="r">
              <a:spcAft>
                <a:spcPts val="0"/>
              </a:spcAft>
            </a:pPr>
            <a:r>
              <a:rPr sz="780" b="1" i="0">
                <a:solidFill>
                  <a:srgbClr val="178681"/>
                </a:solidFill>
                <a:latin typeface="Arial"/>
              </a:rPr>
              <a:t>selected</a:t>
            </a:r>
          </a:p>
        </p:txBody>
      </p:sp>
      <p:sp>
        <p:nvSpPr>
          <p:cNvPr id="66" name="TextBox 65"/>
          <p:cNvSpPr txBox="1"/>
          <p:nvPr/>
        </p:nvSpPr>
        <p:spPr>
          <a:xfrm>
            <a:off x="8010144" y="35433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4</a:t>
            </a:r>
          </a:p>
        </p:txBody>
      </p:sp>
      <p:sp>
        <p:nvSpPr>
          <p:cNvPr id="67" name="Rectangle 66"/>
          <p:cNvSpPr/>
          <p:nvPr/>
        </p:nvSpPr>
        <p:spPr>
          <a:xfrm>
            <a:off x="8833104" y="36255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9853025" y="3570732"/>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0716768" y="3543300"/>
            <a:ext cx="731520" cy="192024"/>
          </a:xfrm>
          <a:prstGeom prst="rect">
            <a:avLst/>
          </a:prstGeom>
          <a:noFill/>
        </p:spPr>
        <p:txBody>
          <a:bodyPr wrap="square" lIns="0" rIns="0" tIns="0" bIns="0" anchor="t">
            <a:spAutoFit/>
          </a:bodyPr>
          <a:lstStyle/>
          <a:p>
            <a:pPr algn="r">
              <a:spcAft>
                <a:spcPts val="0"/>
              </a:spcAft>
            </a:pPr>
            <a:r>
              <a:rPr sz="780" b="1" i="0">
                <a:solidFill>
                  <a:srgbClr val="8A969E"/>
                </a:solidFill>
                <a:latin typeface="Arial"/>
              </a:rPr>
              <a:t>not selected</a:t>
            </a:r>
          </a:p>
        </p:txBody>
      </p:sp>
      <p:sp>
        <p:nvSpPr>
          <p:cNvPr id="70" name="TextBox 69"/>
          <p:cNvSpPr txBox="1"/>
          <p:nvPr/>
        </p:nvSpPr>
        <p:spPr>
          <a:xfrm>
            <a:off x="8010144" y="37719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5</a:t>
            </a:r>
          </a:p>
        </p:txBody>
      </p:sp>
      <p:sp>
        <p:nvSpPr>
          <p:cNvPr id="71" name="Rectangle 70"/>
          <p:cNvSpPr/>
          <p:nvPr/>
        </p:nvSpPr>
        <p:spPr>
          <a:xfrm>
            <a:off x="8833104" y="38541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9343887" y="3799331"/>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0716768" y="3771900"/>
            <a:ext cx="731520" cy="192024"/>
          </a:xfrm>
          <a:prstGeom prst="rect">
            <a:avLst/>
          </a:prstGeom>
          <a:noFill/>
        </p:spPr>
        <p:txBody>
          <a:bodyPr wrap="square" lIns="0" rIns="0" tIns="0" bIns="0" anchor="t">
            <a:spAutoFit/>
          </a:bodyPr>
          <a:lstStyle/>
          <a:p>
            <a:pPr algn="r">
              <a:spcAft>
                <a:spcPts val="0"/>
              </a:spcAft>
            </a:pPr>
            <a:r>
              <a:rPr sz="780" b="1" i="0">
                <a:solidFill>
                  <a:srgbClr val="8A969E"/>
                </a:solidFill>
                <a:latin typeface="Arial"/>
              </a:rPr>
              <a:t>not selected</a:t>
            </a:r>
          </a:p>
        </p:txBody>
      </p:sp>
      <p:sp>
        <p:nvSpPr>
          <p:cNvPr id="74" name="Rectangle 73"/>
          <p:cNvSpPr/>
          <p:nvPr/>
        </p:nvSpPr>
        <p:spPr>
          <a:xfrm>
            <a:off x="10149840" y="2834640"/>
            <a:ext cx="20116" cy="116128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0195560" y="4041648"/>
            <a:ext cx="1097280" cy="164592"/>
          </a:xfrm>
          <a:prstGeom prst="rect">
            <a:avLst/>
          </a:prstGeom>
          <a:noFill/>
        </p:spPr>
        <p:txBody>
          <a:bodyPr wrap="square" lIns="0" rIns="0" tIns="0" bIns="0" anchor="t">
            <a:spAutoFit/>
          </a:bodyPr>
          <a:lstStyle/>
          <a:p>
            <a:pPr algn="r">
              <a:spcAft>
                <a:spcPts val="0"/>
              </a:spcAft>
            </a:pPr>
            <a:r>
              <a:rPr sz="850" b="0" i="1">
                <a:solidFill>
                  <a:srgbClr val="178681"/>
                </a:solidFill>
                <a:latin typeface="Arial"/>
              </a:rPr>
              <a:t>selection cutoff</a:t>
            </a:r>
          </a:p>
        </p:txBody>
      </p:sp>
      <p:sp>
        <p:nvSpPr>
          <p:cNvPr id="76" name="TextBox 75"/>
          <p:cNvSpPr txBox="1"/>
          <p:nvPr/>
        </p:nvSpPr>
        <p:spPr>
          <a:xfrm>
            <a:off x="475488" y="4425696"/>
            <a:ext cx="4251960" cy="256032"/>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Top-ranked genes become classifier inputs</a:t>
            </a:r>
          </a:p>
        </p:txBody>
      </p:sp>
      <p:sp>
        <p:nvSpPr>
          <p:cNvPr id="77" name="Rectangle 76"/>
          <p:cNvSpPr/>
          <p:nvPr/>
        </p:nvSpPr>
        <p:spPr>
          <a:xfrm>
            <a:off x="466344" y="4736592"/>
            <a:ext cx="3081528" cy="1170432"/>
          </a:xfrm>
          <a:prstGeom prst="rect">
            <a:avLst/>
          </a:prstGeom>
          <a:solidFill>
            <a:srgbClr val="F4F8FA"/>
          </a:solidFill>
          <a:ln w="10160">
            <a:solidFill>
              <a:srgbClr val="D5E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04088" y="4983480"/>
            <a:ext cx="2596896" cy="228600"/>
          </a:xfrm>
          <a:prstGeom prst="rect">
            <a:avLst/>
          </a:prstGeom>
          <a:noFill/>
        </p:spPr>
        <p:txBody>
          <a:bodyPr wrap="square" lIns="0" rIns="0" tIns="0" bIns="0" anchor="t">
            <a:spAutoFit/>
          </a:bodyPr>
          <a:lstStyle/>
          <a:p>
            <a:pPr algn="ctr">
              <a:spcAft>
                <a:spcPts val="0"/>
              </a:spcAft>
            </a:pPr>
            <a:r>
              <a:rPr sz="1300" b="1" i="0">
                <a:solidFill>
                  <a:srgbClr val="2D6496"/>
                </a:solidFill>
                <a:latin typeface="Arial"/>
              </a:rPr>
              <a:t>Rank 974 genes</a:t>
            </a:r>
          </a:p>
        </p:txBody>
      </p:sp>
      <p:sp>
        <p:nvSpPr>
          <p:cNvPr id="79" name="TextBox 78"/>
          <p:cNvSpPr txBox="1"/>
          <p:nvPr/>
        </p:nvSpPr>
        <p:spPr>
          <a:xfrm>
            <a:off x="704088" y="5376672"/>
            <a:ext cx="2596896" cy="201168"/>
          </a:xfrm>
          <a:prstGeom prst="rect">
            <a:avLst/>
          </a:prstGeom>
          <a:noFill/>
        </p:spPr>
        <p:txBody>
          <a:bodyPr wrap="square" lIns="0" rIns="0" tIns="0" bIns="0" anchor="t">
            <a:spAutoFit/>
          </a:bodyPr>
          <a:lstStyle/>
          <a:p>
            <a:pPr algn="ctr">
              <a:spcAft>
                <a:spcPts val="0"/>
              </a:spcAft>
            </a:pPr>
            <a:r>
              <a:rPr sz="1000" b="0" i="0">
                <a:solidFill>
                  <a:srgbClr val="59697A"/>
                </a:solidFill>
                <a:latin typeface="Arial"/>
              </a:rPr>
              <a:t>real, generated, or consensus</a:t>
            </a:r>
          </a:p>
        </p:txBody>
      </p:sp>
      <p:sp>
        <p:nvSpPr>
          <p:cNvPr id="80" name="Right Arrow 79"/>
          <p:cNvSpPr/>
          <p:nvPr/>
        </p:nvSpPr>
        <p:spPr>
          <a:xfrm>
            <a:off x="3648456" y="5193792"/>
            <a:ext cx="283464"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4032504" y="4736592"/>
            <a:ext cx="3081528" cy="1170432"/>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270248" y="4928616"/>
            <a:ext cx="2596896" cy="228600"/>
          </a:xfrm>
          <a:prstGeom prst="rect">
            <a:avLst/>
          </a:prstGeom>
          <a:noFill/>
        </p:spPr>
        <p:txBody>
          <a:bodyPr wrap="square" lIns="0" rIns="0" tIns="0" bIns="0" anchor="t">
            <a:spAutoFit/>
          </a:bodyPr>
          <a:lstStyle/>
          <a:p>
            <a:pPr algn="ctr">
              <a:spcAft>
                <a:spcPts val="0"/>
              </a:spcAft>
            </a:pPr>
            <a:r>
              <a:rPr sz="1300" b="1" i="0">
                <a:solidFill>
                  <a:srgbClr val="178681"/>
                </a:solidFill>
                <a:latin typeface="Arial"/>
              </a:rPr>
              <a:t>Keep the top k</a:t>
            </a:r>
          </a:p>
        </p:txBody>
      </p:sp>
      <p:sp>
        <p:nvSpPr>
          <p:cNvPr id="83" name="TextBox 82"/>
          <p:cNvSpPr txBox="1"/>
          <p:nvPr/>
        </p:nvSpPr>
        <p:spPr>
          <a:xfrm>
            <a:off x="4270248" y="5266944"/>
            <a:ext cx="2596896" cy="201168"/>
          </a:xfrm>
          <a:prstGeom prst="rect">
            <a:avLst/>
          </a:prstGeom>
          <a:noFill/>
        </p:spPr>
        <p:txBody>
          <a:bodyPr wrap="square" lIns="0" rIns="0" tIns="0" bIns="0" anchor="t">
            <a:spAutoFit/>
          </a:bodyPr>
          <a:lstStyle/>
          <a:p>
            <a:pPr algn="ctr">
              <a:spcAft>
                <a:spcPts val="0"/>
              </a:spcAft>
            </a:pPr>
            <a:r>
              <a:rPr sz="1019" b="1" i="0">
                <a:solidFill>
                  <a:srgbClr val="263746"/>
                </a:solidFill>
                <a:latin typeface="Arial"/>
              </a:rPr>
              <a:t>k = 10, 25, 50, or 100</a:t>
            </a:r>
          </a:p>
        </p:txBody>
      </p:sp>
      <p:sp>
        <p:nvSpPr>
          <p:cNvPr id="84" name="TextBox 83"/>
          <p:cNvSpPr txBox="1"/>
          <p:nvPr/>
        </p:nvSpPr>
        <p:spPr>
          <a:xfrm>
            <a:off x="4270248" y="5541264"/>
            <a:ext cx="2596896" cy="164592"/>
          </a:xfrm>
          <a:prstGeom prst="rect">
            <a:avLst/>
          </a:prstGeom>
          <a:noFill/>
        </p:spPr>
        <p:txBody>
          <a:bodyPr wrap="square" lIns="0" rIns="0" tIns="0" bIns="0" anchor="t">
            <a:spAutoFit/>
          </a:bodyPr>
          <a:lstStyle/>
          <a:p>
            <a:pPr algn="ctr">
              <a:spcAft>
                <a:spcPts val="0"/>
              </a:spcAft>
            </a:pPr>
            <a:r>
              <a:rPr sz="880" b="0" i="1">
                <a:solidFill>
                  <a:srgbClr val="59697A"/>
                </a:solidFill>
                <a:latin typeface="Arial"/>
              </a:rPr>
              <a:t>validation chooses k</a:t>
            </a:r>
          </a:p>
        </p:txBody>
      </p:sp>
      <p:sp>
        <p:nvSpPr>
          <p:cNvPr id="85" name="Right Arrow 84"/>
          <p:cNvSpPr/>
          <p:nvPr/>
        </p:nvSpPr>
        <p:spPr>
          <a:xfrm>
            <a:off x="7214616" y="5193792"/>
            <a:ext cx="283464"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7598664" y="4736592"/>
            <a:ext cx="3968496" cy="1170432"/>
          </a:xfrm>
          <a:prstGeom prst="rect">
            <a:avLst/>
          </a:prstGeom>
          <a:solidFill>
            <a:srgbClr val="F6F7F8"/>
          </a:solidFill>
          <a:ln w="10160">
            <a:solidFill>
              <a:srgbClr val="D9DF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7836408" y="4983480"/>
            <a:ext cx="3493008" cy="228600"/>
          </a:xfrm>
          <a:prstGeom prst="rect">
            <a:avLst/>
          </a:prstGeom>
          <a:noFill/>
        </p:spPr>
        <p:txBody>
          <a:bodyPr wrap="square" lIns="0" rIns="0" tIns="0" bIns="0" anchor="t">
            <a:spAutoFit/>
          </a:bodyPr>
          <a:lstStyle/>
          <a:p>
            <a:pPr algn="ctr">
              <a:spcAft>
                <a:spcPts val="0"/>
              </a:spcAft>
            </a:pPr>
            <a:r>
              <a:rPr sz="1300" b="1" i="0">
                <a:solidFill>
                  <a:srgbClr val="082B55"/>
                </a:solidFill>
                <a:latin typeface="Arial"/>
              </a:rPr>
              <a:t>Fit FLT-GC classifier</a:t>
            </a:r>
          </a:p>
        </p:txBody>
      </p:sp>
      <p:sp>
        <p:nvSpPr>
          <p:cNvPr id="88" name="TextBox 87"/>
          <p:cNvSpPr txBox="1"/>
          <p:nvPr/>
        </p:nvSpPr>
        <p:spPr>
          <a:xfrm>
            <a:off x="7836408" y="5376672"/>
            <a:ext cx="3493008" cy="201168"/>
          </a:xfrm>
          <a:prstGeom prst="rect">
            <a:avLst/>
          </a:prstGeom>
          <a:noFill/>
        </p:spPr>
        <p:txBody>
          <a:bodyPr wrap="square" lIns="0" rIns="0" tIns="0" bIns="0" anchor="t">
            <a:spAutoFit/>
          </a:bodyPr>
          <a:lstStyle/>
          <a:p>
            <a:pPr algn="ctr">
              <a:spcAft>
                <a:spcPts val="0"/>
              </a:spcAft>
            </a:pPr>
            <a:r>
              <a:rPr sz="1000" b="0" i="0">
                <a:solidFill>
                  <a:srgbClr val="263746"/>
                </a:solidFill>
                <a:latin typeface="Arial"/>
              </a:rPr>
              <a:t>using only the selected gene columns</a:t>
            </a:r>
          </a:p>
        </p:txBody>
      </p:sp>
      <p:sp>
        <p:nvSpPr>
          <p:cNvPr id="89" name="TextBox 8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Five genes are schematic examples from the 974-gene ranking. Real and generated normalized ranks are combined.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can shift the FLT/GC boundary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Opaque points train the classifier; transparent points are the same held-out real profiles in both panels.</a:t>
            </a:r>
          </a:p>
        </p:txBody>
      </p:sp>
      <p:sp>
        <p:nvSpPr>
          <p:cNvPr id="7" name="Oval 6"/>
          <p:cNvSpPr/>
          <p:nvPr/>
        </p:nvSpPr>
        <p:spPr>
          <a:xfrm>
            <a:off x="8037575" y="1792224"/>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11312" y="1755648"/>
            <a:ext cx="329184" cy="192024"/>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FLT</a:t>
            </a:r>
          </a:p>
        </p:txBody>
      </p:sp>
      <p:sp>
        <p:nvSpPr>
          <p:cNvPr id="9" name="Oval 8"/>
          <p:cNvSpPr/>
          <p:nvPr/>
        </p:nvSpPr>
        <p:spPr>
          <a:xfrm>
            <a:off x="8686800" y="1792224"/>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0536" y="1755648"/>
            <a:ext cx="310896" cy="192024"/>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GC</a:t>
            </a:r>
          </a:p>
        </p:txBody>
      </p:sp>
      <p:sp>
        <p:nvSpPr>
          <p:cNvPr id="11" name="Oval 10"/>
          <p:cNvSpPr/>
          <p:nvPr/>
        </p:nvSpPr>
        <p:spPr>
          <a:xfrm>
            <a:off x="9418320" y="1792224"/>
            <a:ext cx="118872" cy="118872"/>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92056" y="1755648"/>
            <a:ext cx="566928" cy="192024"/>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training</a:t>
            </a:r>
          </a:p>
        </p:txBody>
      </p:sp>
      <p:sp>
        <p:nvSpPr>
          <p:cNvPr id="13" name="Oval 12"/>
          <p:cNvSpPr/>
          <p:nvPr/>
        </p:nvSpPr>
        <p:spPr>
          <a:xfrm>
            <a:off x="10314432" y="1773936"/>
            <a:ext cx="146304" cy="146304"/>
          </a:xfrm>
          <a:prstGeom prst="ellipse">
            <a:avLst/>
          </a:prstGeom>
          <a:solidFill>
            <a:srgbClr val="8A969E">
              <a:alpha val="42000"/>
            </a:srgbClr>
          </a:solidFill>
          <a:ln w="12700">
            <a:solidFill>
              <a:srgbClr val="8A96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33888" y="1755648"/>
            <a:ext cx="658368" cy="192024"/>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held-out</a:t>
            </a:r>
          </a:p>
        </p:txBody>
      </p:sp>
      <p:sp>
        <p:nvSpPr>
          <p:cNvPr id="15" name="TextBox 14"/>
          <p:cNvSpPr txBox="1"/>
          <p:nvPr/>
        </p:nvSpPr>
        <p:spPr>
          <a:xfrm>
            <a:off x="658368" y="2039112"/>
            <a:ext cx="4343400" cy="246888"/>
          </a:xfrm>
          <a:prstGeom prst="rect">
            <a:avLst/>
          </a:prstGeom>
          <a:noFill/>
        </p:spPr>
        <p:txBody>
          <a:bodyPr wrap="square" lIns="0" rIns="0" tIns="0" bIns="0" anchor="t">
            <a:spAutoFit/>
          </a:bodyPr>
          <a:lstStyle/>
          <a:p>
            <a:pPr algn="ctr">
              <a:spcAft>
                <a:spcPts val="0"/>
              </a:spcAft>
            </a:pPr>
            <a:r>
              <a:rPr sz="1300" b="1" i="0">
                <a:solidFill>
                  <a:srgbClr val="2D6496"/>
                </a:solidFill>
                <a:latin typeface="Arial"/>
              </a:rPr>
              <a:t>REAL-ONLY CLASSIFIER</a:t>
            </a:r>
          </a:p>
        </p:txBody>
      </p:sp>
      <p:sp>
        <p:nvSpPr>
          <p:cNvPr id="16" name="TextBox 15"/>
          <p:cNvSpPr txBox="1"/>
          <p:nvPr/>
        </p:nvSpPr>
        <p:spPr>
          <a:xfrm>
            <a:off x="7178040" y="2039112"/>
            <a:ext cx="4343400" cy="246888"/>
          </a:xfrm>
          <a:prstGeom prst="rect">
            <a:avLst/>
          </a:prstGeom>
          <a:noFill/>
        </p:spPr>
        <p:txBody>
          <a:bodyPr wrap="square" lIns="0" rIns="0" tIns="0" bIns="0" anchor="t">
            <a:spAutoFit/>
          </a:bodyPr>
          <a:lstStyle/>
          <a:p>
            <a:pPr algn="ctr">
              <a:spcAft>
                <a:spcPts val="0"/>
              </a:spcAft>
            </a:pPr>
            <a:r>
              <a:rPr sz="1300" b="1" i="0">
                <a:solidFill>
                  <a:srgbClr val="178681"/>
                </a:solidFill>
                <a:latin typeface="Arial"/>
              </a:rPr>
              <a:t>SYNTHETIC-GUIDED CLASSIFIER</a:t>
            </a:r>
          </a:p>
        </p:txBody>
      </p:sp>
      <p:sp>
        <p:nvSpPr>
          <p:cNvPr id="17" name="Rectangle 16"/>
          <p:cNvSpPr/>
          <p:nvPr/>
        </p:nvSpPr>
        <p:spPr>
          <a:xfrm>
            <a:off x="658368" y="5504688"/>
            <a:ext cx="4343400" cy="20116"/>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2395728"/>
            <a:ext cx="20116" cy="3127248"/>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69848" y="287121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408176" y="445312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755648" y="363016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075688" y="509320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258568" y="303580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264408" y="289864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538728" y="445312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858768" y="358444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224528" y="509320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544568" y="308152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2532887" y="3813048"/>
            <a:ext cx="182880" cy="182880"/>
          </a:xfrm>
          <a:prstGeom prst="ellipse">
            <a:avLst/>
          </a:prstGeom>
          <a:solidFill>
            <a:srgbClr val="D96552">
              <a:alpha val="42000"/>
            </a:srgbClr>
          </a:solidFill>
          <a:ln w="1524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2743200" y="4727448"/>
            <a:ext cx="182880" cy="182880"/>
          </a:xfrm>
          <a:prstGeom prst="ellipse">
            <a:avLst/>
          </a:prstGeom>
          <a:solidFill>
            <a:srgbClr val="D96552">
              <a:alpha val="42000"/>
            </a:srgbClr>
          </a:solidFill>
          <a:ln w="1524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017520" y="3310128"/>
            <a:ext cx="182880" cy="182880"/>
          </a:xfrm>
          <a:prstGeom prst="ellipse">
            <a:avLst/>
          </a:prstGeom>
          <a:solidFill>
            <a:srgbClr val="2D6496">
              <a:alpha val="42000"/>
            </a:srgbClr>
          </a:solidFill>
          <a:ln w="1524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218687" y="4910328"/>
            <a:ext cx="182880" cy="182880"/>
          </a:xfrm>
          <a:prstGeom prst="ellipse">
            <a:avLst/>
          </a:prstGeom>
          <a:solidFill>
            <a:srgbClr val="2D6496">
              <a:alpha val="42000"/>
            </a:srgbClr>
          </a:solidFill>
          <a:ln w="1524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350008" y="2560320"/>
            <a:ext cx="32004" cy="2724912"/>
          </a:xfrm>
          <a:prstGeom prst="rect">
            <a:avLst/>
          </a:prstGeom>
          <a:solidFill>
            <a:srgbClr val="5969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8096" y="5614416"/>
            <a:ext cx="1024128" cy="182880"/>
          </a:xfrm>
          <a:prstGeom prst="rect">
            <a:avLst/>
          </a:prstGeom>
          <a:noFill/>
        </p:spPr>
        <p:txBody>
          <a:bodyPr wrap="square" lIns="0" rIns="0" tIns="0" bIns="0" anchor="t">
            <a:spAutoFit/>
          </a:bodyPr>
          <a:lstStyle/>
          <a:p>
            <a:pPr algn="l">
              <a:spcAft>
                <a:spcPts val="0"/>
              </a:spcAft>
            </a:pPr>
            <a:r>
              <a:rPr sz="919" b="0" i="0">
                <a:solidFill>
                  <a:srgbClr val="D96552"/>
                </a:solidFill>
                <a:latin typeface="Arial"/>
              </a:rPr>
              <a:t>predicted FLT</a:t>
            </a:r>
          </a:p>
        </p:txBody>
      </p:sp>
      <p:sp>
        <p:nvSpPr>
          <p:cNvPr id="35" name="TextBox 34"/>
          <p:cNvSpPr txBox="1"/>
          <p:nvPr/>
        </p:nvSpPr>
        <p:spPr>
          <a:xfrm>
            <a:off x="3840480" y="5614416"/>
            <a:ext cx="1024128" cy="182880"/>
          </a:xfrm>
          <a:prstGeom prst="rect">
            <a:avLst/>
          </a:prstGeom>
          <a:noFill/>
        </p:spPr>
        <p:txBody>
          <a:bodyPr wrap="square" lIns="0" rIns="0" tIns="0" bIns="0" anchor="t">
            <a:spAutoFit/>
          </a:bodyPr>
          <a:lstStyle/>
          <a:p>
            <a:pPr algn="r">
              <a:spcAft>
                <a:spcPts val="0"/>
              </a:spcAft>
            </a:pPr>
            <a:r>
              <a:rPr sz="919" b="0" i="0">
                <a:solidFill>
                  <a:srgbClr val="2D6496"/>
                </a:solidFill>
                <a:latin typeface="Arial"/>
              </a:rPr>
              <a:t>predicted GC</a:t>
            </a:r>
          </a:p>
        </p:txBody>
      </p:sp>
      <p:sp>
        <p:nvSpPr>
          <p:cNvPr id="36" name="Rectangle 35"/>
          <p:cNvSpPr/>
          <p:nvPr/>
        </p:nvSpPr>
        <p:spPr>
          <a:xfrm>
            <a:off x="7178040" y="5504688"/>
            <a:ext cx="4343400" cy="20116"/>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178040" y="2395728"/>
            <a:ext cx="20116" cy="3127248"/>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589519" y="287121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927848" y="445312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275319" y="363016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595360" y="509320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8778240" y="303580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9784080" y="289864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058400" y="445312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0378440" y="358444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744200" y="509320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1064240" y="308152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9052559" y="3813048"/>
            <a:ext cx="182880" cy="182880"/>
          </a:xfrm>
          <a:prstGeom prst="ellipse">
            <a:avLst/>
          </a:prstGeom>
          <a:solidFill>
            <a:srgbClr val="D96552">
              <a:alpha val="42000"/>
            </a:srgbClr>
          </a:solidFill>
          <a:ln w="1524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9262872" y="4727448"/>
            <a:ext cx="182880" cy="182880"/>
          </a:xfrm>
          <a:prstGeom prst="ellipse">
            <a:avLst/>
          </a:prstGeom>
          <a:solidFill>
            <a:srgbClr val="D96552">
              <a:alpha val="42000"/>
            </a:srgbClr>
          </a:solidFill>
          <a:ln w="1524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9537192" y="3310128"/>
            <a:ext cx="182880" cy="182880"/>
          </a:xfrm>
          <a:prstGeom prst="ellipse">
            <a:avLst/>
          </a:prstGeom>
          <a:solidFill>
            <a:srgbClr val="2D6496">
              <a:alpha val="42000"/>
            </a:srgbClr>
          </a:solidFill>
          <a:ln w="1524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9738359" y="4910328"/>
            <a:ext cx="182880" cy="182880"/>
          </a:xfrm>
          <a:prstGeom prst="ellipse">
            <a:avLst/>
          </a:prstGeom>
          <a:solidFill>
            <a:srgbClr val="2D6496">
              <a:alpha val="42000"/>
            </a:srgbClr>
          </a:solidFill>
          <a:ln w="1524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390888" y="2560320"/>
            <a:ext cx="41148" cy="272491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287768" y="5614416"/>
            <a:ext cx="1024128" cy="182880"/>
          </a:xfrm>
          <a:prstGeom prst="rect">
            <a:avLst/>
          </a:prstGeom>
          <a:noFill/>
        </p:spPr>
        <p:txBody>
          <a:bodyPr wrap="square" lIns="0" rIns="0" tIns="0" bIns="0" anchor="t">
            <a:spAutoFit/>
          </a:bodyPr>
          <a:lstStyle/>
          <a:p>
            <a:pPr algn="l">
              <a:spcAft>
                <a:spcPts val="0"/>
              </a:spcAft>
            </a:pPr>
            <a:r>
              <a:rPr sz="919" b="0" i="0">
                <a:solidFill>
                  <a:srgbClr val="D96552"/>
                </a:solidFill>
                <a:latin typeface="Arial"/>
              </a:rPr>
              <a:t>predicted FLT</a:t>
            </a:r>
          </a:p>
        </p:txBody>
      </p:sp>
      <p:sp>
        <p:nvSpPr>
          <p:cNvPr id="54" name="TextBox 53"/>
          <p:cNvSpPr txBox="1"/>
          <p:nvPr/>
        </p:nvSpPr>
        <p:spPr>
          <a:xfrm>
            <a:off x="10360152" y="5614416"/>
            <a:ext cx="1024128" cy="182880"/>
          </a:xfrm>
          <a:prstGeom prst="rect">
            <a:avLst/>
          </a:prstGeom>
          <a:noFill/>
        </p:spPr>
        <p:txBody>
          <a:bodyPr wrap="square" lIns="0" rIns="0" tIns="0" bIns="0" anchor="t">
            <a:spAutoFit/>
          </a:bodyPr>
          <a:lstStyle/>
          <a:p>
            <a:pPr algn="r">
              <a:spcAft>
                <a:spcPts val="0"/>
              </a:spcAft>
            </a:pPr>
            <a:r>
              <a:rPr sz="919" b="0" i="0">
                <a:solidFill>
                  <a:srgbClr val="2D6496"/>
                </a:solidFill>
                <a:latin typeface="Arial"/>
              </a:rPr>
              <a:t>predicted GC</a:t>
            </a:r>
          </a:p>
        </p:txBody>
      </p:sp>
      <p:sp>
        <p:nvSpPr>
          <p:cNvPr id="55" name="Right Arrow 54"/>
          <p:cNvSpPr/>
          <p:nvPr/>
        </p:nvSpPr>
        <p:spPr>
          <a:xfrm>
            <a:off x="5367528" y="3547872"/>
            <a:ext cx="749808" cy="4023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093208" y="4069080"/>
            <a:ext cx="1298448" cy="356616"/>
          </a:xfrm>
          <a:prstGeom prst="rect">
            <a:avLst/>
          </a:prstGeom>
          <a:noFill/>
        </p:spPr>
        <p:txBody>
          <a:bodyPr wrap="square" lIns="0" rIns="0" tIns="0" bIns="0" anchor="t">
            <a:spAutoFit/>
          </a:bodyPr>
          <a:lstStyle/>
          <a:p>
            <a:pPr algn="ctr">
              <a:spcAft>
                <a:spcPts val="0"/>
              </a:spcAft>
            </a:pPr>
            <a:r>
              <a:rPr sz="960" b="1" i="0">
                <a:solidFill>
                  <a:srgbClr val="59697A"/>
                </a:solidFill>
                <a:latin typeface="Arial"/>
              </a:rPr>
              <a:t>same held-out profiles</a:t>
            </a:r>
          </a:p>
        </p:txBody>
      </p:sp>
      <p:sp>
        <p:nvSpPr>
          <p:cNvPr id="57" name="TextBox 5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Schematic of the held-out evaluation used for each tissue-specific classifier candidate.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use helped some tissues and hurt others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pooled classifier declined, and even the best tissue-specific synthetic candidate was not always better than real-only training.</a:t>
            </a:r>
          </a:p>
        </p:txBody>
      </p:sp>
      <p:sp>
        <p:nvSpPr>
          <p:cNvPr id="7" name="Rectangle 6"/>
          <p:cNvSpPr/>
          <p:nvPr/>
        </p:nvSpPr>
        <p:spPr>
          <a:xfrm>
            <a:off x="438912" y="1874519"/>
            <a:ext cx="3017520" cy="32004"/>
          </a:xfrm>
          <a:prstGeom prst="rect">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057400"/>
            <a:ext cx="2651760" cy="320040"/>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Pooled across tissues</a:t>
            </a:r>
          </a:p>
        </p:txBody>
      </p:sp>
      <p:sp>
        <p:nvSpPr>
          <p:cNvPr id="9" name="TextBox 8"/>
          <p:cNvSpPr txBox="1"/>
          <p:nvPr/>
        </p:nvSpPr>
        <p:spPr>
          <a:xfrm rot="16200000">
            <a:off x="-256032" y="3977639"/>
            <a:ext cx="1417320" cy="256032"/>
          </a:xfrm>
          <a:prstGeom prst="rect">
            <a:avLst/>
          </a:prstGeom>
          <a:noFill/>
        </p:spPr>
        <p:txBody>
          <a:bodyPr wrap="square" lIns="0" rIns="0" tIns="0" bIns="0" anchor="t">
            <a:spAutoFit/>
          </a:bodyPr>
          <a:lstStyle/>
          <a:p>
            <a:pPr algn="ctr">
              <a:spcAft>
                <a:spcPts val="0"/>
              </a:spcAft>
            </a:pPr>
            <a:r>
              <a:rPr sz="1050" b="1" i="0">
                <a:solidFill>
                  <a:srgbClr val="59697A"/>
                </a:solidFill>
                <a:latin typeface="Arial"/>
              </a:rPr>
              <a:t>Balanced accuracy</a:t>
            </a:r>
          </a:p>
        </p:txBody>
      </p:sp>
      <p:sp>
        <p:nvSpPr>
          <p:cNvPr id="10" name="Rectangle 9"/>
          <p:cNvSpPr/>
          <p:nvPr/>
        </p:nvSpPr>
        <p:spPr>
          <a:xfrm>
            <a:off x="877824" y="54864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53949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a:t>
            </a:r>
          </a:p>
        </p:txBody>
      </p:sp>
      <p:sp>
        <p:nvSpPr>
          <p:cNvPr id="12" name="Rectangle 11"/>
          <p:cNvSpPr/>
          <p:nvPr/>
        </p:nvSpPr>
        <p:spPr>
          <a:xfrm>
            <a:off x="877824" y="41148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 y="40233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0.5</a:t>
            </a:r>
          </a:p>
        </p:txBody>
      </p:sp>
      <p:sp>
        <p:nvSpPr>
          <p:cNvPr id="14" name="Rectangle 13"/>
          <p:cNvSpPr/>
          <p:nvPr/>
        </p:nvSpPr>
        <p:spPr>
          <a:xfrm>
            <a:off x="877824" y="27432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26517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1.0</a:t>
            </a:r>
          </a:p>
        </p:txBody>
      </p:sp>
      <p:sp>
        <p:nvSpPr>
          <p:cNvPr id="16" name="Rectangle 15"/>
          <p:cNvSpPr/>
          <p:nvPr/>
        </p:nvSpPr>
        <p:spPr>
          <a:xfrm>
            <a:off x="905256" y="3418027"/>
            <a:ext cx="566928" cy="20683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 y="3097987"/>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8" name="TextBox 17"/>
          <p:cNvSpPr txBox="1"/>
          <p:nvPr/>
        </p:nvSpPr>
        <p:spPr>
          <a:xfrm>
            <a:off x="786384"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a:t>
            </a:r>
          </a:p>
        </p:txBody>
      </p:sp>
      <p:sp>
        <p:nvSpPr>
          <p:cNvPr id="19" name="Rectangle 18"/>
          <p:cNvSpPr/>
          <p:nvPr/>
        </p:nvSpPr>
        <p:spPr>
          <a:xfrm>
            <a:off x="1719072" y="3579876"/>
            <a:ext cx="566928" cy="190652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45919" y="325983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21" name="TextBox 20"/>
          <p:cNvSpPr txBox="1"/>
          <p:nvPr/>
        </p:nvSpPr>
        <p:spPr>
          <a:xfrm>
            <a:off x="1600200"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Generated</a:t>
            </a:r>
          </a:p>
        </p:txBody>
      </p:sp>
      <p:sp>
        <p:nvSpPr>
          <p:cNvPr id="22" name="Rectangle 21"/>
          <p:cNvSpPr/>
          <p:nvPr/>
        </p:nvSpPr>
        <p:spPr>
          <a:xfrm>
            <a:off x="2532888" y="3464661"/>
            <a:ext cx="566928" cy="202173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59736" y="3144621"/>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24" name="TextBox 23"/>
          <p:cNvSpPr txBox="1"/>
          <p:nvPr/>
        </p:nvSpPr>
        <p:spPr>
          <a:xfrm>
            <a:off x="2414016"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 + synth.</a:t>
            </a:r>
          </a:p>
        </p:txBody>
      </p:sp>
      <p:sp>
        <p:nvSpPr>
          <p:cNvPr id="25" name="Rectangle 24"/>
          <p:cNvSpPr/>
          <p:nvPr/>
        </p:nvSpPr>
        <p:spPr>
          <a:xfrm>
            <a:off x="877824" y="5486400"/>
            <a:ext cx="2432304" cy="18288"/>
          </a:xfrm>
          <a:prstGeom prst="rect">
            <a:avLst/>
          </a:prstGeom>
          <a:solidFill>
            <a:srgbClr val="8694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39312" y="1874519"/>
            <a:ext cx="13716" cy="416052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86200" y="1874519"/>
            <a:ext cx="775411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41648" y="2057400"/>
            <a:ext cx="4572000"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Best synthetic-informed candidate by tissue</a:t>
            </a:r>
          </a:p>
        </p:txBody>
      </p:sp>
      <p:pic>
        <p:nvPicPr>
          <p:cNvPr id="29" name="Balanced accuracy before and after tissue-specific synthetic use" descr="Balanced accuracy before and after tissue-specific synthetic use"/>
          <p:cNvPicPr>
            <a:picLocks noChangeAspect="1"/>
          </p:cNvPicPr>
          <p:nvPr/>
        </p:nvPicPr>
        <p:blipFill>
          <a:blip r:embed="rId2"/>
          <a:stretch>
            <a:fillRect/>
          </a:stretch>
        </p:blipFill>
        <p:spPr>
          <a:xfrm>
            <a:off x="4865185" y="2423160"/>
            <a:ext cx="5777853" cy="3383280"/>
          </a:xfrm>
          <a:prstGeom prst="rect">
            <a:avLst/>
          </a:prstGeom>
        </p:spPr>
      </p:pic>
      <p:sp>
        <p:nvSpPr>
          <p:cNvPr id="30" name="TextBox 29"/>
          <p:cNvSpPr txBox="1"/>
          <p:nvPr/>
        </p:nvSpPr>
        <p:spPr>
          <a:xfrm>
            <a:off x="4059936" y="5715000"/>
            <a:ext cx="6583680" cy="246888"/>
          </a:xfrm>
          <a:prstGeom prst="rect">
            <a:avLst/>
          </a:prstGeom>
          <a:noFill/>
        </p:spPr>
        <p:txBody>
          <a:bodyPr wrap="square" lIns="18288" rIns="18288" tIns="18288" bIns="18288" anchor="t">
            <a:spAutoFit/>
          </a:bodyPr>
          <a:lstStyle/>
          <a:p>
            <a:pPr algn="l">
              <a:spcAft>
                <a:spcPts val="0"/>
              </a:spcAft>
            </a:pPr>
            <a:r>
              <a:rPr sz="1170" b="0" i="1">
                <a:solidFill>
                  <a:srgbClr val="59697A"/>
                </a:solidFill>
                <a:latin typeface="Arial"/>
              </a:rPr>
              <a:t>Only candidates that were non-worse on BA, AUROC, and AP were retained.</a:t>
            </a:r>
          </a:p>
        </p:txBody>
      </p:sp>
      <p:sp>
        <p:nvSpPr>
          <p:cNvPr id="31" name="TextBox 3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Development results with held-out profiles from represented accessions; they do not measure transfer to a new mission.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changed ranking, not statistical evidence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Blue marks real-only selection; teal marks synthetic-guided selection. Every displayed association has real OSDR support.</a:t>
            </a:r>
          </a:p>
        </p:txBody>
      </p:sp>
      <p:sp>
        <p:nvSpPr>
          <p:cNvPr id="7" name="TextBox 6"/>
          <p:cNvSpPr txBox="1"/>
          <p:nvPr/>
        </p:nvSpPr>
        <p:spPr>
          <a:xfrm>
            <a:off x="566928" y="1847088"/>
            <a:ext cx="3931920" cy="274320"/>
          </a:xfrm>
          <a:prstGeom prst="rect">
            <a:avLst/>
          </a:prstGeom>
          <a:noFill/>
        </p:spPr>
        <p:txBody>
          <a:bodyPr wrap="square" lIns="0" rIns="0" tIns="0" bIns="0" anchor="t">
            <a:spAutoFit/>
          </a:bodyPr>
          <a:lstStyle/>
          <a:p>
            <a:pPr algn="l">
              <a:spcAft>
                <a:spcPts val="0"/>
              </a:spcAft>
            </a:pPr>
            <a:r>
              <a:rPr sz="1550" b="1" i="0">
                <a:solidFill>
                  <a:srgbClr val="082B55"/>
                </a:solidFill>
                <a:latin typeface="Arial"/>
              </a:rPr>
              <a:t>Stable selection after real-data support</a:t>
            </a:r>
          </a:p>
        </p:txBody>
      </p:sp>
      <p:sp>
        <p:nvSpPr>
          <p:cNvPr id="8" name="Oval 7"/>
          <p:cNvSpPr/>
          <p:nvPr/>
        </p:nvSpPr>
        <p:spPr>
          <a:xfrm>
            <a:off x="585216" y="221284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157984"/>
            <a:ext cx="2212848" cy="228600"/>
          </a:xfrm>
          <a:prstGeom prst="rect">
            <a:avLst/>
          </a:prstGeom>
          <a:noFill/>
        </p:spPr>
        <p:txBody>
          <a:bodyPr wrap="square" lIns="0" rIns="0" tIns="0" bIns="0" anchor="t">
            <a:spAutoFit/>
          </a:bodyPr>
          <a:lstStyle/>
          <a:p>
            <a:pPr algn="l">
              <a:spcAft>
                <a:spcPts val="0"/>
              </a:spcAft>
            </a:pPr>
            <a:r>
              <a:rPr sz="1050" b="1" i="0">
                <a:solidFill>
                  <a:srgbClr val="2D6496"/>
                </a:solidFill>
                <a:latin typeface="Arial"/>
              </a:rPr>
              <a:t>Blue: stable in real-only ranking</a:t>
            </a:r>
          </a:p>
        </p:txBody>
      </p:sp>
      <p:sp>
        <p:nvSpPr>
          <p:cNvPr id="10" name="Oval 9"/>
          <p:cNvSpPr/>
          <p:nvPr/>
        </p:nvSpPr>
        <p:spPr>
          <a:xfrm>
            <a:off x="3136392" y="2212848"/>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7560" y="2157984"/>
            <a:ext cx="2724912" cy="228600"/>
          </a:xfrm>
          <a:prstGeom prst="rect">
            <a:avLst/>
          </a:prstGeom>
          <a:noFill/>
        </p:spPr>
        <p:txBody>
          <a:bodyPr wrap="square" lIns="0" rIns="0" tIns="0" bIns="0" anchor="t">
            <a:spAutoFit/>
          </a:bodyPr>
          <a:lstStyle/>
          <a:p>
            <a:pPr algn="l">
              <a:spcAft>
                <a:spcPts val="0"/>
              </a:spcAft>
            </a:pPr>
            <a:r>
              <a:rPr sz="1050" b="1" i="0">
                <a:solidFill>
                  <a:srgbClr val="178681"/>
                </a:solidFill>
                <a:latin typeface="Arial"/>
              </a:rPr>
              <a:t>Teal: stable in synthetic-guided ranking</a:t>
            </a:r>
          </a:p>
        </p:txBody>
      </p:sp>
      <p:sp>
        <p:nvSpPr>
          <p:cNvPr id="12" name="Oval 11"/>
          <p:cNvSpPr/>
          <p:nvPr/>
        </p:nvSpPr>
        <p:spPr>
          <a:xfrm>
            <a:off x="566928" y="2542032"/>
            <a:ext cx="3529584" cy="2542032"/>
          </a:xfrm>
          <a:prstGeom prst="ellipse">
            <a:avLst/>
          </a:prstGeom>
          <a:solidFill>
            <a:srgbClr val="2D6496">
              <a:alpha val="18000"/>
            </a:srgbClr>
          </a:solidFill>
          <a:ln w="3302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743200" y="2542032"/>
            <a:ext cx="3529584" cy="2542032"/>
          </a:xfrm>
          <a:prstGeom prst="ellipse">
            <a:avLst/>
          </a:prstGeom>
          <a:solidFill>
            <a:srgbClr val="178681">
              <a:alpha val="20000"/>
            </a:srgbClr>
          </a:solidFill>
          <a:ln w="3302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3127248"/>
            <a:ext cx="1298448" cy="438912"/>
          </a:xfrm>
          <a:prstGeom prst="rect">
            <a:avLst/>
          </a:prstGeom>
          <a:noFill/>
        </p:spPr>
        <p:txBody>
          <a:bodyPr wrap="square" lIns="0" rIns="0" tIns="0" bIns="0" anchor="t">
            <a:spAutoFit/>
          </a:bodyPr>
          <a:lstStyle/>
          <a:p>
            <a:pPr algn="ctr">
              <a:spcAft>
                <a:spcPts val="0"/>
              </a:spcAft>
            </a:pPr>
            <a:r>
              <a:rPr sz="2900" b="1" i="0">
                <a:solidFill>
                  <a:srgbClr val="2D6496"/>
                </a:solidFill>
                <a:latin typeface="Arial"/>
              </a:rPr>
              <a:t>34</a:t>
            </a:r>
          </a:p>
        </p:txBody>
      </p:sp>
      <p:sp>
        <p:nvSpPr>
          <p:cNvPr id="15" name="TextBox 14"/>
          <p:cNvSpPr txBox="1"/>
          <p:nvPr/>
        </p:nvSpPr>
        <p:spPr>
          <a:xfrm>
            <a:off x="1024128"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real-only</a:t>
            </a:r>
          </a:p>
        </p:txBody>
      </p:sp>
      <p:sp>
        <p:nvSpPr>
          <p:cNvPr id="16" name="TextBox 15"/>
          <p:cNvSpPr txBox="1"/>
          <p:nvPr/>
        </p:nvSpPr>
        <p:spPr>
          <a:xfrm>
            <a:off x="941832" y="3941063"/>
            <a:ext cx="1536192" cy="219456"/>
          </a:xfrm>
          <a:prstGeom prst="rect">
            <a:avLst/>
          </a:prstGeom>
          <a:noFill/>
        </p:spPr>
        <p:txBody>
          <a:bodyPr wrap="square" lIns="0" rIns="0" tIns="0" bIns="0" anchor="t">
            <a:spAutoFit/>
          </a:bodyPr>
          <a:lstStyle/>
          <a:p>
            <a:pPr algn="ctr">
              <a:spcAft>
                <a:spcPts val="0"/>
              </a:spcAft>
            </a:pPr>
            <a:r>
              <a:rPr sz="919" b="1" i="0">
                <a:solidFill>
                  <a:srgbClr val="2D6496"/>
                </a:solidFill>
                <a:latin typeface="Arial"/>
              </a:rPr>
              <a:t>WITHOUT GUIDANCE</a:t>
            </a:r>
          </a:p>
        </p:txBody>
      </p:sp>
      <p:sp>
        <p:nvSpPr>
          <p:cNvPr id="17" name="TextBox 16"/>
          <p:cNvSpPr txBox="1"/>
          <p:nvPr/>
        </p:nvSpPr>
        <p:spPr>
          <a:xfrm>
            <a:off x="2889504" y="3127248"/>
            <a:ext cx="1069848" cy="438912"/>
          </a:xfrm>
          <a:prstGeom prst="rect">
            <a:avLst/>
          </a:prstGeom>
          <a:noFill/>
        </p:spPr>
        <p:txBody>
          <a:bodyPr wrap="square" lIns="0" rIns="0" tIns="0" bIns="0" anchor="t">
            <a:spAutoFit/>
          </a:bodyPr>
          <a:lstStyle/>
          <a:p>
            <a:pPr algn="ctr">
              <a:spcAft>
                <a:spcPts val="0"/>
              </a:spcAft>
            </a:pPr>
            <a:r>
              <a:rPr sz="2900" b="1" i="0">
                <a:solidFill>
                  <a:srgbClr val="D37B00"/>
                </a:solidFill>
                <a:latin typeface="Arial"/>
              </a:rPr>
              <a:t>23</a:t>
            </a:r>
          </a:p>
        </p:txBody>
      </p:sp>
      <p:sp>
        <p:nvSpPr>
          <p:cNvPr id="18" name="TextBox 17"/>
          <p:cNvSpPr txBox="1"/>
          <p:nvPr/>
        </p:nvSpPr>
        <p:spPr>
          <a:xfrm>
            <a:off x="2834640" y="3593592"/>
            <a:ext cx="1179576" cy="274320"/>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reinforced</a:t>
            </a:r>
          </a:p>
        </p:txBody>
      </p:sp>
      <p:sp>
        <p:nvSpPr>
          <p:cNvPr id="19" name="TextBox 18"/>
          <p:cNvSpPr txBox="1"/>
          <p:nvPr/>
        </p:nvSpPr>
        <p:spPr>
          <a:xfrm>
            <a:off x="2779776" y="3941063"/>
            <a:ext cx="1280160" cy="219456"/>
          </a:xfrm>
          <a:prstGeom prst="rect">
            <a:avLst/>
          </a:prstGeom>
          <a:noFill/>
        </p:spPr>
        <p:txBody>
          <a:bodyPr wrap="square" lIns="0" rIns="0" tIns="0" bIns="0" anchor="t">
            <a:spAutoFit/>
          </a:bodyPr>
          <a:lstStyle/>
          <a:p>
            <a:pPr algn="ctr">
              <a:spcAft>
                <a:spcPts val="0"/>
              </a:spcAft>
            </a:pPr>
            <a:r>
              <a:rPr sz="919" b="1" i="0">
                <a:solidFill>
                  <a:srgbClr val="D37B00"/>
                </a:solidFill>
                <a:latin typeface="Arial"/>
              </a:rPr>
              <a:t>BOTH RANKINGS</a:t>
            </a:r>
          </a:p>
        </p:txBody>
      </p:sp>
      <p:sp>
        <p:nvSpPr>
          <p:cNvPr id="20" name="TextBox 19"/>
          <p:cNvSpPr txBox="1"/>
          <p:nvPr/>
        </p:nvSpPr>
        <p:spPr>
          <a:xfrm>
            <a:off x="4471416" y="3127248"/>
            <a:ext cx="1371600" cy="438912"/>
          </a:xfrm>
          <a:prstGeom prst="rect">
            <a:avLst/>
          </a:prstGeom>
          <a:noFill/>
        </p:spPr>
        <p:txBody>
          <a:bodyPr wrap="square" lIns="0" rIns="0" tIns="0" bIns="0" anchor="t">
            <a:spAutoFit/>
          </a:bodyPr>
          <a:lstStyle/>
          <a:p>
            <a:pPr algn="ctr">
              <a:spcAft>
                <a:spcPts val="0"/>
              </a:spcAft>
            </a:pPr>
            <a:r>
              <a:rPr sz="2900" b="1" i="0">
                <a:solidFill>
                  <a:srgbClr val="178681"/>
                </a:solidFill>
                <a:latin typeface="Arial"/>
              </a:rPr>
              <a:t>26</a:t>
            </a:r>
          </a:p>
        </p:txBody>
      </p:sp>
      <p:sp>
        <p:nvSpPr>
          <p:cNvPr id="21" name="TextBox 20"/>
          <p:cNvSpPr txBox="1"/>
          <p:nvPr/>
        </p:nvSpPr>
        <p:spPr>
          <a:xfrm>
            <a:off x="4471416"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promoted</a:t>
            </a:r>
          </a:p>
        </p:txBody>
      </p:sp>
      <p:sp>
        <p:nvSpPr>
          <p:cNvPr id="22" name="TextBox 21"/>
          <p:cNvSpPr txBox="1"/>
          <p:nvPr/>
        </p:nvSpPr>
        <p:spPr>
          <a:xfrm>
            <a:off x="4389120" y="3941063"/>
            <a:ext cx="1536192" cy="219456"/>
          </a:xfrm>
          <a:prstGeom prst="rect">
            <a:avLst/>
          </a:prstGeom>
          <a:noFill/>
        </p:spPr>
        <p:txBody>
          <a:bodyPr wrap="square" lIns="0" rIns="0" tIns="0" bIns="0" anchor="t">
            <a:spAutoFit/>
          </a:bodyPr>
          <a:lstStyle/>
          <a:p>
            <a:pPr algn="ctr">
              <a:spcAft>
                <a:spcPts val="0"/>
              </a:spcAft>
            </a:pPr>
            <a:r>
              <a:rPr sz="919" b="1" i="0">
                <a:solidFill>
                  <a:srgbClr val="178681"/>
                </a:solidFill>
                <a:latin typeface="Arial"/>
              </a:rPr>
              <a:t>GUIDANCE ONLY</a:t>
            </a:r>
          </a:p>
        </p:txBody>
      </p:sp>
      <p:sp>
        <p:nvSpPr>
          <p:cNvPr id="23" name="Rectangle 22"/>
          <p:cNvSpPr/>
          <p:nvPr/>
        </p:nvSpPr>
        <p:spPr>
          <a:xfrm>
            <a:off x="6565392" y="1920240"/>
            <a:ext cx="16459" cy="3639312"/>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85432" y="2221992"/>
            <a:ext cx="4498848" cy="365760"/>
          </a:xfrm>
          <a:prstGeom prst="rect">
            <a:avLst/>
          </a:prstGeom>
          <a:noFill/>
        </p:spPr>
        <p:txBody>
          <a:bodyPr wrap="square" lIns="18288" rIns="18288" tIns="18288" bIns="18288" anchor="t">
            <a:spAutoFit/>
          </a:bodyPr>
          <a:lstStyle/>
          <a:p>
            <a:pPr algn="ctr">
              <a:spcAft>
                <a:spcPts val="0"/>
              </a:spcAft>
            </a:pPr>
            <a:r>
              <a:rPr sz="2000" b="1" i="0">
                <a:solidFill>
                  <a:srgbClr val="082B55"/>
                </a:solidFill>
                <a:latin typeface="Arial"/>
              </a:rPr>
              <a:t>Real OSDR evidence gate</a:t>
            </a:r>
          </a:p>
        </p:txBody>
      </p:sp>
      <p:sp>
        <p:nvSpPr>
          <p:cNvPr id="25" name="Oval 24"/>
          <p:cNvSpPr/>
          <p:nvPr/>
        </p:nvSpPr>
        <p:spPr>
          <a:xfrm>
            <a:off x="7123176" y="299923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60920" y="2907792"/>
            <a:ext cx="3794760" cy="34747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Estimate FLT vs GC inside each accession</a:t>
            </a:r>
          </a:p>
        </p:txBody>
      </p:sp>
      <p:sp>
        <p:nvSpPr>
          <p:cNvPr id="27" name="Oval 26"/>
          <p:cNvSpPr/>
          <p:nvPr/>
        </p:nvSpPr>
        <p:spPr>
          <a:xfrm>
            <a:off x="7123176" y="3584448"/>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60920" y="3493008"/>
            <a:ext cx="3794760" cy="53035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Combine accession effects with a
random-effects model</a:t>
            </a:r>
          </a:p>
        </p:txBody>
      </p:sp>
      <p:sp>
        <p:nvSpPr>
          <p:cNvPr id="29" name="Oval 28"/>
          <p:cNvSpPr/>
          <p:nvPr/>
        </p:nvSpPr>
        <p:spPr>
          <a:xfrm>
            <a:off x="7123176" y="432511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60920" y="4233672"/>
            <a:ext cx="3794760" cy="34747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Apply BH FDR within each tissue</a:t>
            </a:r>
          </a:p>
        </p:txBody>
      </p:sp>
      <p:sp>
        <p:nvSpPr>
          <p:cNvPr id="31" name="Rectangle 30"/>
          <p:cNvSpPr/>
          <p:nvPr/>
        </p:nvSpPr>
        <p:spPr>
          <a:xfrm>
            <a:off x="7022592" y="4700016"/>
            <a:ext cx="4078224" cy="71323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0" y="4809744"/>
            <a:ext cx="3675887" cy="219456"/>
          </a:xfrm>
          <a:prstGeom prst="rect">
            <a:avLst/>
          </a:prstGeom>
          <a:noFill/>
        </p:spPr>
        <p:txBody>
          <a:bodyPr wrap="square" lIns="0" rIns="0" tIns="0" bIns="0" anchor="t">
            <a:spAutoFit/>
          </a:bodyPr>
          <a:lstStyle/>
          <a:p>
            <a:pPr algn="ctr">
              <a:spcAft>
                <a:spcPts val="0"/>
              </a:spcAft>
            </a:pPr>
            <a:r>
              <a:rPr sz="1150" b="1" i="0">
                <a:solidFill>
                  <a:srgbClr val="BFD0E1"/>
                </a:solidFill>
                <a:latin typeface="Arial"/>
              </a:rPr>
              <a:t>23 reinforced + 26 promoted</a:t>
            </a:r>
          </a:p>
        </p:txBody>
      </p:sp>
      <p:sp>
        <p:nvSpPr>
          <p:cNvPr id="33" name="TextBox 32"/>
          <p:cNvSpPr txBox="1"/>
          <p:nvPr/>
        </p:nvSpPr>
        <p:spPr>
          <a:xfrm>
            <a:off x="7205472" y="5047488"/>
            <a:ext cx="3712463" cy="256032"/>
          </a:xfrm>
          <a:prstGeom prst="rect">
            <a:avLst/>
          </a:prstGeom>
          <a:noFill/>
        </p:spPr>
        <p:txBody>
          <a:bodyPr wrap="square" lIns="0" rIns="0" tIns="0" bIns="0" anchor="t">
            <a:spAutoFit/>
          </a:bodyPr>
          <a:lstStyle/>
          <a:p>
            <a:pPr algn="ctr">
              <a:spcAft>
                <a:spcPts val="0"/>
              </a:spcAft>
            </a:pPr>
            <a:r>
              <a:rPr sz="1550" b="1" i="0">
                <a:solidFill>
                  <a:srgbClr val="FFFFFF"/>
                </a:solidFill>
                <a:latin typeface="Arial"/>
              </a:rPr>
              <a:t>49 synthetic-informed associations</a:t>
            </a:r>
          </a:p>
        </p:txBody>
      </p:sp>
      <p:sp>
        <p:nvSpPr>
          <p:cNvPr id="34" name="Rectangle 33"/>
          <p:cNvSpPr/>
          <p:nvPr/>
        </p:nvSpPr>
        <p:spPr>
          <a:xfrm>
            <a:off x="475488" y="5724144"/>
            <a:ext cx="11109960"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843016"/>
            <a:ext cx="10744200" cy="237744"/>
          </a:xfrm>
          <a:prstGeom prst="rect">
            <a:avLst/>
          </a:prstGeom>
          <a:noFill/>
        </p:spPr>
        <p:txBody>
          <a:bodyPr wrap="square" lIns="18288" rIns="18288" tIns="18288" bIns="18288" anchor="t">
            <a:spAutoFit/>
          </a:bodyPr>
          <a:lstStyle/>
          <a:p>
            <a:pPr algn="ctr">
              <a:spcAft>
                <a:spcPts val="0"/>
              </a:spcAft>
            </a:pPr>
            <a:r>
              <a:rPr sz="1260" b="0" i="0">
                <a:solidFill>
                  <a:srgbClr val="59697A"/>
                </a:solidFill>
                <a:latin typeface="Arial"/>
              </a:rPr>
              <a:t>The 34 real-only associations remain real-data findings; synthetic guidance did not reinforce them.</a:t>
            </a:r>
          </a:p>
        </p:txBody>
      </p:sp>
      <p:sp>
        <p:nvSpPr>
          <p:cNvPr id="36" name="TextBox 35"/>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Counts are tissue-gene associations after BH FDR and compatible real-effect direction; genes may recur across tissues.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Selection and literature are separate dimensions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synthetic-informed associations received both a selection status and a literature interpretation.</a:t>
            </a:r>
          </a:p>
        </p:txBody>
      </p:sp>
      <p:sp>
        <p:nvSpPr>
          <p:cNvPr id="7" name="TextBox 6"/>
          <p:cNvSpPr txBox="1"/>
          <p:nvPr/>
        </p:nvSpPr>
        <p:spPr>
          <a:xfrm>
            <a:off x="438912" y="1892807"/>
            <a:ext cx="365760"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01</a:t>
            </a:r>
          </a:p>
        </p:txBody>
      </p:sp>
      <p:sp>
        <p:nvSpPr>
          <p:cNvPr id="8" name="TextBox 7"/>
          <p:cNvSpPr txBox="1"/>
          <p:nvPr/>
        </p:nvSpPr>
        <p:spPr>
          <a:xfrm>
            <a:off x="877824"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Fix the candidate</a:t>
            </a:r>
          </a:p>
        </p:txBody>
      </p:sp>
      <p:sp>
        <p:nvSpPr>
          <p:cNvPr id="9" name="TextBox 8"/>
          <p:cNvSpPr txBox="1"/>
          <p:nvPr/>
        </p:nvSpPr>
        <p:spPr>
          <a:xfrm>
            <a:off x="877824"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Gene, tissue, and FLT direction</a:t>
            </a:r>
          </a:p>
        </p:txBody>
      </p:sp>
      <p:sp>
        <p:nvSpPr>
          <p:cNvPr id="10" name="Rectangle 9"/>
          <p:cNvSpPr/>
          <p:nvPr/>
        </p:nvSpPr>
        <p:spPr>
          <a:xfrm>
            <a:off x="438912" y="2697480"/>
            <a:ext cx="2487168"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072384"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28416" y="1892807"/>
            <a:ext cx="365760" cy="219456"/>
          </a:xfrm>
          <a:prstGeom prst="rect">
            <a:avLst/>
          </a:prstGeom>
          <a:noFill/>
        </p:spPr>
        <p:txBody>
          <a:bodyPr wrap="square" lIns="0" rIns="0" tIns="0" bIns="0" anchor="t">
            <a:spAutoFit/>
          </a:bodyPr>
          <a:lstStyle/>
          <a:p>
            <a:pPr algn="l">
              <a:spcAft>
                <a:spcPts val="0"/>
              </a:spcAft>
            </a:pPr>
            <a:r>
              <a:rPr sz="1080" b="1" i="0">
                <a:solidFill>
                  <a:srgbClr val="178681"/>
                </a:solidFill>
                <a:latin typeface="Arial"/>
              </a:rPr>
              <a:t>02</a:t>
            </a:r>
          </a:p>
        </p:txBody>
      </p:sp>
      <p:sp>
        <p:nvSpPr>
          <p:cNvPr id="13" name="TextBox 12"/>
          <p:cNvSpPr txBox="1"/>
          <p:nvPr/>
        </p:nvSpPr>
        <p:spPr>
          <a:xfrm>
            <a:off x="3767328"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Search</a:t>
            </a:r>
          </a:p>
        </p:txBody>
      </p:sp>
      <p:sp>
        <p:nvSpPr>
          <p:cNvPr id="14" name="TextBox 13"/>
          <p:cNvSpPr txBox="1"/>
          <p:nvPr/>
        </p:nvSpPr>
        <p:spPr>
          <a:xfrm>
            <a:off x="3767328"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Spaceflight and mechanism literature</a:t>
            </a:r>
          </a:p>
        </p:txBody>
      </p:sp>
      <p:sp>
        <p:nvSpPr>
          <p:cNvPr id="15" name="Rectangle 14"/>
          <p:cNvSpPr/>
          <p:nvPr/>
        </p:nvSpPr>
        <p:spPr>
          <a:xfrm>
            <a:off x="3328416" y="2697480"/>
            <a:ext cx="2487168"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61888"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1892807"/>
            <a:ext cx="365760" cy="219456"/>
          </a:xfrm>
          <a:prstGeom prst="rect">
            <a:avLst/>
          </a:prstGeom>
          <a:noFill/>
        </p:spPr>
        <p:txBody>
          <a:bodyPr wrap="square" lIns="0" rIns="0" tIns="0" bIns="0" anchor="t">
            <a:spAutoFit/>
          </a:bodyPr>
          <a:lstStyle/>
          <a:p>
            <a:pPr algn="l">
              <a:spcAft>
                <a:spcPts val="0"/>
              </a:spcAft>
            </a:pPr>
            <a:r>
              <a:rPr sz="1080" b="1" i="0">
                <a:solidFill>
                  <a:srgbClr val="D37B00"/>
                </a:solidFill>
                <a:latin typeface="Arial"/>
              </a:rPr>
              <a:t>03</a:t>
            </a:r>
          </a:p>
        </p:txBody>
      </p:sp>
      <p:sp>
        <p:nvSpPr>
          <p:cNvPr id="18" name="TextBox 17"/>
          <p:cNvSpPr txBox="1"/>
          <p:nvPr/>
        </p:nvSpPr>
        <p:spPr>
          <a:xfrm>
            <a:off x="6656832"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Compare</a:t>
            </a:r>
          </a:p>
        </p:txBody>
      </p:sp>
      <p:sp>
        <p:nvSpPr>
          <p:cNvPr id="19" name="TextBox 18"/>
          <p:cNvSpPr txBox="1"/>
          <p:nvPr/>
        </p:nvSpPr>
        <p:spPr>
          <a:xfrm>
            <a:off x="6656832"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Observed result with published evidence</a:t>
            </a:r>
          </a:p>
        </p:txBody>
      </p:sp>
      <p:sp>
        <p:nvSpPr>
          <p:cNvPr id="20" name="Rectangle 19"/>
          <p:cNvSpPr/>
          <p:nvPr/>
        </p:nvSpPr>
        <p:spPr>
          <a:xfrm>
            <a:off x="6217920" y="2697480"/>
            <a:ext cx="2487168"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51392"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07424" y="1892807"/>
            <a:ext cx="365760" cy="219456"/>
          </a:xfrm>
          <a:prstGeom prst="rect">
            <a:avLst/>
          </a:prstGeom>
          <a:noFill/>
        </p:spPr>
        <p:txBody>
          <a:bodyPr wrap="square" lIns="0" rIns="0" tIns="0" bIns="0" anchor="t">
            <a:spAutoFit/>
          </a:bodyPr>
          <a:lstStyle/>
          <a:p>
            <a:pPr algn="l">
              <a:spcAft>
                <a:spcPts val="0"/>
              </a:spcAft>
            </a:pPr>
            <a:r>
              <a:rPr sz="1080" b="1" i="0">
                <a:solidFill>
                  <a:srgbClr val="8063A6"/>
                </a:solidFill>
                <a:latin typeface="Arial"/>
              </a:rPr>
              <a:t>04</a:t>
            </a:r>
          </a:p>
        </p:txBody>
      </p:sp>
      <p:sp>
        <p:nvSpPr>
          <p:cNvPr id="23" name="TextBox 22"/>
          <p:cNvSpPr txBox="1"/>
          <p:nvPr/>
        </p:nvSpPr>
        <p:spPr>
          <a:xfrm>
            <a:off x="9546336"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Record</a:t>
            </a:r>
          </a:p>
        </p:txBody>
      </p:sp>
      <p:sp>
        <p:nvSpPr>
          <p:cNvPr id="24" name="TextBox 23"/>
          <p:cNvSpPr txBox="1"/>
          <p:nvPr/>
        </p:nvSpPr>
        <p:spPr>
          <a:xfrm>
            <a:off x="9546336"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Category, rationale, and source IDs</a:t>
            </a:r>
          </a:p>
        </p:txBody>
      </p:sp>
      <p:sp>
        <p:nvSpPr>
          <p:cNvPr id="25" name="Rectangle 24"/>
          <p:cNvSpPr/>
          <p:nvPr/>
        </p:nvSpPr>
        <p:spPr>
          <a:xfrm>
            <a:off x="9107424" y="2697480"/>
            <a:ext cx="2487168"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063240"/>
            <a:ext cx="3273552"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Selection status</a:t>
            </a:r>
          </a:p>
        </p:txBody>
      </p:sp>
      <p:sp>
        <p:nvSpPr>
          <p:cNvPr id="27" name="TextBox 26"/>
          <p:cNvSpPr txBox="1"/>
          <p:nvPr/>
        </p:nvSpPr>
        <p:spPr>
          <a:xfrm>
            <a:off x="502920" y="3630168"/>
            <a:ext cx="621792" cy="475488"/>
          </a:xfrm>
          <a:prstGeom prst="rect">
            <a:avLst/>
          </a:prstGeom>
          <a:noFill/>
        </p:spPr>
        <p:txBody>
          <a:bodyPr wrap="square" lIns="0" rIns="0" tIns="0" bIns="0" anchor="t">
            <a:spAutoFit/>
          </a:bodyPr>
          <a:lstStyle/>
          <a:p>
            <a:pPr algn="l">
              <a:spcAft>
                <a:spcPts val="0"/>
              </a:spcAft>
            </a:pPr>
            <a:r>
              <a:rPr sz="2900" b="1" i="0">
                <a:solidFill>
                  <a:srgbClr val="D96552"/>
                </a:solidFill>
                <a:latin typeface="Arial"/>
              </a:rPr>
              <a:t>26</a:t>
            </a:r>
          </a:p>
        </p:txBody>
      </p:sp>
      <p:sp>
        <p:nvSpPr>
          <p:cNvPr id="28" name="TextBox 27"/>
          <p:cNvSpPr txBox="1"/>
          <p:nvPr/>
        </p:nvSpPr>
        <p:spPr>
          <a:xfrm>
            <a:off x="1261872" y="3657599"/>
            <a:ext cx="2423160" cy="274320"/>
          </a:xfrm>
          <a:prstGeom prst="rect">
            <a:avLst/>
          </a:prstGeom>
          <a:noFill/>
        </p:spPr>
        <p:txBody>
          <a:bodyPr wrap="square" lIns="0" rIns="0" tIns="0" bIns="0" anchor="t">
            <a:spAutoFit/>
          </a:bodyPr>
          <a:lstStyle/>
          <a:p>
            <a:pPr algn="l">
              <a:spcAft>
                <a:spcPts val="0"/>
              </a:spcAft>
            </a:pPr>
            <a:r>
              <a:rPr sz="1500" b="1" i="0">
                <a:solidFill>
                  <a:srgbClr val="D96552"/>
                </a:solidFill>
                <a:latin typeface="Arial"/>
              </a:rPr>
              <a:t>Promoted</a:t>
            </a:r>
          </a:p>
        </p:txBody>
      </p:sp>
      <p:sp>
        <p:nvSpPr>
          <p:cNvPr id="29" name="TextBox 28"/>
          <p:cNvSpPr txBox="1"/>
          <p:nvPr/>
        </p:nvSpPr>
        <p:spPr>
          <a:xfrm>
            <a:off x="1261872" y="395935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only with synthetic guidance</a:t>
            </a:r>
          </a:p>
        </p:txBody>
      </p:sp>
      <p:sp>
        <p:nvSpPr>
          <p:cNvPr id="30" name="Rectangle 29"/>
          <p:cNvSpPr/>
          <p:nvPr/>
        </p:nvSpPr>
        <p:spPr>
          <a:xfrm>
            <a:off x="502920" y="4471416"/>
            <a:ext cx="3273552"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4590288"/>
            <a:ext cx="621792" cy="475488"/>
          </a:xfrm>
          <a:prstGeom prst="rect">
            <a:avLst/>
          </a:prstGeom>
          <a:noFill/>
        </p:spPr>
        <p:txBody>
          <a:bodyPr wrap="square" lIns="0" rIns="0" tIns="0" bIns="0" anchor="t">
            <a:spAutoFit/>
          </a:bodyPr>
          <a:lstStyle/>
          <a:p>
            <a:pPr algn="l">
              <a:spcAft>
                <a:spcPts val="0"/>
              </a:spcAft>
            </a:pPr>
            <a:r>
              <a:rPr sz="2900" b="1" i="0">
                <a:solidFill>
                  <a:srgbClr val="178681"/>
                </a:solidFill>
                <a:latin typeface="Arial"/>
              </a:rPr>
              <a:t>23</a:t>
            </a:r>
          </a:p>
        </p:txBody>
      </p:sp>
      <p:sp>
        <p:nvSpPr>
          <p:cNvPr id="32" name="TextBox 31"/>
          <p:cNvSpPr txBox="1"/>
          <p:nvPr/>
        </p:nvSpPr>
        <p:spPr>
          <a:xfrm>
            <a:off x="1261872" y="4617720"/>
            <a:ext cx="2423160" cy="274320"/>
          </a:xfrm>
          <a:prstGeom prst="rect">
            <a:avLst/>
          </a:prstGeom>
          <a:noFill/>
        </p:spPr>
        <p:txBody>
          <a:bodyPr wrap="square" lIns="0" rIns="0" tIns="0" bIns="0" anchor="t">
            <a:spAutoFit/>
          </a:bodyPr>
          <a:lstStyle/>
          <a:p>
            <a:pPr algn="l">
              <a:spcAft>
                <a:spcPts val="0"/>
              </a:spcAft>
            </a:pPr>
            <a:r>
              <a:rPr sz="1500" b="1" i="0">
                <a:solidFill>
                  <a:srgbClr val="178681"/>
                </a:solidFill>
                <a:latin typeface="Arial"/>
              </a:rPr>
              <a:t>Reinforced</a:t>
            </a:r>
          </a:p>
        </p:txBody>
      </p:sp>
      <p:sp>
        <p:nvSpPr>
          <p:cNvPr id="33" name="TextBox 32"/>
          <p:cNvSpPr txBox="1"/>
          <p:nvPr/>
        </p:nvSpPr>
        <p:spPr>
          <a:xfrm>
            <a:off x="1261872" y="491947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with and without guidance</a:t>
            </a:r>
          </a:p>
        </p:txBody>
      </p:sp>
      <p:sp>
        <p:nvSpPr>
          <p:cNvPr id="34" name="Rectangle 33"/>
          <p:cNvSpPr/>
          <p:nvPr/>
        </p:nvSpPr>
        <p:spPr>
          <a:xfrm>
            <a:off x="4069080" y="3044952"/>
            <a:ext cx="13716" cy="253288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07408" y="3063240"/>
            <a:ext cx="6876288"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Literature interpretation</a:t>
            </a:r>
          </a:p>
        </p:txBody>
      </p:sp>
      <p:sp>
        <p:nvSpPr>
          <p:cNvPr id="36" name="TextBox 35"/>
          <p:cNvSpPr txBox="1"/>
          <p:nvPr/>
        </p:nvSpPr>
        <p:spPr>
          <a:xfrm>
            <a:off x="4425696" y="3529584"/>
            <a:ext cx="1417320"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Class</a:t>
            </a:r>
          </a:p>
        </p:txBody>
      </p:sp>
      <p:sp>
        <p:nvSpPr>
          <p:cNvPr id="37" name="TextBox 36"/>
          <p:cNvSpPr txBox="1"/>
          <p:nvPr/>
        </p:nvSpPr>
        <p:spPr>
          <a:xfrm>
            <a:off x="6272784" y="3529584"/>
            <a:ext cx="640080" cy="201168"/>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Count</a:t>
            </a:r>
          </a:p>
        </p:txBody>
      </p:sp>
      <p:sp>
        <p:nvSpPr>
          <p:cNvPr id="38" name="TextBox 37"/>
          <p:cNvSpPr txBox="1"/>
          <p:nvPr/>
        </p:nvSpPr>
        <p:spPr>
          <a:xfrm>
            <a:off x="7031736" y="3529584"/>
            <a:ext cx="3941063"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Meaning</a:t>
            </a:r>
          </a:p>
        </p:txBody>
      </p:sp>
      <p:sp>
        <p:nvSpPr>
          <p:cNvPr id="39" name="Rectangle 38"/>
          <p:cNvSpPr/>
          <p:nvPr/>
        </p:nvSpPr>
        <p:spPr>
          <a:xfrm>
            <a:off x="4407408" y="3776472"/>
            <a:ext cx="6894576" cy="1828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407408" y="3867911"/>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443984" y="4005072"/>
            <a:ext cx="109728" cy="109728"/>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63440" y="3904487"/>
            <a:ext cx="1536192" cy="310896"/>
          </a:xfrm>
          <a:prstGeom prst="rect">
            <a:avLst/>
          </a:prstGeom>
          <a:noFill/>
        </p:spPr>
        <p:txBody>
          <a:bodyPr wrap="square" lIns="0" rIns="0" tIns="0" bIns="0" anchor="ctr">
            <a:spAutoFit/>
          </a:bodyPr>
          <a:lstStyle/>
          <a:p>
            <a:pPr algn="l">
              <a:spcAft>
                <a:spcPts val="0"/>
              </a:spcAft>
            </a:pPr>
            <a:r>
              <a:rPr sz="1260" b="1" i="0">
                <a:solidFill>
                  <a:srgbClr val="478A64"/>
                </a:solidFill>
                <a:latin typeface="Arial"/>
              </a:rPr>
              <a:t>Aligning</a:t>
            </a:r>
          </a:p>
        </p:txBody>
      </p:sp>
      <p:sp>
        <p:nvSpPr>
          <p:cNvPr id="43" name="TextBox 42"/>
          <p:cNvSpPr txBox="1"/>
          <p:nvPr/>
        </p:nvSpPr>
        <p:spPr>
          <a:xfrm>
            <a:off x="6281928" y="3904487"/>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22</a:t>
            </a:r>
          </a:p>
        </p:txBody>
      </p:sp>
      <p:sp>
        <p:nvSpPr>
          <p:cNvPr id="44" name="TextBox 43"/>
          <p:cNvSpPr txBox="1"/>
          <p:nvPr/>
        </p:nvSpPr>
        <p:spPr>
          <a:xfrm>
            <a:off x="7031736" y="3904487"/>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Direct or same-tissue process agreement</a:t>
            </a:r>
          </a:p>
        </p:txBody>
      </p:sp>
      <p:sp>
        <p:nvSpPr>
          <p:cNvPr id="45" name="Rectangle 44"/>
          <p:cNvSpPr/>
          <p:nvPr/>
        </p:nvSpPr>
        <p:spPr>
          <a:xfrm>
            <a:off x="4443984" y="4443984"/>
            <a:ext cx="109728"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63440" y="4343400"/>
            <a:ext cx="1536192" cy="310896"/>
          </a:xfrm>
          <a:prstGeom prst="rect">
            <a:avLst/>
          </a:prstGeom>
          <a:noFill/>
        </p:spPr>
        <p:txBody>
          <a:bodyPr wrap="square" lIns="0" rIns="0" tIns="0" bIns="0" anchor="ctr">
            <a:spAutoFit/>
          </a:bodyPr>
          <a:lstStyle/>
          <a:p>
            <a:pPr algn="l">
              <a:spcAft>
                <a:spcPts val="0"/>
              </a:spcAft>
            </a:pPr>
            <a:r>
              <a:rPr sz="1260" b="1" i="0">
                <a:solidFill>
                  <a:srgbClr val="2D6496"/>
                </a:solidFill>
                <a:latin typeface="Arial"/>
              </a:rPr>
              <a:t>Complementary</a:t>
            </a:r>
          </a:p>
        </p:txBody>
      </p:sp>
      <p:sp>
        <p:nvSpPr>
          <p:cNvPr id="47" name="TextBox 46"/>
          <p:cNvSpPr txBox="1"/>
          <p:nvPr/>
        </p:nvSpPr>
        <p:spPr>
          <a:xfrm>
            <a:off x="6281928" y="4343400"/>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19</a:t>
            </a:r>
          </a:p>
        </p:txBody>
      </p:sp>
      <p:sp>
        <p:nvSpPr>
          <p:cNvPr id="48" name="TextBox 47"/>
          <p:cNvSpPr txBox="1"/>
          <p:nvPr/>
        </p:nvSpPr>
        <p:spPr>
          <a:xfrm>
            <a:off x="7031736" y="4343400"/>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Related process or mechanism</a:t>
            </a:r>
          </a:p>
        </p:txBody>
      </p:sp>
      <p:sp>
        <p:nvSpPr>
          <p:cNvPr id="49" name="Rectangle 48"/>
          <p:cNvSpPr/>
          <p:nvPr/>
        </p:nvSpPr>
        <p:spPr>
          <a:xfrm>
            <a:off x="4407408" y="4745736"/>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443984" y="4882896"/>
            <a:ext cx="109728" cy="10972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663440" y="4782312"/>
            <a:ext cx="1536192" cy="310896"/>
          </a:xfrm>
          <a:prstGeom prst="rect">
            <a:avLst/>
          </a:prstGeom>
          <a:noFill/>
        </p:spPr>
        <p:txBody>
          <a:bodyPr wrap="square" lIns="0" rIns="0" tIns="0" bIns="0" anchor="ctr">
            <a:spAutoFit/>
          </a:bodyPr>
          <a:lstStyle/>
          <a:p>
            <a:pPr algn="l">
              <a:spcAft>
                <a:spcPts val="0"/>
              </a:spcAft>
            </a:pPr>
            <a:r>
              <a:rPr sz="1260" b="1" i="0">
                <a:solidFill>
                  <a:srgbClr val="D37B00"/>
                </a:solidFill>
                <a:latin typeface="Arial"/>
              </a:rPr>
              <a:t>Ambiguous</a:t>
            </a:r>
          </a:p>
        </p:txBody>
      </p:sp>
      <p:sp>
        <p:nvSpPr>
          <p:cNvPr id="52" name="TextBox 51"/>
          <p:cNvSpPr txBox="1"/>
          <p:nvPr/>
        </p:nvSpPr>
        <p:spPr>
          <a:xfrm>
            <a:off x="6281928" y="4782312"/>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3" name="TextBox 52"/>
          <p:cNvSpPr txBox="1"/>
          <p:nvPr/>
        </p:nvSpPr>
        <p:spPr>
          <a:xfrm>
            <a:off x="7031736" y="4782312"/>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Mixed or context-dependent evidence</a:t>
            </a:r>
          </a:p>
        </p:txBody>
      </p:sp>
      <p:sp>
        <p:nvSpPr>
          <p:cNvPr id="54" name="Rectangle 53"/>
          <p:cNvSpPr/>
          <p:nvPr/>
        </p:nvSpPr>
        <p:spPr>
          <a:xfrm>
            <a:off x="4443984" y="5321807"/>
            <a:ext cx="109728" cy="109728"/>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63440" y="5221223"/>
            <a:ext cx="1536192" cy="310896"/>
          </a:xfrm>
          <a:prstGeom prst="rect">
            <a:avLst/>
          </a:prstGeom>
          <a:noFill/>
        </p:spPr>
        <p:txBody>
          <a:bodyPr wrap="square" lIns="0" rIns="0" tIns="0" bIns="0" anchor="ctr">
            <a:spAutoFit/>
          </a:bodyPr>
          <a:lstStyle/>
          <a:p>
            <a:pPr algn="l">
              <a:spcAft>
                <a:spcPts val="0"/>
              </a:spcAft>
            </a:pPr>
            <a:r>
              <a:rPr sz="1260" b="1" i="0">
                <a:solidFill>
                  <a:srgbClr val="8063A6"/>
                </a:solidFill>
                <a:latin typeface="Arial"/>
              </a:rPr>
              <a:t>Unmatched</a:t>
            </a:r>
          </a:p>
        </p:txBody>
      </p:sp>
      <p:sp>
        <p:nvSpPr>
          <p:cNvPr id="56" name="TextBox 55"/>
          <p:cNvSpPr txBox="1"/>
          <p:nvPr/>
        </p:nvSpPr>
        <p:spPr>
          <a:xfrm>
            <a:off x="6281928" y="5221223"/>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7" name="TextBox 56"/>
          <p:cNvSpPr txBox="1"/>
          <p:nvPr/>
        </p:nvSpPr>
        <p:spPr>
          <a:xfrm>
            <a:off x="7031736" y="5221223"/>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No sufficiently specific match found</a:t>
            </a:r>
          </a:p>
        </p:txBody>
      </p:sp>
      <p:sp>
        <p:nvSpPr>
          <p:cNvPr id="58" name="Rectangle 57"/>
          <p:cNvSpPr/>
          <p:nvPr/>
        </p:nvSpPr>
        <p:spPr>
          <a:xfrm>
            <a:off x="502920" y="5806440"/>
            <a:ext cx="10991088" cy="16459"/>
          </a:xfrm>
          <a:prstGeom prst="rect">
            <a:avLst/>
          </a:prstGeom>
          <a:solidFill>
            <a:srgbClr val="CED7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94360" y="5934456"/>
            <a:ext cx="10808208" cy="256032"/>
          </a:xfrm>
          <a:prstGeom prst="rect">
            <a:avLst/>
          </a:prstGeom>
          <a:noFill/>
        </p:spPr>
        <p:txBody>
          <a:bodyPr wrap="square" lIns="18288" rIns="18288" tIns="18288" bIns="18288" anchor="t">
            <a:spAutoFit/>
          </a:bodyPr>
          <a:lstStyle/>
          <a:p>
            <a:pPr algn="ctr">
              <a:spcAft>
                <a:spcPts val="0"/>
              </a:spcAft>
            </a:pPr>
            <a:r>
              <a:rPr sz="1350" b="1" i="0">
                <a:solidFill>
                  <a:srgbClr val="082B55"/>
                </a:solidFill>
                <a:latin typeface="Arial"/>
              </a:rPr>
              <a:t>A reinforced gene can be complementary, ambiguous, or unmatched; an aligning gene can be promoted.</a:t>
            </a:r>
          </a:p>
        </p:txBody>
      </p:sp>
      <p:sp>
        <p:nvSpPr>
          <p:cNvPr id="60" name="TextBox 5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Table S16 records gene-level rationale, evidence scope and source IDs; Table S17 provides 33 citations with DOI/URL and data relationship.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 COVERAGE</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The screen covered all 27 completed tissue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biological discussion narrows only after reporting synthetic-informed, real-only, and null outcomes.</a:t>
            </a:r>
          </a:p>
        </p:txBody>
      </p:sp>
      <p:sp>
        <p:nvSpPr>
          <p:cNvPr id="7" name="Rectangle 6"/>
          <p:cNvSpPr/>
          <p:nvPr/>
        </p:nvSpPr>
        <p:spPr>
          <a:xfrm>
            <a:off x="393192" y="1865376"/>
            <a:ext cx="333756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2029968"/>
            <a:ext cx="640080" cy="502920"/>
          </a:xfrm>
          <a:prstGeom prst="rect">
            <a:avLst/>
          </a:prstGeom>
          <a:noFill/>
        </p:spPr>
        <p:txBody>
          <a:bodyPr wrap="square" lIns="0" rIns="0" tIns="0" bIns="0" anchor="t">
            <a:spAutoFit/>
          </a:bodyPr>
          <a:lstStyle/>
          <a:p>
            <a:pPr algn="l">
              <a:spcAft>
                <a:spcPts val="0"/>
              </a:spcAft>
            </a:pPr>
            <a:r>
              <a:rPr sz="3100" b="1" i="0">
                <a:solidFill>
                  <a:srgbClr val="178681"/>
                </a:solidFill>
                <a:latin typeface="Arial"/>
              </a:rPr>
              <a:t>10</a:t>
            </a:r>
          </a:p>
        </p:txBody>
      </p:sp>
      <p:sp>
        <p:nvSpPr>
          <p:cNvPr id="9" name="TextBox 8"/>
          <p:cNvSpPr txBox="1"/>
          <p:nvPr/>
        </p:nvSpPr>
        <p:spPr>
          <a:xfrm>
            <a:off x="1161288"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Synthetic-informed</a:t>
            </a:r>
          </a:p>
        </p:txBody>
      </p:sp>
      <p:sp>
        <p:nvSpPr>
          <p:cNvPr id="10" name="TextBox 9"/>
          <p:cNvSpPr txBox="1"/>
          <p:nvPr/>
        </p:nvSpPr>
        <p:spPr>
          <a:xfrm>
            <a:off x="411480"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Promoted or reinforced BH-FDR gene</a:t>
            </a:r>
          </a:p>
        </p:txBody>
      </p:sp>
      <p:sp>
        <p:nvSpPr>
          <p:cNvPr id="11" name="Rectangle 10"/>
          <p:cNvSpPr/>
          <p:nvPr/>
        </p:nvSpPr>
        <p:spPr>
          <a:xfrm>
            <a:off x="393192"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13" name="Rectangle 12"/>
          <p:cNvSpPr/>
          <p:nvPr/>
        </p:nvSpPr>
        <p:spPr>
          <a:xfrm>
            <a:off x="420623" y="3711092"/>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621024"/>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Adrenal Gland</a:t>
            </a:r>
          </a:p>
        </p:txBody>
      </p:sp>
      <p:sp>
        <p:nvSpPr>
          <p:cNvPr id="15" name="Rectangle 14"/>
          <p:cNvSpPr/>
          <p:nvPr/>
        </p:nvSpPr>
        <p:spPr>
          <a:xfrm>
            <a:off x="420623" y="3932377"/>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384230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Eye</a:t>
            </a:r>
          </a:p>
        </p:txBody>
      </p:sp>
      <p:sp>
        <p:nvSpPr>
          <p:cNvPr id="17" name="Rectangle 16"/>
          <p:cNvSpPr/>
          <p:nvPr/>
        </p:nvSpPr>
        <p:spPr>
          <a:xfrm>
            <a:off x="420623" y="415366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406359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Kidney</a:t>
            </a:r>
          </a:p>
        </p:txBody>
      </p:sp>
      <p:sp>
        <p:nvSpPr>
          <p:cNvPr id="19" name="Rectangle 18"/>
          <p:cNvSpPr/>
          <p:nvPr/>
        </p:nvSpPr>
        <p:spPr>
          <a:xfrm>
            <a:off x="420623" y="437494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428487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Skeletal muscle (pooled)</a:t>
            </a:r>
          </a:p>
        </p:txBody>
      </p:sp>
      <p:sp>
        <p:nvSpPr>
          <p:cNvPr id="21" name="Rectangle 20"/>
          <p:cNvSpPr/>
          <p:nvPr/>
        </p:nvSpPr>
        <p:spPr>
          <a:xfrm>
            <a:off x="420623" y="459623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450616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Skin</a:t>
            </a:r>
          </a:p>
        </p:txBody>
      </p:sp>
      <p:sp>
        <p:nvSpPr>
          <p:cNvPr id="23" name="Rectangle 22"/>
          <p:cNvSpPr/>
          <p:nvPr/>
        </p:nvSpPr>
        <p:spPr>
          <a:xfrm>
            <a:off x="420623" y="481751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 y="472744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Spleen</a:t>
            </a:r>
          </a:p>
        </p:txBody>
      </p:sp>
      <p:sp>
        <p:nvSpPr>
          <p:cNvPr id="25" name="Rectangle 24"/>
          <p:cNvSpPr/>
          <p:nvPr/>
        </p:nvSpPr>
        <p:spPr>
          <a:xfrm>
            <a:off x="420623" y="503880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494873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Thymus</a:t>
            </a:r>
          </a:p>
        </p:txBody>
      </p:sp>
      <p:sp>
        <p:nvSpPr>
          <p:cNvPr id="27" name="Rectangle 26"/>
          <p:cNvSpPr/>
          <p:nvPr/>
        </p:nvSpPr>
        <p:spPr>
          <a:xfrm>
            <a:off x="420623" y="526008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1792" y="517001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Gastrocnemius</a:t>
            </a:r>
          </a:p>
        </p:txBody>
      </p:sp>
      <p:sp>
        <p:nvSpPr>
          <p:cNvPr id="29" name="Rectangle 28"/>
          <p:cNvSpPr/>
          <p:nvPr/>
        </p:nvSpPr>
        <p:spPr>
          <a:xfrm>
            <a:off x="420623" y="5481370"/>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 y="539130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Soleus</a:t>
            </a:r>
          </a:p>
        </p:txBody>
      </p:sp>
      <p:sp>
        <p:nvSpPr>
          <p:cNvPr id="31" name="Rectangle 30"/>
          <p:cNvSpPr/>
          <p:nvPr/>
        </p:nvSpPr>
        <p:spPr>
          <a:xfrm>
            <a:off x="420623" y="5702655"/>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1792" y="561258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Tibialis Anterior</a:t>
            </a:r>
          </a:p>
        </p:txBody>
      </p:sp>
      <p:sp>
        <p:nvSpPr>
          <p:cNvPr id="33" name="Rectangle 32"/>
          <p:cNvSpPr/>
          <p:nvPr/>
        </p:nvSpPr>
        <p:spPr>
          <a:xfrm>
            <a:off x="3941064"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05656" y="1865376"/>
            <a:ext cx="333756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23944" y="2029968"/>
            <a:ext cx="640080" cy="502920"/>
          </a:xfrm>
          <a:prstGeom prst="rect">
            <a:avLst/>
          </a:prstGeom>
          <a:noFill/>
        </p:spPr>
        <p:txBody>
          <a:bodyPr wrap="square" lIns="0" rIns="0" tIns="0" bIns="0" anchor="t">
            <a:spAutoFit/>
          </a:bodyPr>
          <a:lstStyle/>
          <a:p>
            <a:pPr algn="l">
              <a:spcAft>
                <a:spcPts val="0"/>
              </a:spcAft>
            </a:pPr>
            <a:r>
              <a:rPr sz="3100" b="1" i="0">
                <a:solidFill>
                  <a:srgbClr val="2D6496"/>
                </a:solidFill>
                <a:latin typeface="Arial"/>
              </a:rPr>
              <a:t>5</a:t>
            </a:r>
          </a:p>
        </p:txBody>
      </p:sp>
      <p:sp>
        <p:nvSpPr>
          <p:cNvPr id="36" name="TextBox 35"/>
          <p:cNvSpPr txBox="1"/>
          <p:nvPr/>
        </p:nvSpPr>
        <p:spPr>
          <a:xfrm>
            <a:off x="4873752"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Real BH-FDR only</a:t>
            </a:r>
          </a:p>
        </p:txBody>
      </p:sp>
      <p:sp>
        <p:nvSpPr>
          <p:cNvPr id="37" name="TextBox 36"/>
          <p:cNvSpPr txBox="1"/>
          <p:nvPr/>
        </p:nvSpPr>
        <p:spPr>
          <a:xfrm>
            <a:off x="4123944"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Real association, no synthetic-informed selection</a:t>
            </a:r>
          </a:p>
        </p:txBody>
      </p:sp>
      <p:sp>
        <p:nvSpPr>
          <p:cNvPr id="38" name="Rectangle 37"/>
          <p:cNvSpPr/>
          <p:nvPr/>
        </p:nvSpPr>
        <p:spPr>
          <a:xfrm>
            <a:off x="4105656"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23944"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40" name="Rectangle 39"/>
          <p:cNvSpPr/>
          <p:nvPr/>
        </p:nvSpPr>
        <p:spPr>
          <a:xfrm>
            <a:off x="4133088" y="3765041"/>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34256" y="3621024"/>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Heart</a:t>
            </a:r>
          </a:p>
        </p:txBody>
      </p:sp>
      <p:sp>
        <p:nvSpPr>
          <p:cNvPr id="42" name="Rectangle 41"/>
          <p:cNvSpPr/>
          <p:nvPr/>
        </p:nvSpPr>
        <p:spPr>
          <a:xfrm>
            <a:off x="4133088" y="4094226"/>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34256" y="3950208"/>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Liver</a:t>
            </a:r>
          </a:p>
        </p:txBody>
      </p:sp>
      <p:sp>
        <p:nvSpPr>
          <p:cNvPr id="44" name="Rectangle 43"/>
          <p:cNvSpPr/>
          <p:nvPr/>
        </p:nvSpPr>
        <p:spPr>
          <a:xfrm>
            <a:off x="4133088" y="4423409"/>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4279392"/>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Retina</a:t>
            </a:r>
          </a:p>
        </p:txBody>
      </p:sp>
      <p:sp>
        <p:nvSpPr>
          <p:cNvPr id="46" name="Rectangle 45"/>
          <p:cNvSpPr/>
          <p:nvPr/>
        </p:nvSpPr>
        <p:spPr>
          <a:xfrm>
            <a:off x="4133088" y="4752594"/>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334256" y="4608576"/>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EDL</a:t>
            </a:r>
          </a:p>
        </p:txBody>
      </p:sp>
      <p:sp>
        <p:nvSpPr>
          <p:cNvPr id="48" name="Rectangle 47"/>
          <p:cNvSpPr/>
          <p:nvPr/>
        </p:nvSpPr>
        <p:spPr>
          <a:xfrm>
            <a:off x="4133088" y="5081778"/>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34256" y="4937760"/>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Quadriceps</a:t>
            </a:r>
          </a:p>
        </p:txBody>
      </p:sp>
      <p:sp>
        <p:nvSpPr>
          <p:cNvPr id="50" name="Rectangle 49"/>
          <p:cNvSpPr/>
          <p:nvPr/>
        </p:nvSpPr>
        <p:spPr>
          <a:xfrm>
            <a:off x="7653528"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818120" y="1865376"/>
            <a:ext cx="333756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36408" y="2029968"/>
            <a:ext cx="640080" cy="502920"/>
          </a:xfrm>
          <a:prstGeom prst="rect">
            <a:avLst/>
          </a:prstGeom>
          <a:noFill/>
        </p:spPr>
        <p:txBody>
          <a:bodyPr wrap="square" lIns="0" rIns="0" tIns="0" bIns="0" anchor="t">
            <a:spAutoFit/>
          </a:bodyPr>
          <a:lstStyle/>
          <a:p>
            <a:pPr algn="l">
              <a:spcAft>
                <a:spcPts val="0"/>
              </a:spcAft>
            </a:pPr>
            <a:r>
              <a:rPr sz="3100" b="1" i="0">
                <a:solidFill>
                  <a:srgbClr val="D37B00"/>
                </a:solidFill>
                <a:latin typeface="Arial"/>
              </a:rPr>
              <a:t>12</a:t>
            </a:r>
          </a:p>
        </p:txBody>
      </p:sp>
      <p:sp>
        <p:nvSpPr>
          <p:cNvPr id="53" name="TextBox 52"/>
          <p:cNvSpPr txBox="1"/>
          <p:nvPr/>
        </p:nvSpPr>
        <p:spPr>
          <a:xfrm>
            <a:off x="8586216"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No BH-FDR gene</a:t>
            </a:r>
          </a:p>
        </p:txBody>
      </p:sp>
      <p:sp>
        <p:nvSpPr>
          <p:cNvPr id="54" name="TextBox 53"/>
          <p:cNvSpPr txBox="1"/>
          <p:nvPr/>
        </p:nvSpPr>
        <p:spPr>
          <a:xfrm>
            <a:off x="7836408"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No BH-FDR gene in the 974-gene panel</a:t>
            </a:r>
          </a:p>
        </p:txBody>
      </p:sp>
      <p:sp>
        <p:nvSpPr>
          <p:cNvPr id="55" name="Rectangle 54"/>
          <p:cNvSpPr/>
          <p:nvPr/>
        </p:nvSpPr>
        <p:spPr>
          <a:xfrm>
            <a:off x="7818120"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836408"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57" name="Rectangle 56"/>
          <p:cNvSpPr/>
          <p:nvPr/>
        </p:nvSpPr>
        <p:spPr>
          <a:xfrm>
            <a:off x="7845552" y="369265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046720" y="362102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a:t>
            </a:r>
          </a:p>
        </p:txBody>
      </p:sp>
      <p:sp>
        <p:nvSpPr>
          <p:cNvPr id="59" name="Rectangle 58"/>
          <p:cNvSpPr/>
          <p:nvPr/>
        </p:nvSpPr>
        <p:spPr>
          <a:xfrm>
            <a:off x="7845552" y="387705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046720" y="380542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 Marrow</a:t>
            </a:r>
          </a:p>
        </p:txBody>
      </p:sp>
      <p:sp>
        <p:nvSpPr>
          <p:cNvPr id="61" name="Rectangle 60"/>
          <p:cNvSpPr/>
          <p:nvPr/>
        </p:nvSpPr>
        <p:spPr>
          <a:xfrm>
            <a:off x="7845552" y="4061460"/>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046720" y="3989832"/>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Brain</a:t>
            </a:r>
          </a:p>
        </p:txBody>
      </p:sp>
      <p:sp>
        <p:nvSpPr>
          <p:cNvPr id="63" name="Rectangle 62"/>
          <p:cNvSpPr/>
          <p:nvPr/>
        </p:nvSpPr>
        <p:spPr>
          <a:xfrm>
            <a:off x="7845552" y="4245863"/>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046720" y="4174235"/>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Brown Adipose Tissue</a:t>
            </a:r>
          </a:p>
        </p:txBody>
      </p:sp>
      <p:sp>
        <p:nvSpPr>
          <p:cNvPr id="65" name="Rectangle 64"/>
          <p:cNvSpPr/>
          <p:nvPr/>
        </p:nvSpPr>
        <p:spPr>
          <a:xfrm>
            <a:off x="7845552" y="443026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46720" y="435864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Cecum</a:t>
            </a:r>
          </a:p>
        </p:txBody>
      </p:sp>
      <p:sp>
        <p:nvSpPr>
          <p:cNvPr id="67" name="Rectangle 66"/>
          <p:cNvSpPr/>
          <p:nvPr/>
        </p:nvSpPr>
        <p:spPr>
          <a:xfrm>
            <a:off x="7845552" y="461467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046720" y="454304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Cerebellum</a:t>
            </a:r>
          </a:p>
        </p:txBody>
      </p:sp>
      <p:sp>
        <p:nvSpPr>
          <p:cNvPr id="69" name="Rectangle 68"/>
          <p:cNvSpPr/>
          <p:nvPr/>
        </p:nvSpPr>
        <p:spPr>
          <a:xfrm>
            <a:off x="7845552" y="479907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046720" y="472744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Colon</a:t>
            </a:r>
          </a:p>
        </p:txBody>
      </p:sp>
      <p:sp>
        <p:nvSpPr>
          <p:cNvPr id="71" name="Rectangle 70"/>
          <p:cNvSpPr/>
          <p:nvPr/>
        </p:nvSpPr>
        <p:spPr>
          <a:xfrm>
            <a:off x="7845552" y="4983479"/>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046720" y="4911851"/>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Hippocampus</a:t>
            </a:r>
          </a:p>
        </p:txBody>
      </p:sp>
      <p:sp>
        <p:nvSpPr>
          <p:cNvPr id="73" name="Rectangle 72"/>
          <p:cNvSpPr/>
          <p:nvPr/>
        </p:nvSpPr>
        <p:spPr>
          <a:xfrm>
            <a:off x="7845552" y="5167884"/>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046720" y="5096256"/>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Lung</a:t>
            </a:r>
          </a:p>
        </p:txBody>
      </p:sp>
      <p:sp>
        <p:nvSpPr>
          <p:cNvPr id="75" name="Rectangle 74"/>
          <p:cNvSpPr/>
          <p:nvPr/>
        </p:nvSpPr>
        <p:spPr>
          <a:xfrm>
            <a:off x="7845552" y="535228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046720" y="528066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Mammary Gland</a:t>
            </a:r>
          </a:p>
        </p:txBody>
      </p:sp>
      <p:sp>
        <p:nvSpPr>
          <p:cNvPr id="77" name="Rectangle 76"/>
          <p:cNvSpPr/>
          <p:nvPr/>
        </p:nvSpPr>
        <p:spPr>
          <a:xfrm>
            <a:off x="7845552" y="553669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046720" y="546506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Optic Nerve</a:t>
            </a:r>
          </a:p>
        </p:txBody>
      </p:sp>
      <p:sp>
        <p:nvSpPr>
          <p:cNvPr id="79" name="Rectangle 78"/>
          <p:cNvSpPr/>
          <p:nvPr/>
        </p:nvSpPr>
        <p:spPr>
          <a:xfrm>
            <a:off x="7845552" y="5721095"/>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046720" y="5649467"/>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White Adipose Tissue</a:t>
            </a:r>
          </a:p>
        </p:txBody>
      </p:sp>
      <p:sp>
        <p:nvSpPr>
          <p:cNvPr id="81" name="TextBox 8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Twenty-two canonical tissues plus EDL, gastrocnemius, quadriceps, soleus and tibialis anterior; complete counts in Table S12.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GENE INVENTORY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Ten tissue analyses contained synthetic-informed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associations passed BH FDR in real OSDR data; synthetic profiles affected prioritization, not the statistical test.</a:t>
            </a:r>
          </a:p>
        </p:txBody>
      </p:sp>
      <p:sp>
        <p:nvSpPr>
          <p:cNvPr id="7" name="TextBox 6"/>
          <p:cNvSpPr txBox="1"/>
          <p:nvPr/>
        </p:nvSpPr>
        <p:spPr>
          <a:xfrm>
            <a:off x="411480" y="1700784"/>
            <a:ext cx="2212848" cy="228600"/>
          </a:xfrm>
          <a:prstGeom prst="rect">
            <a:avLst/>
          </a:prstGeom>
          <a:noFill/>
        </p:spPr>
        <p:txBody>
          <a:bodyPr wrap="square" lIns="18288" rIns="18288" tIns="18288" bIns="18288" anchor="t">
            <a:spAutoFit/>
          </a:bodyPr>
          <a:lstStyle/>
          <a:p>
            <a:pPr algn="l">
              <a:spcAft>
                <a:spcPts val="0"/>
              </a:spcAft>
            </a:pPr>
            <a:r>
              <a:rPr sz="980" b="1" i="0">
                <a:solidFill>
                  <a:srgbClr val="082B55"/>
                </a:solidFill>
                <a:latin typeface="Arial"/>
              </a:rPr>
              <a:t>Rows: FLT direction + status</a:t>
            </a:r>
          </a:p>
        </p:txBody>
      </p:sp>
      <p:sp>
        <p:nvSpPr>
          <p:cNvPr id="8" name="Rectangle 7"/>
          <p:cNvSpPr/>
          <p:nvPr/>
        </p:nvSpPr>
        <p:spPr>
          <a:xfrm>
            <a:off x="2761488" y="1746504"/>
            <a:ext cx="128016" cy="4572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35224" y="1691640"/>
            <a:ext cx="768096" cy="228600"/>
          </a:xfrm>
          <a:prstGeom prst="rect">
            <a:avLst/>
          </a:prstGeom>
          <a:noFill/>
        </p:spPr>
        <p:txBody>
          <a:bodyPr wrap="square" lIns="18288" rIns="18288" tIns="18288" bIns="18288" anchor="t">
            <a:spAutoFit/>
          </a:bodyPr>
          <a:lstStyle/>
          <a:p>
            <a:pPr algn="l">
              <a:spcAft>
                <a:spcPts val="0"/>
              </a:spcAft>
            </a:pPr>
            <a:r>
              <a:rPr sz="980" b="1" i="0">
                <a:solidFill>
                  <a:srgbClr val="478A64"/>
                </a:solidFill>
                <a:latin typeface="Arial"/>
              </a:rPr>
              <a:t>aligning</a:t>
            </a:r>
          </a:p>
        </p:txBody>
      </p:sp>
      <p:sp>
        <p:nvSpPr>
          <p:cNvPr id="10" name="Rectangle 9"/>
          <p:cNvSpPr/>
          <p:nvPr/>
        </p:nvSpPr>
        <p:spPr>
          <a:xfrm>
            <a:off x="3675887" y="1746504"/>
            <a:ext cx="128016" cy="457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9624" y="1691640"/>
            <a:ext cx="1051560" cy="228600"/>
          </a:xfrm>
          <a:prstGeom prst="rect">
            <a:avLst/>
          </a:prstGeom>
          <a:noFill/>
        </p:spPr>
        <p:txBody>
          <a:bodyPr wrap="square" lIns="18288" rIns="18288" tIns="18288" bIns="18288" anchor="t">
            <a:spAutoFit/>
          </a:bodyPr>
          <a:lstStyle/>
          <a:p>
            <a:pPr algn="l">
              <a:spcAft>
                <a:spcPts val="0"/>
              </a:spcAft>
            </a:pPr>
            <a:r>
              <a:rPr sz="980" b="1" i="0">
                <a:solidFill>
                  <a:srgbClr val="2D6496"/>
                </a:solidFill>
                <a:latin typeface="Arial"/>
              </a:rPr>
              <a:t>complementary</a:t>
            </a:r>
          </a:p>
        </p:txBody>
      </p:sp>
      <p:sp>
        <p:nvSpPr>
          <p:cNvPr id="12" name="Rectangle 11"/>
          <p:cNvSpPr/>
          <p:nvPr/>
        </p:nvSpPr>
        <p:spPr>
          <a:xfrm>
            <a:off x="4910328" y="1746504"/>
            <a:ext cx="128016"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4064"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D37B00"/>
                </a:solidFill>
                <a:latin typeface="Arial"/>
              </a:rPr>
              <a:t>ambiguous</a:t>
            </a:r>
          </a:p>
        </p:txBody>
      </p:sp>
      <p:sp>
        <p:nvSpPr>
          <p:cNvPr id="14" name="Rectangle 13"/>
          <p:cNvSpPr/>
          <p:nvPr/>
        </p:nvSpPr>
        <p:spPr>
          <a:xfrm>
            <a:off x="5971032" y="1746504"/>
            <a:ext cx="128016" cy="457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4768"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8063A6"/>
                </a:solidFill>
                <a:latin typeface="Arial"/>
              </a:rPr>
              <a:t>unmatched</a:t>
            </a:r>
          </a:p>
        </p:txBody>
      </p:sp>
      <p:sp>
        <p:nvSpPr>
          <p:cNvPr id="16" name="TextBox 15"/>
          <p:cNvSpPr txBox="1"/>
          <p:nvPr/>
        </p:nvSpPr>
        <p:spPr>
          <a:xfrm>
            <a:off x="7900416" y="1691640"/>
            <a:ext cx="3840480" cy="228600"/>
          </a:xfrm>
          <a:prstGeom prst="rect">
            <a:avLst/>
          </a:prstGeom>
          <a:noFill/>
        </p:spPr>
        <p:txBody>
          <a:bodyPr wrap="square" lIns="18288" rIns="18288" tIns="18288" bIns="18288" anchor="t">
            <a:spAutoFit/>
          </a:bodyPr>
          <a:lstStyle/>
          <a:p>
            <a:pPr algn="r">
              <a:spcAft>
                <a:spcPts val="0"/>
              </a:spcAft>
            </a:pPr>
            <a:r>
              <a:rPr sz="980" b="0" i="1">
                <a:solidFill>
                  <a:srgbClr val="8A969E"/>
                </a:solidFill>
                <a:latin typeface="Arial"/>
              </a:rPr>
              <a:t>Gene color = literature | Non-empty rows shown</a:t>
            </a:r>
          </a:p>
        </p:txBody>
      </p:sp>
      <p:sp>
        <p:nvSpPr>
          <p:cNvPr id="17" name="Rectangle 16"/>
          <p:cNvSpPr/>
          <p:nvPr/>
        </p:nvSpPr>
        <p:spPr>
          <a:xfrm>
            <a:off x="393192"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 y="2112264"/>
            <a:ext cx="1243584" cy="1234439"/>
          </a:xfrm>
          <a:prstGeom prst="rect">
            <a:avLst/>
          </a:prstGeom>
          <a:noFill/>
        </p:spPr>
        <p:txBody>
          <a:bodyPr wrap="square" lIns="0" rIns="0" tIns="0" bIns="0" anchor="t">
            <a:spAutoFit/>
          </a:bodyPr>
          <a:lstStyle/>
          <a:p>
            <a:pPr>
              <a:spcAft>
                <a:spcPts val="0"/>
              </a:spcAft>
            </a:pPr>
            <a:r>
              <a:rPr sz="1180" b="1" i="0">
                <a:solidFill>
                  <a:srgbClr val="082B55"/>
                </a:solidFill>
                <a:latin typeface="Arial"/>
              </a:rPr>
              <a:t>Thymus
</a:t>
            </a:r>
            <a:r>
              <a:rPr sz="900" b="0" i="0">
                <a:solidFill>
                  <a:srgbClr val="8A969E"/>
                </a:solidFill>
                <a:latin typeface="Arial"/>
              </a:rPr>
              <a:t>16 genes</a:t>
            </a:r>
          </a:p>
        </p:txBody>
      </p:sp>
      <p:sp>
        <p:nvSpPr>
          <p:cNvPr id="19" name="TextBox 18"/>
          <p:cNvSpPr txBox="1"/>
          <p:nvPr/>
        </p:nvSpPr>
        <p:spPr>
          <a:xfrm>
            <a:off x="1737360" y="2112264"/>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0" name="TextBox 19"/>
          <p:cNvSpPr txBox="1"/>
          <p:nvPr/>
        </p:nvSpPr>
        <p:spPr>
          <a:xfrm>
            <a:off x="2423160" y="2112264"/>
            <a:ext cx="713232" cy="23966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1" name="TextBox 20"/>
          <p:cNvSpPr txBox="1"/>
          <p:nvPr/>
        </p:nvSpPr>
        <p:spPr>
          <a:xfrm>
            <a:off x="3172968" y="2112264"/>
            <a:ext cx="2770632" cy="239669"/>
          </a:xfrm>
          <a:prstGeom prst="rect">
            <a:avLst/>
          </a:prstGeom>
          <a:noFill/>
        </p:spPr>
        <p:txBody>
          <a:bodyPr wrap="square" lIns="0" rIns="0" tIns="0" bIns="0" anchor="ctr">
            <a:spAutoFit/>
          </a:bodyPr>
          <a:lstStyle/>
          <a:p>
            <a:pPr>
              <a:spcAft>
                <a:spcPts val="0"/>
              </a:spcAft>
            </a:pPr>
            <a:r>
              <a:rPr sz="900" b="1" i="1">
                <a:solidFill>
                  <a:srgbClr val="2D6496"/>
                </a:solidFill>
                <a:latin typeface="Arial"/>
              </a:rPr>
              <a:t>Hsd17b11</a:t>
            </a:r>
            <a:r>
              <a:rPr sz="900" b="0" i="0">
                <a:solidFill>
                  <a:srgbClr val="8A969E"/>
                </a:solidFill>
                <a:latin typeface="Arial"/>
              </a:rPr>
              <a:t>, </a:t>
            </a:r>
            <a:r>
              <a:rPr sz="900" b="1" i="1">
                <a:solidFill>
                  <a:srgbClr val="2D6496"/>
                </a:solidFill>
                <a:latin typeface="Arial"/>
              </a:rPr>
              <a:t>Etv1</a:t>
            </a:r>
          </a:p>
        </p:txBody>
      </p:sp>
      <p:sp>
        <p:nvSpPr>
          <p:cNvPr id="22" name="Rectangle 21"/>
          <p:cNvSpPr/>
          <p:nvPr/>
        </p:nvSpPr>
        <p:spPr>
          <a:xfrm>
            <a:off x="1709928" y="2361077"/>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37360" y="2370221"/>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4" name="TextBox 23"/>
          <p:cNvSpPr txBox="1"/>
          <p:nvPr/>
        </p:nvSpPr>
        <p:spPr>
          <a:xfrm>
            <a:off x="2423160" y="2370221"/>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25" name="TextBox 24"/>
          <p:cNvSpPr txBox="1"/>
          <p:nvPr/>
        </p:nvSpPr>
        <p:spPr>
          <a:xfrm>
            <a:off x="3172968" y="2370221"/>
            <a:ext cx="2770632" cy="239669"/>
          </a:xfrm>
          <a:prstGeom prst="rect">
            <a:avLst/>
          </a:prstGeom>
          <a:noFill/>
        </p:spPr>
        <p:txBody>
          <a:bodyPr wrap="square" lIns="0" rIns="0" tIns="0" bIns="0" anchor="ctr">
            <a:spAutoFit/>
          </a:bodyPr>
          <a:lstStyle/>
          <a:p>
            <a:pPr>
              <a:spcAft>
                <a:spcPts val="0"/>
              </a:spcAft>
            </a:pPr>
            <a:r>
              <a:rPr sz="900" b="1" i="1">
                <a:solidFill>
                  <a:srgbClr val="8063A6"/>
                </a:solidFill>
                <a:latin typeface="Arial"/>
              </a:rPr>
              <a:t>Snx7</a:t>
            </a:r>
          </a:p>
        </p:txBody>
      </p:sp>
      <p:sp>
        <p:nvSpPr>
          <p:cNvPr id="26" name="Rectangle 25"/>
          <p:cNvSpPr/>
          <p:nvPr/>
        </p:nvSpPr>
        <p:spPr>
          <a:xfrm>
            <a:off x="1709928" y="2619034"/>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37360" y="2628178"/>
            <a:ext cx="658368" cy="43313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28" name="TextBox 27"/>
          <p:cNvSpPr txBox="1"/>
          <p:nvPr/>
        </p:nvSpPr>
        <p:spPr>
          <a:xfrm>
            <a:off x="2423160" y="2628178"/>
            <a:ext cx="713232" cy="433136"/>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9" name="TextBox 28"/>
          <p:cNvSpPr txBox="1"/>
          <p:nvPr/>
        </p:nvSpPr>
        <p:spPr>
          <a:xfrm>
            <a:off x="3172968" y="2628178"/>
            <a:ext cx="2770632" cy="433136"/>
          </a:xfrm>
          <a:prstGeom prst="rect">
            <a:avLst/>
          </a:prstGeom>
          <a:noFill/>
        </p:spPr>
        <p:txBody>
          <a:bodyPr wrap="square" lIns="0" rIns="0" tIns="0" bIns="0" anchor="ctr">
            <a:spAutoFit/>
          </a:bodyPr>
          <a:lstStyle/>
          <a:p>
            <a:pPr>
              <a:spcAft>
                <a:spcPts val="0"/>
              </a:spcAft>
            </a:pPr>
            <a:r>
              <a:rPr sz="900" b="1" i="1">
                <a:solidFill>
                  <a:srgbClr val="478A64"/>
                </a:solidFill>
                <a:latin typeface="Arial"/>
              </a:rPr>
              <a:t>Nusap1</a:t>
            </a:r>
            <a:r>
              <a:rPr sz="900" b="0" i="0">
                <a:solidFill>
                  <a:srgbClr val="8A969E"/>
                </a:solidFill>
                <a:latin typeface="Arial"/>
              </a:rPr>
              <a:t>, </a:t>
            </a:r>
            <a:r>
              <a:rPr sz="900" b="1" i="1">
                <a:solidFill>
                  <a:srgbClr val="478A64"/>
                </a:solidFill>
                <a:latin typeface="Arial"/>
              </a:rPr>
              <a:t>Stmn1</a:t>
            </a:r>
            <a:r>
              <a:rPr sz="900" b="0" i="0">
                <a:solidFill>
                  <a:srgbClr val="8A969E"/>
                </a:solidFill>
                <a:latin typeface="Arial"/>
              </a:rPr>
              <a:t>, </a:t>
            </a:r>
            <a:r>
              <a:rPr sz="900" b="1" i="1">
                <a:solidFill>
                  <a:srgbClr val="D37B00"/>
                </a:solidFill>
                <a:latin typeface="Arial"/>
              </a:rPr>
              <a:t>Birc5</a:t>
            </a:r>
            <a:r>
              <a:rPr sz="900" b="0" i="0">
                <a:solidFill>
                  <a:srgbClr val="8A969E"/>
                </a:solidFill>
                <a:latin typeface="Arial"/>
              </a:rPr>
              <a:t>, </a:t>
            </a:r>
            <a:r>
              <a:rPr sz="900" b="1" i="1">
                <a:solidFill>
                  <a:srgbClr val="478A64"/>
                </a:solidFill>
                <a:latin typeface="Arial"/>
              </a:rPr>
              <a:t>Cdk1</a:t>
            </a:r>
            <a:r>
              <a:rPr sz="900" b="0" i="0">
                <a:solidFill>
                  <a:srgbClr val="8A969E"/>
                </a:solidFill>
                <a:latin typeface="Arial"/>
              </a:rPr>
              <a:t>, </a:t>
            </a:r>
            <a:r>
              <a:rPr sz="900" b="1" i="1">
                <a:solidFill>
                  <a:srgbClr val="478A64"/>
                </a:solidFill>
                <a:latin typeface="Arial"/>
              </a:rPr>
              <a:t>Top2a</a:t>
            </a:r>
            <a:r>
              <a:rPr sz="900" b="0" i="0">
                <a:solidFill>
                  <a:srgbClr val="8A969E"/>
                </a:solidFill>
                <a:latin typeface="Arial"/>
              </a:rPr>
              <a:t>, </a:t>
            </a:r>
            <a:r>
              <a:rPr sz="900" b="1" i="1">
                <a:solidFill>
                  <a:srgbClr val="478A64"/>
                </a:solidFill>
                <a:latin typeface="Arial"/>
              </a:rPr>
              <a:t>Ccnb2</a:t>
            </a:r>
            <a:r>
              <a:rPr sz="900" b="0" i="0">
                <a:solidFill>
                  <a:srgbClr val="8A969E"/>
                </a:solidFill>
                <a:latin typeface="Arial"/>
              </a:rPr>
              <a:t>, </a:t>
            </a:r>
            <a:r>
              <a:rPr sz="900" b="1" i="1">
                <a:solidFill>
                  <a:srgbClr val="478A64"/>
                </a:solidFill>
                <a:latin typeface="Arial"/>
              </a:rPr>
              <a:t>Aurka</a:t>
            </a:r>
            <a:r>
              <a:rPr sz="900" b="0" i="0">
                <a:solidFill>
                  <a:srgbClr val="8A969E"/>
                </a:solidFill>
                <a:latin typeface="Arial"/>
              </a:rPr>
              <a:t>, </a:t>
            </a:r>
            <a:r>
              <a:rPr sz="900" b="1" i="1">
                <a:solidFill>
                  <a:srgbClr val="478A64"/>
                </a:solidFill>
                <a:latin typeface="Arial"/>
              </a:rPr>
              <a:t>Ccne2</a:t>
            </a:r>
            <a:r>
              <a:rPr sz="900" b="0" i="0">
                <a:solidFill>
                  <a:srgbClr val="8A969E"/>
                </a:solidFill>
                <a:latin typeface="Arial"/>
              </a:rPr>
              <a:t>, </a:t>
            </a:r>
            <a:r>
              <a:rPr sz="900" b="1" i="1">
                <a:solidFill>
                  <a:srgbClr val="478A64"/>
                </a:solidFill>
                <a:latin typeface="Arial"/>
              </a:rPr>
              <a:t>Kif20a</a:t>
            </a:r>
            <a:r>
              <a:rPr sz="900" b="0" i="0">
                <a:solidFill>
                  <a:srgbClr val="8A969E"/>
                </a:solidFill>
                <a:latin typeface="Arial"/>
              </a:rPr>
              <a:t>, </a:t>
            </a:r>
            <a:r>
              <a:rPr sz="900" b="1" i="1">
                <a:solidFill>
                  <a:srgbClr val="478A64"/>
                </a:solidFill>
                <a:latin typeface="Arial"/>
              </a:rPr>
              <a:t>Pcna</a:t>
            </a:r>
            <a:r>
              <a:rPr sz="900" b="0" i="0">
                <a:solidFill>
                  <a:srgbClr val="8A969E"/>
                </a:solidFill>
                <a:latin typeface="Arial"/>
              </a:rPr>
              <a:t>, </a:t>
            </a:r>
            <a:r>
              <a:rPr sz="900" b="1" i="1">
                <a:solidFill>
                  <a:srgbClr val="478A64"/>
                </a:solidFill>
                <a:latin typeface="Arial"/>
              </a:rPr>
              <a:t>Ccnf</a:t>
            </a:r>
          </a:p>
        </p:txBody>
      </p:sp>
      <p:sp>
        <p:nvSpPr>
          <p:cNvPr id="30" name="Rectangle 29"/>
          <p:cNvSpPr/>
          <p:nvPr/>
        </p:nvSpPr>
        <p:spPr>
          <a:xfrm>
            <a:off x="1709928" y="30704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737360" y="3079602"/>
            <a:ext cx="658368" cy="23966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32" name="TextBox 31"/>
          <p:cNvSpPr txBox="1"/>
          <p:nvPr/>
        </p:nvSpPr>
        <p:spPr>
          <a:xfrm>
            <a:off x="2423160" y="3079602"/>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33" name="TextBox 32"/>
          <p:cNvSpPr txBox="1"/>
          <p:nvPr/>
        </p:nvSpPr>
        <p:spPr>
          <a:xfrm>
            <a:off x="3172968" y="3079602"/>
            <a:ext cx="2770632" cy="239669"/>
          </a:xfrm>
          <a:prstGeom prst="rect">
            <a:avLst/>
          </a:prstGeom>
          <a:noFill/>
        </p:spPr>
        <p:txBody>
          <a:bodyPr wrap="square" lIns="0" rIns="0" tIns="0" bIns="0" anchor="ctr">
            <a:spAutoFit/>
          </a:bodyPr>
          <a:lstStyle/>
          <a:p>
            <a:pPr>
              <a:spcAft>
                <a:spcPts val="0"/>
              </a:spcAft>
            </a:pPr>
            <a:r>
              <a:rPr sz="900" b="1" i="1">
                <a:solidFill>
                  <a:srgbClr val="478A64"/>
                </a:solidFill>
                <a:latin typeface="Arial"/>
              </a:rPr>
              <a:t>Ube2c</a:t>
            </a:r>
            <a:r>
              <a:rPr sz="900" b="0" i="0">
                <a:solidFill>
                  <a:srgbClr val="8A969E"/>
                </a:solidFill>
                <a:latin typeface="Arial"/>
              </a:rPr>
              <a:t>, </a:t>
            </a:r>
            <a:r>
              <a:rPr sz="900" b="1" i="1">
                <a:solidFill>
                  <a:srgbClr val="478A64"/>
                </a:solidFill>
                <a:latin typeface="Arial"/>
              </a:rPr>
              <a:t>Gmnn</a:t>
            </a:r>
          </a:p>
        </p:txBody>
      </p:sp>
      <p:sp>
        <p:nvSpPr>
          <p:cNvPr id="34" name="Rectangle 33"/>
          <p:cNvSpPr/>
          <p:nvPr/>
        </p:nvSpPr>
        <p:spPr>
          <a:xfrm>
            <a:off x="393192" y="345643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8056" y="3520439"/>
            <a:ext cx="1243584" cy="521208"/>
          </a:xfrm>
          <a:prstGeom prst="rect">
            <a:avLst/>
          </a:prstGeom>
          <a:noFill/>
        </p:spPr>
        <p:txBody>
          <a:bodyPr wrap="square" lIns="0" rIns="0" tIns="0" bIns="0" anchor="t">
            <a:spAutoFit/>
          </a:bodyPr>
          <a:lstStyle/>
          <a:p>
            <a:pPr>
              <a:spcAft>
                <a:spcPts val="0"/>
              </a:spcAft>
            </a:pPr>
            <a:r>
              <a:rPr sz="1180" b="1" i="0">
                <a:solidFill>
                  <a:srgbClr val="082B55"/>
                </a:solidFill>
                <a:latin typeface="Arial"/>
              </a:rPr>
              <a:t>Spleen
</a:t>
            </a:r>
            <a:r>
              <a:rPr sz="900" b="0" i="0">
                <a:solidFill>
                  <a:srgbClr val="8A969E"/>
                </a:solidFill>
                <a:latin typeface="Arial"/>
              </a:rPr>
              <a:t>4 genes</a:t>
            </a:r>
          </a:p>
        </p:txBody>
      </p:sp>
      <p:sp>
        <p:nvSpPr>
          <p:cNvPr id="36" name="TextBox 35"/>
          <p:cNvSpPr txBox="1"/>
          <p:nvPr/>
        </p:nvSpPr>
        <p:spPr>
          <a:xfrm>
            <a:off x="1737360" y="3520439"/>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37" name="TextBox 36"/>
          <p:cNvSpPr txBox="1"/>
          <p:nvPr/>
        </p:nvSpPr>
        <p:spPr>
          <a:xfrm>
            <a:off x="2423160" y="3520439"/>
            <a:ext cx="713232" cy="237744"/>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38" name="TextBox 37"/>
          <p:cNvSpPr txBox="1"/>
          <p:nvPr/>
        </p:nvSpPr>
        <p:spPr>
          <a:xfrm>
            <a:off x="3172968" y="3520439"/>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Rai14</a:t>
            </a:r>
            <a:r>
              <a:rPr sz="900" b="0" i="0">
                <a:solidFill>
                  <a:srgbClr val="8A969E"/>
                </a:solidFill>
                <a:latin typeface="Arial"/>
              </a:rPr>
              <a:t>, </a:t>
            </a:r>
            <a:r>
              <a:rPr sz="900" b="1" i="1">
                <a:solidFill>
                  <a:srgbClr val="2D6496"/>
                </a:solidFill>
                <a:latin typeface="Arial"/>
              </a:rPr>
              <a:t>Myl9</a:t>
            </a:r>
            <a:r>
              <a:rPr sz="900" b="0" i="0">
                <a:solidFill>
                  <a:srgbClr val="8A969E"/>
                </a:solidFill>
                <a:latin typeface="Arial"/>
              </a:rPr>
              <a:t>, </a:t>
            </a:r>
            <a:r>
              <a:rPr sz="900" b="1" i="1">
                <a:solidFill>
                  <a:srgbClr val="2D6496"/>
                </a:solidFill>
                <a:latin typeface="Arial"/>
              </a:rPr>
              <a:t>Ptprk</a:t>
            </a:r>
          </a:p>
        </p:txBody>
      </p:sp>
      <p:sp>
        <p:nvSpPr>
          <p:cNvPr id="39" name="Rectangle 38"/>
          <p:cNvSpPr/>
          <p:nvPr/>
        </p:nvSpPr>
        <p:spPr>
          <a:xfrm>
            <a:off x="1709928" y="376732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737360" y="3776472"/>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1" name="TextBox 40"/>
          <p:cNvSpPr txBox="1"/>
          <p:nvPr/>
        </p:nvSpPr>
        <p:spPr>
          <a:xfrm>
            <a:off x="2423160" y="3776472"/>
            <a:ext cx="713232" cy="237744"/>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42" name="TextBox 41"/>
          <p:cNvSpPr txBox="1"/>
          <p:nvPr/>
        </p:nvSpPr>
        <p:spPr>
          <a:xfrm>
            <a:off x="3172968" y="3776472"/>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Loxl1</a:t>
            </a:r>
          </a:p>
        </p:txBody>
      </p:sp>
      <p:sp>
        <p:nvSpPr>
          <p:cNvPr id="43" name="Rectangle 42"/>
          <p:cNvSpPr/>
          <p:nvPr/>
        </p:nvSpPr>
        <p:spPr>
          <a:xfrm>
            <a:off x="393192" y="415137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8056" y="4215384"/>
            <a:ext cx="1243584"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Kidney
</a:t>
            </a:r>
            <a:r>
              <a:rPr sz="900" b="0" i="0">
                <a:solidFill>
                  <a:srgbClr val="8A969E"/>
                </a:solidFill>
                <a:latin typeface="Arial"/>
              </a:rPr>
              <a:t>2 genes</a:t>
            </a:r>
          </a:p>
        </p:txBody>
      </p:sp>
      <p:sp>
        <p:nvSpPr>
          <p:cNvPr id="45" name="TextBox 44"/>
          <p:cNvSpPr txBox="1"/>
          <p:nvPr/>
        </p:nvSpPr>
        <p:spPr>
          <a:xfrm>
            <a:off x="1737360" y="42153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6" name="TextBox 45"/>
          <p:cNvSpPr txBox="1"/>
          <p:nvPr/>
        </p:nvSpPr>
        <p:spPr>
          <a:xfrm>
            <a:off x="2423160" y="4215383"/>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47" name="TextBox 46"/>
          <p:cNvSpPr txBox="1"/>
          <p:nvPr/>
        </p:nvSpPr>
        <p:spPr>
          <a:xfrm>
            <a:off x="3172968" y="42153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Inpp4b</a:t>
            </a:r>
          </a:p>
        </p:txBody>
      </p:sp>
      <p:sp>
        <p:nvSpPr>
          <p:cNvPr id="48" name="Rectangle 47"/>
          <p:cNvSpPr/>
          <p:nvPr/>
        </p:nvSpPr>
        <p:spPr>
          <a:xfrm>
            <a:off x="1709928" y="443484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737360" y="44439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0" name="TextBox 49"/>
          <p:cNvSpPr txBox="1"/>
          <p:nvPr/>
        </p:nvSpPr>
        <p:spPr>
          <a:xfrm>
            <a:off x="2423160" y="4443983"/>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51" name="TextBox 50"/>
          <p:cNvSpPr txBox="1"/>
          <p:nvPr/>
        </p:nvSpPr>
        <p:spPr>
          <a:xfrm>
            <a:off x="3172968" y="44439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Slc37a4</a:t>
            </a:r>
          </a:p>
        </p:txBody>
      </p:sp>
      <p:sp>
        <p:nvSpPr>
          <p:cNvPr id="52" name="Rectangle 51"/>
          <p:cNvSpPr/>
          <p:nvPr/>
        </p:nvSpPr>
        <p:spPr>
          <a:xfrm>
            <a:off x="393192" y="47914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8056" y="4855464"/>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Gastrocnemius
</a:t>
            </a:r>
            <a:r>
              <a:rPr sz="900" b="0" i="0">
                <a:solidFill>
                  <a:srgbClr val="8A969E"/>
                </a:solidFill>
                <a:latin typeface="Arial"/>
              </a:rPr>
              <a:t>2 genes</a:t>
            </a:r>
          </a:p>
        </p:txBody>
      </p:sp>
      <p:sp>
        <p:nvSpPr>
          <p:cNvPr id="54" name="TextBox 53"/>
          <p:cNvSpPr txBox="1"/>
          <p:nvPr/>
        </p:nvSpPr>
        <p:spPr>
          <a:xfrm>
            <a:off x="1737360" y="4855464"/>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5" name="TextBox 54"/>
          <p:cNvSpPr txBox="1"/>
          <p:nvPr/>
        </p:nvSpPr>
        <p:spPr>
          <a:xfrm>
            <a:off x="2423160" y="48554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56" name="TextBox 55"/>
          <p:cNvSpPr txBox="1"/>
          <p:nvPr/>
        </p:nvSpPr>
        <p:spPr>
          <a:xfrm>
            <a:off x="3172968" y="4855464"/>
            <a:ext cx="2770632" cy="210312"/>
          </a:xfrm>
          <a:prstGeom prst="rect">
            <a:avLst/>
          </a:prstGeom>
          <a:noFill/>
        </p:spPr>
        <p:txBody>
          <a:bodyPr wrap="square" lIns="0" rIns="0" tIns="0" bIns="0" anchor="ctr">
            <a:spAutoFit/>
          </a:bodyPr>
          <a:lstStyle/>
          <a:p>
            <a:pPr>
              <a:spcAft>
                <a:spcPts val="0"/>
              </a:spcAft>
            </a:pPr>
            <a:r>
              <a:rPr sz="900" b="1" i="1">
                <a:solidFill>
                  <a:srgbClr val="478A64"/>
                </a:solidFill>
                <a:latin typeface="Arial"/>
              </a:rPr>
              <a:t>Nfkbia</a:t>
            </a:r>
          </a:p>
        </p:txBody>
      </p:sp>
      <p:sp>
        <p:nvSpPr>
          <p:cNvPr id="57" name="Rectangle 56"/>
          <p:cNvSpPr/>
          <p:nvPr/>
        </p:nvSpPr>
        <p:spPr>
          <a:xfrm>
            <a:off x="1709928" y="50749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737360" y="5084064"/>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59" name="TextBox 58"/>
          <p:cNvSpPr txBox="1"/>
          <p:nvPr/>
        </p:nvSpPr>
        <p:spPr>
          <a:xfrm>
            <a:off x="2423160" y="50840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60" name="TextBox 59"/>
          <p:cNvSpPr txBox="1"/>
          <p:nvPr/>
        </p:nvSpPr>
        <p:spPr>
          <a:xfrm>
            <a:off x="3172968" y="5084064"/>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Fhl2</a:t>
            </a:r>
          </a:p>
        </p:txBody>
      </p:sp>
      <p:sp>
        <p:nvSpPr>
          <p:cNvPr id="61" name="Rectangle 60"/>
          <p:cNvSpPr/>
          <p:nvPr/>
        </p:nvSpPr>
        <p:spPr>
          <a:xfrm>
            <a:off x="393192" y="543153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8056" y="5495544"/>
            <a:ext cx="1243584" cy="374904"/>
          </a:xfrm>
          <a:prstGeom prst="rect">
            <a:avLst/>
          </a:prstGeom>
          <a:noFill/>
        </p:spPr>
        <p:txBody>
          <a:bodyPr wrap="square" lIns="0" rIns="0" tIns="0" bIns="0" anchor="t">
            <a:spAutoFit/>
          </a:bodyPr>
          <a:lstStyle/>
          <a:p>
            <a:pPr>
              <a:spcAft>
                <a:spcPts val="0"/>
              </a:spcAft>
            </a:pPr>
            <a:r>
              <a:rPr sz="1180" b="1" i="0">
                <a:solidFill>
                  <a:srgbClr val="082B55"/>
                </a:solidFill>
                <a:latin typeface="Arial"/>
              </a:rPr>
              <a:t>Eye
</a:t>
            </a:r>
            <a:r>
              <a:rPr sz="900" b="0" i="0">
                <a:solidFill>
                  <a:srgbClr val="8A969E"/>
                </a:solidFill>
                <a:latin typeface="Arial"/>
              </a:rPr>
              <a:t>1 gene</a:t>
            </a:r>
          </a:p>
        </p:txBody>
      </p:sp>
      <p:sp>
        <p:nvSpPr>
          <p:cNvPr id="63" name="TextBox 62"/>
          <p:cNvSpPr txBox="1"/>
          <p:nvPr/>
        </p:nvSpPr>
        <p:spPr>
          <a:xfrm>
            <a:off x="1737360" y="5495544"/>
            <a:ext cx="658368" cy="34747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64" name="TextBox 63"/>
          <p:cNvSpPr txBox="1"/>
          <p:nvPr/>
        </p:nvSpPr>
        <p:spPr>
          <a:xfrm>
            <a:off x="2423160" y="5495544"/>
            <a:ext cx="713232" cy="3474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65" name="TextBox 64"/>
          <p:cNvSpPr txBox="1"/>
          <p:nvPr/>
        </p:nvSpPr>
        <p:spPr>
          <a:xfrm>
            <a:off x="3172968" y="5495544"/>
            <a:ext cx="2770632" cy="3474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Klhl21</a:t>
            </a:r>
          </a:p>
        </p:txBody>
      </p:sp>
      <p:sp>
        <p:nvSpPr>
          <p:cNvPr id="66" name="Rectangle 65"/>
          <p:cNvSpPr/>
          <p:nvPr/>
        </p:nvSpPr>
        <p:spPr>
          <a:xfrm>
            <a:off x="6181344"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6207" y="2112264"/>
            <a:ext cx="1243584" cy="1051560"/>
          </a:xfrm>
          <a:prstGeom prst="rect">
            <a:avLst/>
          </a:prstGeom>
          <a:noFill/>
        </p:spPr>
        <p:txBody>
          <a:bodyPr wrap="square" lIns="0" rIns="0" tIns="0" bIns="0" anchor="t">
            <a:spAutoFit/>
          </a:bodyPr>
          <a:lstStyle/>
          <a:p>
            <a:pPr>
              <a:spcAft>
                <a:spcPts val="0"/>
              </a:spcAft>
            </a:pPr>
            <a:r>
              <a:rPr sz="1080" b="1" i="0">
                <a:solidFill>
                  <a:srgbClr val="082B55"/>
                </a:solidFill>
                <a:latin typeface="Arial"/>
              </a:rPr>
              <a:t>Skeletal muscle
(pooled)
</a:t>
            </a:r>
            <a:r>
              <a:rPr sz="900" b="0" i="0">
                <a:solidFill>
                  <a:srgbClr val="8A969E"/>
                </a:solidFill>
                <a:latin typeface="Arial"/>
              </a:rPr>
              <a:t>12 genes</a:t>
            </a:r>
          </a:p>
        </p:txBody>
      </p:sp>
      <p:sp>
        <p:nvSpPr>
          <p:cNvPr id="68" name="TextBox 67"/>
          <p:cNvSpPr txBox="1"/>
          <p:nvPr/>
        </p:nvSpPr>
        <p:spPr>
          <a:xfrm>
            <a:off x="7525512" y="2112264"/>
            <a:ext cx="658368" cy="46817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69" name="TextBox 68"/>
          <p:cNvSpPr txBox="1"/>
          <p:nvPr/>
        </p:nvSpPr>
        <p:spPr>
          <a:xfrm>
            <a:off x="8211312" y="2112264"/>
            <a:ext cx="713232" cy="4681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0" name="TextBox 69"/>
          <p:cNvSpPr txBox="1"/>
          <p:nvPr/>
        </p:nvSpPr>
        <p:spPr>
          <a:xfrm>
            <a:off x="8961120" y="2112264"/>
            <a:ext cx="2770632" cy="4681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Sox4</a:t>
            </a:r>
            <a:r>
              <a:rPr sz="900" b="0" i="0">
                <a:solidFill>
                  <a:srgbClr val="8A969E"/>
                </a:solidFill>
                <a:latin typeface="Arial"/>
              </a:rPr>
              <a:t>, </a:t>
            </a:r>
            <a:r>
              <a:rPr sz="900" b="1" i="1">
                <a:solidFill>
                  <a:srgbClr val="478A64"/>
                </a:solidFill>
                <a:latin typeface="Arial"/>
              </a:rPr>
              <a:t>Cebpd</a:t>
            </a:r>
            <a:r>
              <a:rPr sz="900" b="0" i="0">
                <a:solidFill>
                  <a:srgbClr val="8A969E"/>
                </a:solidFill>
                <a:latin typeface="Arial"/>
              </a:rPr>
              <a:t>, </a:t>
            </a:r>
            <a:r>
              <a:rPr sz="900" b="1" i="1">
                <a:solidFill>
                  <a:srgbClr val="2D6496"/>
                </a:solidFill>
                <a:latin typeface="Arial"/>
              </a:rPr>
              <a:t>Sh3bp5</a:t>
            </a:r>
            <a:r>
              <a:rPr sz="900" b="0" i="0">
                <a:solidFill>
                  <a:srgbClr val="8A969E"/>
                </a:solidFill>
                <a:latin typeface="Arial"/>
              </a:rPr>
              <a:t>, </a:t>
            </a:r>
            <a:r>
              <a:rPr sz="900" b="1" i="1">
                <a:solidFill>
                  <a:srgbClr val="478A64"/>
                </a:solidFill>
                <a:latin typeface="Arial"/>
              </a:rPr>
              <a:t>Prkcd</a:t>
            </a:r>
            <a:r>
              <a:rPr sz="900" b="0" i="0">
                <a:solidFill>
                  <a:srgbClr val="8A969E"/>
                </a:solidFill>
                <a:latin typeface="Arial"/>
              </a:rPr>
              <a:t>, </a:t>
            </a:r>
            <a:r>
              <a:rPr sz="900" b="1" i="1">
                <a:solidFill>
                  <a:srgbClr val="478A64"/>
                </a:solidFill>
                <a:latin typeface="Arial"/>
              </a:rPr>
              <a:t>Arid5b</a:t>
            </a:r>
            <a:r>
              <a:rPr sz="900" b="0" i="0">
                <a:solidFill>
                  <a:srgbClr val="8A969E"/>
                </a:solidFill>
                <a:latin typeface="Arial"/>
              </a:rPr>
              <a:t>, </a:t>
            </a:r>
            <a:r>
              <a:rPr sz="900" b="1" i="1">
                <a:solidFill>
                  <a:srgbClr val="478A64"/>
                </a:solidFill>
                <a:latin typeface="Arial"/>
              </a:rPr>
              <a:t>Sesn1</a:t>
            </a:r>
            <a:r>
              <a:rPr sz="900" b="0" i="0">
                <a:solidFill>
                  <a:srgbClr val="8A969E"/>
                </a:solidFill>
                <a:latin typeface="Arial"/>
              </a:rPr>
              <a:t>, </a:t>
            </a:r>
            <a:r>
              <a:rPr sz="900" b="1" i="1">
                <a:solidFill>
                  <a:srgbClr val="2D6496"/>
                </a:solidFill>
                <a:latin typeface="Arial"/>
              </a:rPr>
              <a:t>Tle1</a:t>
            </a:r>
          </a:p>
        </p:txBody>
      </p:sp>
      <p:sp>
        <p:nvSpPr>
          <p:cNvPr id="71" name="Rectangle 70"/>
          <p:cNvSpPr/>
          <p:nvPr/>
        </p:nvSpPr>
        <p:spPr>
          <a:xfrm>
            <a:off x="7498079" y="258958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525512" y="2598724"/>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3" name="TextBox 72"/>
          <p:cNvSpPr txBox="1"/>
          <p:nvPr/>
        </p:nvSpPr>
        <p:spPr>
          <a:xfrm>
            <a:off x="8211312" y="2598724"/>
            <a:ext cx="713232" cy="25968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74" name="TextBox 73"/>
          <p:cNvSpPr txBox="1"/>
          <p:nvPr/>
        </p:nvSpPr>
        <p:spPr>
          <a:xfrm>
            <a:off x="8961120" y="2598724"/>
            <a:ext cx="2770632" cy="259689"/>
          </a:xfrm>
          <a:prstGeom prst="rect">
            <a:avLst/>
          </a:prstGeom>
          <a:noFill/>
        </p:spPr>
        <p:txBody>
          <a:bodyPr wrap="square" lIns="0" rIns="0" tIns="0" bIns="0" anchor="ctr">
            <a:spAutoFit/>
          </a:bodyPr>
          <a:lstStyle/>
          <a:p>
            <a:pPr>
              <a:spcAft>
                <a:spcPts val="0"/>
              </a:spcAft>
            </a:pPr>
            <a:r>
              <a:rPr sz="900" b="1" i="1">
                <a:solidFill>
                  <a:srgbClr val="2D6496"/>
                </a:solidFill>
                <a:latin typeface="Arial"/>
              </a:rPr>
              <a:t>Klhl21</a:t>
            </a:r>
            <a:r>
              <a:rPr sz="900" b="0" i="0">
                <a:solidFill>
                  <a:srgbClr val="8A969E"/>
                </a:solidFill>
                <a:latin typeface="Arial"/>
              </a:rPr>
              <a:t>, </a:t>
            </a:r>
            <a:r>
              <a:rPr sz="900" b="1" i="1">
                <a:solidFill>
                  <a:srgbClr val="2D6496"/>
                </a:solidFill>
                <a:latin typeface="Arial"/>
              </a:rPr>
              <a:t>Mapkapk5</a:t>
            </a:r>
            <a:r>
              <a:rPr sz="900" b="0" i="0">
                <a:solidFill>
                  <a:srgbClr val="8A969E"/>
                </a:solidFill>
                <a:latin typeface="Arial"/>
              </a:rPr>
              <a:t>, </a:t>
            </a:r>
            <a:r>
              <a:rPr sz="900" b="1" i="1">
                <a:solidFill>
                  <a:srgbClr val="2D6496"/>
                </a:solidFill>
                <a:latin typeface="Arial"/>
              </a:rPr>
              <a:t>Reep5</a:t>
            </a:r>
            <a:r>
              <a:rPr sz="900" b="0" i="0">
                <a:solidFill>
                  <a:srgbClr val="8A969E"/>
                </a:solidFill>
                <a:latin typeface="Arial"/>
              </a:rPr>
              <a:t>, </a:t>
            </a:r>
            <a:r>
              <a:rPr sz="900" b="1" i="1">
                <a:solidFill>
                  <a:srgbClr val="2D6496"/>
                </a:solidFill>
                <a:latin typeface="Arial"/>
              </a:rPr>
              <a:t>Itgb5</a:t>
            </a:r>
          </a:p>
        </p:txBody>
      </p:sp>
      <p:sp>
        <p:nvSpPr>
          <p:cNvPr id="75" name="Rectangle 74"/>
          <p:cNvSpPr/>
          <p:nvPr/>
        </p:nvSpPr>
        <p:spPr>
          <a:xfrm>
            <a:off x="7498079" y="28675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525512" y="2876702"/>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7" name="TextBox 76"/>
          <p:cNvSpPr txBox="1"/>
          <p:nvPr/>
        </p:nvSpPr>
        <p:spPr>
          <a:xfrm>
            <a:off x="8211312" y="2876702"/>
            <a:ext cx="713232" cy="25968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8" name="TextBox 77"/>
          <p:cNvSpPr txBox="1"/>
          <p:nvPr/>
        </p:nvSpPr>
        <p:spPr>
          <a:xfrm>
            <a:off x="8961120" y="2876702"/>
            <a:ext cx="2770632" cy="259689"/>
          </a:xfrm>
          <a:prstGeom prst="rect">
            <a:avLst/>
          </a:prstGeom>
          <a:noFill/>
        </p:spPr>
        <p:txBody>
          <a:bodyPr wrap="square" lIns="0" rIns="0" tIns="0" bIns="0" anchor="ctr">
            <a:spAutoFit/>
          </a:bodyPr>
          <a:lstStyle/>
          <a:p>
            <a:pPr>
              <a:spcAft>
                <a:spcPts val="0"/>
              </a:spcAft>
            </a:pPr>
            <a:r>
              <a:rPr sz="900" b="1" i="1">
                <a:solidFill>
                  <a:srgbClr val="8063A6"/>
                </a:solidFill>
                <a:latin typeface="Arial"/>
              </a:rPr>
              <a:t>Bphl</a:t>
            </a:r>
          </a:p>
        </p:txBody>
      </p:sp>
      <p:sp>
        <p:nvSpPr>
          <p:cNvPr id="79" name="Rectangle 78"/>
          <p:cNvSpPr/>
          <p:nvPr/>
        </p:nvSpPr>
        <p:spPr>
          <a:xfrm>
            <a:off x="6181344" y="32735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36207" y="3337560"/>
            <a:ext cx="1243584" cy="530352"/>
          </a:xfrm>
          <a:prstGeom prst="rect">
            <a:avLst/>
          </a:prstGeom>
          <a:noFill/>
        </p:spPr>
        <p:txBody>
          <a:bodyPr wrap="square" lIns="0" rIns="0" tIns="0" bIns="0" anchor="t">
            <a:spAutoFit/>
          </a:bodyPr>
          <a:lstStyle/>
          <a:p>
            <a:pPr>
              <a:spcAft>
                <a:spcPts val="0"/>
              </a:spcAft>
            </a:pPr>
            <a:r>
              <a:rPr sz="1180" b="1" i="0">
                <a:solidFill>
                  <a:srgbClr val="082B55"/>
                </a:solidFill>
                <a:latin typeface="Arial"/>
              </a:rPr>
              <a:t>Soleus
</a:t>
            </a:r>
            <a:r>
              <a:rPr sz="900" b="0" i="0">
                <a:solidFill>
                  <a:srgbClr val="8A969E"/>
                </a:solidFill>
                <a:latin typeface="Arial"/>
              </a:rPr>
              <a:t>5 genes</a:t>
            </a:r>
          </a:p>
        </p:txBody>
      </p:sp>
      <p:sp>
        <p:nvSpPr>
          <p:cNvPr id="81" name="TextBox 80"/>
          <p:cNvSpPr txBox="1"/>
          <p:nvPr/>
        </p:nvSpPr>
        <p:spPr>
          <a:xfrm>
            <a:off x="7525512" y="3337560"/>
            <a:ext cx="658368" cy="242316"/>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82" name="TextBox 81"/>
          <p:cNvSpPr txBox="1"/>
          <p:nvPr/>
        </p:nvSpPr>
        <p:spPr>
          <a:xfrm>
            <a:off x="8211312" y="3337560"/>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3" name="TextBox 82"/>
          <p:cNvSpPr txBox="1"/>
          <p:nvPr/>
        </p:nvSpPr>
        <p:spPr>
          <a:xfrm>
            <a:off x="8961120" y="3337560"/>
            <a:ext cx="2770632" cy="242316"/>
          </a:xfrm>
          <a:prstGeom prst="rect">
            <a:avLst/>
          </a:prstGeom>
          <a:noFill/>
        </p:spPr>
        <p:txBody>
          <a:bodyPr wrap="square" lIns="0" rIns="0" tIns="0" bIns="0" anchor="ctr">
            <a:spAutoFit/>
          </a:bodyPr>
          <a:lstStyle/>
          <a:p>
            <a:pPr>
              <a:spcAft>
                <a:spcPts val="0"/>
              </a:spcAft>
            </a:pPr>
            <a:r>
              <a:rPr sz="900" b="1" i="1">
                <a:solidFill>
                  <a:srgbClr val="D37B00"/>
                </a:solidFill>
                <a:latin typeface="Arial"/>
              </a:rPr>
              <a:t>Tpm1</a:t>
            </a:r>
          </a:p>
        </p:txBody>
      </p:sp>
      <p:sp>
        <p:nvSpPr>
          <p:cNvPr id="84" name="Rectangle 83"/>
          <p:cNvSpPr/>
          <p:nvPr/>
        </p:nvSpPr>
        <p:spPr>
          <a:xfrm>
            <a:off x="7498079" y="35890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525512" y="3598164"/>
            <a:ext cx="658368" cy="24231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86" name="TextBox 85"/>
          <p:cNvSpPr txBox="1"/>
          <p:nvPr/>
        </p:nvSpPr>
        <p:spPr>
          <a:xfrm>
            <a:off x="8211312" y="3598164"/>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7" name="TextBox 86"/>
          <p:cNvSpPr txBox="1"/>
          <p:nvPr/>
        </p:nvSpPr>
        <p:spPr>
          <a:xfrm>
            <a:off x="8961120" y="3598164"/>
            <a:ext cx="2770632" cy="242316"/>
          </a:xfrm>
          <a:prstGeom prst="rect">
            <a:avLst/>
          </a:prstGeom>
          <a:noFill/>
        </p:spPr>
        <p:txBody>
          <a:bodyPr wrap="square" lIns="0" rIns="0" tIns="0" bIns="0" anchor="ctr">
            <a:spAutoFit/>
          </a:bodyPr>
          <a:lstStyle/>
          <a:p>
            <a:pPr>
              <a:spcAft>
                <a:spcPts val="0"/>
              </a:spcAft>
            </a:pPr>
            <a:r>
              <a:rPr sz="900" b="1" i="1">
                <a:solidFill>
                  <a:srgbClr val="478A64"/>
                </a:solidFill>
                <a:latin typeface="Arial"/>
              </a:rPr>
              <a:t>Bdh1</a:t>
            </a:r>
            <a:r>
              <a:rPr sz="900" b="0" i="0">
                <a:solidFill>
                  <a:srgbClr val="8A969E"/>
                </a:solidFill>
                <a:latin typeface="Arial"/>
              </a:rPr>
              <a:t>, </a:t>
            </a:r>
            <a:r>
              <a:rPr sz="900" b="1" i="1">
                <a:solidFill>
                  <a:srgbClr val="478A64"/>
                </a:solidFill>
                <a:latin typeface="Arial"/>
              </a:rPr>
              <a:t>Ech1</a:t>
            </a:r>
            <a:r>
              <a:rPr sz="900" b="0" i="0">
                <a:solidFill>
                  <a:srgbClr val="8A969E"/>
                </a:solidFill>
                <a:latin typeface="Arial"/>
              </a:rPr>
              <a:t>, </a:t>
            </a:r>
            <a:r>
              <a:rPr sz="900" b="1" i="1">
                <a:solidFill>
                  <a:srgbClr val="D37B00"/>
                </a:solidFill>
                <a:latin typeface="Arial"/>
              </a:rPr>
              <a:t>Bnip3</a:t>
            </a:r>
            <a:r>
              <a:rPr sz="900" b="0" i="0">
                <a:solidFill>
                  <a:srgbClr val="8A969E"/>
                </a:solidFill>
                <a:latin typeface="Arial"/>
              </a:rPr>
              <a:t>, </a:t>
            </a:r>
            <a:r>
              <a:rPr sz="900" b="1" i="1">
                <a:solidFill>
                  <a:srgbClr val="478A64"/>
                </a:solidFill>
                <a:latin typeface="Arial"/>
              </a:rPr>
              <a:t>Decr1</a:t>
            </a:r>
          </a:p>
        </p:txBody>
      </p:sp>
      <p:sp>
        <p:nvSpPr>
          <p:cNvPr id="88" name="Rectangle 87"/>
          <p:cNvSpPr/>
          <p:nvPr/>
        </p:nvSpPr>
        <p:spPr>
          <a:xfrm>
            <a:off x="6181344" y="3977639"/>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236207" y="4041648"/>
            <a:ext cx="1243584" cy="539496"/>
          </a:xfrm>
          <a:prstGeom prst="rect">
            <a:avLst/>
          </a:prstGeom>
          <a:noFill/>
        </p:spPr>
        <p:txBody>
          <a:bodyPr wrap="square" lIns="0" rIns="0" tIns="0" bIns="0" anchor="t">
            <a:spAutoFit/>
          </a:bodyPr>
          <a:lstStyle/>
          <a:p>
            <a:pPr>
              <a:spcAft>
                <a:spcPts val="0"/>
              </a:spcAft>
            </a:pPr>
            <a:r>
              <a:rPr sz="1080" b="1" i="0">
                <a:solidFill>
                  <a:srgbClr val="082B55"/>
                </a:solidFill>
                <a:latin typeface="Arial"/>
              </a:rPr>
              <a:t>Tibialis anterior
</a:t>
            </a:r>
            <a:r>
              <a:rPr sz="900" b="0" i="0">
                <a:solidFill>
                  <a:srgbClr val="8A969E"/>
                </a:solidFill>
                <a:latin typeface="Arial"/>
              </a:rPr>
              <a:t>4 genes</a:t>
            </a:r>
          </a:p>
        </p:txBody>
      </p:sp>
      <p:sp>
        <p:nvSpPr>
          <p:cNvPr id="90" name="TextBox 89"/>
          <p:cNvSpPr txBox="1"/>
          <p:nvPr/>
        </p:nvSpPr>
        <p:spPr>
          <a:xfrm>
            <a:off x="7525512" y="4041647"/>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1" name="TextBox 90"/>
          <p:cNvSpPr txBox="1"/>
          <p:nvPr/>
        </p:nvSpPr>
        <p:spPr>
          <a:xfrm>
            <a:off x="8211312" y="4041647"/>
            <a:ext cx="713232" cy="246887"/>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92" name="TextBox 91"/>
          <p:cNvSpPr txBox="1"/>
          <p:nvPr/>
        </p:nvSpPr>
        <p:spPr>
          <a:xfrm>
            <a:off x="8961120" y="4041647"/>
            <a:ext cx="2770632" cy="246887"/>
          </a:xfrm>
          <a:prstGeom prst="rect">
            <a:avLst/>
          </a:prstGeom>
          <a:noFill/>
        </p:spPr>
        <p:txBody>
          <a:bodyPr wrap="square" lIns="0" rIns="0" tIns="0" bIns="0" anchor="ctr">
            <a:spAutoFit/>
          </a:bodyPr>
          <a:lstStyle/>
          <a:p>
            <a:pPr>
              <a:spcAft>
                <a:spcPts val="0"/>
              </a:spcAft>
            </a:pPr>
            <a:r>
              <a:rPr sz="900" b="1" i="1">
                <a:solidFill>
                  <a:srgbClr val="2D6496"/>
                </a:solidFill>
                <a:latin typeface="Arial"/>
              </a:rPr>
              <a:t>Cebpd</a:t>
            </a:r>
          </a:p>
        </p:txBody>
      </p:sp>
      <p:sp>
        <p:nvSpPr>
          <p:cNvPr id="93" name="Rectangle 92"/>
          <p:cNvSpPr/>
          <p:nvPr/>
        </p:nvSpPr>
        <p:spPr>
          <a:xfrm>
            <a:off x="7498079" y="4297679"/>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525512" y="4306823"/>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5" name="TextBox 94"/>
          <p:cNvSpPr txBox="1"/>
          <p:nvPr/>
        </p:nvSpPr>
        <p:spPr>
          <a:xfrm>
            <a:off x="8211312" y="4306823"/>
            <a:ext cx="713232" cy="246887"/>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96" name="TextBox 95"/>
          <p:cNvSpPr txBox="1"/>
          <p:nvPr/>
        </p:nvSpPr>
        <p:spPr>
          <a:xfrm>
            <a:off x="8961120" y="4306823"/>
            <a:ext cx="2770632" cy="246887"/>
          </a:xfrm>
          <a:prstGeom prst="rect">
            <a:avLst/>
          </a:prstGeom>
          <a:noFill/>
        </p:spPr>
        <p:txBody>
          <a:bodyPr wrap="square" lIns="0" rIns="0" tIns="0" bIns="0" anchor="ctr">
            <a:spAutoFit/>
          </a:bodyPr>
          <a:lstStyle/>
          <a:p>
            <a:pPr>
              <a:spcAft>
                <a:spcPts val="0"/>
              </a:spcAft>
            </a:pPr>
            <a:r>
              <a:rPr sz="900" b="1" i="1">
                <a:solidFill>
                  <a:srgbClr val="D37B00"/>
                </a:solidFill>
                <a:latin typeface="Arial"/>
              </a:rPr>
              <a:t>Cdkn1a</a:t>
            </a:r>
            <a:r>
              <a:rPr sz="900" b="0" i="0">
                <a:solidFill>
                  <a:srgbClr val="8A969E"/>
                </a:solidFill>
                <a:latin typeface="Arial"/>
              </a:rPr>
              <a:t>, </a:t>
            </a:r>
            <a:r>
              <a:rPr sz="900" b="1" i="1">
                <a:solidFill>
                  <a:srgbClr val="2D6496"/>
                </a:solidFill>
                <a:latin typeface="Arial"/>
              </a:rPr>
              <a:t>St3gal5</a:t>
            </a:r>
            <a:r>
              <a:rPr sz="900" b="0" i="0">
                <a:solidFill>
                  <a:srgbClr val="8A969E"/>
                </a:solidFill>
                <a:latin typeface="Arial"/>
              </a:rPr>
              <a:t>, </a:t>
            </a:r>
            <a:r>
              <a:rPr sz="900" b="1" i="1">
                <a:solidFill>
                  <a:srgbClr val="2D6496"/>
                </a:solidFill>
                <a:latin typeface="Arial"/>
              </a:rPr>
              <a:t>Bnip3</a:t>
            </a:r>
          </a:p>
        </p:txBody>
      </p:sp>
      <p:sp>
        <p:nvSpPr>
          <p:cNvPr id="97" name="Rectangle 96"/>
          <p:cNvSpPr/>
          <p:nvPr/>
        </p:nvSpPr>
        <p:spPr>
          <a:xfrm>
            <a:off x="6181344" y="469087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236207" y="4754880"/>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Adrenal gland
</a:t>
            </a:r>
            <a:r>
              <a:rPr sz="900" b="0" i="0">
                <a:solidFill>
                  <a:srgbClr val="8A969E"/>
                </a:solidFill>
                <a:latin typeface="Arial"/>
              </a:rPr>
              <a:t>2 genes</a:t>
            </a:r>
          </a:p>
        </p:txBody>
      </p:sp>
      <p:sp>
        <p:nvSpPr>
          <p:cNvPr id="99" name="TextBox 98"/>
          <p:cNvSpPr txBox="1"/>
          <p:nvPr/>
        </p:nvSpPr>
        <p:spPr>
          <a:xfrm>
            <a:off x="7525512" y="47548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0" name="TextBox 99"/>
          <p:cNvSpPr txBox="1"/>
          <p:nvPr/>
        </p:nvSpPr>
        <p:spPr>
          <a:xfrm>
            <a:off x="8211312" y="4754879"/>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01" name="TextBox 100"/>
          <p:cNvSpPr txBox="1"/>
          <p:nvPr/>
        </p:nvSpPr>
        <p:spPr>
          <a:xfrm>
            <a:off x="8961120" y="47548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Psmb8</a:t>
            </a:r>
          </a:p>
        </p:txBody>
      </p:sp>
      <p:sp>
        <p:nvSpPr>
          <p:cNvPr id="102" name="Rectangle 101"/>
          <p:cNvSpPr/>
          <p:nvPr/>
        </p:nvSpPr>
        <p:spPr>
          <a:xfrm>
            <a:off x="7498079" y="4974336"/>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525512" y="49834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4" name="TextBox 103"/>
          <p:cNvSpPr txBox="1"/>
          <p:nvPr/>
        </p:nvSpPr>
        <p:spPr>
          <a:xfrm>
            <a:off x="8211312" y="4983479"/>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105" name="TextBox 104"/>
          <p:cNvSpPr txBox="1"/>
          <p:nvPr/>
        </p:nvSpPr>
        <p:spPr>
          <a:xfrm>
            <a:off x="8961120" y="49834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Tspan4</a:t>
            </a:r>
          </a:p>
        </p:txBody>
      </p:sp>
      <p:sp>
        <p:nvSpPr>
          <p:cNvPr id="106" name="Rectangle 105"/>
          <p:cNvSpPr/>
          <p:nvPr/>
        </p:nvSpPr>
        <p:spPr>
          <a:xfrm>
            <a:off x="6181344" y="53309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236207" y="5394960"/>
            <a:ext cx="1243584" cy="41148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Skin
</a:t>
            </a:r>
            <a:r>
              <a:rPr sz="900" b="0" i="0">
                <a:solidFill>
                  <a:srgbClr val="8A969E"/>
                </a:solidFill>
                <a:latin typeface="Arial"/>
              </a:rPr>
              <a:t>1 gene</a:t>
            </a:r>
          </a:p>
        </p:txBody>
      </p:sp>
      <p:sp>
        <p:nvSpPr>
          <p:cNvPr id="108" name="TextBox 107"/>
          <p:cNvSpPr txBox="1"/>
          <p:nvPr/>
        </p:nvSpPr>
        <p:spPr>
          <a:xfrm>
            <a:off x="7525512" y="5394959"/>
            <a:ext cx="658368" cy="384048"/>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109" name="TextBox 108"/>
          <p:cNvSpPr txBox="1"/>
          <p:nvPr/>
        </p:nvSpPr>
        <p:spPr>
          <a:xfrm>
            <a:off x="8211312" y="5394959"/>
            <a:ext cx="713232" cy="384048"/>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10" name="TextBox 109"/>
          <p:cNvSpPr txBox="1"/>
          <p:nvPr/>
        </p:nvSpPr>
        <p:spPr>
          <a:xfrm>
            <a:off x="8961120" y="5394959"/>
            <a:ext cx="2770632" cy="384048"/>
          </a:xfrm>
          <a:prstGeom prst="rect">
            <a:avLst/>
          </a:prstGeom>
          <a:noFill/>
        </p:spPr>
        <p:txBody>
          <a:bodyPr wrap="square" lIns="0" rIns="0" tIns="0" bIns="0" anchor="ctr">
            <a:spAutoFit/>
          </a:bodyPr>
          <a:lstStyle/>
          <a:p>
            <a:pPr>
              <a:spcAft>
                <a:spcPts val="0"/>
              </a:spcAft>
            </a:pPr>
            <a:r>
              <a:rPr sz="900" b="1" i="1">
                <a:solidFill>
                  <a:srgbClr val="2D6496"/>
                </a:solidFill>
                <a:latin typeface="Arial"/>
              </a:rPr>
              <a:t>Plscr1</a:t>
            </a:r>
          </a:p>
        </p:txBody>
      </p:sp>
      <p:sp>
        <p:nvSpPr>
          <p:cNvPr id="111" name="TextBox 1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Separate rows report FLT direction and selection status; gene color independently reports literature interpretation for all 49 associations.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points to lower proliferative renewal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cell-cycle program persisted without material conditioning; two FLT-higher genes extend the hypothesis.</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ectangle 7"/>
          <p:cNvSpPr/>
          <p:nvPr/>
        </p:nvSpPr>
        <p:spPr>
          <a:xfrm>
            <a:off x="8321040" y="1847088"/>
            <a:ext cx="3493008" cy="4178808"/>
          </a:xfrm>
          <a:prstGeom prst="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139696"/>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16</a:t>
            </a:r>
          </a:p>
        </p:txBody>
      </p:sp>
      <p:sp>
        <p:nvSpPr>
          <p:cNvPr id="10" name="TextBox 9"/>
          <p:cNvSpPr txBox="1"/>
          <p:nvPr/>
        </p:nvSpPr>
        <p:spPr>
          <a:xfrm>
            <a:off x="9491472" y="2176272"/>
            <a:ext cx="1938528" cy="566928"/>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synthetic-informed
BH-FDR associations</a:t>
            </a:r>
          </a:p>
        </p:txBody>
      </p:sp>
      <p:sp>
        <p:nvSpPr>
          <p:cNvPr id="11" name="TextBox 10"/>
          <p:cNvSpPr txBox="1"/>
          <p:nvPr/>
        </p:nvSpPr>
        <p:spPr>
          <a:xfrm>
            <a:off x="8631936" y="2862072"/>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13 promoted | 3 reinforced</a:t>
            </a:r>
          </a:p>
        </p:txBody>
      </p:sp>
      <p:sp>
        <p:nvSpPr>
          <p:cNvPr id="12" name="Oval 11"/>
          <p:cNvSpPr/>
          <p:nvPr/>
        </p:nvSpPr>
        <p:spPr>
          <a:xfrm>
            <a:off x="8631936" y="3319272"/>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14815" y="3227832"/>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Lower Nusap1, Stmn1, Birc5, Cdk1, Top2a and related genes</a:t>
            </a:r>
          </a:p>
        </p:txBody>
      </p:sp>
      <p:sp>
        <p:nvSpPr>
          <p:cNvPr id="14" name="Oval 13"/>
          <p:cNvSpPr/>
          <p:nvPr/>
        </p:nvSpPr>
        <p:spPr>
          <a:xfrm>
            <a:off x="8631936" y="3904487"/>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14815" y="3813048"/>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Cell cycle, DNA replication, APC/C and G2/M processes</a:t>
            </a:r>
          </a:p>
        </p:txBody>
      </p:sp>
      <p:sp>
        <p:nvSpPr>
          <p:cNvPr id="16" name="Oval 15"/>
          <p:cNvSpPr/>
          <p:nvPr/>
        </p:nvSpPr>
        <p:spPr>
          <a:xfrm>
            <a:off x="8631936" y="4489703"/>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14815" y="4398264"/>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Higher Hsd17b11 and Etv1 suggest lipid or T-cell-state shifts</a:t>
            </a:r>
          </a:p>
        </p:txBody>
      </p:sp>
      <p:sp>
        <p:nvSpPr>
          <p:cNvPr id="18" name="Oval 17"/>
          <p:cNvSpPr/>
          <p:nvPr/>
        </p:nvSpPr>
        <p:spPr>
          <a:xfrm>
            <a:off x="8631936" y="5074919"/>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14815" y="4983479"/>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Bulk RNA-seq cannot separate cell loss from lower transcription</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Context: Gridley et al. (2013), Horie et al. (2019), Keenan et al. (2025), and Shi et al. (2026).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reinforces a mitochondrial and lipid program</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real-data program is coherent, but its synthetic reinforcement required explicit material conditioning.</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ectangle 7"/>
          <p:cNvSpPr/>
          <p:nvPr/>
        </p:nvSpPr>
        <p:spPr>
          <a:xfrm>
            <a:off x="8805672" y="1865376"/>
            <a:ext cx="2971800" cy="4133087"/>
          </a:xfrm>
          <a:prstGeom prst="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43416" y="2139696"/>
            <a:ext cx="2487168" cy="384048"/>
          </a:xfrm>
          <a:prstGeom prst="rect">
            <a:avLst/>
          </a:prstGeom>
          <a:noFill/>
        </p:spPr>
        <p:txBody>
          <a:bodyPr wrap="square" lIns="18288" rIns="18288" tIns="18288" bIns="18288" anchor="t">
            <a:spAutoFit/>
          </a:bodyPr>
          <a:lstStyle/>
          <a:p>
            <a:pPr algn="ctr">
              <a:spcAft>
                <a:spcPts val="0"/>
              </a:spcAft>
            </a:pPr>
            <a:r>
              <a:rPr sz="2000" b="1" i="0">
                <a:solidFill>
                  <a:srgbClr val="178681"/>
                </a:solidFill>
                <a:latin typeface="Arial"/>
              </a:rPr>
              <a:t>0.925 to 0.963</a:t>
            </a:r>
          </a:p>
        </p:txBody>
      </p:sp>
      <p:sp>
        <p:nvSpPr>
          <p:cNvPr id="10" name="TextBox 9"/>
          <p:cNvSpPr txBox="1"/>
          <p:nvPr/>
        </p:nvSpPr>
        <p:spPr>
          <a:xfrm>
            <a:off x="9125712" y="2542032"/>
            <a:ext cx="2331720" cy="256032"/>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balanced accuracy</a:t>
            </a:r>
          </a:p>
        </p:txBody>
      </p:sp>
      <p:sp>
        <p:nvSpPr>
          <p:cNvPr id="11" name="TextBox 10"/>
          <p:cNvSpPr txBox="1"/>
          <p:nvPr/>
        </p:nvSpPr>
        <p:spPr>
          <a:xfrm>
            <a:off x="9025128" y="2990088"/>
            <a:ext cx="2532888" cy="310896"/>
          </a:xfrm>
          <a:prstGeom prst="rect">
            <a:avLst/>
          </a:prstGeom>
          <a:noFill/>
        </p:spPr>
        <p:txBody>
          <a:bodyPr wrap="square" lIns="18288" rIns="18288" tIns="18288" bIns="18288" anchor="t">
            <a:spAutoFit/>
          </a:bodyPr>
          <a:lstStyle/>
          <a:p>
            <a:pPr algn="ctr">
              <a:spcAft>
                <a:spcPts val="0"/>
              </a:spcAft>
            </a:pPr>
            <a:r>
              <a:rPr sz="1500" b="1" i="0">
                <a:solidFill>
                  <a:srgbClr val="082B55"/>
                </a:solidFill>
                <a:latin typeface="Arial"/>
              </a:rPr>
              <a:t>5 reinforced | 0 promoted</a:t>
            </a:r>
          </a:p>
        </p:txBody>
      </p:sp>
      <p:sp>
        <p:nvSpPr>
          <p:cNvPr id="12" name="Oval 11"/>
          <p:cNvSpPr/>
          <p:nvPr/>
        </p:nvSpPr>
        <p:spPr>
          <a:xfrm>
            <a:off x="9089136" y="3547872"/>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72015" y="3456432"/>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Lower Bdh1, Ech1, Bnip3 and Decr1</a:t>
            </a:r>
          </a:p>
        </p:txBody>
      </p:sp>
      <p:sp>
        <p:nvSpPr>
          <p:cNvPr id="14" name="Oval 13"/>
          <p:cNvSpPr/>
          <p:nvPr/>
        </p:nvSpPr>
        <p:spPr>
          <a:xfrm>
            <a:off x="9089136" y="4078223"/>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72015" y="3986783"/>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Higher Tpm1</a:t>
            </a:r>
          </a:p>
        </p:txBody>
      </p:sp>
      <p:sp>
        <p:nvSpPr>
          <p:cNvPr id="16" name="Oval 15"/>
          <p:cNvSpPr/>
          <p:nvPr/>
        </p:nvSpPr>
        <p:spPr>
          <a:xfrm>
            <a:off x="9089136" y="4608575"/>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72015" y="4517136"/>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Mitochondrial turnover and fatty-acid metabolism</a:t>
            </a:r>
          </a:p>
        </p:txBody>
      </p:sp>
      <p:sp>
        <p:nvSpPr>
          <p:cNvPr id="18" name="Oval 17"/>
          <p:cNvSpPr/>
          <p:nvPr/>
        </p:nvSpPr>
        <p:spPr>
          <a:xfrm>
            <a:off x="9089136" y="5138927"/>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72015" y="5047488"/>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Compatible with unloading and contractile remodeling</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Additional tissues produced distinct hypotheses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shown separately for each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Pooled muscle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Lower: Klhl21, Mapkapk5, Reep5, Itgb5</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Sox4, Cebpd, Sh3bp5, Prkcd, Arid5b, Sesn1, Tle1; lower: Bphl</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Heterogeneous stress, differentiation, interferon and sialic-acid response; interpret with the anatomical muscle groups.</a:t>
            </a:r>
          </a:p>
        </p:txBody>
      </p:sp>
      <p:sp>
        <p:nvSpPr>
          <p:cNvPr id="20" name="Rectangle 19"/>
          <p:cNvSpPr/>
          <p:nvPr/>
        </p:nvSpPr>
        <p:spPr>
          <a:xfrm>
            <a:off x="393192" y="3118104"/>
            <a:ext cx="11375136" cy="80467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063A6"/>
                </a:solidFill>
                <a:latin typeface="Arial"/>
              </a:rPr>
              <a:t>Kidney</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Inpp4b higher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Slc37a4 higher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Renal phosphoinositide signaling and glucose-handling hypothesis; the pair had no shared Reactome enrichment.</a:t>
            </a:r>
          </a:p>
        </p:txBody>
      </p:sp>
      <p:sp>
        <p:nvSpPr>
          <p:cNvPr id="29" name="Rectangle 28"/>
          <p:cNvSpPr/>
          <p:nvPr/>
        </p:nvSpPr>
        <p:spPr>
          <a:xfrm>
            <a:off x="393192" y="4087368"/>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Spleen</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Rai14, Myl9, Ptprk higher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Loxl1 higher</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Adhesion, actomyosin and extracellular-matrix or immune-organization hypothesis; no coherent pathway enrichment.</a:t>
            </a:r>
          </a:p>
        </p:txBody>
      </p:sp>
      <p:sp>
        <p:nvSpPr>
          <p:cNvPr id="38" name="Rectangle 37"/>
          <p:cNvSpPr/>
          <p:nvPr/>
        </p:nvSpPr>
        <p:spPr>
          <a:xfrm>
            <a:off x="393192" y="5056632"/>
            <a:ext cx="11375136" cy="80467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D37B00"/>
                </a:solidFill>
                <a:latin typeface="Arial"/>
              </a:rPr>
              <a:t>Skin</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Plscr1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Interferon-linked skin candidate within broader cell-cycle and DNA-repair responses; a single-gene result.</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All listed effects passed BH FDR in observed OSDR profiles; 'None' means no gene in that selection category.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Eye, adrenal and muscle-group results remain tissue-specific</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separated within every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478A64"/>
                </a:solidFill>
                <a:latin typeface="Arial"/>
              </a:rPr>
              <a:t>Eye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Klhl21 lower</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Process-level alignment with lower proliferation and cytokinesis in flight eye tissue; not an exact prior gene replication.</a:t>
            </a:r>
          </a:p>
        </p:txBody>
      </p:sp>
      <p:sp>
        <p:nvSpPr>
          <p:cNvPr id="20" name="Rectangle 19"/>
          <p:cNvSpPr/>
          <p:nvPr/>
        </p:nvSpPr>
        <p:spPr>
          <a:xfrm>
            <a:off x="393192" y="3118104"/>
            <a:ext cx="11375136" cy="80467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A969E"/>
                </a:solidFill>
                <a:latin typeface="Arial"/>
              </a:rPr>
              <a:t>Adrenal gland</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Psmb8 lower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Tspan4 lower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Literature-unmatched immune, proteostasis or tissue-composition candidates; no adrenal mechanism is established.</a:t>
            </a:r>
          </a:p>
        </p:txBody>
      </p:sp>
      <p:sp>
        <p:nvSpPr>
          <p:cNvPr id="29" name="Rectangle 28"/>
          <p:cNvSpPr/>
          <p:nvPr/>
        </p:nvSpPr>
        <p:spPr>
          <a:xfrm>
            <a:off x="393192" y="4087368"/>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Gastrocnemius</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Nfkbia higher; Fhl2 lower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NF-kappaB stress alignment plus an autophagy or myogenesis candidate; the two genes do not form a coherent pathway.</a:t>
            </a:r>
          </a:p>
        </p:txBody>
      </p:sp>
      <p:sp>
        <p:nvSpPr>
          <p:cNvPr id="38" name="Rectangle 37"/>
          <p:cNvSpPr/>
          <p:nvPr/>
        </p:nvSpPr>
        <p:spPr>
          <a:xfrm>
            <a:off x="393192" y="5056632"/>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Tibialis anterior</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Cebpd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Cdkn1a, St3gal5, Bnip3 higher</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Stress, cell-cycle, ganglioside-signaling and mitophagy candidates with mixed or complementary prior evidence.</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Interpretations follow the independent literature annotations in Table S16; 'None' means no gene in that selection category.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data worked best as a tissue-specific prior</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helped prioritize observed signal. Biological claims still come from OSDR profiles.</a:t>
            </a:r>
          </a:p>
        </p:txBody>
      </p:sp>
      <p:sp>
        <p:nvSpPr>
          <p:cNvPr id="7" name="Rectangle 6"/>
          <p:cNvSpPr/>
          <p:nvPr/>
        </p:nvSpPr>
        <p:spPr>
          <a:xfrm>
            <a:off x="384048" y="1920240"/>
            <a:ext cx="324612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336" y="2130552"/>
            <a:ext cx="621792" cy="365760"/>
          </a:xfrm>
          <a:prstGeom prst="rect">
            <a:avLst/>
          </a:prstGeom>
          <a:noFill/>
        </p:spPr>
        <p:txBody>
          <a:bodyPr wrap="square" lIns="0" rIns="0" tIns="0" bIns="0" anchor="t">
            <a:spAutoFit/>
          </a:bodyPr>
          <a:lstStyle/>
          <a:p>
            <a:pPr algn="l">
              <a:spcAft>
                <a:spcPts val="0"/>
              </a:spcAft>
            </a:pPr>
            <a:r>
              <a:rPr sz="2100" b="1" i="0">
                <a:solidFill>
                  <a:srgbClr val="2D6496"/>
                </a:solidFill>
                <a:latin typeface="Arial"/>
              </a:rPr>
              <a:t>01</a:t>
            </a:r>
          </a:p>
        </p:txBody>
      </p:sp>
      <p:sp>
        <p:nvSpPr>
          <p:cNvPr id="9" name="TextBox 8"/>
          <p:cNvSpPr txBox="1"/>
          <p:nvPr/>
        </p:nvSpPr>
        <p:spPr>
          <a:xfrm>
            <a:off x="1170432"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Generate</a:t>
            </a:r>
          </a:p>
        </p:txBody>
      </p:sp>
      <p:sp>
        <p:nvSpPr>
          <p:cNvPr id="10" name="TextBox 9"/>
          <p:cNvSpPr txBox="1"/>
          <p:nvPr/>
        </p:nvSpPr>
        <p:spPr>
          <a:xfrm>
            <a:off x="411479" y="2852928"/>
            <a:ext cx="2999232" cy="1920240"/>
          </a:xfrm>
          <a:prstGeom prst="rect">
            <a:avLst/>
          </a:prstGeom>
          <a:noFill/>
        </p:spPr>
        <p:txBody>
          <a:bodyPr wrap="square" lIns="0" rIns="0" tIns="0" bIns="0" anchor="t">
            <a:spAutoFit/>
          </a:bodyPr>
          <a:lstStyle/>
          <a:p>
            <a:pPr algn="l">
              <a:spcAft>
                <a:spcPts val="0"/>
              </a:spcAft>
            </a:pPr>
            <a:r>
              <a:rPr sz="1600" b="0" i="0">
                <a:solidFill>
                  <a:srgbClr val="263746"/>
                </a:solidFill>
                <a:latin typeface="Arial"/>
              </a:rPr>
              <a:t>Conditional DDIM produced high-fidelity profiles with near-chance real-versus-synthetic separation.</a:t>
            </a:r>
          </a:p>
        </p:txBody>
      </p:sp>
      <p:sp>
        <p:nvSpPr>
          <p:cNvPr id="11" name="Rectangle 10"/>
          <p:cNvSpPr/>
          <p:nvPr/>
        </p:nvSpPr>
        <p:spPr>
          <a:xfrm>
            <a:off x="3877056" y="1920240"/>
            <a:ext cx="10972" cy="322783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059936" y="1920240"/>
            <a:ext cx="324612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78224" y="2130552"/>
            <a:ext cx="621792" cy="365760"/>
          </a:xfrm>
          <a:prstGeom prst="rect">
            <a:avLst/>
          </a:prstGeom>
          <a:noFill/>
        </p:spPr>
        <p:txBody>
          <a:bodyPr wrap="square" lIns="0" rIns="0" tIns="0" bIns="0" anchor="t">
            <a:spAutoFit/>
          </a:bodyPr>
          <a:lstStyle/>
          <a:p>
            <a:pPr algn="l">
              <a:spcAft>
                <a:spcPts val="0"/>
              </a:spcAft>
            </a:pPr>
            <a:r>
              <a:rPr sz="2100" b="1" i="0">
                <a:solidFill>
                  <a:srgbClr val="178681"/>
                </a:solidFill>
                <a:latin typeface="Arial"/>
              </a:rPr>
              <a:t>02</a:t>
            </a:r>
          </a:p>
        </p:txBody>
      </p:sp>
      <p:sp>
        <p:nvSpPr>
          <p:cNvPr id="14" name="TextBox 13"/>
          <p:cNvSpPr txBox="1"/>
          <p:nvPr/>
        </p:nvSpPr>
        <p:spPr>
          <a:xfrm>
            <a:off x="4846320"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Use</a:t>
            </a:r>
          </a:p>
        </p:txBody>
      </p:sp>
      <p:sp>
        <p:nvSpPr>
          <p:cNvPr id="15" name="TextBox 14"/>
          <p:cNvSpPr txBox="1"/>
          <p:nvPr/>
        </p:nvSpPr>
        <p:spPr>
          <a:xfrm>
            <a:off x="4087368" y="2852928"/>
            <a:ext cx="2999232" cy="1920240"/>
          </a:xfrm>
          <a:prstGeom prst="rect">
            <a:avLst/>
          </a:prstGeom>
          <a:noFill/>
        </p:spPr>
        <p:txBody>
          <a:bodyPr wrap="square" lIns="0" rIns="0" tIns="0" bIns="0" anchor="t">
            <a:spAutoFit/>
          </a:bodyPr>
          <a:lstStyle/>
          <a:p>
            <a:pPr algn="l">
              <a:spcAft>
                <a:spcPts val="0"/>
              </a:spcAft>
            </a:pPr>
            <a:r>
              <a:rPr sz="1600" b="0" i="0">
                <a:solidFill>
                  <a:srgbClr val="263746"/>
                </a:solidFill>
                <a:latin typeface="Arial"/>
              </a:rPr>
              <a:t>Tissue-specific consensus ranking and light synthetic regularization improved held-out prediction in selected tissues.</a:t>
            </a:r>
          </a:p>
        </p:txBody>
      </p:sp>
      <p:sp>
        <p:nvSpPr>
          <p:cNvPr id="16" name="Rectangle 15"/>
          <p:cNvSpPr/>
          <p:nvPr/>
        </p:nvSpPr>
        <p:spPr>
          <a:xfrm>
            <a:off x="7552944" y="1920240"/>
            <a:ext cx="10972" cy="322783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35824" y="1920240"/>
            <a:ext cx="324612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54112" y="2130552"/>
            <a:ext cx="621792" cy="365760"/>
          </a:xfrm>
          <a:prstGeom prst="rect">
            <a:avLst/>
          </a:prstGeom>
          <a:noFill/>
        </p:spPr>
        <p:txBody>
          <a:bodyPr wrap="square" lIns="0" rIns="0" tIns="0" bIns="0" anchor="t">
            <a:spAutoFit/>
          </a:bodyPr>
          <a:lstStyle/>
          <a:p>
            <a:pPr algn="l">
              <a:spcAft>
                <a:spcPts val="0"/>
              </a:spcAft>
            </a:pPr>
            <a:r>
              <a:rPr sz="2100" b="1" i="0">
                <a:solidFill>
                  <a:srgbClr val="D37B00"/>
                </a:solidFill>
                <a:latin typeface="Arial"/>
              </a:rPr>
              <a:t>03</a:t>
            </a:r>
          </a:p>
        </p:txBody>
      </p:sp>
      <p:sp>
        <p:nvSpPr>
          <p:cNvPr id="19" name="TextBox 18"/>
          <p:cNvSpPr txBox="1"/>
          <p:nvPr/>
        </p:nvSpPr>
        <p:spPr>
          <a:xfrm>
            <a:off x="8522208"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Interpret</a:t>
            </a:r>
          </a:p>
        </p:txBody>
      </p:sp>
      <p:sp>
        <p:nvSpPr>
          <p:cNvPr id="20" name="TextBox 19"/>
          <p:cNvSpPr txBox="1"/>
          <p:nvPr/>
        </p:nvSpPr>
        <p:spPr>
          <a:xfrm>
            <a:off x="7763256" y="2852928"/>
            <a:ext cx="2999232" cy="1920240"/>
          </a:xfrm>
          <a:prstGeom prst="rect">
            <a:avLst/>
          </a:prstGeom>
          <a:noFill/>
        </p:spPr>
        <p:txBody>
          <a:bodyPr wrap="square" lIns="0" rIns="0" tIns="0" bIns="0" anchor="t">
            <a:spAutoFit/>
          </a:bodyPr>
          <a:lstStyle/>
          <a:p>
            <a:pPr algn="l">
              <a:spcAft>
                <a:spcPts val="0"/>
              </a:spcAft>
            </a:pPr>
            <a:r>
              <a:rPr sz="1600" b="0" i="0">
                <a:solidFill>
                  <a:srgbClr val="263746"/>
                </a:solidFill>
                <a:latin typeface="Arial"/>
              </a:rPr>
              <a:t>Promoted and reinforced genes supported tissue-specific hypotheses. Literature review separated prior alignment from complementary findings.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