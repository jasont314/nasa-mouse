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Introduce the question. This talk asks whether generated expression can help analyze tissue-specific FLT versus GC biology without counting synthetic profiles as additional animals.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OSDR gives broad tissue coverage, but the data are spread across 75 accessions with different mission and assay contexts. ARCHS4 supplies a much larger mouse reference. The challenge is to use that reference without letting study structure masquerade as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1:15</a:t>
            </a:r>
          </a:p>
          <a:p/>
          <a:p>
            <a:r>
              <a:t>We built one pipeline that can change data source, transformation, feature set, harmonization, model, training scope and conditions without changing the evaluation contract. It supports OSDR-only, ARCHS4-only and ARCHS4-pretrained plus OSDR-adapted runs, with pooled or per-tissue cohorts. We completed WGAN-GP and DDIM generator branches. The selected path used TPM, 974 mouse landmarks, no global correction and a DDIM conditioned on tissue, FLT/GC, accession and material.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Both WGAN-GP and DDIM had high correlation and F1. DDIM had adversarial accuracy near 0.5 and a lower Frechet-distance ratio, so it was harder to separate from real profiles and closer in distribution. The metrics use each model's stated evaluation split, so this is a model-choice summary rather than a paired significance test. These results are why the remaining analyses use DDIM.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Having selected DDIM, read the panels from left to right. The same generated profiles begin as noise, develop structure by timestep 200 and approach tissue-conditioned regions at timestep zero. The axes are shared, so the visual change is not caused by rescaling each panel.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This is PCA, not UMAP. Circles are locked real OSDR profiles and crosses are matched DDIM profiles in the same PCA space. On the left, generated samples track the tissue-defined branches. On the right, FLT and GC remain interspersed because condition effects are smaller than tissue effects. Visual overlap is descriptive and complements the quantitative validation shown earlier.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Synthetic data can be used for direct training, mixed training or feature guidance. Each tissue could choose among five arms. The eligibility check used held-out real profiles. Once features were nominated, FLT/GC effects and BH FDR were computed from observed OSDR samples only.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The simplest pooled augmentation test was negative: balanced accuracy fell from 0.754 to 0.737 with real plus synthetic training. Tissue-specific analysis changed the result. Different tissues benefited from different synthetic uses, which argues against one global augmentation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Reinforced genes were selected with and without synthetic guidance. Promoted genes crossed the stable-selection rule only with synthetic guidance. Promoted does not mean biologically novel. All 49 synthetic-informed tissue-gene associations also had a supporting effect and BH FDR below 0.05 in real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1:05</a:t>
            </a:r>
          </a:p>
          <a:p/>
          <a:p>
            <a:r>
              <a:t>This slide separates four questions. Promoted tells us that synthetic guidance changed stable feature ranking. BH FDR tells us the association is present in real OSDR profiles. The literature label describes whether prior work is exact, related, mixed or unmatched. The biological interpretation remains a hypothesis. Eleven associations aligned, 13 were complementary, one was ambiguous and one was literature unmatched. Only Ccnb2, Ccne2 and Nfkbia were exact gene-tissue-direction matches. Psmb8 was unmatched in adrenal spaceflight literature but remains mechanistically plausible.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This is the complete 49-association inventory. FLT-higher and FLT-lower directions come from the real-data meta-analysis. P marks genes promoted only with synthetic guidance; R marks genes reinforced by both ranking arms. Colors apply the literature interpretation from the prior slide to promoted genes. The largest panels occur in thymus and pooled skeletal muscle, while soleus, spleen and kidney provide smaller focused sets.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1:15</a:t>
            </a:r>
          </a:p>
          <a:p/>
          <a:p>
            <a:r>
              <a:t>Thymus produced the clearest promoted panel. The lower mitotic and DNA-replication genes agree with prior reports of thymic involution and altered cell-cycle expression after flight. Higher Hsd17b11 and Etv1 add lipid-handling and T-cell-state hypotheses, but neither is a direct prior flight replication or an established driver. Because this is bulk RNA-seq, the pattern may reflect transcription, cell composition or both.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1:05</a:t>
            </a:r>
          </a:p>
          <a:p/>
          <a:p>
            <a:r>
              <a:t>Soleus improved with real plus generated training. The selected genes were already stable in real-only analysis, so synthetic data reinforced rather than introduced the panel. Lower Bdh1, Ech1, Bnip3 and Decr1, with higher Tpm1, support altered oxidative metabolism and contractile remodeling.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Kidney supplied the strongest secondary pair: promoted Inpp4b and reinforced Slc37a4. Spleen and skin results are narrower. Adrenal Psmb8 has plausible immunoproteasome biology but no prior adrenal flight match. Lung and retina improved predictively without a synthetic-informed BH-FDR gene, while liver, EDL and quadriceps retained real-only models.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useful role was tissue-specific feature ranking or limited regularization, not increasing biological sample size. Literature annotation then separated exact recovery, process-level agreement and complementary hypotheses. Independent samples and cell-resolved experiments are the next tests.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the mentor, SLSTP, NASA OSDR, ARCHS4, Reactome and NASA Ames compute.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background artifact mask"/>
          <p:cNvSpPr/>
          <p:nvPr/>
        </p:nvSpPr>
        <p:spPr>
          <a:xfrm>
            <a:off x="0" y="4956048"/>
            <a:ext cx="3931920" cy="190195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1700" b="0">
                <a:solidFill>
                  <a:srgbClr val="D8E1EB"/>
                </a:solidFill>
                <a:latin typeface="Arial"/>
              </a:rPr>
              <a:t>Can generated RNA-seq improve FLT vs GC analysis within each tissue?</a:t>
            </a:r>
          </a:p>
          <a:p>
            <a:pPr>
              <a:spcAft>
                <a:spcPts val="200"/>
              </a:spcAft>
            </a:pPr>
            <a:r>
              <a:rPr sz="500" b="0">
                <a:solidFill>
                  <a:srgbClr val="FFFFFF"/>
                </a:solidFill>
                <a:latin typeface="Arial"/>
              </a:rPr>
              <a:t/>
            </a:r>
          </a:p>
          <a:p>
            <a:pPr>
              <a:spcAft>
                <a:spcPts val="200"/>
              </a:spcAft>
            </a:pPr>
            <a:r>
              <a:rPr sz="1800" b="1">
                <a:solidFill>
                  <a:srgbClr val="FFFFFF"/>
                </a:solidFill>
                <a:latin typeface="Arial"/>
              </a:rPr>
              <a:t>Jason Trinh</a:t>
            </a:r>
          </a:p>
          <a:p>
            <a:pPr>
              <a:spcAft>
                <a:spcPts val="200"/>
              </a:spcAft>
            </a:pPr>
            <a:r>
              <a:rPr sz="1200" b="0">
                <a:solidFill>
                  <a:srgbClr val="B9C7D5"/>
                </a:solidFill>
                <a:latin typeface="Arial"/>
              </a:rPr>
              <a:t>EECS | UC Berkeley</a:t>
            </a:r>
          </a:p>
          <a:p>
            <a:pPr>
              <a:spcAft>
                <a:spcPts val="200"/>
              </a:spcAft>
            </a:pPr>
            <a:r>
              <a:rPr sz="1200" b="0">
                <a:solidFill>
                  <a:srgbClr val="B9C7D5"/>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a:xfrm>
            <a:off x="566928" y="2157984"/>
            <a:ext cx="4297680" cy="1417320"/>
          </a:xfrm>
        </p:spPr>
        <p:txBody>
          <a:bodyPr wrap="square" lIns="0" rIns="0" tIns="0" bIns="0" anchor="t"/>
          <a:lstStyle/>
          <a:p>
            <a:pPr>
              <a:lnSpc>
                <a:spcPct val="100000"/>
              </a:lnSpc>
              <a:spcBef>
                <a:spcPts val="0"/>
              </a:spcBef>
              <a:spcAft>
                <a:spcPts val="0"/>
              </a:spcAft>
            </a:pPr>
            <a:r>
              <a:rPr sz="3000" b="1">
                <a:solidFill>
                  <a:srgbClr val="FFFFFF"/>
                </a:solidFill>
                <a:latin typeface="Arial"/>
              </a:rPr>
              <a:t>Synthetic transcriptomics for mouse spaceflight</a:t>
            </a:r>
          </a:p>
        </p:txBody>
      </p:sp>
      <p:sp>
        <p:nvSpPr>
          <p:cNvPr id="5" name="TextBox 4"/>
          <p:cNvSpPr txBox="1"/>
          <p:nvPr/>
        </p:nvSpPr>
        <p:spPr>
          <a:xfrm>
            <a:off x="566928" y="6510528"/>
            <a:ext cx="3017520" cy="201168"/>
          </a:xfrm>
          <a:prstGeom prst="rect">
            <a:avLst/>
          </a:prstGeom>
          <a:noFill/>
        </p:spPr>
        <p:txBody>
          <a:bodyPr wrap="square" lIns="18288" rIns="18288" tIns="18288" bIns="18288" anchor="t">
            <a:spAutoFit/>
          </a:bodyPr>
          <a:lstStyle/>
          <a:p>
            <a:pPr algn="l">
              <a:spcAft>
                <a:spcPts val="0"/>
              </a:spcAft>
            </a:pPr>
            <a:r>
              <a:rPr sz="1050" b="0" i="0">
                <a:solidFill>
                  <a:srgbClr val="B9C7D5"/>
                </a:solidFill>
                <a:latin typeface="Arial"/>
              </a:rPr>
              <a:t>Biological &amp; Physical Sciences</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a:r>
              <a:t>Biological &amp; Physical Sciences</a:t>
            </a:r>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22" name="Rounded Rectangle 21"/>
          <p:cNvSpPr/>
          <p:nvPr/>
        </p:nvSpPr>
        <p:spPr>
          <a:xfrm>
            <a:off x="320040" y="1847088"/>
            <a:ext cx="5532120" cy="2148840"/>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0040" y="1847088"/>
            <a:ext cx="5532120" cy="3657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2112264"/>
            <a:ext cx="2011680" cy="292608"/>
          </a:xfrm>
          <a:prstGeom prst="rect">
            <a:avLst/>
          </a:prstGeom>
          <a:noFill/>
        </p:spPr>
        <p:txBody>
          <a:bodyPr wrap="square" lIns="18288" rIns="18288" tIns="18288" bIns="18288" anchor="t">
            <a:spAutoFit/>
          </a:bodyPr>
          <a:lstStyle/>
          <a:p>
            <a:pPr algn="l">
              <a:spcAft>
                <a:spcPts val="0"/>
              </a:spcAft>
            </a:pPr>
            <a:r>
              <a:rPr sz="1800" b="1" i="0">
                <a:solidFill>
                  <a:srgbClr val="2D6496"/>
                </a:solidFill>
                <a:latin typeface="Arial"/>
              </a:rPr>
              <a:t>NASA OSDR</a:t>
            </a:r>
          </a:p>
        </p:txBody>
      </p:sp>
      <p:sp>
        <p:nvSpPr>
          <p:cNvPr id="25" name="TextBox 24"/>
          <p:cNvSpPr txBox="1"/>
          <p:nvPr/>
        </p:nvSpPr>
        <p:spPr>
          <a:xfrm>
            <a:off x="566928" y="2450592"/>
            <a:ext cx="2057400" cy="658368"/>
          </a:xfrm>
          <a:prstGeom prst="rect">
            <a:avLst/>
          </a:prstGeom>
          <a:noFill/>
        </p:spPr>
        <p:txBody>
          <a:bodyPr wrap="square" lIns="18288" rIns="18288" tIns="18288" bIns="18288" anchor="t">
            <a:spAutoFit/>
          </a:bodyPr>
          <a:lstStyle/>
          <a:p>
            <a:pPr algn="l">
              <a:spcAft>
                <a:spcPts val="0"/>
              </a:spcAft>
            </a:pPr>
            <a:r>
              <a:rPr sz="3600" b="1" i="0">
                <a:solidFill>
                  <a:srgbClr val="082B55"/>
                </a:solidFill>
                <a:latin typeface="Arial"/>
              </a:rPr>
              <a:t>1,610</a:t>
            </a:r>
          </a:p>
        </p:txBody>
      </p:sp>
      <p:sp>
        <p:nvSpPr>
          <p:cNvPr id="26" name="TextBox 25"/>
          <p:cNvSpPr txBox="1"/>
          <p:nvPr/>
        </p:nvSpPr>
        <p:spPr>
          <a:xfrm>
            <a:off x="603504" y="3035808"/>
            <a:ext cx="2103120" cy="256032"/>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biological profiles</a:t>
            </a:r>
          </a:p>
        </p:txBody>
      </p:sp>
      <p:sp>
        <p:nvSpPr>
          <p:cNvPr id="27" name="TextBox 26"/>
          <p:cNvSpPr txBox="1"/>
          <p:nvPr/>
        </p:nvSpPr>
        <p:spPr>
          <a:xfrm>
            <a:off x="2816352" y="2468880"/>
            <a:ext cx="1188720" cy="502920"/>
          </a:xfrm>
          <a:prstGeom prst="rect">
            <a:avLst/>
          </a:prstGeom>
          <a:noFill/>
        </p:spPr>
        <p:txBody>
          <a:bodyPr wrap="square" lIns="18288" rIns="18288" tIns="18288" bIns="18288" anchor="t">
            <a:spAutoFit/>
          </a:bodyPr>
          <a:lstStyle/>
          <a:p>
            <a:pPr algn="l">
              <a:spcAft>
                <a:spcPts val="0"/>
              </a:spcAft>
            </a:pPr>
            <a:r>
              <a:rPr sz="3000" b="1" i="0">
                <a:solidFill>
                  <a:srgbClr val="082B55"/>
                </a:solidFill>
                <a:latin typeface="Arial"/>
              </a:rPr>
              <a:t>75</a:t>
            </a:r>
          </a:p>
        </p:txBody>
      </p:sp>
      <p:sp>
        <p:nvSpPr>
          <p:cNvPr id="28" name="TextBox 27"/>
          <p:cNvSpPr txBox="1"/>
          <p:nvPr/>
        </p:nvSpPr>
        <p:spPr>
          <a:xfrm>
            <a:off x="2834640" y="2980944"/>
            <a:ext cx="1371600" cy="246888"/>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accessions</a:t>
            </a:r>
          </a:p>
        </p:txBody>
      </p:sp>
      <p:sp>
        <p:nvSpPr>
          <p:cNvPr id="29" name="TextBox 28"/>
          <p:cNvSpPr txBox="1"/>
          <p:nvPr/>
        </p:nvSpPr>
        <p:spPr>
          <a:xfrm>
            <a:off x="4224528" y="2496312"/>
            <a:ext cx="1234440" cy="347472"/>
          </a:xfrm>
          <a:prstGeom prst="rect">
            <a:avLst/>
          </a:prstGeom>
          <a:noFill/>
        </p:spPr>
        <p:txBody>
          <a:bodyPr wrap="square" lIns="18288" rIns="18288" tIns="18288" bIns="18288" anchor="t">
            <a:spAutoFit/>
          </a:bodyPr>
          <a:lstStyle/>
          <a:p>
            <a:pPr algn="l">
              <a:spcAft>
                <a:spcPts val="0"/>
              </a:spcAft>
            </a:pPr>
            <a:r>
              <a:rPr sz="2000" b="1" i="0">
                <a:solidFill>
                  <a:srgbClr val="D96552"/>
                </a:solidFill>
                <a:latin typeface="Arial"/>
              </a:rPr>
              <a:t>835 FLT</a:t>
            </a:r>
          </a:p>
        </p:txBody>
      </p:sp>
      <p:sp>
        <p:nvSpPr>
          <p:cNvPr id="30" name="TextBox 29"/>
          <p:cNvSpPr txBox="1"/>
          <p:nvPr/>
        </p:nvSpPr>
        <p:spPr>
          <a:xfrm>
            <a:off x="4224528" y="2944368"/>
            <a:ext cx="1234440" cy="347472"/>
          </a:xfrm>
          <a:prstGeom prst="rect">
            <a:avLst/>
          </a:prstGeom>
          <a:noFill/>
        </p:spPr>
        <p:txBody>
          <a:bodyPr wrap="square" lIns="18288" rIns="18288" tIns="18288" bIns="18288" anchor="t">
            <a:spAutoFit/>
          </a:bodyPr>
          <a:lstStyle/>
          <a:p>
            <a:pPr algn="l">
              <a:spcAft>
                <a:spcPts val="0"/>
              </a:spcAft>
            </a:pPr>
            <a:r>
              <a:rPr sz="2000" b="1" i="0">
                <a:solidFill>
                  <a:srgbClr val="2D6496"/>
                </a:solidFill>
                <a:latin typeface="Arial"/>
              </a:rPr>
              <a:t>775 GC</a:t>
            </a:r>
          </a:p>
        </p:txBody>
      </p:sp>
      <p:sp>
        <p:nvSpPr>
          <p:cNvPr id="31" name="Rounded Rectangle 30"/>
          <p:cNvSpPr/>
          <p:nvPr/>
        </p:nvSpPr>
        <p:spPr>
          <a:xfrm>
            <a:off x="6144768" y="1847088"/>
            <a:ext cx="5715000" cy="2148840"/>
          </a:xfrm>
          <a:prstGeom prst="round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44768" y="1847088"/>
            <a:ext cx="5715000" cy="3657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9088" y="2112264"/>
            <a:ext cx="2286000" cy="292608"/>
          </a:xfrm>
          <a:prstGeom prst="rect">
            <a:avLst/>
          </a:prstGeom>
          <a:noFill/>
        </p:spPr>
        <p:txBody>
          <a:bodyPr wrap="square" lIns="18288" rIns="18288" tIns="18288" bIns="18288" anchor="t">
            <a:spAutoFit/>
          </a:bodyPr>
          <a:lstStyle/>
          <a:p>
            <a:pPr algn="l">
              <a:spcAft>
                <a:spcPts val="0"/>
              </a:spcAft>
            </a:pPr>
            <a:r>
              <a:rPr sz="1800" b="1" i="0">
                <a:solidFill>
                  <a:srgbClr val="178681"/>
                </a:solidFill>
                <a:latin typeface="Arial"/>
              </a:rPr>
              <a:t>ARCHS4 mouse</a:t>
            </a:r>
          </a:p>
        </p:txBody>
      </p:sp>
      <p:sp>
        <p:nvSpPr>
          <p:cNvPr id="34" name="TextBox 33"/>
          <p:cNvSpPr txBox="1"/>
          <p:nvPr/>
        </p:nvSpPr>
        <p:spPr>
          <a:xfrm>
            <a:off x="6400800" y="2450592"/>
            <a:ext cx="2240280" cy="658368"/>
          </a:xfrm>
          <a:prstGeom prst="rect">
            <a:avLst/>
          </a:prstGeom>
          <a:noFill/>
        </p:spPr>
        <p:txBody>
          <a:bodyPr wrap="square" lIns="18288" rIns="18288" tIns="18288" bIns="18288" anchor="t">
            <a:spAutoFit/>
          </a:bodyPr>
          <a:lstStyle/>
          <a:p>
            <a:pPr algn="l">
              <a:spcAft>
                <a:spcPts val="0"/>
              </a:spcAft>
            </a:pPr>
            <a:r>
              <a:rPr sz="3400" b="1" i="0">
                <a:solidFill>
                  <a:srgbClr val="082B55"/>
                </a:solidFill>
                <a:latin typeface="Arial"/>
              </a:rPr>
              <a:t>997,515</a:t>
            </a:r>
          </a:p>
        </p:txBody>
      </p:sp>
      <p:sp>
        <p:nvSpPr>
          <p:cNvPr id="35" name="TextBox 34"/>
          <p:cNvSpPr txBox="1"/>
          <p:nvPr/>
        </p:nvSpPr>
        <p:spPr>
          <a:xfrm>
            <a:off x="6428232" y="3035808"/>
            <a:ext cx="2011680" cy="256032"/>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profiles audited</a:t>
            </a:r>
          </a:p>
        </p:txBody>
      </p:sp>
      <p:sp>
        <p:nvSpPr>
          <p:cNvPr id="36" name="TextBox 35"/>
          <p:cNvSpPr txBox="1"/>
          <p:nvPr/>
        </p:nvSpPr>
        <p:spPr>
          <a:xfrm>
            <a:off x="8686800" y="2468880"/>
            <a:ext cx="1783080" cy="502920"/>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37" name="TextBox 36"/>
          <p:cNvSpPr txBox="1"/>
          <p:nvPr/>
        </p:nvSpPr>
        <p:spPr>
          <a:xfrm>
            <a:off x="8714232" y="2980944"/>
            <a:ext cx="1143000" cy="246888"/>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selected</a:t>
            </a:r>
          </a:p>
        </p:txBody>
      </p:sp>
      <p:sp>
        <p:nvSpPr>
          <p:cNvPr id="38" name="TextBox 37"/>
          <p:cNvSpPr txBox="1"/>
          <p:nvPr/>
        </p:nvSpPr>
        <p:spPr>
          <a:xfrm>
            <a:off x="10287000" y="2514600"/>
            <a:ext cx="1325880" cy="347472"/>
          </a:xfrm>
          <a:prstGeom prst="rect">
            <a:avLst/>
          </a:prstGeom>
          <a:noFill/>
        </p:spPr>
        <p:txBody>
          <a:bodyPr wrap="square" lIns="18288" rIns="18288" tIns="18288" bIns="18288" anchor="t">
            <a:spAutoFit/>
          </a:bodyPr>
          <a:lstStyle/>
          <a:p>
            <a:pPr algn="l">
              <a:spcAft>
                <a:spcPts val="0"/>
              </a:spcAft>
            </a:pPr>
            <a:r>
              <a:rPr sz="1900" b="1" i="0">
                <a:solidFill>
                  <a:srgbClr val="178681"/>
                </a:solidFill>
                <a:latin typeface="Arial"/>
              </a:rPr>
              <a:t>20 tissues</a:t>
            </a:r>
          </a:p>
        </p:txBody>
      </p:sp>
      <p:sp>
        <p:nvSpPr>
          <p:cNvPr id="39" name="Rounded Rectangle 38"/>
          <p:cNvSpPr/>
          <p:nvPr/>
        </p:nvSpPr>
        <p:spPr>
          <a:xfrm>
            <a:off x="320040" y="4270248"/>
            <a:ext cx="11539728" cy="1600200"/>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85800" y="462686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0392" y="451713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Mission, strain, material and assay differences can resemble a flight effect.</a:t>
            </a:r>
          </a:p>
        </p:txBody>
      </p:sp>
      <p:sp>
        <p:nvSpPr>
          <p:cNvPr id="42" name="Oval 41"/>
          <p:cNvSpPr/>
          <p:nvPr/>
        </p:nvSpPr>
        <p:spPr>
          <a:xfrm>
            <a:off x="685800" y="503834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50392" y="492861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The generator must preserve tissue and FLT/GC structure without memorizing samples.</a:t>
            </a:r>
          </a:p>
        </p:txBody>
      </p:sp>
      <p:sp>
        <p:nvSpPr>
          <p:cNvPr id="44" name="Oval 43"/>
          <p:cNvSpPr/>
          <p:nvPr/>
        </p:nvSpPr>
        <p:spPr>
          <a:xfrm>
            <a:off x="685800" y="544982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0392" y="534009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Statistical evidence must still come from observed OSDR profiles.</a:t>
            </a:r>
          </a:p>
        </p:txBody>
      </p:sp>
      <p:sp>
        <p:nvSpPr>
          <p:cNvPr id="46" name="TextBox 4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Data scope, transforms, harmonization, training and conditioning can change without changing the evaluation contract.</a:t>
            </a:r>
          </a:p>
        </p:txBody>
      </p:sp>
      <p:sp>
        <p:nvSpPr>
          <p:cNvPr id="7" name="Rounded Rectangle 6"/>
          <p:cNvSpPr/>
          <p:nvPr/>
        </p:nvSpPr>
        <p:spPr>
          <a:xfrm>
            <a:off x="320040" y="1901952"/>
            <a:ext cx="2148840" cy="235915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20040" y="1901952"/>
            <a:ext cx="2148840" cy="3657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463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2D6496"/>
                </a:solidFill>
                <a:latin typeface="Arial"/>
              </a:rPr>
              <a:t>Data + scope</a:t>
            </a:r>
          </a:p>
        </p:txBody>
      </p:sp>
      <p:sp>
        <p:nvSpPr>
          <p:cNvPr id="10" name="TextBox 9"/>
          <p:cNvSpPr txBox="1"/>
          <p:nvPr/>
        </p:nvSpPr>
        <p:spPr>
          <a:xfrm>
            <a:off x="48463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OSDR API or ARCHS4
one or many studies
pooled or per tissue</a:t>
            </a:r>
          </a:p>
        </p:txBody>
      </p:sp>
      <p:sp>
        <p:nvSpPr>
          <p:cNvPr id="11" name="Rounded Rectangle 10"/>
          <p:cNvSpPr/>
          <p:nvPr/>
        </p:nvSpPr>
        <p:spPr>
          <a:xfrm>
            <a:off x="2651760" y="1901952"/>
            <a:ext cx="2148840" cy="235915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651760" y="1901952"/>
            <a:ext cx="2148840" cy="3657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1635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178681"/>
                </a:solidFill>
                <a:latin typeface="Arial"/>
              </a:rPr>
              <a:t>Transform</a:t>
            </a:r>
          </a:p>
        </p:txBody>
      </p:sp>
      <p:sp>
        <p:nvSpPr>
          <p:cNvPr id="14" name="TextBox 13"/>
          <p:cNvSpPr txBox="1"/>
          <p:nvPr/>
        </p:nvSpPr>
        <p:spPr>
          <a:xfrm>
            <a:off x="281635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raw / CPM / TPM
log + scaling
all genes / HVG / L1000</a:t>
            </a:r>
          </a:p>
        </p:txBody>
      </p:sp>
      <p:sp>
        <p:nvSpPr>
          <p:cNvPr id="15" name="Rounded Rectangle 14"/>
          <p:cNvSpPr/>
          <p:nvPr/>
        </p:nvSpPr>
        <p:spPr>
          <a:xfrm>
            <a:off x="4983480" y="1901952"/>
            <a:ext cx="2148840" cy="2359152"/>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983480" y="1901952"/>
            <a:ext cx="2148840" cy="36576"/>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4807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8063A6"/>
                </a:solidFill>
                <a:latin typeface="Arial"/>
              </a:rPr>
              <a:t>Harmonize</a:t>
            </a:r>
          </a:p>
        </p:txBody>
      </p:sp>
      <p:sp>
        <p:nvSpPr>
          <p:cNvPr id="18" name="TextBox 17"/>
          <p:cNvSpPr txBox="1"/>
          <p:nvPr/>
        </p:nvSpPr>
        <p:spPr>
          <a:xfrm>
            <a:off x="514807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none or study z
ComBat / MBatch
MOBER adapter</a:t>
            </a:r>
          </a:p>
        </p:txBody>
      </p:sp>
      <p:sp>
        <p:nvSpPr>
          <p:cNvPr id="19" name="Rounded Rectangle 18"/>
          <p:cNvSpPr/>
          <p:nvPr/>
        </p:nvSpPr>
        <p:spPr>
          <a:xfrm>
            <a:off x="7315200" y="1901952"/>
            <a:ext cx="2148840" cy="2359152"/>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901952"/>
            <a:ext cx="2148840" cy="3657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7979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D37B00"/>
                </a:solidFill>
                <a:latin typeface="Arial"/>
              </a:rPr>
              <a:t>Model + train</a:t>
            </a:r>
          </a:p>
        </p:txBody>
      </p:sp>
      <p:sp>
        <p:nvSpPr>
          <p:cNvPr id="22" name="TextBox 21"/>
          <p:cNvSpPr txBox="1"/>
          <p:nvPr/>
        </p:nvSpPr>
        <p:spPr>
          <a:xfrm>
            <a:off x="747979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WGAN-GP or DDIM
OSDR or ARCHS4
pretrain + adapt</a:t>
            </a:r>
          </a:p>
        </p:txBody>
      </p:sp>
      <p:sp>
        <p:nvSpPr>
          <p:cNvPr id="23" name="Rounded Rectangle 22"/>
          <p:cNvSpPr/>
          <p:nvPr/>
        </p:nvSpPr>
        <p:spPr>
          <a:xfrm>
            <a:off x="9646920" y="1901952"/>
            <a:ext cx="2148840" cy="2359152"/>
          </a:xfrm>
          <a:prstGeom prst="roundRect">
            <a:avLst/>
          </a:prstGeom>
          <a:solidFill>
            <a:srgbClr val="ECF4ED"/>
          </a:solidFill>
          <a:ln w="1016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646920" y="1901952"/>
            <a:ext cx="2148840" cy="36576"/>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1151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478A64"/>
                </a:solidFill>
                <a:latin typeface="Arial"/>
              </a:rPr>
              <a:t>Condition</a:t>
            </a:r>
          </a:p>
        </p:txBody>
      </p:sp>
      <p:sp>
        <p:nvSpPr>
          <p:cNvPr id="26" name="TextBox 25"/>
          <p:cNvSpPr txBox="1"/>
          <p:nvPr/>
        </p:nvSpPr>
        <p:spPr>
          <a:xfrm>
            <a:off x="981151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FLT/GC + tissue
study + material
available covariates</a:t>
            </a:r>
          </a:p>
        </p:txBody>
      </p:sp>
      <p:sp>
        <p:nvSpPr>
          <p:cNvPr id="27" name="Rounded Rectangle 26"/>
          <p:cNvSpPr/>
          <p:nvPr/>
        </p:nvSpPr>
        <p:spPr>
          <a:xfrm>
            <a:off x="320040" y="4526280"/>
            <a:ext cx="11475720" cy="1170432"/>
          </a:xfrm>
          <a:prstGeom prst="roundRect">
            <a:avLst/>
          </a:prstGeom>
          <a:solidFill>
            <a:srgbClr val="F7F9FA"/>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3504" y="4736592"/>
            <a:ext cx="1508760" cy="256032"/>
          </a:xfrm>
          <a:prstGeom prst="rect">
            <a:avLst/>
          </a:prstGeom>
          <a:noFill/>
        </p:spPr>
        <p:txBody>
          <a:bodyPr wrap="square" lIns="18288" rIns="18288" tIns="18288" bIns="18288" anchor="t">
            <a:spAutoFit/>
          </a:bodyPr>
          <a:lstStyle/>
          <a:p>
            <a:pPr algn="l">
              <a:spcAft>
                <a:spcPts val="0"/>
              </a:spcAft>
            </a:pPr>
            <a:r>
              <a:rPr sz="1300" b="1" i="0">
                <a:solidFill>
                  <a:srgbClr val="9A6B20"/>
                </a:solidFill>
                <a:latin typeface="Arial"/>
              </a:rPr>
              <a:t>Selected branch</a:t>
            </a:r>
          </a:p>
        </p:txBody>
      </p:sp>
      <p:sp>
        <p:nvSpPr>
          <p:cNvPr id="29" name="TextBox 28"/>
          <p:cNvSpPr txBox="1"/>
          <p:nvPr/>
        </p:nvSpPr>
        <p:spPr>
          <a:xfrm>
            <a:off x="2057400" y="4681728"/>
            <a:ext cx="9281160" cy="502920"/>
          </a:xfrm>
          <a:prstGeom prst="rect">
            <a:avLst/>
          </a:prstGeom>
          <a:noFill/>
        </p:spPr>
        <p:txBody>
          <a:bodyPr wrap="square" lIns="18288" rIns="18288" tIns="18288" bIns="18288" anchor="t">
            <a:spAutoFit/>
          </a:bodyPr>
          <a:lstStyle/>
          <a:p>
            <a:pPr>
              <a:spcAft>
                <a:spcPts val="0"/>
              </a:spcAft>
            </a:pPr>
            <a:r>
              <a:rPr sz="1460" b="1" i="0">
                <a:solidFill>
                  <a:srgbClr val="082B55"/>
                </a:solidFill>
                <a:latin typeface="Arial"/>
              </a:rPr>
              <a:t>TPM / MaxAbs -&gt; ARCHS4 DDIM -&gt; OSDR adaptation. </a:t>
            </a:r>
            <a:r>
              <a:rPr sz="1460" b="0" i="0">
                <a:solidFill>
                  <a:srgbClr val="263746"/>
                </a:solidFill>
                <a:latin typeface="Arial"/>
              </a:rPr>
              <a:t>Conditions: tissue, FLT/GC, accession and material; no global batch correction.</a:t>
            </a:r>
          </a:p>
        </p:txBody>
      </p:sp>
      <p:sp>
        <p:nvSpPr>
          <p:cNvPr id="30" name="TextBox 29"/>
          <p:cNvSpPr txBox="1"/>
          <p:nvPr/>
        </p:nvSpPr>
        <p:spPr>
          <a:xfrm>
            <a:off x="2057400" y="5212080"/>
            <a:ext cx="9281160" cy="301752"/>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 463-row experiment plan and nine matched liver harmonization arms were screened before full training.</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Generator sources: Vinas et al., Bioinformatics (2022); Lacan et al., BMC Bioinformatics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matched expression and reduced separability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AA closer to 0.5 means a classifier has less success separating real and generated profiles; lower FD is better.</a:t>
            </a:r>
          </a:p>
        </p:txBody>
      </p:sp>
      <p:sp>
        <p:nvSpPr>
          <p:cNvPr id="7" name="Rounded Rectangle 6"/>
          <p:cNvSpPr/>
          <p:nvPr/>
        </p:nvSpPr>
        <p:spPr>
          <a:xfrm>
            <a:off x="347472" y="1847088"/>
            <a:ext cx="3703320" cy="3401568"/>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103120"/>
            <a:ext cx="3154680" cy="32004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ARCHS4 tissue probe</a:t>
            </a:r>
          </a:p>
        </p:txBody>
      </p:sp>
      <p:sp>
        <p:nvSpPr>
          <p:cNvPr id="9" name="TextBox 8"/>
          <p:cNvSpPr txBox="1"/>
          <p:nvPr/>
        </p:nvSpPr>
        <p:spPr>
          <a:xfrm>
            <a:off x="621792" y="2487168"/>
            <a:ext cx="3063240" cy="27432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Balanced accuracy on held-out real profiles</a:t>
            </a:r>
          </a:p>
        </p:txBody>
      </p:sp>
      <p:sp>
        <p:nvSpPr>
          <p:cNvPr id="10" name="Rectangle 9"/>
          <p:cNvSpPr/>
          <p:nvPr/>
        </p:nvSpPr>
        <p:spPr>
          <a:xfrm>
            <a:off x="950976" y="3436845"/>
            <a:ext cx="786384" cy="1299746"/>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 y="3107661"/>
            <a:ext cx="868680" cy="274320"/>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0.781</a:t>
            </a:r>
          </a:p>
        </p:txBody>
      </p:sp>
      <p:sp>
        <p:nvSpPr>
          <p:cNvPr id="12" name="TextBox 11"/>
          <p:cNvSpPr txBox="1"/>
          <p:nvPr/>
        </p:nvSpPr>
        <p:spPr>
          <a:xfrm>
            <a:off x="676656" y="4809744"/>
            <a:ext cx="1325880" cy="365760"/>
          </a:xfrm>
          <a:prstGeom prst="rect">
            <a:avLst/>
          </a:prstGeom>
          <a:noFill/>
        </p:spPr>
        <p:txBody>
          <a:bodyPr wrap="square" lIns="18288" rIns="18288" tIns="18288" bIns="18288" anchor="t">
            <a:spAutoFit/>
          </a:bodyPr>
          <a:lstStyle/>
          <a:p>
            <a:pPr algn="ctr">
              <a:spcAft>
                <a:spcPts val="0"/>
              </a:spcAft>
            </a:pPr>
            <a:r>
              <a:rPr sz="1250" b="0" i="0">
                <a:solidFill>
                  <a:srgbClr val="263746"/>
                </a:solidFill>
                <a:latin typeface="Arial"/>
              </a:rPr>
              <a:t>Real-trained</a:t>
            </a:r>
          </a:p>
        </p:txBody>
      </p:sp>
      <p:sp>
        <p:nvSpPr>
          <p:cNvPr id="13" name="Rectangle 12"/>
          <p:cNvSpPr/>
          <p:nvPr/>
        </p:nvSpPr>
        <p:spPr>
          <a:xfrm>
            <a:off x="2523744" y="3436845"/>
            <a:ext cx="786384" cy="129974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96312" y="3107661"/>
            <a:ext cx="868680" cy="274320"/>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0.781</a:t>
            </a:r>
          </a:p>
        </p:txBody>
      </p:sp>
      <p:sp>
        <p:nvSpPr>
          <p:cNvPr id="15" name="TextBox 14"/>
          <p:cNvSpPr txBox="1"/>
          <p:nvPr/>
        </p:nvSpPr>
        <p:spPr>
          <a:xfrm>
            <a:off x="2249424" y="4809744"/>
            <a:ext cx="1325880" cy="365760"/>
          </a:xfrm>
          <a:prstGeom prst="rect">
            <a:avLst/>
          </a:prstGeom>
          <a:noFill/>
        </p:spPr>
        <p:txBody>
          <a:bodyPr wrap="square" lIns="18288" rIns="18288" tIns="18288" bIns="18288" anchor="t">
            <a:spAutoFit/>
          </a:bodyPr>
          <a:lstStyle/>
          <a:p>
            <a:pPr algn="ctr">
              <a:spcAft>
                <a:spcPts val="0"/>
              </a:spcAft>
            </a:pPr>
            <a:r>
              <a:rPr sz="1250" b="0" i="0">
                <a:solidFill>
                  <a:srgbClr val="263746"/>
                </a:solidFill>
                <a:latin typeface="Arial"/>
              </a:rPr>
              <a:t>Synthetic-trained</a:t>
            </a:r>
          </a:p>
        </p:txBody>
      </p:sp>
      <p:sp>
        <p:nvSpPr>
          <p:cNvPr id="16" name="Rectangle 15"/>
          <p:cNvSpPr/>
          <p:nvPr/>
        </p:nvSpPr>
        <p:spPr>
          <a:xfrm>
            <a:off x="749808" y="4736592"/>
            <a:ext cx="2880360" cy="13716"/>
          </a:xfrm>
          <a:prstGeom prst="rect">
            <a:avLst/>
          </a:prstGeom>
          <a:solidFill>
            <a:srgbClr val="A9B5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315968" y="1847088"/>
            <a:ext cx="7525512" cy="3401568"/>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9432" y="2075688"/>
            <a:ext cx="1417320" cy="256032"/>
          </a:xfrm>
          <a:prstGeom prst="rect">
            <a:avLst/>
          </a:prstGeom>
          <a:noFill/>
        </p:spPr>
        <p:txBody>
          <a:bodyPr wrap="square" lIns="18288" rIns="18288" tIns="18288" bIns="18288" anchor="t">
            <a:spAutoFit/>
          </a:bodyPr>
          <a:lstStyle/>
          <a:p>
            <a:pPr algn="l">
              <a:spcAft>
                <a:spcPts val="0"/>
              </a:spcAft>
            </a:pPr>
            <a:r>
              <a:rPr sz="1250" b="1" i="0">
                <a:solidFill>
                  <a:srgbClr val="59697A"/>
                </a:solidFill>
                <a:latin typeface="Arial"/>
              </a:rPr>
              <a:t>Metric</a:t>
            </a:r>
          </a:p>
        </p:txBody>
      </p:sp>
      <p:sp>
        <p:nvSpPr>
          <p:cNvPr id="19" name="TextBox 18"/>
          <p:cNvSpPr txBox="1"/>
          <p:nvPr/>
        </p:nvSpPr>
        <p:spPr>
          <a:xfrm>
            <a:off x="6537960" y="2075688"/>
            <a:ext cx="1234440" cy="256032"/>
          </a:xfrm>
          <a:prstGeom prst="rect">
            <a:avLst/>
          </a:prstGeom>
          <a:noFill/>
        </p:spPr>
        <p:txBody>
          <a:bodyPr wrap="square" lIns="18288" rIns="18288" tIns="18288" bIns="18288" anchor="t">
            <a:spAutoFit/>
          </a:bodyPr>
          <a:lstStyle/>
          <a:p>
            <a:pPr algn="ctr">
              <a:spcAft>
                <a:spcPts val="0"/>
              </a:spcAft>
            </a:pPr>
            <a:r>
              <a:rPr sz="1250" b="1" i="0">
                <a:solidFill>
                  <a:srgbClr val="D96552"/>
                </a:solidFill>
                <a:latin typeface="Arial"/>
              </a:rPr>
              <a:t>WGAN-GP</a:t>
            </a:r>
          </a:p>
        </p:txBody>
      </p:sp>
      <p:sp>
        <p:nvSpPr>
          <p:cNvPr id="20" name="TextBox 19"/>
          <p:cNvSpPr txBox="1"/>
          <p:nvPr/>
        </p:nvSpPr>
        <p:spPr>
          <a:xfrm>
            <a:off x="8257031" y="2075688"/>
            <a:ext cx="1234440" cy="256032"/>
          </a:xfrm>
          <a:prstGeom prst="rect">
            <a:avLst/>
          </a:prstGeom>
          <a:noFill/>
        </p:spPr>
        <p:txBody>
          <a:bodyPr wrap="square" lIns="18288" rIns="18288" tIns="18288" bIns="18288" anchor="t">
            <a:spAutoFit/>
          </a:bodyPr>
          <a:lstStyle/>
          <a:p>
            <a:pPr algn="ctr">
              <a:spcAft>
                <a:spcPts val="0"/>
              </a:spcAft>
            </a:pPr>
            <a:r>
              <a:rPr sz="1250" b="1" i="0">
                <a:solidFill>
                  <a:srgbClr val="178681"/>
                </a:solidFill>
                <a:latin typeface="Arial"/>
              </a:rPr>
              <a:t>DDIM</a:t>
            </a:r>
          </a:p>
        </p:txBody>
      </p:sp>
      <p:sp>
        <p:nvSpPr>
          <p:cNvPr id="21" name="TextBox 20"/>
          <p:cNvSpPr txBox="1"/>
          <p:nvPr/>
        </p:nvSpPr>
        <p:spPr>
          <a:xfrm>
            <a:off x="9802368" y="2075688"/>
            <a:ext cx="1627632" cy="256032"/>
          </a:xfrm>
          <a:prstGeom prst="rect">
            <a:avLst/>
          </a:prstGeom>
          <a:noFill/>
        </p:spPr>
        <p:txBody>
          <a:bodyPr wrap="square" lIns="18288" rIns="18288" tIns="18288" bIns="18288" anchor="t">
            <a:spAutoFit/>
          </a:bodyPr>
          <a:lstStyle/>
          <a:p>
            <a:pPr algn="l">
              <a:spcAft>
                <a:spcPts val="0"/>
              </a:spcAft>
            </a:pPr>
            <a:r>
              <a:rPr sz="1250" b="1" i="0">
                <a:solidFill>
                  <a:srgbClr val="59697A"/>
                </a:solidFill>
                <a:latin typeface="Arial"/>
              </a:rPr>
              <a:t>Reading</a:t>
            </a:r>
          </a:p>
        </p:txBody>
      </p:sp>
      <p:sp>
        <p:nvSpPr>
          <p:cNvPr id="22" name="Rectangle 21"/>
          <p:cNvSpPr/>
          <p:nvPr/>
        </p:nvSpPr>
        <p:spPr>
          <a:xfrm>
            <a:off x="4517136" y="2478024"/>
            <a:ext cx="7059168" cy="48463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99432" y="2542032"/>
            <a:ext cx="1783080" cy="310896"/>
          </a:xfrm>
          <a:prstGeom prst="rect">
            <a:avLst/>
          </a:prstGeom>
          <a:noFill/>
        </p:spPr>
        <p:txBody>
          <a:bodyPr wrap="square" lIns="18288" rIns="18288" tIns="18288" bIns="18288" anchor="t">
            <a:spAutoFit/>
          </a:bodyPr>
          <a:lstStyle/>
          <a:p>
            <a:pPr algn="l">
              <a:spcAft>
                <a:spcPts val="0"/>
              </a:spcAft>
            </a:pPr>
            <a:r>
              <a:rPr sz="1400" b="0" i="0">
                <a:solidFill>
                  <a:srgbClr val="263746"/>
                </a:solidFill>
                <a:latin typeface="Arial"/>
              </a:rPr>
              <a:t>Correlation</a:t>
            </a:r>
          </a:p>
        </p:txBody>
      </p:sp>
      <p:sp>
        <p:nvSpPr>
          <p:cNvPr id="24" name="TextBox 23"/>
          <p:cNvSpPr txBox="1"/>
          <p:nvPr/>
        </p:nvSpPr>
        <p:spPr>
          <a:xfrm>
            <a:off x="6519672" y="2542032"/>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0.976</a:t>
            </a:r>
          </a:p>
        </p:txBody>
      </p:sp>
      <p:sp>
        <p:nvSpPr>
          <p:cNvPr id="25" name="TextBox 24"/>
          <p:cNvSpPr txBox="1"/>
          <p:nvPr/>
        </p:nvSpPr>
        <p:spPr>
          <a:xfrm>
            <a:off x="8238744" y="2542032"/>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0.974</a:t>
            </a:r>
          </a:p>
        </p:txBody>
      </p:sp>
      <p:sp>
        <p:nvSpPr>
          <p:cNvPr id="26" name="TextBox 25"/>
          <p:cNvSpPr txBox="1"/>
          <p:nvPr/>
        </p:nvSpPr>
        <p:spPr>
          <a:xfrm>
            <a:off x="9820656" y="2542032"/>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similar</a:t>
            </a:r>
          </a:p>
        </p:txBody>
      </p:sp>
      <p:sp>
        <p:nvSpPr>
          <p:cNvPr id="27" name="TextBox 26"/>
          <p:cNvSpPr txBox="1"/>
          <p:nvPr/>
        </p:nvSpPr>
        <p:spPr>
          <a:xfrm>
            <a:off x="4599432" y="3118103"/>
            <a:ext cx="1783080" cy="310896"/>
          </a:xfrm>
          <a:prstGeom prst="rect">
            <a:avLst/>
          </a:prstGeom>
          <a:noFill/>
        </p:spPr>
        <p:txBody>
          <a:bodyPr wrap="square" lIns="18288" rIns="18288" tIns="18288" bIns="18288" anchor="t">
            <a:spAutoFit/>
          </a:bodyPr>
          <a:lstStyle/>
          <a:p>
            <a:pPr algn="l">
              <a:spcAft>
                <a:spcPts val="0"/>
              </a:spcAft>
            </a:pPr>
            <a:r>
              <a:rPr sz="1400" b="0" i="0">
                <a:solidFill>
                  <a:srgbClr val="263746"/>
                </a:solidFill>
                <a:latin typeface="Arial"/>
              </a:rPr>
              <a:t>F1</a:t>
            </a:r>
          </a:p>
        </p:txBody>
      </p:sp>
      <p:sp>
        <p:nvSpPr>
          <p:cNvPr id="28" name="TextBox 27"/>
          <p:cNvSpPr txBox="1"/>
          <p:nvPr/>
        </p:nvSpPr>
        <p:spPr>
          <a:xfrm>
            <a:off x="6519672" y="3118103"/>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0.985</a:t>
            </a:r>
          </a:p>
        </p:txBody>
      </p:sp>
      <p:sp>
        <p:nvSpPr>
          <p:cNvPr id="29" name="TextBox 28"/>
          <p:cNvSpPr txBox="1"/>
          <p:nvPr/>
        </p:nvSpPr>
        <p:spPr>
          <a:xfrm>
            <a:off x="8238744" y="3118103"/>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0.997</a:t>
            </a:r>
          </a:p>
        </p:txBody>
      </p:sp>
      <p:sp>
        <p:nvSpPr>
          <p:cNvPr id="30" name="TextBox 29"/>
          <p:cNvSpPr txBox="1"/>
          <p:nvPr/>
        </p:nvSpPr>
        <p:spPr>
          <a:xfrm>
            <a:off x="9820656" y="3118103"/>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higher</a:t>
            </a:r>
          </a:p>
        </p:txBody>
      </p:sp>
      <p:sp>
        <p:nvSpPr>
          <p:cNvPr id="31" name="Rectangle 30"/>
          <p:cNvSpPr/>
          <p:nvPr/>
        </p:nvSpPr>
        <p:spPr>
          <a:xfrm>
            <a:off x="4517136" y="3630168"/>
            <a:ext cx="7059168" cy="48463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99432" y="3694176"/>
            <a:ext cx="1783080" cy="310896"/>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Adversarial accuracy</a:t>
            </a:r>
          </a:p>
        </p:txBody>
      </p:sp>
      <p:sp>
        <p:nvSpPr>
          <p:cNvPr id="33" name="TextBox 32"/>
          <p:cNvSpPr txBox="1"/>
          <p:nvPr/>
        </p:nvSpPr>
        <p:spPr>
          <a:xfrm>
            <a:off x="6519672" y="3694176"/>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0.636</a:t>
            </a:r>
          </a:p>
        </p:txBody>
      </p:sp>
      <p:sp>
        <p:nvSpPr>
          <p:cNvPr id="34" name="TextBox 33"/>
          <p:cNvSpPr txBox="1"/>
          <p:nvPr/>
        </p:nvSpPr>
        <p:spPr>
          <a:xfrm>
            <a:off x="8238744" y="3694176"/>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0.475</a:t>
            </a:r>
          </a:p>
        </p:txBody>
      </p:sp>
      <p:sp>
        <p:nvSpPr>
          <p:cNvPr id="35" name="TextBox 34"/>
          <p:cNvSpPr txBox="1"/>
          <p:nvPr/>
        </p:nvSpPr>
        <p:spPr>
          <a:xfrm>
            <a:off x="9820656" y="3694176"/>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closer to 0.5</a:t>
            </a:r>
          </a:p>
        </p:txBody>
      </p:sp>
      <p:sp>
        <p:nvSpPr>
          <p:cNvPr id="36" name="TextBox 35"/>
          <p:cNvSpPr txBox="1"/>
          <p:nvPr/>
        </p:nvSpPr>
        <p:spPr>
          <a:xfrm>
            <a:off x="4599432" y="4270248"/>
            <a:ext cx="1783080" cy="310896"/>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FD / real P95</a:t>
            </a:r>
          </a:p>
        </p:txBody>
      </p:sp>
      <p:sp>
        <p:nvSpPr>
          <p:cNvPr id="37" name="TextBox 36"/>
          <p:cNvSpPr txBox="1"/>
          <p:nvPr/>
        </p:nvSpPr>
        <p:spPr>
          <a:xfrm>
            <a:off x="6519672" y="4270248"/>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0.144</a:t>
            </a:r>
          </a:p>
        </p:txBody>
      </p:sp>
      <p:sp>
        <p:nvSpPr>
          <p:cNvPr id="38" name="TextBox 37"/>
          <p:cNvSpPr txBox="1"/>
          <p:nvPr/>
        </p:nvSpPr>
        <p:spPr>
          <a:xfrm>
            <a:off x="8238744" y="4270248"/>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0.074</a:t>
            </a:r>
          </a:p>
        </p:txBody>
      </p:sp>
      <p:sp>
        <p:nvSpPr>
          <p:cNvPr id="39" name="TextBox 38"/>
          <p:cNvSpPr txBox="1"/>
          <p:nvPr/>
        </p:nvSpPr>
        <p:spPr>
          <a:xfrm>
            <a:off x="9820656" y="4270248"/>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lower</a:t>
            </a:r>
          </a:p>
        </p:txBody>
      </p:sp>
      <p:sp>
        <p:nvSpPr>
          <p:cNvPr id="40" name="Rounded Rectangle 39"/>
          <p:cNvSpPr/>
          <p:nvPr/>
        </p:nvSpPr>
        <p:spPr>
          <a:xfrm>
            <a:off x="347472" y="5522976"/>
            <a:ext cx="11494008" cy="667512"/>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5660136"/>
            <a:ext cx="2331720" cy="310896"/>
          </a:xfrm>
          <a:prstGeom prst="rect">
            <a:avLst/>
          </a:prstGeom>
          <a:noFill/>
        </p:spPr>
        <p:txBody>
          <a:bodyPr wrap="square" lIns="18288" rIns="18288" tIns="18288" bIns="18288" anchor="ctr">
            <a:spAutoFit/>
          </a:bodyPr>
          <a:lstStyle/>
          <a:p>
            <a:pPr algn="l">
              <a:spcAft>
                <a:spcPts val="0"/>
              </a:spcAft>
            </a:pPr>
            <a:r>
              <a:rPr sz="1800" b="1" i="0">
                <a:solidFill>
                  <a:srgbClr val="FFFFFF"/>
                </a:solidFill>
                <a:latin typeface="Arial"/>
              </a:rPr>
              <a:t>Use DDIM downstream</a:t>
            </a:r>
          </a:p>
        </p:txBody>
      </p:sp>
      <p:sp>
        <p:nvSpPr>
          <p:cNvPr id="42" name="TextBox 41"/>
          <p:cNvSpPr txBox="1"/>
          <p:nvPr/>
        </p:nvSpPr>
        <p:spPr>
          <a:xfrm>
            <a:off x="2852928" y="5669280"/>
            <a:ext cx="8394192" cy="292608"/>
          </a:xfrm>
          <a:prstGeom prst="rect">
            <a:avLst/>
          </a:prstGeom>
          <a:noFill/>
        </p:spPr>
        <p:txBody>
          <a:bodyPr wrap="square" lIns="18288" rIns="18288" tIns="18288" bIns="18288" anchor="ctr">
            <a:spAutoFit/>
          </a:bodyPr>
          <a:lstStyle/>
          <a:p>
            <a:pPr algn="l">
              <a:spcAft>
                <a:spcPts val="0"/>
              </a:spcAft>
            </a:pPr>
            <a:r>
              <a:rPr sz="1500" b="0" i="0">
                <a:solidFill>
                  <a:srgbClr val="DCE7F2"/>
                </a:solidFill>
                <a:latin typeface="Arial"/>
              </a:rPr>
              <a:t>Lower separability and distributional distance, with comparable correlation and higher F1.</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WGAN values use validation data and DDIM values use the stated OSDR test; they are not paired on one common split.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ounded Rectangle 7"/>
          <p:cNvSpPr/>
          <p:nvPr/>
        </p:nvSpPr>
        <p:spPr>
          <a:xfrm>
            <a:off x="438912" y="5907024"/>
            <a:ext cx="11311128" cy="438912"/>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Interpretation: tissue structure dominates; FLT and GC are subtler. PCA is descriptive, so quantitative metrics determine validation.</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profiles entered the analysis in five different ways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Every arm was judged on held-out real profiles before synthetic attribution was allowed.</a:t>
            </a:r>
          </a:p>
        </p:txBody>
      </p:sp>
      <p:sp>
        <p:nvSpPr>
          <p:cNvPr id="7" name="Rounded Rectangle 6"/>
          <p:cNvSpPr/>
          <p:nvPr/>
        </p:nvSpPr>
        <p:spPr>
          <a:xfrm>
            <a:off x="347472" y="1874519"/>
            <a:ext cx="2212848" cy="117043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2103120"/>
            <a:ext cx="1719072" cy="274320"/>
          </a:xfrm>
          <a:prstGeom prst="rect">
            <a:avLst/>
          </a:prstGeom>
          <a:noFill/>
        </p:spPr>
        <p:txBody>
          <a:bodyPr wrap="square" lIns="18288" rIns="18288" tIns="18288" bIns="18288" anchor="t">
            <a:spAutoFit/>
          </a:bodyPr>
          <a:lstStyle/>
          <a:p>
            <a:pPr algn="ctr">
              <a:spcAft>
                <a:spcPts val="0"/>
              </a:spcAft>
            </a:pPr>
            <a:r>
              <a:rPr sz="1700" b="1" i="0">
                <a:solidFill>
                  <a:srgbClr val="2D6496"/>
                </a:solidFill>
                <a:latin typeface="Arial"/>
              </a:rPr>
              <a:t>Real OSDR</a:t>
            </a:r>
          </a:p>
        </p:txBody>
      </p:sp>
      <p:sp>
        <p:nvSpPr>
          <p:cNvPr id="9" name="TextBox 8"/>
          <p:cNvSpPr txBox="1"/>
          <p:nvPr/>
        </p:nvSpPr>
        <p:spPr>
          <a:xfrm>
            <a:off x="585216" y="2505456"/>
            <a:ext cx="1719072" cy="2286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observed FLT / GC</a:t>
            </a:r>
          </a:p>
        </p:txBody>
      </p:sp>
      <p:sp>
        <p:nvSpPr>
          <p:cNvPr id="10" name="Rounded Rectangle 9"/>
          <p:cNvSpPr/>
          <p:nvPr/>
        </p:nvSpPr>
        <p:spPr>
          <a:xfrm>
            <a:off x="347472" y="3319272"/>
            <a:ext cx="2212848" cy="1170432"/>
          </a:xfrm>
          <a:prstGeom prst="round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7" y="3547872"/>
            <a:ext cx="1874519" cy="274320"/>
          </a:xfrm>
          <a:prstGeom prst="rect">
            <a:avLst/>
          </a:prstGeom>
          <a:noFill/>
        </p:spPr>
        <p:txBody>
          <a:bodyPr wrap="square" lIns="18288" rIns="18288" tIns="18288" bIns="18288" anchor="t">
            <a:spAutoFit/>
          </a:bodyPr>
          <a:lstStyle/>
          <a:p>
            <a:pPr algn="ctr">
              <a:spcAft>
                <a:spcPts val="0"/>
              </a:spcAft>
            </a:pPr>
            <a:r>
              <a:rPr sz="1700" b="1" i="0">
                <a:solidFill>
                  <a:srgbClr val="D96552"/>
                </a:solidFill>
                <a:latin typeface="Arial"/>
              </a:rPr>
              <a:t>DDIM generated</a:t>
            </a:r>
          </a:p>
        </p:txBody>
      </p:sp>
      <p:sp>
        <p:nvSpPr>
          <p:cNvPr id="12" name="TextBox 11"/>
          <p:cNvSpPr txBox="1"/>
          <p:nvPr/>
        </p:nvSpPr>
        <p:spPr>
          <a:xfrm>
            <a:off x="585216" y="3941063"/>
            <a:ext cx="1719072" cy="2286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matched conditions</a:t>
            </a:r>
          </a:p>
        </p:txBody>
      </p:sp>
      <p:sp>
        <p:nvSpPr>
          <p:cNvPr id="13" name="Right Arrow 12"/>
          <p:cNvSpPr/>
          <p:nvPr/>
        </p:nvSpPr>
        <p:spPr>
          <a:xfrm>
            <a:off x="2679192" y="2852928"/>
            <a:ext cx="475488" cy="34747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310128" y="1920240"/>
            <a:ext cx="1508760" cy="117043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01568" y="2084832"/>
            <a:ext cx="1325880" cy="320040"/>
          </a:xfrm>
          <a:prstGeom prst="rect">
            <a:avLst/>
          </a:prstGeom>
          <a:noFill/>
        </p:spPr>
        <p:txBody>
          <a:bodyPr wrap="square" lIns="18288" rIns="18288" tIns="18288" bIns="18288" anchor="t">
            <a:spAutoFit/>
          </a:bodyPr>
          <a:lstStyle/>
          <a:p>
            <a:pPr algn="ctr">
              <a:spcAft>
                <a:spcPts val="0"/>
              </a:spcAft>
            </a:pPr>
            <a:r>
              <a:rPr sz="1350" b="1" i="0">
                <a:solidFill>
                  <a:srgbClr val="2D6496"/>
                </a:solidFill>
                <a:latin typeface="Arial"/>
              </a:rPr>
              <a:t>Real only</a:t>
            </a:r>
          </a:p>
        </p:txBody>
      </p:sp>
      <p:sp>
        <p:nvSpPr>
          <p:cNvPr id="16" name="TextBox 15"/>
          <p:cNvSpPr txBox="1"/>
          <p:nvPr/>
        </p:nvSpPr>
        <p:spPr>
          <a:xfrm>
            <a:off x="3429000" y="2523744"/>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real
fit: real</a:t>
            </a:r>
          </a:p>
        </p:txBody>
      </p:sp>
      <p:sp>
        <p:nvSpPr>
          <p:cNvPr id="17" name="Rounded Rectangle 16"/>
          <p:cNvSpPr/>
          <p:nvPr/>
        </p:nvSpPr>
        <p:spPr>
          <a:xfrm>
            <a:off x="5001768" y="1920240"/>
            <a:ext cx="1508760" cy="1170432"/>
          </a:xfrm>
          <a:prstGeom prst="round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93207" y="2084832"/>
            <a:ext cx="1325880" cy="320040"/>
          </a:xfrm>
          <a:prstGeom prst="rect">
            <a:avLst/>
          </a:prstGeom>
          <a:noFill/>
        </p:spPr>
        <p:txBody>
          <a:bodyPr wrap="square" lIns="18288" rIns="18288" tIns="18288" bIns="18288" anchor="t">
            <a:spAutoFit/>
          </a:bodyPr>
          <a:lstStyle/>
          <a:p>
            <a:pPr algn="ctr">
              <a:spcAft>
                <a:spcPts val="0"/>
              </a:spcAft>
            </a:pPr>
            <a:r>
              <a:rPr sz="1350" b="1" i="0">
                <a:solidFill>
                  <a:srgbClr val="D96552"/>
                </a:solidFill>
                <a:latin typeface="Arial"/>
              </a:rPr>
              <a:t>Generated only</a:t>
            </a:r>
          </a:p>
        </p:txBody>
      </p:sp>
      <p:sp>
        <p:nvSpPr>
          <p:cNvPr id="19" name="TextBox 18"/>
          <p:cNvSpPr txBox="1"/>
          <p:nvPr/>
        </p:nvSpPr>
        <p:spPr>
          <a:xfrm>
            <a:off x="5120640" y="2523744"/>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generated
fit: generated</a:t>
            </a:r>
          </a:p>
        </p:txBody>
      </p:sp>
      <p:sp>
        <p:nvSpPr>
          <p:cNvPr id="20" name="Rounded Rectangle 19"/>
          <p:cNvSpPr/>
          <p:nvPr/>
        </p:nvSpPr>
        <p:spPr>
          <a:xfrm>
            <a:off x="6693408" y="1920240"/>
            <a:ext cx="1508760" cy="117043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84848" y="2084832"/>
            <a:ext cx="1325880" cy="320040"/>
          </a:xfrm>
          <a:prstGeom prst="rect">
            <a:avLst/>
          </a:prstGeom>
          <a:noFill/>
        </p:spPr>
        <p:txBody>
          <a:bodyPr wrap="square" lIns="18288" rIns="18288" tIns="18288" bIns="18288" anchor="t">
            <a:spAutoFit/>
          </a:bodyPr>
          <a:lstStyle/>
          <a:p>
            <a:pPr algn="ctr">
              <a:spcAft>
                <a:spcPts val="0"/>
              </a:spcAft>
            </a:pPr>
            <a:r>
              <a:rPr sz="1350" b="1" i="0">
                <a:solidFill>
                  <a:srgbClr val="178681"/>
                </a:solidFill>
                <a:latin typeface="Arial"/>
              </a:rPr>
              <a:t>Real + generated</a:t>
            </a:r>
          </a:p>
        </p:txBody>
      </p:sp>
      <p:sp>
        <p:nvSpPr>
          <p:cNvPr id="22" name="TextBox 21"/>
          <p:cNvSpPr txBox="1"/>
          <p:nvPr/>
        </p:nvSpPr>
        <p:spPr>
          <a:xfrm>
            <a:off x="6812280" y="2523744"/>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consensus
fit: equal weight</a:t>
            </a:r>
          </a:p>
        </p:txBody>
      </p:sp>
      <p:sp>
        <p:nvSpPr>
          <p:cNvPr id="23" name="Rounded Rectangle 22"/>
          <p:cNvSpPr/>
          <p:nvPr/>
        </p:nvSpPr>
        <p:spPr>
          <a:xfrm>
            <a:off x="4160520" y="3410712"/>
            <a:ext cx="1508760" cy="1170432"/>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51959" y="3575304"/>
            <a:ext cx="1325880" cy="320040"/>
          </a:xfrm>
          <a:prstGeom prst="rect">
            <a:avLst/>
          </a:prstGeom>
          <a:noFill/>
        </p:spPr>
        <p:txBody>
          <a:bodyPr wrap="square" lIns="18288" rIns="18288" tIns="18288" bIns="18288" anchor="t">
            <a:spAutoFit/>
          </a:bodyPr>
          <a:lstStyle/>
          <a:p>
            <a:pPr algn="ctr">
              <a:spcAft>
                <a:spcPts val="0"/>
              </a:spcAft>
            </a:pPr>
            <a:r>
              <a:rPr sz="1350" b="1" i="0">
                <a:solidFill>
                  <a:srgbClr val="8063A6"/>
                </a:solidFill>
                <a:latin typeface="Arial"/>
              </a:rPr>
              <a:t>Guided, real fit</a:t>
            </a:r>
          </a:p>
        </p:txBody>
      </p:sp>
      <p:sp>
        <p:nvSpPr>
          <p:cNvPr id="25" name="TextBox 24"/>
          <p:cNvSpPr txBox="1"/>
          <p:nvPr/>
        </p:nvSpPr>
        <p:spPr>
          <a:xfrm>
            <a:off x="4279392" y="4014215"/>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consensus
fit: real</a:t>
            </a:r>
          </a:p>
        </p:txBody>
      </p:sp>
      <p:sp>
        <p:nvSpPr>
          <p:cNvPr id="26" name="Rounded Rectangle 25"/>
          <p:cNvSpPr/>
          <p:nvPr/>
        </p:nvSpPr>
        <p:spPr>
          <a:xfrm>
            <a:off x="5852160" y="3410712"/>
            <a:ext cx="1508760" cy="1170432"/>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0" y="3575304"/>
            <a:ext cx="1325880" cy="320040"/>
          </a:xfrm>
          <a:prstGeom prst="rect">
            <a:avLst/>
          </a:prstGeom>
          <a:noFill/>
        </p:spPr>
        <p:txBody>
          <a:bodyPr wrap="square" lIns="18288" rIns="18288" tIns="18288" bIns="18288" anchor="t">
            <a:spAutoFit/>
          </a:bodyPr>
          <a:lstStyle/>
          <a:p>
            <a:pPr algn="ctr">
              <a:spcAft>
                <a:spcPts val="0"/>
              </a:spcAft>
            </a:pPr>
            <a:r>
              <a:rPr sz="1350" b="1" i="0">
                <a:solidFill>
                  <a:srgbClr val="D37B00"/>
                </a:solidFill>
                <a:latin typeface="Arial"/>
              </a:rPr>
              <a:t>Guided, 5% synth.</a:t>
            </a:r>
          </a:p>
        </p:txBody>
      </p:sp>
      <p:sp>
        <p:nvSpPr>
          <p:cNvPr id="28" name="TextBox 27"/>
          <p:cNvSpPr txBox="1"/>
          <p:nvPr/>
        </p:nvSpPr>
        <p:spPr>
          <a:xfrm>
            <a:off x="5971032" y="4014215"/>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consensus
fit: real + 5%</a:t>
            </a:r>
          </a:p>
        </p:txBody>
      </p:sp>
      <p:sp>
        <p:nvSpPr>
          <p:cNvPr id="29" name="Right Arrow 28"/>
          <p:cNvSpPr/>
          <p:nvPr/>
        </p:nvSpPr>
        <p:spPr>
          <a:xfrm>
            <a:off x="8522208" y="2852928"/>
            <a:ext cx="475488" cy="34747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144000" y="2176272"/>
            <a:ext cx="2633472" cy="2057400"/>
          </a:xfrm>
          <a:prstGeom prst="roundRect">
            <a:avLst/>
          </a:prstGeom>
          <a:solidFill>
            <a:srgbClr val="ECF4ED"/>
          </a:solidFill>
          <a:ln w="1016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54312" y="2459736"/>
            <a:ext cx="2212848" cy="457200"/>
          </a:xfrm>
          <a:prstGeom prst="rect">
            <a:avLst/>
          </a:prstGeom>
          <a:noFill/>
        </p:spPr>
        <p:txBody>
          <a:bodyPr wrap="square" lIns="18288" rIns="18288" tIns="18288" bIns="18288" anchor="t">
            <a:spAutoFit/>
          </a:bodyPr>
          <a:lstStyle/>
          <a:p>
            <a:pPr algn="ctr">
              <a:spcAft>
                <a:spcPts val="0"/>
              </a:spcAft>
            </a:pPr>
            <a:r>
              <a:rPr sz="1700" b="1" i="0">
                <a:solidFill>
                  <a:srgbClr val="478A64"/>
                </a:solidFill>
                <a:latin typeface="Arial"/>
              </a:rPr>
              <a:t>Held-out real profiles</a:t>
            </a:r>
          </a:p>
        </p:txBody>
      </p:sp>
      <p:sp>
        <p:nvSpPr>
          <p:cNvPr id="32" name="TextBox 31"/>
          <p:cNvSpPr txBox="1"/>
          <p:nvPr/>
        </p:nvSpPr>
        <p:spPr>
          <a:xfrm>
            <a:off x="9400032" y="3063240"/>
            <a:ext cx="2103120" cy="329184"/>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BA | AUROC | AP</a:t>
            </a:r>
          </a:p>
        </p:txBody>
      </p:sp>
      <p:sp>
        <p:nvSpPr>
          <p:cNvPr id="33" name="TextBox 32"/>
          <p:cNvSpPr txBox="1"/>
          <p:nvPr/>
        </p:nvSpPr>
        <p:spPr>
          <a:xfrm>
            <a:off x="9400032" y="3502152"/>
            <a:ext cx="2103120" cy="4572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select one eligible arm
for each tissue</a:t>
            </a:r>
          </a:p>
        </p:txBody>
      </p:sp>
      <p:sp>
        <p:nvSpPr>
          <p:cNvPr id="34" name="Rounded Rectangle 33"/>
          <p:cNvSpPr/>
          <p:nvPr/>
        </p:nvSpPr>
        <p:spPr>
          <a:xfrm>
            <a:off x="347472" y="4919472"/>
            <a:ext cx="11430000" cy="1051560"/>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166360"/>
            <a:ext cx="160020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Biology check</a:t>
            </a:r>
          </a:p>
        </p:txBody>
      </p:sp>
      <p:sp>
        <p:nvSpPr>
          <p:cNvPr id="36" name="TextBox 35"/>
          <p:cNvSpPr txBox="1"/>
          <p:nvPr/>
        </p:nvSpPr>
        <p:spPr>
          <a:xfrm>
            <a:off x="2304288" y="5175504"/>
            <a:ext cx="6766560" cy="292608"/>
          </a:xfrm>
          <a:prstGeom prst="rect">
            <a:avLst/>
          </a:prstGeom>
          <a:noFill/>
        </p:spPr>
        <p:txBody>
          <a:bodyPr wrap="square" lIns="18288" rIns="18288" tIns="18288" bIns="18288" anchor="t">
            <a:spAutoFit/>
          </a:bodyPr>
          <a:lstStyle/>
          <a:p>
            <a:pPr algn="l">
              <a:spcAft>
                <a:spcPts val="0"/>
              </a:spcAft>
            </a:pPr>
            <a:r>
              <a:rPr sz="1550" b="0" i="0">
                <a:solidFill>
                  <a:srgbClr val="DCE7F2"/>
                </a:solidFill>
                <a:latin typeface="Arial"/>
              </a:rPr>
              <a:t>FLT vs GC effects, random-effects meta-analysis and BH FDR use real OSDR profiles only.</a:t>
            </a:r>
          </a:p>
        </p:txBody>
      </p:sp>
      <p:sp>
        <p:nvSpPr>
          <p:cNvPr id="37" name="TextBox 36"/>
          <p:cNvSpPr txBox="1"/>
          <p:nvPr/>
        </p:nvSpPr>
        <p:spPr>
          <a:xfrm>
            <a:off x="9189720" y="5065776"/>
            <a:ext cx="2249424" cy="512064"/>
          </a:xfrm>
          <a:prstGeom prst="rect">
            <a:avLst/>
          </a:prstGeom>
          <a:noFill/>
        </p:spPr>
        <p:txBody>
          <a:bodyPr wrap="square" lIns="18288" rIns="18288" tIns="18288" bIns="18288" anchor="ctr">
            <a:spAutoFit/>
          </a:bodyPr>
          <a:lstStyle/>
          <a:p>
            <a:pPr algn="ctr">
              <a:spcAft>
                <a:spcPts val="0"/>
              </a:spcAft>
            </a:pPr>
            <a:r>
              <a:rPr sz="1400" b="1" i="0">
                <a:solidFill>
                  <a:srgbClr val="FFD69A"/>
                </a:solidFill>
                <a:latin typeface="Arial"/>
              </a:rPr>
              <a:t>Synthetic profiles never increase animal 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Pooling tissues hid useful signal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single FLT/GC classifier did not improve, but tissue-specific synthetic use often did.</a:t>
            </a:r>
          </a:p>
        </p:txBody>
      </p:sp>
      <p:sp>
        <p:nvSpPr>
          <p:cNvPr id="7" name="Rounded Rectangle 6"/>
          <p:cNvSpPr/>
          <p:nvPr/>
        </p:nvSpPr>
        <p:spPr>
          <a:xfrm>
            <a:off x="347472" y="1847088"/>
            <a:ext cx="3200400" cy="4224528"/>
          </a:xfrm>
          <a:prstGeom prst="roundRect">
            <a:avLst/>
          </a:prstGeom>
          <a:solidFill>
            <a:srgbClr val="F8F1E2"/>
          </a:solidFill>
          <a:ln w="10160">
            <a:solidFill>
              <a:srgbClr val="E8D6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103120"/>
            <a:ext cx="2651760" cy="320040"/>
          </a:xfrm>
          <a:prstGeom prst="rect">
            <a:avLst/>
          </a:prstGeom>
          <a:noFill/>
        </p:spPr>
        <p:txBody>
          <a:bodyPr wrap="square" lIns="18288" rIns="18288" tIns="18288" bIns="18288" anchor="t">
            <a:spAutoFit/>
          </a:bodyPr>
          <a:lstStyle/>
          <a:p>
            <a:pPr algn="l">
              <a:spcAft>
                <a:spcPts val="0"/>
              </a:spcAft>
            </a:pPr>
            <a:r>
              <a:rPr sz="1700" b="1" i="0">
                <a:solidFill>
                  <a:srgbClr val="9A6B20"/>
                </a:solidFill>
                <a:latin typeface="Arial"/>
              </a:rPr>
              <a:t>Pooled across tissues</a:t>
            </a:r>
          </a:p>
        </p:txBody>
      </p:sp>
      <p:sp>
        <p:nvSpPr>
          <p:cNvPr id="9" name="Rectangle 8"/>
          <p:cNvSpPr/>
          <p:nvPr/>
        </p:nvSpPr>
        <p:spPr>
          <a:xfrm>
            <a:off x="713232" y="5126766"/>
            <a:ext cx="566928" cy="359633"/>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80672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1" name="TextBox 10"/>
          <p:cNvSpPr txBox="1"/>
          <p:nvPr/>
        </p:nvSpPr>
        <p:spPr>
          <a:xfrm>
            <a:off x="530352"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only</a:t>
            </a:r>
          </a:p>
        </p:txBody>
      </p:sp>
      <p:sp>
        <p:nvSpPr>
          <p:cNvPr id="12" name="Rectangle 11"/>
          <p:cNvSpPr/>
          <p:nvPr/>
        </p:nvSpPr>
        <p:spPr>
          <a:xfrm>
            <a:off x="1591056" y="5312892"/>
            <a:ext cx="566928" cy="173507"/>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17904" y="4992852"/>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14" name="TextBox 13"/>
          <p:cNvSpPr txBox="1"/>
          <p:nvPr/>
        </p:nvSpPr>
        <p:spPr>
          <a:xfrm>
            <a:off x="1408176"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Generated only</a:t>
            </a:r>
          </a:p>
        </p:txBody>
      </p:sp>
      <p:sp>
        <p:nvSpPr>
          <p:cNvPr id="15" name="Rectangle 14"/>
          <p:cNvSpPr/>
          <p:nvPr/>
        </p:nvSpPr>
        <p:spPr>
          <a:xfrm>
            <a:off x="2468880" y="5180396"/>
            <a:ext cx="566928" cy="306003"/>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95728" y="486035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17" name="TextBox 16"/>
          <p:cNvSpPr txBox="1"/>
          <p:nvPr/>
        </p:nvSpPr>
        <p:spPr>
          <a:xfrm>
            <a:off x="2286000"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 synth.</a:t>
            </a:r>
          </a:p>
        </p:txBody>
      </p:sp>
      <p:sp>
        <p:nvSpPr>
          <p:cNvPr id="18" name="Rectangle 17"/>
          <p:cNvSpPr/>
          <p:nvPr/>
        </p:nvSpPr>
        <p:spPr>
          <a:xfrm>
            <a:off x="576072" y="5486400"/>
            <a:ext cx="2697480" cy="13716"/>
          </a:xfrm>
          <a:prstGeom prst="rect">
            <a:avLst/>
          </a:prstGeom>
          <a:solidFill>
            <a:srgbClr val="A9B5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2542032"/>
            <a:ext cx="2542032"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Balanced accuracy</a:t>
            </a:r>
          </a:p>
        </p:txBody>
      </p:sp>
      <p:sp>
        <p:nvSpPr>
          <p:cNvPr id="20" name="Rounded Rectangle 19"/>
          <p:cNvSpPr/>
          <p:nvPr/>
        </p:nvSpPr>
        <p:spPr>
          <a:xfrm>
            <a:off x="3767328" y="1847088"/>
            <a:ext cx="8083296" cy="4224528"/>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041648" y="2093976"/>
            <a:ext cx="3840480" cy="310896"/>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Selected use within each tissue</a:t>
            </a:r>
          </a:p>
        </p:txBody>
      </p:sp>
      <p:pic>
        <p:nvPicPr>
          <p:cNvPr id="22"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23" name="TextBox 22"/>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24" name="TextBox 23"/>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describe repeated feature selection; both require a supporting effect in real OSDR data.</a:t>
            </a:r>
          </a:p>
        </p:txBody>
      </p:sp>
      <p:sp>
        <p:nvSpPr>
          <p:cNvPr id="7" name="TextBox 6"/>
          <p:cNvSpPr txBox="1"/>
          <p:nvPr/>
        </p:nvSpPr>
        <p:spPr>
          <a:xfrm>
            <a:off x="566928" y="1847088"/>
            <a:ext cx="4443984" cy="310896"/>
          </a:xfrm>
          <a:prstGeom prst="rect">
            <a:avLst/>
          </a:prstGeom>
          <a:noFill/>
        </p:spPr>
        <p:txBody>
          <a:bodyPr wrap="square" lIns="18288" rIns="18288" tIns="18288" bIns="18288" anchor="t">
            <a:spAutoFit/>
          </a:bodyPr>
          <a:lstStyle/>
          <a:p>
            <a:pPr algn="ctr">
              <a:spcAft>
                <a:spcPts val="0"/>
              </a:spcAft>
            </a:pPr>
            <a:r>
              <a:rPr sz="1600" b="1" i="0">
                <a:solidFill>
                  <a:srgbClr val="59697A"/>
                </a:solidFill>
                <a:latin typeface="Arial"/>
              </a:rPr>
              <a:t>Repeated stable selection</a:t>
            </a:r>
          </a:p>
        </p:txBody>
      </p:sp>
      <p:sp>
        <p:nvSpPr>
          <p:cNvPr id="8" name="Oval 7"/>
          <p:cNvSpPr/>
          <p:nvPr/>
        </p:nvSpPr>
        <p:spPr>
          <a:xfrm>
            <a:off x="566928" y="2304288"/>
            <a:ext cx="2743200" cy="2148840"/>
          </a:xfrm>
          <a:prstGeom prst="ellipse">
            <a:avLst/>
          </a:prstGeom>
          <a:noFill/>
          <a:ln w="3048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267712" y="2304288"/>
            <a:ext cx="2743200" cy="2148840"/>
          </a:xfrm>
          <a:prstGeom prst="ellipse">
            <a:avLst/>
          </a:prstGeom>
          <a:noFill/>
          <a:ln w="3048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 y="2816352"/>
            <a:ext cx="1609344" cy="265176"/>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Real-only</a:t>
            </a:r>
          </a:p>
        </p:txBody>
      </p:sp>
      <p:sp>
        <p:nvSpPr>
          <p:cNvPr id="11" name="TextBox 10"/>
          <p:cNvSpPr txBox="1"/>
          <p:nvPr/>
        </p:nvSpPr>
        <p:spPr>
          <a:xfrm>
            <a:off x="649224" y="3108960"/>
            <a:ext cx="1609344" cy="265176"/>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ranking</a:t>
            </a:r>
          </a:p>
        </p:txBody>
      </p:sp>
      <p:sp>
        <p:nvSpPr>
          <p:cNvPr id="12" name="TextBox 11"/>
          <p:cNvSpPr txBox="1"/>
          <p:nvPr/>
        </p:nvSpPr>
        <p:spPr>
          <a:xfrm>
            <a:off x="3300984" y="2816352"/>
            <a:ext cx="1719072" cy="265176"/>
          </a:xfrm>
          <a:prstGeom prst="rect">
            <a:avLst/>
          </a:prstGeom>
          <a:noFill/>
        </p:spPr>
        <p:txBody>
          <a:bodyPr wrap="square" lIns="0" rIns="0" tIns="0" bIns="0" anchor="t">
            <a:spAutoFit/>
          </a:bodyPr>
          <a:lstStyle/>
          <a:p>
            <a:pPr algn="ctr">
              <a:spcAft>
                <a:spcPts val="0"/>
              </a:spcAft>
            </a:pPr>
            <a:r>
              <a:rPr sz="1350" b="1" i="0">
                <a:solidFill>
                  <a:srgbClr val="178681"/>
                </a:solidFill>
                <a:latin typeface="Arial"/>
              </a:rPr>
              <a:t>Synthetic-guided</a:t>
            </a:r>
          </a:p>
        </p:txBody>
      </p:sp>
      <p:sp>
        <p:nvSpPr>
          <p:cNvPr id="13" name="TextBox 12"/>
          <p:cNvSpPr txBox="1"/>
          <p:nvPr/>
        </p:nvSpPr>
        <p:spPr>
          <a:xfrm>
            <a:off x="3300984" y="3108960"/>
            <a:ext cx="1719072" cy="265176"/>
          </a:xfrm>
          <a:prstGeom prst="rect">
            <a:avLst/>
          </a:prstGeom>
          <a:noFill/>
        </p:spPr>
        <p:txBody>
          <a:bodyPr wrap="square" lIns="0" rIns="0" tIns="0" bIns="0" anchor="t">
            <a:spAutoFit/>
          </a:bodyPr>
          <a:lstStyle/>
          <a:p>
            <a:pPr algn="ctr">
              <a:spcAft>
                <a:spcPts val="0"/>
              </a:spcAft>
            </a:pPr>
            <a:r>
              <a:rPr sz="1600" b="1" i="0">
                <a:solidFill>
                  <a:srgbClr val="178681"/>
                </a:solidFill>
                <a:latin typeface="Arial"/>
              </a:rPr>
              <a:t>ranking</a:t>
            </a:r>
          </a:p>
        </p:txBody>
      </p:sp>
      <p:sp>
        <p:nvSpPr>
          <p:cNvPr id="14" name="TextBox 13"/>
          <p:cNvSpPr txBox="1"/>
          <p:nvPr/>
        </p:nvSpPr>
        <p:spPr>
          <a:xfrm>
            <a:off x="2304288" y="2999232"/>
            <a:ext cx="969264" cy="219456"/>
          </a:xfrm>
          <a:prstGeom prst="rect">
            <a:avLst/>
          </a:prstGeom>
          <a:noFill/>
        </p:spPr>
        <p:txBody>
          <a:bodyPr wrap="square" lIns="0" rIns="0" tIns="0" bIns="0" anchor="t">
            <a:spAutoFit/>
          </a:bodyPr>
          <a:lstStyle/>
          <a:p>
            <a:pPr algn="ctr">
              <a:spcAft>
                <a:spcPts val="0"/>
              </a:spcAft>
            </a:pPr>
            <a:r>
              <a:rPr sz="1200" b="1" i="0">
                <a:solidFill>
                  <a:srgbClr val="D37B00"/>
                </a:solidFill>
                <a:latin typeface="Arial"/>
              </a:rPr>
              <a:t>23</a:t>
            </a:r>
          </a:p>
        </p:txBody>
      </p:sp>
      <p:sp>
        <p:nvSpPr>
          <p:cNvPr id="15" name="TextBox 14"/>
          <p:cNvSpPr txBox="1"/>
          <p:nvPr/>
        </p:nvSpPr>
        <p:spPr>
          <a:xfrm>
            <a:off x="2304288" y="3236976"/>
            <a:ext cx="969264" cy="219456"/>
          </a:xfrm>
          <a:prstGeom prst="rect">
            <a:avLst/>
          </a:prstGeom>
          <a:noFill/>
        </p:spPr>
        <p:txBody>
          <a:bodyPr wrap="square" lIns="0" rIns="0" tIns="0" bIns="0" anchor="t">
            <a:spAutoFit/>
          </a:bodyPr>
          <a:lstStyle/>
          <a:p>
            <a:pPr algn="ctr">
              <a:spcAft>
                <a:spcPts val="0"/>
              </a:spcAft>
            </a:pPr>
            <a:r>
              <a:rPr sz="1200" b="1" i="0">
                <a:solidFill>
                  <a:srgbClr val="D37B00"/>
                </a:solidFill>
                <a:latin typeface="Arial"/>
              </a:rPr>
              <a:t>reinforced</a:t>
            </a:r>
          </a:p>
        </p:txBody>
      </p:sp>
      <p:sp>
        <p:nvSpPr>
          <p:cNvPr id="16" name="Rounded Rectangle 15"/>
          <p:cNvSpPr/>
          <p:nvPr/>
        </p:nvSpPr>
        <p:spPr>
          <a:xfrm>
            <a:off x="3218688" y="4535424"/>
            <a:ext cx="1700784" cy="71323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46704" y="4626864"/>
            <a:ext cx="1444752" cy="219456"/>
          </a:xfrm>
          <a:prstGeom prst="rect">
            <a:avLst/>
          </a:prstGeom>
          <a:noFill/>
        </p:spPr>
        <p:txBody>
          <a:bodyPr wrap="square" lIns="18288" rIns="18288" tIns="18288" bIns="18288" anchor="t">
            <a:spAutoFit/>
          </a:bodyPr>
          <a:lstStyle/>
          <a:p>
            <a:pPr algn="ctr">
              <a:spcAft>
                <a:spcPts val="0"/>
              </a:spcAft>
            </a:pPr>
            <a:r>
              <a:rPr sz="1350" b="1" i="0">
                <a:solidFill>
                  <a:srgbClr val="178681"/>
                </a:solidFill>
                <a:latin typeface="Arial"/>
              </a:rPr>
              <a:t>26 promoted</a:t>
            </a:r>
          </a:p>
        </p:txBody>
      </p:sp>
      <p:sp>
        <p:nvSpPr>
          <p:cNvPr id="18" name="TextBox 17"/>
          <p:cNvSpPr txBox="1"/>
          <p:nvPr/>
        </p:nvSpPr>
        <p:spPr>
          <a:xfrm>
            <a:off x="3364992" y="4882896"/>
            <a:ext cx="1408176" cy="292608"/>
          </a:xfrm>
          <a:prstGeom prst="rect">
            <a:avLst/>
          </a:prstGeom>
          <a:noFill/>
        </p:spPr>
        <p:txBody>
          <a:bodyPr wrap="square" lIns="18288" rIns="18288" tIns="18288" bIns="18288" anchor="t">
            <a:spAutoFit/>
          </a:bodyPr>
          <a:lstStyle/>
          <a:p>
            <a:pPr algn="ctr">
              <a:spcAft>
                <a:spcPts val="0"/>
              </a:spcAft>
            </a:pPr>
            <a:r>
              <a:rPr sz="950" b="0" i="0">
                <a:solidFill>
                  <a:srgbClr val="59697A"/>
                </a:solidFill>
                <a:latin typeface="Arial"/>
              </a:rPr>
              <a:t>selected only with
synthetic guidance</a:t>
            </a:r>
          </a:p>
        </p:txBody>
      </p:sp>
      <p:sp>
        <p:nvSpPr>
          <p:cNvPr id="19" name="Right Arrow 18"/>
          <p:cNvSpPr/>
          <p:nvPr/>
        </p:nvSpPr>
        <p:spPr>
          <a:xfrm>
            <a:off x="5285232" y="3017520"/>
            <a:ext cx="594360" cy="438912"/>
          </a:xfrm>
          <a:prstGeom prst="rightArrow">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08192" y="2039112"/>
            <a:ext cx="5468112" cy="3355848"/>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9088" y="2304288"/>
            <a:ext cx="4846320" cy="365760"/>
          </a:xfrm>
          <a:prstGeom prst="rect">
            <a:avLst/>
          </a:prstGeom>
          <a:noFill/>
        </p:spPr>
        <p:txBody>
          <a:bodyPr wrap="square" lIns="18288" rIns="18288" tIns="18288" bIns="18288" anchor="t">
            <a:spAutoFit/>
          </a:bodyPr>
          <a:lstStyle/>
          <a:p>
            <a:pPr algn="ctr">
              <a:spcAft>
                <a:spcPts val="0"/>
              </a:spcAft>
            </a:pPr>
            <a:r>
              <a:rPr sz="2000" b="1" i="0">
                <a:solidFill>
                  <a:srgbClr val="2D6496"/>
                </a:solidFill>
                <a:latin typeface="Arial"/>
              </a:rPr>
              <a:t>Real OSDR association test</a:t>
            </a:r>
          </a:p>
        </p:txBody>
      </p:sp>
      <p:sp>
        <p:nvSpPr>
          <p:cNvPr id="22" name="Oval 21"/>
          <p:cNvSpPr/>
          <p:nvPr/>
        </p:nvSpPr>
        <p:spPr>
          <a:xfrm>
            <a:off x="6601968" y="3017520"/>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59" y="2907792"/>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Estimate FLT vs GC inside each accession</a:t>
            </a:r>
          </a:p>
        </p:txBody>
      </p:sp>
      <p:sp>
        <p:nvSpPr>
          <p:cNvPr id="24" name="Oval 23"/>
          <p:cNvSpPr/>
          <p:nvPr/>
        </p:nvSpPr>
        <p:spPr>
          <a:xfrm>
            <a:off x="6601968" y="354787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59" y="3438144"/>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Combine accession effects with a random-effects model</a:t>
            </a:r>
          </a:p>
        </p:txBody>
      </p:sp>
      <p:sp>
        <p:nvSpPr>
          <p:cNvPr id="26" name="Oval 25"/>
          <p:cNvSpPr/>
          <p:nvPr/>
        </p:nvSpPr>
        <p:spPr>
          <a:xfrm>
            <a:off x="6601968" y="4078224"/>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59" y="3968496"/>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Apply BH FDR within each tissue</a:t>
            </a:r>
          </a:p>
        </p:txBody>
      </p:sp>
      <p:sp>
        <p:nvSpPr>
          <p:cNvPr id="28" name="Rounded Rectangle 27"/>
          <p:cNvSpPr/>
          <p:nvPr/>
        </p:nvSpPr>
        <p:spPr>
          <a:xfrm>
            <a:off x="6547104" y="4681728"/>
            <a:ext cx="4572000" cy="475488"/>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11696" y="4764024"/>
            <a:ext cx="4251960" cy="265176"/>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49 synthetic-informed associations</a:t>
            </a:r>
          </a:p>
        </p:txBody>
      </p:sp>
      <p:sp>
        <p:nvSpPr>
          <p:cNvPr id="30" name="Rounded Rectangle 29"/>
          <p:cNvSpPr/>
          <p:nvPr/>
        </p:nvSpPr>
        <p:spPr>
          <a:xfrm>
            <a:off x="475488" y="5650992"/>
            <a:ext cx="11109960" cy="530352"/>
          </a:xfrm>
          <a:prstGeom prst="roundRect">
            <a:avLst/>
          </a:prstGeom>
          <a:solidFill>
            <a:srgbClr val="F7F9FA"/>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5769864"/>
            <a:ext cx="10744200" cy="274320"/>
          </a:xfrm>
          <a:prstGeom prst="rect">
            <a:avLst/>
          </a:prstGeom>
          <a:noFill/>
        </p:spPr>
        <p:txBody>
          <a:bodyPr wrap="square" lIns="18288" rIns="18288" tIns="18288" bIns="18288" anchor="t">
            <a:spAutoFit/>
          </a:bodyPr>
          <a:lstStyle/>
          <a:p>
            <a:pPr algn="ctr">
              <a:spcAft>
                <a:spcPts val="0"/>
              </a:spcAft>
            </a:pPr>
            <a:r>
              <a:rPr sz="1350" b="0" i="0">
                <a:solidFill>
                  <a:srgbClr val="59697A"/>
                </a:solidFill>
                <a:latin typeface="Arial"/>
              </a:rPr>
              <a:t>These are 49 tissue-gene associations among 459 BH-FDR rows. A gene can appear in more than one tissue.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Annotation separates recovery from hypothesis extension</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label describes the relationship to prior evidence, not whether a gene is biologically plausible.</a:t>
            </a:r>
          </a:p>
        </p:txBody>
      </p:sp>
      <p:sp>
        <p:nvSpPr>
          <p:cNvPr id="7" name="Rounded Rectangle 6"/>
          <p:cNvSpPr/>
          <p:nvPr/>
        </p:nvSpPr>
        <p:spPr>
          <a:xfrm>
            <a:off x="411480" y="1828800"/>
            <a:ext cx="2331720" cy="832104"/>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2D6496"/>
                </a:solidFill>
                <a:latin typeface="Arial"/>
              </a:rPr>
              <a:t>1  Candidate</a:t>
            </a:r>
          </a:p>
        </p:txBody>
      </p:sp>
      <p:sp>
        <p:nvSpPr>
          <p:cNvPr id="9" name="TextBox 8"/>
          <p:cNvSpPr txBox="1"/>
          <p:nvPr/>
        </p:nvSpPr>
        <p:spPr>
          <a:xfrm>
            <a:off x="557784"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Gene + tissue +
FLT direction</a:t>
            </a:r>
          </a:p>
        </p:txBody>
      </p:sp>
      <p:sp>
        <p:nvSpPr>
          <p:cNvPr id="10" name="Right Arrow 9"/>
          <p:cNvSpPr/>
          <p:nvPr/>
        </p:nvSpPr>
        <p:spPr>
          <a:xfrm>
            <a:off x="2852928"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264408" y="1828800"/>
            <a:ext cx="2331720" cy="832104"/>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0712"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178681"/>
                </a:solidFill>
                <a:latin typeface="Arial"/>
              </a:rPr>
              <a:t>2  Search</a:t>
            </a:r>
          </a:p>
        </p:txBody>
      </p:sp>
      <p:sp>
        <p:nvSpPr>
          <p:cNvPr id="13" name="TextBox 12"/>
          <p:cNvSpPr txBox="1"/>
          <p:nvPr/>
        </p:nvSpPr>
        <p:spPr>
          <a:xfrm>
            <a:off x="3410712"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Spaceflight +
mechanism literature</a:t>
            </a:r>
          </a:p>
        </p:txBody>
      </p:sp>
      <p:sp>
        <p:nvSpPr>
          <p:cNvPr id="14" name="Right Arrow 13"/>
          <p:cNvSpPr/>
          <p:nvPr/>
        </p:nvSpPr>
        <p:spPr>
          <a:xfrm>
            <a:off x="5705856"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117336" y="1828800"/>
            <a:ext cx="2331720" cy="832104"/>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D37B00"/>
                </a:solidFill>
                <a:latin typeface="Arial"/>
              </a:rPr>
              <a:t>3  Classify</a:t>
            </a:r>
          </a:p>
        </p:txBody>
      </p:sp>
      <p:sp>
        <p:nvSpPr>
          <p:cNvPr id="17" name="TextBox 16"/>
          <p:cNvSpPr txBox="1"/>
          <p:nvPr/>
        </p:nvSpPr>
        <p:spPr>
          <a:xfrm>
            <a:off x="6263640"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Relation to
published evidence</a:t>
            </a:r>
          </a:p>
        </p:txBody>
      </p:sp>
      <p:sp>
        <p:nvSpPr>
          <p:cNvPr id="18" name="Right Arrow 17"/>
          <p:cNvSpPr/>
          <p:nvPr/>
        </p:nvSpPr>
        <p:spPr>
          <a:xfrm>
            <a:off x="8558784"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970263" y="1828800"/>
            <a:ext cx="2331720" cy="832104"/>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16567"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8063A6"/>
                </a:solidFill>
                <a:latin typeface="Arial"/>
              </a:rPr>
              <a:t>4  Interpret</a:t>
            </a:r>
          </a:p>
        </p:txBody>
      </p:sp>
      <p:sp>
        <p:nvSpPr>
          <p:cNvPr id="21" name="TextBox 20"/>
          <p:cNvSpPr txBox="1"/>
          <p:nvPr/>
        </p:nvSpPr>
        <p:spPr>
          <a:xfrm>
            <a:off x="9116567"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Recovery, extension,
or unmatched</a:t>
            </a:r>
          </a:p>
        </p:txBody>
      </p:sp>
      <p:sp>
        <p:nvSpPr>
          <p:cNvPr id="22" name="Rounded Rectangle 21"/>
          <p:cNvSpPr/>
          <p:nvPr/>
        </p:nvSpPr>
        <p:spPr>
          <a:xfrm>
            <a:off x="411480" y="2916936"/>
            <a:ext cx="6976872" cy="2980944"/>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3136392"/>
            <a:ext cx="638251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What the 26 promoted associations showed</a:t>
            </a:r>
          </a:p>
        </p:txBody>
      </p:sp>
      <p:sp>
        <p:nvSpPr>
          <p:cNvPr id="24" name="Oval 23"/>
          <p:cNvSpPr/>
          <p:nvPr/>
        </p:nvSpPr>
        <p:spPr>
          <a:xfrm>
            <a:off x="685800" y="3593592"/>
            <a:ext cx="338328" cy="338328"/>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639312"/>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11</a:t>
            </a:r>
          </a:p>
        </p:txBody>
      </p:sp>
      <p:sp>
        <p:nvSpPr>
          <p:cNvPr id="26" name="TextBox 25"/>
          <p:cNvSpPr txBox="1"/>
          <p:nvPr/>
        </p:nvSpPr>
        <p:spPr>
          <a:xfrm>
            <a:off x="1188720" y="3575304"/>
            <a:ext cx="1755648" cy="310896"/>
          </a:xfrm>
          <a:prstGeom prst="rect">
            <a:avLst/>
          </a:prstGeom>
          <a:noFill/>
        </p:spPr>
        <p:txBody>
          <a:bodyPr wrap="square" lIns="18288" rIns="18288" tIns="18288" bIns="18288" anchor="ctr">
            <a:spAutoFit/>
          </a:bodyPr>
          <a:lstStyle/>
          <a:p>
            <a:pPr algn="l">
              <a:spcAft>
                <a:spcPts val="0"/>
              </a:spcAft>
            </a:pPr>
            <a:r>
              <a:rPr sz="1420" b="1" i="0">
                <a:solidFill>
                  <a:srgbClr val="478A64"/>
                </a:solidFill>
                <a:latin typeface="Arial"/>
              </a:rPr>
              <a:t>Aligning</a:t>
            </a:r>
          </a:p>
        </p:txBody>
      </p:sp>
      <p:sp>
        <p:nvSpPr>
          <p:cNvPr id="27" name="TextBox 26"/>
          <p:cNvSpPr txBox="1"/>
          <p:nvPr/>
        </p:nvSpPr>
        <p:spPr>
          <a:xfrm>
            <a:off x="2907792" y="3575304"/>
            <a:ext cx="4160520" cy="310896"/>
          </a:xfrm>
          <a:prstGeom prst="rect">
            <a:avLst/>
          </a:prstGeom>
          <a:noFill/>
        </p:spPr>
        <p:txBody>
          <a:bodyPr wrap="square" lIns="18288" rIns="18288" tIns="18288" bIns="18288" anchor="ctr">
            <a:spAutoFit/>
          </a:bodyPr>
          <a:lstStyle/>
          <a:p>
            <a:pPr algn="l">
              <a:spcAft>
                <a:spcPts val="0"/>
              </a:spcAft>
            </a:pPr>
            <a:r>
              <a:rPr sz="1320" b="0" i="0">
                <a:solidFill>
                  <a:srgbClr val="263746"/>
                </a:solidFill>
                <a:latin typeface="Arial"/>
              </a:rPr>
              <a:t>3 exact matches + 8 same-tissue process matches</a:t>
            </a:r>
          </a:p>
        </p:txBody>
      </p:sp>
      <p:sp>
        <p:nvSpPr>
          <p:cNvPr id="28" name="Oval 27"/>
          <p:cNvSpPr/>
          <p:nvPr/>
        </p:nvSpPr>
        <p:spPr>
          <a:xfrm>
            <a:off x="685800" y="4114800"/>
            <a:ext cx="338328" cy="33832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160520"/>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13</a:t>
            </a:r>
          </a:p>
        </p:txBody>
      </p:sp>
      <p:sp>
        <p:nvSpPr>
          <p:cNvPr id="30" name="TextBox 29"/>
          <p:cNvSpPr txBox="1"/>
          <p:nvPr/>
        </p:nvSpPr>
        <p:spPr>
          <a:xfrm>
            <a:off x="1188720" y="4096512"/>
            <a:ext cx="1755648" cy="310896"/>
          </a:xfrm>
          <a:prstGeom prst="rect">
            <a:avLst/>
          </a:prstGeom>
          <a:noFill/>
        </p:spPr>
        <p:txBody>
          <a:bodyPr wrap="square" lIns="18288" rIns="18288" tIns="18288" bIns="18288" anchor="ctr">
            <a:spAutoFit/>
          </a:bodyPr>
          <a:lstStyle/>
          <a:p>
            <a:pPr algn="l">
              <a:spcAft>
                <a:spcPts val="0"/>
              </a:spcAft>
            </a:pPr>
            <a:r>
              <a:rPr sz="1420" b="1" i="0">
                <a:solidFill>
                  <a:srgbClr val="2D6496"/>
                </a:solidFill>
                <a:latin typeface="Arial"/>
              </a:rPr>
              <a:t>Complementary</a:t>
            </a:r>
          </a:p>
        </p:txBody>
      </p:sp>
      <p:sp>
        <p:nvSpPr>
          <p:cNvPr id="31" name="TextBox 30"/>
          <p:cNvSpPr txBox="1"/>
          <p:nvPr/>
        </p:nvSpPr>
        <p:spPr>
          <a:xfrm>
            <a:off x="2907792" y="4096512"/>
            <a:ext cx="4160520" cy="310896"/>
          </a:xfrm>
          <a:prstGeom prst="rect">
            <a:avLst/>
          </a:prstGeom>
          <a:noFill/>
        </p:spPr>
        <p:txBody>
          <a:bodyPr wrap="square" lIns="18288" rIns="18288" tIns="18288" bIns="18288" anchor="ctr">
            <a:spAutoFit/>
          </a:bodyPr>
          <a:lstStyle/>
          <a:p>
            <a:pPr algn="l">
              <a:spcAft>
                <a:spcPts val="0"/>
              </a:spcAft>
            </a:pPr>
            <a:r>
              <a:rPr sz="1320" b="0" i="0">
                <a:solidFill>
                  <a:srgbClr val="263746"/>
                </a:solidFill>
                <a:latin typeface="Arial"/>
              </a:rPr>
              <a:t>Related process or mechanism; not direct replication</a:t>
            </a:r>
          </a:p>
        </p:txBody>
      </p:sp>
      <p:sp>
        <p:nvSpPr>
          <p:cNvPr id="32" name="Oval 31"/>
          <p:cNvSpPr/>
          <p:nvPr/>
        </p:nvSpPr>
        <p:spPr>
          <a:xfrm>
            <a:off x="685800" y="4636007"/>
            <a:ext cx="338328" cy="338328"/>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4681728"/>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1</a:t>
            </a:r>
          </a:p>
        </p:txBody>
      </p:sp>
      <p:sp>
        <p:nvSpPr>
          <p:cNvPr id="34" name="TextBox 33"/>
          <p:cNvSpPr txBox="1"/>
          <p:nvPr/>
        </p:nvSpPr>
        <p:spPr>
          <a:xfrm>
            <a:off x="1188720" y="4617720"/>
            <a:ext cx="1755648" cy="310896"/>
          </a:xfrm>
          <a:prstGeom prst="rect">
            <a:avLst/>
          </a:prstGeom>
          <a:noFill/>
        </p:spPr>
        <p:txBody>
          <a:bodyPr wrap="square" lIns="18288" rIns="18288" tIns="18288" bIns="18288" anchor="ctr">
            <a:spAutoFit/>
          </a:bodyPr>
          <a:lstStyle/>
          <a:p>
            <a:pPr algn="l">
              <a:spcAft>
                <a:spcPts val="0"/>
              </a:spcAft>
            </a:pPr>
            <a:r>
              <a:rPr sz="1420" b="1" i="0">
                <a:solidFill>
                  <a:srgbClr val="D37B00"/>
                </a:solidFill>
                <a:latin typeface="Arial"/>
              </a:rPr>
              <a:t>Ambiguous</a:t>
            </a:r>
          </a:p>
        </p:txBody>
      </p:sp>
      <p:sp>
        <p:nvSpPr>
          <p:cNvPr id="35" name="TextBox 34"/>
          <p:cNvSpPr txBox="1"/>
          <p:nvPr/>
        </p:nvSpPr>
        <p:spPr>
          <a:xfrm>
            <a:off x="2907792" y="4617720"/>
            <a:ext cx="4160520" cy="310896"/>
          </a:xfrm>
          <a:prstGeom prst="rect">
            <a:avLst/>
          </a:prstGeom>
          <a:noFill/>
        </p:spPr>
        <p:txBody>
          <a:bodyPr wrap="square" lIns="18288" rIns="18288" tIns="18288" bIns="18288" anchor="ctr">
            <a:spAutoFit/>
          </a:bodyPr>
          <a:lstStyle/>
          <a:p>
            <a:pPr algn="l">
              <a:spcAft>
                <a:spcPts val="0"/>
              </a:spcAft>
            </a:pPr>
            <a:r>
              <a:rPr sz="1320" b="0" i="0">
                <a:solidFill>
                  <a:srgbClr val="263746"/>
                </a:solidFill>
                <a:latin typeface="Arial"/>
              </a:rPr>
              <a:t>Birc5 differed across mission contexts</a:t>
            </a:r>
          </a:p>
        </p:txBody>
      </p:sp>
      <p:sp>
        <p:nvSpPr>
          <p:cNvPr id="36" name="Oval 35"/>
          <p:cNvSpPr/>
          <p:nvPr/>
        </p:nvSpPr>
        <p:spPr>
          <a:xfrm>
            <a:off x="685800" y="5157216"/>
            <a:ext cx="338328" cy="338328"/>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5202936"/>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1</a:t>
            </a:r>
          </a:p>
        </p:txBody>
      </p:sp>
      <p:sp>
        <p:nvSpPr>
          <p:cNvPr id="38" name="TextBox 37"/>
          <p:cNvSpPr txBox="1"/>
          <p:nvPr/>
        </p:nvSpPr>
        <p:spPr>
          <a:xfrm>
            <a:off x="1188720" y="5138928"/>
            <a:ext cx="1755648" cy="310896"/>
          </a:xfrm>
          <a:prstGeom prst="rect">
            <a:avLst/>
          </a:prstGeom>
          <a:noFill/>
        </p:spPr>
        <p:txBody>
          <a:bodyPr wrap="square" lIns="18288" rIns="18288" tIns="18288" bIns="18288" anchor="ctr">
            <a:spAutoFit/>
          </a:bodyPr>
          <a:lstStyle/>
          <a:p>
            <a:pPr algn="l">
              <a:spcAft>
                <a:spcPts val="0"/>
              </a:spcAft>
            </a:pPr>
            <a:r>
              <a:rPr sz="1420" b="1" i="0">
                <a:solidFill>
                  <a:srgbClr val="8063A6"/>
                </a:solidFill>
                <a:latin typeface="Arial"/>
              </a:rPr>
              <a:t>Literature-unmatched</a:t>
            </a:r>
          </a:p>
        </p:txBody>
      </p:sp>
      <p:sp>
        <p:nvSpPr>
          <p:cNvPr id="39" name="TextBox 38"/>
          <p:cNvSpPr txBox="1"/>
          <p:nvPr/>
        </p:nvSpPr>
        <p:spPr>
          <a:xfrm>
            <a:off x="2907792" y="5138928"/>
            <a:ext cx="4160520" cy="310896"/>
          </a:xfrm>
          <a:prstGeom prst="rect">
            <a:avLst/>
          </a:prstGeom>
          <a:noFill/>
        </p:spPr>
        <p:txBody>
          <a:bodyPr wrap="square" lIns="18288" rIns="18288" tIns="18288" bIns="18288" anchor="ctr">
            <a:spAutoFit/>
          </a:bodyPr>
          <a:lstStyle/>
          <a:p>
            <a:pPr algn="l">
              <a:spcAft>
                <a:spcPts val="0"/>
              </a:spcAft>
            </a:pPr>
            <a:r>
              <a:rPr sz="1320" b="0" i="0">
                <a:solidFill>
                  <a:srgbClr val="263746"/>
                </a:solidFill>
                <a:latin typeface="Arial"/>
              </a:rPr>
              <a:t>Psmb8 remains mechanistically plausible</a:t>
            </a:r>
          </a:p>
        </p:txBody>
      </p:sp>
      <p:sp>
        <p:nvSpPr>
          <p:cNvPr id="40" name="Rounded Rectangle 39"/>
          <p:cNvSpPr/>
          <p:nvPr/>
        </p:nvSpPr>
        <p:spPr>
          <a:xfrm>
            <a:off x="7616952" y="2916936"/>
            <a:ext cx="4151376" cy="2980944"/>
          </a:xfrm>
          <a:prstGeom prst="roundRect">
            <a:avLst/>
          </a:prstGeom>
          <a:solidFill>
            <a:srgbClr val="F8F1E2"/>
          </a:solidFill>
          <a:ln w="10160">
            <a:solidFill>
              <a:srgbClr val="E3CE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00416" y="3136392"/>
            <a:ext cx="3602736" cy="310896"/>
          </a:xfrm>
          <a:prstGeom prst="rect">
            <a:avLst/>
          </a:prstGeom>
          <a:noFill/>
        </p:spPr>
        <p:txBody>
          <a:bodyPr wrap="square" lIns="18288" rIns="18288" tIns="18288" bIns="18288" anchor="t">
            <a:spAutoFit/>
          </a:bodyPr>
          <a:lstStyle/>
          <a:p>
            <a:pPr algn="l">
              <a:spcAft>
                <a:spcPts val="0"/>
              </a:spcAft>
            </a:pPr>
            <a:r>
              <a:rPr sz="1700" b="1" i="0">
                <a:solidFill>
                  <a:srgbClr val="9A6B20"/>
                </a:solidFill>
                <a:latin typeface="Arial"/>
              </a:rPr>
              <a:t>How to read a result</a:t>
            </a:r>
          </a:p>
        </p:txBody>
      </p:sp>
      <p:sp>
        <p:nvSpPr>
          <p:cNvPr id="42" name="Oval 41"/>
          <p:cNvSpPr/>
          <p:nvPr/>
        </p:nvSpPr>
        <p:spPr>
          <a:xfrm>
            <a:off x="7909560" y="3685032"/>
            <a:ext cx="91440" cy="9144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74152" y="3575304"/>
            <a:ext cx="3383279" cy="521207"/>
          </a:xfrm>
          <a:prstGeom prst="rect">
            <a:avLst/>
          </a:prstGeom>
          <a:noFill/>
        </p:spPr>
        <p:txBody>
          <a:bodyPr wrap="square" lIns="18288" rIns="18288" tIns="18288" bIns="18288" anchor="ctr">
            <a:spAutoFit/>
          </a:bodyPr>
          <a:lstStyle/>
          <a:p>
            <a:pPr algn="l">
              <a:spcAft>
                <a:spcPts val="0"/>
              </a:spcAft>
            </a:pPr>
            <a:r>
              <a:rPr sz="1250" b="0" i="0">
                <a:solidFill>
                  <a:srgbClr val="263746"/>
                </a:solidFill>
                <a:latin typeface="Arial"/>
              </a:rPr>
              <a:t>Promoted: synthetic guidance changed stable ranking</a:t>
            </a:r>
          </a:p>
        </p:txBody>
      </p:sp>
      <p:sp>
        <p:nvSpPr>
          <p:cNvPr id="44" name="Oval 43"/>
          <p:cNvSpPr/>
          <p:nvPr/>
        </p:nvSpPr>
        <p:spPr>
          <a:xfrm>
            <a:off x="7909560" y="4206240"/>
            <a:ext cx="91440" cy="9144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74152" y="4096512"/>
            <a:ext cx="3383279" cy="521207"/>
          </a:xfrm>
          <a:prstGeom prst="rect">
            <a:avLst/>
          </a:prstGeom>
          <a:noFill/>
        </p:spPr>
        <p:txBody>
          <a:bodyPr wrap="square" lIns="18288" rIns="18288" tIns="18288" bIns="18288" anchor="ctr">
            <a:spAutoFit/>
          </a:bodyPr>
          <a:lstStyle/>
          <a:p>
            <a:pPr algn="l">
              <a:spcAft>
                <a:spcPts val="0"/>
              </a:spcAft>
            </a:pPr>
            <a:r>
              <a:rPr sz="1250" b="0" i="0">
                <a:solidFill>
                  <a:srgbClr val="263746"/>
                </a:solidFill>
                <a:latin typeface="Arial"/>
              </a:rPr>
              <a:t>BH FDR: the association is present in real OSDR data</a:t>
            </a:r>
          </a:p>
        </p:txBody>
      </p:sp>
      <p:sp>
        <p:nvSpPr>
          <p:cNvPr id="46" name="Oval 45"/>
          <p:cNvSpPr/>
          <p:nvPr/>
        </p:nvSpPr>
        <p:spPr>
          <a:xfrm>
            <a:off x="7909560" y="4727448"/>
            <a:ext cx="91440" cy="9144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74152" y="4617720"/>
            <a:ext cx="3383279" cy="521207"/>
          </a:xfrm>
          <a:prstGeom prst="rect">
            <a:avLst/>
          </a:prstGeom>
          <a:noFill/>
        </p:spPr>
        <p:txBody>
          <a:bodyPr wrap="square" lIns="18288" rIns="18288" tIns="18288" bIns="18288" anchor="ctr">
            <a:spAutoFit/>
          </a:bodyPr>
          <a:lstStyle/>
          <a:p>
            <a:pPr algn="l">
              <a:spcAft>
                <a:spcPts val="0"/>
              </a:spcAft>
            </a:pPr>
            <a:r>
              <a:rPr sz="1250" b="0" i="0">
                <a:solidFill>
                  <a:srgbClr val="263746"/>
                </a:solidFill>
                <a:latin typeface="Arial"/>
              </a:rPr>
              <a:t>Literature class: direct, related, mixed, or unmatched</a:t>
            </a:r>
          </a:p>
        </p:txBody>
      </p:sp>
      <p:sp>
        <p:nvSpPr>
          <p:cNvPr id="48" name="Oval 47"/>
          <p:cNvSpPr/>
          <p:nvPr/>
        </p:nvSpPr>
        <p:spPr>
          <a:xfrm>
            <a:off x="7909560" y="5248656"/>
            <a:ext cx="91440" cy="9144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74152" y="5138928"/>
            <a:ext cx="3383279" cy="521207"/>
          </a:xfrm>
          <a:prstGeom prst="rect">
            <a:avLst/>
          </a:prstGeom>
          <a:noFill/>
        </p:spPr>
        <p:txBody>
          <a:bodyPr wrap="square" lIns="18288" rIns="18288" tIns="18288" bIns="18288" anchor="ctr">
            <a:spAutoFit/>
          </a:bodyPr>
          <a:lstStyle/>
          <a:p>
            <a:pPr algn="l">
              <a:spcAft>
                <a:spcPts val="0"/>
              </a:spcAft>
            </a:pPr>
            <a:r>
              <a:rPr sz="1250" b="0" i="0">
                <a:solidFill>
                  <a:srgbClr val="263746"/>
                </a:solidFill>
                <a:latin typeface="Arial"/>
              </a:rPr>
              <a:t>Interpretation: a testable hypothesis, not independent proof</a:t>
            </a:r>
          </a:p>
        </p:txBody>
      </p:sp>
      <p:sp>
        <p:nvSpPr>
          <p:cNvPr id="50" name="Rounded Rectangle 49"/>
          <p:cNvSpPr/>
          <p:nvPr/>
        </p:nvSpPr>
        <p:spPr>
          <a:xfrm>
            <a:off x="411480" y="6007608"/>
            <a:ext cx="11356848" cy="393192"/>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9224" y="6071616"/>
            <a:ext cx="10881360" cy="228600"/>
          </a:xfrm>
          <a:prstGeom prst="rect">
            <a:avLst/>
          </a:prstGeom>
          <a:noFill/>
        </p:spPr>
        <p:txBody>
          <a:bodyPr wrap="square" lIns="18288" rIns="18288" tIns="18288" bIns="18288" anchor="t">
            <a:spAutoFit/>
          </a:bodyPr>
          <a:lstStyle/>
          <a:p>
            <a:pPr algn="ctr">
              <a:spcAft>
                <a:spcPts val="0"/>
              </a:spcAft>
            </a:pPr>
            <a:r>
              <a:rPr sz="1400" b="1" i="0">
                <a:solidFill>
                  <a:srgbClr val="FFFFFF"/>
                </a:solidFill>
                <a:latin typeface="Arial"/>
              </a:rPr>
              <a:t>11 align and 13 extend prior biology; only 3 are exact gene-tissue-direction matches.</a:t>
            </a:r>
          </a:p>
        </p:txBody>
      </p:sp>
      <p:sp>
        <p:nvSpPr>
          <p:cNvPr id="52" name="TextBox 5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Targeted review completed 2026-08-03; full decisions and 19-source inventory are in Supplementary Tables S16-S17.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Synthetic-informed genes spanned 10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synthetic profiles affected prioritization, not the statistical test.</a:t>
            </a:r>
          </a:p>
        </p:txBody>
      </p:sp>
      <p:sp>
        <p:nvSpPr>
          <p:cNvPr id="7" name="TextBox 6"/>
          <p:cNvSpPr txBox="1"/>
          <p:nvPr/>
        </p:nvSpPr>
        <p:spPr>
          <a:xfrm>
            <a:off x="411480" y="1709928"/>
            <a:ext cx="1005840" cy="228600"/>
          </a:xfrm>
          <a:prstGeom prst="rect">
            <a:avLst/>
          </a:prstGeom>
          <a:noFill/>
        </p:spPr>
        <p:txBody>
          <a:bodyPr wrap="square" lIns="18288" rIns="18288" tIns="18288" bIns="18288" anchor="t">
            <a:spAutoFit/>
          </a:bodyPr>
          <a:lstStyle/>
          <a:p>
            <a:pPr algn="l">
              <a:spcAft>
                <a:spcPts val="0"/>
              </a:spcAft>
            </a:pPr>
            <a:r>
              <a:rPr sz="1019" b="1" i="0">
                <a:solidFill>
                  <a:srgbClr val="082B55"/>
                </a:solidFill>
                <a:latin typeface="Arial"/>
              </a:rPr>
              <a:t>P: promoted</a:t>
            </a:r>
          </a:p>
        </p:txBody>
      </p:sp>
      <p:sp>
        <p:nvSpPr>
          <p:cNvPr id="8" name="Rectangle 7"/>
          <p:cNvSpPr/>
          <p:nvPr/>
        </p:nvSpPr>
        <p:spPr>
          <a:xfrm>
            <a:off x="1417320"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91056" y="1691640"/>
            <a:ext cx="841248"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2331720"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05456" y="1691640"/>
            <a:ext cx="1115568"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3547872"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21608" y="1691640"/>
            <a:ext cx="932688"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4590288"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64024" y="1691640"/>
            <a:ext cx="1463040"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literature-unmatched</a:t>
            </a:r>
          </a:p>
        </p:txBody>
      </p:sp>
      <p:sp>
        <p:nvSpPr>
          <p:cNvPr id="16" name="Rectangle 15"/>
          <p:cNvSpPr/>
          <p:nvPr/>
        </p:nvSpPr>
        <p:spPr>
          <a:xfrm>
            <a:off x="6245352" y="1746504"/>
            <a:ext cx="128016" cy="45720"/>
          </a:xfrm>
          <a:prstGeom prst="rect">
            <a:avLst/>
          </a:prstGeom>
          <a:solidFill>
            <a:srgbClr val="5969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9088" y="1691640"/>
            <a:ext cx="1143000" cy="228600"/>
          </a:xfrm>
          <a:prstGeom prst="rect">
            <a:avLst/>
          </a:prstGeom>
          <a:noFill/>
        </p:spPr>
        <p:txBody>
          <a:bodyPr wrap="square" lIns="18288" rIns="18288" tIns="18288" bIns="18288" anchor="t">
            <a:spAutoFit/>
          </a:bodyPr>
          <a:lstStyle/>
          <a:p>
            <a:pPr algn="l">
              <a:spcAft>
                <a:spcPts val="0"/>
              </a:spcAft>
            </a:pPr>
            <a:r>
              <a:rPr sz="980" b="1" i="0">
                <a:solidFill>
                  <a:srgbClr val="59697A"/>
                </a:solidFill>
                <a:latin typeface="Arial"/>
              </a:rPr>
              <a:t>R: reinforced</a:t>
            </a:r>
          </a:p>
        </p:txBody>
      </p:sp>
      <p:sp>
        <p:nvSpPr>
          <p:cNvPr id="18" name="TextBox 17"/>
          <p:cNvSpPr txBox="1"/>
          <p:nvPr/>
        </p:nvSpPr>
        <p:spPr>
          <a:xfrm>
            <a:off x="9308592" y="1691640"/>
            <a:ext cx="2432304"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Direction is shown within each tissue.</a:t>
            </a:r>
          </a:p>
        </p:txBody>
      </p:sp>
      <p:sp>
        <p:nvSpPr>
          <p:cNvPr id="19" name="Rectangle 18"/>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 y="2112264"/>
            <a:ext cx="1170432"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21" name="TextBox 20"/>
          <p:cNvSpPr txBox="1"/>
          <p:nvPr/>
        </p:nvSpPr>
        <p:spPr>
          <a:xfrm>
            <a:off x="1645920" y="2103120"/>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22" name="TextBox 21"/>
          <p:cNvSpPr txBox="1"/>
          <p:nvPr/>
        </p:nvSpPr>
        <p:spPr>
          <a:xfrm>
            <a:off x="2331720" y="2103120"/>
            <a:ext cx="3611880" cy="310896"/>
          </a:xfrm>
          <a:prstGeom prst="rect">
            <a:avLst/>
          </a:prstGeom>
          <a:noFill/>
        </p:spPr>
        <p:txBody>
          <a:bodyPr wrap="square" lIns="0" rIns="0" tIns="0" bIns="0" anchor="t">
            <a:spAutoFit/>
          </a:bodyPr>
          <a:lstStyle/>
          <a:p>
            <a:pPr>
              <a:spcAft>
                <a:spcPts val="0"/>
              </a:spcAft>
            </a:pPr>
            <a:r>
              <a:rPr sz="980" b="1" i="1">
                <a:solidFill>
                  <a:srgbClr val="2D6496"/>
                </a:solidFill>
                <a:latin typeface="Arial"/>
              </a:rPr>
              <a:t>P:Hsd17b11</a:t>
            </a:r>
            <a:r>
              <a:rPr sz="980" b="0" i="0">
                <a:solidFill>
                  <a:srgbClr val="8A969E"/>
                </a:solidFill>
                <a:latin typeface="Arial"/>
              </a:rPr>
              <a:t>, </a:t>
            </a:r>
            <a:r>
              <a:rPr sz="980" b="1" i="1">
                <a:solidFill>
                  <a:srgbClr val="2D6496"/>
                </a:solidFill>
                <a:latin typeface="Arial"/>
              </a:rPr>
              <a:t>P:Etv1</a:t>
            </a:r>
            <a:r>
              <a:rPr sz="980" b="0" i="0">
                <a:solidFill>
                  <a:srgbClr val="8A969E"/>
                </a:solidFill>
                <a:latin typeface="Arial"/>
              </a:rPr>
              <a:t>, </a:t>
            </a:r>
            <a:r>
              <a:rPr sz="980" b="0" i="1">
                <a:solidFill>
                  <a:srgbClr val="59697A"/>
                </a:solidFill>
                <a:latin typeface="Arial"/>
              </a:rPr>
              <a:t>R:Snx7</a:t>
            </a:r>
          </a:p>
        </p:txBody>
      </p:sp>
      <p:sp>
        <p:nvSpPr>
          <p:cNvPr id="23" name="TextBox 22"/>
          <p:cNvSpPr txBox="1"/>
          <p:nvPr/>
        </p:nvSpPr>
        <p:spPr>
          <a:xfrm>
            <a:off x="1645920" y="2414016"/>
            <a:ext cx="621792" cy="219456"/>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24" name="TextBox 23"/>
          <p:cNvSpPr txBox="1"/>
          <p:nvPr/>
        </p:nvSpPr>
        <p:spPr>
          <a:xfrm>
            <a:off x="2331720" y="2414016"/>
            <a:ext cx="3611880" cy="914399"/>
          </a:xfrm>
          <a:prstGeom prst="rect">
            <a:avLst/>
          </a:prstGeom>
          <a:noFill/>
        </p:spPr>
        <p:txBody>
          <a:bodyPr wrap="square" lIns="0" rIns="0" tIns="0" bIns="0" anchor="t">
            <a:spAutoFit/>
          </a:bodyPr>
          <a:lstStyle/>
          <a:p>
            <a:pPr>
              <a:spcAft>
                <a:spcPts val="0"/>
              </a:spcAft>
            </a:pPr>
            <a:r>
              <a:rPr sz="980" b="1" i="1">
                <a:solidFill>
                  <a:srgbClr val="478A64"/>
                </a:solidFill>
                <a:latin typeface="Arial"/>
              </a:rPr>
              <a:t>P:Nusap1</a:t>
            </a:r>
            <a:r>
              <a:rPr sz="980" b="0" i="0">
                <a:solidFill>
                  <a:srgbClr val="8A969E"/>
                </a:solidFill>
                <a:latin typeface="Arial"/>
              </a:rPr>
              <a:t>, </a:t>
            </a:r>
            <a:r>
              <a:rPr sz="980" b="1" i="1">
                <a:solidFill>
                  <a:srgbClr val="478A64"/>
                </a:solidFill>
                <a:latin typeface="Arial"/>
              </a:rPr>
              <a:t>P:Stmn1</a:t>
            </a:r>
            <a:r>
              <a:rPr sz="980" b="0" i="0">
                <a:solidFill>
                  <a:srgbClr val="8A969E"/>
                </a:solidFill>
                <a:latin typeface="Arial"/>
              </a:rPr>
              <a:t>, </a:t>
            </a:r>
            <a:r>
              <a:rPr sz="980" b="1" i="1">
                <a:solidFill>
                  <a:srgbClr val="D37B00"/>
                </a:solidFill>
                <a:latin typeface="Arial"/>
              </a:rPr>
              <a:t>P:Birc5</a:t>
            </a:r>
            <a:r>
              <a:rPr sz="980" b="0" i="0">
                <a:solidFill>
                  <a:srgbClr val="8A969E"/>
                </a:solidFill>
                <a:latin typeface="Arial"/>
              </a:rPr>
              <a:t>, </a:t>
            </a:r>
            <a:r>
              <a:rPr sz="980" b="1" i="1">
                <a:solidFill>
                  <a:srgbClr val="478A64"/>
                </a:solidFill>
                <a:latin typeface="Arial"/>
              </a:rPr>
              <a:t>P:Cdk1</a:t>
            </a:r>
            <a:r>
              <a:rPr sz="980" b="0" i="0">
                <a:solidFill>
                  <a:srgbClr val="8A969E"/>
                </a:solidFill>
                <a:latin typeface="Arial"/>
              </a:rPr>
              <a:t>, </a:t>
            </a:r>
            <a:r>
              <a:rPr sz="980" b="1" i="1">
                <a:solidFill>
                  <a:srgbClr val="478A64"/>
                </a:solidFill>
                <a:latin typeface="Arial"/>
              </a:rPr>
              <a:t>P:Top2a</a:t>
            </a:r>
            <a:r>
              <a:rPr sz="980" b="0" i="0">
                <a:solidFill>
                  <a:srgbClr val="8A969E"/>
                </a:solidFill>
                <a:latin typeface="Arial"/>
              </a:rPr>
              <a:t>, </a:t>
            </a:r>
            <a:r>
              <a:rPr sz="980" b="1" i="1">
                <a:solidFill>
                  <a:srgbClr val="478A64"/>
                </a:solidFill>
                <a:latin typeface="Arial"/>
              </a:rPr>
              <a:t>P:Ccnb2</a:t>
            </a:r>
            <a:r>
              <a:rPr sz="980" b="0" i="0">
                <a:solidFill>
                  <a:srgbClr val="8A969E"/>
                </a:solidFill>
                <a:latin typeface="Arial"/>
              </a:rPr>
              <a:t>, </a:t>
            </a:r>
            <a:r>
              <a:rPr sz="980" b="1" i="1">
                <a:solidFill>
                  <a:srgbClr val="478A64"/>
                </a:solidFill>
                <a:latin typeface="Arial"/>
              </a:rPr>
              <a:t>P:Aurka</a:t>
            </a:r>
            <a:r>
              <a:rPr sz="980" b="0" i="0">
                <a:solidFill>
                  <a:srgbClr val="8A969E"/>
                </a:solidFill>
                <a:latin typeface="Arial"/>
              </a:rPr>
              <a:t>, </a:t>
            </a:r>
            <a:r>
              <a:rPr sz="980" b="1" i="1">
                <a:solidFill>
                  <a:srgbClr val="478A64"/>
                </a:solidFill>
                <a:latin typeface="Arial"/>
              </a:rPr>
              <a:t>P:Ccne2</a:t>
            </a:r>
            <a:r>
              <a:rPr sz="980" b="0" i="0">
                <a:solidFill>
                  <a:srgbClr val="8A969E"/>
                </a:solidFill>
                <a:latin typeface="Arial"/>
              </a:rPr>
              <a:t>, </a:t>
            </a:r>
            <a:r>
              <a:rPr sz="980" b="1" i="1">
                <a:solidFill>
                  <a:srgbClr val="478A64"/>
                </a:solidFill>
                <a:latin typeface="Arial"/>
              </a:rPr>
              <a:t>P:Kif20a</a:t>
            </a:r>
            <a:r>
              <a:rPr sz="980" b="0" i="0">
                <a:solidFill>
                  <a:srgbClr val="8A969E"/>
                </a:solidFill>
                <a:latin typeface="Arial"/>
              </a:rPr>
              <a:t>, </a:t>
            </a:r>
            <a:r>
              <a:rPr sz="980" b="1" i="1">
                <a:solidFill>
                  <a:srgbClr val="478A64"/>
                </a:solidFill>
                <a:latin typeface="Arial"/>
              </a:rPr>
              <a:t>P:Pcna</a:t>
            </a:r>
            <a:r>
              <a:rPr sz="980" b="0" i="0">
                <a:solidFill>
                  <a:srgbClr val="8A969E"/>
                </a:solidFill>
                <a:latin typeface="Arial"/>
              </a:rPr>
              <a:t>, </a:t>
            </a:r>
            <a:r>
              <a:rPr sz="980" b="1" i="1">
                <a:solidFill>
                  <a:srgbClr val="478A64"/>
                </a:solidFill>
                <a:latin typeface="Arial"/>
              </a:rPr>
              <a:t>P:Ccnf</a:t>
            </a:r>
            <a:r>
              <a:rPr sz="980" b="0" i="0">
                <a:solidFill>
                  <a:srgbClr val="8A969E"/>
                </a:solidFill>
                <a:latin typeface="Arial"/>
              </a:rPr>
              <a:t>, </a:t>
            </a:r>
            <a:r>
              <a:rPr sz="980" b="0" i="1">
                <a:solidFill>
                  <a:srgbClr val="59697A"/>
                </a:solidFill>
                <a:latin typeface="Arial"/>
              </a:rPr>
              <a:t>R:Ube2c</a:t>
            </a:r>
            <a:r>
              <a:rPr sz="980" b="0" i="0">
                <a:solidFill>
                  <a:srgbClr val="8A969E"/>
                </a:solidFill>
                <a:latin typeface="Arial"/>
              </a:rPr>
              <a:t>, </a:t>
            </a:r>
            <a:r>
              <a:rPr sz="980" b="0" i="1">
                <a:solidFill>
                  <a:srgbClr val="59697A"/>
                </a:solidFill>
                <a:latin typeface="Arial"/>
              </a:rPr>
              <a:t>R:Gmnn</a:t>
            </a:r>
          </a:p>
        </p:txBody>
      </p:sp>
      <p:sp>
        <p:nvSpPr>
          <p:cNvPr id="25" name="Rectangle 24"/>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8056" y="3520439"/>
            <a:ext cx="1170432"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27" name="TextBox 26"/>
          <p:cNvSpPr txBox="1"/>
          <p:nvPr/>
        </p:nvSpPr>
        <p:spPr>
          <a:xfrm>
            <a:off x="1645920" y="3511296"/>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28" name="TextBox 27"/>
          <p:cNvSpPr txBox="1"/>
          <p:nvPr/>
        </p:nvSpPr>
        <p:spPr>
          <a:xfrm>
            <a:off x="2331720" y="3511296"/>
            <a:ext cx="3611880" cy="274320"/>
          </a:xfrm>
          <a:prstGeom prst="rect">
            <a:avLst/>
          </a:prstGeom>
          <a:noFill/>
        </p:spPr>
        <p:txBody>
          <a:bodyPr wrap="square" lIns="0" rIns="0" tIns="0" bIns="0" anchor="t">
            <a:spAutoFit/>
          </a:bodyPr>
          <a:lstStyle/>
          <a:p>
            <a:pPr>
              <a:spcAft>
                <a:spcPts val="0"/>
              </a:spcAft>
            </a:pPr>
            <a:r>
              <a:rPr sz="980" b="1" i="1">
                <a:solidFill>
                  <a:srgbClr val="2D6496"/>
                </a:solidFill>
                <a:latin typeface="Arial"/>
              </a:rPr>
              <a:t>P:Rai14</a:t>
            </a:r>
            <a:r>
              <a:rPr sz="980" b="0" i="0">
                <a:solidFill>
                  <a:srgbClr val="8A969E"/>
                </a:solidFill>
                <a:latin typeface="Arial"/>
              </a:rPr>
              <a:t>, </a:t>
            </a:r>
            <a:r>
              <a:rPr sz="980" b="1" i="1">
                <a:solidFill>
                  <a:srgbClr val="2D6496"/>
                </a:solidFill>
                <a:latin typeface="Arial"/>
              </a:rPr>
              <a:t>P:Myl9</a:t>
            </a:r>
            <a:r>
              <a:rPr sz="980" b="0" i="0">
                <a:solidFill>
                  <a:srgbClr val="8A969E"/>
                </a:solidFill>
                <a:latin typeface="Arial"/>
              </a:rPr>
              <a:t>, </a:t>
            </a:r>
            <a:r>
              <a:rPr sz="980" b="1" i="1">
                <a:solidFill>
                  <a:srgbClr val="2D6496"/>
                </a:solidFill>
                <a:latin typeface="Arial"/>
              </a:rPr>
              <a:t>P:Ptprk</a:t>
            </a:r>
            <a:r>
              <a:rPr sz="980" b="0" i="0">
                <a:solidFill>
                  <a:srgbClr val="8A969E"/>
                </a:solidFill>
                <a:latin typeface="Arial"/>
              </a:rPr>
              <a:t>, </a:t>
            </a:r>
            <a:r>
              <a:rPr sz="980" b="0" i="1">
                <a:solidFill>
                  <a:srgbClr val="59697A"/>
                </a:solidFill>
                <a:latin typeface="Arial"/>
              </a:rPr>
              <a:t>R:Loxl1</a:t>
            </a:r>
          </a:p>
        </p:txBody>
      </p:sp>
      <p:sp>
        <p:nvSpPr>
          <p:cNvPr id="29" name="TextBox 28"/>
          <p:cNvSpPr txBox="1"/>
          <p:nvPr/>
        </p:nvSpPr>
        <p:spPr>
          <a:xfrm>
            <a:off x="1645920" y="3785615"/>
            <a:ext cx="621792" cy="219456"/>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30" name="TextBox 29"/>
          <p:cNvSpPr txBox="1"/>
          <p:nvPr/>
        </p:nvSpPr>
        <p:spPr>
          <a:xfrm>
            <a:off x="2331720" y="3785615"/>
            <a:ext cx="3611880" cy="237744"/>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31" name="Rectangle 30"/>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8056" y="4215384"/>
            <a:ext cx="1170432"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33" name="TextBox 32"/>
          <p:cNvSpPr txBox="1"/>
          <p:nvPr/>
        </p:nvSpPr>
        <p:spPr>
          <a:xfrm>
            <a:off x="1645920" y="4206240"/>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34" name="TextBox 33"/>
          <p:cNvSpPr txBox="1"/>
          <p:nvPr/>
        </p:nvSpPr>
        <p:spPr>
          <a:xfrm>
            <a:off x="2331720" y="4206240"/>
            <a:ext cx="3611880" cy="274320"/>
          </a:xfrm>
          <a:prstGeom prst="rect">
            <a:avLst/>
          </a:prstGeom>
          <a:noFill/>
        </p:spPr>
        <p:txBody>
          <a:bodyPr wrap="square" lIns="0" rIns="0" tIns="0" bIns="0" anchor="t">
            <a:spAutoFit/>
          </a:bodyPr>
          <a:lstStyle/>
          <a:p>
            <a:pPr>
              <a:spcAft>
                <a:spcPts val="0"/>
              </a:spcAft>
            </a:pPr>
            <a:r>
              <a:rPr sz="980" b="1" i="1">
                <a:solidFill>
                  <a:srgbClr val="2D6496"/>
                </a:solidFill>
                <a:latin typeface="Arial"/>
              </a:rPr>
              <a:t>P:Inpp4b</a:t>
            </a:r>
            <a:r>
              <a:rPr sz="980" b="0" i="0">
                <a:solidFill>
                  <a:srgbClr val="8A969E"/>
                </a:solidFill>
                <a:latin typeface="Arial"/>
              </a:rPr>
              <a:t>, </a:t>
            </a:r>
            <a:r>
              <a:rPr sz="980" b="0" i="1">
                <a:solidFill>
                  <a:srgbClr val="59697A"/>
                </a:solidFill>
                <a:latin typeface="Arial"/>
              </a:rPr>
              <a:t>R:Slc37a4</a:t>
            </a:r>
          </a:p>
        </p:txBody>
      </p:sp>
      <p:sp>
        <p:nvSpPr>
          <p:cNvPr id="35" name="TextBox 34"/>
          <p:cNvSpPr txBox="1"/>
          <p:nvPr/>
        </p:nvSpPr>
        <p:spPr>
          <a:xfrm>
            <a:off x="1645920" y="4480559"/>
            <a:ext cx="621792" cy="182880"/>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36" name="TextBox 35"/>
          <p:cNvSpPr txBox="1"/>
          <p:nvPr/>
        </p:nvSpPr>
        <p:spPr>
          <a:xfrm>
            <a:off x="2331720" y="4480559"/>
            <a:ext cx="3611880" cy="182880"/>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37" name="Rectangle 36"/>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8056" y="4855464"/>
            <a:ext cx="1170432"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Gastrocnemius
</a:t>
            </a:r>
            <a:r>
              <a:rPr sz="900" b="0" i="0">
                <a:solidFill>
                  <a:srgbClr val="8A969E"/>
                </a:solidFill>
                <a:latin typeface="Arial"/>
              </a:rPr>
              <a:t>2 genes</a:t>
            </a:r>
          </a:p>
        </p:txBody>
      </p:sp>
      <p:sp>
        <p:nvSpPr>
          <p:cNvPr id="39" name="TextBox 38"/>
          <p:cNvSpPr txBox="1"/>
          <p:nvPr/>
        </p:nvSpPr>
        <p:spPr>
          <a:xfrm>
            <a:off x="1645920" y="4846320"/>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40" name="TextBox 39"/>
          <p:cNvSpPr txBox="1"/>
          <p:nvPr/>
        </p:nvSpPr>
        <p:spPr>
          <a:xfrm>
            <a:off x="2331720" y="4846320"/>
            <a:ext cx="3611880" cy="246888"/>
          </a:xfrm>
          <a:prstGeom prst="rect">
            <a:avLst/>
          </a:prstGeom>
          <a:noFill/>
        </p:spPr>
        <p:txBody>
          <a:bodyPr wrap="square" lIns="0" rIns="0" tIns="0" bIns="0" anchor="t">
            <a:spAutoFit/>
          </a:bodyPr>
          <a:lstStyle/>
          <a:p>
            <a:pPr>
              <a:spcAft>
                <a:spcPts val="0"/>
              </a:spcAft>
            </a:pPr>
            <a:r>
              <a:rPr sz="980" b="1" i="1">
                <a:solidFill>
                  <a:srgbClr val="478A64"/>
                </a:solidFill>
                <a:latin typeface="Arial"/>
              </a:rPr>
              <a:t>P:Nfkbia</a:t>
            </a:r>
          </a:p>
        </p:txBody>
      </p:sp>
      <p:sp>
        <p:nvSpPr>
          <p:cNvPr id="41" name="TextBox 40"/>
          <p:cNvSpPr txBox="1"/>
          <p:nvPr/>
        </p:nvSpPr>
        <p:spPr>
          <a:xfrm>
            <a:off x="1645920" y="5093208"/>
            <a:ext cx="621792" cy="210311"/>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42" name="TextBox 41"/>
          <p:cNvSpPr txBox="1"/>
          <p:nvPr/>
        </p:nvSpPr>
        <p:spPr>
          <a:xfrm>
            <a:off x="2331720" y="5093208"/>
            <a:ext cx="3611880" cy="210311"/>
          </a:xfrm>
          <a:prstGeom prst="rect">
            <a:avLst/>
          </a:prstGeom>
          <a:noFill/>
        </p:spPr>
        <p:txBody>
          <a:bodyPr wrap="square" lIns="0" rIns="0" tIns="0" bIns="0" anchor="t">
            <a:spAutoFit/>
          </a:bodyPr>
          <a:lstStyle/>
          <a:p>
            <a:pPr>
              <a:spcAft>
                <a:spcPts val="0"/>
              </a:spcAft>
            </a:pPr>
            <a:r>
              <a:rPr sz="980" b="1" i="1">
                <a:solidFill>
                  <a:srgbClr val="2D6496"/>
                </a:solidFill>
                <a:latin typeface="Arial"/>
              </a:rPr>
              <a:t>P:Fhl2</a:t>
            </a:r>
          </a:p>
        </p:txBody>
      </p:sp>
      <p:sp>
        <p:nvSpPr>
          <p:cNvPr id="43" name="Rectangle 42"/>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056" y="5495544"/>
            <a:ext cx="1170432"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45" name="TextBox 44"/>
          <p:cNvSpPr txBox="1"/>
          <p:nvPr/>
        </p:nvSpPr>
        <p:spPr>
          <a:xfrm>
            <a:off x="1645920" y="5486400"/>
            <a:ext cx="621792" cy="17373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46" name="TextBox 45"/>
          <p:cNvSpPr txBox="1"/>
          <p:nvPr/>
        </p:nvSpPr>
        <p:spPr>
          <a:xfrm>
            <a:off x="2331720" y="5486400"/>
            <a:ext cx="3611880" cy="173736"/>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47" name="TextBox 46"/>
          <p:cNvSpPr txBox="1"/>
          <p:nvPr/>
        </p:nvSpPr>
        <p:spPr>
          <a:xfrm>
            <a:off x="1645920" y="5660136"/>
            <a:ext cx="621792" cy="192024"/>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48" name="TextBox 47"/>
          <p:cNvSpPr txBox="1"/>
          <p:nvPr/>
        </p:nvSpPr>
        <p:spPr>
          <a:xfrm>
            <a:off x="2331720" y="5660136"/>
            <a:ext cx="3611880" cy="192024"/>
          </a:xfrm>
          <a:prstGeom prst="rect">
            <a:avLst/>
          </a:prstGeom>
          <a:noFill/>
        </p:spPr>
        <p:txBody>
          <a:bodyPr wrap="square" lIns="0" rIns="0" tIns="0" bIns="0" anchor="t">
            <a:spAutoFit/>
          </a:bodyPr>
          <a:lstStyle/>
          <a:p>
            <a:pPr>
              <a:spcAft>
                <a:spcPts val="0"/>
              </a:spcAft>
            </a:pPr>
            <a:r>
              <a:rPr sz="980" b="0" i="1">
                <a:solidFill>
                  <a:srgbClr val="59697A"/>
                </a:solidFill>
                <a:latin typeface="Arial"/>
              </a:rPr>
              <a:t>R:Klhl21</a:t>
            </a:r>
          </a:p>
        </p:txBody>
      </p:sp>
      <p:sp>
        <p:nvSpPr>
          <p:cNvPr id="49" name="Rectangle 48"/>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36207" y="2112264"/>
            <a:ext cx="1170432" cy="105156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Skeletal muscle
(pooled)
</a:t>
            </a:r>
            <a:r>
              <a:rPr sz="900" b="0" i="0">
                <a:solidFill>
                  <a:srgbClr val="8A969E"/>
                </a:solidFill>
                <a:latin typeface="Arial"/>
              </a:rPr>
              <a:t>12 genes</a:t>
            </a:r>
          </a:p>
        </p:txBody>
      </p:sp>
      <p:sp>
        <p:nvSpPr>
          <p:cNvPr id="51" name="TextBox 50"/>
          <p:cNvSpPr txBox="1"/>
          <p:nvPr/>
        </p:nvSpPr>
        <p:spPr>
          <a:xfrm>
            <a:off x="7434071" y="2103120"/>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52" name="TextBox 51"/>
          <p:cNvSpPr txBox="1"/>
          <p:nvPr/>
        </p:nvSpPr>
        <p:spPr>
          <a:xfrm>
            <a:off x="8119871" y="2103120"/>
            <a:ext cx="3611880" cy="512064"/>
          </a:xfrm>
          <a:prstGeom prst="rect">
            <a:avLst/>
          </a:prstGeom>
          <a:noFill/>
        </p:spPr>
        <p:txBody>
          <a:bodyPr wrap="square" lIns="0" rIns="0" tIns="0" bIns="0" anchor="t">
            <a:spAutoFit/>
          </a:bodyPr>
          <a:lstStyle/>
          <a:p>
            <a:pPr>
              <a:spcAft>
                <a:spcPts val="0"/>
              </a:spcAft>
            </a:pPr>
            <a:r>
              <a:rPr sz="980" b="0" i="1">
                <a:solidFill>
                  <a:srgbClr val="59697A"/>
                </a:solidFill>
                <a:latin typeface="Arial"/>
              </a:rPr>
              <a:t>R:Sox4</a:t>
            </a:r>
            <a:r>
              <a:rPr sz="980" b="0" i="0">
                <a:solidFill>
                  <a:srgbClr val="8A969E"/>
                </a:solidFill>
                <a:latin typeface="Arial"/>
              </a:rPr>
              <a:t>, </a:t>
            </a:r>
            <a:r>
              <a:rPr sz="980" b="0" i="1">
                <a:solidFill>
                  <a:srgbClr val="59697A"/>
                </a:solidFill>
                <a:latin typeface="Arial"/>
              </a:rPr>
              <a:t>R:Cebpd</a:t>
            </a:r>
            <a:r>
              <a:rPr sz="980" b="0" i="0">
                <a:solidFill>
                  <a:srgbClr val="8A969E"/>
                </a:solidFill>
                <a:latin typeface="Arial"/>
              </a:rPr>
              <a:t>, </a:t>
            </a:r>
            <a:r>
              <a:rPr sz="980" b="0" i="1">
                <a:solidFill>
                  <a:srgbClr val="59697A"/>
                </a:solidFill>
                <a:latin typeface="Arial"/>
              </a:rPr>
              <a:t>R:Sh3bp5</a:t>
            </a:r>
            <a:r>
              <a:rPr sz="980" b="0" i="0">
                <a:solidFill>
                  <a:srgbClr val="8A969E"/>
                </a:solidFill>
                <a:latin typeface="Arial"/>
              </a:rPr>
              <a:t>, </a:t>
            </a:r>
            <a:r>
              <a:rPr sz="980" b="0" i="1">
                <a:solidFill>
                  <a:srgbClr val="59697A"/>
                </a:solidFill>
                <a:latin typeface="Arial"/>
              </a:rPr>
              <a:t>R:Prkcd</a:t>
            </a:r>
            <a:r>
              <a:rPr sz="980" b="0" i="0">
                <a:solidFill>
                  <a:srgbClr val="8A969E"/>
                </a:solidFill>
                <a:latin typeface="Arial"/>
              </a:rPr>
              <a:t>, </a:t>
            </a:r>
            <a:r>
              <a:rPr sz="980" b="0" i="1">
                <a:solidFill>
                  <a:srgbClr val="59697A"/>
                </a:solidFill>
                <a:latin typeface="Arial"/>
              </a:rPr>
              <a:t>R:Arid5b</a:t>
            </a:r>
            <a:r>
              <a:rPr sz="980" b="0" i="0">
                <a:solidFill>
                  <a:srgbClr val="8A969E"/>
                </a:solidFill>
                <a:latin typeface="Arial"/>
              </a:rPr>
              <a:t>, </a:t>
            </a:r>
            <a:r>
              <a:rPr sz="980" b="0" i="1">
                <a:solidFill>
                  <a:srgbClr val="59697A"/>
                </a:solidFill>
                <a:latin typeface="Arial"/>
              </a:rPr>
              <a:t>R:Sesn1</a:t>
            </a:r>
            <a:r>
              <a:rPr sz="980" b="0" i="0">
                <a:solidFill>
                  <a:srgbClr val="8A969E"/>
                </a:solidFill>
                <a:latin typeface="Arial"/>
              </a:rPr>
              <a:t>, </a:t>
            </a:r>
            <a:r>
              <a:rPr sz="980" b="0" i="1">
                <a:solidFill>
                  <a:srgbClr val="59697A"/>
                </a:solidFill>
                <a:latin typeface="Arial"/>
              </a:rPr>
              <a:t>R:Tle1</a:t>
            </a:r>
          </a:p>
        </p:txBody>
      </p:sp>
      <p:sp>
        <p:nvSpPr>
          <p:cNvPr id="53" name="TextBox 52"/>
          <p:cNvSpPr txBox="1"/>
          <p:nvPr/>
        </p:nvSpPr>
        <p:spPr>
          <a:xfrm>
            <a:off x="7434071" y="2615184"/>
            <a:ext cx="621792" cy="219456"/>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54" name="TextBox 53"/>
          <p:cNvSpPr txBox="1"/>
          <p:nvPr/>
        </p:nvSpPr>
        <p:spPr>
          <a:xfrm>
            <a:off x="8119871" y="2615184"/>
            <a:ext cx="3611880" cy="530352"/>
          </a:xfrm>
          <a:prstGeom prst="rect">
            <a:avLst/>
          </a:prstGeom>
          <a:noFill/>
        </p:spPr>
        <p:txBody>
          <a:bodyPr wrap="square" lIns="0" rIns="0" tIns="0" bIns="0" anchor="t">
            <a:spAutoFit/>
          </a:bodyPr>
          <a:lstStyle/>
          <a:p>
            <a:pPr>
              <a:spcAft>
                <a:spcPts val="0"/>
              </a:spcAft>
            </a:pPr>
            <a:r>
              <a:rPr sz="980" b="1" i="1">
                <a:solidFill>
                  <a:srgbClr val="2D6496"/>
                </a:solidFill>
                <a:latin typeface="Arial"/>
              </a:rPr>
              <a:t>P:Klhl21</a:t>
            </a:r>
            <a:r>
              <a:rPr sz="980" b="0" i="0">
                <a:solidFill>
                  <a:srgbClr val="8A969E"/>
                </a:solidFill>
                <a:latin typeface="Arial"/>
              </a:rPr>
              <a:t>, </a:t>
            </a:r>
            <a:r>
              <a:rPr sz="980" b="1" i="1">
                <a:solidFill>
                  <a:srgbClr val="2D6496"/>
                </a:solidFill>
                <a:latin typeface="Arial"/>
              </a:rPr>
              <a:t>P:Mapkapk5</a:t>
            </a:r>
            <a:r>
              <a:rPr sz="980" b="0" i="0">
                <a:solidFill>
                  <a:srgbClr val="8A969E"/>
                </a:solidFill>
                <a:latin typeface="Arial"/>
              </a:rPr>
              <a:t>, </a:t>
            </a:r>
            <a:r>
              <a:rPr sz="980" b="1" i="1">
                <a:solidFill>
                  <a:srgbClr val="2D6496"/>
                </a:solidFill>
                <a:latin typeface="Arial"/>
              </a:rPr>
              <a:t>P:Reep5</a:t>
            </a:r>
            <a:r>
              <a:rPr sz="980" b="0" i="0">
                <a:solidFill>
                  <a:srgbClr val="8A969E"/>
                </a:solidFill>
                <a:latin typeface="Arial"/>
              </a:rPr>
              <a:t>, </a:t>
            </a:r>
            <a:r>
              <a:rPr sz="980" b="1" i="1">
                <a:solidFill>
                  <a:srgbClr val="2D6496"/>
                </a:solidFill>
                <a:latin typeface="Arial"/>
              </a:rPr>
              <a:t>P:Itgb5</a:t>
            </a:r>
            <a:r>
              <a:rPr sz="980" b="0" i="0">
                <a:solidFill>
                  <a:srgbClr val="8A969E"/>
                </a:solidFill>
                <a:latin typeface="Arial"/>
              </a:rPr>
              <a:t>, </a:t>
            </a:r>
            <a:r>
              <a:rPr sz="980" b="0" i="1">
                <a:solidFill>
                  <a:srgbClr val="59697A"/>
                </a:solidFill>
                <a:latin typeface="Arial"/>
              </a:rPr>
              <a:t>R:Bphl</a:t>
            </a:r>
          </a:p>
        </p:txBody>
      </p:sp>
      <p:sp>
        <p:nvSpPr>
          <p:cNvPr id="55" name="Rectangle 54"/>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236207" y="3337560"/>
            <a:ext cx="1170432"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57" name="TextBox 56"/>
          <p:cNvSpPr txBox="1"/>
          <p:nvPr/>
        </p:nvSpPr>
        <p:spPr>
          <a:xfrm>
            <a:off x="7434071" y="3328416"/>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58" name="TextBox 57"/>
          <p:cNvSpPr txBox="1"/>
          <p:nvPr/>
        </p:nvSpPr>
        <p:spPr>
          <a:xfrm>
            <a:off x="8119871" y="3328416"/>
            <a:ext cx="3611880" cy="246888"/>
          </a:xfrm>
          <a:prstGeom prst="rect">
            <a:avLst/>
          </a:prstGeom>
          <a:noFill/>
        </p:spPr>
        <p:txBody>
          <a:bodyPr wrap="square" lIns="0" rIns="0" tIns="0" bIns="0" anchor="t">
            <a:spAutoFit/>
          </a:bodyPr>
          <a:lstStyle/>
          <a:p>
            <a:pPr>
              <a:spcAft>
                <a:spcPts val="0"/>
              </a:spcAft>
            </a:pPr>
            <a:r>
              <a:rPr sz="980" b="0" i="1">
                <a:solidFill>
                  <a:srgbClr val="59697A"/>
                </a:solidFill>
                <a:latin typeface="Arial"/>
              </a:rPr>
              <a:t>R:Tpm1</a:t>
            </a:r>
          </a:p>
        </p:txBody>
      </p:sp>
      <p:sp>
        <p:nvSpPr>
          <p:cNvPr id="59" name="TextBox 58"/>
          <p:cNvSpPr txBox="1"/>
          <p:nvPr/>
        </p:nvSpPr>
        <p:spPr>
          <a:xfrm>
            <a:off x="7434071" y="3575304"/>
            <a:ext cx="621792" cy="219456"/>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60" name="TextBox 59"/>
          <p:cNvSpPr txBox="1"/>
          <p:nvPr/>
        </p:nvSpPr>
        <p:spPr>
          <a:xfrm>
            <a:off x="8119871" y="3575304"/>
            <a:ext cx="3611880" cy="274320"/>
          </a:xfrm>
          <a:prstGeom prst="rect">
            <a:avLst/>
          </a:prstGeom>
          <a:noFill/>
        </p:spPr>
        <p:txBody>
          <a:bodyPr wrap="square" lIns="0" rIns="0" tIns="0" bIns="0" anchor="t">
            <a:spAutoFit/>
          </a:bodyPr>
          <a:lstStyle/>
          <a:p>
            <a:pPr>
              <a:spcAft>
                <a:spcPts val="0"/>
              </a:spcAft>
            </a:pPr>
            <a:r>
              <a:rPr sz="980" b="0" i="1">
                <a:solidFill>
                  <a:srgbClr val="59697A"/>
                </a:solidFill>
                <a:latin typeface="Arial"/>
              </a:rPr>
              <a:t>R:Bdh1</a:t>
            </a:r>
            <a:r>
              <a:rPr sz="980" b="0" i="0">
                <a:solidFill>
                  <a:srgbClr val="8A969E"/>
                </a:solidFill>
                <a:latin typeface="Arial"/>
              </a:rPr>
              <a:t>, </a:t>
            </a:r>
            <a:r>
              <a:rPr sz="980" b="0" i="1">
                <a:solidFill>
                  <a:srgbClr val="59697A"/>
                </a:solidFill>
                <a:latin typeface="Arial"/>
              </a:rPr>
              <a:t>R:Ech1</a:t>
            </a:r>
            <a:r>
              <a:rPr sz="980" b="0" i="0">
                <a:solidFill>
                  <a:srgbClr val="8A969E"/>
                </a:solidFill>
                <a:latin typeface="Arial"/>
              </a:rPr>
              <a:t>, </a:t>
            </a:r>
            <a:r>
              <a:rPr sz="980" b="0" i="1">
                <a:solidFill>
                  <a:srgbClr val="59697A"/>
                </a:solidFill>
                <a:latin typeface="Arial"/>
              </a:rPr>
              <a:t>R:Bnip3</a:t>
            </a:r>
            <a:r>
              <a:rPr sz="980" b="0" i="0">
                <a:solidFill>
                  <a:srgbClr val="8A969E"/>
                </a:solidFill>
                <a:latin typeface="Arial"/>
              </a:rPr>
              <a:t>, </a:t>
            </a:r>
            <a:r>
              <a:rPr sz="980" b="0" i="1">
                <a:solidFill>
                  <a:srgbClr val="59697A"/>
                </a:solidFill>
                <a:latin typeface="Arial"/>
              </a:rPr>
              <a:t>R:Decr1</a:t>
            </a:r>
          </a:p>
        </p:txBody>
      </p:sp>
      <p:sp>
        <p:nvSpPr>
          <p:cNvPr id="61" name="Rectangle 60"/>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236207" y="4041648"/>
            <a:ext cx="1170432" cy="539496"/>
          </a:xfrm>
          <a:prstGeom prst="rect">
            <a:avLst/>
          </a:prstGeom>
          <a:noFill/>
        </p:spPr>
        <p:txBody>
          <a:bodyPr wrap="square" lIns="0" rIns="0" tIns="0" bIns="0" anchor="t">
            <a:spAutoFit/>
          </a:bodyPr>
          <a:lstStyle/>
          <a:p>
            <a:pPr>
              <a:spcAft>
                <a:spcPts val="0"/>
              </a:spcAft>
            </a:pPr>
            <a:r>
              <a:rPr sz="1180" b="1" i="0">
                <a:solidFill>
                  <a:srgbClr val="082B55"/>
                </a:solidFill>
                <a:latin typeface="Arial"/>
              </a:rPr>
              <a:t>Tibialis anterior
</a:t>
            </a:r>
            <a:r>
              <a:rPr sz="900" b="0" i="0">
                <a:solidFill>
                  <a:srgbClr val="8A969E"/>
                </a:solidFill>
                <a:latin typeface="Arial"/>
              </a:rPr>
              <a:t>4 genes</a:t>
            </a:r>
          </a:p>
        </p:txBody>
      </p:sp>
      <p:sp>
        <p:nvSpPr>
          <p:cNvPr id="63" name="TextBox 62"/>
          <p:cNvSpPr txBox="1"/>
          <p:nvPr/>
        </p:nvSpPr>
        <p:spPr>
          <a:xfrm>
            <a:off x="7434071" y="4032503"/>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64" name="TextBox 63"/>
          <p:cNvSpPr txBox="1"/>
          <p:nvPr/>
        </p:nvSpPr>
        <p:spPr>
          <a:xfrm>
            <a:off x="8119871" y="4032503"/>
            <a:ext cx="3611880" cy="356616"/>
          </a:xfrm>
          <a:prstGeom prst="rect">
            <a:avLst/>
          </a:prstGeom>
          <a:noFill/>
        </p:spPr>
        <p:txBody>
          <a:bodyPr wrap="square" lIns="0" rIns="0" tIns="0" bIns="0" anchor="t">
            <a:spAutoFit/>
          </a:bodyPr>
          <a:lstStyle/>
          <a:p>
            <a:pPr>
              <a:spcAft>
                <a:spcPts val="0"/>
              </a:spcAft>
            </a:pPr>
            <a:r>
              <a:rPr sz="980" b="1" i="1">
                <a:solidFill>
                  <a:srgbClr val="2D6496"/>
                </a:solidFill>
                <a:latin typeface="Arial"/>
              </a:rPr>
              <a:t>P:Cebpd</a:t>
            </a:r>
            <a:r>
              <a:rPr sz="980" b="0" i="0">
                <a:solidFill>
                  <a:srgbClr val="8A969E"/>
                </a:solidFill>
                <a:latin typeface="Arial"/>
              </a:rPr>
              <a:t>, </a:t>
            </a:r>
            <a:r>
              <a:rPr sz="980" b="0" i="1">
                <a:solidFill>
                  <a:srgbClr val="59697A"/>
                </a:solidFill>
                <a:latin typeface="Arial"/>
              </a:rPr>
              <a:t>R:Cdkn1a</a:t>
            </a:r>
            <a:r>
              <a:rPr sz="980" b="0" i="0">
                <a:solidFill>
                  <a:srgbClr val="8A969E"/>
                </a:solidFill>
                <a:latin typeface="Arial"/>
              </a:rPr>
              <a:t>, </a:t>
            </a:r>
            <a:r>
              <a:rPr sz="980" b="0" i="1">
                <a:solidFill>
                  <a:srgbClr val="59697A"/>
                </a:solidFill>
                <a:latin typeface="Arial"/>
              </a:rPr>
              <a:t>R:St3gal5</a:t>
            </a:r>
            <a:r>
              <a:rPr sz="980" b="0" i="0">
                <a:solidFill>
                  <a:srgbClr val="8A969E"/>
                </a:solidFill>
                <a:latin typeface="Arial"/>
              </a:rPr>
              <a:t>, </a:t>
            </a:r>
            <a:r>
              <a:rPr sz="980" b="0" i="1">
                <a:solidFill>
                  <a:srgbClr val="59697A"/>
                </a:solidFill>
                <a:latin typeface="Arial"/>
              </a:rPr>
              <a:t>R:Bnip3</a:t>
            </a:r>
          </a:p>
        </p:txBody>
      </p:sp>
      <p:sp>
        <p:nvSpPr>
          <p:cNvPr id="65" name="TextBox 64"/>
          <p:cNvSpPr txBox="1"/>
          <p:nvPr/>
        </p:nvSpPr>
        <p:spPr>
          <a:xfrm>
            <a:off x="7434071" y="4389119"/>
            <a:ext cx="621792" cy="173735"/>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66" name="TextBox 65"/>
          <p:cNvSpPr txBox="1"/>
          <p:nvPr/>
        </p:nvSpPr>
        <p:spPr>
          <a:xfrm>
            <a:off x="8119871" y="4389119"/>
            <a:ext cx="3611880" cy="173735"/>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67" name="Rectangle 66"/>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236207" y="4754880"/>
            <a:ext cx="1170432"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Adrenal gland
</a:t>
            </a:r>
            <a:r>
              <a:rPr sz="900" b="0" i="0">
                <a:solidFill>
                  <a:srgbClr val="8A969E"/>
                </a:solidFill>
                <a:latin typeface="Arial"/>
              </a:rPr>
              <a:t>2 genes</a:t>
            </a:r>
          </a:p>
        </p:txBody>
      </p:sp>
      <p:sp>
        <p:nvSpPr>
          <p:cNvPr id="69" name="TextBox 68"/>
          <p:cNvSpPr txBox="1"/>
          <p:nvPr/>
        </p:nvSpPr>
        <p:spPr>
          <a:xfrm>
            <a:off x="7434071" y="4745736"/>
            <a:ext cx="621792" cy="164592"/>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70" name="TextBox 69"/>
          <p:cNvSpPr txBox="1"/>
          <p:nvPr/>
        </p:nvSpPr>
        <p:spPr>
          <a:xfrm>
            <a:off x="8119871" y="4745736"/>
            <a:ext cx="3611880" cy="164592"/>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71" name="TextBox 70"/>
          <p:cNvSpPr txBox="1"/>
          <p:nvPr/>
        </p:nvSpPr>
        <p:spPr>
          <a:xfrm>
            <a:off x="7434071" y="4910327"/>
            <a:ext cx="621792" cy="219456"/>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72" name="TextBox 71"/>
          <p:cNvSpPr txBox="1"/>
          <p:nvPr/>
        </p:nvSpPr>
        <p:spPr>
          <a:xfrm>
            <a:off x="8119871" y="4910327"/>
            <a:ext cx="3611880" cy="292608"/>
          </a:xfrm>
          <a:prstGeom prst="rect">
            <a:avLst/>
          </a:prstGeom>
          <a:noFill/>
        </p:spPr>
        <p:txBody>
          <a:bodyPr wrap="square" lIns="0" rIns="0" tIns="0" bIns="0" anchor="t">
            <a:spAutoFit/>
          </a:bodyPr>
          <a:lstStyle/>
          <a:p>
            <a:pPr>
              <a:spcAft>
                <a:spcPts val="0"/>
              </a:spcAft>
            </a:pPr>
            <a:r>
              <a:rPr sz="980" b="1" i="1">
                <a:solidFill>
                  <a:srgbClr val="8063A6"/>
                </a:solidFill>
                <a:latin typeface="Arial"/>
              </a:rPr>
              <a:t>P:Psmb8</a:t>
            </a:r>
            <a:r>
              <a:rPr sz="980" b="0" i="0">
                <a:solidFill>
                  <a:srgbClr val="8A969E"/>
                </a:solidFill>
                <a:latin typeface="Arial"/>
              </a:rPr>
              <a:t>, </a:t>
            </a:r>
            <a:r>
              <a:rPr sz="980" b="0" i="1">
                <a:solidFill>
                  <a:srgbClr val="59697A"/>
                </a:solidFill>
                <a:latin typeface="Arial"/>
              </a:rPr>
              <a:t>R:Tspan4</a:t>
            </a:r>
          </a:p>
        </p:txBody>
      </p:sp>
      <p:sp>
        <p:nvSpPr>
          <p:cNvPr id="73" name="Rectangle 72"/>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236207" y="5394960"/>
            <a:ext cx="1170432"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75" name="TextBox 74"/>
          <p:cNvSpPr txBox="1"/>
          <p:nvPr/>
        </p:nvSpPr>
        <p:spPr>
          <a:xfrm>
            <a:off x="7434071" y="5385816"/>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76" name="TextBox 75"/>
          <p:cNvSpPr txBox="1"/>
          <p:nvPr/>
        </p:nvSpPr>
        <p:spPr>
          <a:xfrm>
            <a:off x="8119871" y="5385816"/>
            <a:ext cx="3611880" cy="265176"/>
          </a:xfrm>
          <a:prstGeom prst="rect">
            <a:avLst/>
          </a:prstGeom>
          <a:noFill/>
        </p:spPr>
        <p:txBody>
          <a:bodyPr wrap="square" lIns="0" rIns="0" tIns="0" bIns="0" anchor="t">
            <a:spAutoFit/>
          </a:bodyPr>
          <a:lstStyle/>
          <a:p>
            <a:pPr>
              <a:spcAft>
                <a:spcPts val="0"/>
              </a:spcAft>
            </a:pPr>
            <a:r>
              <a:rPr sz="980" b="1" i="1">
                <a:solidFill>
                  <a:srgbClr val="2D6496"/>
                </a:solidFill>
                <a:latin typeface="Arial"/>
              </a:rPr>
              <a:t>P:Plscr1</a:t>
            </a:r>
          </a:p>
        </p:txBody>
      </p:sp>
      <p:sp>
        <p:nvSpPr>
          <p:cNvPr id="77" name="TextBox 76"/>
          <p:cNvSpPr txBox="1"/>
          <p:nvPr/>
        </p:nvSpPr>
        <p:spPr>
          <a:xfrm>
            <a:off x="7434071" y="5650992"/>
            <a:ext cx="621792" cy="137160"/>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78" name="TextBox 77"/>
          <p:cNvSpPr txBox="1"/>
          <p:nvPr/>
        </p:nvSpPr>
        <p:spPr>
          <a:xfrm>
            <a:off x="8119871" y="5650992"/>
            <a:ext cx="3611880" cy="137160"/>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79" name="TextBox 7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P/R reflects repeated feature selection. Literature colors apply to promoted genes only; full statistics are in Supplementary Table S10.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core panel recovers cell-cycle biology; two flight-higher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ounded Rectangle 7"/>
          <p:cNvSpPr/>
          <p:nvPr/>
        </p:nvSpPr>
        <p:spPr>
          <a:xfrm>
            <a:off x="8321040" y="1847088"/>
            <a:ext cx="3493008" cy="4178808"/>
          </a:xfrm>
          <a:prstGeom prst="round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37560"/>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96528" y="3227832"/>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22776"/>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96528" y="3813048"/>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50799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96528" y="4398264"/>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9320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96528" y="4983479"/>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This result strengthens an existing real-data pattern rather than promoting a new soleus gene.</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ounded Rectangle 7"/>
          <p:cNvSpPr/>
          <p:nvPr/>
        </p:nvSpPr>
        <p:spPr>
          <a:xfrm>
            <a:off x="8805672" y="1865376"/>
            <a:ext cx="2971800" cy="4133087"/>
          </a:xfrm>
          <a:prstGeom prst="round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0.925 -&gt;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661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53728" y="3456432"/>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96511"/>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53728" y="3986783"/>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26864"/>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53728" y="4517136"/>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5721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3728" y="5047488"/>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OTHER TISSUES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Kidney adds a focused signal; other tissues are exploratory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strongest process-level stories were thymus and soleus, but several tissues produced narrower candidates.</a:t>
            </a:r>
          </a:p>
        </p:txBody>
      </p:sp>
      <p:sp>
        <p:nvSpPr>
          <p:cNvPr id="7" name="Rectangle 6"/>
          <p:cNvSpPr/>
          <p:nvPr/>
        </p:nvSpPr>
        <p:spPr>
          <a:xfrm>
            <a:off x="393192" y="1847088"/>
            <a:ext cx="11375136" cy="66751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3192" y="1847088"/>
            <a:ext cx="73152" cy="66751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002536"/>
            <a:ext cx="1938528" cy="310896"/>
          </a:xfrm>
          <a:prstGeom prst="rect">
            <a:avLst/>
          </a:prstGeom>
          <a:noFill/>
        </p:spPr>
        <p:txBody>
          <a:bodyPr wrap="square" lIns="18288" rIns="18288" tIns="18288" bIns="18288" anchor="t">
            <a:spAutoFit/>
          </a:bodyPr>
          <a:lstStyle/>
          <a:p>
            <a:pPr algn="l">
              <a:spcAft>
                <a:spcPts val="0"/>
              </a:spcAft>
            </a:pPr>
            <a:r>
              <a:rPr sz="1600" b="1" i="0">
                <a:solidFill>
                  <a:srgbClr val="2D6496"/>
                </a:solidFill>
                <a:latin typeface="Arial"/>
              </a:rPr>
              <a:t>Kidney</a:t>
            </a:r>
          </a:p>
        </p:txBody>
      </p:sp>
      <p:sp>
        <p:nvSpPr>
          <p:cNvPr id="10" name="TextBox 9"/>
          <p:cNvSpPr txBox="1"/>
          <p:nvPr/>
        </p:nvSpPr>
        <p:spPr>
          <a:xfrm>
            <a:off x="2551176" y="1975104"/>
            <a:ext cx="7040880" cy="365760"/>
          </a:xfrm>
          <a:prstGeom prst="rect">
            <a:avLst/>
          </a:prstGeom>
          <a:noFill/>
        </p:spPr>
        <p:txBody>
          <a:bodyPr wrap="square" lIns="18288" rIns="18288" tIns="18288" bIns="18288" anchor="ctr">
            <a:spAutoFit/>
          </a:bodyPr>
          <a:lstStyle/>
          <a:p>
            <a:pPr algn="l">
              <a:spcAft>
                <a:spcPts val="0"/>
              </a:spcAft>
            </a:pPr>
            <a:r>
              <a:rPr sz="1400" b="0" i="0">
                <a:solidFill>
                  <a:srgbClr val="263746"/>
                </a:solidFill>
                <a:latin typeface="Arial"/>
              </a:rPr>
              <a:t>Inpp4b promoted, Slc37a4 reinforced; both higher in flight</a:t>
            </a:r>
          </a:p>
        </p:txBody>
      </p:sp>
      <p:sp>
        <p:nvSpPr>
          <p:cNvPr id="11" name="TextBox 10"/>
          <p:cNvSpPr txBox="1"/>
          <p:nvPr/>
        </p:nvSpPr>
        <p:spPr>
          <a:xfrm>
            <a:off x="9756648" y="1993392"/>
            <a:ext cx="1682496" cy="310896"/>
          </a:xfrm>
          <a:prstGeom prst="rect">
            <a:avLst/>
          </a:prstGeom>
          <a:noFill/>
        </p:spPr>
        <p:txBody>
          <a:bodyPr wrap="square" lIns="18288" rIns="18288" tIns="18288" bIns="18288" anchor="ctr">
            <a:spAutoFit/>
          </a:bodyPr>
          <a:lstStyle/>
          <a:p>
            <a:pPr algn="ctr">
              <a:spcAft>
                <a:spcPts val="0"/>
              </a:spcAft>
            </a:pPr>
            <a:r>
              <a:rPr sz="1250" b="1" i="0">
                <a:solidFill>
                  <a:srgbClr val="2D6496"/>
                </a:solidFill>
                <a:latin typeface="Arial"/>
              </a:rPr>
              <a:t>Focused secondary</a:t>
            </a:r>
          </a:p>
        </p:txBody>
      </p:sp>
      <p:sp>
        <p:nvSpPr>
          <p:cNvPr id="12" name="Rectangle 11"/>
          <p:cNvSpPr/>
          <p:nvPr/>
        </p:nvSpPr>
        <p:spPr>
          <a:xfrm>
            <a:off x="393192" y="2660904"/>
            <a:ext cx="11375136" cy="66751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93192" y="2660904"/>
            <a:ext cx="73152" cy="66751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816352"/>
            <a:ext cx="1938528" cy="310896"/>
          </a:xfrm>
          <a:prstGeom prst="rect">
            <a:avLst/>
          </a:prstGeom>
          <a:noFill/>
        </p:spPr>
        <p:txBody>
          <a:bodyPr wrap="square" lIns="18288" rIns="18288" tIns="18288" bIns="18288" anchor="t">
            <a:spAutoFit/>
          </a:bodyPr>
          <a:lstStyle/>
          <a:p>
            <a:pPr algn="l">
              <a:spcAft>
                <a:spcPts val="0"/>
              </a:spcAft>
            </a:pPr>
            <a:r>
              <a:rPr sz="1600" b="1" i="0">
                <a:solidFill>
                  <a:srgbClr val="8063A6"/>
                </a:solidFill>
                <a:latin typeface="Arial"/>
              </a:rPr>
              <a:t>Spleen</a:t>
            </a:r>
          </a:p>
        </p:txBody>
      </p:sp>
      <p:sp>
        <p:nvSpPr>
          <p:cNvPr id="15" name="TextBox 14"/>
          <p:cNvSpPr txBox="1"/>
          <p:nvPr/>
        </p:nvSpPr>
        <p:spPr>
          <a:xfrm>
            <a:off x="2551176" y="2788920"/>
            <a:ext cx="7040880" cy="365760"/>
          </a:xfrm>
          <a:prstGeom prst="rect">
            <a:avLst/>
          </a:prstGeom>
          <a:noFill/>
        </p:spPr>
        <p:txBody>
          <a:bodyPr wrap="square" lIns="18288" rIns="18288" tIns="18288" bIns="18288" anchor="ctr">
            <a:spAutoFit/>
          </a:bodyPr>
          <a:lstStyle/>
          <a:p>
            <a:pPr algn="l">
              <a:spcAft>
                <a:spcPts val="0"/>
              </a:spcAft>
            </a:pPr>
            <a:r>
              <a:rPr sz="1400" b="0" i="0">
                <a:solidFill>
                  <a:srgbClr val="263746"/>
                </a:solidFill>
                <a:latin typeface="Arial"/>
              </a:rPr>
              <a:t>Rai14, Ptprk and Myl9 promoted; Loxl1 reinforced; no Reactome enrichment</a:t>
            </a:r>
          </a:p>
        </p:txBody>
      </p:sp>
      <p:sp>
        <p:nvSpPr>
          <p:cNvPr id="16" name="TextBox 15"/>
          <p:cNvSpPr txBox="1"/>
          <p:nvPr/>
        </p:nvSpPr>
        <p:spPr>
          <a:xfrm>
            <a:off x="9756648" y="2807208"/>
            <a:ext cx="1682496" cy="310896"/>
          </a:xfrm>
          <a:prstGeom prst="rect">
            <a:avLst/>
          </a:prstGeom>
          <a:noFill/>
        </p:spPr>
        <p:txBody>
          <a:bodyPr wrap="square" lIns="18288" rIns="18288" tIns="18288" bIns="18288" anchor="ctr">
            <a:spAutoFit/>
          </a:bodyPr>
          <a:lstStyle/>
          <a:p>
            <a:pPr algn="ctr">
              <a:spcAft>
                <a:spcPts val="0"/>
              </a:spcAft>
            </a:pPr>
            <a:r>
              <a:rPr sz="1250" b="1" i="0">
                <a:solidFill>
                  <a:srgbClr val="8063A6"/>
                </a:solidFill>
                <a:latin typeface="Arial"/>
              </a:rPr>
              <a:t>Exploratory</a:t>
            </a:r>
          </a:p>
        </p:txBody>
      </p:sp>
      <p:sp>
        <p:nvSpPr>
          <p:cNvPr id="17" name="Rectangle 16"/>
          <p:cNvSpPr/>
          <p:nvPr/>
        </p:nvSpPr>
        <p:spPr>
          <a:xfrm>
            <a:off x="393192" y="3474720"/>
            <a:ext cx="11375136" cy="66751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3192" y="3474720"/>
            <a:ext cx="73152" cy="66751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630168"/>
            <a:ext cx="1938528" cy="310896"/>
          </a:xfrm>
          <a:prstGeom prst="rect">
            <a:avLst/>
          </a:prstGeom>
          <a:noFill/>
        </p:spPr>
        <p:txBody>
          <a:bodyPr wrap="square" lIns="18288" rIns="18288" tIns="18288" bIns="18288" anchor="t">
            <a:spAutoFit/>
          </a:bodyPr>
          <a:lstStyle/>
          <a:p>
            <a:pPr algn="l">
              <a:spcAft>
                <a:spcPts val="0"/>
              </a:spcAft>
            </a:pPr>
            <a:r>
              <a:rPr sz="1600" b="1" i="0">
                <a:solidFill>
                  <a:srgbClr val="D37B00"/>
                </a:solidFill>
                <a:latin typeface="Arial"/>
              </a:rPr>
              <a:t>Skin + adrenal</a:t>
            </a:r>
          </a:p>
        </p:txBody>
      </p:sp>
      <p:sp>
        <p:nvSpPr>
          <p:cNvPr id="20" name="TextBox 19"/>
          <p:cNvSpPr txBox="1"/>
          <p:nvPr/>
        </p:nvSpPr>
        <p:spPr>
          <a:xfrm>
            <a:off x="2551176" y="3602736"/>
            <a:ext cx="7040880" cy="365760"/>
          </a:xfrm>
          <a:prstGeom prst="rect">
            <a:avLst/>
          </a:prstGeom>
          <a:noFill/>
        </p:spPr>
        <p:txBody>
          <a:bodyPr wrap="square" lIns="18288" rIns="18288" tIns="18288" bIns="18288" anchor="ctr">
            <a:spAutoFit/>
          </a:bodyPr>
          <a:lstStyle/>
          <a:p>
            <a:pPr algn="l">
              <a:spcAft>
                <a:spcPts val="0"/>
              </a:spcAft>
            </a:pPr>
            <a:r>
              <a:rPr sz="1400" b="0" i="0">
                <a:solidFill>
                  <a:srgbClr val="263746"/>
                </a:solidFill>
                <a:latin typeface="Arial"/>
              </a:rPr>
              <a:t>Plscr1 higher in skin; adrenal Psmb8 is plausible but literature-unmatched</a:t>
            </a:r>
          </a:p>
        </p:txBody>
      </p:sp>
      <p:sp>
        <p:nvSpPr>
          <p:cNvPr id="21" name="TextBox 20"/>
          <p:cNvSpPr txBox="1"/>
          <p:nvPr/>
        </p:nvSpPr>
        <p:spPr>
          <a:xfrm>
            <a:off x="9756648" y="3621024"/>
            <a:ext cx="1682496" cy="310896"/>
          </a:xfrm>
          <a:prstGeom prst="rect">
            <a:avLst/>
          </a:prstGeom>
          <a:noFill/>
        </p:spPr>
        <p:txBody>
          <a:bodyPr wrap="square" lIns="18288" rIns="18288" tIns="18288" bIns="18288" anchor="ctr">
            <a:spAutoFit/>
          </a:bodyPr>
          <a:lstStyle/>
          <a:p>
            <a:pPr algn="ctr">
              <a:spcAft>
                <a:spcPts val="0"/>
              </a:spcAft>
            </a:pPr>
            <a:r>
              <a:rPr sz="1250" b="1" i="0">
                <a:solidFill>
                  <a:srgbClr val="D37B00"/>
                </a:solidFill>
                <a:latin typeface="Arial"/>
              </a:rPr>
              <a:t>Exploratory</a:t>
            </a:r>
          </a:p>
        </p:txBody>
      </p:sp>
      <p:sp>
        <p:nvSpPr>
          <p:cNvPr id="22" name="Rectangle 21"/>
          <p:cNvSpPr/>
          <p:nvPr/>
        </p:nvSpPr>
        <p:spPr>
          <a:xfrm>
            <a:off x="393192" y="4288536"/>
            <a:ext cx="11375136" cy="66751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93192" y="4288536"/>
            <a:ext cx="73152" cy="66751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443983"/>
            <a:ext cx="1938528" cy="310896"/>
          </a:xfrm>
          <a:prstGeom prst="rect">
            <a:avLst/>
          </a:prstGeom>
          <a:noFill/>
        </p:spPr>
        <p:txBody>
          <a:bodyPr wrap="square" lIns="18288" rIns="18288" tIns="18288" bIns="18288" anchor="t">
            <a:spAutoFit/>
          </a:bodyPr>
          <a:lstStyle/>
          <a:p>
            <a:pPr algn="l">
              <a:spcAft>
                <a:spcPts val="0"/>
              </a:spcAft>
            </a:pPr>
            <a:r>
              <a:rPr sz="1600" b="1" i="0">
                <a:solidFill>
                  <a:srgbClr val="178681"/>
                </a:solidFill>
                <a:latin typeface="Arial"/>
              </a:rPr>
              <a:t>Lung + retina</a:t>
            </a:r>
          </a:p>
        </p:txBody>
      </p:sp>
      <p:sp>
        <p:nvSpPr>
          <p:cNvPr id="25" name="TextBox 24"/>
          <p:cNvSpPr txBox="1"/>
          <p:nvPr/>
        </p:nvSpPr>
        <p:spPr>
          <a:xfrm>
            <a:off x="2551176" y="4416551"/>
            <a:ext cx="7040880" cy="365760"/>
          </a:xfrm>
          <a:prstGeom prst="rect">
            <a:avLst/>
          </a:prstGeom>
          <a:noFill/>
        </p:spPr>
        <p:txBody>
          <a:bodyPr wrap="square" lIns="18288" rIns="18288" tIns="18288" bIns="18288" anchor="ctr">
            <a:spAutoFit/>
          </a:bodyPr>
          <a:lstStyle/>
          <a:p>
            <a:pPr algn="l">
              <a:spcAft>
                <a:spcPts val="0"/>
              </a:spcAft>
            </a:pPr>
            <a:r>
              <a:rPr sz="1400" b="0" i="0">
                <a:solidFill>
                  <a:srgbClr val="263746"/>
                </a:solidFill>
                <a:latin typeface="Arial"/>
              </a:rPr>
              <a:t>Predictive gains without a synthetic-informed BH-FDR gene</a:t>
            </a:r>
          </a:p>
        </p:txBody>
      </p:sp>
      <p:sp>
        <p:nvSpPr>
          <p:cNvPr id="26" name="TextBox 25"/>
          <p:cNvSpPr txBox="1"/>
          <p:nvPr/>
        </p:nvSpPr>
        <p:spPr>
          <a:xfrm>
            <a:off x="9756648" y="4434840"/>
            <a:ext cx="1682496" cy="310896"/>
          </a:xfrm>
          <a:prstGeom prst="rect">
            <a:avLst/>
          </a:prstGeom>
          <a:noFill/>
        </p:spPr>
        <p:txBody>
          <a:bodyPr wrap="square" lIns="18288" rIns="18288" tIns="18288" bIns="18288" anchor="ctr">
            <a:spAutoFit/>
          </a:bodyPr>
          <a:lstStyle/>
          <a:p>
            <a:pPr algn="ctr">
              <a:spcAft>
                <a:spcPts val="0"/>
              </a:spcAft>
            </a:pPr>
            <a:r>
              <a:rPr sz="1250" b="1" i="0">
                <a:solidFill>
                  <a:srgbClr val="178681"/>
                </a:solidFill>
                <a:latin typeface="Arial"/>
              </a:rPr>
              <a:t>Prediction only</a:t>
            </a:r>
          </a:p>
        </p:txBody>
      </p:sp>
      <p:sp>
        <p:nvSpPr>
          <p:cNvPr id="27" name="Rectangle 26"/>
          <p:cNvSpPr/>
          <p:nvPr/>
        </p:nvSpPr>
        <p:spPr>
          <a:xfrm>
            <a:off x="393192" y="5102352"/>
            <a:ext cx="11375136" cy="66751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3192" y="5102352"/>
            <a:ext cx="73152" cy="66751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257800"/>
            <a:ext cx="1938528" cy="310896"/>
          </a:xfrm>
          <a:prstGeom prst="rect">
            <a:avLst/>
          </a:prstGeom>
          <a:noFill/>
        </p:spPr>
        <p:txBody>
          <a:bodyPr wrap="square" lIns="18288" rIns="18288" tIns="18288" bIns="18288" anchor="t">
            <a:spAutoFit/>
          </a:bodyPr>
          <a:lstStyle/>
          <a:p>
            <a:pPr algn="l">
              <a:spcAft>
                <a:spcPts val="0"/>
              </a:spcAft>
            </a:pPr>
            <a:r>
              <a:rPr sz="1600" b="1" i="0">
                <a:solidFill>
                  <a:srgbClr val="8A969E"/>
                </a:solidFill>
                <a:latin typeface="Arial"/>
              </a:rPr>
              <a:t>Liver + EDL + quadriceps</a:t>
            </a:r>
          </a:p>
        </p:txBody>
      </p:sp>
      <p:sp>
        <p:nvSpPr>
          <p:cNvPr id="30" name="TextBox 29"/>
          <p:cNvSpPr txBox="1"/>
          <p:nvPr/>
        </p:nvSpPr>
        <p:spPr>
          <a:xfrm>
            <a:off x="2551176" y="5230368"/>
            <a:ext cx="7040880" cy="365760"/>
          </a:xfrm>
          <a:prstGeom prst="rect">
            <a:avLst/>
          </a:prstGeom>
          <a:noFill/>
        </p:spPr>
        <p:txBody>
          <a:bodyPr wrap="square" lIns="18288" rIns="18288" tIns="18288" bIns="18288" anchor="ctr">
            <a:spAutoFit/>
          </a:bodyPr>
          <a:lstStyle/>
          <a:p>
            <a:pPr algn="l">
              <a:spcAft>
                <a:spcPts val="0"/>
              </a:spcAft>
            </a:pPr>
            <a:r>
              <a:rPr sz="1400" b="0" i="0">
                <a:solidFill>
                  <a:srgbClr val="263746"/>
                </a:solidFill>
                <a:latin typeface="Arial"/>
              </a:rPr>
              <a:t>Real-only arm retained</a:t>
            </a:r>
          </a:p>
        </p:txBody>
      </p:sp>
      <p:sp>
        <p:nvSpPr>
          <p:cNvPr id="31" name="TextBox 30"/>
          <p:cNvSpPr txBox="1"/>
          <p:nvPr/>
        </p:nvSpPr>
        <p:spPr>
          <a:xfrm>
            <a:off x="9756648" y="5248656"/>
            <a:ext cx="1682496" cy="310896"/>
          </a:xfrm>
          <a:prstGeom prst="rect">
            <a:avLst/>
          </a:prstGeom>
          <a:noFill/>
        </p:spPr>
        <p:txBody>
          <a:bodyPr wrap="square" lIns="18288" rIns="18288" tIns="18288" bIns="18288" anchor="ctr">
            <a:spAutoFit/>
          </a:bodyPr>
          <a:lstStyle/>
          <a:p>
            <a:pPr algn="ctr">
              <a:spcAft>
                <a:spcPts val="0"/>
              </a:spcAft>
            </a:pPr>
            <a:r>
              <a:rPr sz="1250" b="1" i="0">
                <a:solidFill>
                  <a:srgbClr val="8A969E"/>
                </a:solidFill>
                <a:latin typeface="Arial"/>
              </a:rPr>
              <a:t>No synthetic claim</a:t>
            </a:r>
          </a:p>
        </p:txBody>
      </p:sp>
      <p:sp>
        <p:nvSpPr>
          <p:cNvPr id="32" name="TextBox 31"/>
          <p:cNvSpPr txBox="1"/>
          <p:nvPr/>
        </p:nvSpPr>
        <p:spPr>
          <a:xfrm>
            <a:off x="685800" y="6035040"/>
            <a:ext cx="10789920" cy="301752"/>
          </a:xfrm>
          <a:prstGeom prst="rect">
            <a:avLst/>
          </a:prstGeom>
          <a:noFill/>
        </p:spPr>
        <p:txBody>
          <a:bodyPr wrap="square" lIns="18288" rIns="18288" tIns="18288" bIns="18288" anchor="t">
            <a:spAutoFit/>
          </a:bodyPr>
          <a:lstStyle/>
          <a:p>
            <a:pPr algn="ctr">
              <a:spcAft>
                <a:spcPts val="0"/>
              </a:spcAft>
            </a:pPr>
            <a:r>
              <a:rPr sz="1400" b="0" i="1">
                <a:solidFill>
                  <a:srgbClr val="59697A"/>
                </a:solidFill>
                <a:latin typeface="Arial"/>
              </a:rPr>
              <a:t>A plausible mechanism is not independent validation; these candidates still require targeted experiments.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helped most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created useful structure, not new biological replication.</a:t>
            </a:r>
          </a:p>
        </p:txBody>
      </p:sp>
      <p:sp>
        <p:nvSpPr>
          <p:cNvPr id="7" name="Rounded Rectangle 6"/>
          <p:cNvSpPr/>
          <p:nvPr/>
        </p:nvSpPr>
        <p:spPr>
          <a:xfrm>
            <a:off x="384048" y="1920240"/>
            <a:ext cx="3419856" cy="2487168"/>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21792" y="2167128"/>
            <a:ext cx="475488" cy="47548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1</a:t>
            </a:r>
          </a:p>
        </p:txBody>
      </p:sp>
      <p:sp>
        <p:nvSpPr>
          <p:cNvPr id="10" name="TextBox 9"/>
          <p:cNvSpPr txBox="1"/>
          <p:nvPr/>
        </p:nvSpPr>
        <p:spPr>
          <a:xfrm>
            <a:off x="1216152"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2D6496"/>
                </a:solidFill>
                <a:latin typeface="Arial"/>
              </a:rPr>
              <a:t>Generate</a:t>
            </a:r>
          </a:p>
        </p:txBody>
      </p:sp>
      <p:sp>
        <p:nvSpPr>
          <p:cNvPr id="11" name="TextBox 10"/>
          <p:cNvSpPr txBox="1"/>
          <p:nvPr/>
        </p:nvSpPr>
        <p:spPr>
          <a:xfrm>
            <a:off x="640080"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Conditional DDIM produced high-fidelity profiles with near-chance real-versus-synthetic separation.</a:t>
            </a:r>
          </a:p>
        </p:txBody>
      </p:sp>
      <p:sp>
        <p:nvSpPr>
          <p:cNvPr id="12" name="Rounded Rectangle 11"/>
          <p:cNvSpPr/>
          <p:nvPr/>
        </p:nvSpPr>
        <p:spPr>
          <a:xfrm>
            <a:off x="4059936" y="1920240"/>
            <a:ext cx="3419856" cy="2487168"/>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297680" y="2167128"/>
            <a:ext cx="475488" cy="475488"/>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2</a:t>
            </a:r>
          </a:p>
        </p:txBody>
      </p:sp>
      <p:sp>
        <p:nvSpPr>
          <p:cNvPr id="15" name="TextBox 14"/>
          <p:cNvSpPr txBox="1"/>
          <p:nvPr/>
        </p:nvSpPr>
        <p:spPr>
          <a:xfrm>
            <a:off x="4892040"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178681"/>
                </a:solidFill>
                <a:latin typeface="Arial"/>
              </a:rPr>
              <a:t>Use</a:t>
            </a:r>
          </a:p>
        </p:txBody>
      </p:sp>
      <p:sp>
        <p:nvSpPr>
          <p:cNvPr id="16" name="TextBox 15"/>
          <p:cNvSpPr txBox="1"/>
          <p:nvPr/>
        </p:nvSpPr>
        <p:spPr>
          <a:xfrm>
            <a:off x="4315968"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Pooled augmentation failed. Tissue-specific ranking and low-weight training were more useful.</a:t>
            </a:r>
          </a:p>
        </p:txBody>
      </p:sp>
      <p:sp>
        <p:nvSpPr>
          <p:cNvPr id="17" name="Rounded Rectangle 16"/>
          <p:cNvSpPr/>
          <p:nvPr/>
        </p:nvSpPr>
        <p:spPr>
          <a:xfrm>
            <a:off x="7735824" y="1920240"/>
            <a:ext cx="3419856" cy="2487168"/>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973568" y="2167128"/>
            <a:ext cx="475488" cy="475488"/>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73568"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3</a:t>
            </a:r>
          </a:p>
        </p:txBody>
      </p:sp>
      <p:sp>
        <p:nvSpPr>
          <p:cNvPr id="20" name="TextBox 19"/>
          <p:cNvSpPr txBox="1"/>
          <p:nvPr/>
        </p:nvSpPr>
        <p:spPr>
          <a:xfrm>
            <a:off x="8567928"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D37B00"/>
                </a:solidFill>
                <a:latin typeface="Arial"/>
              </a:rPr>
              <a:t>Interpret</a:t>
            </a:r>
          </a:p>
        </p:txBody>
      </p:sp>
      <p:sp>
        <p:nvSpPr>
          <p:cNvPr id="21" name="TextBox 20"/>
          <p:cNvSpPr txBox="1"/>
          <p:nvPr/>
        </p:nvSpPr>
        <p:spPr>
          <a:xfrm>
            <a:off x="7991856"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Thymus and soleus were clearest. Literature review separated recovery from complementary hypotheses.</a:t>
            </a:r>
          </a:p>
        </p:txBody>
      </p:sp>
      <p:sp>
        <p:nvSpPr>
          <p:cNvPr id="22" name="Rounded Rectangle 21"/>
          <p:cNvSpPr/>
          <p:nvPr/>
        </p:nvSpPr>
        <p:spPr>
          <a:xfrm>
            <a:off x="384048" y="4709160"/>
            <a:ext cx="10972800" cy="1188720"/>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10912"/>
            <a:ext cx="1261872" cy="310896"/>
          </a:xfrm>
          <a:prstGeom prst="rect">
            <a:avLst/>
          </a:prstGeom>
          <a:noFill/>
        </p:spPr>
        <p:txBody>
          <a:bodyPr wrap="square" lIns="18288" rIns="18288" tIns="18288" bIns="18288" anchor="t">
            <a:spAutoFit/>
          </a:bodyPr>
          <a:lstStyle/>
          <a:p>
            <a:pPr algn="l">
              <a:spcAft>
                <a:spcPts val="0"/>
              </a:spcAft>
            </a:pPr>
            <a:r>
              <a:rPr sz="1700" b="1" i="0">
                <a:solidFill>
                  <a:srgbClr val="FFD69A"/>
                </a:solidFill>
                <a:latin typeface="Arial"/>
              </a:rPr>
              <a:t>Next test</a:t>
            </a:r>
          </a:p>
        </p:txBody>
      </p:sp>
      <p:sp>
        <p:nvSpPr>
          <p:cNvPr id="24" name="TextBox 23"/>
          <p:cNvSpPr txBox="1"/>
          <p:nvPr/>
        </p:nvSpPr>
        <p:spPr>
          <a:xfrm>
            <a:off x="1874519" y="4937760"/>
            <a:ext cx="9070848" cy="530352"/>
          </a:xfrm>
          <a:prstGeom prst="rect">
            <a:avLst/>
          </a:prstGeom>
          <a:noFill/>
        </p:spPr>
        <p:txBody>
          <a:bodyPr wrap="square" lIns="18288" rIns="18288" tIns="18288" bIns="18288" anchor="ctr">
            <a:spAutoFit/>
          </a:bodyPr>
          <a:lstStyle/>
          <a:p>
            <a:pPr algn="l">
              <a:spcAft>
                <a:spcPts val="0"/>
              </a:spcAft>
            </a:pPr>
            <a:r>
              <a:rPr sz="1600" b="0" i="0">
                <a:solidFill>
                  <a:srgbClr val="FFFFFF"/>
                </a:solidFill>
                <a:latin typeface="Arial"/>
              </a:rPr>
              <a:t>Use independent samples and cell-resolved assays to test thymus proliferation, soleus metabolism, kidney signaling and adrenal Psmb8.</a:t>
            </a:r>
          </a:p>
        </p:txBody>
      </p:sp>
      <p:sp>
        <p:nvSpPr>
          <p:cNvPr id="25" name="TextBox 24"/>
          <p:cNvSpPr txBox="1"/>
          <p:nvPr/>
        </p:nvSpPr>
        <p:spPr>
          <a:xfrm>
            <a:off x="1874519" y="5532120"/>
            <a:ext cx="9070848" cy="256032"/>
          </a:xfrm>
          <a:prstGeom prst="rect">
            <a:avLst/>
          </a:prstGeom>
          <a:noFill/>
        </p:spPr>
        <p:txBody>
          <a:bodyPr wrap="square" lIns="18288" rIns="18288" tIns="18288" bIns="18288" anchor="t">
            <a:spAutoFit/>
          </a:bodyPr>
          <a:lstStyle/>
          <a:p>
            <a:pPr algn="l">
              <a:spcAft>
                <a:spcPts val="0"/>
              </a:spcAft>
            </a:pPr>
            <a:r>
              <a:rPr sz="1250" b="0" i="0">
                <a:solidFill>
                  <a:srgbClr val="BFD0E1"/>
                </a:solidFill>
                <a:latin typeface="Arial"/>
              </a:rPr>
              <a:t>Generated profiles never enter the biological sample count or the BH-FDR test.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