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column shows the alternatives available at one pipeline stage;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left image is Figure 1C from Lacan and colleagues. It shows their residual dense denoiser, conditioned on diffusion timestep and tissue, which predicts the noise added to a sample. Our implementation follows that architecture and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discussion focuses later, but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TextBox 21"/>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23" name="TextBox 22"/>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24" name="TextBox 23"/>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25" name="TextBox 24"/>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26" name="TextBox 25"/>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27" name="TextBox 26"/>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28" name="TextBox 27"/>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29" name="TextBox 28"/>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30" name="Rectangle 29"/>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34" name="TextBox 33"/>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35" name="TextBox 34"/>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36" name="TextBox 35"/>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37" name="Right Arrow 36"/>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9" name="TextBox 38"/>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40" name="TextBox 39"/>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41" name="Rectangle 40"/>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43" name="TextBox 42"/>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44" name="TextBox 43"/>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45" name="TextBox 44"/>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46" name="TextBox 45"/>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47" name="TextBox 46"/>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48" name="TextBox 47"/>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49" name="TextBox 4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358444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438912" y="2675147"/>
            <a:ext cx="3675887" cy="1343112"/>
          </a:xfrm>
          <a:prstGeom prst="rect">
            <a:avLst/>
          </a:prstGeom>
        </p:spPr>
      </p:pic>
      <p:sp>
        <p:nvSpPr>
          <p:cNvPr id="9" name="TextBox 8"/>
          <p:cNvSpPr txBox="1"/>
          <p:nvPr/>
        </p:nvSpPr>
        <p:spPr>
          <a:xfrm>
            <a:off x="512064" y="4507992"/>
            <a:ext cx="3529584" cy="256032"/>
          </a:xfrm>
          <a:prstGeom prst="rect">
            <a:avLst/>
          </a:prstGeom>
          <a:noFill/>
        </p:spPr>
        <p:txBody>
          <a:bodyPr wrap="square" lIns="18288" rIns="18288" tIns="18288" bIns="18288" anchor="t">
            <a:spAutoFit/>
          </a:bodyPr>
          <a:lstStyle/>
          <a:p>
            <a:pPr algn="ctr">
              <a:spcAft>
                <a:spcPts val="0"/>
              </a:spcAft>
            </a:pPr>
            <a:r>
              <a:rPr sz="1080" b="1" i="0">
                <a:solidFill>
                  <a:srgbClr val="263746"/>
                </a:solidFill>
                <a:latin typeface="Arial"/>
              </a:rPr>
              <a:t>Residual dense denoiser conditioned on timestep and tissue.</a:t>
            </a:r>
          </a:p>
        </p:txBody>
      </p:sp>
      <p:sp>
        <p:nvSpPr>
          <p:cNvPr id="10" name="TextBox 9"/>
          <p:cNvSpPr txBox="1"/>
          <p:nvPr/>
        </p:nvSpPr>
        <p:spPr>
          <a:xfrm>
            <a:off x="512064" y="4828032"/>
            <a:ext cx="3529584" cy="347472"/>
          </a:xfrm>
          <a:prstGeom prst="rect">
            <a:avLst/>
          </a:prstGeom>
          <a:noFill/>
        </p:spPr>
        <p:txBody>
          <a:bodyPr wrap="square" lIns="18288" rIns="18288" tIns="18288" bIns="18288" anchor="t">
            <a:spAutoFit/>
          </a:bodyPr>
          <a:lstStyle/>
          <a:p>
            <a:pPr algn="ctr">
              <a:spcAft>
                <a:spcPts val="0"/>
              </a:spcAft>
            </a:pPr>
            <a:r>
              <a:rPr sz="1010" b="0" i="0">
                <a:solidFill>
                  <a:srgbClr val="59697A"/>
                </a:solidFill>
                <a:latin typeface="Arial"/>
              </a:rPr>
              <a:t>OSDR adaptation adds FLT/GC, accession and material context through LoRA.</a:t>
            </a:r>
          </a:p>
        </p:txBody>
      </p:sp>
      <p:sp>
        <p:nvSpPr>
          <p:cNvPr id="11" name="Rectangle 10"/>
          <p:cNvSpPr/>
          <p:nvPr/>
        </p:nvSpPr>
        <p:spPr>
          <a:xfrm>
            <a:off x="4233672" y="1874519"/>
            <a:ext cx="13716" cy="342900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8848" y="1984248"/>
            <a:ext cx="19202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Metric</a:t>
            </a:r>
          </a:p>
        </p:txBody>
      </p:sp>
      <p:sp>
        <p:nvSpPr>
          <p:cNvPr id="13" name="TextBox 12"/>
          <p:cNvSpPr txBox="1"/>
          <p:nvPr/>
        </p:nvSpPr>
        <p:spPr>
          <a:xfrm>
            <a:off x="6720840" y="1984248"/>
            <a:ext cx="1188720" cy="256032"/>
          </a:xfrm>
          <a:prstGeom prst="rect">
            <a:avLst/>
          </a:prstGeom>
          <a:noFill/>
        </p:spPr>
        <p:txBody>
          <a:bodyPr wrap="square" lIns="18288" rIns="18288" tIns="18288" bIns="18288" anchor="t">
            <a:spAutoFit/>
          </a:bodyPr>
          <a:lstStyle/>
          <a:p>
            <a:pPr algn="ctr">
              <a:spcAft>
                <a:spcPts val="0"/>
              </a:spcAft>
            </a:pPr>
            <a:r>
              <a:rPr sz="1150" b="1" i="0">
                <a:solidFill>
                  <a:srgbClr val="D96552"/>
                </a:solidFill>
                <a:latin typeface="Arial"/>
              </a:rPr>
              <a:t>WGAN-GP</a:t>
            </a:r>
          </a:p>
        </p:txBody>
      </p:sp>
      <p:sp>
        <p:nvSpPr>
          <p:cNvPr id="14" name="TextBox 13"/>
          <p:cNvSpPr txBox="1"/>
          <p:nvPr/>
        </p:nvSpPr>
        <p:spPr>
          <a:xfrm>
            <a:off x="8311896" y="1984248"/>
            <a:ext cx="1188720" cy="256032"/>
          </a:xfrm>
          <a:prstGeom prst="rect">
            <a:avLst/>
          </a:prstGeom>
          <a:noFill/>
        </p:spPr>
        <p:txBody>
          <a:bodyPr wrap="square" lIns="18288" rIns="18288" tIns="18288" bIns="18288" anchor="t">
            <a:spAutoFit/>
          </a:bodyPr>
          <a:lstStyle/>
          <a:p>
            <a:pPr algn="ctr">
              <a:spcAft>
                <a:spcPts val="0"/>
              </a:spcAft>
            </a:pPr>
            <a:r>
              <a:rPr sz="1150" b="1" i="0">
                <a:solidFill>
                  <a:srgbClr val="178681"/>
                </a:solidFill>
                <a:latin typeface="Arial"/>
              </a:rPr>
              <a:t>DDIM</a:t>
            </a:r>
          </a:p>
        </p:txBody>
      </p:sp>
      <p:sp>
        <p:nvSpPr>
          <p:cNvPr id="15" name="TextBox 14"/>
          <p:cNvSpPr txBox="1"/>
          <p:nvPr/>
        </p:nvSpPr>
        <p:spPr>
          <a:xfrm>
            <a:off x="9838944" y="1984248"/>
            <a:ext cx="1627632"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How to read it</a:t>
            </a:r>
          </a:p>
        </p:txBody>
      </p:sp>
      <p:sp>
        <p:nvSpPr>
          <p:cNvPr id="16" name="Rectangle 15"/>
          <p:cNvSpPr/>
          <p:nvPr/>
        </p:nvSpPr>
        <p:spPr>
          <a:xfrm>
            <a:off x="4498848" y="2340864"/>
            <a:ext cx="7059168"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05456"/>
            <a:ext cx="7086600" cy="49377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2856" y="2578608"/>
            <a:ext cx="1920240" cy="310896"/>
          </a:xfrm>
          <a:prstGeom prst="rect">
            <a:avLst/>
          </a:prstGeom>
          <a:noFill/>
        </p:spPr>
        <p:txBody>
          <a:bodyPr wrap="square" lIns="18288" rIns="18288" tIns="18288" bIns="18288" anchor="t">
            <a:spAutoFit/>
          </a:bodyPr>
          <a:lstStyle/>
          <a:p>
            <a:pPr algn="l">
              <a:spcAft>
                <a:spcPts val="0"/>
              </a:spcAft>
            </a:pPr>
            <a:r>
              <a:rPr sz="1350" b="0" i="0">
                <a:solidFill>
                  <a:srgbClr val="263746"/>
                </a:solidFill>
                <a:latin typeface="Arial"/>
              </a:rPr>
              <a:t>Correlation</a:t>
            </a:r>
          </a:p>
        </p:txBody>
      </p:sp>
      <p:sp>
        <p:nvSpPr>
          <p:cNvPr id="19" name="TextBox 18"/>
          <p:cNvSpPr txBox="1"/>
          <p:nvPr/>
        </p:nvSpPr>
        <p:spPr>
          <a:xfrm>
            <a:off x="6684264" y="2578608"/>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0.976</a:t>
            </a:r>
          </a:p>
        </p:txBody>
      </p:sp>
      <p:sp>
        <p:nvSpPr>
          <p:cNvPr id="20" name="TextBox 19"/>
          <p:cNvSpPr txBox="1"/>
          <p:nvPr/>
        </p:nvSpPr>
        <p:spPr>
          <a:xfrm>
            <a:off x="8275320" y="2578608"/>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0.974</a:t>
            </a:r>
          </a:p>
        </p:txBody>
      </p:sp>
      <p:sp>
        <p:nvSpPr>
          <p:cNvPr id="21" name="TextBox 20"/>
          <p:cNvSpPr txBox="1"/>
          <p:nvPr/>
        </p:nvSpPr>
        <p:spPr>
          <a:xfrm>
            <a:off x="9857232" y="2578608"/>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similar</a:t>
            </a:r>
          </a:p>
        </p:txBody>
      </p:sp>
      <p:sp>
        <p:nvSpPr>
          <p:cNvPr id="22" name="TextBox 21"/>
          <p:cNvSpPr txBox="1"/>
          <p:nvPr/>
        </p:nvSpPr>
        <p:spPr>
          <a:xfrm>
            <a:off x="4562856" y="3163824"/>
            <a:ext cx="1920240" cy="310896"/>
          </a:xfrm>
          <a:prstGeom prst="rect">
            <a:avLst/>
          </a:prstGeom>
          <a:noFill/>
        </p:spPr>
        <p:txBody>
          <a:bodyPr wrap="square" lIns="18288" rIns="18288" tIns="18288" bIns="18288" anchor="t">
            <a:spAutoFit/>
          </a:bodyPr>
          <a:lstStyle/>
          <a:p>
            <a:pPr algn="l">
              <a:spcAft>
                <a:spcPts val="0"/>
              </a:spcAft>
            </a:pPr>
            <a:r>
              <a:rPr sz="1350" b="0" i="0">
                <a:solidFill>
                  <a:srgbClr val="263746"/>
                </a:solidFill>
                <a:latin typeface="Arial"/>
              </a:rPr>
              <a:t>F1</a:t>
            </a:r>
          </a:p>
        </p:txBody>
      </p:sp>
      <p:sp>
        <p:nvSpPr>
          <p:cNvPr id="23" name="TextBox 22"/>
          <p:cNvSpPr txBox="1"/>
          <p:nvPr/>
        </p:nvSpPr>
        <p:spPr>
          <a:xfrm>
            <a:off x="6684264" y="3163824"/>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0.985</a:t>
            </a:r>
          </a:p>
        </p:txBody>
      </p:sp>
      <p:sp>
        <p:nvSpPr>
          <p:cNvPr id="24" name="TextBox 23"/>
          <p:cNvSpPr txBox="1"/>
          <p:nvPr/>
        </p:nvSpPr>
        <p:spPr>
          <a:xfrm>
            <a:off x="8275320" y="3163824"/>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0.997</a:t>
            </a:r>
          </a:p>
        </p:txBody>
      </p:sp>
      <p:sp>
        <p:nvSpPr>
          <p:cNvPr id="25" name="TextBox 24"/>
          <p:cNvSpPr txBox="1"/>
          <p:nvPr/>
        </p:nvSpPr>
        <p:spPr>
          <a:xfrm>
            <a:off x="9857232" y="3163824"/>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higher</a:t>
            </a:r>
          </a:p>
        </p:txBody>
      </p:sp>
      <p:sp>
        <p:nvSpPr>
          <p:cNvPr id="26" name="Rectangle 25"/>
          <p:cNvSpPr/>
          <p:nvPr/>
        </p:nvSpPr>
        <p:spPr>
          <a:xfrm>
            <a:off x="4480560" y="3675887"/>
            <a:ext cx="7086600" cy="49377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62856" y="3749039"/>
            <a:ext cx="1920240" cy="310896"/>
          </a:xfrm>
          <a:prstGeom prst="rect">
            <a:avLst/>
          </a:prstGeom>
          <a:noFill/>
        </p:spPr>
        <p:txBody>
          <a:bodyPr wrap="square" lIns="18288" rIns="18288" tIns="18288" bIns="18288" anchor="t">
            <a:spAutoFit/>
          </a:bodyPr>
          <a:lstStyle/>
          <a:p>
            <a:pPr algn="l">
              <a:spcAft>
                <a:spcPts val="0"/>
              </a:spcAft>
            </a:pPr>
            <a:r>
              <a:rPr sz="1350" b="1" i="0">
                <a:solidFill>
                  <a:srgbClr val="263746"/>
                </a:solidFill>
                <a:latin typeface="Arial"/>
              </a:rPr>
              <a:t>Adversarial accuracy</a:t>
            </a:r>
          </a:p>
        </p:txBody>
      </p:sp>
      <p:sp>
        <p:nvSpPr>
          <p:cNvPr id="28" name="TextBox 27"/>
          <p:cNvSpPr txBox="1"/>
          <p:nvPr/>
        </p:nvSpPr>
        <p:spPr>
          <a:xfrm>
            <a:off x="6684264" y="3749039"/>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0.636</a:t>
            </a:r>
          </a:p>
        </p:txBody>
      </p:sp>
      <p:sp>
        <p:nvSpPr>
          <p:cNvPr id="29" name="TextBox 28"/>
          <p:cNvSpPr txBox="1"/>
          <p:nvPr/>
        </p:nvSpPr>
        <p:spPr>
          <a:xfrm>
            <a:off x="8275320" y="3749039"/>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0.475</a:t>
            </a:r>
          </a:p>
        </p:txBody>
      </p:sp>
      <p:sp>
        <p:nvSpPr>
          <p:cNvPr id="30" name="TextBox 29"/>
          <p:cNvSpPr txBox="1"/>
          <p:nvPr/>
        </p:nvSpPr>
        <p:spPr>
          <a:xfrm>
            <a:off x="9857232" y="3749039"/>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closer to 0.5</a:t>
            </a:r>
          </a:p>
        </p:txBody>
      </p:sp>
      <p:sp>
        <p:nvSpPr>
          <p:cNvPr id="31" name="TextBox 30"/>
          <p:cNvSpPr txBox="1"/>
          <p:nvPr/>
        </p:nvSpPr>
        <p:spPr>
          <a:xfrm>
            <a:off x="4562856" y="4334256"/>
            <a:ext cx="1920240" cy="310896"/>
          </a:xfrm>
          <a:prstGeom prst="rect">
            <a:avLst/>
          </a:prstGeom>
          <a:noFill/>
        </p:spPr>
        <p:txBody>
          <a:bodyPr wrap="square" lIns="18288" rIns="18288" tIns="18288" bIns="18288" anchor="t">
            <a:spAutoFit/>
          </a:bodyPr>
          <a:lstStyle/>
          <a:p>
            <a:pPr algn="l">
              <a:spcAft>
                <a:spcPts val="0"/>
              </a:spcAft>
            </a:pPr>
            <a:r>
              <a:rPr sz="1350" b="1" i="0">
                <a:solidFill>
                  <a:srgbClr val="263746"/>
                </a:solidFill>
                <a:latin typeface="Arial"/>
              </a:rPr>
              <a:t>FD / real P95</a:t>
            </a:r>
          </a:p>
        </p:txBody>
      </p:sp>
      <p:sp>
        <p:nvSpPr>
          <p:cNvPr id="32" name="TextBox 31"/>
          <p:cNvSpPr txBox="1"/>
          <p:nvPr/>
        </p:nvSpPr>
        <p:spPr>
          <a:xfrm>
            <a:off x="6684264" y="4334256"/>
            <a:ext cx="1261872" cy="310896"/>
          </a:xfrm>
          <a:prstGeom prst="rect">
            <a:avLst/>
          </a:prstGeom>
          <a:noFill/>
        </p:spPr>
        <p:txBody>
          <a:bodyPr wrap="square" lIns="18288" rIns="18288" tIns="18288" bIns="18288" anchor="t">
            <a:spAutoFit/>
          </a:bodyPr>
          <a:lstStyle/>
          <a:p>
            <a:pPr algn="ctr">
              <a:spcAft>
                <a:spcPts val="0"/>
              </a:spcAft>
            </a:pPr>
            <a:r>
              <a:rPr sz="1550" b="1" i="0">
                <a:solidFill>
                  <a:srgbClr val="D96552"/>
                </a:solidFill>
                <a:latin typeface="Arial"/>
              </a:rPr>
              <a:t>0.144</a:t>
            </a:r>
          </a:p>
        </p:txBody>
      </p:sp>
      <p:sp>
        <p:nvSpPr>
          <p:cNvPr id="33" name="TextBox 32"/>
          <p:cNvSpPr txBox="1"/>
          <p:nvPr/>
        </p:nvSpPr>
        <p:spPr>
          <a:xfrm>
            <a:off x="8275320" y="4334256"/>
            <a:ext cx="1261872" cy="310896"/>
          </a:xfrm>
          <a:prstGeom prst="rect">
            <a:avLst/>
          </a:prstGeom>
          <a:noFill/>
        </p:spPr>
        <p:txBody>
          <a:bodyPr wrap="square" lIns="18288" rIns="18288" tIns="18288" bIns="18288" anchor="t">
            <a:spAutoFit/>
          </a:bodyPr>
          <a:lstStyle/>
          <a:p>
            <a:pPr algn="ctr">
              <a:spcAft>
                <a:spcPts val="0"/>
              </a:spcAft>
            </a:pPr>
            <a:r>
              <a:rPr sz="1550" b="1" i="0">
                <a:solidFill>
                  <a:srgbClr val="178681"/>
                </a:solidFill>
                <a:latin typeface="Arial"/>
              </a:rPr>
              <a:t>0.074</a:t>
            </a:r>
          </a:p>
        </p:txBody>
      </p:sp>
      <p:sp>
        <p:nvSpPr>
          <p:cNvPr id="34" name="TextBox 33"/>
          <p:cNvSpPr txBox="1"/>
          <p:nvPr/>
        </p:nvSpPr>
        <p:spPr>
          <a:xfrm>
            <a:off x="9857232" y="4334256"/>
            <a:ext cx="1481328" cy="310896"/>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lower</a:t>
            </a:r>
          </a:p>
        </p:txBody>
      </p:sp>
      <p:sp>
        <p:nvSpPr>
          <p:cNvPr id="35" name="TextBox 34"/>
          <p:cNvSpPr txBox="1"/>
          <p:nvPr/>
        </p:nvSpPr>
        <p:spPr>
          <a:xfrm>
            <a:off x="502920" y="5431536"/>
            <a:ext cx="1463040" cy="219456"/>
          </a:xfrm>
          <a:prstGeom prst="rect">
            <a:avLst/>
          </a:prstGeom>
          <a:noFill/>
        </p:spPr>
        <p:txBody>
          <a:bodyPr wrap="square" lIns="0" rIns="0" tIns="0" bIns="0" anchor="t">
            <a:spAutoFit/>
          </a:bodyPr>
          <a:lstStyle/>
          <a:p>
            <a:pPr algn="l">
              <a:spcAft>
                <a:spcPts val="0"/>
              </a:spcAft>
            </a:pPr>
            <a:r>
              <a:rPr sz="1000" b="1" i="0">
                <a:solidFill>
                  <a:srgbClr val="2D6496"/>
                </a:solidFill>
                <a:latin typeface="Arial"/>
              </a:rPr>
              <a:t>ARCHS4 tissue probe</a:t>
            </a:r>
          </a:p>
        </p:txBody>
      </p:sp>
      <p:sp>
        <p:nvSpPr>
          <p:cNvPr id="36" name="TextBox 35"/>
          <p:cNvSpPr txBox="1"/>
          <p:nvPr/>
        </p:nvSpPr>
        <p:spPr>
          <a:xfrm>
            <a:off x="1874519" y="5413248"/>
            <a:ext cx="2231136" cy="246888"/>
          </a:xfrm>
          <a:prstGeom prst="rect">
            <a:avLst/>
          </a:prstGeom>
          <a:noFill/>
        </p:spPr>
        <p:txBody>
          <a:bodyPr wrap="square" lIns="0" rIns="0" tIns="0" bIns="0" anchor="t">
            <a:spAutoFit/>
          </a:bodyPr>
          <a:lstStyle/>
          <a:p>
            <a:pPr algn="r">
              <a:spcAft>
                <a:spcPts val="0"/>
              </a:spcAft>
            </a:pPr>
            <a:r>
              <a:rPr sz="1000" b="0" i="0">
                <a:solidFill>
                  <a:srgbClr val="263746"/>
                </a:solidFill>
                <a:latin typeface="Arial"/>
              </a:rPr>
              <a:t>Real 0.781  |  Synthetic 0.781</a:t>
            </a:r>
          </a:p>
        </p:txBody>
      </p:sp>
      <p:sp>
        <p:nvSpPr>
          <p:cNvPr id="37" name="Rectangle 36"/>
          <p:cNvSpPr/>
          <p:nvPr/>
        </p:nvSpPr>
        <p:spPr>
          <a:xfrm>
            <a:off x="4498848" y="5266944"/>
            <a:ext cx="50292" cy="67665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36592" y="5358384"/>
            <a:ext cx="1353312" cy="283464"/>
          </a:xfrm>
          <a:prstGeom prst="rect">
            <a:avLst/>
          </a:prstGeom>
          <a:noFill/>
        </p:spPr>
        <p:txBody>
          <a:bodyPr wrap="square" lIns="0" rIns="0" tIns="0" bIns="0" anchor="t">
            <a:spAutoFit/>
          </a:bodyPr>
          <a:lstStyle/>
          <a:p>
            <a:pPr algn="l">
              <a:spcAft>
                <a:spcPts val="0"/>
              </a:spcAft>
            </a:pPr>
            <a:r>
              <a:rPr sz="1700" b="1" i="0">
                <a:solidFill>
                  <a:srgbClr val="082B55"/>
                </a:solidFill>
                <a:latin typeface="Arial"/>
              </a:rPr>
              <a:t>Use DDIM</a:t>
            </a:r>
          </a:p>
        </p:txBody>
      </p:sp>
      <p:sp>
        <p:nvSpPr>
          <p:cNvPr id="39" name="TextBox 38"/>
          <p:cNvSpPr txBox="1"/>
          <p:nvPr/>
        </p:nvSpPr>
        <p:spPr>
          <a:xfrm>
            <a:off x="6272784" y="5349240"/>
            <a:ext cx="5084064" cy="292608"/>
          </a:xfrm>
          <a:prstGeom prst="rect">
            <a:avLst/>
          </a:prstGeom>
          <a:noFill/>
        </p:spPr>
        <p:txBody>
          <a:bodyPr wrap="square" lIns="0" rIns="0" tIns="0" bIns="0" anchor="t">
            <a:spAutoFit/>
          </a:bodyPr>
          <a:lstStyle/>
          <a:p>
            <a:pPr algn="l">
              <a:spcAft>
                <a:spcPts val="0"/>
              </a:spcAft>
            </a:pPr>
            <a:r>
              <a:rPr sz="1330" b="0" i="0">
                <a:solidFill>
                  <a:srgbClr val="263746"/>
                </a:solidFill>
                <a:latin typeface="Arial"/>
              </a:rPr>
              <a:t>Comparable correlation, higher F1, and lower separability and FD.</a:t>
            </a:r>
          </a:p>
        </p:txBody>
      </p:sp>
      <p:sp>
        <p:nvSpPr>
          <p:cNvPr id="40" name="TextBox 39"/>
          <p:cNvSpPr txBox="1"/>
          <p:nvPr/>
        </p:nvSpPr>
        <p:spPr>
          <a:xfrm>
            <a:off x="4736592" y="5742432"/>
            <a:ext cx="6620256" cy="228600"/>
          </a:xfrm>
          <a:prstGeom prst="rect">
            <a:avLst/>
          </a:prstGeom>
          <a:noFill/>
        </p:spPr>
        <p:txBody>
          <a:bodyPr wrap="square" lIns="0" rIns="0" tIns="0" bIns="0" anchor="t">
            <a:spAutoFit/>
          </a:bodyPr>
          <a:lstStyle/>
          <a:p>
            <a:pPr algn="l">
              <a:spcAft>
                <a:spcPts val="0"/>
              </a:spcAft>
            </a:pPr>
            <a:r>
              <a:rPr sz="1070" b="0" i="0">
                <a:solidFill>
                  <a:srgbClr val="59697A"/>
                </a:solidFill>
                <a:latin typeface="Arial"/>
              </a:rPr>
              <a:t>AA near 0.5 means real and generated profiles are difficult to separate.</a:t>
            </a:r>
          </a:p>
        </p:txBody>
      </p:sp>
      <p:sp>
        <p:nvSpPr>
          <p:cNvPr id="41" name="TextBox 4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analysis arms tested different uses of synthetic data</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Held-out real profiles determined which arm, if any, was eligible within each tissue.</a:t>
            </a:r>
          </a:p>
        </p:txBody>
      </p:sp>
      <p:sp>
        <p:nvSpPr>
          <p:cNvPr id="7" name="TextBox 6"/>
          <p:cNvSpPr txBox="1"/>
          <p:nvPr/>
        </p:nvSpPr>
        <p:spPr>
          <a:xfrm>
            <a:off x="420624" y="1847088"/>
            <a:ext cx="1078992" cy="210312"/>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Inputs</a:t>
            </a:r>
          </a:p>
        </p:txBody>
      </p:sp>
      <p:sp>
        <p:nvSpPr>
          <p:cNvPr id="8" name="TextBox 7"/>
          <p:cNvSpPr txBox="1"/>
          <p:nvPr/>
        </p:nvSpPr>
        <p:spPr>
          <a:xfrm>
            <a:off x="1234440" y="1828800"/>
            <a:ext cx="1078992" cy="228600"/>
          </a:xfrm>
          <a:prstGeom prst="rect">
            <a:avLst/>
          </a:prstGeom>
          <a:noFill/>
        </p:spPr>
        <p:txBody>
          <a:bodyPr wrap="square" lIns="0" rIns="0" tIns="0" bIns="0" anchor="t">
            <a:spAutoFit/>
          </a:bodyPr>
          <a:lstStyle/>
          <a:p>
            <a:pPr algn="l">
              <a:spcAft>
                <a:spcPts val="0"/>
              </a:spcAft>
            </a:pPr>
            <a:r>
              <a:rPr sz="1150" b="1" i="0">
                <a:solidFill>
                  <a:srgbClr val="2D6496"/>
                </a:solidFill>
                <a:latin typeface="Arial"/>
              </a:rPr>
              <a:t>Real OSDR</a:t>
            </a:r>
          </a:p>
        </p:txBody>
      </p:sp>
      <p:sp>
        <p:nvSpPr>
          <p:cNvPr id="9" name="TextBox 8"/>
          <p:cNvSpPr txBox="1"/>
          <p:nvPr/>
        </p:nvSpPr>
        <p:spPr>
          <a:xfrm>
            <a:off x="2176272" y="1828800"/>
            <a:ext cx="1280160"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observed profiles</a:t>
            </a:r>
          </a:p>
        </p:txBody>
      </p:sp>
      <p:sp>
        <p:nvSpPr>
          <p:cNvPr id="10" name="TextBox 9"/>
          <p:cNvSpPr txBox="1"/>
          <p:nvPr/>
        </p:nvSpPr>
        <p:spPr>
          <a:xfrm>
            <a:off x="3749039" y="1828800"/>
            <a:ext cx="621792" cy="228600"/>
          </a:xfrm>
          <a:prstGeom prst="rect">
            <a:avLst/>
          </a:prstGeom>
          <a:noFill/>
        </p:spPr>
        <p:txBody>
          <a:bodyPr wrap="square" lIns="0" rIns="0" tIns="0" bIns="0" anchor="t">
            <a:spAutoFit/>
          </a:bodyPr>
          <a:lstStyle/>
          <a:p>
            <a:pPr algn="l">
              <a:spcAft>
                <a:spcPts val="0"/>
              </a:spcAft>
            </a:pPr>
            <a:r>
              <a:rPr sz="1150" b="1" i="0">
                <a:solidFill>
                  <a:srgbClr val="D96552"/>
                </a:solidFill>
                <a:latin typeface="Arial"/>
              </a:rPr>
              <a:t>DDIM</a:t>
            </a:r>
          </a:p>
        </p:txBody>
      </p:sp>
      <p:sp>
        <p:nvSpPr>
          <p:cNvPr id="11" name="TextBox 10"/>
          <p:cNvSpPr txBox="1"/>
          <p:nvPr/>
        </p:nvSpPr>
        <p:spPr>
          <a:xfrm>
            <a:off x="4370832" y="1828800"/>
            <a:ext cx="1874519"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matched synthetic profiles</a:t>
            </a:r>
          </a:p>
        </p:txBody>
      </p:sp>
      <p:sp>
        <p:nvSpPr>
          <p:cNvPr id="12" name="Rectangle 11"/>
          <p:cNvSpPr/>
          <p:nvPr/>
        </p:nvSpPr>
        <p:spPr>
          <a:xfrm>
            <a:off x="1481328" y="2240280"/>
            <a:ext cx="1938528"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only</a:t>
            </a:r>
          </a:p>
        </p:txBody>
      </p:sp>
      <p:sp>
        <p:nvSpPr>
          <p:cNvPr id="14" name="Rectangle 13"/>
          <p:cNvSpPr/>
          <p:nvPr/>
        </p:nvSpPr>
        <p:spPr>
          <a:xfrm>
            <a:off x="3511296" y="2240280"/>
            <a:ext cx="1938528"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Generated only</a:t>
            </a:r>
          </a:p>
        </p:txBody>
      </p:sp>
      <p:sp>
        <p:nvSpPr>
          <p:cNvPr id="16" name="Rectangle 15"/>
          <p:cNvSpPr/>
          <p:nvPr/>
        </p:nvSpPr>
        <p:spPr>
          <a:xfrm>
            <a:off x="5541264"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 generated</a:t>
            </a:r>
          </a:p>
        </p:txBody>
      </p:sp>
      <p:sp>
        <p:nvSpPr>
          <p:cNvPr id="18" name="Rectangle 17"/>
          <p:cNvSpPr/>
          <p:nvPr/>
        </p:nvSpPr>
        <p:spPr>
          <a:xfrm>
            <a:off x="7571232"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7808"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real fit</a:t>
            </a:r>
          </a:p>
        </p:txBody>
      </p:sp>
      <p:sp>
        <p:nvSpPr>
          <p:cNvPr id="20" name="Rectangle 19"/>
          <p:cNvSpPr/>
          <p:nvPr/>
        </p:nvSpPr>
        <p:spPr>
          <a:xfrm>
            <a:off x="9601200" y="2240280"/>
            <a:ext cx="1938528"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5% synthetic</a:t>
            </a:r>
          </a:p>
        </p:txBody>
      </p:sp>
      <p:sp>
        <p:nvSpPr>
          <p:cNvPr id="22" name="Rectangle 21"/>
          <p:cNvSpPr/>
          <p:nvPr/>
        </p:nvSpPr>
        <p:spPr>
          <a:xfrm>
            <a:off x="420624" y="2807208"/>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 y="2944368"/>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RANK</a:t>
            </a:r>
          </a:p>
        </p:txBody>
      </p:sp>
      <p:sp>
        <p:nvSpPr>
          <p:cNvPr id="24" name="TextBox 23"/>
          <p:cNvSpPr txBox="1"/>
          <p:nvPr/>
        </p:nvSpPr>
        <p:spPr>
          <a:xfrm>
            <a:off x="1527048"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25" name="TextBox 24"/>
          <p:cNvSpPr txBox="1"/>
          <p:nvPr/>
        </p:nvSpPr>
        <p:spPr>
          <a:xfrm>
            <a:off x="3557016"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26" name="TextBox 25"/>
          <p:cNvSpPr txBox="1"/>
          <p:nvPr/>
        </p:nvSpPr>
        <p:spPr>
          <a:xfrm>
            <a:off x="5586984"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7" name="TextBox 26"/>
          <p:cNvSpPr txBox="1"/>
          <p:nvPr/>
        </p:nvSpPr>
        <p:spPr>
          <a:xfrm>
            <a:off x="7616952"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8" name="TextBox 27"/>
          <p:cNvSpPr txBox="1"/>
          <p:nvPr/>
        </p:nvSpPr>
        <p:spPr>
          <a:xfrm>
            <a:off x="9646920"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9" name="TextBox 28"/>
          <p:cNvSpPr txBox="1"/>
          <p:nvPr/>
        </p:nvSpPr>
        <p:spPr>
          <a:xfrm>
            <a:off x="466344" y="3621023"/>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FIT</a:t>
            </a:r>
          </a:p>
        </p:txBody>
      </p:sp>
      <p:sp>
        <p:nvSpPr>
          <p:cNvPr id="30" name="TextBox 29"/>
          <p:cNvSpPr txBox="1"/>
          <p:nvPr/>
        </p:nvSpPr>
        <p:spPr>
          <a:xfrm>
            <a:off x="1527048"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1" name="TextBox 30"/>
          <p:cNvSpPr txBox="1"/>
          <p:nvPr/>
        </p:nvSpPr>
        <p:spPr>
          <a:xfrm>
            <a:off x="3557016"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32" name="TextBox 31"/>
          <p:cNvSpPr txBox="1"/>
          <p:nvPr/>
        </p:nvSpPr>
        <p:spPr>
          <a:xfrm>
            <a:off x="5586984"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Equal weight</a:t>
            </a:r>
          </a:p>
        </p:txBody>
      </p:sp>
      <p:sp>
        <p:nvSpPr>
          <p:cNvPr id="33" name="TextBox 32"/>
          <p:cNvSpPr txBox="1"/>
          <p:nvPr/>
        </p:nvSpPr>
        <p:spPr>
          <a:xfrm>
            <a:off x="7616952"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4" name="TextBox 33"/>
          <p:cNvSpPr txBox="1"/>
          <p:nvPr/>
        </p:nvSpPr>
        <p:spPr>
          <a:xfrm>
            <a:off x="9646920"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 + 5% synthetic</a:t>
            </a:r>
          </a:p>
        </p:txBody>
      </p:sp>
      <p:sp>
        <p:nvSpPr>
          <p:cNvPr id="35" name="Rectangle 34"/>
          <p:cNvSpPr/>
          <p:nvPr/>
        </p:nvSpPr>
        <p:spPr>
          <a:xfrm>
            <a:off x="420624" y="4160520"/>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6344" y="4297680"/>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ROLE</a:t>
            </a:r>
          </a:p>
        </p:txBody>
      </p:sp>
      <p:sp>
        <p:nvSpPr>
          <p:cNvPr id="37" name="TextBox 36"/>
          <p:cNvSpPr txBox="1"/>
          <p:nvPr/>
        </p:nvSpPr>
        <p:spPr>
          <a:xfrm>
            <a:off x="1527048"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Baseline</a:t>
            </a:r>
          </a:p>
        </p:txBody>
      </p:sp>
      <p:sp>
        <p:nvSpPr>
          <p:cNvPr id="38" name="TextBox 37"/>
          <p:cNvSpPr txBox="1"/>
          <p:nvPr/>
        </p:nvSpPr>
        <p:spPr>
          <a:xfrm>
            <a:off x="3557016"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Stress test</a:t>
            </a:r>
          </a:p>
        </p:txBody>
      </p:sp>
      <p:sp>
        <p:nvSpPr>
          <p:cNvPr id="39" name="TextBox 38"/>
          <p:cNvSpPr txBox="1"/>
          <p:nvPr/>
        </p:nvSpPr>
        <p:spPr>
          <a:xfrm>
            <a:off x="5586984"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Augmentation</a:t>
            </a:r>
          </a:p>
        </p:txBody>
      </p:sp>
      <p:sp>
        <p:nvSpPr>
          <p:cNvPr id="40" name="TextBox 39"/>
          <p:cNvSpPr txBox="1"/>
          <p:nvPr/>
        </p:nvSpPr>
        <p:spPr>
          <a:xfrm>
            <a:off x="7616952"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Feature guidance</a:t>
            </a:r>
          </a:p>
        </p:txBody>
      </p:sp>
      <p:sp>
        <p:nvSpPr>
          <p:cNvPr id="41" name="TextBox 40"/>
          <p:cNvSpPr txBox="1"/>
          <p:nvPr/>
        </p:nvSpPr>
        <p:spPr>
          <a:xfrm>
            <a:off x="9646920"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Low-weight training</a:t>
            </a:r>
          </a:p>
        </p:txBody>
      </p:sp>
      <p:sp>
        <p:nvSpPr>
          <p:cNvPr id="42" name="Rectangle 41"/>
          <p:cNvSpPr/>
          <p:nvPr/>
        </p:nvSpPr>
        <p:spPr>
          <a:xfrm>
            <a:off x="420624" y="4937760"/>
            <a:ext cx="11173968"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0352" y="5138928"/>
            <a:ext cx="1874519" cy="274320"/>
          </a:xfrm>
          <a:prstGeom prst="rect">
            <a:avLst/>
          </a:prstGeom>
          <a:noFill/>
        </p:spPr>
        <p:txBody>
          <a:bodyPr wrap="square" lIns="18288" rIns="18288" tIns="18288" bIns="18288" anchor="t">
            <a:spAutoFit/>
          </a:bodyPr>
          <a:lstStyle/>
          <a:p>
            <a:pPr algn="ctr">
              <a:spcAft>
                <a:spcPts val="0"/>
              </a:spcAft>
            </a:pPr>
            <a:r>
              <a:rPr sz="1450" b="1" i="0">
                <a:solidFill>
                  <a:srgbClr val="082B55"/>
                </a:solidFill>
                <a:latin typeface="Arial"/>
              </a:rPr>
              <a:t>Held-out real profiles</a:t>
            </a:r>
          </a:p>
        </p:txBody>
      </p:sp>
      <p:sp>
        <p:nvSpPr>
          <p:cNvPr id="44" name="Right Arrow 43"/>
          <p:cNvSpPr/>
          <p:nvPr/>
        </p:nvSpPr>
        <p:spPr>
          <a:xfrm>
            <a:off x="254203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90672" y="5138928"/>
            <a:ext cx="1938528" cy="274320"/>
          </a:xfrm>
          <a:prstGeom prst="rect">
            <a:avLst/>
          </a:prstGeom>
          <a:noFill/>
        </p:spPr>
        <p:txBody>
          <a:bodyPr wrap="square" lIns="18288" rIns="18288" tIns="18288" bIns="18288" anchor="t">
            <a:spAutoFit/>
          </a:bodyPr>
          <a:lstStyle/>
          <a:p>
            <a:pPr algn="ctr">
              <a:spcAft>
                <a:spcPts val="0"/>
              </a:spcAft>
            </a:pPr>
            <a:r>
              <a:rPr sz="1330" b="1" i="0">
                <a:solidFill>
                  <a:srgbClr val="263746"/>
                </a:solidFill>
                <a:latin typeface="Arial"/>
              </a:rPr>
              <a:t>BA  |  AUROC  |  AP</a:t>
            </a:r>
          </a:p>
        </p:txBody>
      </p:sp>
      <p:sp>
        <p:nvSpPr>
          <p:cNvPr id="46" name="Right Arrow 45"/>
          <p:cNvSpPr/>
          <p:nvPr/>
        </p:nvSpPr>
        <p:spPr>
          <a:xfrm>
            <a:off x="519379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42432" y="5111496"/>
            <a:ext cx="3520440" cy="310896"/>
          </a:xfrm>
          <a:prstGeom prst="rect">
            <a:avLst/>
          </a:prstGeom>
          <a:noFill/>
        </p:spPr>
        <p:txBody>
          <a:bodyPr wrap="square" lIns="18288" rIns="18288" tIns="18288" bIns="18288" anchor="t">
            <a:spAutoFit/>
          </a:bodyPr>
          <a:lstStyle/>
          <a:p>
            <a:pPr algn="ctr">
              <a:spcAft>
                <a:spcPts val="0"/>
              </a:spcAft>
            </a:pPr>
            <a:r>
              <a:rPr sz="1400" b="1" i="0">
                <a:solidFill>
                  <a:srgbClr val="178681"/>
                </a:solidFill>
                <a:latin typeface="Arial"/>
              </a:rPr>
              <a:t>Choose an eligible arm within each tissue</a:t>
            </a:r>
          </a:p>
        </p:txBody>
      </p:sp>
      <p:sp>
        <p:nvSpPr>
          <p:cNvPr id="48" name="Rectangle 47"/>
          <p:cNvSpPr/>
          <p:nvPr/>
        </p:nvSpPr>
        <p:spPr>
          <a:xfrm>
            <a:off x="420624" y="5632704"/>
            <a:ext cx="11173968" cy="56692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6656" y="5779008"/>
            <a:ext cx="1325880" cy="246888"/>
          </a:xfrm>
          <a:prstGeom prst="rect">
            <a:avLst/>
          </a:prstGeom>
          <a:noFill/>
        </p:spPr>
        <p:txBody>
          <a:bodyPr wrap="square" lIns="0" rIns="0" tIns="0" bIns="0" anchor="t">
            <a:spAutoFit/>
          </a:bodyPr>
          <a:lstStyle/>
          <a:p>
            <a:pPr algn="l">
              <a:spcAft>
                <a:spcPts val="0"/>
              </a:spcAft>
            </a:pPr>
            <a:r>
              <a:rPr sz="1450" b="1" i="0">
                <a:solidFill>
                  <a:srgbClr val="FFFFFF"/>
                </a:solidFill>
                <a:latin typeface="Arial"/>
              </a:rPr>
              <a:t>Biology check</a:t>
            </a:r>
          </a:p>
        </p:txBody>
      </p:sp>
      <p:sp>
        <p:nvSpPr>
          <p:cNvPr id="50" name="TextBox 49"/>
          <p:cNvSpPr txBox="1"/>
          <p:nvPr/>
        </p:nvSpPr>
        <p:spPr>
          <a:xfrm>
            <a:off x="2176272" y="5760720"/>
            <a:ext cx="6172200" cy="265176"/>
          </a:xfrm>
          <a:prstGeom prst="rect">
            <a:avLst/>
          </a:prstGeom>
          <a:noFill/>
        </p:spPr>
        <p:txBody>
          <a:bodyPr wrap="square" lIns="0" rIns="0" tIns="0" bIns="0" anchor="t">
            <a:spAutoFit/>
          </a:bodyPr>
          <a:lstStyle/>
          <a:p>
            <a:pPr algn="l">
              <a:spcAft>
                <a:spcPts val="0"/>
              </a:spcAft>
            </a:pPr>
            <a:r>
              <a:rPr sz="1360" b="0" i="0">
                <a:solidFill>
                  <a:srgbClr val="DCE7F2"/>
                </a:solidFill>
                <a:latin typeface="Arial"/>
              </a:rPr>
              <a:t>FLT vs GC effects and BH FDR use observed OSDR profiles only.</a:t>
            </a:r>
          </a:p>
        </p:txBody>
      </p:sp>
      <p:sp>
        <p:nvSpPr>
          <p:cNvPr id="51" name="TextBox 50"/>
          <p:cNvSpPr txBox="1"/>
          <p:nvPr/>
        </p:nvSpPr>
        <p:spPr>
          <a:xfrm>
            <a:off x="8394192" y="5760720"/>
            <a:ext cx="2871216" cy="265176"/>
          </a:xfrm>
          <a:prstGeom prst="rect">
            <a:avLst/>
          </a:prstGeom>
          <a:noFill/>
        </p:spPr>
        <p:txBody>
          <a:bodyPr wrap="square" lIns="0" rIns="0" tIns="0" bIns="0" anchor="t">
            <a:spAutoFit/>
          </a:bodyPr>
          <a:lstStyle/>
          <a:p>
            <a:pPr algn="r">
              <a:spcAft>
                <a:spcPts val="0"/>
              </a:spcAft>
            </a:pPr>
            <a:r>
              <a:rPr sz="1180" b="1" i="0">
                <a:solidFill>
                  <a:srgbClr val="FFD69A"/>
                </a:solidFill>
                <a:latin typeface="Arial"/>
              </a:rPr>
              <a:t>Animal n stays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ectangle 15"/>
          <p:cNvSpPr/>
          <p:nvPr/>
        </p:nvSpPr>
        <p:spPr>
          <a:xfrm>
            <a:off x="3218688" y="4535424"/>
            <a:ext cx="1700784" cy="713232"/>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9904" y="2020824"/>
            <a:ext cx="16459" cy="338328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240280"/>
            <a:ext cx="4846320"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ectangle 27"/>
          <p:cNvSpPr/>
          <p:nvPr/>
        </p:nvSpPr>
        <p:spPr>
          <a:xfrm>
            <a:off x="6547104" y="4681728"/>
            <a:ext cx="457200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ectangle 29"/>
          <p:cNvSpPr/>
          <p:nvPr/>
        </p:nvSpPr>
        <p:spPr>
          <a:xfrm>
            <a:off x="475488" y="5650992"/>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3968496"/>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07408"/>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46320"/>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285231"/>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