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Each column shows the alternatives available at one pipeline stage; outlines identify the downstream branch. We used both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left image is Figure 1C from Lacan and colleagues. It shows their residual dense denoiser, conditioned on diffusion timestep and tissue, which predicts the noise added to a sample. Our implementation follows that architecture and adds FLT/GC, accession and material context during OSDR LoRA adaptation. Both generators had high correlation and F1. DDIM had adversarial accuracy near 0.5 and a lower Frechet-distance ratio, so it was harder to separate from real profiles and closer in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Circles are locked real OSDR profiles and crosses are matched DDIM profiles in the same PCA space. Generated samples track the tissue-defined branches. FLT and GC remain more interspersed because condition effects are smaller than tissue effects. Visual overlap complements the quantitative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Synthetic data can be used for direct training, mixed training or feature guidance. Each tissue could choose among five arms. The eligibility check used held-out real profiles. Once features were nominated, FLT/GC effects and BH FDR were computed from observed OSDR samples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pooled augmentation test was negative: balanced accuracy fell from 0.754 to 0.737 with real plus synthetic training. The bars use a true zero-to-one balanced-accuracy scale.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Reinforced genes were selected with and without synthetic guidance. Promoted genes crossed the stable-selection rule only with synthetic guidance. Promoted does not mean biologically novel. All 49 synthetic-informed tissue-gene associations also had BH FDR below 0.05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evidence scope and source IDs; Table S17 records citations, DOI or URL and whether the evidence is independent, overlapping or mechanistic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full analysis coverage: 22 canonical tissues and five anatomical muscle groups. Ten had a synthetic-informed BH-FDR association, five had real BH-FDR genes without synthetic-informed selection, and 12 had no BH-FDR gene in the landmark panel. The discussion focuses later, but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Thymus produced the clearest promoted panel. The lower mitotic and DNA-replication genes agree with prior reports of thymic involution and altered cell-cycle expression after flight. Higher Hsd17b11 and Etv1 add lipid-handling and T-cell-state hypotheses. A matched sensitivity model without material-type conditioning preserved the cell-cycle interpretation, so the process-level result did not depend on that label.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In the matched no-material sensitivity model, soleus selected the real-only arm and the synthetic attribution disappeared. The real OSDR association remains, but the contribution attributed to generated profiles is conditioning-sensitive.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are shown on separate subrows for each tissue. Pooled muscle, kidney, spleen and skin each produced a distinct synthetic-informed result. The rows share a slide for presentation space; each remains a separate hypothesis. Pooled muscle is heterogeneous, kidney suggests phosphoinositide and glucose handling, spleen suggests adhesion and extracellular-matrix or immune organization, and skin contributes a single interferon-linked candidate.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Synthetic transcriptomics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TextBox 21"/>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23" name="TextBox 22"/>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24" name="TextBox 23"/>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25" name="TextBox 24"/>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26" name="TextBox 25"/>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27" name="TextBox 26"/>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28" name="TextBox 27"/>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29" name="TextBox 28"/>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30" name="Rectangle 29"/>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34" name="TextBox 33"/>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35" name="TextBox 34"/>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36" name="TextBox 35"/>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37" name="Right Arrow 36"/>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9" name="TextBox 38"/>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40" name="TextBox 39"/>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41" name="Rectangle 40"/>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43" name="TextBox 42"/>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44" name="TextBox 43"/>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45" name="TextBox 44"/>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46" name="TextBox 45"/>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47" name="TextBox 46"/>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48" name="TextBox 47"/>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49" name="TextBox 4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550468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347472" y="2263491"/>
            <a:ext cx="5779008" cy="2111560"/>
          </a:xfrm>
          <a:prstGeom prst="rect">
            <a:avLst/>
          </a:prstGeom>
        </p:spPr>
      </p:pic>
      <p:sp>
        <p:nvSpPr>
          <p:cNvPr id="9" name="TextBox 8"/>
          <p:cNvSpPr txBox="1"/>
          <p:nvPr/>
        </p:nvSpPr>
        <p:spPr>
          <a:xfrm>
            <a:off x="512064" y="4471416"/>
            <a:ext cx="5449824"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4782312"/>
            <a:ext cx="5449824"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6281928"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1984248"/>
            <a:ext cx="1554480" cy="256032"/>
          </a:xfrm>
          <a:prstGeom prst="rect">
            <a:avLst/>
          </a:prstGeom>
          <a:noFill/>
        </p:spPr>
        <p:txBody>
          <a:bodyPr wrap="square" lIns="18288" rIns="18288" tIns="18288" bIns="18288" anchor="t">
            <a:spAutoFit/>
          </a:bodyPr>
          <a:lstStyle/>
          <a:p>
            <a:pPr algn="l">
              <a:spcAft>
                <a:spcPts val="0"/>
              </a:spcAft>
            </a:pPr>
            <a:r>
              <a:rPr sz="1050" b="1" i="0">
                <a:solidFill>
                  <a:srgbClr val="59697A"/>
                </a:solidFill>
                <a:latin typeface="Arial"/>
              </a:rPr>
              <a:t>Metric</a:t>
            </a:r>
          </a:p>
        </p:txBody>
      </p:sp>
      <p:sp>
        <p:nvSpPr>
          <p:cNvPr id="13" name="TextBox 12"/>
          <p:cNvSpPr txBox="1"/>
          <p:nvPr/>
        </p:nvSpPr>
        <p:spPr>
          <a:xfrm>
            <a:off x="8165592" y="1984248"/>
            <a:ext cx="960120" cy="256032"/>
          </a:xfrm>
          <a:prstGeom prst="rect">
            <a:avLst/>
          </a:prstGeom>
          <a:noFill/>
        </p:spPr>
        <p:txBody>
          <a:bodyPr wrap="square" lIns="18288" rIns="18288" tIns="18288" bIns="18288" anchor="t">
            <a:spAutoFit/>
          </a:bodyPr>
          <a:lstStyle/>
          <a:p>
            <a:pPr algn="ctr">
              <a:spcAft>
                <a:spcPts val="0"/>
              </a:spcAft>
            </a:pPr>
            <a:r>
              <a:rPr sz="1050" b="1" i="0">
                <a:solidFill>
                  <a:srgbClr val="D96552"/>
                </a:solidFill>
                <a:latin typeface="Arial"/>
              </a:rPr>
              <a:t>WGAN-GP</a:t>
            </a:r>
          </a:p>
        </p:txBody>
      </p:sp>
      <p:sp>
        <p:nvSpPr>
          <p:cNvPr id="14" name="TextBox 13"/>
          <p:cNvSpPr txBox="1"/>
          <p:nvPr/>
        </p:nvSpPr>
        <p:spPr>
          <a:xfrm>
            <a:off x="9262872" y="1984248"/>
            <a:ext cx="804672" cy="256032"/>
          </a:xfrm>
          <a:prstGeom prst="rect">
            <a:avLst/>
          </a:prstGeom>
          <a:noFill/>
        </p:spPr>
        <p:txBody>
          <a:bodyPr wrap="square" lIns="18288" rIns="18288" tIns="18288" bIns="18288" anchor="t">
            <a:spAutoFit/>
          </a:bodyPr>
          <a:lstStyle/>
          <a:p>
            <a:pPr algn="ctr">
              <a:spcAft>
                <a:spcPts val="0"/>
              </a:spcAft>
            </a:pPr>
            <a:r>
              <a:rPr sz="1050" b="1" i="0">
                <a:solidFill>
                  <a:srgbClr val="178681"/>
                </a:solidFill>
                <a:latin typeface="Arial"/>
              </a:rPr>
              <a:t>DDIM</a:t>
            </a:r>
          </a:p>
        </p:txBody>
      </p:sp>
      <p:sp>
        <p:nvSpPr>
          <p:cNvPr id="15" name="TextBox 14"/>
          <p:cNvSpPr txBox="1"/>
          <p:nvPr/>
        </p:nvSpPr>
        <p:spPr>
          <a:xfrm>
            <a:off x="10222992" y="1984248"/>
            <a:ext cx="1234440" cy="256032"/>
          </a:xfrm>
          <a:prstGeom prst="rect">
            <a:avLst/>
          </a:prstGeom>
          <a:noFill/>
        </p:spPr>
        <p:txBody>
          <a:bodyPr wrap="square" lIns="18288" rIns="18288" tIns="18288" bIns="18288" anchor="t">
            <a:spAutoFit/>
          </a:bodyPr>
          <a:lstStyle/>
          <a:p>
            <a:pPr algn="l">
              <a:spcAft>
                <a:spcPts val="0"/>
              </a:spcAft>
            </a:pPr>
            <a:r>
              <a:rPr sz="1050" b="1" i="0">
                <a:solidFill>
                  <a:srgbClr val="59697A"/>
                </a:solidFill>
                <a:latin typeface="Arial"/>
              </a:rPr>
              <a:t>Read</a:t>
            </a:r>
          </a:p>
        </p:txBody>
      </p:sp>
      <p:sp>
        <p:nvSpPr>
          <p:cNvPr id="16" name="Rectangle 15"/>
          <p:cNvSpPr/>
          <p:nvPr/>
        </p:nvSpPr>
        <p:spPr>
          <a:xfrm>
            <a:off x="6537960" y="2340864"/>
            <a:ext cx="4983480"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19672" y="2496312"/>
            <a:ext cx="5020056"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2560320"/>
            <a:ext cx="1490472" cy="292608"/>
          </a:xfrm>
          <a:prstGeom prst="rect">
            <a:avLst/>
          </a:prstGeom>
          <a:noFill/>
        </p:spPr>
        <p:txBody>
          <a:bodyPr wrap="square" lIns="18288" rIns="18288" tIns="18288" bIns="18288" anchor="t">
            <a:spAutoFit/>
          </a:bodyPr>
          <a:lstStyle/>
          <a:p>
            <a:pPr algn="l">
              <a:spcAft>
                <a:spcPts val="0"/>
              </a:spcAft>
            </a:pPr>
            <a:r>
              <a:rPr sz="1120" b="0" i="0">
                <a:solidFill>
                  <a:srgbClr val="263746"/>
                </a:solidFill>
                <a:latin typeface="Arial"/>
              </a:rPr>
              <a:t>Correlation</a:t>
            </a:r>
          </a:p>
        </p:txBody>
      </p:sp>
      <p:sp>
        <p:nvSpPr>
          <p:cNvPr id="19" name="TextBox 18"/>
          <p:cNvSpPr txBox="1"/>
          <p:nvPr/>
        </p:nvSpPr>
        <p:spPr>
          <a:xfrm>
            <a:off x="8165592" y="2560320"/>
            <a:ext cx="960120" cy="292608"/>
          </a:xfrm>
          <a:prstGeom prst="rect">
            <a:avLst/>
          </a:prstGeom>
          <a:noFill/>
        </p:spPr>
        <p:txBody>
          <a:bodyPr wrap="square" lIns="18288" rIns="18288" tIns="18288" bIns="18288" anchor="t">
            <a:spAutoFit/>
          </a:bodyPr>
          <a:lstStyle/>
          <a:p>
            <a:pPr algn="ctr">
              <a:spcAft>
                <a:spcPts val="0"/>
              </a:spcAft>
            </a:pPr>
            <a:r>
              <a:rPr sz="1330" b="1" i="0">
                <a:solidFill>
                  <a:srgbClr val="D96552"/>
                </a:solidFill>
                <a:latin typeface="Arial"/>
              </a:rPr>
              <a:t>0.976</a:t>
            </a:r>
          </a:p>
        </p:txBody>
      </p:sp>
      <p:sp>
        <p:nvSpPr>
          <p:cNvPr id="20" name="TextBox 19"/>
          <p:cNvSpPr txBox="1"/>
          <p:nvPr/>
        </p:nvSpPr>
        <p:spPr>
          <a:xfrm>
            <a:off x="9253728" y="2560320"/>
            <a:ext cx="804672" cy="292608"/>
          </a:xfrm>
          <a:prstGeom prst="rect">
            <a:avLst/>
          </a:prstGeom>
          <a:noFill/>
        </p:spPr>
        <p:txBody>
          <a:bodyPr wrap="square" lIns="18288" rIns="18288" tIns="18288" bIns="18288" anchor="t">
            <a:spAutoFit/>
          </a:bodyPr>
          <a:lstStyle/>
          <a:p>
            <a:pPr algn="ctr">
              <a:spcAft>
                <a:spcPts val="0"/>
              </a:spcAft>
            </a:pPr>
            <a:r>
              <a:rPr sz="1330" b="1" i="0">
                <a:solidFill>
                  <a:srgbClr val="178681"/>
                </a:solidFill>
                <a:latin typeface="Arial"/>
              </a:rPr>
              <a:t>0.974</a:t>
            </a:r>
          </a:p>
        </p:txBody>
      </p:sp>
      <p:sp>
        <p:nvSpPr>
          <p:cNvPr id="21" name="TextBox 20"/>
          <p:cNvSpPr txBox="1"/>
          <p:nvPr/>
        </p:nvSpPr>
        <p:spPr>
          <a:xfrm>
            <a:off x="10222992" y="2560320"/>
            <a:ext cx="1234440" cy="292608"/>
          </a:xfrm>
          <a:prstGeom prst="rect">
            <a:avLst/>
          </a:prstGeom>
          <a:noFill/>
        </p:spPr>
        <p:txBody>
          <a:bodyPr wrap="square" lIns="18288" rIns="18288" tIns="18288" bIns="18288" anchor="t">
            <a:spAutoFit/>
          </a:bodyPr>
          <a:lstStyle/>
          <a:p>
            <a:pPr algn="l">
              <a:spcAft>
                <a:spcPts val="0"/>
              </a:spcAft>
            </a:pPr>
            <a:r>
              <a:rPr sz="1070" b="0" i="0">
                <a:solidFill>
                  <a:srgbClr val="59697A"/>
                </a:solidFill>
                <a:latin typeface="Arial"/>
              </a:rPr>
              <a:t>similar</a:t>
            </a:r>
          </a:p>
        </p:txBody>
      </p:sp>
      <p:sp>
        <p:nvSpPr>
          <p:cNvPr id="22" name="TextBox 21"/>
          <p:cNvSpPr txBox="1"/>
          <p:nvPr/>
        </p:nvSpPr>
        <p:spPr>
          <a:xfrm>
            <a:off x="6601968" y="3099815"/>
            <a:ext cx="1490472" cy="292608"/>
          </a:xfrm>
          <a:prstGeom prst="rect">
            <a:avLst/>
          </a:prstGeom>
          <a:noFill/>
        </p:spPr>
        <p:txBody>
          <a:bodyPr wrap="square" lIns="18288" rIns="18288" tIns="18288" bIns="18288" anchor="t">
            <a:spAutoFit/>
          </a:bodyPr>
          <a:lstStyle/>
          <a:p>
            <a:pPr algn="l">
              <a:spcAft>
                <a:spcPts val="0"/>
              </a:spcAft>
            </a:pPr>
            <a:r>
              <a:rPr sz="1120" b="0" i="0">
                <a:solidFill>
                  <a:srgbClr val="263746"/>
                </a:solidFill>
                <a:latin typeface="Arial"/>
              </a:rPr>
              <a:t>F1</a:t>
            </a:r>
          </a:p>
        </p:txBody>
      </p:sp>
      <p:sp>
        <p:nvSpPr>
          <p:cNvPr id="23" name="TextBox 22"/>
          <p:cNvSpPr txBox="1"/>
          <p:nvPr/>
        </p:nvSpPr>
        <p:spPr>
          <a:xfrm>
            <a:off x="8165592" y="3099815"/>
            <a:ext cx="960120" cy="292608"/>
          </a:xfrm>
          <a:prstGeom prst="rect">
            <a:avLst/>
          </a:prstGeom>
          <a:noFill/>
        </p:spPr>
        <p:txBody>
          <a:bodyPr wrap="square" lIns="18288" rIns="18288" tIns="18288" bIns="18288" anchor="t">
            <a:spAutoFit/>
          </a:bodyPr>
          <a:lstStyle/>
          <a:p>
            <a:pPr algn="ctr">
              <a:spcAft>
                <a:spcPts val="0"/>
              </a:spcAft>
            </a:pPr>
            <a:r>
              <a:rPr sz="1330" b="1" i="0">
                <a:solidFill>
                  <a:srgbClr val="D96552"/>
                </a:solidFill>
                <a:latin typeface="Arial"/>
              </a:rPr>
              <a:t>0.985</a:t>
            </a:r>
          </a:p>
        </p:txBody>
      </p:sp>
      <p:sp>
        <p:nvSpPr>
          <p:cNvPr id="24" name="TextBox 23"/>
          <p:cNvSpPr txBox="1"/>
          <p:nvPr/>
        </p:nvSpPr>
        <p:spPr>
          <a:xfrm>
            <a:off x="9253728" y="3099815"/>
            <a:ext cx="804672" cy="292608"/>
          </a:xfrm>
          <a:prstGeom prst="rect">
            <a:avLst/>
          </a:prstGeom>
          <a:noFill/>
        </p:spPr>
        <p:txBody>
          <a:bodyPr wrap="square" lIns="18288" rIns="18288" tIns="18288" bIns="18288" anchor="t">
            <a:spAutoFit/>
          </a:bodyPr>
          <a:lstStyle/>
          <a:p>
            <a:pPr algn="ctr">
              <a:spcAft>
                <a:spcPts val="0"/>
              </a:spcAft>
            </a:pPr>
            <a:r>
              <a:rPr sz="1330" b="1" i="0">
                <a:solidFill>
                  <a:srgbClr val="178681"/>
                </a:solidFill>
                <a:latin typeface="Arial"/>
              </a:rPr>
              <a:t>0.997</a:t>
            </a:r>
          </a:p>
        </p:txBody>
      </p:sp>
      <p:sp>
        <p:nvSpPr>
          <p:cNvPr id="25" name="TextBox 24"/>
          <p:cNvSpPr txBox="1"/>
          <p:nvPr/>
        </p:nvSpPr>
        <p:spPr>
          <a:xfrm>
            <a:off x="10222992" y="3099815"/>
            <a:ext cx="1234440" cy="292608"/>
          </a:xfrm>
          <a:prstGeom prst="rect">
            <a:avLst/>
          </a:prstGeom>
          <a:noFill/>
        </p:spPr>
        <p:txBody>
          <a:bodyPr wrap="square" lIns="18288" rIns="18288" tIns="18288" bIns="18288" anchor="t">
            <a:spAutoFit/>
          </a:bodyPr>
          <a:lstStyle/>
          <a:p>
            <a:pPr algn="l">
              <a:spcAft>
                <a:spcPts val="0"/>
              </a:spcAft>
            </a:pPr>
            <a:r>
              <a:rPr sz="1070" b="0" i="0">
                <a:solidFill>
                  <a:srgbClr val="59697A"/>
                </a:solidFill>
                <a:latin typeface="Arial"/>
              </a:rPr>
              <a:t>higher</a:t>
            </a:r>
          </a:p>
        </p:txBody>
      </p:sp>
      <p:sp>
        <p:nvSpPr>
          <p:cNvPr id="26" name="Rectangle 25"/>
          <p:cNvSpPr/>
          <p:nvPr/>
        </p:nvSpPr>
        <p:spPr>
          <a:xfrm>
            <a:off x="6519672" y="3575303"/>
            <a:ext cx="5020056"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01968" y="3639311"/>
            <a:ext cx="1490472" cy="292608"/>
          </a:xfrm>
          <a:prstGeom prst="rect">
            <a:avLst/>
          </a:prstGeom>
          <a:noFill/>
        </p:spPr>
        <p:txBody>
          <a:bodyPr wrap="square" lIns="18288" rIns="18288" tIns="18288" bIns="18288" anchor="t">
            <a:spAutoFit/>
          </a:bodyPr>
          <a:lstStyle/>
          <a:p>
            <a:pPr algn="l">
              <a:spcAft>
                <a:spcPts val="0"/>
              </a:spcAft>
            </a:pPr>
            <a:r>
              <a:rPr sz="1120" b="1" i="0">
                <a:solidFill>
                  <a:srgbClr val="263746"/>
                </a:solidFill>
                <a:latin typeface="Arial"/>
              </a:rPr>
              <a:t>Adversarial accuracy</a:t>
            </a:r>
          </a:p>
        </p:txBody>
      </p:sp>
      <p:sp>
        <p:nvSpPr>
          <p:cNvPr id="28" name="TextBox 27"/>
          <p:cNvSpPr txBox="1"/>
          <p:nvPr/>
        </p:nvSpPr>
        <p:spPr>
          <a:xfrm>
            <a:off x="8165592" y="3639311"/>
            <a:ext cx="960120" cy="292608"/>
          </a:xfrm>
          <a:prstGeom prst="rect">
            <a:avLst/>
          </a:prstGeom>
          <a:noFill/>
        </p:spPr>
        <p:txBody>
          <a:bodyPr wrap="square" lIns="18288" rIns="18288" tIns="18288" bIns="18288" anchor="t">
            <a:spAutoFit/>
          </a:bodyPr>
          <a:lstStyle/>
          <a:p>
            <a:pPr algn="ctr">
              <a:spcAft>
                <a:spcPts val="0"/>
              </a:spcAft>
            </a:pPr>
            <a:r>
              <a:rPr sz="1330" b="1" i="0">
                <a:solidFill>
                  <a:srgbClr val="D96552"/>
                </a:solidFill>
                <a:latin typeface="Arial"/>
              </a:rPr>
              <a:t>0.636</a:t>
            </a:r>
          </a:p>
        </p:txBody>
      </p:sp>
      <p:sp>
        <p:nvSpPr>
          <p:cNvPr id="29" name="TextBox 28"/>
          <p:cNvSpPr txBox="1"/>
          <p:nvPr/>
        </p:nvSpPr>
        <p:spPr>
          <a:xfrm>
            <a:off x="9253728" y="3639311"/>
            <a:ext cx="804672" cy="292608"/>
          </a:xfrm>
          <a:prstGeom prst="rect">
            <a:avLst/>
          </a:prstGeom>
          <a:noFill/>
        </p:spPr>
        <p:txBody>
          <a:bodyPr wrap="square" lIns="18288" rIns="18288" tIns="18288" bIns="18288" anchor="t">
            <a:spAutoFit/>
          </a:bodyPr>
          <a:lstStyle/>
          <a:p>
            <a:pPr algn="ctr">
              <a:spcAft>
                <a:spcPts val="0"/>
              </a:spcAft>
            </a:pPr>
            <a:r>
              <a:rPr sz="1330" b="1" i="0">
                <a:solidFill>
                  <a:srgbClr val="178681"/>
                </a:solidFill>
                <a:latin typeface="Arial"/>
              </a:rPr>
              <a:t>0.475</a:t>
            </a:r>
          </a:p>
        </p:txBody>
      </p:sp>
      <p:sp>
        <p:nvSpPr>
          <p:cNvPr id="30" name="TextBox 29"/>
          <p:cNvSpPr txBox="1"/>
          <p:nvPr/>
        </p:nvSpPr>
        <p:spPr>
          <a:xfrm>
            <a:off x="10222992" y="3639311"/>
            <a:ext cx="1234440" cy="292608"/>
          </a:xfrm>
          <a:prstGeom prst="rect">
            <a:avLst/>
          </a:prstGeom>
          <a:noFill/>
        </p:spPr>
        <p:txBody>
          <a:bodyPr wrap="square" lIns="18288" rIns="18288" tIns="18288" bIns="18288" anchor="t">
            <a:spAutoFit/>
          </a:bodyPr>
          <a:lstStyle/>
          <a:p>
            <a:pPr algn="l">
              <a:spcAft>
                <a:spcPts val="0"/>
              </a:spcAft>
            </a:pPr>
            <a:r>
              <a:rPr sz="1070" b="0" i="0">
                <a:solidFill>
                  <a:srgbClr val="59697A"/>
                </a:solidFill>
                <a:latin typeface="Arial"/>
              </a:rPr>
              <a:t>closer to 0.5</a:t>
            </a:r>
          </a:p>
        </p:txBody>
      </p:sp>
      <p:sp>
        <p:nvSpPr>
          <p:cNvPr id="31" name="TextBox 30"/>
          <p:cNvSpPr txBox="1"/>
          <p:nvPr/>
        </p:nvSpPr>
        <p:spPr>
          <a:xfrm>
            <a:off x="6601968" y="4178808"/>
            <a:ext cx="1490472" cy="292608"/>
          </a:xfrm>
          <a:prstGeom prst="rect">
            <a:avLst/>
          </a:prstGeom>
          <a:noFill/>
        </p:spPr>
        <p:txBody>
          <a:bodyPr wrap="square" lIns="18288" rIns="18288" tIns="18288" bIns="18288" anchor="t">
            <a:spAutoFit/>
          </a:bodyPr>
          <a:lstStyle/>
          <a:p>
            <a:pPr algn="l">
              <a:spcAft>
                <a:spcPts val="0"/>
              </a:spcAft>
            </a:pPr>
            <a:r>
              <a:rPr sz="1120" b="1" i="0">
                <a:solidFill>
                  <a:srgbClr val="263746"/>
                </a:solidFill>
                <a:latin typeface="Arial"/>
              </a:rPr>
              <a:t>FD / real P95</a:t>
            </a:r>
          </a:p>
        </p:txBody>
      </p:sp>
      <p:sp>
        <p:nvSpPr>
          <p:cNvPr id="32" name="TextBox 31"/>
          <p:cNvSpPr txBox="1"/>
          <p:nvPr/>
        </p:nvSpPr>
        <p:spPr>
          <a:xfrm>
            <a:off x="8165592" y="4178808"/>
            <a:ext cx="960120" cy="292608"/>
          </a:xfrm>
          <a:prstGeom prst="rect">
            <a:avLst/>
          </a:prstGeom>
          <a:noFill/>
        </p:spPr>
        <p:txBody>
          <a:bodyPr wrap="square" lIns="18288" rIns="18288" tIns="18288" bIns="18288" anchor="t">
            <a:spAutoFit/>
          </a:bodyPr>
          <a:lstStyle/>
          <a:p>
            <a:pPr algn="ctr">
              <a:spcAft>
                <a:spcPts val="0"/>
              </a:spcAft>
            </a:pPr>
            <a:r>
              <a:rPr sz="1330" b="1" i="0">
                <a:solidFill>
                  <a:srgbClr val="D96552"/>
                </a:solidFill>
                <a:latin typeface="Arial"/>
              </a:rPr>
              <a:t>0.144</a:t>
            </a:r>
          </a:p>
        </p:txBody>
      </p:sp>
      <p:sp>
        <p:nvSpPr>
          <p:cNvPr id="33" name="TextBox 32"/>
          <p:cNvSpPr txBox="1"/>
          <p:nvPr/>
        </p:nvSpPr>
        <p:spPr>
          <a:xfrm>
            <a:off x="9253728" y="4178808"/>
            <a:ext cx="804672" cy="292608"/>
          </a:xfrm>
          <a:prstGeom prst="rect">
            <a:avLst/>
          </a:prstGeom>
          <a:noFill/>
        </p:spPr>
        <p:txBody>
          <a:bodyPr wrap="square" lIns="18288" rIns="18288" tIns="18288" bIns="18288" anchor="t">
            <a:spAutoFit/>
          </a:bodyPr>
          <a:lstStyle/>
          <a:p>
            <a:pPr algn="ctr">
              <a:spcAft>
                <a:spcPts val="0"/>
              </a:spcAft>
            </a:pPr>
            <a:r>
              <a:rPr sz="1330" b="1" i="0">
                <a:solidFill>
                  <a:srgbClr val="178681"/>
                </a:solidFill>
                <a:latin typeface="Arial"/>
              </a:rPr>
              <a:t>0.074</a:t>
            </a:r>
          </a:p>
        </p:txBody>
      </p:sp>
      <p:sp>
        <p:nvSpPr>
          <p:cNvPr id="34" name="TextBox 33"/>
          <p:cNvSpPr txBox="1"/>
          <p:nvPr/>
        </p:nvSpPr>
        <p:spPr>
          <a:xfrm>
            <a:off x="10222992" y="4178808"/>
            <a:ext cx="1234440" cy="292608"/>
          </a:xfrm>
          <a:prstGeom prst="rect">
            <a:avLst/>
          </a:prstGeom>
          <a:noFill/>
        </p:spPr>
        <p:txBody>
          <a:bodyPr wrap="square" lIns="18288" rIns="18288" tIns="18288" bIns="18288" anchor="t">
            <a:spAutoFit/>
          </a:bodyPr>
          <a:lstStyle/>
          <a:p>
            <a:pPr algn="l">
              <a:spcAft>
                <a:spcPts val="0"/>
              </a:spcAft>
            </a:pPr>
            <a:r>
              <a:rPr sz="1070" b="0" i="0">
                <a:solidFill>
                  <a:srgbClr val="59697A"/>
                </a:solidFill>
                <a:latin typeface="Arial"/>
              </a:rPr>
              <a:t>lower</a:t>
            </a:r>
          </a:p>
        </p:txBody>
      </p:sp>
      <p:sp>
        <p:nvSpPr>
          <p:cNvPr id="35" name="Rectangle 34"/>
          <p:cNvSpPr/>
          <p:nvPr/>
        </p:nvSpPr>
        <p:spPr>
          <a:xfrm>
            <a:off x="502920" y="5212080"/>
            <a:ext cx="55138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37667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108960" y="535838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678424"/>
            <a:ext cx="545896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6537960"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766560" y="4937760"/>
            <a:ext cx="129844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147304" y="4919472"/>
            <a:ext cx="3310128" cy="429768"/>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Higher F1 with lower separability and FD.</a:t>
            </a:r>
          </a:p>
        </p:txBody>
      </p:sp>
      <p:sp>
        <p:nvSpPr>
          <p:cNvPr id="42" name="TextBox 41"/>
          <p:cNvSpPr txBox="1"/>
          <p:nvPr/>
        </p:nvSpPr>
        <p:spPr>
          <a:xfrm>
            <a:off x="6766560" y="5458968"/>
            <a:ext cx="4663440" cy="365760"/>
          </a:xfrm>
          <a:prstGeom prst="rect">
            <a:avLst/>
          </a:prstGeom>
          <a:noFill/>
        </p:spPr>
        <p:txBody>
          <a:bodyPr wrap="square" lIns="0" rIns="0" tIns="0" bIns="0" anchor="t">
            <a:spAutoFit/>
          </a:bodyPr>
          <a:lstStyle/>
          <a:p>
            <a:pPr algn="l">
              <a:spcAft>
                <a:spcPts val="0"/>
              </a:spcAft>
            </a:pPr>
            <a:r>
              <a:rPr sz="98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Interpretation: tissue structure dominates; FLT and GC are subtler. PCA is descriptive, so quantitative metrics determine validation.</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analysis arms tested different uses of synthetic data</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Held-out real profiles determined which arm, if any, was eligible within each tissue.</a:t>
            </a:r>
          </a:p>
        </p:txBody>
      </p:sp>
      <p:sp>
        <p:nvSpPr>
          <p:cNvPr id="7" name="TextBox 6"/>
          <p:cNvSpPr txBox="1"/>
          <p:nvPr/>
        </p:nvSpPr>
        <p:spPr>
          <a:xfrm>
            <a:off x="420624" y="1847088"/>
            <a:ext cx="1078992" cy="210312"/>
          </a:xfrm>
          <a:prstGeom prst="rect">
            <a:avLst/>
          </a:prstGeom>
          <a:noFill/>
        </p:spPr>
        <p:txBody>
          <a:bodyPr wrap="square" lIns="0" rIns="0" tIns="0" bIns="0" anchor="t">
            <a:spAutoFit/>
          </a:bodyPr>
          <a:lstStyle/>
          <a:p>
            <a:pPr algn="l">
              <a:spcAft>
                <a:spcPts val="0"/>
              </a:spcAft>
            </a:pPr>
            <a:r>
              <a:rPr sz="919" b="1" i="0">
                <a:solidFill>
                  <a:srgbClr val="59697A"/>
                </a:solidFill>
                <a:latin typeface="Arial"/>
              </a:rPr>
              <a:t>Inputs</a:t>
            </a:r>
          </a:p>
        </p:txBody>
      </p:sp>
      <p:sp>
        <p:nvSpPr>
          <p:cNvPr id="8" name="TextBox 7"/>
          <p:cNvSpPr txBox="1"/>
          <p:nvPr/>
        </p:nvSpPr>
        <p:spPr>
          <a:xfrm>
            <a:off x="1234440" y="1828800"/>
            <a:ext cx="1078992" cy="228600"/>
          </a:xfrm>
          <a:prstGeom prst="rect">
            <a:avLst/>
          </a:prstGeom>
          <a:noFill/>
        </p:spPr>
        <p:txBody>
          <a:bodyPr wrap="square" lIns="0" rIns="0" tIns="0" bIns="0" anchor="t">
            <a:spAutoFit/>
          </a:bodyPr>
          <a:lstStyle/>
          <a:p>
            <a:pPr algn="l">
              <a:spcAft>
                <a:spcPts val="0"/>
              </a:spcAft>
            </a:pPr>
            <a:r>
              <a:rPr sz="1150" b="1" i="0">
                <a:solidFill>
                  <a:srgbClr val="2D6496"/>
                </a:solidFill>
                <a:latin typeface="Arial"/>
              </a:rPr>
              <a:t>Real OSDR</a:t>
            </a:r>
          </a:p>
        </p:txBody>
      </p:sp>
      <p:sp>
        <p:nvSpPr>
          <p:cNvPr id="9" name="TextBox 8"/>
          <p:cNvSpPr txBox="1"/>
          <p:nvPr/>
        </p:nvSpPr>
        <p:spPr>
          <a:xfrm>
            <a:off x="2176272" y="1828800"/>
            <a:ext cx="1280160" cy="228600"/>
          </a:xfrm>
          <a:prstGeom prst="rect">
            <a:avLst/>
          </a:prstGeom>
          <a:noFill/>
        </p:spPr>
        <p:txBody>
          <a:bodyPr wrap="square" lIns="0" rIns="0" tIns="0" bIns="0" anchor="t">
            <a:spAutoFit/>
          </a:bodyPr>
          <a:lstStyle/>
          <a:p>
            <a:pPr algn="l">
              <a:spcAft>
                <a:spcPts val="0"/>
              </a:spcAft>
            </a:pPr>
            <a:r>
              <a:rPr sz="1040" b="0" i="0">
                <a:solidFill>
                  <a:srgbClr val="59697A"/>
                </a:solidFill>
                <a:latin typeface="Arial"/>
              </a:rPr>
              <a:t>observed profiles</a:t>
            </a:r>
          </a:p>
        </p:txBody>
      </p:sp>
      <p:sp>
        <p:nvSpPr>
          <p:cNvPr id="10" name="TextBox 9"/>
          <p:cNvSpPr txBox="1"/>
          <p:nvPr/>
        </p:nvSpPr>
        <p:spPr>
          <a:xfrm>
            <a:off x="3749039" y="1828800"/>
            <a:ext cx="621792" cy="228600"/>
          </a:xfrm>
          <a:prstGeom prst="rect">
            <a:avLst/>
          </a:prstGeom>
          <a:noFill/>
        </p:spPr>
        <p:txBody>
          <a:bodyPr wrap="square" lIns="0" rIns="0" tIns="0" bIns="0" anchor="t">
            <a:spAutoFit/>
          </a:bodyPr>
          <a:lstStyle/>
          <a:p>
            <a:pPr algn="l">
              <a:spcAft>
                <a:spcPts val="0"/>
              </a:spcAft>
            </a:pPr>
            <a:r>
              <a:rPr sz="1150" b="1" i="0">
                <a:solidFill>
                  <a:srgbClr val="D96552"/>
                </a:solidFill>
                <a:latin typeface="Arial"/>
              </a:rPr>
              <a:t>DDIM</a:t>
            </a:r>
          </a:p>
        </p:txBody>
      </p:sp>
      <p:sp>
        <p:nvSpPr>
          <p:cNvPr id="11" name="TextBox 10"/>
          <p:cNvSpPr txBox="1"/>
          <p:nvPr/>
        </p:nvSpPr>
        <p:spPr>
          <a:xfrm>
            <a:off x="4370832" y="1828800"/>
            <a:ext cx="1874519" cy="228600"/>
          </a:xfrm>
          <a:prstGeom prst="rect">
            <a:avLst/>
          </a:prstGeom>
          <a:noFill/>
        </p:spPr>
        <p:txBody>
          <a:bodyPr wrap="square" lIns="0" rIns="0" tIns="0" bIns="0" anchor="t">
            <a:spAutoFit/>
          </a:bodyPr>
          <a:lstStyle/>
          <a:p>
            <a:pPr algn="l">
              <a:spcAft>
                <a:spcPts val="0"/>
              </a:spcAft>
            </a:pPr>
            <a:r>
              <a:rPr sz="1040" b="0" i="0">
                <a:solidFill>
                  <a:srgbClr val="59697A"/>
                </a:solidFill>
                <a:latin typeface="Arial"/>
              </a:rPr>
              <a:t>matched synthetic profiles</a:t>
            </a:r>
          </a:p>
        </p:txBody>
      </p:sp>
      <p:sp>
        <p:nvSpPr>
          <p:cNvPr id="12" name="Rectangle 11"/>
          <p:cNvSpPr/>
          <p:nvPr/>
        </p:nvSpPr>
        <p:spPr>
          <a:xfrm>
            <a:off x="1481328" y="2240280"/>
            <a:ext cx="1938528"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17904"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Real only</a:t>
            </a:r>
          </a:p>
        </p:txBody>
      </p:sp>
      <p:sp>
        <p:nvSpPr>
          <p:cNvPr id="14" name="Rectangle 13"/>
          <p:cNvSpPr/>
          <p:nvPr/>
        </p:nvSpPr>
        <p:spPr>
          <a:xfrm>
            <a:off x="3511296" y="2240280"/>
            <a:ext cx="1938528" cy="3200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Generated only</a:t>
            </a:r>
          </a:p>
        </p:txBody>
      </p:sp>
      <p:sp>
        <p:nvSpPr>
          <p:cNvPr id="16" name="Rectangle 15"/>
          <p:cNvSpPr/>
          <p:nvPr/>
        </p:nvSpPr>
        <p:spPr>
          <a:xfrm>
            <a:off x="5541264" y="2240280"/>
            <a:ext cx="1938528"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Real + generated</a:t>
            </a:r>
          </a:p>
        </p:txBody>
      </p:sp>
      <p:sp>
        <p:nvSpPr>
          <p:cNvPr id="18" name="Rectangle 17"/>
          <p:cNvSpPr/>
          <p:nvPr/>
        </p:nvSpPr>
        <p:spPr>
          <a:xfrm>
            <a:off x="7571232" y="2240280"/>
            <a:ext cx="1938528"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07808"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Guided, real fit</a:t>
            </a:r>
          </a:p>
        </p:txBody>
      </p:sp>
      <p:sp>
        <p:nvSpPr>
          <p:cNvPr id="20" name="Rectangle 19"/>
          <p:cNvSpPr/>
          <p:nvPr/>
        </p:nvSpPr>
        <p:spPr>
          <a:xfrm>
            <a:off x="9601200" y="2240280"/>
            <a:ext cx="1938528"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37776" y="2331720"/>
            <a:ext cx="1865376" cy="384048"/>
          </a:xfrm>
          <a:prstGeom prst="rect">
            <a:avLst/>
          </a:prstGeom>
          <a:noFill/>
        </p:spPr>
        <p:txBody>
          <a:bodyPr wrap="square" lIns="0" rIns="0" tIns="0" bIns="0" anchor="ctr">
            <a:spAutoFit/>
          </a:bodyPr>
          <a:lstStyle/>
          <a:p>
            <a:pPr algn="ctr">
              <a:spcAft>
                <a:spcPts val="0"/>
              </a:spcAft>
            </a:pPr>
            <a:r>
              <a:rPr sz="1160" b="1" i="0">
                <a:solidFill>
                  <a:srgbClr val="082B55"/>
                </a:solidFill>
                <a:latin typeface="Arial"/>
              </a:rPr>
              <a:t>Guided, 5% synthetic</a:t>
            </a:r>
          </a:p>
        </p:txBody>
      </p:sp>
      <p:sp>
        <p:nvSpPr>
          <p:cNvPr id="22" name="Rectangle 21"/>
          <p:cNvSpPr/>
          <p:nvPr/>
        </p:nvSpPr>
        <p:spPr>
          <a:xfrm>
            <a:off x="420624" y="2807208"/>
            <a:ext cx="11201400" cy="557784"/>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344" y="2944368"/>
            <a:ext cx="841248" cy="219456"/>
          </a:xfrm>
          <a:prstGeom prst="rect">
            <a:avLst/>
          </a:prstGeom>
          <a:noFill/>
        </p:spPr>
        <p:txBody>
          <a:bodyPr wrap="square" lIns="0" rIns="0" tIns="0" bIns="0" anchor="t">
            <a:spAutoFit/>
          </a:bodyPr>
          <a:lstStyle/>
          <a:p>
            <a:pPr algn="l">
              <a:spcAft>
                <a:spcPts val="0"/>
              </a:spcAft>
            </a:pPr>
            <a:r>
              <a:rPr sz="919" b="1" i="0">
                <a:solidFill>
                  <a:srgbClr val="59697A"/>
                </a:solidFill>
                <a:latin typeface="Arial"/>
              </a:rPr>
              <a:t>RANK</a:t>
            </a:r>
          </a:p>
        </p:txBody>
      </p:sp>
      <p:sp>
        <p:nvSpPr>
          <p:cNvPr id="24" name="TextBox 23"/>
          <p:cNvSpPr txBox="1"/>
          <p:nvPr/>
        </p:nvSpPr>
        <p:spPr>
          <a:xfrm>
            <a:off x="1527048"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Real</a:t>
            </a:r>
          </a:p>
        </p:txBody>
      </p:sp>
      <p:sp>
        <p:nvSpPr>
          <p:cNvPr id="25" name="TextBox 24"/>
          <p:cNvSpPr txBox="1"/>
          <p:nvPr/>
        </p:nvSpPr>
        <p:spPr>
          <a:xfrm>
            <a:off x="3557016"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Generated</a:t>
            </a:r>
          </a:p>
        </p:txBody>
      </p:sp>
      <p:sp>
        <p:nvSpPr>
          <p:cNvPr id="26" name="TextBox 25"/>
          <p:cNvSpPr txBox="1"/>
          <p:nvPr/>
        </p:nvSpPr>
        <p:spPr>
          <a:xfrm>
            <a:off x="5586984"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Consensus</a:t>
            </a:r>
          </a:p>
        </p:txBody>
      </p:sp>
      <p:sp>
        <p:nvSpPr>
          <p:cNvPr id="27" name="TextBox 26"/>
          <p:cNvSpPr txBox="1"/>
          <p:nvPr/>
        </p:nvSpPr>
        <p:spPr>
          <a:xfrm>
            <a:off x="7616952"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Consensus</a:t>
            </a:r>
          </a:p>
        </p:txBody>
      </p:sp>
      <p:sp>
        <p:nvSpPr>
          <p:cNvPr id="28" name="TextBox 27"/>
          <p:cNvSpPr txBox="1"/>
          <p:nvPr/>
        </p:nvSpPr>
        <p:spPr>
          <a:xfrm>
            <a:off x="9646920" y="2880360"/>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Consensus</a:t>
            </a:r>
          </a:p>
        </p:txBody>
      </p:sp>
      <p:sp>
        <p:nvSpPr>
          <p:cNvPr id="29" name="TextBox 28"/>
          <p:cNvSpPr txBox="1"/>
          <p:nvPr/>
        </p:nvSpPr>
        <p:spPr>
          <a:xfrm>
            <a:off x="466344" y="3621023"/>
            <a:ext cx="841248" cy="219456"/>
          </a:xfrm>
          <a:prstGeom prst="rect">
            <a:avLst/>
          </a:prstGeom>
          <a:noFill/>
        </p:spPr>
        <p:txBody>
          <a:bodyPr wrap="square" lIns="0" rIns="0" tIns="0" bIns="0" anchor="t">
            <a:spAutoFit/>
          </a:bodyPr>
          <a:lstStyle/>
          <a:p>
            <a:pPr algn="l">
              <a:spcAft>
                <a:spcPts val="0"/>
              </a:spcAft>
            </a:pPr>
            <a:r>
              <a:rPr sz="919" b="1" i="0">
                <a:solidFill>
                  <a:srgbClr val="59697A"/>
                </a:solidFill>
                <a:latin typeface="Arial"/>
              </a:rPr>
              <a:t>FIT</a:t>
            </a:r>
          </a:p>
        </p:txBody>
      </p:sp>
      <p:sp>
        <p:nvSpPr>
          <p:cNvPr id="30" name="TextBox 29"/>
          <p:cNvSpPr txBox="1"/>
          <p:nvPr/>
        </p:nvSpPr>
        <p:spPr>
          <a:xfrm>
            <a:off x="1527048"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Real</a:t>
            </a:r>
          </a:p>
        </p:txBody>
      </p:sp>
      <p:sp>
        <p:nvSpPr>
          <p:cNvPr id="31" name="TextBox 30"/>
          <p:cNvSpPr txBox="1"/>
          <p:nvPr/>
        </p:nvSpPr>
        <p:spPr>
          <a:xfrm>
            <a:off x="3557016"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Generated</a:t>
            </a:r>
          </a:p>
        </p:txBody>
      </p:sp>
      <p:sp>
        <p:nvSpPr>
          <p:cNvPr id="32" name="TextBox 31"/>
          <p:cNvSpPr txBox="1"/>
          <p:nvPr/>
        </p:nvSpPr>
        <p:spPr>
          <a:xfrm>
            <a:off x="5586984"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Equal weight</a:t>
            </a:r>
          </a:p>
        </p:txBody>
      </p:sp>
      <p:sp>
        <p:nvSpPr>
          <p:cNvPr id="33" name="TextBox 32"/>
          <p:cNvSpPr txBox="1"/>
          <p:nvPr/>
        </p:nvSpPr>
        <p:spPr>
          <a:xfrm>
            <a:off x="7616952"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Real</a:t>
            </a:r>
          </a:p>
        </p:txBody>
      </p:sp>
      <p:sp>
        <p:nvSpPr>
          <p:cNvPr id="34" name="TextBox 33"/>
          <p:cNvSpPr txBox="1"/>
          <p:nvPr/>
        </p:nvSpPr>
        <p:spPr>
          <a:xfrm>
            <a:off x="9646920" y="3557015"/>
            <a:ext cx="1847088" cy="365760"/>
          </a:xfrm>
          <a:prstGeom prst="rect">
            <a:avLst/>
          </a:prstGeom>
          <a:noFill/>
        </p:spPr>
        <p:txBody>
          <a:bodyPr wrap="square" lIns="0" rIns="0" tIns="0" bIns="0" anchor="ctr">
            <a:spAutoFit/>
          </a:bodyPr>
          <a:lstStyle/>
          <a:p>
            <a:pPr algn="ctr">
              <a:spcAft>
                <a:spcPts val="0"/>
              </a:spcAft>
            </a:pPr>
            <a:r>
              <a:rPr sz="1120" b="1" i="0">
                <a:solidFill>
                  <a:srgbClr val="263746"/>
                </a:solidFill>
                <a:latin typeface="Arial"/>
              </a:rPr>
              <a:t>Real + 5% synthetic</a:t>
            </a:r>
          </a:p>
        </p:txBody>
      </p:sp>
      <p:sp>
        <p:nvSpPr>
          <p:cNvPr id="35" name="Rectangle 34"/>
          <p:cNvSpPr/>
          <p:nvPr/>
        </p:nvSpPr>
        <p:spPr>
          <a:xfrm>
            <a:off x="420624" y="4160520"/>
            <a:ext cx="11201400" cy="557784"/>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6344" y="4297680"/>
            <a:ext cx="841248" cy="219456"/>
          </a:xfrm>
          <a:prstGeom prst="rect">
            <a:avLst/>
          </a:prstGeom>
          <a:noFill/>
        </p:spPr>
        <p:txBody>
          <a:bodyPr wrap="square" lIns="0" rIns="0" tIns="0" bIns="0" anchor="t">
            <a:spAutoFit/>
          </a:bodyPr>
          <a:lstStyle/>
          <a:p>
            <a:pPr algn="l">
              <a:spcAft>
                <a:spcPts val="0"/>
              </a:spcAft>
            </a:pPr>
            <a:r>
              <a:rPr sz="919" b="1" i="0">
                <a:solidFill>
                  <a:srgbClr val="59697A"/>
                </a:solidFill>
                <a:latin typeface="Arial"/>
              </a:rPr>
              <a:t>ROLE</a:t>
            </a:r>
          </a:p>
        </p:txBody>
      </p:sp>
      <p:sp>
        <p:nvSpPr>
          <p:cNvPr id="37" name="TextBox 36"/>
          <p:cNvSpPr txBox="1"/>
          <p:nvPr/>
        </p:nvSpPr>
        <p:spPr>
          <a:xfrm>
            <a:off x="1527048"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Baseline</a:t>
            </a:r>
          </a:p>
        </p:txBody>
      </p:sp>
      <p:sp>
        <p:nvSpPr>
          <p:cNvPr id="38" name="TextBox 37"/>
          <p:cNvSpPr txBox="1"/>
          <p:nvPr/>
        </p:nvSpPr>
        <p:spPr>
          <a:xfrm>
            <a:off x="3557016"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Stress test</a:t>
            </a:r>
          </a:p>
        </p:txBody>
      </p:sp>
      <p:sp>
        <p:nvSpPr>
          <p:cNvPr id="39" name="TextBox 38"/>
          <p:cNvSpPr txBox="1"/>
          <p:nvPr/>
        </p:nvSpPr>
        <p:spPr>
          <a:xfrm>
            <a:off x="5586984"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Augmentation</a:t>
            </a:r>
          </a:p>
        </p:txBody>
      </p:sp>
      <p:sp>
        <p:nvSpPr>
          <p:cNvPr id="40" name="TextBox 39"/>
          <p:cNvSpPr txBox="1"/>
          <p:nvPr/>
        </p:nvSpPr>
        <p:spPr>
          <a:xfrm>
            <a:off x="7616952"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Feature guidance</a:t>
            </a:r>
          </a:p>
        </p:txBody>
      </p:sp>
      <p:sp>
        <p:nvSpPr>
          <p:cNvPr id="41" name="TextBox 40"/>
          <p:cNvSpPr txBox="1"/>
          <p:nvPr/>
        </p:nvSpPr>
        <p:spPr>
          <a:xfrm>
            <a:off x="9646920" y="4233672"/>
            <a:ext cx="1847088" cy="365760"/>
          </a:xfrm>
          <a:prstGeom prst="rect">
            <a:avLst/>
          </a:prstGeom>
          <a:noFill/>
        </p:spPr>
        <p:txBody>
          <a:bodyPr wrap="square" lIns="0" rIns="0" tIns="0" bIns="0" anchor="ctr">
            <a:spAutoFit/>
          </a:bodyPr>
          <a:lstStyle/>
          <a:p>
            <a:pPr algn="ctr">
              <a:spcAft>
                <a:spcPts val="0"/>
              </a:spcAft>
            </a:pPr>
            <a:r>
              <a:rPr sz="1120" b="0" i="0">
                <a:solidFill>
                  <a:srgbClr val="263746"/>
                </a:solidFill>
                <a:latin typeface="Arial"/>
              </a:rPr>
              <a:t>Low-weight training</a:t>
            </a:r>
          </a:p>
        </p:txBody>
      </p:sp>
      <p:sp>
        <p:nvSpPr>
          <p:cNvPr id="42" name="Rectangle 41"/>
          <p:cNvSpPr/>
          <p:nvPr/>
        </p:nvSpPr>
        <p:spPr>
          <a:xfrm>
            <a:off x="420624" y="4937760"/>
            <a:ext cx="11173968"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30352" y="5138928"/>
            <a:ext cx="1874519" cy="274320"/>
          </a:xfrm>
          <a:prstGeom prst="rect">
            <a:avLst/>
          </a:prstGeom>
          <a:noFill/>
        </p:spPr>
        <p:txBody>
          <a:bodyPr wrap="square" lIns="18288" rIns="18288" tIns="18288" bIns="18288" anchor="t">
            <a:spAutoFit/>
          </a:bodyPr>
          <a:lstStyle/>
          <a:p>
            <a:pPr algn="ctr">
              <a:spcAft>
                <a:spcPts val="0"/>
              </a:spcAft>
            </a:pPr>
            <a:r>
              <a:rPr sz="1450" b="1" i="0">
                <a:solidFill>
                  <a:srgbClr val="082B55"/>
                </a:solidFill>
                <a:latin typeface="Arial"/>
              </a:rPr>
              <a:t>Held-out real profiles</a:t>
            </a:r>
          </a:p>
        </p:txBody>
      </p:sp>
      <p:sp>
        <p:nvSpPr>
          <p:cNvPr id="44" name="Right Arrow 43"/>
          <p:cNvSpPr/>
          <p:nvPr/>
        </p:nvSpPr>
        <p:spPr>
          <a:xfrm>
            <a:off x="2542032" y="5184648"/>
            <a:ext cx="365760"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090672" y="5138928"/>
            <a:ext cx="1938528" cy="274320"/>
          </a:xfrm>
          <a:prstGeom prst="rect">
            <a:avLst/>
          </a:prstGeom>
          <a:noFill/>
        </p:spPr>
        <p:txBody>
          <a:bodyPr wrap="square" lIns="18288" rIns="18288" tIns="18288" bIns="18288" anchor="t">
            <a:spAutoFit/>
          </a:bodyPr>
          <a:lstStyle/>
          <a:p>
            <a:pPr algn="ctr">
              <a:spcAft>
                <a:spcPts val="0"/>
              </a:spcAft>
            </a:pPr>
            <a:r>
              <a:rPr sz="1330" b="1" i="0">
                <a:solidFill>
                  <a:srgbClr val="263746"/>
                </a:solidFill>
                <a:latin typeface="Arial"/>
              </a:rPr>
              <a:t>BA  |  AUROC  |  AP</a:t>
            </a:r>
          </a:p>
        </p:txBody>
      </p:sp>
      <p:sp>
        <p:nvSpPr>
          <p:cNvPr id="46" name="Right Arrow 45"/>
          <p:cNvSpPr/>
          <p:nvPr/>
        </p:nvSpPr>
        <p:spPr>
          <a:xfrm>
            <a:off x="5193792" y="5184648"/>
            <a:ext cx="365760"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742432" y="5111496"/>
            <a:ext cx="3520440" cy="310896"/>
          </a:xfrm>
          <a:prstGeom prst="rect">
            <a:avLst/>
          </a:prstGeom>
          <a:noFill/>
        </p:spPr>
        <p:txBody>
          <a:bodyPr wrap="square" lIns="18288" rIns="18288" tIns="18288" bIns="18288" anchor="t">
            <a:spAutoFit/>
          </a:bodyPr>
          <a:lstStyle/>
          <a:p>
            <a:pPr algn="ctr">
              <a:spcAft>
                <a:spcPts val="0"/>
              </a:spcAft>
            </a:pPr>
            <a:r>
              <a:rPr sz="1400" b="1" i="0">
                <a:solidFill>
                  <a:srgbClr val="178681"/>
                </a:solidFill>
                <a:latin typeface="Arial"/>
              </a:rPr>
              <a:t>Choose an eligible arm within each tissue</a:t>
            </a:r>
          </a:p>
        </p:txBody>
      </p:sp>
      <p:sp>
        <p:nvSpPr>
          <p:cNvPr id="48" name="Rectangle 47"/>
          <p:cNvSpPr/>
          <p:nvPr/>
        </p:nvSpPr>
        <p:spPr>
          <a:xfrm>
            <a:off x="420624" y="5632704"/>
            <a:ext cx="11173968" cy="566928"/>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6656" y="5779008"/>
            <a:ext cx="1325880" cy="246888"/>
          </a:xfrm>
          <a:prstGeom prst="rect">
            <a:avLst/>
          </a:prstGeom>
          <a:noFill/>
        </p:spPr>
        <p:txBody>
          <a:bodyPr wrap="square" lIns="0" rIns="0" tIns="0" bIns="0" anchor="t">
            <a:spAutoFit/>
          </a:bodyPr>
          <a:lstStyle/>
          <a:p>
            <a:pPr algn="l">
              <a:spcAft>
                <a:spcPts val="0"/>
              </a:spcAft>
            </a:pPr>
            <a:r>
              <a:rPr sz="1450" b="1" i="0">
                <a:solidFill>
                  <a:srgbClr val="FFFFFF"/>
                </a:solidFill>
                <a:latin typeface="Arial"/>
              </a:rPr>
              <a:t>Biology check</a:t>
            </a:r>
          </a:p>
        </p:txBody>
      </p:sp>
      <p:sp>
        <p:nvSpPr>
          <p:cNvPr id="50" name="TextBox 49"/>
          <p:cNvSpPr txBox="1"/>
          <p:nvPr/>
        </p:nvSpPr>
        <p:spPr>
          <a:xfrm>
            <a:off x="2176272" y="5760720"/>
            <a:ext cx="6172200" cy="265176"/>
          </a:xfrm>
          <a:prstGeom prst="rect">
            <a:avLst/>
          </a:prstGeom>
          <a:noFill/>
        </p:spPr>
        <p:txBody>
          <a:bodyPr wrap="square" lIns="0" rIns="0" tIns="0" bIns="0" anchor="t">
            <a:spAutoFit/>
          </a:bodyPr>
          <a:lstStyle/>
          <a:p>
            <a:pPr algn="l">
              <a:spcAft>
                <a:spcPts val="0"/>
              </a:spcAft>
            </a:pPr>
            <a:r>
              <a:rPr sz="1360" b="0" i="0">
                <a:solidFill>
                  <a:srgbClr val="DCE7F2"/>
                </a:solidFill>
                <a:latin typeface="Arial"/>
              </a:rPr>
              <a:t>FLT vs GC effects and BH FDR use observed OSDR profiles only.</a:t>
            </a:r>
          </a:p>
        </p:txBody>
      </p:sp>
      <p:sp>
        <p:nvSpPr>
          <p:cNvPr id="51" name="TextBox 50"/>
          <p:cNvSpPr txBox="1"/>
          <p:nvPr/>
        </p:nvSpPr>
        <p:spPr>
          <a:xfrm>
            <a:off x="8394192" y="5760720"/>
            <a:ext cx="2871216" cy="265176"/>
          </a:xfrm>
          <a:prstGeom prst="rect">
            <a:avLst/>
          </a:prstGeom>
          <a:noFill/>
        </p:spPr>
        <p:txBody>
          <a:bodyPr wrap="square" lIns="0" rIns="0" tIns="0" bIns="0" anchor="t">
            <a:spAutoFit/>
          </a:bodyPr>
          <a:lstStyle/>
          <a:p>
            <a:pPr algn="r">
              <a:spcAft>
                <a:spcPts val="0"/>
              </a:spcAft>
            </a:pPr>
            <a:r>
              <a:rPr sz="1180" b="1" i="0">
                <a:solidFill>
                  <a:srgbClr val="FFD69A"/>
                </a:solidFill>
                <a:latin typeface="Arial"/>
              </a:rPr>
              <a:t>Animal n stays unchanged.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Rectangle 8"/>
          <p:cNvSpPr/>
          <p:nvPr/>
        </p:nvSpPr>
        <p:spPr>
          <a:xfrm>
            <a:off x="640080" y="54864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1" name="Rectangle 10"/>
          <p:cNvSpPr/>
          <p:nvPr/>
        </p:nvSpPr>
        <p:spPr>
          <a:xfrm>
            <a:off x="640080" y="41148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3" name="Rectangle 12"/>
          <p:cNvSpPr/>
          <p:nvPr/>
        </p:nvSpPr>
        <p:spPr>
          <a:xfrm>
            <a:off x="640080" y="2743200"/>
            <a:ext cx="2633472"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3192"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5" name="Rectangle 14"/>
          <p:cNvSpPr/>
          <p:nvPr/>
        </p:nvSpPr>
        <p:spPr>
          <a:xfrm>
            <a:off x="713232"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7" name="TextBox 16"/>
          <p:cNvSpPr txBox="1"/>
          <p:nvPr/>
        </p:nvSpPr>
        <p:spPr>
          <a:xfrm>
            <a:off x="530352"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only</a:t>
            </a:r>
          </a:p>
        </p:txBody>
      </p:sp>
      <p:sp>
        <p:nvSpPr>
          <p:cNvPr id="18" name="Rectangle 17"/>
          <p:cNvSpPr/>
          <p:nvPr/>
        </p:nvSpPr>
        <p:spPr>
          <a:xfrm>
            <a:off x="1591056"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17904"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0" name="TextBox 19"/>
          <p:cNvSpPr txBox="1"/>
          <p:nvPr/>
        </p:nvSpPr>
        <p:spPr>
          <a:xfrm>
            <a:off x="1408176"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Generated only</a:t>
            </a:r>
          </a:p>
        </p:txBody>
      </p:sp>
      <p:sp>
        <p:nvSpPr>
          <p:cNvPr id="21" name="Rectangle 20"/>
          <p:cNvSpPr/>
          <p:nvPr/>
        </p:nvSpPr>
        <p:spPr>
          <a:xfrm>
            <a:off x="2468880"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95728"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3" name="TextBox 22"/>
          <p:cNvSpPr txBox="1"/>
          <p:nvPr/>
        </p:nvSpPr>
        <p:spPr>
          <a:xfrm>
            <a:off x="2286000"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 synth.</a:t>
            </a:r>
          </a:p>
        </p:txBody>
      </p:sp>
      <p:sp>
        <p:nvSpPr>
          <p:cNvPr id="24" name="Rectangle 23"/>
          <p:cNvSpPr/>
          <p:nvPr/>
        </p:nvSpPr>
        <p:spPr>
          <a:xfrm>
            <a:off x="640080" y="5486400"/>
            <a:ext cx="2633472"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2542032"/>
            <a:ext cx="2542032"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(0-1)</a:t>
            </a: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describe repeated feature selection; both require a supporting effect in real OSDR data.</a:t>
            </a:r>
          </a:p>
        </p:txBody>
      </p:sp>
      <p:sp>
        <p:nvSpPr>
          <p:cNvPr id="7" name="TextBox 6"/>
          <p:cNvSpPr txBox="1"/>
          <p:nvPr/>
        </p:nvSpPr>
        <p:spPr>
          <a:xfrm>
            <a:off x="566928" y="1847088"/>
            <a:ext cx="4443984" cy="310896"/>
          </a:xfrm>
          <a:prstGeom prst="rect">
            <a:avLst/>
          </a:prstGeom>
          <a:noFill/>
        </p:spPr>
        <p:txBody>
          <a:bodyPr wrap="square" lIns="18288" rIns="18288" tIns="18288" bIns="18288" anchor="t">
            <a:spAutoFit/>
          </a:bodyPr>
          <a:lstStyle/>
          <a:p>
            <a:pPr algn="ctr">
              <a:spcAft>
                <a:spcPts val="0"/>
              </a:spcAft>
            </a:pPr>
            <a:r>
              <a:rPr sz="1600" b="1" i="0">
                <a:solidFill>
                  <a:srgbClr val="59697A"/>
                </a:solidFill>
                <a:latin typeface="Arial"/>
              </a:rPr>
              <a:t>Repeated stable selection</a:t>
            </a:r>
          </a:p>
        </p:txBody>
      </p:sp>
      <p:sp>
        <p:nvSpPr>
          <p:cNvPr id="8" name="Oval 7"/>
          <p:cNvSpPr/>
          <p:nvPr/>
        </p:nvSpPr>
        <p:spPr>
          <a:xfrm>
            <a:off x="566928" y="2304288"/>
            <a:ext cx="2743200" cy="2148840"/>
          </a:xfrm>
          <a:prstGeom prst="ellipse">
            <a:avLst/>
          </a:prstGeom>
          <a:no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67712" y="2304288"/>
            <a:ext cx="2743200" cy="2148840"/>
          </a:xfrm>
          <a:prstGeom prst="ellipse">
            <a:avLst/>
          </a:prstGeom>
          <a:noFill/>
          <a:ln w="3048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 y="2816352"/>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Real-only</a:t>
            </a:r>
          </a:p>
        </p:txBody>
      </p:sp>
      <p:sp>
        <p:nvSpPr>
          <p:cNvPr id="11" name="TextBox 10"/>
          <p:cNvSpPr txBox="1"/>
          <p:nvPr/>
        </p:nvSpPr>
        <p:spPr>
          <a:xfrm>
            <a:off x="649224" y="3108960"/>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ranking</a:t>
            </a:r>
          </a:p>
        </p:txBody>
      </p:sp>
      <p:sp>
        <p:nvSpPr>
          <p:cNvPr id="12" name="TextBox 11"/>
          <p:cNvSpPr txBox="1"/>
          <p:nvPr/>
        </p:nvSpPr>
        <p:spPr>
          <a:xfrm>
            <a:off x="3300984" y="2816352"/>
            <a:ext cx="1719072" cy="265176"/>
          </a:xfrm>
          <a:prstGeom prst="rect">
            <a:avLst/>
          </a:prstGeom>
          <a:noFill/>
        </p:spPr>
        <p:txBody>
          <a:bodyPr wrap="square" lIns="0" rIns="0" tIns="0" bIns="0" anchor="t">
            <a:spAutoFit/>
          </a:bodyPr>
          <a:lstStyle/>
          <a:p>
            <a:pPr algn="ctr">
              <a:spcAft>
                <a:spcPts val="0"/>
              </a:spcAft>
            </a:pPr>
            <a:r>
              <a:rPr sz="1350" b="1" i="0">
                <a:solidFill>
                  <a:srgbClr val="178681"/>
                </a:solidFill>
                <a:latin typeface="Arial"/>
              </a:rPr>
              <a:t>Synthetic-guided</a:t>
            </a:r>
          </a:p>
        </p:txBody>
      </p:sp>
      <p:sp>
        <p:nvSpPr>
          <p:cNvPr id="13" name="TextBox 12"/>
          <p:cNvSpPr txBox="1"/>
          <p:nvPr/>
        </p:nvSpPr>
        <p:spPr>
          <a:xfrm>
            <a:off x="3300984" y="3108960"/>
            <a:ext cx="1719072" cy="265176"/>
          </a:xfrm>
          <a:prstGeom prst="rect">
            <a:avLst/>
          </a:prstGeom>
          <a:noFill/>
        </p:spPr>
        <p:txBody>
          <a:bodyPr wrap="square" lIns="0" rIns="0" tIns="0" bIns="0" anchor="t">
            <a:spAutoFit/>
          </a:bodyPr>
          <a:lstStyle/>
          <a:p>
            <a:pPr algn="ctr">
              <a:spcAft>
                <a:spcPts val="0"/>
              </a:spcAft>
            </a:pPr>
            <a:r>
              <a:rPr sz="1600" b="1" i="0">
                <a:solidFill>
                  <a:srgbClr val="178681"/>
                </a:solidFill>
                <a:latin typeface="Arial"/>
              </a:rPr>
              <a:t>ranking</a:t>
            </a:r>
          </a:p>
        </p:txBody>
      </p:sp>
      <p:sp>
        <p:nvSpPr>
          <p:cNvPr id="14" name="TextBox 13"/>
          <p:cNvSpPr txBox="1"/>
          <p:nvPr/>
        </p:nvSpPr>
        <p:spPr>
          <a:xfrm>
            <a:off x="2304288" y="2999232"/>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23</a:t>
            </a:r>
          </a:p>
        </p:txBody>
      </p:sp>
      <p:sp>
        <p:nvSpPr>
          <p:cNvPr id="15" name="TextBox 14"/>
          <p:cNvSpPr txBox="1"/>
          <p:nvPr/>
        </p:nvSpPr>
        <p:spPr>
          <a:xfrm>
            <a:off x="2304288" y="3236976"/>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reinforced</a:t>
            </a:r>
          </a:p>
        </p:txBody>
      </p:sp>
      <p:sp>
        <p:nvSpPr>
          <p:cNvPr id="16" name="Rectangle 15"/>
          <p:cNvSpPr/>
          <p:nvPr/>
        </p:nvSpPr>
        <p:spPr>
          <a:xfrm>
            <a:off x="3218688" y="4535424"/>
            <a:ext cx="1700784" cy="713232"/>
          </a:xfrm>
          <a:prstGeom prst="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46704" y="4626864"/>
            <a:ext cx="1444752" cy="219456"/>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26 promoted</a:t>
            </a:r>
          </a:p>
        </p:txBody>
      </p:sp>
      <p:sp>
        <p:nvSpPr>
          <p:cNvPr id="18" name="TextBox 17"/>
          <p:cNvSpPr txBox="1"/>
          <p:nvPr/>
        </p:nvSpPr>
        <p:spPr>
          <a:xfrm>
            <a:off x="3364992" y="4882896"/>
            <a:ext cx="1408176" cy="292608"/>
          </a:xfrm>
          <a:prstGeom prst="rect">
            <a:avLst/>
          </a:prstGeom>
          <a:noFill/>
        </p:spPr>
        <p:txBody>
          <a:bodyPr wrap="square" lIns="18288" rIns="18288" tIns="18288" bIns="18288" anchor="t">
            <a:spAutoFit/>
          </a:bodyPr>
          <a:lstStyle/>
          <a:p>
            <a:pPr algn="ctr">
              <a:spcAft>
                <a:spcPts val="0"/>
              </a:spcAft>
            </a:pPr>
            <a:r>
              <a:rPr sz="950" b="0" i="0">
                <a:solidFill>
                  <a:srgbClr val="59697A"/>
                </a:solidFill>
                <a:latin typeface="Arial"/>
              </a:rPr>
              <a:t>selected only with
synthetic guidance</a:t>
            </a:r>
          </a:p>
        </p:txBody>
      </p:sp>
      <p:sp>
        <p:nvSpPr>
          <p:cNvPr id="19" name="Right Arrow 18"/>
          <p:cNvSpPr/>
          <p:nvPr/>
        </p:nvSpPr>
        <p:spPr>
          <a:xfrm>
            <a:off x="5285232" y="3017520"/>
            <a:ext cx="594360" cy="4389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9904" y="2020824"/>
            <a:ext cx="16459" cy="338328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240280"/>
            <a:ext cx="4846320"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association test</a:t>
            </a:r>
          </a:p>
        </p:txBody>
      </p:sp>
      <p:sp>
        <p:nvSpPr>
          <p:cNvPr id="22" name="Oval 21"/>
          <p:cNvSpPr/>
          <p:nvPr/>
        </p:nvSpPr>
        <p:spPr>
          <a:xfrm>
            <a:off x="6601968" y="30175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59" y="2907792"/>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Estimate FLT vs GC inside each accession</a:t>
            </a:r>
          </a:p>
        </p:txBody>
      </p:sp>
      <p:sp>
        <p:nvSpPr>
          <p:cNvPr id="24" name="Oval 23"/>
          <p:cNvSpPr/>
          <p:nvPr/>
        </p:nvSpPr>
        <p:spPr>
          <a:xfrm>
            <a:off x="6601968" y="354787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59" y="3438144"/>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Combine accession effects with a random-effects model</a:t>
            </a:r>
          </a:p>
        </p:txBody>
      </p:sp>
      <p:sp>
        <p:nvSpPr>
          <p:cNvPr id="26" name="Oval 25"/>
          <p:cNvSpPr/>
          <p:nvPr/>
        </p:nvSpPr>
        <p:spPr>
          <a:xfrm>
            <a:off x="6601968" y="4078224"/>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59" y="3968496"/>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Apply BH FDR within each tissue</a:t>
            </a:r>
          </a:p>
        </p:txBody>
      </p:sp>
      <p:sp>
        <p:nvSpPr>
          <p:cNvPr id="28" name="Rectangle 27"/>
          <p:cNvSpPr/>
          <p:nvPr/>
        </p:nvSpPr>
        <p:spPr>
          <a:xfrm>
            <a:off x="6547104" y="4681728"/>
            <a:ext cx="4572000" cy="475488"/>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11696" y="4764024"/>
            <a:ext cx="4251960" cy="265176"/>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49 synthetic-informed associations</a:t>
            </a:r>
          </a:p>
        </p:txBody>
      </p:sp>
      <p:sp>
        <p:nvSpPr>
          <p:cNvPr id="30" name="Rectangle 29"/>
          <p:cNvSpPr/>
          <p:nvPr/>
        </p:nvSpPr>
        <p:spPr>
          <a:xfrm>
            <a:off x="475488" y="5650992"/>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5769864"/>
            <a:ext cx="10744200" cy="274320"/>
          </a:xfrm>
          <a:prstGeom prst="rect">
            <a:avLst/>
          </a:prstGeom>
          <a:noFill/>
        </p:spPr>
        <p:txBody>
          <a:bodyPr wrap="square" lIns="18288" rIns="18288" tIns="18288" bIns="18288" anchor="t">
            <a:spAutoFit/>
          </a:bodyPr>
          <a:lstStyle/>
          <a:p>
            <a:pPr algn="ctr">
              <a:spcAft>
                <a:spcPts val="0"/>
              </a:spcAft>
            </a:pPr>
            <a:r>
              <a:rPr sz="1350" b="0" i="0">
                <a:solidFill>
                  <a:srgbClr val="59697A"/>
                </a:solidFill>
                <a:latin typeface="Arial"/>
              </a:rPr>
              <a:t>These are 49 tissue-gene associations among 459 BH-FDR rows. A gene can appear in more than one tissue.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3968496"/>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07408"/>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46320"/>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285231"/>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6" name="Rectangle 15"/>
          <p:cNvSpPr/>
          <p:nvPr/>
        </p:nvSpPr>
        <p:spPr>
          <a:xfrm>
            <a:off x="7552944"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Thymus was robust to material ablation; soleus was conditioning-sensitive. Literature review separated recovery from extension.</a:t>
            </a:r>
          </a:p>
        </p:txBody>
      </p:sp>
      <p:sp>
        <p:nvSpPr>
          <p:cNvPr id="21" name="Rectangle 20"/>
          <p:cNvSpPr/>
          <p:nvPr/>
        </p:nvSpPr>
        <p:spPr>
          <a:xfrm>
            <a:off x="411480" y="4681728"/>
            <a:ext cx="1097280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928616"/>
            <a:ext cx="1261872" cy="310896"/>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Next test</a:t>
            </a:r>
          </a:p>
        </p:txBody>
      </p:sp>
      <p:sp>
        <p:nvSpPr>
          <p:cNvPr id="23" name="TextBox 22"/>
          <p:cNvSpPr txBox="1"/>
          <p:nvPr/>
        </p:nvSpPr>
        <p:spPr>
          <a:xfrm>
            <a:off x="1828800" y="4837176"/>
            <a:ext cx="9253728" cy="566928"/>
          </a:xfrm>
          <a:prstGeom prst="rect">
            <a:avLst/>
          </a:prstGeom>
          <a:noFill/>
        </p:spPr>
        <p:txBody>
          <a:bodyPr wrap="square" lIns="0" rIns="0" tIns="0" bIns="0" anchor="ctr">
            <a:spAutoFit/>
          </a:bodyPr>
          <a:lstStyle/>
          <a:p>
            <a:pPr algn="l">
              <a:spcAft>
                <a:spcPts val="0"/>
              </a:spcAft>
            </a:pPr>
            <a:r>
              <a:rPr sz="1600" b="0" i="0">
                <a:solidFill>
                  <a:srgbClr val="082B55"/>
                </a:solidFill>
                <a:latin typeface="Arial"/>
              </a:rPr>
              <a:t>Use independent samples and cell-resolved assays to test thymus proliferation, soleus metabolism and prioritized candidates from additional tissues.</a:t>
            </a:r>
          </a:p>
        </p:txBody>
      </p:sp>
      <p:sp>
        <p:nvSpPr>
          <p:cNvPr id="24" name="TextBox 23"/>
          <p:cNvSpPr txBox="1"/>
          <p:nvPr/>
        </p:nvSpPr>
        <p:spPr>
          <a:xfrm>
            <a:off x="1828800" y="5486400"/>
            <a:ext cx="9253728" cy="256032"/>
          </a:xfrm>
          <a:prstGeom prst="rect">
            <a:avLst/>
          </a:prstGeom>
          <a:noFill/>
        </p:spPr>
        <p:txBody>
          <a:bodyPr wrap="square" lIns="0" rIns="0" tIns="0" bIns="0" anchor="t">
            <a:spAutoFit/>
          </a:bodyPr>
          <a:lstStyle/>
          <a:p>
            <a:pPr algn="l">
              <a:spcAft>
                <a:spcPts val="0"/>
              </a:spcAft>
            </a:pPr>
            <a:r>
              <a:rPr sz="1250" b="0" i="0">
                <a:solidFill>
                  <a:srgbClr val="59697A"/>
                </a:solidFill>
                <a:latin typeface="Arial"/>
              </a:rPr>
              <a:t>Generated profiles never enter the biological sample count or the BH-FDR 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