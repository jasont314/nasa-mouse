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autoCompressPictures="0">
  <p:sldMasterIdLst>
    <p:sldMasterId id="2147483659" r:id="rId4"/>
  </p:sldMasterIdLst>
  <p:notesMasterIdLst>
    <p:notesMasterId r:id="rId7"/>
  </p:notesMasterIdLst>
  <p:handoutMasterIdLst>
    <p:handoutMasterId r:id="rId8"/>
  </p:handoutMasterIdLst>
  <p:sldIdLst>
    <p:sldId id="287" r:id="rId5"/>
    <p:sldId id="289" r:id="rId6"/>
    <p:sldId id="290" r:id="rId14"/>
    <p:sldId id="291" r:id="rId15"/>
    <p:sldId id="292" r:id="rId16"/>
    <p:sldId id="293" r:id="rId17"/>
    <p:sldId id="294" r:id="rId18"/>
    <p:sldId id="295" r:id="rId19"/>
    <p:sldId id="296" r:id="rId20"/>
    <p:sldId id="297" r:id="rId21"/>
    <p:sldId id="298" r:id="rId22"/>
    <p:sldId id="299" r:id="rId23"/>
    <p:sldId id="300" r:id="rId24"/>
    <p:sldId id="301" r:id="rId25"/>
    <p:sldId id="302" r:id="rId26"/>
    <p:sldId id="303" r:id="rId27"/>
    <p:sldId id="304" r:id="rId28"/>
    <p:sldId id="305" r:id="rId29"/>
    <p:sldId id="306" r:id="rId30"/>
    <p:sldId id="307" r:id="rId31"/>
    <p:sldId id="308" r:id="rId3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4EBFE0"/>
    <a:srgbClr val="03110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E7E6095-EDCC-4DCB-AAC0-188518B1781D}" v="1" dt="2026-06-23T20:42:39.61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9892"/>
    <p:restoredTop sz="96327"/>
  </p:normalViewPr>
  <p:slideViewPr>
    <p:cSldViewPr snapToGrid="0">
      <p:cViewPr varScale="1">
        <p:scale>
          <a:sx n="81" d="100"/>
          <a:sy n="81" d="100"/>
        </p:scale>
        <p:origin x="946" y="72"/>
      </p:cViewPr>
      <p:guideLst/>
    </p:cSldViewPr>
  </p:slideViewPr>
  <p:notesTextViewPr>
    <p:cViewPr>
      <p:scale>
        <a:sx n="1" d="1"/>
        <a:sy n="1" d="1"/>
      </p:scale>
      <p:origin x="0" y="0"/>
    </p:cViewPr>
  </p:notesTextViewPr>
  <p:notesViewPr>
    <p:cSldViewPr snapToGrid="0">
      <p:cViewPr varScale="1">
        <p:scale>
          <a:sx n="97" d="100"/>
          <a:sy n="97" d="100"/>
        </p:scale>
        <p:origin x="3120" y="20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notesMaster" Target="notesMasters/notesMaster1.xml"/><Relationship Id="rId8" Type="http://schemas.openxmlformats.org/officeDocument/2006/relationships/handoutMaster" Target="handoutMasters/handout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microsoft.com/office/2015/10/relationships/revisionInfo" Target="revisionInfo.xml"/><Relationship Id="rId14" Type="http://schemas.openxmlformats.org/officeDocument/2006/relationships/slide" Target="slides/slide3.xml"/><Relationship Id="rId15" Type="http://schemas.openxmlformats.org/officeDocument/2006/relationships/slide" Target="slides/slide4.xml"/><Relationship Id="rId16" Type="http://schemas.openxmlformats.org/officeDocument/2006/relationships/slide" Target="slides/slide5.xml"/><Relationship Id="rId17" Type="http://schemas.openxmlformats.org/officeDocument/2006/relationships/slide" Target="slides/slide6.xml"/><Relationship Id="rId18" Type="http://schemas.openxmlformats.org/officeDocument/2006/relationships/slide" Target="slides/slide7.xml"/><Relationship Id="rId19" Type="http://schemas.openxmlformats.org/officeDocument/2006/relationships/slide" Target="slides/slide8.xml"/><Relationship Id="rId20" Type="http://schemas.openxmlformats.org/officeDocument/2006/relationships/slide" Target="slides/slide9.xml"/><Relationship Id="rId21" Type="http://schemas.openxmlformats.org/officeDocument/2006/relationships/slide" Target="slides/slide10.xml"/><Relationship Id="rId22" Type="http://schemas.openxmlformats.org/officeDocument/2006/relationships/slide" Target="slides/slide11.xml"/><Relationship Id="rId23" Type="http://schemas.openxmlformats.org/officeDocument/2006/relationships/slide" Target="slides/slide12.xml"/><Relationship Id="rId24" Type="http://schemas.openxmlformats.org/officeDocument/2006/relationships/slide" Target="slides/slide13.xml"/><Relationship Id="rId25" Type="http://schemas.openxmlformats.org/officeDocument/2006/relationships/slide" Target="slides/slide14.xml"/><Relationship Id="rId26" Type="http://schemas.openxmlformats.org/officeDocument/2006/relationships/slide" Target="slides/slide15.xml"/><Relationship Id="rId27" Type="http://schemas.openxmlformats.org/officeDocument/2006/relationships/slide" Target="slides/slide16.xml"/><Relationship Id="rId28" Type="http://schemas.openxmlformats.org/officeDocument/2006/relationships/slide" Target="slides/slide17.xml"/><Relationship Id="rId29" Type="http://schemas.openxmlformats.org/officeDocument/2006/relationships/slide" Target="slides/slide18.xml"/><Relationship Id="rId30" Type="http://schemas.openxmlformats.org/officeDocument/2006/relationships/slide" Target="slides/slide19.xml"/><Relationship Id="rId31" Type="http://schemas.openxmlformats.org/officeDocument/2006/relationships/slide" Target="slides/slide20.xml"/><Relationship Id="rId32" Type="http://schemas.openxmlformats.org/officeDocument/2006/relationships/slide" Target="slides/slide2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3B92CBF8-18C8-31DD-F46C-61CCFF09E5D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A39C4E16-CF32-DCE9-CFBA-3D18F258B503}"/>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00638C3-A19C-B94C-9B49-D7DD60AEF655}" type="datetimeFigureOut">
              <a:rPr lang="en-US" smtClean="0"/>
              <a:t>6/29/2026</a:t>
            </a:fld>
            <a:endParaRPr lang="en-US"/>
          </a:p>
        </p:txBody>
      </p:sp>
      <p:sp>
        <p:nvSpPr>
          <p:cNvPr id="4" name="Footer Placeholder 3">
            <a:extLst>
              <a:ext uri="{FF2B5EF4-FFF2-40B4-BE49-F238E27FC236}">
                <a16:creationId xmlns:a16="http://schemas.microsoft.com/office/drawing/2014/main" id="{B9986E82-0F97-5470-C173-872D3CB07D9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5DAEED87-86EF-9F01-82BC-41E733789641}"/>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1865568-2AD1-0C41-AA57-6C66A988080E}" type="slidenum">
              <a:rPr lang="en-US" smtClean="0"/>
              <a:t>‹#›</a:t>
            </a:fld>
            <a:endParaRPr lang="en-US"/>
          </a:p>
        </p:txBody>
      </p:sp>
    </p:spTree>
    <p:extLst>
      <p:ext uri="{BB962C8B-B14F-4D97-AF65-F5344CB8AC3E}">
        <p14:creationId xmlns:p14="http://schemas.microsoft.com/office/powerpoint/2010/main" val="53656021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7D0CC5D-FA5D-CB42-BCB4-643101262201}" type="datetimeFigureOut">
              <a:rPr lang="en-US" smtClean="0"/>
              <a:t>6/29/2026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91039A1-DE79-214A-A305-FD85593430B7}" type="slidenum">
              <a:rPr lang="en-US" smtClean="0"/>
              <a:t>‹#›</a:t>
            </a:fld>
            <a:endParaRPr lang="en-US"/>
          </a:p>
        </p:txBody>
      </p:sp>
    </p:spTree>
    <p:extLst>
      <p:ext uri="{BB962C8B-B14F-4D97-AF65-F5344CB8AC3E}">
        <p14:creationId xmlns:p14="http://schemas.microsoft.com/office/powerpoint/2010/main" val="40165045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0:20</a:t>
            </a:r>
          </a:p>
          <a:p/>
          <a:p>
            <a:r>
              <a:t>Introduce the central question: can generated expression help us find tissue-specific FLT versus GC biology? Synthetic profiles support the analysis, but they do not count as additional animals.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0:40</a:t>
            </a:r>
          </a:p>
          <a:p/>
          <a:p>
            <a:r>
              <a:t>Synthetic transcriptomes are numeric gene-expression vectors sampled from a model trained on measured RNA-seq data. Conditioning lets us request a tissue and FLT or GC context. These profiles can stress-test a classifier and guide gene ranking. They do not add biological replicates or independent evidence.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0:45</a:t>
            </a:r>
          </a:p>
          <a:p/>
          <a:p>
            <a:r>
              <a:t>OSDR gives broad tissue coverage, but the profiles are spread across 75 accessions with different mission and assay contexts. ARCHS4 supplies a much larger mouse reference. The challenge is to use that reference without confusing study structure with spaceflight biology.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0:45</a:t>
            </a:r>
          </a:p>
          <a:p/>
          <a:p>
            <a:r>
              <a:t>The generator has two jobs. First, synthetic bulk RNA-seq should reproduce the tissue-defined distributions seen in real data. Second, it should preserve the smaller FLT versus GC signal within each tissue and improve prediction on held-out real samples. Gene effects and BH FDR are always calculated from observed OSDR profiles.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1:00</a:t>
            </a:r>
          </a:p>
          <a:p/>
          <a:p>
            <a:r>
              <a:t>Each column shows the alternatives available at one pipeline stage; outlines identify the downstream branch. We used ARCHS4 and NASA OSDR across multiple studies and all tissues. The selected path used TPM, training-fitted MaxAbs scaling, 974 mouse landmarks, no global correction, ARCHS4 pretraining plus OSDR adaptation, and a DDIM conditioned on tissue, FLT/GC, accession and material. WGAN-GP and the other preprocessing and harmonization choices remained benchmark alternatives.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0:50</a:t>
            </a:r>
          </a:p>
          <a:p/>
          <a:p>
            <a:r>
              <a:t>The left image is Figure 1C from Lacan and colleagues. Their residual dense denoiser predicts the noise added to a sample using diffusion timestep and tissue. Our implementation adds FLT/GC, accession and material context during OSDR LoRA adaptation. Both generators had high correlation and F1. DDIM had adversarial accuracy near 0.5 and a lower Frechet-distance ratio, so it was harder to separate from real profiles and closer in distribution.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0:40</a:t>
            </a:r>
          </a:p>
          <a:p/>
          <a:p>
            <a:r>
              <a:t>Read the panels from left to right. The same generated profiles begin as noise, develop structure by timestep 200 and approach tissue-conditioned regions at timestep zero. The axes are shared, so the visual change does not come from rescaling each panel.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0:40</a:t>
            </a:r>
          </a:p>
          <a:p/>
          <a:p>
            <a:r>
              <a:t>Circles are locked real OSDR profiles and crosses are matched DDIM profiles in the same PCA space. Generated samples follow the tissue-defined branches. FLT and GC overlap more because condition effects are smaller than tissue effects. The numerical validation on the previous slide tests fidelity directly.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0:50</a:t>
            </a:r>
          </a:p>
          <a:p/>
          <a:p>
            <a:r>
              <a:t>Each arm makes two decisions: which profiles rank the genes and which profiles fit the classifier. In both guided arms, real and synthetic evidence jointly rank genes. Guided real fit then trains only on observed profiles. Guided 5% also uses condition-recentered synthetic profiles, but they contribute only 5% of total classifier weight. Held-out real profiles determine eligibility, and FLT/GC effects and BH FDR come from observed OSDR profiles only.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0:45</a:t>
            </a:r>
          </a:p>
          <a:p/>
          <a:p>
            <a:r>
              <a:t>Think of consensus ranking as two leaderboards over the same 974 genes. Real OSDR profiles rank genes by FLT versus GC separation. The generated profiles rank those genes again in each matched draw, and the middle generated position is used so one unusual draw cannot dominate. Genes near the top of both lists move up; a gene supported by only one source is held back. The geometric mean of the two rank positions implements that rule, while the effect-based version also checks direction and stability. The classifier panels show the consequence: the held-out real samples are the same, but changing the selected genes changes their feature space and decision boundary. In thymus, Cdk1 and Nusap1 went from zero of eight real-only selections to eight of eight guided selections. Effects and BH FDR still come from observed OSDR profiles.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0:50</a:t>
            </a:r>
          </a:p>
          <a:p/>
          <a:p>
            <a:r>
              <a:t>The pooled augmentation test was negative: balanced accuracy fell from 0.754 to 0.737 with real plus synthetic training. Tissue-specific analysis changed the result. Different tissues benefited from different synthetic uses, which argues against one global augmentation policy.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0:45</a:t>
            </a:r>
          </a:p>
          <a:p/>
          <a:p>
            <a:r>
              <a:t>The blue set contains genes selected stably by real-only ranking, and the teal set contains genes selected stably by the eligible synthetic-guided arm. Thirty-four were real-only, 23 were selected by both arms and classified as reinforced, and 26 were selected only with guidance and classified as promoted. Promoted does not mean biologically novel. All 49 synthetic-informed tissue-gene associations passed BH FDR in observed OSDR profiles.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0:50</a:t>
            </a:r>
          </a:p>
          <a:p/>
          <a:p>
            <a:r>
              <a:t>Every association has two labels. Promoted or reinforced describes repeated feature selection. Aligning, complementary, ambiguous or unmatched describes prior literature. Across all 49 associations, 22 aligned, 19 were complementary, four were ambiguous and four were unmatched. Table S16 records the gene-level rationale and source IDs; Table S17 records the citations and evidence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0:35</a:t>
            </a:r>
          </a:p>
          <a:p/>
          <a:p>
            <a:r>
              <a:t>This is the full analysis coverage: 22 canonical tissues and five anatomical muscle groups. Ten had a synthetic-informed BH-FDR association, five had real BH-FDR genes without synthetic-informed selection, and 12 had no BH-FDR gene in the landmark panel. Every completed tissue result remains visible here.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0:40</a:t>
            </a:r>
          </a:p>
          <a:p/>
          <a:p>
            <a:r>
              <a:t>This is the complete 49-association inventory. Separate rows show FLT-higher or FLT-lower direction and promoted or reinforced selection status. Gene color independently shows aligning, complementary, ambiguous or unmatched literature. FLT directions come from real-data meta-analysis.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1:00</a:t>
            </a:r>
          </a:p>
          <a:p/>
          <a:p>
            <a:r>
              <a:t>Thymus produced the clearest promoted panel. The lower mitotic and DNA-replication genes agree with prior reports of thymic involution and altered cell-cycle expression after flight. Higher Hsd17b11 and Etv1 add lipid-handling and T-cell-state hypotheses. A matched sensitivity model without material-type conditioning preserved the cell-cycle interpretation. Because this is bulk RNA-seq, the pattern may reflect transcription, cell composition or both.</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0:55</a:t>
            </a:r>
          </a:p>
          <a:p/>
          <a:p>
            <a:r>
              <a:t>Soleus improved with real plus generated training. The selected genes were already stable in real-only analysis, so synthetic data reinforced rather than introduced the panel. Lower Bdh1, Ech1, Bnip3 and Decr1, with higher Tpm1, support altered oxidative metabolism and contractile remodeling. In the no-material sensitivity model, the synthetic attribution disappeared. The real OSDR association remains, but the generated-profile contribution is conditioning-sensitive.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0:35</a:t>
            </a:r>
          </a:p>
          <a:p/>
          <a:p>
            <a:r>
              <a:t>Promoted and reinforced genes are shown on separate subrows for each tissue. Pooled muscle, kidney, spleen and skin each produced a distinct synthetic-informed result. The rows share a slide for presentation space; each remains a separate hypothesis.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0:35</a:t>
            </a:r>
          </a:p>
          <a:p/>
          <a:p>
            <a:r>
              <a:t>Promoted and reinforced genes remain separated here as well. Eye reinforces lower cytokinesis, adrenal contributes two unmatched candidates, gastrocnemius combines an NF-kappa-B stress signal with an autophagy or myogenesis candidate, and tibialis anterior spans stress, cell-cycle, ganglioside and mitophagy hypotheses.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0:35</a:t>
            </a:r>
          </a:p>
          <a:p/>
          <a:p>
            <a:r>
              <a:t>Synthetic data was useful for tissue-specific feature ranking and limited regularization. It did not increase biological sample size. Literature annotation separated exact recovery, process-level agreement and complementary hypotheses. Independent samples and cell-resolved experiments are the next tests.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0:10</a:t>
            </a:r>
          </a:p>
          <a:p/>
          <a:p>
            <a:r>
              <a:t>Acknowledge the mentor, SLSTP, NASA OSDR, ARCHS4, Reactome and NASA Ames compute. Invite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png"/><Relationship Id="rId4" Type="http://schemas.openxmlformats.org/officeDocument/2006/relationships/image" Target="../media/image5.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 Id="rId3" Type="http://schemas.openxmlformats.org/officeDocument/2006/relationships/image" Target="../media/image7.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 Id="rId3"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g"/><Relationship Id="rId3"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15.png"/><Relationship Id="rId8" Type="http://schemas.openxmlformats.org/officeDocument/2006/relationships/image" Target="../media/image16.png"/><Relationship Id="rId9" Type="http://schemas.openxmlformats.org/officeDocument/2006/relationships/image" Target="../media/image17.png"/><Relationship Id="rId10" Type="http://schemas.openxmlformats.org/officeDocument/2006/relationships/image" Target="../media/image18.png"/><Relationship Id="rId11" Type="http://schemas.openxmlformats.org/officeDocument/2006/relationships/image" Target="../media/image19.png"/><Relationship Id="rId12" Type="http://schemas.openxmlformats.org/officeDocument/2006/relationships/image" Target="../media/image20.png"/><Relationship Id="rId13" Type="http://schemas.openxmlformats.org/officeDocument/2006/relationships/image" Target="../media/image21.png"/><Relationship Id="rId14" Type="http://schemas.openxmlformats.org/officeDocument/2006/relationships/image" Target="../media/image22.png"/><Relationship Id="rId15" Type="http://schemas.openxmlformats.org/officeDocument/2006/relationships/image" Target="../media/image23.png"/><Relationship Id="rId16" Type="http://schemas.openxmlformats.org/officeDocument/2006/relationships/image" Target="../media/image24.png"/><Relationship Id="rId17" Type="http://schemas.openxmlformats.org/officeDocument/2006/relationships/image" Target="../media/image25.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image" Target="../media/image31.png"/><Relationship Id="rId8" Type="http://schemas.openxmlformats.org/officeDocument/2006/relationships/image" Target="../media/image32.png"/><Relationship Id="rId9" Type="http://schemas.openxmlformats.org/officeDocument/2006/relationships/image" Target="../media/image33.png"/><Relationship Id="rId10" Type="http://schemas.openxmlformats.org/officeDocument/2006/relationships/image" Target="../media/image34.png"/><Relationship Id="rId11" Type="http://schemas.openxmlformats.org/officeDocument/2006/relationships/image" Target="../media/image35.png"/><Relationship Id="rId12" Type="http://schemas.openxmlformats.org/officeDocument/2006/relationships/image" Target="../media/image36.png"/><Relationship Id="rId13" Type="http://schemas.openxmlformats.org/officeDocument/2006/relationships/image" Target="../media/image37.png"/><Relationship Id="rId14" Type="http://schemas.openxmlformats.org/officeDocument/2006/relationships/image" Target="../media/image38.png"/><Relationship Id="rId15" Type="http://schemas.openxmlformats.org/officeDocument/2006/relationships/image" Target="../media/image39.png"/><Relationship Id="rId16" Type="http://schemas.openxmlformats.org/officeDocument/2006/relationships/image" Target="../media/image40.png"/><Relationship Id="rId17" Type="http://schemas.openxmlformats.org/officeDocument/2006/relationships/image" Target="../media/image41.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50.png"/><Relationship Id="rId11" Type="http://schemas.openxmlformats.org/officeDocument/2006/relationships/image" Target="../media/image51.png"/><Relationship Id="rId12" Type="http://schemas.openxmlformats.org/officeDocument/2006/relationships/image" Target="../media/image52.png"/><Relationship Id="rId13" Type="http://schemas.openxmlformats.org/officeDocument/2006/relationships/image" Target="../media/image53.png"/><Relationship Id="rId14" Type="http://schemas.openxmlformats.org/officeDocument/2006/relationships/image" Target="../media/image54.png"/><Relationship Id="rId15" Type="http://schemas.openxmlformats.org/officeDocument/2006/relationships/image" Target="../media/image55.png"/><Relationship Id="rId16" Type="http://schemas.openxmlformats.org/officeDocument/2006/relationships/image" Target="../media/image56.png"/><Relationship Id="rId17" Type="http://schemas.openxmlformats.org/officeDocument/2006/relationships/image" Target="../media/image57.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8.png"/><Relationship Id="rId3" Type="http://schemas.openxmlformats.org/officeDocument/2006/relationships/image" Target="../media/image59.png"/><Relationship Id="rId4" Type="http://schemas.openxmlformats.org/officeDocument/2006/relationships/image" Target="../media/image60.png"/><Relationship Id="rId5" Type="http://schemas.openxmlformats.org/officeDocument/2006/relationships/image" Target="../media/image61.png"/><Relationship Id="rId6" Type="http://schemas.openxmlformats.org/officeDocument/2006/relationships/image" Target="../media/image62.png"/><Relationship Id="rId7" Type="http://schemas.openxmlformats.org/officeDocument/2006/relationships/image" Target="../media/image63.png"/><Relationship Id="rId8" Type="http://schemas.openxmlformats.org/officeDocument/2006/relationships/image" Target="../media/image64.png"/><Relationship Id="rId9" Type="http://schemas.openxmlformats.org/officeDocument/2006/relationships/image" Target="../media/image65.png"/><Relationship Id="rId10" Type="http://schemas.openxmlformats.org/officeDocument/2006/relationships/image" Target="../media/image66.png"/><Relationship Id="rId11" Type="http://schemas.openxmlformats.org/officeDocument/2006/relationships/image" Target="../media/image67.png"/><Relationship Id="rId12" Type="http://schemas.openxmlformats.org/officeDocument/2006/relationships/image" Target="../media/image68.png"/><Relationship Id="rId13" Type="http://schemas.openxmlformats.org/officeDocument/2006/relationships/image" Target="../media/image69.png"/><Relationship Id="rId14" Type="http://schemas.openxmlformats.org/officeDocument/2006/relationships/image" Target="../media/image70.png"/><Relationship Id="rId15" Type="http://schemas.openxmlformats.org/officeDocument/2006/relationships/image" Target="../media/image71.png"/><Relationship Id="rId16" Type="http://schemas.openxmlformats.org/officeDocument/2006/relationships/image" Target="../media/image72.png"/><Relationship Id="rId17" Type="http://schemas.openxmlformats.org/officeDocument/2006/relationships/image" Target="../media/image7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3_Title Slide">
    <p:bg>
      <p:bgPr>
        <a:solidFill>
          <a:srgbClr val="000000"/>
        </a:solid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C1403792-C452-45B8-A50E-5D7E7B3AF110}"/>
              </a:ext>
            </a:extLst>
          </p:cNvPr>
          <p:cNvPicPr>
            <a:picLocks noChangeAspect="1"/>
          </p:cNvPicPr>
          <p:nvPr userDrawn="1"/>
        </p:nvPicPr>
        <p:blipFill rotWithShape="1">
          <a:blip r:embed="rId2" cstate="print">
            <a:extLst>
              <a:ext uri="{28A0092B-C50C-407E-A947-70E740481C1C}">
                <a14:useLocalDpi xmlns:a14="http://schemas.microsoft.com/office/drawing/2010/main"/>
              </a:ext>
            </a:extLst>
          </a:blip>
          <a:srcRect l="-4277"/>
          <a:stretch/>
        </p:blipFill>
        <p:spPr>
          <a:xfrm>
            <a:off x="0" y="0"/>
            <a:ext cx="12192000" cy="6858000"/>
          </a:xfrm>
          <a:prstGeom prst="rect">
            <a:avLst/>
          </a:prstGeom>
        </p:spPr>
      </p:pic>
      <p:sp>
        <p:nvSpPr>
          <p:cNvPr id="3" name="Subtitle 2">
            <a:extLst>
              <a:ext uri="{FF2B5EF4-FFF2-40B4-BE49-F238E27FC236}">
                <a16:creationId xmlns:a16="http://schemas.microsoft.com/office/drawing/2014/main" id="{AE77D0F7-4A6B-4045-B534-3DB6A60EA85B}"/>
              </a:ext>
            </a:extLst>
          </p:cNvPr>
          <p:cNvSpPr>
            <a:spLocks noGrp="1"/>
          </p:cNvSpPr>
          <p:nvPr userDrawn="1">
            <p:ph type="subTitle" idx="1"/>
          </p:nvPr>
        </p:nvSpPr>
        <p:spPr>
          <a:xfrm>
            <a:off x="500101" y="3895025"/>
            <a:ext cx="4774425" cy="365125"/>
          </a:xfrm>
        </p:spPr>
        <p:txBody>
          <a:bodyPr wrap="square">
            <a:spAutoFit/>
          </a:bodyPr>
          <a:lstStyle>
            <a:lvl1pPr marL="0" indent="0" algn="l">
              <a:buNone/>
              <a:defRPr sz="1800" b="1">
                <a:solidFill>
                  <a:schemeClr val="bg1"/>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8" name="Text Placeholder 27">
            <a:extLst>
              <a:ext uri="{FF2B5EF4-FFF2-40B4-BE49-F238E27FC236}">
                <a16:creationId xmlns:a16="http://schemas.microsoft.com/office/drawing/2014/main" id="{9EB2794A-5528-E000-6303-F23EDF3D2A62}"/>
              </a:ext>
            </a:extLst>
          </p:cNvPr>
          <p:cNvSpPr>
            <a:spLocks noGrp="1"/>
          </p:cNvSpPr>
          <p:nvPr>
            <p:ph type="body" sz="quarter" idx="14" hasCustomPrompt="1"/>
          </p:nvPr>
        </p:nvSpPr>
        <p:spPr>
          <a:xfrm>
            <a:off x="500102" y="1297175"/>
            <a:ext cx="4774425" cy="2374669"/>
          </a:xfrm>
        </p:spPr>
        <p:txBody>
          <a:bodyPr anchor="b"/>
          <a:lstStyle>
            <a:lvl1pPr marL="0" indent="0" algn="l">
              <a:buNone/>
              <a:defRPr sz="3600" b="1">
                <a:solidFill>
                  <a:schemeClr val="bg1"/>
                </a:solidFill>
              </a:defRPr>
            </a:lvl1pPr>
            <a:lvl2pPr algn="ctr">
              <a:defRPr>
                <a:solidFill>
                  <a:schemeClr val="bg1"/>
                </a:solidFill>
              </a:defRPr>
            </a:lvl2pPr>
            <a:lvl3pPr algn="ctr">
              <a:defRPr>
                <a:solidFill>
                  <a:schemeClr val="bg1"/>
                </a:solidFill>
              </a:defRPr>
            </a:lvl3pPr>
            <a:lvl4pPr algn="ctr">
              <a:defRPr>
                <a:solidFill>
                  <a:schemeClr val="bg1"/>
                </a:solidFill>
              </a:defRPr>
            </a:lvl4pPr>
            <a:lvl5pPr algn="ctr">
              <a:defRPr>
                <a:solidFill>
                  <a:schemeClr val="bg1"/>
                </a:solidFill>
              </a:defRPr>
            </a:lvl5pPr>
          </a:lstStyle>
          <a:p>
            <a:pPr lvl="0"/>
            <a:r>
              <a:rPr lang="en-US" dirty="0"/>
              <a:t>Title goes here</a:t>
            </a:r>
          </a:p>
        </p:txBody>
      </p:sp>
      <p:pic>
        <p:nvPicPr>
          <p:cNvPr id="4" name="Picture 3">
            <a:extLst>
              <a:ext uri="{FF2B5EF4-FFF2-40B4-BE49-F238E27FC236}">
                <a16:creationId xmlns:a16="http://schemas.microsoft.com/office/drawing/2014/main" id="{616713B4-5E0C-24BD-8049-E50B082A507C}"/>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10951262" y="398340"/>
            <a:ext cx="888827" cy="740690"/>
          </a:xfrm>
          <a:prstGeom prst="rect">
            <a:avLst/>
          </a:prstGeom>
        </p:spPr>
      </p:pic>
      <p:sp>
        <p:nvSpPr>
          <p:cNvPr id="5" name="TextBox 4">
            <a:extLst>
              <a:ext uri="{FF2B5EF4-FFF2-40B4-BE49-F238E27FC236}">
                <a16:creationId xmlns:a16="http://schemas.microsoft.com/office/drawing/2014/main" id="{B8688442-0230-1582-A41F-57E75101CEF7}"/>
              </a:ext>
            </a:extLst>
          </p:cNvPr>
          <p:cNvSpPr txBox="1"/>
          <p:nvPr userDrawn="1"/>
        </p:nvSpPr>
        <p:spPr>
          <a:xfrm>
            <a:off x="8654144" y="537854"/>
            <a:ext cx="1922620" cy="461665"/>
          </a:xfrm>
          <a:prstGeom prst="rect">
            <a:avLst/>
          </a:prstGeom>
          <a:noFill/>
        </p:spPr>
        <p:txBody>
          <a:bodyPr wrap="square" rtlCol="0">
            <a:spAutoFit/>
          </a:bodyPr>
          <a:lstStyle/>
          <a:p>
            <a:pPr algn="r"/>
            <a:r>
              <a:rPr lang="en-US" sz="1200" b="0" dirty="0">
                <a:solidFill>
                  <a:schemeClr val="bg1"/>
                </a:solidFill>
                <a:effectLst>
                  <a:outerShdw blurRad="159992" dist="49945" dir="2700000" algn="tl" rotWithShape="0">
                    <a:srgbClr val="000000"/>
                  </a:outerShdw>
                </a:effectLst>
                <a:latin typeface="Arial" panose="020B0604020202020204" pitchFamily="34" charset="0"/>
                <a:cs typeface="Arial" panose="020B0604020202020204" pitchFamily="34" charset="0"/>
              </a:rPr>
              <a:t>National Aeronautics and Space Administration</a:t>
            </a:r>
          </a:p>
        </p:txBody>
      </p:sp>
      <p:cxnSp>
        <p:nvCxnSpPr>
          <p:cNvPr id="6" name="Straight Connector 5">
            <a:extLst>
              <a:ext uri="{FF2B5EF4-FFF2-40B4-BE49-F238E27FC236}">
                <a16:creationId xmlns:a16="http://schemas.microsoft.com/office/drawing/2014/main" id="{B3B95B80-9B88-7F4C-049E-8C0069365EA9}"/>
              </a:ext>
            </a:extLst>
          </p:cNvPr>
          <p:cNvCxnSpPr/>
          <p:nvPr userDrawn="1"/>
        </p:nvCxnSpPr>
        <p:spPr>
          <a:xfrm>
            <a:off x="10764013" y="537853"/>
            <a:ext cx="0" cy="461665"/>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pic>
        <p:nvPicPr>
          <p:cNvPr id="14" name="Picture 13" descr="A black background with grey letters&#10;&#10;Description automatically generated">
            <a:extLst>
              <a:ext uri="{FF2B5EF4-FFF2-40B4-BE49-F238E27FC236}">
                <a16:creationId xmlns:a16="http://schemas.microsoft.com/office/drawing/2014/main" id="{9BA426D5-CE2B-D46C-E493-D02FFAA865B9}"/>
              </a:ext>
            </a:extLst>
          </p:cNvPr>
          <p:cNvPicPr>
            <a:picLocks noChangeAspect="1"/>
          </p:cNvPicPr>
          <p:nvPr userDrawn="1"/>
        </p:nvPicPr>
        <p:blipFill rotWithShape="1">
          <a:blip r:embed="rId4" cstate="screen">
            <a:alphaModFix amt="23000"/>
            <a:extLst>
              <a:ext uri="{28A0092B-C50C-407E-A947-70E740481C1C}">
                <a14:useLocalDpi xmlns:a14="http://schemas.microsoft.com/office/drawing/2010/main"/>
              </a:ext>
            </a:extLst>
          </a:blip>
          <a:srcRect/>
          <a:stretch/>
        </p:blipFill>
        <p:spPr>
          <a:xfrm>
            <a:off x="0" y="5168811"/>
            <a:ext cx="3884861" cy="1719470"/>
          </a:xfrm>
          <a:prstGeom prst="rect">
            <a:avLst/>
          </a:prstGeom>
        </p:spPr>
      </p:pic>
      <p:sp>
        <p:nvSpPr>
          <p:cNvPr id="7" name="TextBox 6">
            <a:extLst>
              <a:ext uri="{FF2B5EF4-FFF2-40B4-BE49-F238E27FC236}">
                <a16:creationId xmlns:a16="http://schemas.microsoft.com/office/drawing/2014/main" id="{B02A5107-22C8-EFF2-D258-3F67CDB1A001}"/>
              </a:ext>
            </a:extLst>
          </p:cNvPr>
          <p:cNvSpPr txBox="1"/>
          <p:nvPr userDrawn="1"/>
        </p:nvSpPr>
        <p:spPr>
          <a:xfrm>
            <a:off x="500101" y="6296266"/>
            <a:ext cx="3657600" cy="338554"/>
          </a:xfrm>
          <a:prstGeom prst="rect">
            <a:avLst/>
          </a:prstGeom>
          <a:noFill/>
        </p:spPr>
        <p:txBody>
          <a:bodyPr wrap="square" rtlCol="0">
            <a:spAutoFit/>
          </a:bodyPr>
          <a:lstStyle/>
          <a:p>
            <a:pPr algn="l"/>
            <a:r>
              <a:rPr lang="en-US" sz="1600" b="1" dirty="0">
                <a:solidFill>
                  <a:schemeClr val="bg2">
                    <a:lumMod val="75000"/>
                  </a:schemeClr>
                </a:solidFill>
                <a:latin typeface="Arial" panose="020B0604020202020204" pitchFamily="34" charset="0"/>
                <a:cs typeface="Arial" panose="020B0604020202020204" pitchFamily="34" charset="0"/>
              </a:rPr>
              <a:t>B</a:t>
            </a:r>
            <a:r>
              <a:rPr lang="en-US" sz="1600" b="0" dirty="0">
                <a:solidFill>
                  <a:schemeClr val="bg2">
                    <a:lumMod val="75000"/>
                  </a:schemeClr>
                </a:solidFill>
                <a:latin typeface="Arial" panose="020B0604020202020204" pitchFamily="34" charset="0"/>
                <a:cs typeface="Arial" panose="020B0604020202020204" pitchFamily="34" charset="0"/>
              </a:rPr>
              <a:t>iological &amp; </a:t>
            </a:r>
            <a:r>
              <a:rPr lang="en-US" sz="1600" b="1" dirty="0">
                <a:solidFill>
                  <a:schemeClr val="bg2">
                    <a:lumMod val="75000"/>
                  </a:schemeClr>
                </a:solidFill>
                <a:latin typeface="Arial" panose="020B0604020202020204" pitchFamily="34" charset="0"/>
                <a:cs typeface="Arial" panose="020B0604020202020204" pitchFamily="34" charset="0"/>
              </a:rPr>
              <a:t>P</a:t>
            </a:r>
            <a:r>
              <a:rPr lang="en-US" sz="1600" b="0" dirty="0">
                <a:solidFill>
                  <a:schemeClr val="bg2">
                    <a:lumMod val="75000"/>
                  </a:schemeClr>
                </a:solidFill>
                <a:latin typeface="Arial" panose="020B0604020202020204" pitchFamily="34" charset="0"/>
                <a:cs typeface="Arial" panose="020B0604020202020204" pitchFamily="34" charset="0"/>
              </a:rPr>
              <a:t>hysical </a:t>
            </a:r>
            <a:r>
              <a:rPr lang="en-US" sz="1600" b="1" dirty="0">
                <a:solidFill>
                  <a:schemeClr val="bg2">
                    <a:lumMod val="75000"/>
                  </a:schemeClr>
                </a:solidFill>
                <a:latin typeface="Arial" panose="020B0604020202020204" pitchFamily="34" charset="0"/>
                <a:cs typeface="Arial" panose="020B0604020202020204" pitchFamily="34" charset="0"/>
              </a:rPr>
              <a:t>S</a:t>
            </a:r>
            <a:r>
              <a:rPr lang="en-US" sz="1600" b="0" dirty="0">
                <a:solidFill>
                  <a:schemeClr val="bg2">
                    <a:lumMod val="75000"/>
                  </a:schemeClr>
                </a:solidFill>
                <a:latin typeface="Arial" panose="020B0604020202020204" pitchFamily="34" charset="0"/>
                <a:cs typeface="Arial" panose="020B0604020202020204" pitchFamily="34" charset="0"/>
              </a:rPr>
              <a:t>ciences</a:t>
            </a:r>
          </a:p>
        </p:txBody>
      </p:sp>
    </p:spTree>
    <p:extLst>
      <p:ext uri="{BB962C8B-B14F-4D97-AF65-F5344CB8AC3E}">
        <p14:creationId xmlns:p14="http://schemas.microsoft.com/office/powerpoint/2010/main" val="3390964837"/>
      </p:ext>
    </p:extLst>
  </p:cSld>
  <p:clrMapOvr>
    <a:masterClrMapping/>
  </p:clrMapOvr>
  <p:extLst>
    <p:ext uri="{DCECCB84-F9BA-43D5-87BE-67443E8EF086}">
      <p15:sldGuideLst xmlns:p15="http://schemas.microsoft.com/office/powerpoint/2012/main">
        <p15:guide id="1" orient="horz" pos="2160">
          <p15:clr>
            <a:srgbClr val="FBAE40"/>
          </p15:clr>
        </p15:guide>
        <p15:guide id="2" pos="456">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9E8CFB-2DE8-BA24-FFBC-66F77875D5EE}"/>
              </a:ext>
            </a:extLst>
          </p:cNvPr>
          <p:cNvSpPr>
            <a:spLocks noGrp="1"/>
          </p:cNvSpPr>
          <p:nvPr>
            <p:ph type="title" hasCustomPrompt="1"/>
          </p:nvPr>
        </p:nvSpPr>
        <p:spPr>
          <a:xfrm>
            <a:off x="914400" y="755930"/>
            <a:ext cx="10325100" cy="1325563"/>
          </a:xfrm>
        </p:spPr>
        <p:txBody>
          <a:bodyPr/>
          <a:lstStyle/>
          <a:p>
            <a:r>
              <a:rPr lang="en-US" dirty="0"/>
              <a:t>Agenda Title</a:t>
            </a:r>
          </a:p>
        </p:txBody>
      </p:sp>
      <p:sp>
        <p:nvSpPr>
          <p:cNvPr id="4" name="Footer Placeholder 3">
            <a:extLst>
              <a:ext uri="{FF2B5EF4-FFF2-40B4-BE49-F238E27FC236}">
                <a16:creationId xmlns:a16="http://schemas.microsoft.com/office/drawing/2014/main" id="{7E3B3E43-6742-FF22-D2F2-033E1364C113}"/>
              </a:ext>
            </a:extLst>
          </p:cNvPr>
          <p:cNvSpPr>
            <a:spLocks noGrp="1"/>
          </p:cNvSpPr>
          <p:nvPr>
            <p:ph type="ftr" sz="quarter" idx="11"/>
          </p:nvPr>
        </p:nvSpPr>
        <p:spPr/>
        <p:txBody>
          <a:bodyPr/>
          <a:lstStyle/>
          <a:p>
            <a:r>
              <a:rPr lang="en-US" dirty="0"/>
              <a:t>Biological &amp; Physical Sciences </a:t>
            </a:r>
          </a:p>
        </p:txBody>
      </p:sp>
      <p:sp>
        <p:nvSpPr>
          <p:cNvPr id="5" name="Slide Number Placeholder 4">
            <a:extLst>
              <a:ext uri="{FF2B5EF4-FFF2-40B4-BE49-F238E27FC236}">
                <a16:creationId xmlns:a16="http://schemas.microsoft.com/office/drawing/2014/main" id="{8E26FCE7-3724-2CFD-0646-F383DB2F0F58}"/>
              </a:ext>
            </a:extLst>
          </p:cNvPr>
          <p:cNvSpPr>
            <a:spLocks noGrp="1"/>
          </p:cNvSpPr>
          <p:nvPr>
            <p:ph type="sldNum" sz="quarter" idx="12"/>
          </p:nvPr>
        </p:nvSpPr>
        <p:spPr>
          <a:xfrm>
            <a:off x="11662148" y="100584"/>
            <a:ext cx="1059704" cy="261258"/>
          </a:xfrm>
        </p:spPr>
        <p:txBody>
          <a:bodyPr/>
          <a:lstStyle/>
          <a:p>
            <a:fld id="{E8618032-BA8D-3D4D-8253-A70208A85976}" type="slidenum">
              <a:rPr lang="en-US" smtClean="0"/>
              <a:pPr/>
              <a:t>‹#›</a:t>
            </a:fld>
            <a:endParaRPr lang="en-US" dirty="0"/>
          </a:p>
        </p:txBody>
      </p:sp>
      <p:sp>
        <p:nvSpPr>
          <p:cNvPr id="22" name="Text Placeholder 21">
            <a:extLst>
              <a:ext uri="{FF2B5EF4-FFF2-40B4-BE49-F238E27FC236}">
                <a16:creationId xmlns:a16="http://schemas.microsoft.com/office/drawing/2014/main" id="{B466CDE3-4631-5FA9-337A-DF847EAAD5B5}"/>
              </a:ext>
            </a:extLst>
          </p:cNvPr>
          <p:cNvSpPr>
            <a:spLocks noGrp="1"/>
          </p:cNvSpPr>
          <p:nvPr>
            <p:ph type="body" sz="quarter" idx="13" hasCustomPrompt="1"/>
          </p:nvPr>
        </p:nvSpPr>
        <p:spPr>
          <a:xfrm>
            <a:off x="1824652" y="2247900"/>
            <a:ext cx="3974845" cy="609600"/>
          </a:xfrm>
        </p:spPr>
        <p:txBody>
          <a:bodyPr anchor="ctr">
            <a:normAutofit/>
          </a:bodyPr>
          <a:lstStyle>
            <a:lvl1pPr marL="0" indent="0">
              <a:buNone/>
              <a:defRPr sz="2000"/>
            </a:lvl1pPr>
          </a:lstStyle>
          <a:p>
            <a:pPr lvl="0"/>
            <a:r>
              <a:rPr lang="en-US" dirty="0"/>
              <a:t>Click to add addenda item</a:t>
            </a:r>
          </a:p>
        </p:txBody>
      </p:sp>
      <p:sp>
        <p:nvSpPr>
          <p:cNvPr id="25" name="Text Placeholder 21">
            <a:extLst>
              <a:ext uri="{FF2B5EF4-FFF2-40B4-BE49-F238E27FC236}">
                <a16:creationId xmlns:a16="http://schemas.microsoft.com/office/drawing/2014/main" id="{2A51E4DB-9ABE-A139-7B46-5FC55133039B}"/>
              </a:ext>
            </a:extLst>
          </p:cNvPr>
          <p:cNvSpPr>
            <a:spLocks noGrp="1"/>
          </p:cNvSpPr>
          <p:nvPr>
            <p:ph type="body" sz="quarter" idx="16" hasCustomPrompt="1"/>
          </p:nvPr>
        </p:nvSpPr>
        <p:spPr>
          <a:xfrm>
            <a:off x="6934200" y="2247900"/>
            <a:ext cx="4343400" cy="609600"/>
          </a:xfrm>
        </p:spPr>
        <p:txBody>
          <a:bodyPr anchor="ctr">
            <a:normAutofit/>
          </a:bodyPr>
          <a:lstStyle>
            <a:lvl1pPr marL="0" indent="0">
              <a:buNone/>
              <a:defRPr sz="2000"/>
            </a:lvl1pPr>
          </a:lstStyle>
          <a:p>
            <a:pPr lvl="0"/>
            <a:r>
              <a:rPr lang="en-US" dirty="0"/>
              <a:t>Click to add addenda item</a:t>
            </a:r>
          </a:p>
        </p:txBody>
      </p:sp>
      <p:sp>
        <p:nvSpPr>
          <p:cNvPr id="29" name="Text Placeholder 28">
            <a:extLst>
              <a:ext uri="{FF2B5EF4-FFF2-40B4-BE49-F238E27FC236}">
                <a16:creationId xmlns:a16="http://schemas.microsoft.com/office/drawing/2014/main" id="{7B35BDAA-D931-DC03-6B00-6EDF027908BB}"/>
              </a:ext>
            </a:extLst>
          </p:cNvPr>
          <p:cNvSpPr>
            <a:spLocks noGrp="1"/>
          </p:cNvSpPr>
          <p:nvPr>
            <p:ph type="body" sz="quarter" idx="19" hasCustomPrompt="1"/>
          </p:nvPr>
        </p:nvSpPr>
        <p:spPr>
          <a:xfrm>
            <a:off x="914400" y="2209800"/>
            <a:ext cx="685800" cy="685800"/>
          </a:xfrm>
          <a:noFill/>
        </p:spPr>
        <p:txBody>
          <a:bodyPr anchor="ctr">
            <a:normAutofit/>
          </a:bodyPr>
          <a:lstStyle>
            <a:lvl1pPr marL="0" indent="0" algn="ctr">
              <a:buNone/>
              <a:defRPr sz="4000">
                <a:gradFill>
                  <a:gsLst>
                    <a:gs pos="86000">
                      <a:schemeClr val="accent3"/>
                    </a:gs>
                    <a:gs pos="47000">
                      <a:schemeClr val="accent2"/>
                    </a:gs>
                    <a:gs pos="0">
                      <a:schemeClr val="tx1"/>
                    </a:gs>
                  </a:gsLst>
                  <a:lin ang="3600000" scaled="0"/>
                </a:gradFill>
                <a:latin typeface="+mj-lt"/>
              </a:defRPr>
            </a:lvl1pPr>
          </a:lstStyle>
          <a:p>
            <a:pPr lvl="0"/>
            <a:r>
              <a:rPr lang="en-US" dirty="0"/>
              <a:t>#</a:t>
            </a:r>
          </a:p>
        </p:txBody>
      </p:sp>
      <p:sp>
        <p:nvSpPr>
          <p:cNvPr id="32" name="Text Placeholder 28">
            <a:extLst>
              <a:ext uri="{FF2B5EF4-FFF2-40B4-BE49-F238E27FC236}">
                <a16:creationId xmlns:a16="http://schemas.microsoft.com/office/drawing/2014/main" id="{EF503090-B911-7788-8B94-3F88CA4797F9}"/>
              </a:ext>
            </a:extLst>
          </p:cNvPr>
          <p:cNvSpPr>
            <a:spLocks noGrp="1"/>
          </p:cNvSpPr>
          <p:nvPr>
            <p:ph type="body" sz="quarter" idx="22" hasCustomPrompt="1"/>
          </p:nvPr>
        </p:nvSpPr>
        <p:spPr>
          <a:xfrm>
            <a:off x="6023949" y="2209800"/>
            <a:ext cx="685800" cy="685800"/>
          </a:xfrm>
          <a:noFill/>
        </p:spPr>
        <p:txBody>
          <a:bodyPr vert="horz" lIns="91440" tIns="45720" rIns="91440" bIns="45720" rtlCol="0" anchor="ctr">
            <a:normAutofit/>
          </a:bodyPr>
          <a:lstStyle>
            <a:lvl1pPr marL="0" indent="0" algn="r">
              <a:buNone/>
              <a:defRPr lang="en-US" sz="4000" dirty="0">
                <a:gradFill>
                  <a:gsLst>
                    <a:gs pos="82000">
                      <a:schemeClr val="accent3"/>
                    </a:gs>
                    <a:gs pos="45000">
                      <a:schemeClr val="accent2"/>
                    </a:gs>
                  </a:gsLst>
                  <a:lin ang="3600000" scaled="0"/>
                </a:gradFill>
                <a:latin typeface="+mj-lt"/>
              </a:defRPr>
            </a:lvl1pPr>
          </a:lstStyle>
          <a:p>
            <a:pPr marL="228600" lvl="0" indent="-228600" algn="ctr"/>
            <a:r>
              <a:rPr lang="en-US" dirty="0"/>
              <a:t>#</a:t>
            </a:r>
          </a:p>
        </p:txBody>
      </p:sp>
      <p:sp>
        <p:nvSpPr>
          <p:cNvPr id="35" name="Text Placeholder 21">
            <a:extLst>
              <a:ext uri="{FF2B5EF4-FFF2-40B4-BE49-F238E27FC236}">
                <a16:creationId xmlns:a16="http://schemas.microsoft.com/office/drawing/2014/main" id="{65D9DAC4-C562-9524-30AD-991D271FE6EF}"/>
              </a:ext>
            </a:extLst>
          </p:cNvPr>
          <p:cNvSpPr>
            <a:spLocks noGrp="1"/>
          </p:cNvSpPr>
          <p:nvPr>
            <p:ph type="body" sz="quarter" idx="23" hasCustomPrompt="1"/>
          </p:nvPr>
        </p:nvSpPr>
        <p:spPr>
          <a:xfrm>
            <a:off x="1824652" y="3627249"/>
            <a:ext cx="3974845" cy="609600"/>
          </a:xfrm>
        </p:spPr>
        <p:txBody>
          <a:bodyPr anchor="ctr">
            <a:normAutofit/>
          </a:bodyPr>
          <a:lstStyle>
            <a:lvl1pPr marL="0" indent="0">
              <a:buNone/>
              <a:defRPr sz="2000"/>
            </a:lvl1pPr>
          </a:lstStyle>
          <a:p>
            <a:pPr lvl="0"/>
            <a:r>
              <a:rPr lang="en-US" dirty="0"/>
              <a:t>Click to add addenda item</a:t>
            </a:r>
          </a:p>
        </p:txBody>
      </p:sp>
      <p:sp>
        <p:nvSpPr>
          <p:cNvPr id="36" name="Text Placeholder 21">
            <a:extLst>
              <a:ext uri="{FF2B5EF4-FFF2-40B4-BE49-F238E27FC236}">
                <a16:creationId xmlns:a16="http://schemas.microsoft.com/office/drawing/2014/main" id="{7E647AC1-0BB7-0678-1B8A-177F4146A75E}"/>
              </a:ext>
            </a:extLst>
          </p:cNvPr>
          <p:cNvSpPr>
            <a:spLocks noGrp="1"/>
          </p:cNvSpPr>
          <p:nvPr>
            <p:ph type="body" sz="quarter" idx="24" hasCustomPrompt="1"/>
          </p:nvPr>
        </p:nvSpPr>
        <p:spPr>
          <a:xfrm>
            <a:off x="6934200" y="3627249"/>
            <a:ext cx="4343400" cy="609600"/>
          </a:xfrm>
        </p:spPr>
        <p:txBody>
          <a:bodyPr anchor="ctr">
            <a:normAutofit/>
          </a:bodyPr>
          <a:lstStyle>
            <a:lvl1pPr marL="0" indent="0">
              <a:buNone/>
              <a:defRPr sz="2000"/>
            </a:lvl1pPr>
          </a:lstStyle>
          <a:p>
            <a:pPr lvl="0"/>
            <a:r>
              <a:rPr lang="en-US" dirty="0"/>
              <a:t>Click to add addenda item</a:t>
            </a:r>
          </a:p>
        </p:txBody>
      </p:sp>
      <p:sp>
        <p:nvSpPr>
          <p:cNvPr id="37" name="Text Placeholder 28">
            <a:extLst>
              <a:ext uri="{FF2B5EF4-FFF2-40B4-BE49-F238E27FC236}">
                <a16:creationId xmlns:a16="http://schemas.microsoft.com/office/drawing/2014/main" id="{B55453C0-7B23-AC50-10FE-E961216AD9CE}"/>
              </a:ext>
            </a:extLst>
          </p:cNvPr>
          <p:cNvSpPr>
            <a:spLocks noGrp="1"/>
          </p:cNvSpPr>
          <p:nvPr>
            <p:ph type="body" sz="quarter" idx="25" hasCustomPrompt="1"/>
          </p:nvPr>
        </p:nvSpPr>
        <p:spPr>
          <a:xfrm>
            <a:off x="914400" y="3589149"/>
            <a:ext cx="685800" cy="685800"/>
          </a:xfrm>
          <a:noFill/>
        </p:spPr>
        <p:txBody>
          <a:bodyPr vert="horz" lIns="91440" tIns="45720" rIns="91440" bIns="45720" rtlCol="0" anchor="ctr">
            <a:normAutofit/>
          </a:bodyPr>
          <a:lstStyle>
            <a:lvl1pPr marL="0" indent="0" algn="r">
              <a:buNone/>
              <a:defRPr lang="en-US" sz="4000" dirty="0">
                <a:gradFill>
                  <a:gsLst>
                    <a:gs pos="78000">
                      <a:schemeClr val="accent3"/>
                    </a:gs>
                    <a:gs pos="39000">
                      <a:schemeClr val="accent2"/>
                    </a:gs>
                    <a:gs pos="0">
                      <a:schemeClr val="tx1"/>
                    </a:gs>
                  </a:gsLst>
                  <a:lin ang="3600000" scaled="0"/>
                </a:gradFill>
                <a:latin typeface="+mj-lt"/>
              </a:defRPr>
            </a:lvl1pPr>
          </a:lstStyle>
          <a:p>
            <a:pPr marL="228600" lvl="0" indent="-228600" algn="ctr"/>
            <a:r>
              <a:rPr lang="en-US" dirty="0"/>
              <a:t>#</a:t>
            </a:r>
          </a:p>
        </p:txBody>
      </p:sp>
      <p:sp>
        <p:nvSpPr>
          <p:cNvPr id="38" name="Text Placeholder 28">
            <a:extLst>
              <a:ext uri="{FF2B5EF4-FFF2-40B4-BE49-F238E27FC236}">
                <a16:creationId xmlns:a16="http://schemas.microsoft.com/office/drawing/2014/main" id="{1A5B7077-E4C0-3DD2-DCA8-E8A197F1C95C}"/>
              </a:ext>
            </a:extLst>
          </p:cNvPr>
          <p:cNvSpPr>
            <a:spLocks noGrp="1"/>
          </p:cNvSpPr>
          <p:nvPr>
            <p:ph type="body" sz="quarter" idx="26" hasCustomPrompt="1"/>
          </p:nvPr>
        </p:nvSpPr>
        <p:spPr>
          <a:xfrm>
            <a:off x="6023949" y="3589149"/>
            <a:ext cx="685800" cy="685800"/>
          </a:xfrm>
          <a:noFill/>
        </p:spPr>
        <p:txBody>
          <a:bodyPr vert="horz" lIns="91440" tIns="45720" rIns="91440" bIns="45720" rtlCol="0" anchor="ctr">
            <a:normAutofit/>
          </a:bodyPr>
          <a:lstStyle>
            <a:lvl1pPr marL="0" indent="0" algn="r">
              <a:buNone/>
              <a:defRPr lang="en-US" sz="4000" dirty="0">
                <a:gradFill>
                  <a:gsLst>
                    <a:gs pos="77000">
                      <a:schemeClr val="accent3"/>
                    </a:gs>
                    <a:gs pos="45000">
                      <a:schemeClr val="accent2"/>
                    </a:gs>
                    <a:gs pos="0">
                      <a:schemeClr val="tx1"/>
                    </a:gs>
                  </a:gsLst>
                  <a:lin ang="3600000" scaled="0"/>
                </a:gradFill>
                <a:latin typeface="+mj-lt"/>
              </a:defRPr>
            </a:lvl1pPr>
          </a:lstStyle>
          <a:p>
            <a:pPr marL="228600" lvl="0" indent="-228600" algn="ctr"/>
            <a:r>
              <a:rPr lang="en-US" dirty="0"/>
              <a:t>#</a:t>
            </a:r>
          </a:p>
        </p:txBody>
      </p:sp>
      <p:sp>
        <p:nvSpPr>
          <p:cNvPr id="39" name="Text Placeholder 21">
            <a:extLst>
              <a:ext uri="{FF2B5EF4-FFF2-40B4-BE49-F238E27FC236}">
                <a16:creationId xmlns:a16="http://schemas.microsoft.com/office/drawing/2014/main" id="{B32EE1BF-44FE-201B-EF31-3ED8FF5BA7BC}"/>
              </a:ext>
            </a:extLst>
          </p:cNvPr>
          <p:cNvSpPr>
            <a:spLocks noGrp="1"/>
          </p:cNvSpPr>
          <p:nvPr>
            <p:ph type="body" sz="quarter" idx="27" hasCustomPrompt="1"/>
          </p:nvPr>
        </p:nvSpPr>
        <p:spPr>
          <a:xfrm>
            <a:off x="1824652" y="4913609"/>
            <a:ext cx="3974845" cy="609600"/>
          </a:xfrm>
        </p:spPr>
        <p:txBody>
          <a:bodyPr anchor="ctr">
            <a:normAutofit/>
          </a:bodyPr>
          <a:lstStyle>
            <a:lvl1pPr marL="0" indent="0">
              <a:buNone/>
              <a:defRPr sz="2000"/>
            </a:lvl1pPr>
          </a:lstStyle>
          <a:p>
            <a:pPr lvl="0"/>
            <a:r>
              <a:rPr lang="en-US" dirty="0"/>
              <a:t>Click to add addenda item</a:t>
            </a:r>
          </a:p>
        </p:txBody>
      </p:sp>
      <p:sp>
        <p:nvSpPr>
          <p:cNvPr id="40" name="Text Placeholder 21">
            <a:extLst>
              <a:ext uri="{FF2B5EF4-FFF2-40B4-BE49-F238E27FC236}">
                <a16:creationId xmlns:a16="http://schemas.microsoft.com/office/drawing/2014/main" id="{2F676D19-8F83-696C-ACFF-7F910A6C8105}"/>
              </a:ext>
            </a:extLst>
          </p:cNvPr>
          <p:cNvSpPr>
            <a:spLocks noGrp="1"/>
          </p:cNvSpPr>
          <p:nvPr>
            <p:ph type="body" sz="quarter" idx="28" hasCustomPrompt="1"/>
          </p:nvPr>
        </p:nvSpPr>
        <p:spPr>
          <a:xfrm>
            <a:off x="6934200" y="4913609"/>
            <a:ext cx="4343400" cy="609600"/>
          </a:xfrm>
        </p:spPr>
        <p:txBody>
          <a:bodyPr anchor="ctr">
            <a:normAutofit/>
          </a:bodyPr>
          <a:lstStyle>
            <a:lvl1pPr marL="0" indent="0">
              <a:buNone/>
              <a:defRPr sz="2000"/>
            </a:lvl1pPr>
          </a:lstStyle>
          <a:p>
            <a:pPr lvl="0"/>
            <a:r>
              <a:rPr lang="en-US" dirty="0"/>
              <a:t>Click to add addenda item</a:t>
            </a:r>
          </a:p>
        </p:txBody>
      </p:sp>
      <p:sp>
        <p:nvSpPr>
          <p:cNvPr id="41" name="Text Placeholder 28">
            <a:extLst>
              <a:ext uri="{FF2B5EF4-FFF2-40B4-BE49-F238E27FC236}">
                <a16:creationId xmlns:a16="http://schemas.microsoft.com/office/drawing/2014/main" id="{4936C6BE-C8B8-20C6-9C05-FD330B16C055}"/>
              </a:ext>
            </a:extLst>
          </p:cNvPr>
          <p:cNvSpPr>
            <a:spLocks noGrp="1"/>
          </p:cNvSpPr>
          <p:nvPr>
            <p:ph type="body" sz="quarter" idx="29" hasCustomPrompt="1"/>
          </p:nvPr>
        </p:nvSpPr>
        <p:spPr>
          <a:xfrm>
            <a:off x="914400" y="4875509"/>
            <a:ext cx="685800" cy="685800"/>
          </a:xfrm>
          <a:noFill/>
        </p:spPr>
        <p:txBody>
          <a:bodyPr vert="horz" lIns="91440" tIns="45720" rIns="91440" bIns="45720" rtlCol="0" anchor="ctr">
            <a:normAutofit/>
          </a:bodyPr>
          <a:lstStyle>
            <a:lvl1pPr marL="0" indent="0" algn="r">
              <a:buNone/>
              <a:defRPr lang="en-US" sz="4000" dirty="0">
                <a:gradFill>
                  <a:gsLst>
                    <a:gs pos="87000">
                      <a:schemeClr val="accent3"/>
                    </a:gs>
                    <a:gs pos="45000">
                      <a:schemeClr val="accent2"/>
                    </a:gs>
                    <a:gs pos="0">
                      <a:schemeClr val="tx1"/>
                    </a:gs>
                  </a:gsLst>
                  <a:lin ang="3600000" scaled="0"/>
                </a:gradFill>
                <a:latin typeface="+mj-lt"/>
              </a:defRPr>
            </a:lvl1pPr>
          </a:lstStyle>
          <a:p>
            <a:pPr marL="228600" lvl="0" indent="-228600" algn="ctr"/>
            <a:r>
              <a:rPr lang="en-US" dirty="0"/>
              <a:t>#</a:t>
            </a:r>
          </a:p>
        </p:txBody>
      </p:sp>
      <p:sp>
        <p:nvSpPr>
          <p:cNvPr id="42" name="Text Placeholder 28">
            <a:extLst>
              <a:ext uri="{FF2B5EF4-FFF2-40B4-BE49-F238E27FC236}">
                <a16:creationId xmlns:a16="http://schemas.microsoft.com/office/drawing/2014/main" id="{9DBD5D19-811F-095E-D5BA-1EE3AC8F9767}"/>
              </a:ext>
            </a:extLst>
          </p:cNvPr>
          <p:cNvSpPr>
            <a:spLocks noGrp="1"/>
          </p:cNvSpPr>
          <p:nvPr>
            <p:ph type="body" sz="quarter" idx="30" hasCustomPrompt="1"/>
          </p:nvPr>
        </p:nvSpPr>
        <p:spPr>
          <a:xfrm>
            <a:off x="6023949" y="4875509"/>
            <a:ext cx="685800" cy="685800"/>
          </a:xfrm>
          <a:noFill/>
        </p:spPr>
        <p:txBody>
          <a:bodyPr vert="horz" lIns="91440" tIns="45720" rIns="91440" bIns="45720" rtlCol="0" anchor="ctr">
            <a:normAutofit/>
          </a:bodyPr>
          <a:lstStyle>
            <a:lvl1pPr marL="0" indent="0" algn="r">
              <a:buNone/>
              <a:defRPr lang="en-US" sz="4000" dirty="0">
                <a:gradFill>
                  <a:gsLst>
                    <a:gs pos="72000">
                      <a:schemeClr val="accent3"/>
                    </a:gs>
                    <a:gs pos="45000">
                      <a:schemeClr val="accent2"/>
                    </a:gs>
                    <a:gs pos="4000">
                      <a:schemeClr val="tx1"/>
                    </a:gs>
                  </a:gsLst>
                  <a:lin ang="3600000" scaled="0"/>
                </a:gradFill>
                <a:latin typeface="+mj-lt"/>
              </a:defRPr>
            </a:lvl1pPr>
          </a:lstStyle>
          <a:p>
            <a:pPr marL="228600" lvl="0" indent="-228600" algn="ctr"/>
            <a:r>
              <a:rPr lang="en-US" dirty="0"/>
              <a:t>#</a:t>
            </a:r>
          </a:p>
        </p:txBody>
      </p:sp>
      <p:cxnSp>
        <p:nvCxnSpPr>
          <p:cNvPr id="44" name="Straight Connector 43">
            <a:extLst>
              <a:ext uri="{FF2B5EF4-FFF2-40B4-BE49-F238E27FC236}">
                <a16:creationId xmlns:a16="http://schemas.microsoft.com/office/drawing/2014/main" id="{42FAC8BE-D606-2853-844A-E2C15955DC7D}"/>
              </a:ext>
            </a:extLst>
          </p:cNvPr>
          <p:cNvCxnSpPr/>
          <p:nvPr userDrawn="1"/>
        </p:nvCxnSpPr>
        <p:spPr>
          <a:xfrm>
            <a:off x="838200" y="219075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F8BB1695-58EE-644B-7EE8-11F922C6661D}"/>
              </a:ext>
            </a:extLst>
          </p:cNvPr>
          <p:cNvCxnSpPr>
            <a:cxnSpLocks/>
          </p:cNvCxnSpPr>
          <p:nvPr userDrawn="1"/>
        </p:nvCxnSpPr>
        <p:spPr>
          <a:xfrm>
            <a:off x="1600200" y="211455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D52F9823-AA54-9873-16F2-263321455B45}"/>
              </a:ext>
            </a:extLst>
          </p:cNvPr>
          <p:cNvCxnSpPr/>
          <p:nvPr userDrawn="1"/>
        </p:nvCxnSpPr>
        <p:spPr>
          <a:xfrm>
            <a:off x="838200" y="3590925"/>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FF1A9CBD-3464-B5A2-6E8D-EE3FD067EE09}"/>
              </a:ext>
            </a:extLst>
          </p:cNvPr>
          <p:cNvCxnSpPr>
            <a:cxnSpLocks/>
          </p:cNvCxnSpPr>
          <p:nvPr userDrawn="1"/>
        </p:nvCxnSpPr>
        <p:spPr>
          <a:xfrm>
            <a:off x="1600200" y="3514725"/>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DEED8E47-E2B6-E0EF-495A-1545B3213F3D}"/>
              </a:ext>
            </a:extLst>
          </p:cNvPr>
          <p:cNvCxnSpPr/>
          <p:nvPr userDrawn="1"/>
        </p:nvCxnSpPr>
        <p:spPr>
          <a:xfrm>
            <a:off x="838200" y="487680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31607ECD-AA81-BC83-3C78-B9336CCDEEF0}"/>
              </a:ext>
            </a:extLst>
          </p:cNvPr>
          <p:cNvCxnSpPr>
            <a:cxnSpLocks/>
          </p:cNvCxnSpPr>
          <p:nvPr userDrawn="1"/>
        </p:nvCxnSpPr>
        <p:spPr>
          <a:xfrm>
            <a:off x="1600200" y="480060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45E098EB-268C-67D8-9802-3DFD2843FEB8}"/>
              </a:ext>
            </a:extLst>
          </p:cNvPr>
          <p:cNvCxnSpPr/>
          <p:nvPr userDrawn="1"/>
        </p:nvCxnSpPr>
        <p:spPr>
          <a:xfrm>
            <a:off x="5943600" y="219075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CC41966B-39B9-FA80-34EE-34DB2BBC90AA}"/>
              </a:ext>
            </a:extLst>
          </p:cNvPr>
          <p:cNvCxnSpPr>
            <a:cxnSpLocks/>
          </p:cNvCxnSpPr>
          <p:nvPr userDrawn="1"/>
        </p:nvCxnSpPr>
        <p:spPr>
          <a:xfrm>
            <a:off x="6705600" y="211455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567F3916-0A34-3DFE-C40C-9CE5F118C59D}"/>
              </a:ext>
            </a:extLst>
          </p:cNvPr>
          <p:cNvCxnSpPr/>
          <p:nvPr userDrawn="1"/>
        </p:nvCxnSpPr>
        <p:spPr>
          <a:xfrm>
            <a:off x="5943600" y="3590925"/>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90580B0B-C3BC-E6B2-4F7A-A8BC4CBEC5D4}"/>
              </a:ext>
            </a:extLst>
          </p:cNvPr>
          <p:cNvCxnSpPr>
            <a:cxnSpLocks/>
          </p:cNvCxnSpPr>
          <p:nvPr userDrawn="1"/>
        </p:nvCxnSpPr>
        <p:spPr>
          <a:xfrm>
            <a:off x="6705600" y="3514725"/>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F204EA6A-A0F1-4A1F-D752-01EC9413BD08}"/>
              </a:ext>
            </a:extLst>
          </p:cNvPr>
          <p:cNvCxnSpPr/>
          <p:nvPr userDrawn="1"/>
        </p:nvCxnSpPr>
        <p:spPr>
          <a:xfrm>
            <a:off x="5943600" y="487680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2332F554-64FA-44EB-F6C0-65BB814F9D34}"/>
              </a:ext>
            </a:extLst>
          </p:cNvPr>
          <p:cNvCxnSpPr>
            <a:cxnSpLocks/>
          </p:cNvCxnSpPr>
          <p:nvPr userDrawn="1"/>
        </p:nvCxnSpPr>
        <p:spPr>
          <a:xfrm>
            <a:off x="6705600" y="4800600"/>
            <a:ext cx="0" cy="91440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385339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8952"/>
            <a:ext cx="10325100"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2B1A6FEB-A7E9-41A9-BE32-02FF741C9A2A}"/>
              </a:ext>
            </a:extLst>
          </p:cNvPr>
          <p:cNvSpPr>
            <a:spLocks noGrp="1"/>
          </p:cNvSpPr>
          <p:nvPr>
            <p:ph idx="1"/>
          </p:nvPr>
        </p:nvSpPr>
        <p:spPr>
          <a:xfrm>
            <a:off x="914400" y="2216430"/>
            <a:ext cx="103251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99422C68-F3F1-F728-F8AB-7545FFD238E1}"/>
              </a:ext>
            </a:extLst>
          </p:cNvPr>
          <p:cNvSpPr>
            <a:spLocks noGrp="1"/>
          </p:cNvSpPr>
          <p:nvPr>
            <p:ph type="ftr" sz="quarter" idx="11"/>
          </p:nvPr>
        </p:nvSpPr>
        <p:spPr/>
        <p:txBody>
          <a:bodyPr/>
          <a:lstStyle/>
          <a:p>
            <a:r>
              <a:rPr lang="en-US" dirty="0"/>
              <a:t>Biological &amp; Physical Sciences</a:t>
            </a:r>
          </a:p>
        </p:txBody>
      </p:sp>
      <p:sp>
        <p:nvSpPr>
          <p:cNvPr id="7" name="Slide Number Placeholder 5">
            <a:extLst>
              <a:ext uri="{FF2B5EF4-FFF2-40B4-BE49-F238E27FC236}">
                <a16:creationId xmlns:a16="http://schemas.microsoft.com/office/drawing/2014/main" id="{55FC8917-4CA3-53EC-49EA-1322608A3F2A}"/>
              </a:ext>
            </a:extLst>
          </p:cNvPr>
          <p:cNvSpPr>
            <a:spLocks noGrp="1"/>
          </p:cNvSpPr>
          <p:nvPr>
            <p:ph type="sldNum" sz="quarter" idx="4"/>
          </p:nvPr>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lvl1pPr algn="l">
              <a:defRPr sz="1100" b="1">
                <a:solidFill>
                  <a:schemeClr val="bg1"/>
                </a:solidFill>
              </a:defRPr>
            </a:lvl1pPr>
          </a:lstStyle>
          <a:p>
            <a:fld id="{E8618032-BA8D-3D4D-8253-A70208A85976}" type="slidenum">
              <a:rPr lang="en-US" smtClean="0"/>
              <a:pPr/>
              <a:t>‹#›</a:t>
            </a:fld>
            <a:endParaRPr lang="en-US" dirty="0"/>
          </a:p>
        </p:txBody>
      </p:sp>
    </p:spTree>
    <p:extLst>
      <p:ext uri="{BB962C8B-B14F-4D97-AF65-F5344CB8AC3E}">
        <p14:creationId xmlns:p14="http://schemas.microsoft.com/office/powerpoint/2010/main" val="5769252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and Dense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2B1A6FEB-A7E9-41A9-BE32-02FF741C9A2A}"/>
              </a:ext>
            </a:extLst>
          </p:cNvPr>
          <p:cNvSpPr>
            <a:spLocks noGrp="1"/>
          </p:cNvSpPr>
          <p:nvPr>
            <p:ph idx="1"/>
          </p:nvPr>
        </p:nvSpPr>
        <p:spPr>
          <a:xfrm>
            <a:off x="914400" y="2216430"/>
            <a:ext cx="10325100" cy="4351338"/>
          </a:xfrm>
        </p:spPr>
        <p:txBody>
          <a:bodyPr>
            <a:normAutofit/>
          </a:bodyPr>
          <a:lstStyle>
            <a:lvl1pPr>
              <a:defRPr sz="2000"/>
            </a:lvl1pPr>
            <a:lvl2pPr>
              <a:defRPr sz="1800"/>
            </a:lvl2pPr>
            <a:lvl3pPr>
              <a:defRPr sz="16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99422C68-F3F1-F728-F8AB-7545FFD238E1}"/>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6A5A23E4-0FD3-1AC3-FD06-43716C74AFB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spTree>
    <p:extLst>
      <p:ext uri="{BB962C8B-B14F-4D97-AF65-F5344CB8AC3E}">
        <p14:creationId xmlns:p14="http://schemas.microsoft.com/office/powerpoint/2010/main" val="57007761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secHead" preserve="1">
  <p:cSld name="1_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51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14545627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secHead" preserve="1">
  <p:cSld name="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51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4288518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secHead" preserve="1">
  <p:cSld name="2_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37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13966390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5930"/>
            <a:ext cx="10325100" cy="1325563"/>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216AC8C6-C4E6-E1A4-9BB3-02E2E29D455B}"/>
              </a:ext>
            </a:extLst>
          </p:cNvPr>
          <p:cNvSpPr>
            <a:spLocks noGrp="1"/>
          </p:cNvSpPr>
          <p:nvPr>
            <p:ph sz="half" idx="1"/>
          </p:nvPr>
        </p:nvSpPr>
        <p:spPr>
          <a:xfrm>
            <a:off x="914400" y="2270760"/>
            <a:ext cx="49149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4605E9D-2162-ED5F-D5C4-2810CEA1639F}"/>
              </a:ext>
            </a:extLst>
          </p:cNvPr>
          <p:cNvSpPr>
            <a:spLocks noGrp="1"/>
          </p:cNvSpPr>
          <p:nvPr>
            <p:ph sz="half" idx="2"/>
          </p:nvPr>
        </p:nvSpPr>
        <p:spPr>
          <a:xfrm>
            <a:off x="6096000" y="226758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25038188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ext_Picture Dark">
    <p:spTree>
      <p:nvGrpSpPr>
        <p:cNvPr id="1" name=""/>
        <p:cNvGrpSpPr/>
        <p:nvPr/>
      </p:nvGrpSpPr>
      <p:grpSpPr>
        <a:xfrm>
          <a:off x="0" y="0"/>
          <a:ext cx="0" cy="0"/>
          <a:chOff x="0" y="0"/>
          <a:chExt cx="0" cy="0"/>
        </a:xfrm>
      </p:grpSpPr>
      <p:sp>
        <p:nvSpPr>
          <p:cNvPr id="4" name="Freeform 3">
            <a:extLst>
              <a:ext uri="{FF2B5EF4-FFF2-40B4-BE49-F238E27FC236}">
                <a16:creationId xmlns:a16="http://schemas.microsoft.com/office/drawing/2014/main" id="{BC8566AA-00D7-499C-0F3E-2067A61875E1}"/>
              </a:ext>
            </a:extLst>
          </p:cNvPr>
          <p:cNvSpPr/>
          <p:nvPr userDrawn="1"/>
        </p:nvSpPr>
        <p:spPr>
          <a:xfrm>
            <a:off x="-22302" y="468351"/>
            <a:ext cx="7304048" cy="6400800"/>
          </a:xfrm>
          <a:custGeom>
            <a:avLst/>
            <a:gdLst>
              <a:gd name="connsiteX0" fmla="*/ 0 w 7304048"/>
              <a:gd name="connsiteY0" fmla="*/ 0 h 6400800"/>
              <a:gd name="connsiteX1" fmla="*/ 5832087 w 7304048"/>
              <a:gd name="connsiteY1" fmla="*/ 0 h 6400800"/>
              <a:gd name="connsiteX2" fmla="*/ 7304048 w 7304048"/>
              <a:gd name="connsiteY2" fmla="*/ 6400800 h 6400800"/>
              <a:gd name="connsiteX3" fmla="*/ 11151 w 7304048"/>
              <a:gd name="connsiteY3" fmla="*/ 6400800 h 6400800"/>
              <a:gd name="connsiteX4" fmla="*/ 11151 w 7304048"/>
              <a:gd name="connsiteY4" fmla="*/ 6300439 h 6400800"/>
              <a:gd name="connsiteX5" fmla="*/ 0 w 7304048"/>
              <a:gd name="connsiteY5" fmla="*/ 0 h 6400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304048" h="6400800">
                <a:moveTo>
                  <a:pt x="0" y="0"/>
                </a:moveTo>
                <a:lnTo>
                  <a:pt x="5832087" y="0"/>
                </a:lnTo>
                <a:lnTo>
                  <a:pt x="7304048" y="6400800"/>
                </a:lnTo>
                <a:lnTo>
                  <a:pt x="11151" y="6400800"/>
                </a:lnTo>
                <a:lnTo>
                  <a:pt x="11151" y="6300439"/>
                </a:lnTo>
                <a:lnTo>
                  <a:pt x="0" y="0"/>
                </a:lnTo>
                <a:close/>
              </a:path>
            </a:pathLst>
          </a:cu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icture Placeholder 9">
            <a:extLst>
              <a:ext uri="{FF2B5EF4-FFF2-40B4-BE49-F238E27FC236}">
                <a16:creationId xmlns:a16="http://schemas.microsoft.com/office/drawing/2014/main" id="{B1EF21C4-1197-17A3-5E0D-4F7593E8A95F}"/>
              </a:ext>
            </a:extLst>
          </p:cNvPr>
          <p:cNvSpPr>
            <a:spLocks noGrp="1"/>
          </p:cNvSpPr>
          <p:nvPr>
            <p:ph type="pic" sz="quarter" idx="13"/>
          </p:nvPr>
        </p:nvSpPr>
        <p:spPr>
          <a:xfrm>
            <a:off x="5817279" y="484554"/>
            <a:ext cx="6369555" cy="6373446"/>
          </a:xfrm>
          <a:custGeom>
            <a:avLst/>
            <a:gdLst>
              <a:gd name="connsiteX0" fmla="*/ 0 w 6400800"/>
              <a:gd name="connsiteY0" fmla="*/ 6200317 h 6200317"/>
              <a:gd name="connsiteX1" fmla="*/ 1550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0 w 6400800"/>
              <a:gd name="connsiteY0" fmla="*/ 6200317 h 6200317"/>
              <a:gd name="connsiteX1" fmla="*/ 26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1470212 w 6374721"/>
              <a:gd name="connsiteY0" fmla="*/ 6228026 h 6228026"/>
              <a:gd name="connsiteX1" fmla="*/ 0 w 6374721"/>
              <a:gd name="connsiteY1" fmla="*/ 0 h 6228026"/>
              <a:gd name="connsiteX2" fmla="*/ 6374721 w 6374721"/>
              <a:gd name="connsiteY2" fmla="*/ 0 h 6228026"/>
              <a:gd name="connsiteX3" fmla="*/ 4824642 w 6374721"/>
              <a:gd name="connsiteY3" fmla="*/ 6200317 h 6228026"/>
              <a:gd name="connsiteX4" fmla="*/ 1470212 w 6374721"/>
              <a:gd name="connsiteY4" fmla="*/ 6228026 h 6228026"/>
              <a:gd name="connsiteX0" fmla="*/ 1470212 w 6374721"/>
              <a:gd name="connsiteY0" fmla="*/ 6228026 h 6255735"/>
              <a:gd name="connsiteX1" fmla="*/ 0 w 6374721"/>
              <a:gd name="connsiteY1" fmla="*/ 0 h 6255735"/>
              <a:gd name="connsiteX2" fmla="*/ 6374721 w 6374721"/>
              <a:gd name="connsiteY2" fmla="*/ 0 h 6255735"/>
              <a:gd name="connsiteX3" fmla="*/ 6362496 w 6374721"/>
              <a:gd name="connsiteY3" fmla="*/ 6255735 h 6255735"/>
              <a:gd name="connsiteX4" fmla="*/ 1470212 w 6374721"/>
              <a:gd name="connsiteY4" fmla="*/ 6228026 h 6255735"/>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65046 w 6374721"/>
              <a:gd name="connsiteY0" fmla="*/ 6207361 h 6228026"/>
              <a:gd name="connsiteX1" fmla="*/ 0 w 6374721"/>
              <a:gd name="connsiteY1" fmla="*/ 0 h 6228026"/>
              <a:gd name="connsiteX2" fmla="*/ 6374721 w 6374721"/>
              <a:gd name="connsiteY2" fmla="*/ 0 h 6228026"/>
              <a:gd name="connsiteX3" fmla="*/ 6362496 w 6374721"/>
              <a:gd name="connsiteY3" fmla="*/ 6228026 h 6228026"/>
              <a:gd name="connsiteX4" fmla="*/ 1465046 w 6374721"/>
              <a:gd name="connsiteY4" fmla="*/ 6207361 h 6228026"/>
              <a:gd name="connsiteX0" fmla="*/ 1465046 w 6374721"/>
              <a:gd name="connsiteY0" fmla="*/ 6207361 h 6207361"/>
              <a:gd name="connsiteX1" fmla="*/ 0 w 6374721"/>
              <a:gd name="connsiteY1" fmla="*/ 0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74721"/>
              <a:gd name="connsiteY0" fmla="*/ 6207361 h 6207361"/>
              <a:gd name="connsiteX1" fmla="*/ 0 w 6374721"/>
              <a:gd name="connsiteY1" fmla="*/ 5166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69555"/>
              <a:gd name="connsiteY0" fmla="*/ 6202195 h 6202195"/>
              <a:gd name="connsiteX1" fmla="*/ 0 w 6369555"/>
              <a:gd name="connsiteY1" fmla="*/ 0 h 6202195"/>
              <a:gd name="connsiteX2" fmla="*/ 6369555 w 6369555"/>
              <a:gd name="connsiteY2" fmla="*/ 0 h 6202195"/>
              <a:gd name="connsiteX3" fmla="*/ 6367662 w 6369555"/>
              <a:gd name="connsiteY3" fmla="*/ 6202195 h 6202195"/>
              <a:gd name="connsiteX4" fmla="*/ 1465046 w 6369555"/>
              <a:gd name="connsiteY4" fmla="*/ 6202195 h 6202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369555" h="6202195">
                <a:moveTo>
                  <a:pt x="1465046" y="6202195"/>
                </a:moveTo>
                <a:lnTo>
                  <a:pt x="0" y="0"/>
                </a:lnTo>
                <a:lnTo>
                  <a:pt x="6369555" y="0"/>
                </a:lnTo>
                <a:lnTo>
                  <a:pt x="6367662" y="6202195"/>
                </a:lnTo>
                <a:lnTo>
                  <a:pt x="1465046" y="6202195"/>
                </a:lnTo>
                <a:close/>
              </a:path>
            </a:pathLst>
          </a:custGeom>
        </p:spPr>
        <p:txBody>
          <a:bodyPr/>
          <a:lstStyle/>
          <a:p>
            <a:r>
              <a:rPr lang="en-US"/>
              <a:t>Click icon to add picture</a:t>
            </a:r>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bg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8252"/>
            <a:ext cx="5181600" cy="3962400"/>
          </a:xfrm>
        </p:spPr>
        <p:txBody>
          <a:bodyPr>
            <a:normAutofit/>
          </a:bodyPr>
          <a:lstStyle>
            <a:lvl1pPr>
              <a:defRPr sz="2400">
                <a:solidFill>
                  <a:schemeClr val="bg1"/>
                </a:solidFill>
              </a:defRPr>
            </a:lvl1pPr>
            <a:lvl2pPr>
              <a:defRPr sz="2000">
                <a:solidFill>
                  <a:schemeClr val="bg1"/>
                </a:solidFill>
              </a:defRPr>
            </a:lvl2pPr>
            <a:lvl3pPr>
              <a:defRPr sz="1800">
                <a:solidFill>
                  <a:schemeClr val="bg1"/>
                </a:solidFill>
              </a:defRPr>
            </a:lvl3pPr>
            <a:lvl4pPr>
              <a:defRPr sz="1600">
                <a:solidFill>
                  <a:schemeClr val="bg1"/>
                </a:solidFill>
              </a:defRPr>
            </a:lvl4pPr>
            <a:lvl5pPr>
              <a:defRPr sz="16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095536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ext_Picture Light">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1EF21C4-1197-17A3-5E0D-4F7593E8A95F}"/>
              </a:ext>
            </a:extLst>
          </p:cNvPr>
          <p:cNvSpPr>
            <a:spLocks noGrp="1"/>
          </p:cNvSpPr>
          <p:nvPr>
            <p:ph type="pic" sz="quarter" idx="13"/>
          </p:nvPr>
        </p:nvSpPr>
        <p:spPr>
          <a:xfrm>
            <a:off x="5573487" y="482551"/>
            <a:ext cx="6613348" cy="6375449"/>
          </a:xfrm>
          <a:custGeom>
            <a:avLst/>
            <a:gdLst>
              <a:gd name="connsiteX0" fmla="*/ 0 w 6400800"/>
              <a:gd name="connsiteY0" fmla="*/ 6200317 h 6200317"/>
              <a:gd name="connsiteX1" fmla="*/ 1550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0 w 6400800"/>
              <a:gd name="connsiteY0" fmla="*/ 6200317 h 6200317"/>
              <a:gd name="connsiteX1" fmla="*/ 26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1470212 w 6374721"/>
              <a:gd name="connsiteY0" fmla="*/ 6228026 h 6228026"/>
              <a:gd name="connsiteX1" fmla="*/ 0 w 6374721"/>
              <a:gd name="connsiteY1" fmla="*/ 0 h 6228026"/>
              <a:gd name="connsiteX2" fmla="*/ 6374721 w 6374721"/>
              <a:gd name="connsiteY2" fmla="*/ 0 h 6228026"/>
              <a:gd name="connsiteX3" fmla="*/ 4824642 w 6374721"/>
              <a:gd name="connsiteY3" fmla="*/ 6200317 h 6228026"/>
              <a:gd name="connsiteX4" fmla="*/ 1470212 w 6374721"/>
              <a:gd name="connsiteY4" fmla="*/ 6228026 h 6228026"/>
              <a:gd name="connsiteX0" fmla="*/ 1470212 w 6374721"/>
              <a:gd name="connsiteY0" fmla="*/ 6228026 h 6255735"/>
              <a:gd name="connsiteX1" fmla="*/ 0 w 6374721"/>
              <a:gd name="connsiteY1" fmla="*/ 0 h 6255735"/>
              <a:gd name="connsiteX2" fmla="*/ 6374721 w 6374721"/>
              <a:gd name="connsiteY2" fmla="*/ 0 h 6255735"/>
              <a:gd name="connsiteX3" fmla="*/ 6362496 w 6374721"/>
              <a:gd name="connsiteY3" fmla="*/ 6255735 h 6255735"/>
              <a:gd name="connsiteX4" fmla="*/ 1470212 w 6374721"/>
              <a:gd name="connsiteY4" fmla="*/ 6228026 h 6255735"/>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65046 w 6374721"/>
              <a:gd name="connsiteY0" fmla="*/ 6207361 h 6228026"/>
              <a:gd name="connsiteX1" fmla="*/ 0 w 6374721"/>
              <a:gd name="connsiteY1" fmla="*/ 0 h 6228026"/>
              <a:gd name="connsiteX2" fmla="*/ 6374721 w 6374721"/>
              <a:gd name="connsiteY2" fmla="*/ 0 h 6228026"/>
              <a:gd name="connsiteX3" fmla="*/ 6362496 w 6374721"/>
              <a:gd name="connsiteY3" fmla="*/ 6228026 h 6228026"/>
              <a:gd name="connsiteX4" fmla="*/ 1465046 w 6374721"/>
              <a:gd name="connsiteY4" fmla="*/ 6207361 h 6228026"/>
              <a:gd name="connsiteX0" fmla="*/ 1465046 w 6374721"/>
              <a:gd name="connsiteY0" fmla="*/ 6207361 h 6207361"/>
              <a:gd name="connsiteX1" fmla="*/ 0 w 6374721"/>
              <a:gd name="connsiteY1" fmla="*/ 0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74721"/>
              <a:gd name="connsiteY0" fmla="*/ 6207361 h 6207361"/>
              <a:gd name="connsiteX1" fmla="*/ 0 w 6374721"/>
              <a:gd name="connsiteY1" fmla="*/ 5166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69555"/>
              <a:gd name="connsiteY0" fmla="*/ 6202195 h 6202195"/>
              <a:gd name="connsiteX1" fmla="*/ 0 w 6369555"/>
              <a:gd name="connsiteY1" fmla="*/ 0 h 6202195"/>
              <a:gd name="connsiteX2" fmla="*/ 6369555 w 6369555"/>
              <a:gd name="connsiteY2" fmla="*/ 0 h 6202195"/>
              <a:gd name="connsiteX3" fmla="*/ 6367662 w 6369555"/>
              <a:gd name="connsiteY3" fmla="*/ 6202195 h 6202195"/>
              <a:gd name="connsiteX4" fmla="*/ 1465046 w 6369555"/>
              <a:gd name="connsiteY4" fmla="*/ 6202195 h 6202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369555" h="6202195">
                <a:moveTo>
                  <a:pt x="1465046" y="6202195"/>
                </a:moveTo>
                <a:lnTo>
                  <a:pt x="0" y="0"/>
                </a:lnTo>
                <a:lnTo>
                  <a:pt x="6369555" y="0"/>
                </a:lnTo>
                <a:lnTo>
                  <a:pt x="6367662" y="6202195"/>
                </a:lnTo>
                <a:lnTo>
                  <a:pt x="1465046" y="6202195"/>
                </a:lnTo>
                <a:close/>
              </a:path>
            </a:pathLst>
          </a:custGeom>
        </p:spPr>
        <p:txBody>
          <a:bodyPr/>
          <a:lstStyle/>
          <a:p>
            <a:r>
              <a:rPr lang="en-US"/>
              <a:t>Click icon to add picture</a:t>
            </a:r>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79964891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ext _Picture w/Frame">
    <p:spTree>
      <p:nvGrpSpPr>
        <p:cNvPr id="1" name=""/>
        <p:cNvGrpSpPr/>
        <p:nvPr/>
      </p:nvGrpSpPr>
      <p:grpSpPr>
        <a:xfrm>
          <a:off x="0" y="0"/>
          <a:ext cx="0" cy="0"/>
          <a:chOff x="0" y="0"/>
          <a:chExt cx="0" cy="0"/>
        </a:xfrm>
      </p:grpSpPr>
      <p:sp>
        <p:nvSpPr>
          <p:cNvPr id="8" name="Rounded Rectangle 7">
            <a:extLst>
              <a:ext uri="{FF2B5EF4-FFF2-40B4-BE49-F238E27FC236}">
                <a16:creationId xmlns:a16="http://schemas.microsoft.com/office/drawing/2014/main" id="{D04EC17A-0229-9D9E-4F3E-BBAF3C9EC60A}"/>
              </a:ext>
            </a:extLst>
          </p:cNvPr>
          <p:cNvSpPr/>
          <p:nvPr userDrawn="1"/>
        </p:nvSpPr>
        <p:spPr>
          <a:xfrm>
            <a:off x="6324600" y="750848"/>
            <a:ext cx="5562600" cy="5715000"/>
          </a:xfrm>
          <a:prstGeom prst="roundRect">
            <a:avLst>
              <a:gd name="adj" fmla="val 6243"/>
            </a:avLst>
          </a:prstGeom>
          <a:gradFill>
            <a:gsLst>
              <a:gs pos="0">
                <a:schemeClr val="tx1"/>
              </a:gs>
              <a:gs pos="97000">
                <a:schemeClr val="accent3"/>
              </a:gs>
              <a:gs pos="47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Picture Placeholder 3">
            <a:extLst>
              <a:ext uri="{FF2B5EF4-FFF2-40B4-BE49-F238E27FC236}">
                <a16:creationId xmlns:a16="http://schemas.microsoft.com/office/drawing/2014/main" id="{6093D01D-E4EE-57C8-4839-A436BF0AE87B}"/>
              </a:ext>
            </a:extLst>
          </p:cNvPr>
          <p:cNvSpPr>
            <a:spLocks noGrp="1"/>
          </p:cNvSpPr>
          <p:nvPr>
            <p:ph type="pic" sz="quarter" idx="15"/>
          </p:nvPr>
        </p:nvSpPr>
        <p:spPr>
          <a:xfrm>
            <a:off x="6477000" y="903248"/>
            <a:ext cx="5257800" cy="5410200"/>
          </a:xfrm>
          <a:prstGeom prst="roundRect">
            <a:avLst>
              <a:gd name="adj" fmla="val 6063"/>
            </a:avLst>
          </a:prstGeom>
        </p:spPr>
        <p:txBody>
          <a:bodyPr/>
          <a:lstStyle>
            <a:lvl1pPr>
              <a:defRPr>
                <a:solidFill>
                  <a:schemeClr val="bg1"/>
                </a:solidFill>
              </a:defRPr>
            </a:lvl1pPr>
          </a:lstStyle>
          <a:p>
            <a:r>
              <a:rPr lang="en-US"/>
              <a:t>Click icon to add picture</a:t>
            </a:r>
          </a:p>
        </p:txBody>
      </p:sp>
    </p:spTree>
    <p:extLst>
      <p:ext uri="{BB962C8B-B14F-4D97-AF65-F5344CB8AC3E}">
        <p14:creationId xmlns:p14="http://schemas.microsoft.com/office/powerpoint/2010/main" val="155291952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Text _2 Pictures w/Frame">
    <p:spTree>
      <p:nvGrpSpPr>
        <p:cNvPr id="1" name=""/>
        <p:cNvGrpSpPr/>
        <p:nvPr/>
      </p:nvGrpSpPr>
      <p:grpSpPr>
        <a:xfrm>
          <a:off x="0" y="0"/>
          <a:ext cx="0" cy="0"/>
          <a:chOff x="0" y="0"/>
          <a:chExt cx="0" cy="0"/>
        </a:xfrm>
      </p:grpSpPr>
      <p:sp>
        <p:nvSpPr>
          <p:cNvPr id="8" name="Rounded Rectangle 7">
            <a:extLst>
              <a:ext uri="{FF2B5EF4-FFF2-40B4-BE49-F238E27FC236}">
                <a16:creationId xmlns:a16="http://schemas.microsoft.com/office/drawing/2014/main" id="{D04EC17A-0229-9D9E-4F3E-BBAF3C9EC60A}"/>
              </a:ext>
            </a:extLst>
          </p:cNvPr>
          <p:cNvSpPr/>
          <p:nvPr userDrawn="1"/>
        </p:nvSpPr>
        <p:spPr>
          <a:xfrm>
            <a:off x="6781800" y="731195"/>
            <a:ext cx="5029200" cy="2873829"/>
          </a:xfrm>
          <a:prstGeom prst="roundRect">
            <a:avLst>
              <a:gd name="adj" fmla="val 6243"/>
            </a:avLst>
          </a:prstGeom>
          <a:gradFill>
            <a:gsLst>
              <a:gs pos="0">
                <a:schemeClr val="tx1"/>
              </a:gs>
              <a:gs pos="97000">
                <a:schemeClr val="accent3"/>
              </a:gs>
              <a:gs pos="46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6959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12848"/>
            <a:ext cx="5562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Picture Placeholder 3">
            <a:extLst>
              <a:ext uri="{FF2B5EF4-FFF2-40B4-BE49-F238E27FC236}">
                <a16:creationId xmlns:a16="http://schemas.microsoft.com/office/drawing/2014/main" id="{6093D01D-E4EE-57C8-4839-A436BF0AE87B}"/>
              </a:ext>
            </a:extLst>
          </p:cNvPr>
          <p:cNvSpPr>
            <a:spLocks noGrp="1"/>
          </p:cNvSpPr>
          <p:nvPr>
            <p:ph type="pic" sz="quarter" idx="15"/>
          </p:nvPr>
        </p:nvSpPr>
        <p:spPr>
          <a:xfrm>
            <a:off x="6934200" y="883595"/>
            <a:ext cx="4741817" cy="2586446"/>
          </a:xfrm>
          <a:prstGeom prst="roundRect">
            <a:avLst>
              <a:gd name="adj" fmla="val 2938"/>
            </a:avLst>
          </a:prstGeom>
        </p:spPr>
        <p:txBody>
          <a:bodyPr/>
          <a:lstStyle>
            <a:lvl1pPr>
              <a:defRPr>
                <a:solidFill>
                  <a:schemeClr val="bg1"/>
                </a:solidFill>
              </a:defRPr>
            </a:lvl1pPr>
          </a:lstStyle>
          <a:p>
            <a:r>
              <a:rPr lang="en-US"/>
              <a:t>Click icon to add picture</a:t>
            </a:r>
            <a:endParaRPr lang="en-US" dirty="0"/>
          </a:p>
        </p:txBody>
      </p:sp>
      <p:sp>
        <p:nvSpPr>
          <p:cNvPr id="10" name="Rounded Rectangle 9">
            <a:extLst>
              <a:ext uri="{FF2B5EF4-FFF2-40B4-BE49-F238E27FC236}">
                <a16:creationId xmlns:a16="http://schemas.microsoft.com/office/drawing/2014/main" id="{932B8DAB-353A-63A7-57E3-BC8771DAFC86}"/>
              </a:ext>
            </a:extLst>
          </p:cNvPr>
          <p:cNvSpPr/>
          <p:nvPr userDrawn="1"/>
        </p:nvSpPr>
        <p:spPr>
          <a:xfrm>
            <a:off x="6781800" y="3702995"/>
            <a:ext cx="5029200" cy="2873829"/>
          </a:xfrm>
          <a:prstGeom prst="roundRect">
            <a:avLst>
              <a:gd name="adj" fmla="val 6243"/>
            </a:avLst>
          </a:prstGeom>
          <a:gradFill>
            <a:gsLst>
              <a:gs pos="0">
                <a:schemeClr val="tx1"/>
              </a:gs>
              <a:gs pos="97000">
                <a:schemeClr val="accent3"/>
              </a:gs>
              <a:gs pos="47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Picture Placeholder 3">
            <a:extLst>
              <a:ext uri="{FF2B5EF4-FFF2-40B4-BE49-F238E27FC236}">
                <a16:creationId xmlns:a16="http://schemas.microsoft.com/office/drawing/2014/main" id="{7FD29A79-FC30-5176-80E7-A66A49211302}"/>
              </a:ext>
            </a:extLst>
          </p:cNvPr>
          <p:cNvSpPr>
            <a:spLocks noGrp="1"/>
          </p:cNvSpPr>
          <p:nvPr>
            <p:ph type="pic" sz="quarter" idx="16"/>
          </p:nvPr>
        </p:nvSpPr>
        <p:spPr>
          <a:xfrm>
            <a:off x="6934200" y="3855395"/>
            <a:ext cx="4741817" cy="2586446"/>
          </a:xfrm>
          <a:prstGeom prst="roundRect">
            <a:avLst>
              <a:gd name="adj" fmla="val 2938"/>
            </a:avLst>
          </a:prstGeom>
        </p:spPr>
        <p:txBody>
          <a:bodyPr/>
          <a:lstStyle>
            <a:lvl1pPr>
              <a:defRPr>
                <a:solidFill>
                  <a:schemeClr val="bg1"/>
                </a:solidFill>
              </a:defRPr>
            </a:lvl1pPr>
          </a:lstStyle>
          <a:p>
            <a:r>
              <a:rPr lang="en-US"/>
              <a:t>Click icon to add picture</a:t>
            </a:r>
            <a:endParaRPr lang="en-US" dirty="0"/>
          </a:p>
        </p:txBody>
      </p:sp>
    </p:spTree>
    <p:extLst>
      <p:ext uri="{BB962C8B-B14F-4D97-AF65-F5344CB8AC3E}">
        <p14:creationId xmlns:p14="http://schemas.microsoft.com/office/powerpoint/2010/main" val="42811763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ext and Char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6197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hart Placeholder 8">
            <a:extLst>
              <a:ext uri="{FF2B5EF4-FFF2-40B4-BE49-F238E27FC236}">
                <a16:creationId xmlns:a16="http://schemas.microsoft.com/office/drawing/2014/main" id="{61C1296F-E730-081D-E6F9-31BBE4D43254}"/>
              </a:ext>
            </a:extLst>
          </p:cNvPr>
          <p:cNvSpPr>
            <a:spLocks noGrp="1"/>
          </p:cNvSpPr>
          <p:nvPr>
            <p:ph type="chart" sz="quarter" idx="15"/>
          </p:nvPr>
        </p:nvSpPr>
        <p:spPr>
          <a:xfrm>
            <a:off x="6324600" y="758952"/>
            <a:ext cx="5486400" cy="5486400"/>
          </a:xfrm>
        </p:spPr>
        <p:txBody>
          <a:bodyPr/>
          <a:lstStyle>
            <a:lvl1pPr>
              <a:defRPr>
                <a:solidFill>
                  <a:schemeClr val="tx1"/>
                </a:solidFill>
              </a:defRPr>
            </a:lvl1pPr>
          </a:lstStyle>
          <a:p>
            <a:r>
              <a:rPr lang="en-US"/>
              <a:t>Click icon to add chart</a:t>
            </a:r>
            <a:endParaRPr lang="en-US" dirty="0"/>
          </a:p>
        </p:txBody>
      </p:sp>
    </p:spTree>
    <p:extLst>
      <p:ext uri="{BB962C8B-B14F-4D97-AF65-F5344CB8AC3E}">
        <p14:creationId xmlns:p14="http://schemas.microsoft.com/office/powerpoint/2010/main" val="357816123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ide by side char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10877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9" name="Chart Placeholder 8">
            <a:extLst>
              <a:ext uri="{FF2B5EF4-FFF2-40B4-BE49-F238E27FC236}">
                <a16:creationId xmlns:a16="http://schemas.microsoft.com/office/drawing/2014/main" id="{61C1296F-E730-081D-E6F9-31BBE4D43254}"/>
              </a:ext>
            </a:extLst>
          </p:cNvPr>
          <p:cNvSpPr>
            <a:spLocks noGrp="1"/>
          </p:cNvSpPr>
          <p:nvPr>
            <p:ph type="chart" sz="quarter" idx="15"/>
          </p:nvPr>
        </p:nvSpPr>
        <p:spPr>
          <a:xfrm>
            <a:off x="6400800" y="2924869"/>
            <a:ext cx="5334000" cy="3505200"/>
          </a:xfrm>
        </p:spPr>
        <p:txBody>
          <a:bodyPr/>
          <a:lstStyle>
            <a:lvl1pPr>
              <a:defRPr>
                <a:solidFill>
                  <a:schemeClr val="tx1"/>
                </a:solidFill>
              </a:defRPr>
            </a:lvl1pPr>
          </a:lstStyle>
          <a:p>
            <a:r>
              <a:rPr lang="en-US"/>
              <a:t>Click icon to add chart</a:t>
            </a:r>
            <a:endParaRPr lang="en-US" dirty="0"/>
          </a:p>
        </p:txBody>
      </p:sp>
      <p:sp>
        <p:nvSpPr>
          <p:cNvPr id="3" name="Chart Placeholder 8">
            <a:extLst>
              <a:ext uri="{FF2B5EF4-FFF2-40B4-BE49-F238E27FC236}">
                <a16:creationId xmlns:a16="http://schemas.microsoft.com/office/drawing/2014/main" id="{47C9A64A-95DE-326D-AD27-2A9C89FC288F}"/>
              </a:ext>
            </a:extLst>
          </p:cNvPr>
          <p:cNvSpPr>
            <a:spLocks noGrp="1"/>
          </p:cNvSpPr>
          <p:nvPr>
            <p:ph type="chart" sz="quarter" idx="16"/>
          </p:nvPr>
        </p:nvSpPr>
        <p:spPr>
          <a:xfrm>
            <a:off x="914400" y="2924869"/>
            <a:ext cx="5334000" cy="3505200"/>
          </a:xfrm>
        </p:spPr>
        <p:txBody>
          <a:bodyPr/>
          <a:lstStyle>
            <a:lvl1pPr>
              <a:defRPr>
                <a:solidFill>
                  <a:schemeClr val="tx1"/>
                </a:solidFill>
              </a:defRPr>
            </a:lvl1pPr>
          </a:lstStyle>
          <a:p>
            <a:r>
              <a:rPr lang="en-US"/>
              <a:t>Click icon to add chart</a:t>
            </a:r>
            <a:endParaRPr lang="en-US" dirty="0"/>
          </a:p>
        </p:txBody>
      </p:sp>
      <p:sp>
        <p:nvSpPr>
          <p:cNvPr id="10" name="Text Placeholder 2">
            <a:extLst>
              <a:ext uri="{FF2B5EF4-FFF2-40B4-BE49-F238E27FC236}">
                <a16:creationId xmlns:a16="http://schemas.microsoft.com/office/drawing/2014/main" id="{BFD2497A-A32F-79B8-FD8B-B8AB6127058F}"/>
              </a:ext>
            </a:extLst>
          </p:cNvPr>
          <p:cNvSpPr>
            <a:spLocks noGrp="1"/>
          </p:cNvSpPr>
          <p:nvPr>
            <p:ph type="body" idx="1"/>
          </p:nvPr>
        </p:nvSpPr>
        <p:spPr>
          <a:xfrm>
            <a:off x="914400" y="2203704"/>
            <a:ext cx="10972800" cy="595312"/>
          </a:xfrm>
        </p:spPr>
        <p:txBody>
          <a:bodyPr anchor="b"/>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Tree>
    <p:extLst>
      <p:ext uri="{BB962C8B-B14F-4D97-AF65-F5344CB8AC3E}">
        <p14:creationId xmlns:p14="http://schemas.microsoft.com/office/powerpoint/2010/main" val="94578090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_Side by side pictur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10877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0" name="Text Placeholder 2">
            <a:extLst>
              <a:ext uri="{FF2B5EF4-FFF2-40B4-BE49-F238E27FC236}">
                <a16:creationId xmlns:a16="http://schemas.microsoft.com/office/drawing/2014/main" id="{BFD2497A-A32F-79B8-FD8B-B8AB6127058F}"/>
              </a:ext>
            </a:extLst>
          </p:cNvPr>
          <p:cNvSpPr>
            <a:spLocks noGrp="1"/>
          </p:cNvSpPr>
          <p:nvPr>
            <p:ph type="body" idx="1"/>
          </p:nvPr>
        </p:nvSpPr>
        <p:spPr>
          <a:xfrm>
            <a:off x="914400" y="2203704"/>
            <a:ext cx="10972800" cy="595312"/>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Picture Placeholder 7">
            <a:extLst>
              <a:ext uri="{FF2B5EF4-FFF2-40B4-BE49-F238E27FC236}">
                <a16:creationId xmlns:a16="http://schemas.microsoft.com/office/drawing/2014/main" id="{A5E00329-735F-25A4-8DAC-E98E4105FA19}"/>
              </a:ext>
            </a:extLst>
          </p:cNvPr>
          <p:cNvSpPr>
            <a:spLocks noGrp="1"/>
          </p:cNvSpPr>
          <p:nvPr>
            <p:ph type="pic" sz="quarter" idx="17"/>
          </p:nvPr>
        </p:nvSpPr>
        <p:spPr>
          <a:xfrm>
            <a:off x="914400" y="2912640"/>
            <a:ext cx="5334000" cy="3505200"/>
          </a:xfrm>
        </p:spPr>
        <p:txBody>
          <a:bodyPr/>
          <a:lstStyle/>
          <a:p>
            <a:r>
              <a:rPr lang="en-US"/>
              <a:t>Click icon to add picture</a:t>
            </a:r>
          </a:p>
        </p:txBody>
      </p:sp>
      <p:sp>
        <p:nvSpPr>
          <p:cNvPr id="11" name="Picture Placeholder 7">
            <a:extLst>
              <a:ext uri="{FF2B5EF4-FFF2-40B4-BE49-F238E27FC236}">
                <a16:creationId xmlns:a16="http://schemas.microsoft.com/office/drawing/2014/main" id="{5D11F4B7-132E-FFAB-C5E1-A1A1DA78032E}"/>
              </a:ext>
            </a:extLst>
          </p:cNvPr>
          <p:cNvSpPr>
            <a:spLocks noGrp="1"/>
          </p:cNvSpPr>
          <p:nvPr>
            <p:ph type="pic" sz="quarter" idx="18"/>
          </p:nvPr>
        </p:nvSpPr>
        <p:spPr>
          <a:xfrm>
            <a:off x="6400800" y="2912640"/>
            <a:ext cx="5334000" cy="3505200"/>
          </a:xfrm>
        </p:spPr>
        <p:txBody>
          <a:bodyPr/>
          <a:lstStyle/>
          <a:p>
            <a:r>
              <a:rPr lang="en-US"/>
              <a:t>Click icon to add picture</a:t>
            </a:r>
          </a:p>
        </p:txBody>
      </p:sp>
    </p:spTree>
    <p:extLst>
      <p:ext uri="{BB962C8B-B14F-4D97-AF65-F5344CB8AC3E}">
        <p14:creationId xmlns:p14="http://schemas.microsoft.com/office/powerpoint/2010/main" val="352448666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Icon call outs">
    <p:bg>
      <p:bgRef idx="1001">
        <a:schemeClr val="bg1"/>
      </p:bgRef>
    </p:bg>
    <p:spTree>
      <p:nvGrpSpPr>
        <p:cNvPr id="1" name=""/>
        <p:cNvGrpSpPr/>
        <p:nvPr/>
      </p:nvGrpSpPr>
      <p:grpSpPr>
        <a:xfrm>
          <a:off x="0" y="0"/>
          <a:ext cx="0" cy="0"/>
          <a:chOff x="0" y="0"/>
          <a:chExt cx="0" cy="0"/>
        </a:xfrm>
      </p:grpSpPr>
      <p:sp>
        <p:nvSpPr>
          <p:cNvPr id="15" name="Text Placeholder 11">
            <a:extLst>
              <a:ext uri="{FF2B5EF4-FFF2-40B4-BE49-F238E27FC236}">
                <a16:creationId xmlns:a16="http://schemas.microsoft.com/office/drawing/2014/main" id="{3465C986-E3D2-97E7-9111-0299F9C3B1D2}"/>
              </a:ext>
            </a:extLst>
          </p:cNvPr>
          <p:cNvSpPr>
            <a:spLocks noGrp="1"/>
          </p:cNvSpPr>
          <p:nvPr>
            <p:ph type="body" sz="quarter" idx="15" hasCustomPrompt="1"/>
          </p:nvPr>
        </p:nvSpPr>
        <p:spPr>
          <a:xfrm>
            <a:off x="951767"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40" name="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928190"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948564" y="4248614"/>
            <a:ext cx="2333063"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5" name="Straight Arrow Connector 44">
            <a:extLst>
              <a:ext uri="{FF2B5EF4-FFF2-40B4-BE49-F238E27FC236}">
                <a16:creationId xmlns:a16="http://schemas.microsoft.com/office/drawing/2014/main" id="{9CFE922A-6A5A-4DA8-1E44-D80852772091}"/>
              </a:ext>
              <a:ext uri="{C183D7F6-B498-43B3-948B-1728B52AA6E4}">
                <adec:decorative xmlns:adec="http://schemas.microsoft.com/office/drawing/2017/decorative" val="1"/>
              </a:ext>
            </a:extLst>
          </p:cNvPr>
          <p:cNvCxnSpPr>
            <a:cxnSpLocks/>
          </p:cNvCxnSpPr>
          <p:nvPr userDrawn="1"/>
        </p:nvCxnSpPr>
        <p:spPr>
          <a:xfrm>
            <a:off x="1201554" y="6203726"/>
            <a:ext cx="1827083"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6" name="Text Placeholder 11">
            <a:extLst>
              <a:ext uri="{FF2B5EF4-FFF2-40B4-BE49-F238E27FC236}">
                <a16:creationId xmlns:a16="http://schemas.microsoft.com/office/drawing/2014/main" id="{3D56C31D-5FDB-2235-FFF8-2AB6E04C9B1C}"/>
              </a:ext>
            </a:extLst>
          </p:cNvPr>
          <p:cNvSpPr>
            <a:spLocks noGrp="1"/>
          </p:cNvSpPr>
          <p:nvPr>
            <p:ph type="body" sz="quarter" idx="16" hasCustomPrompt="1"/>
          </p:nvPr>
        </p:nvSpPr>
        <p:spPr>
          <a:xfrm>
            <a:off x="3657600"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1" name="Text Placeholder 11">
            <a:extLst>
              <a:ext uri="{FF2B5EF4-FFF2-40B4-BE49-F238E27FC236}">
                <a16:creationId xmlns:a16="http://schemas.microsoft.com/office/drawing/2014/main" id="{B16A2860-4464-B092-801E-255A6B7DF3E4}"/>
              </a:ext>
            </a:extLst>
          </p:cNvPr>
          <p:cNvSpPr>
            <a:spLocks noGrp="1"/>
          </p:cNvSpPr>
          <p:nvPr>
            <p:ph type="body" sz="quarter" idx="21" hasCustomPrompt="1"/>
          </p:nvPr>
        </p:nvSpPr>
        <p:spPr>
          <a:xfrm>
            <a:off x="3640500" y="4248614"/>
            <a:ext cx="2360857"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6" name="Straight Arrow Connector 45">
            <a:extLst>
              <a:ext uri="{FF2B5EF4-FFF2-40B4-BE49-F238E27FC236}">
                <a16:creationId xmlns:a16="http://schemas.microsoft.com/office/drawing/2014/main" id="{76330766-86D4-F436-F65D-07EF389BF5F5}"/>
              </a:ext>
              <a:ext uri="{C183D7F6-B498-43B3-948B-1728B52AA6E4}">
                <adec:decorative xmlns:adec="http://schemas.microsoft.com/office/drawing/2017/decorative" val="1"/>
              </a:ext>
            </a:extLst>
          </p:cNvPr>
          <p:cNvCxnSpPr>
            <a:cxnSpLocks/>
          </p:cNvCxnSpPr>
          <p:nvPr userDrawn="1"/>
        </p:nvCxnSpPr>
        <p:spPr>
          <a:xfrm>
            <a:off x="3902735" y="6203726"/>
            <a:ext cx="1836387"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7" name="Text Placeholder 11">
            <a:extLst>
              <a:ext uri="{FF2B5EF4-FFF2-40B4-BE49-F238E27FC236}">
                <a16:creationId xmlns:a16="http://schemas.microsoft.com/office/drawing/2014/main" id="{A540E06E-3F2B-A3DC-320A-8C968AC4350E}"/>
              </a:ext>
            </a:extLst>
          </p:cNvPr>
          <p:cNvSpPr>
            <a:spLocks noGrp="1"/>
          </p:cNvSpPr>
          <p:nvPr>
            <p:ph type="body" sz="quarter" idx="17" hasCustomPrompt="1"/>
          </p:nvPr>
        </p:nvSpPr>
        <p:spPr>
          <a:xfrm>
            <a:off x="6435141"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2" name="Text Placeholder 11">
            <a:extLst>
              <a:ext uri="{FF2B5EF4-FFF2-40B4-BE49-F238E27FC236}">
                <a16:creationId xmlns:a16="http://schemas.microsoft.com/office/drawing/2014/main" id="{51307C43-6072-93E9-BF1D-64D42AE2A524}"/>
              </a:ext>
            </a:extLst>
          </p:cNvPr>
          <p:cNvSpPr>
            <a:spLocks noGrp="1"/>
          </p:cNvSpPr>
          <p:nvPr>
            <p:ph type="body" sz="quarter" idx="22" hasCustomPrompt="1"/>
          </p:nvPr>
        </p:nvSpPr>
        <p:spPr>
          <a:xfrm>
            <a:off x="6419643" y="4248614"/>
            <a:ext cx="2357653"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7" name="Straight Arrow Connector 46">
            <a:extLst>
              <a:ext uri="{FF2B5EF4-FFF2-40B4-BE49-F238E27FC236}">
                <a16:creationId xmlns:a16="http://schemas.microsoft.com/office/drawing/2014/main" id="{EF51B736-1CC5-842A-AFEB-68B18931713C}"/>
              </a:ext>
              <a:ext uri="{C183D7F6-B498-43B3-948B-1728B52AA6E4}">
                <adec:decorative xmlns:adec="http://schemas.microsoft.com/office/drawing/2017/decorative" val="1"/>
              </a:ext>
            </a:extLst>
          </p:cNvPr>
          <p:cNvCxnSpPr>
            <a:cxnSpLocks/>
          </p:cNvCxnSpPr>
          <p:nvPr userDrawn="1"/>
        </p:nvCxnSpPr>
        <p:spPr>
          <a:xfrm>
            <a:off x="6684650" y="6203726"/>
            <a:ext cx="1827639"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8" name="Text Placeholder 11">
            <a:extLst>
              <a:ext uri="{FF2B5EF4-FFF2-40B4-BE49-F238E27FC236}">
                <a16:creationId xmlns:a16="http://schemas.microsoft.com/office/drawing/2014/main" id="{716EA8F4-B9C4-991F-0EBC-D79877AD4680}"/>
              </a:ext>
            </a:extLst>
          </p:cNvPr>
          <p:cNvSpPr>
            <a:spLocks noGrp="1"/>
          </p:cNvSpPr>
          <p:nvPr>
            <p:ph type="body" sz="quarter" idx="18" hasCustomPrompt="1"/>
          </p:nvPr>
        </p:nvSpPr>
        <p:spPr>
          <a:xfrm>
            <a:off x="9161699"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3" name="Text Placeholder 11">
            <a:extLst>
              <a:ext uri="{FF2B5EF4-FFF2-40B4-BE49-F238E27FC236}">
                <a16:creationId xmlns:a16="http://schemas.microsoft.com/office/drawing/2014/main" id="{5A57C80F-4C30-26E1-B38B-3D7238EC9A49}"/>
              </a:ext>
            </a:extLst>
          </p:cNvPr>
          <p:cNvSpPr>
            <a:spLocks noGrp="1"/>
          </p:cNvSpPr>
          <p:nvPr>
            <p:ph type="body" sz="quarter" idx="23" hasCustomPrompt="1"/>
          </p:nvPr>
        </p:nvSpPr>
        <p:spPr>
          <a:xfrm>
            <a:off x="9140053" y="4248614"/>
            <a:ext cx="2369948"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8" name="Straight Arrow Connector 47">
            <a:extLst>
              <a:ext uri="{FF2B5EF4-FFF2-40B4-BE49-F238E27FC236}">
                <a16:creationId xmlns:a16="http://schemas.microsoft.com/office/drawing/2014/main" id="{A771B152-C165-EE9A-CF25-69B01D93984C}"/>
              </a:ext>
              <a:ext uri="{C183D7F6-B498-43B3-948B-1728B52AA6E4}">
                <adec:decorative xmlns:adec="http://schemas.microsoft.com/office/drawing/2017/decorative" val="1"/>
              </a:ext>
            </a:extLst>
          </p:cNvPr>
          <p:cNvCxnSpPr>
            <a:cxnSpLocks/>
          </p:cNvCxnSpPr>
          <p:nvPr userDrawn="1"/>
        </p:nvCxnSpPr>
        <p:spPr>
          <a:xfrm>
            <a:off x="9410840" y="6203726"/>
            <a:ext cx="1828375"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8" name="Rectangle 7">
            <a:extLst>
              <a:ext uri="{FF2B5EF4-FFF2-40B4-BE49-F238E27FC236}">
                <a16:creationId xmlns:a16="http://schemas.microsoft.com/office/drawing/2014/main" id="{3A788A64-F282-9CE1-4232-9EE355589DE3}"/>
              </a:ext>
              <a:ext uri="{C183D7F6-B498-43B3-948B-1728B52AA6E4}">
                <adec:decorative xmlns:adec="http://schemas.microsoft.com/office/drawing/2017/decorative" val="1"/>
              </a:ext>
            </a:extLst>
          </p:cNvPr>
          <p:cNvSpPr/>
          <p:nvPr userDrawn="1"/>
        </p:nvSpPr>
        <p:spPr>
          <a:xfrm>
            <a:off x="3634023"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9" name="Rectangle 8">
            <a:extLst>
              <a:ext uri="{FF2B5EF4-FFF2-40B4-BE49-F238E27FC236}">
                <a16:creationId xmlns:a16="http://schemas.microsoft.com/office/drawing/2014/main" id="{10782DED-E3BA-FB36-43E4-81DBB440C37C}"/>
              </a:ext>
              <a:ext uri="{C183D7F6-B498-43B3-948B-1728B52AA6E4}">
                <adec:decorative xmlns:adec="http://schemas.microsoft.com/office/drawing/2017/decorative" val="1"/>
              </a:ext>
            </a:extLst>
          </p:cNvPr>
          <p:cNvSpPr/>
          <p:nvPr userDrawn="1"/>
        </p:nvSpPr>
        <p:spPr>
          <a:xfrm>
            <a:off x="6411564"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10" name="Rectangle 9">
            <a:extLst>
              <a:ext uri="{FF2B5EF4-FFF2-40B4-BE49-F238E27FC236}">
                <a16:creationId xmlns:a16="http://schemas.microsoft.com/office/drawing/2014/main" id="{00D478D9-E1B0-6465-A4AE-A5FCFD483B88}"/>
              </a:ext>
              <a:ext uri="{C183D7F6-B498-43B3-948B-1728B52AA6E4}">
                <adec:decorative xmlns:adec="http://schemas.microsoft.com/office/drawing/2017/decorative" val="1"/>
              </a:ext>
            </a:extLst>
          </p:cNvPr>
          <p:cNvSpPr/>
          <p:nvPr userDrawn="1"/>
        </p:nvSpPr>
        <p:spPr>
          <a:xfrm>
            <a:off x="9138122"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6" name="Footer Placeholder 5">
            <a:extLst>
              <a:ext uri="{FF2B5EF4-FFF2-40B4-BE49-F238E27FC236}">
                <a16:creationId xmlns:a16="http://schemas.microsoft.com/office/drawing/2014/main" id="{44EA6892-F10F-164E-5109-ED84CE738A8B}"/>
              </a:ext>
            </a:extLst>
          </p:cNvPr>
          <p:cNvSpPr>
            <a:spLocks noGrp="1"/>
          </p:cNvSpPr>
          <p:nvPr>
            <p:ph type="ftr" sz="quarter" idx="11"/>
          </p:nvPr>
        </p:nvSpPr>
        <p:spPr>
          <a:xfrm>
            <a:off x="343963" y="121602"/>
            <a:ext cx="4114800" cy="217173"/>
          </a:xfrm>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828D13AE-FD08-9C1F-6E91-5682E73EC069}"/>
              </a:ext>
            </a:extLst>
          </p:cNvPr>
          <p:cNvSpPr>
            <a:spLocks noGrp="1"/>
          </p:cNvSpPr>
          <p:nvPr>
            <p:ph type="sldNum" sz="quarter" idx="12"/>
          </p:nvPr>
        </p:nvSpPr>
        <p:spPr>
          <a:xfrm>
            <a:off x="11662148" y="99559"/>
            <a:ext cx="1059704" cy="261258"/>
          </a:xfrm>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193158889"/>
      </p:ext>
    </p:extLst>
  </p:cSld>
  <p:clrMapOvr>
    <a:overrideClrMapping bg1="lt1" tx1="dk1" bg2="lt2" tx2="dk2" accent1="accent1" accent2="accent2" accent3="accent3" accent4="accent4" accent5="accent5" accent6="accent6" hlink="hlink" folHlink="folHlink"/>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6 circle callou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5930"/>
            <a:ext cx="10325100" cy="1325563"/>
          </a:xfrm>
        </p:spPr>
        <p:txBody>
          <a:bodyPr/>
          <a:lstStyle/>
          <a:p>
            <a:r>
              <a:rPr lang="en-US"/>
              <a:t>Click to edit Master title style</a:t>
            </a:r>
          </a:p>
        </p:txBody>
      </p:sp>
      <p:grpSp>
        <p:nvGrpSpPr>
          <p:cNvPr id="6" name="그룹 1281">
            <a:extLst>
              <a:ext uri="{FF2B5EF4-FFF2-40B4-BE49-F238E27FC236}">
                <a16:creationId xmlns:a16="http://schemas.microsoft.com/office/drawing/2014/main" id="{65B4D3AB-B0EE-820C-F332-86B9B4FF4D7D}"/>
              </a:ext>
            </a:extLst>
          </p:cNvPr>
          <p:cNvGrpSpPr/>
          <p:nvPr userDrawn="1"/>
        </p:nvGrpSpPr>
        <p:grpSpPr>
          <a:xfrm>
            <a:off x="1143000" y="2505297"/>
            <a:ext cx="10056459" cy="2238357"/>
            <a:chOff x="1073086" y="2710034"/>
            <a:chExt cx="10056459" cy="2238357"/>
          </a:xfrm>
        </p:grpSpPr>
        <p:sp>
          <p:nvSpPr>
            <p:cNvPr id="8" name="Oval 6">
              <a:extLst>
                <a:ext uri="{FF2B5EF4-FFF2-40B4-BE49-F238E27FC236}">
                  <a16:creationId xmlns:a16="http://schemas.microsoft.com/office/drawing/2014/main" id="{1F23A632-C958-B035-7D29-4E36C3A8D927}"/>
                </a:ext>
              </a:extLst>
            </p:cNvPr>
            <p:cNvSpPr/>
            <p:nvPr/>
          </p:nvSpPr>
          <p:spPr>
            <a:xfrm rot="7200000" flipH="1">
              <a:off x="3914385"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5"/>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9" name="Oval 6">
              <a:extLst>
                <a:ext uri="{FF2B5EF4-FFF2-40B4-BE49-F238E27FC236}">
                  <a16:creationId xmlns:a16="http://schemas.microsoft.com/office/drawing/2014/main" id="{918FE6A1-233A-7F39-8799-6BFEF9149E32}"/>
                </a:ext>
              </a:extLst>
            </p:cNvPr>
            <p:cNvSpPr/>
            <p:nvPr/>
          </p:nvSpPr>
          <p:spPr>
            <a:xfrm rot="7200000" flipH="1">
              <a:off x="7460429"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3"/>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0" name="Oval 6">
              <a:extLst>
                <a:ext uri="{FF2B5EF4-FFF2-40B4-BE49-F238E27FC236}">
                  <a16:creationId xmlns:a16="http://schemas.microsoft.com/office/drawing/2014/main" id="{7E0B8266-3454-DEDE-28C4-30473AD029FF}"/>
                </a:ext>
              </a:extLst>
            </p:cNvPr>
            <p:cNvSpPr/>
            <p:nvPr/>
          </p:nvSpPr>
          <p:spPr>
            <a:xfrm rot="14400000">
              <a:off x="2141363"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6"/>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1" name="Oval 5">
              <a:extLst>
                <a:ext uri="{FF2B5EF4-FFF2-40B4-BE49-F238E27FC236}">
                  <a16:creationId xmlns:a16="http://schemas.microsoft.com/office/drawing/2014/main" id="{3229B04E-61C5-C43D-3D60-E218AEF16C01}"/>
                </a:ext>
              </a:extLst>
            </p:cNvPr>
            <p:cNvSpPr/>
            <p:nvPr/>
          </p:nvSpPr>
          <p:spPr>
            <a:xfrm>
              <a:off x="1073086" y="3714353"/>
              <a:ext cx="1234037" cy="1234038"/>
            </a:xfrm>
            <a:prstGeom prst="ellipse">
              <a:avLst/>
            </a:prstGeom>
            <a:solidFill>
              <a:schemeClr val="accent6"/>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2" name="타원 1286">
              <a:extLst>
                <a:ext uri="{FF2B5EF4-FFF2-40B4-BE49-F238E27FC236}">
                  <a16:creationId xmlns:a16="http://schemas.microsoft.com/office/drawing/2014/main" id="{2EA6EF24-8749-8BEF-326C-C125ACB2C20A}"/>
                </a:ext>
              </a:extLst>
            </p:cNvPr>
            <p:cNvSpPr/>
            <p:nvPr/>
          </p:nvSpPr>
          <p:spPr>
            <a:xfrm>
              <a:off x="1137335"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13" name="Oval 15">
              <a:extLst>
                <a:ext uri="{FF2B5EF4-FFF2-40B4-BE49-F238E27FC236}">
                  <a16:creationId xmlns:a16="http://schemas.microsoft.com/office/drawing/2014/main" id="{454E25E1-F59A-FADC-CD3F-CA7A84CCA1E2}"/>
                </a:ext>
              </a:extLst>
            </p:cNvPr>
            <p:cNvSpPr/>
            <p:nvPr/>
          </p:nvSpPr>
          <p:spPr>
            <a:xfrm>
              <a:off x="2837570" y="2710034"/>
              <a:ext cx="1234037" cy="1234038"/>
            </a:xfrm>
            <a:prstGeom prst="ellipse">
              <a:avLst/>
            </a:prstGeom>
            <a:solidFill>
              <a:schemeClr val="accent5"/>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4" name="Oval 6">
              <a:extLst>
                <a:ext uri="{FF2B5EF4-FFF2-40B4-BE49-F238E27FC236}">
                  <a16:creationId xmlns:a16="http://schemas.microsoft.com/office/drawing/2014/main" id="{FDA8283F-32E9-CA15-A705-995234E96ECB}"/>
                </a:ext>
              </a:extLst>
            </p:cNvPr>
            <p:cNvSpPr/>
            <p:nvPr/>
          </p:nvSpPr>
          <p:spPr>
            <a:xfrm rot="14400000">
              <a:off x="9209572" y="3041001"/>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2"/>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5" name="Oval 6">
              <a:extLst>
                <a:ext uri="{FF2B5EF4-FFF2-40B4-BE49-F238E27FC236}">
                  <a16:creationId xmlns:a16="http://schemas.microsoft.com/office/drawing/2014/main" id="{6613845B-FD2D-2942-2DAB-3AB4C444161F}"/>
                </a:ext>
              </a:extLst>
            </p:cNvPr>
            <p:cNvSpPr/>
            <p:nvPr/>
          </p:nvSpPr>
          <p:spPr>
            <a:xfrm rot="14400000">
              <a:off x="5687407"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4"/>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6" name="Oval 5">
              <a:extLst>
                <a:ext uri="{FF2B5EF4-FFF2-40B4-BE49-F238E27FC236}">
                  <a16:creationId xmlns:a16="http://schemas.microsoft.com/office/drawing/2014/main" id="{D2062A16-1962-16F4-8023-92D9AE84B52E}"/>
                </a:ext>
              </a:extLst>
            </p:cNvPr>
            <p:cNvSpPr/>
            <p:nvPr/>
          </p:nvSpPr>
          <p:spPr>
            <a:xfrm>
              <a:off x="4602054" y="3714353"/>
              <a:ext cx="1234037" cy="1234038"/>
            </a:xfrm>
            <a:prstGeom prst="ellipse">
              <a:avLst/>
            </a:prstGeom>
            <a:solidFill>
              <a:schemeClr val="accent4"/>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7" name="Oval 15">
              <a:extLst>
                <a:ext uri="{FF2B5EF4-FFF2-40B4-BE49-F238E27FC236}">
                  <a16:creationId xmlns:a16="http://schemas.microsoft.com/office/drawing/2014/main" id="{0ABE85E6-8EEE-628D-159D-8DE52BB344E7}"/>
                </a:ext>
              </a:extLst>
            </p:cNvPr>
            <p:cNvSpPr/>
            <p:nvPr/>
          </p:nvSpPr>
          <p:spPr>
            <a:xfrm>
              <a:off x="6366538" y="2710034"/>
              <a:ext cx="1234037" cy="1234038"/>
            </a:xfrm>
            <a:prstGeom prst="ellipse">
              <a:avLst/>
            </a:prstGeom>
            <a:solidFill>
              <a:schemeClr val="accent3"/>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8" name="Oval 18">
              <a:extLst>
                <a:ext uri="{FF2B5EF4-FFF2-40B4-BE49-F238E27FC236}">
                  <a16:creationId xmlns:a16="http://schemas.microsoft.com/office/drawing/2014/main" id="{8B1831B6-1987-F685-D305-1DFA4F6D16E4}"/>
                </a:ext>
              </a:extLst>
            </p:cNvPr>
            <p:cNvSpPr/>
            <p:nvPr/>
          </p:nvSpPr>
          <p:spPr>
            <a:xfrm>
              <a:off x="8131022" y="3714353"/>
              <a:ext cx="1234037" cy="1234038"/>
            </a:xfrm>
            <a:prstGeom prst="ellipse">
              <a:avLst/>
            </a:prstGeom>
            <a:solidFill>
              <a:schemeClr val="accent2"/>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9" name="Oval 21">
              <a:extLst>
                <a:ext uri="{FF2B5EF4-FFF2-40B4-BE49-F238E27FC236}">
                  <a16:creationId xmlns:a16="http://schemas.microsoft.com/office/drawing/2014/main" id="{753C5383-B157-55FB-8CE2-7456440E869D}"/>
                </a:ext>
              </a:extLst>
            </p:cNvPr>
            <p:cNvSpPr/>
            <p:nvPr/>
          </p:nvSpPr>
          <p:spPr>
            <a:xfrm>
              <a:off x="9895508" y="2710034"/>
              <a:ext cx="1234037" cy="1234038"/>
            </a:xfrm>
            <a:prstGeom prst="ellipse">
              <a:avLst/>
            </a:prstGeom>
            <a:solidFill>
              <a:schemeClr val="accent1"/>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21" name="타원 1295">
              <a:extLst>
                <a:ext uri="{FF2B5EF4-FFF2-40B4-BE49-F238E27FC236}">
                  <a16:creationId xmlns:a16="http://schemas.microsoft.com/office/drawing/2014/main" id="{BB2B1159-F287-F4D0-972D-AEB57CCA3AC0}"/>
                </a:ext>
              </a:extLst>
            </p:cNvPr>
            <p:cNvSpPr/>
            <p:nvPr/>
          </p:nvSpPr>
          <p:spPr>
            <a:xfrm>
              <a:off x="2901819"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accent5"/>
                </a:solidFill>
              </a:endParaRPr>
            </a:p>
          </p:txBody>
        </p:sp>
        <p:sp>
          <p:nvSpPr>
            <p:cNvPr id="22" name="타원 1296">
              <a:extLst>
                <a:ext uri="{FF2B5EF4-FFF2-40B4-BE49-F238E27FC236}">
                  <a16:creationId xmlns:a16="http://schemas.microsoft.com/office/drawing/2014/main" id="{3D44CC5B-C0AF-D2C2-BE76-D065ED9D3A38}"/>
                </a:ext>
              </a:extLst>
            </p:cNvPr>
            <p:cNvSpPr/>
            <p:nvPr/>
          </p:nvSpPr>
          <p:spPr>
            <a:xfrm>
              <a:off x="6430787"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3" name="타원 1297">
              <a:extLst>
                <a:ext uri="{FF2B5EF4-FFF2-40B4-BE49-F238E27FC236}">
                  <a16:creationId xmlns:a16="http://schemas.microsoft.com/office/drawing/2014/main" id="{8E47600E-B996-E6EC-B833-93E90D5A2297}"/>
                </a:ext>
              </a:extLst>
            </p:cNvPr>
            <p:cNvSpPr/>
            <p:nvPr/>
          </p:nvSpPr>
          <p:spPr>
            <a:xfrm>
              <a:off x="9955227"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4" name="타원 1298">
              <a:extLst>
                <a:ext uri="{FF2B5EF4-FFF2-40B4-BE49-F238E27FC236}">
                  <a16:creationId xmlns:a16="http://schemas.microsoft.com/office/drawing/2014/main" id="{047F897C-36C1-5E05-CC89-EBDFB90F4035}"/>
                </a:ext>
              </a:extLst>
            </p:cNvPr>
            <p:cNvSpPr/>
            <p:nvPr/>
          </p:nvSpPr>
          <p:spPr>
            <a:xfrm>
              <a:off x="8195271"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5" name="타원 1299">
              <a:extLst>
                <a:ext uri="{FF2B5EF4-FFF2-40B4-BE49-F238E27FC236}">
                  <a16:creationId xmlns:a16="http://schemas.microsoft.com/office/drawing/2014/main" id="{54EBFDB8-3C81-B0D3-B25E-E3CC580BDD36}"/>
                </a:ext>
              </a:extLst>
            </p:cNvPr>
            <p:cNvSpPr/>
            <p:nvPr/>
          </p:nvSpPr>
          <p:spPr>
            <a:xfrm>
              <a:off x="4666303"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grpSp>
      <p:sp>
        <p:nvSpPr>
          <p:cNvPr id="32" name="Text Placeholder 31">
            <a:extLst>
              <a:ext uri="{FF2B5EF4-FFF2-40B4-BE49-F238E27FC236}">
                <a16:creationId xmlns:a16="http://schemas.microsoft.com/office/drawing/2014/main" id="{17B16F72-40BA-E998-2257-D54EE6CEBAEE}"/>
              </a:ext>
            </a:extLst>
          </p:cNvPr>
          <p:cNvSpPr>
            <a:spLocks noGrp="1"/>
          </p:cNvSpPr>
          <p:nvPr>
            <p:ph type="body" sz="quarter" idx="12" hasCustomPrompt="1"/>
          </p:nvPr>
        </p:nvSpPr>
        <p:spPr>
          <a:xfrm>
            <a:off x="1143000" y="3648297"/>
            <a:ext cx="1143000" cy="990600"/>
          </a:xfrm>
        </p:spPr>
        <p:txBody>
          <a:bodyPr anchor="ctr">
            <a:normAutofit/>
          </a:bodyPr>
          <a:lstStyle>
            <a:lvl1pPr marL="0" indent="0" algn="ctr">
              <a:lnSpc>
                <a:spcPct val="85000"/>
              </a:lnSpc>
              <a:spcBef>
                <a:spcPts val="0"/>
              </a:spcBef>
              <a:buNone/>
              <a:defRPr sz="1600" b="1"/>
            </a:lvl1pPr>
          </a:lstStyle>
          <a:p>
            <a:pPr lvl="0"/>
            <a:r>
              <a:rPr lang="en-US" dirty="0"/>
              <a:t>Text</a:t>
            </a:r>
          </a:p>
        </p:txBody>
      </p:sp>
      <p:sp>
        <p:nvSpPr>
          <p:cNvPr id="33" name="Text Placeholder 31">
            <a:extLst>
              <a:ext uri="{FF2B5EF4-FFF2-40B4-BE49-F238E27FC236}">
                <a16:creationId xmlns:a16="http://schemas.microsoft.com/office/drawing/2014/main" id="{AAB8F30F-2FFC-20DD-A8F6-71024DC03C1C}"/>
              </a:ext>
            </a:extLst>
          </p:cNvPr>
          <p:cNvSpPr>
            <a:spLocks noGrp="1"/>
          </p:cNvSpPr>
          <p:nvPr>
            <p:ph type="body" sz="quarter" idx="13" hasCustomPrompt="1"/>
          </p:nvPr>
        </p:nvSpPr>
        <p:spPr>
          <a:xfrm>
            <a:off x="2971800" y="2657697"/>
            <a:ext cx="1143000" cy="990600"/>
          </a:xfrm>
        </p:spPr>
        <p:txBody>
          <a:bodyPr anchor="ctr">
            <a:normAutofit/>
          </a:bodyPr>
          <a:lstStyle>
            <a:lvl1pPr marL="0" indent="0" algn="ctr">
              <a:lnSpc>
                <a:spcPct val="85000"/>
              </a:lnSpc>
              <a:spcBef>
                <a:spcPts val="0"/>
              </a:spcBef>
              <a:buNone/>
              <a:defRPr sz="1600" b="1"/>
            </a:lvl1pPr>
          </a:lstStyle>
          <a:p>
            <a:pPr lvl="0"/>
            <a:r>
              <a:rPr lang="en-US" dirty="0"/>
              <a:t>Text</a:t>
            </a:r>
          </a:p>
        </p:txBody>
      </p:sp>
      <p:sp>
        <p:nvSpPr>
          <p:cNvPr id="34" name="Text Placeholder 31">
            <a:extLst>
              <a:ext uri="{FF2B5EF4-FFF2-40B4-BE49-F238E27FC236}">
                <a16:creationId xmlns:a16="http://schemas.microsoft.com/office/drawing/2014/main" id="{9BFAAFBE-22E7-798D-C75E-C8E828921180}"/>
              </a:ext>
            </a:extLst>
          </p:cNvPr>
          <p:cNvSpPr>
            <a:spLocks noGrp="1"/>
          </p:cNvSpPr>
          <p:nvPr>
            <p:ph type="body" sz="quarter" idx="14" hasCustomPrompt="1"/>
          </p:nvPr>
        </p:nvSpPr>
        <p:spPr>
          <a:xfrm>
            <a:off x="4724400" y="3648297"/>
            <a:ext cx="1143000" cy="990600"/>
          </a:xfrm>
        </p:spPr>
        <p:txBody>
          <a:bodyPr anchor="ctr">
            <a:normAutofit/>
          </a:bodyPr>
          <a:lstStyle>
            <a:lvl1pPr marL="0" indent="0" algn="ctr">
              <a:lnSpc>
                <a:spcPct val="85000"/>
              </a:lnSpc>
              <a:spcBef>
                <a:spcPts val="0"/>
              </a:spcBef>
              <a:buNone/>
              <a:defRPr sz="1600" b="1">
                <a:solidFill>
                  <a:schemeClr val="bg2">
                    <a:lumMod val="50000"/>
                  </a:schemeClr>
                </a:solidFill>
              </a:defRPr>
            </a:lvl1pPr>
          </a:lstStyle>
          <a:p>
            <a:pPr lvl="0"/>
            <a:r>
              <a:rPr lang="en-US" dirty="0"/>
              <a:t>Text</a:t>
            </a:r>
          </a:p>
        </p:txBody>
      </p:sp>
      <p:sp>
        <p:nvSpPr>
          <p:cNvPr id="35" name="Text Placeholder 31">
            <a:extLst>
              <a:ext uri="{FF2B5EF4-FFF2-40B4-BE49-F238E27FC236}">
                <a16:creationId xmlns:a16="http://schemas.microsoft.com/office/drawing/2014/main" id="{AB5386A6-EBCF-BE3F-9C99-5AC05501DAA9}"/>
              </a:ext>
            </a:extLst>
          </p:cNvPr>
          <p:cNvSpPr>
            <a:spLocks noGrp="1"/>
          </p:cNvSpPr>
          <p:nvPr>
            <p:ph type="body" sz="quarter" idx="15" hasCustomPrompt="1"/>
          </p:nvPr>
        </p:nvSpPr>
        <p:spPr>
          <a:xfrm>
            <a:off x="6477000" y="2657697"/>
            <a:ext cx="1143000" cy="990600"/>
          </a:xfrm>
        </p:spPr>
        <p:txBody>
          <a:bodyPr anchor="ctr">
            <a:normAutofit/>
          </a:bodyPr>
          <a:lstStyle>
            <a:lvl1pPr marL="0" indent="0" algn="ctr">
              <a:lnSpc>
                <a:spcPct val="85000"/>
              </a:lnSpc>
              <a:spcBef>
                <a:spcPts val="0"/>
              </a:spcBef>
              <a:buNone/>
              <a:defRPr sz="1600" b="1">
                <a:solidFill>
                  <a:schemeClr val="accent3">
                    <a:lumMod val="75000"/>
                  </a:schemeClr>
                </a:solidFill>
              </a:defRPr>
            </a:lvl1pPr>
          </a:lstStyle>
          <a:p>
            <a:pPr lvl="0"/>
            <a:r>
              <a:rPr lang="en-US" dirty="0"/>
              <a:t>Text</a:t>
            </a:r>
          </a:p>
        </p:txBody>
      </p:sp>
      <p:sp>
        <p:nvSpPr>
          <p:cNvPr id="36" name="Text Placeholder 31">
            <a:extLst>
              <a:ext uri="{FF2B5EF4-FFF2-40B4-BE49-F238E27FC236}">
                <a16:creationId xmlns:a16="http://schemas.microsoft.com/office/drawing/2014/main" id="{8FF922E3-5C68-F6E3-0485-A0E67CC88D80}"/>
              </a:ext>
            </a:extLst>
          </p:cNvPr>
          <p:cNvSpPr>
            <a:spLocks noGrp="1"/>
          </p:cNvSpPr>
          <p:nvPr>
            <p:ph type="body" sz="quarter" idx="16" hasCustomPrompt="1"/>
          </p:nvPr>
        </p:nvSpPr>
        <p:spPr>
          <a:xfrm>
            <a:off x="8229600" y="3648297"/>
            <a:ext cx="1143000" cy="990600"/>
          </a:xfrm>
        </p:spPr>
        <p:txBody>
          <a:bodyPr anchor="ctr">
            <a:normAutofit/>
          </a:bodyPr>
          <a:lstStyle>
            <a:lvl1pPr marL="0" indent="0" algn="ctr">
              <a:lnSpc>
                <a:spcPct val="85000"/>
              </a:lnSpc>
              <a:spcBef>
                <a:spcPts val="0"/>
              </a:spcBef>
              <a:buNone/>
              <a:defRPr sz="1600" b="1">
                <a:solidFill>
                  <a:schemeClr val="accent5"/>
                </a:solidFill>
              </a:defRPr>
            </a:lvl1pPr>
          </a:lstStyle>
          <a:p>
            <a:pPr lvl="0"/>
            <a:r>
              <a:rPr lang="en-US" dirty="0"/>
              <a:t>Text</a:t>
            </a:r>
          </a:p>
        </p:txBody>
      </p:sp>
      <p:sp>
        <p:nvSpPr>
          <p:cNvPr id="37" name="Text Placeholder 31">
            <a:extLst>
              <a:ext uri="{FF2B5EF4-FFF2-40B4-BE49-F238E27FC236}">
                <a16:creationId xmlns:a16="http://schemas.microsoft.com/office/drawing/2014/main" id="{C910256D-A8C2-E46B-A929-3267D33AA46D}"/>
              </a:ext>
            </a:extLst>
          </p:cNvPr>
          <p:cNvSpPr>
            <a:spLocks noGrp="1"/>
          </p:cNvSpPr>
          <p:nvPr>
            <p:ph type="body" sz="quarter" idx="17" hasCustomPrompt="1"/>
          </p:nvPr>
        </p:nvSpPr>
        <p:spPr>
          <a:xfrm>
            <a:off x="9982200" y="2657697"/>
            <a:ext cx="1143000" cy="990600"/>
          </a:xfrm>
        </p:spPr>
        <p:txBody>
          <a:bodyPr anchor="ctr">
            <a:normAutofit/>
          </a:bodyPr>
          <a:lstStyle>
            <a:lvl1pPr marL="0" indent="0" algn="ctr">
              <a:lnSpc>
                <a:spcPct val="85000"/>
              </a:lnSpc>
              <a:spcBef>
                <a:spcPts val="0"/>
              </a:spcBef>
              <a:buNone/>
              <a:defRPr sz="1600" b="1">
                <a:solidFill>
                  <a:schemeClr val="tx1"/>
                </a:solidFill>
              </a:defRPr>
            </a:lvl1pPr>
          </a:lstStyle>
          <a:p>
            <a:pPr lvl="0"/>
            <a:r>
              <a:rPr lang="en-US" dirty="0"/>
              <a:t>Text</a:t>
            </a:r>
          </a:p>
        </p:txBody>
      </p:sp>
      <p:sp>
        <p:nvSpPr>
          <p:cNvPr id="39" name="Text Placeholder 38">
            <a:extLst>
              <a:ext uri="{FF2B5EF4-FFF2-40B4-BE49-F238E27FC236}">
                <a16:creationId xmlns:a16="http://schemas.microsoft.com/office/drawing/2014/main" id="{0C26EF43-A591-ACB9-95D5-D2A6C44F70EB}"/>
              </a:ext>
            </a:extLst>
          </p:cNvPr>
          <p:cNvSpPr>
            <a:spLocks noGrp="1"/>
          </p:cNvSpPr>
          <p:nvPr>
            <p:ph type="body" sz="quarter" idx="18" hasCustomPrompt="1"/>
          </p:nvPr>
        </p:nvSpPr>
        <p:spPr>
          <a:xfrm>
            <a:off x="9144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2" name="Text Placeholder 38">
            <a:extLst>
              <a:ext uri="{FF2B5EF4-FFF2-40B4-BE49-F238E27FC236}">
                <a16:creationId xmlns:a16="http://schemas.microsoft.com/office/drawing/2014/main" id="{F2B1CEAB-5243-EF63-89D5-ADA49AA64D68}"/>
              </a:ext>
            </a:extLst>
          </p:cNvPr>
          <p:cNvSpPr>
            <a:spLocks noGrp="1"/>
          </p:cNvSpPr>
          <p:nvPr>
            <p:ph type="body" sz="quarter" idx="19" hasCustomPrompt="1"/>
          </p:nvPr>
        </p:nvSpPr>
        <p:spPr>
          <a:xfrm>
            <a:off x="25908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5"/>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3" name="Text Placeholder 38">
            <a:extLst>
              <a:ext uri="{FF2B5EF4-FFF2-40B4-BE49-F238E27FC236}">
                <a16:creationId xmlns:a16="http://schemas.microsoft.com/office/drawing/2014/main" id="{CDEDCD72-ECA0-F2D7-EC03-81843D0246E4}"/>
              </a:ext>
            </a:extLst>
          </p:cNvPr>
          <p:cNvSpPr>
            <a:spLocks noGrp="1"/>
          </p:cNvSpPr>
          <p:nvPr>
            <p:ph type="body" sz="quarter" idx="20" hasCustomPrompt="1"/>
          </p:nvPr>
        </p:nvSpPr>
        <p:spPr>
          <a:xfrm>
            <a:off x="44958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bg2">
                    <a:lumMod val="50000"/>
                  </a:schemeClr>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4" name="Text Placeholder 38">
            <a:extLst>
              <a:ext uri="{FF2B5EF4-FFF2-40B4-BE49-F238E27FC236}">
                <a16:creationId xmlns:a16="http://schemas.microsoft.com/office/drawing/2014/main" id="{2E0ED554-E380-3678-D783-DD39A1074860}"/>
              </a:ext>
            </a:extLst>
          </p:cNvPr>
          <p:cNvSpPr>
            <a:spLocks noGrp="1"/>
          </p:cNvSpPr>
          <p:nvPr>
            <p:ph type="body" sz="quarter" idx="21" hasCustomPrompt="1"/>
          </p:nvPr>
        </p:nvSpPr>
        <p:spPr>
          <a:xfrm>
            <a:off x="61722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3">
                    <a:lumMod val="75000"/>
                  </a:schemeClr>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5" name="Text Placeholder 38">
            <a:extLst>
              <a:ext uri="{FF2B5EF4-FFF2-40B4-BE49-F238E27FC236}">
                <a16:creationId xmlns:a16="http://schemas.microsoft.com/office/drawing/2014/main" id="{2DF7B12C-4A5F-2508-FCE7-35F125B54AD1}"/>
              </a:ext>
            </a:extLst>
          </p:cNvPr>
          <p:cNvSpPr>
            <a:spLocks noGrp="1"/>
          </p:cNvSpPr>
          <p:nvPr>
            <p:ph type="body" sz="quarter" idx="22" hasCustomPrompt="1"/>
          </p:nvPr>
        </p:nvSpPr>
        <p:spPr>
          <a:xfrm>
            <a:off x="96774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tx1"/>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6" name="Text Placeholder 38">
            <a:extLst>
              <a:ext uri="{FF2B5EF4-FFF2-40B4-BE49-F238E27FC236}">
                <a16:creationId xmlns:a16="http://schemas.microsoft.com/office/drawing/2014/main" id="{93AFFB44-33B2-D0D0-24B9-36F37009010E}"/>
              </a:ext>
            </a:extLst>
          </p:cNvPr>
          <p:cNvSpPr>
            <a:spLocks noGrp="1"/>
          </p:cNvSpPr>
          <p:nvPr>
            <p:ph type="body" sz="quarter" idx="23" hasCustomPrompt="1"/>
          </p:nvPr>
        </p:nvSpPr>
        <p:spPr>
          <a:xfrm>
            <a:off x="80772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5"/>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20" name="Footer Placeholder 5">
            <a:extLst>
              <a:ext uri="{FF2B5EF4-FFF2-40B4-BE49-F238E27FC236}">
                <a16:creationId xmlns:a16="http://schemas.microsoft.com/office/drawing/2014/main" id="{BE884C74-6A18-2B76-2CF5-D95B28456242}"/>
              </a:ext>
            </a:extLst>
          </p:cNvPr>
          <p:cNvSpPr>
            <a:spLocks noGrp="1"/>
          </p:cNvSpPr>
          <p:nvPr>
            <p:ph type="ftr" sz="quarter" idx="11"/>
          </p:nvPr>
        </p:nvSpPr>
        <p:spPr>
          <a:xfrm>
            <a:off x="343963" y="121602"/>
            <a:ext cx="4114800" cy="217173"/>
          </a:xfrm>
        </p:spPr>
        <p:txBody>
          <a:bodyPr/>
          <a:lstStyle/>
          <a:p>
            <a:r>
              <a:rPr lang="en-US" dirty="0"/>
              <a:t>Biological &amp; Physical Sciences</a:t>
            </a:r>
          </a:p>
        </p:txBody>
      </p:sp>
      <p:sp>
        <p:nvSpPr>
          <p:cNvPr id="26" name="Slide Number Placeholder 6">
            <a:extLst>
              <a:ext uri="{FF2B5EF4-FFF2-40B4-BE49-F238E27FC236}">
                <a16:creationId xmlns:a16="http://schemas.microsoft.com/office/drawing/2014/main" id="{229FCC9D-96AD-BA9E-BD6E-2A25D0A52792}"/>
              </a:ext>
            </a:extLst>
          </p:cNvPr>
          <p:cNvSpPr>
            <a:spLocks noGrp="1"/>
          </p:cNvSpPr>
          <p:nvPr>
            <p:ph type="sldNum" sz="quarter" idx="24"/>
          </p:nvPr>
        </p:nvSpPr>
        <p:spPr>
          <a:xfrm>
            <a:off x="11662148" y="99559"/>
            <a:ext cx="1059704" cy="261258"/>
          </a:xfrm>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82701918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876300" y="2990688"/>
            <a:ext cx="2992166" cy="335280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10522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4743450" y="2990688"/>
            <a:ext cx="2992166" cy="335280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49384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14" name="Rounded Rectangle 13">
            <a:extLst>
              <a:ext uri="{FF2B5EF4-FFF2-40B4-BE49-F238E27FC236}">
                <a16:creationId xmlns:a16="http://schemas.microsoft.com/office/drawing/2014/main" id="{E32725BC-06A4-BA3F-329D-CCFE76B565FA}"/>
              </a:ext>
              <a:ext uri="{C183D7F6-B498-43B3-948B-1728B52AA6E4}">
                <adec:decorative xmlns:adec="http://schemas.microsoft.com/office/drawing/2017/decorative" val="1"/>
              </a:ext>
            </a:extLst>
          </p:cNvPr>
          <p:cNvSpPr/>
          <p:nvPr userDrawn="1"/>
        </p:nvSpPr>
        <p:spPr>
          <a:xfrm>
            <a:off x="8610600" y="2990688"/>
            <a:ext cx="2992166" cy="3352800"/>
          </a:xfrm>
          <a:prstGeom prst="roundRect">
            <a:avLst>
              <a:gd name="adj" fmla="val 7754"/>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19" name="Text Placeholder 11">
            <a:extLst>
              <a:ext uri="{FF2B5EF4-FFF2-40B4-BE49-F238E27FC236}">
                <a16:creationId xmlns:a16="http://schemas.microsoft.com/office/drawing/2014/main" id="{455977AF-C60A-DDAC-F6C7-12C2309ECC7A}"/>
              </a:ext>
            </a:extLst>
          </p:cNvPr>
          <p:cNvSpPr>
            <a:spLocks noGrp="1"/>
          </p:cNvSpPr>
          <p:nvPr>
            <p:ph type="body" sz="quarter" idx="40" hasCustomPrompt="1"/>
          </p:nvPr>
        </p:nvSpPr>
        <p:spPr>
          <a:xfrm>
            <a:off x="87865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Tree>
    <p:extLst>
      <p:ext uri="{BB962C8B-B14F-4D97-AF65-F5344CB8AC3E}">
        <p14:creationId xmlns:p14="http://schemas.microsoft.com/office/powerpoint/2010/main" val="3668835841"/>
      </p:ext>
    </p:extLst>
  </p:cSld>
  <p:clrMapOvr>
    <a:overrideClrMapping bg1="lt1" tx1="dk1" bg2="lt2" tx2="dk2" accent1="accent1" accent2="accent2" accent3="accent3" accent4="accent4" accent5="accent5" accent6="accent6" hlink="hlink" folHlink="folHlink"/>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2_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937827" y="2990688"/>
            <a:ext cx="2040528" cy="320139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1076578"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3056593" y="2990688"/>
            <a:ext cx="2040528" cy="320139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3191556"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14" name="Rounded Rectangle 13">
            <a:extLst>
              <a:ext uri="{FF2B5EF4-FFF2-40B4-BE49-F238E27FC236}">
                <a16:creationId xmlns:a16="http://schemas.microsoft.com/office/drawing/2014/main" id="{E32725BC-06A4-BA3F-329D-CCFE76B565FA}"/>
              </a:ext>
              <a:ext uri="{C183D7F6-B498-43B3-948B-1728B52AA6E4}">
                <adec:decorative xmlns:adec="http://schemas.microsoft.com/office/drawing/2017/decorative" val="1"/>
              </a:ext>
            </a:extLst>
          </p:cNvPr>
          <p:cNvSpPr/>
          <p:nvPr userDrawn="1"/>
        </p:nvSpPr>
        <p:spPr>
          <a:xfrm>
            <a:off x="5173465" y="2990688"/>
            <a:ext cx="2040528" cy="3201390"/>
          </a:xfrm>
          <a:prstGeom prst="roundRect">
            <a:avLst>
              <a:gd name="adj" fmla="val 7754"/>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19" name="Text Placeholder 11">
            <a:extLst>
              <a:ext uri="{FF2B5EF4-FFF2-40B4-BE49-F238E27FC236}">
                <a16:creationId xmlns:a16="http://schemas.microsoft.com/office/drawing/2014/main" id="{455977AF-C60A-DDAC-F6C7-12C2309ECC7A}"/>
              </a:ext>
            </a:extLst>
          </p:cNvPr>
          <p:cNvSpPr>
            <a:spLocks noGrp="1"/>
          </p:cNvSpPr>
          <p:nvPr>
            <p:ph type="body" sz="quarter" idx="40" hasCustomPrompt="1"/>
          </p:nvPr>
        </p:nvSpPr>
        <p:spPr>
          <a:xfrm>
            <a:off x="5310322"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 </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
        <p:nvSpPr>
          <p:cNvPr id="3" name="Rounded Rectangle 2">
            <a:extLst>
              <a:ext uri="{FF2B5EF4-FFF2-40B4-BE49-F238E27FC236}">
                <a16:creationId xmlns:a16="http://schemas.microsoft.com/office/drawing/2014/main" id="{0432080B-6328-C238-809D-F9FE08C793E4}"/>
              </a:ext>
              <a:ext uri="{C183D7F6-B498-43B3-948B-1728B52AA6E4}">
                <adec:decorative xmlns:adec="http://schemas.microsoft.com/office/drawing/2017/decorative" val="1"/>
              </a:ext>
            </a:extLst>
          </p:cNvPr>
          <p:cNvSpPr/>
          <p:nvPr userDrawn="1"/>
        </p:nvSpPr>
        <p:spPr>
          <a:xfrm>
            <a:off x="7290337" y="3026141"/>
            <a:ext cx="2040528" cy="320139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4" name="Text Placeholder 11">
            <a:extLst>
              <a:ext uri="{FF2B5EF4-FFF2-40B4-BE49-F238E27FC236}">
                <a16:creationId xmlns:a16="http://schemas.microsoft.com/office/drawing/2014/main" id="{A3BA1372-7071-371E-C28F-CBE6820DA6FE}"/>
              </a:ext>
            </a:extLst>
          </p:cNvPr>
          <p:cNvSpPr>
            <a:spLocks noGrp="1"/>
          </p:cNvSpPr>
          <p:nvPr>
            <p:ph type="body" sz="quarter" idx="41" hasCustomPrompt="1"/>
          </p:nvPr>
        </p:nvSpPr>
        <p:spPr>
          <a:xfrm>
            <a:off x="7427194" y="3330941"/>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8" name="Rounded Rectangle 7">
            <a:extLst>
              <a:ext uri="{FF2B5EF4-FFF2-40B4-BE49-F238E27FC236}">
                <a16:creationId xmlns:a16="http://schemas.microsoft.com/office/drawing/2014/main" id="{8711E0B1-10A5-78B2-3136-3CD932F231FC}"/>
              </a:ext>
              <a:ext uri="{C183D7F6-B498-43B3-948B-1728B52AA6E4}">
                <adec:decorative xmlns:adec="http://schemas.microsoft.com/office/drawing/2017/decorative" val="1"/>
              </a:ext>
            </a:extLst>
          </p:cNvPr>
          <p:cNvSpPr/>
          <p:nvPr userDrawn="1"/>
        </p:nvSpPr>
        <p:spPr>
          <a:xfrm>
            <a:off x="9407209" y="2990688"/>
            <a:ext cx="2040528" cy="320139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9" name="Text Placeholder 11">
            <a:extLst>
              <a:ext uri="{FF2B5EF4-FFF2-40B4-BE49-F238E27FC236}">
                <a16:creationId xmlns:a16="http://schemas.microsoft.com/office/drawing/2014/main" id="{9ACE081D-D73A-A411-BCD4-2DCBE78B8CE8}"/>
              </a:ext>
            </a:extLst>
          </p:cNvPr>
          <p:cNvSpPr>
            <a:spLocks noGrp="1"/>
          </p:cNvSpPr>
          <p:nvPr>
            <p:ph type="body" sz="quarter" idx="42" hasCustomPrompt="1"/>
          </p:nvPr>
        </p:nvSpPr>
        <p:spPr>
          <a:xfrm>
            <a:off x="9544066"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Tree>
    <p:extLst>
      <p:ext uri="{BB962C8B-B14F-4D97-AF65-F5344CB8AC3E}">
        <p14:creationId xmlns:p14="http://schemas.microsoft.com/office/powerpoint/2010/main" val="1284666090"/>
      </p:ext>
    </p:extLst>
  </p:cSld>
  <p:clrMapOvr>
    <a:overrideClrMapping bg1="lt1" tx1="dk1" bg2="lt2" tx2="dk2" accent1="accent1" accent2="accent2" accent3="accent3" accent4="accent4" accent5="accent5" accent6="accent6" hlink="hlink" folHlink="folHlink"/>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1_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2695161" y="2990688"/>
            <a:ext cx="2992166" cy="3352800"/>
          </a:xfrm>
          <a:prstGeom prst="roundRect">
            <a:avLst>
              <a:gd name="adj" fmla="val 7754"/>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2871138"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6562311" y="2990688"/>
            <a:ext cx="2992166" cy="335280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6757338"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Tree>
    <p:extLst>
      <p:ext uri="{BB962C8B-B14F-4D97-AF65-F5344CB8AC3E}">
        <p14:creationId xmlns:p14="http://schemas.microsoft.com/office/powerpoint/2010/main" val="3468811975"/>
      </p:ext>
    </p:extLst>
  </p:cSld>
  <p:clrMapOvr>
    <a:overrideClrMapping bg1="lt1" tx1="dk1" bg2="lt2" tx2="dk2" accent1="accent1" accent2="accent2" accent3="accent3" accent4="accent4" accent5="accent5" accent6="accent6" hlink="hlink" folHlink="folHlink"/>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09C14A-6496-6376-2B3E-AD74A612CDF4}"/>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3F21821F-FB3A-F9EE-D0DE-E887A37D654C}"/>
              </a:ext>
            </a:extLst>
          </p:cNvPr>
          <p:cNvSpPr>
            <a:spLocks noGrp="1"/>
          </p:cNvSpPr>
          <p:nvPr>
            <p:ph type="body" idx="1"/>
          </p:nvPr>
        </p:nvSpPr>
        <p:spPr>
          <a:xfrm>
            <a:off x="914400" y="2203704"/>
            <a:ext cx="4983162"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007C9A69-852A-95D0-640F-0A9AD66D09FE}"/>
              </a:ext>
            </a:extLst>
          </p:cNvPr>
          <p:cNvSpPr>
            <a:spLocks noGrp="1"/>
          </p:cNvSpPr>
          <p:nvPr>
            <p:ph sz="half" idx="2"/>
          </p:nvPr>
        </p:nvSpPr>
        <p:spPr>
          <a:xfrm>
            <a:off x="914400" y="3173412"/>
            <a:ext cx="4983162" cy="34950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25212BA-716C-43F7-C564-5796945A1860}"/>
              </a:ext>
            </a:extLst>
          </p:cNvPr>
          <p:cNvSpPr>
            <a:spLocks noGrp="1"/>
          </p:cNvSpPr>
          <p:nvPr>
            <p:ph type="body" sz="quarter" idx="3"/>
          </p:nvPr>
        </p:nvSpPr>
        <p:spPr>
          <a:xfrm>
            <a:off x="6273105" y="2203704"/>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7DF0997-D7AA-3B69-46B5-3C52DC86C8DE}"/>
              </a:ext>
            </a:extLst>
          </p:cNvPr>
          <p:cNvSpPr>
            <a:spLocks noGrp="1"/>
          </p:cNvSpPr>
          <p:nvPr>
            <p:ph sz="quarter" idx="4"/>
          </p:nvPr>
        </p:nvSpPr>
        <p:spPr>
          <a:xfrm>
            <a:off x="6273105" y="3173412"/>
            <a:ext cx="5183188" cy="34950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ooter Placeholder 7">
            <a:extLst>
              <a:ext uri="{FF2B5EF4-FFF2-40B4-BE49-F238E27FC236}">
                <a16:creationId xmlns:a16="http://schemas.microsoft.com/office/drawing/2014/main" id="{9D455EE4-619A-8EFD-2C75-330D157D9EDB}"/>
              </a:ext>
            </a:extLst>
          </p:cNvPr>
          <p:cNvSpPr>
            <a:spLocks noGrp="1"/>
          </p:cNvSpPr>
          <p:nvPr>
            <p:ph type="ftr" sz="quarter" idx="11"/>
          </p:nvPr>
        </p:nvSpPr>
        <p:spPr/>
        <p:txBody>
          <a:bodyPr/>
          <a:lstStyle/>
          <a:p>
            <a:r>
              <a:rPr lang="en-US" dirty="0"/>
              <a:t>Biological &amp; Physical Sciences</a:t>
            </a:r>
          </a:p>
        </p:txBody>
      </p:sp>
      <p:sp>
        <p:nvSpPr>
          <p:cNvPr id="9" name="Slide Number Placeholder 8">
            <a:extLst>
              <a:ext uri="{FF2B5EF4-FFF2-40B4-BE49-F238E27FC236}">
                <a16:creationId xmlns:a16="http://schemas.microsoft.com/office/drawing/2014/main" id="{C218C5AC-C080-2EB1-1F82-F057A282D7E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54035756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p:nvPr>
        </p:nvSpPr>
        <p:spPr>
          <a:xfrm>
            <a:off x="914400" y="755930"/>
            <a:ext cx="10325100" cy="1325563"/>
          </a:xfrm>
        </p:spPr>
        <p:txBody>
          <a:body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64950917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Only" preserve="1">
  <p:cSld name="1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descr="A white symbol on a brown circle&#10;&#10;Description automatically generated">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324130681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2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188852176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titleOnly" preserve="1">
  <p:cSld name="3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3830605519"/>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itleOnly" preserve="1">
  <p:cSld name="4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print">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279756687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58259536-D612-272A-D0AD-1D0145988D36}"/>
              </a:ext>
            </a:extLst>
          </p:cNvPr>
          <p:cNvSpPr>
            <a:spLocks noGrp="1"/>
          </p:cNvSpPr>
          <p:nvPr>
            <p:ph type="ftr" sz="quarter" idx="11"/>
          </p:nvPr>
        </p:nvSpPr>
        <p:spPr/>
        <p:txBody>
          <a:bodyPr/>
          <a:lstStyle/>
          <a:p>
            <a:r>
              <a:rPr lang="en-US" dirty="0"/>
              <a:t>Biological &amp; Physical Sciences</a:t>
            </a:r>
          </a:p>
        </p:txBody>
      </p:sp>
      <p:sp>
        <p:nvSpPr>
          <p:cNvPr id="4" name="Slide Number Placeholder 3">
            <a:extLst>
              <a:ext uri="{FF2B5EF4-FFF2-40B4-BE49-F238E27FC236}">
                <a16:creationId xmlns:a16="http://schemas.microsoft.com/office/drawing/2014/main" id="{571A510F-03EC-A6BB-D8AE-182AFD52C8B2}"/>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60577980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9E54A3-AB3C-35BD-6098-13B595E84A94}"/>
              </a:ext>
            </a:extLst>
          </p:cNvPr>
          <p:cNvSpPr>
            <a:spLocks noGrp="1"/>
          </p:cNvSpPr>
          <p:nvPr>
            <p:ph type="title"/>
          </p:nvPr>
        </p:nvSpPr>
        <p:spPr>
          <a:xfrm>
            <a:off x="914400" y="758952"/>
            <a:ext cx="3932237" cy="1600200"/>
          </a:xfrm>
        </p:spPr>
        <p:txBody>
          <a:bodyPr anchor="b"/>
          <a:lstStyle>
            <a:lvl1pPr>
              <a:defRPr sz="32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71C3EF45-FFD0-8EC1-3E51-7B4572F3A59A}"/>
              </a:ext>
            </a:extLst>
          </p:cNvPr>
          <p:cNvSpPr>
            <a:spLocks noGrp="1"/>
          </p:cNvSpPr>
          <p:nvPr>
            <p:ph idx="1"/>
          </p:nvPr>
        </p:nvSpPr>
        <p:spPr>
          <a:xfrm>
            <a:off x="5105400" y="1103971"/>
            <a:ext cx="6556748" cy="5211066"/>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04A3246F-34BC-6307-9619-06751D531DA2}"/>
              </a:ext>
            </a:extLst>
          </p:cNvPr>
          <p:cNvSpPr>
            <a:spLocks noGrp="1"/>
          </p:cNvSpPr>
          <p:nvPr>
            <p:ph type="body" sz="half" idx="2"/>
          </p:nvPr>
        </p:nvSpPr>
        <p:spPr>
          <a:xfrm>
            <a:off x="914399" y="2503449"/>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6" name="Footer Placeholder 5">
            <a:extLst>
              <a:ext uri="{FF2B5EF4-FFF2-40B4-BE49-F238E27FC236}">
                <a16:creationId xmlns:a16="http://schemas.microsoft.com/office/drawing/2014/main" id="{8FDF21F7-6214-7E6B-A5E6-69AAAA30330A}"/>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B5A02BA3-BB8A-AC85-A750-93E59432E3A8}"/>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91550471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59C9C3-CF27-8B06-2E66-2BB1FCAD726F}"/>
              </a:ext>
            </a:extLst>
          </p:cNvPr>
          <p:cNvSpPr>
            <a:spLocks noGrp="1"/>
          </p:cNvSpPr>
          <p:nvPr>
            <p:ph type="title"/>
          </p:nvPr>
        </p:nvSpPr>
        <p:spPr>
          <a:xfrm>
            <a:off x="914400" y="758952"/>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38B7967-4936-AE6D-0BBD-BCE482FF4262}"/>
              </a:ext>
            </a:extLst>
          </p:cNvPr>
          <p:cNvSpPr>
            <a:spLocks noGrp="1"/>
          </p:cNvSpPr>
          <p:nvPr>
            <p:ph type="pic" idx="1"/>
          </p:nvPr>
        </p:nvSpPr>
        <p:spPr>
          <a:xfrm>
            <a:off x="5102352" y="1106424"/>
            <a:ext cx="6518834" cy="5235376"/>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A391E6CC-1128-78C6-3309-EDCFE3E4C724}"/>
              </a:ext>
            </a:extLst>
          </p:cNvPr>
          <p:cNvSpPr>
            <a:spLocks noGrp="1"/>
          </p:cNvSpPr>
          <p:nvPr>
            <p:ph type="body" sz="half" idx="2"/>
          </p:nvPr>
        </p:nvSpPr>
        <p:spPr>
          <a:xfrm>
            <a:off x="914400" y="2505456"/>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6" name="Footer Placeholder 5">
            <a:extLst>
              <a:ext uri="{FF2B5EF4-FFF2-40B4-BE49-F238E27FC236}">
                <a16:creationId xmlns:a16="http://schemas.microsoft.com/office/drawing/2014/main" id="{B6FB39B1-5B40-FE1F-3045-DD90E2A822A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6177EE0B-14D8-097A-37A8-4FBF55301754}"/>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391273746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F5B7E2-6845-38D7-8C84-05645DB92747}"/>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5" name="Footer Placeholder 4">
            <a:extLst>
              <a:ext uri="{FF2B5EF4-FFF2-40B4-BE49-F238E27FC236}">
                <a16:creationId xmlns:a16="http://schemas.microsoft.com/office/drawing/2014/main" id="{A47FDE4B-421A-55A0-7AEA-42BC2BDCD38C}"/>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CBB340CA-3171-FB84-4A04-1522D74B5D1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4891174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1_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F5B7E2-6845-38D7-8C84-05645DB92747}"/>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5" name="Footer Placeholder 4">
            <a:extLst>
              <a:ext uri="{FF2B5EF4-FFF2-40B4-BE49-F238E27FC236}">
                <a16:creationId xmlns:a16="http://schemas.microsoft.com/office/drawing/2014/main" id="{A47FDE4B-421A-55A0-7AEA-42BC2BDCD38C}"/>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CBB340CA-3171-FB84-4A04-1522D74B5D1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224307171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theme" Target="../theme/theme1.xml"/><Relationship Id="rId33" Type="http://schemas.openxmlformats.org/officeDocument/2006/relationships/image" Target="../media/image1.jpeg"/><Relationship Id="rId3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gradFill>
          <a:gsLst>
            <a:gs pos="0">
              <a:srgbClr val="D4BF88">
                <a:alpha val="75162"/>
              </a:srgbClr>
            </a:gs>
            <a:gs pos="39000">
              <a:schemeClr val="bg1"/>
            </a:gs>
          </a:gsLst>
          <a:lin ang="8100000" scaled="1"/>
        </a:gra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7F53D41-B3D9-0856-DEBB-57C725BD4CCF}"/>
              </a:ext>
            </a:extLst>
          </p:cNvPr>
          <p:cNvSpPr>
            <a:spLocks noGrp="1"/>
          </p:cNvSpPr>
          <p:nvPr>
            <p:ph type="title"/>
          </p:nvPr>
        </p:nvSpPr>
        <p:spPr>
          <a:xfrm>
            <a:off x="933450" y="755930"/>
            <a:ext cx="103251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2B7F6990-E15B-701E-55A2-00590A07CB4F}"/>
              </a:ext>
            </a:extLst>
          </p:cNvPr>
          <p:cNvSpPr>
            <a:spLocks noGrp="1"/>
          </p:cNvSpPr>
          <p:nvPr>
            <p:ph type="body" idx="1"/>
          </p:nvPr>
        </p:nvSpPr>
        <p:spPr>
          <a:xfrm>
            <a:off x="933450" y="2216430"/>
            <a:ext cx="103251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7" name="Picture 6">
            <a:extLst>
              <a:ext uri="{FF2B5EF4-FFF2-40B4-BE49-F238E27FC236}">
                <a16:creationId xmlns:a16="http://schemas.microsoft.com/office/drawing/2014/main" id="{3C0E2C12-EE6A-20CB-09F3-55836BC3394C}"/>
              </a:ext>
            </a:extLst>
          </p:cNvPr>
          <p:cNvPicPr>
            <a:picLocks noChangeAspect="1"/>
          </p:cNvPicPr>
          <p:nvPr userDrawn="1"/>
        </p:nvPicPr>
        <p:blipFill rotWithShape="1">
          <a:blip r:embed="rId33" cstate="screen">
            <a:extLst>
              <a:ext uri="{28A0092B-C50C-407E-A947-70E740481C1C}">
                <a14:useLocalDpi xmlns:a14="http://schemas.microsoft.com/office/drawing/2010/main"/>
              </a:ext>
            </a:extLst>
          </a:blip>
          <a:srcRect/>
          <a:stretch/>
        </p:blipFill>
        <p:spPr>
          <a:xfrm>
            <a:off x="0" y="-47324"/>
            <a:ext cx="12192000" cy="529216"/>
          </a:xfrm>
          <a:prstGeom prst="rect">
            <a:avLst/>
          </a:prstGeom>
        </p:spPr>
      </p:pic>
      <p:pic>
        <p:nvPicPr>
          <p:cNvPr id="8" name="Picture 7" descr="A black background with grey letters&#10;&#10;Description automatically generated">
            <a:extLst>
              <a:ext uri="{FF2B5EF4-FFF2-40B4-BE49-F238E27FC236}">
                <a16:creationId xmlns:a16="http://schemas.microsoft.com/office/drawing/2014/main" id="{119BBE9E-4D69-14CD-9511-13BB4AA55DFA}"/>
              </a:ext>
            </a:extLst>
          </p:cNvPr>
          <p:cNvPicPr>
            <a:picLocks noChangeAspect="1"/>
          </p:cNvPicPr>
          <p:nvPr userDrawn="1"/>
        </p:nvPicPr>
        <p:blipFill rotWithShape="1">
          <a:blip r:embed="rId34" cstate="screen">
            <a:alphaModFix amt="23000"/>
            <a:extLst>
              <a:ext uri="{28A0092B-C50C-407E-A947-70E740481C1C}">
                <a14:useLocalDpi xmlns:a14="http://schemas.microsoft.com/office/drawing/2010/main"/>
              </a:ext>
            </a:extLst>
          </a:blip>
          <a:srcRect/>
          <a:stretch/>
        </p:blipFill>
        <p:spPr>
          <a:xfrm>
            <a:off x="0" y="-50077"/>
            <a:ext cx="1201897" cy="531969"/>
          </a:xfrm>
          <a:prstGeom prst="rect">
            <a:avLst/>
          </a:prstGeom>
        </p:spPr>
      </p:pic>
      <p:sp>
        <p:nvSpPr>
          <p:cNvPr id="6" name="Slide Number Placeholder 5">
            <a:extLst>
              <a:ext uri="{FF2B5EF4-FFF2-40B4-BE49-F238E27FC236}">
                <a16:creationId xmlns:a16="http://schemas.microsoft.com/office/drawing/2014/main" id="{37322777-339B-9F56-577C-65AD89F9C7A5}"/>
              </a:ext>
            </a:extLst>
          </p:cNvPr>
          <p:cNvSpPr>
            <a:spLocks noGrp="1"/>
          </p:cNvSpPr>
          <p:nvPr>
            <p:ph type="sldNum" sz="quarter" idx="4"/>
          </p:nvPr>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lvl1pPr algn="l">
              <a:defRPr sz="1100" b="1">
                <a:solidFill>
                  <a:schemeClr val="bg1"/>
                </a:solidFill>
              </a:defRPr>
            </a:lvl1pPr>
          </a:lstStyle>
          <a:p>
            <a:fld id="{E8618032-BA8D-3D4D-8253-A70208A85976}" type="slidenum">
              <a:rPr lang="en-US" smtClean="0"/>
              <a:pPr/>
              <a:t>‹#›</a:t>
            </a:fld>
            <a:endParaRPr lang="en-US" dirty="0"/>
          </a:p>
        </p:txBody>
      </p:sp>
      <p:sp>
        <p:nvSpPr>
          <p:cNvPr id="5" name="Footer Placeholder 4">
            <a:extLst>
              <a:ext uri="{FF2B5EF4-FFF2-40B4-BE49-F238E27FC236}">
                <a16:creationId xmlns:a16="http://schemas.microsoft.com/office/drawing/2014/main" id="{D5538D45-6410-BA73-9765-65C75CDC4742}"/>
              </a:ext>
            </a:extLst>
          </p:cNvPr>
          <p:cNvSpPr>
            <a:spLocks noGrp="1"/>
          </p:cNvSpPr>
          <p:nvPr>
            <p:ph type="ftr" sz="quarter" idx="3"/>
          </p:nvPr>
        </p:nvSpPr>
        <p:spPr>
          <a:xfrm>
            <a:off x="343963" y="121602"/>
            <a:ext cx="4114800" cy="217173"/>
          </a:xfrm>
          <a:prstGeom prst="rect">
            <a:avLst/>
          </a:prstGeom>
        </p:spPr>
        <p:txBody>
          <a:bodyPr vert="horz" lIns="91440" tIns="45720" rIns="91440" bIns="45720" rtlCol="0" anchor="ctr"/>
          <a:lstStyle>
            <a:lvl1pPr algn="l">
              <a:defRPr sz="900">
                <a:solidFill>
                  <a:schemeClr val="bg1">
                    <a:alpha val="75167"/>
                  </a:schemeClr>
                </a:solidFill>
              </a:defRPr>
            </a:lvl1pPr>
          </a:lstStyle>
          <a:p>
            <a:r>
              <a:rPr lang="en-US" dirty="0"/>
              <a:t>Biological &amp; Physical Sciences</a:t>
            </a:r>
          </a:p>
        </p:txBody>
      </p:sp>
    </p:spTree>
    <p:extLst>
      <p:ext uri="{BB962C8B-B14F-4D97-AF65-F5344CB8AC3E}">
        <p14:creationId xmlns:p14="http://schemas.microsoft.com/office/powerpoint/2010/main" val="889173761"/>
      </p:ext>
    </p:extLst>
  </p:cSld>
  <p:clrMap bg1="lt1" tx1="dk1" bg2="lt2" tx2="dk2" accent1="accent1" accent2="accent2" accent3="accent3" accent4="accent4" accent5="accent5" accent6="accent6" hlink="hlink" folHlink="folHlink"/>
  <p:sldLayoutIdLst>
    <p:sldLayoutId id="2147483688" r:id="rId1"/>
    <p:sldLayoutId id="2147483680" r:id="rId2"/>
    <p:sldLayoutId id="2147483661" r:id="rId3"/>
    <p:sldLayoutId id="2147483682" r:id="rId4"/>
    <p:sldLayoutId id="2147483691" r:id="rId5"/>
    <p:sldLayoutId id="2147483662" r:id="rId6"/>
    <p:sldLayoutId id="2147483692" r:id="rId7"/>
    <p:sldLayoutId id="2147483663" r:id="rId8"/>
    <p:sldLayoutId id="2147483674" r:id="rId9"/>
    <p:sldLayoutId id="2147483675" r:id="rId10"/>
    <p:sldLayoutId id="2147483676" r:id="rId11"/>
    <p:sldLayoutId id="2147483681" r:id="rId12"/>
    <p:sldLayoutId id="2147483677" r:id="rId13"/>
    <p:sldLayoutId id="2147483678" r:id="rId14"/>
    <p:sldLayoutId id="2147483683" r:id="rId15"/>
    <p:sldLayoutId id="2147483672" r:id="rId16"/>
    <p:sldLayoutId id="2147483679" r:id="rId17"/>
    <p:sldLayoutId id="2147483673" r:id="rId18"/>
    <p:sldLayoutId id="2147483690" r:id="rId19"/>
    <p:sldLayoutId id="2147483689" r:id="rId20"/>
    <p:sldLayoutId id="2147483664" r:id="rId21"/>
    <p:sldLayoutId id="2147483665" r:id="rId22"/>
    <p:sldLayoutId id="2147483684" r:id="rId23"/>
    <p:sldLayoutId id="2147483685" r:id="rId24"/>
    <p:sldLayoutId id="2147483686" r:id="rId25"/>
    <p:sldLayoutId id="2147483687" r:id="rId26"/>
    <p:sldLayoutId id="2147483666" r:id="rId27"/>
    <p:sldLayoutId id="2147483667" r:id="rId28"/>
    <p:sldLayoutId id="2147483668" r:id="rId29"/>
    <p:sldLayoutId id="2147483669" r:id="rId30"/>
    <p:sldLayoutId id="2147483658" r:id="rId31"/>
  </p:sldLayoutIdLst>
  <p:hf hdr="0"/>
  <p:txStyles>
    <p:titleStyle>
      <a:lvl1pPr algn="l" defTabSz="914400" rtl="0" eaLnBrk="1" latinLnBrk="0" hangingPunct="1">
        <a:lnSpc>
          <a:spcPct val="90000"/>
        </a:lnSpc>
        <a:spcBef>
          <a:spcPct val="0"/>
        </a:spcBef>
        <a:buNone/>
        <a:defRPr sz="4400" b="1" kern="1200">
          <a:solidFill>
            <a:schemeClr val="tx1"/>
          </a:solidFill>
          <a:latin typeface="+mn-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7.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8.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9.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E5D3E717-6970-91B9-68BB-B9CE473EC22E}"/>
              </a:ext>
            </a:extLst>
          </p:cNvPr>
          <p:cNvSpPr>
            <a:spLocks noGrp="1"/>
          </p:cNvSpPr>
          <p:nvPr>
            <p:ph type="subTitle" idx="1"/>
          </p:nvPr>
        </p:nvSpPr>
        <p:spPr>
          <a:xfrm>
            <a:off x="500101" y="3895025"/>
            <a:ext cx="4774425" cy="1429109"/>
          </a:xfrm>
        </p:spPr>
        <p:txBody>
          <a:bodyPr vert="horz" wrap="square" lIns="91440" tIns="45720" rIns="91440" bIns="45720" rtlCol="0" anchor="t">
            <a:spAutoFit/>
          </a:bodyPr>
          <a:lstStyle/>
          <a:p>
            <a:pPr>
              <a:spcAft>
                <a:spcPts val="200"/>
              </a:spcAft>
            </a:pPr>
            <a:r>
              <a:rPr sz="2100" b="1">
                <a:solidFill>
                  <a:srgbClr val="FFFFFF"/>
                </a:solidFill>
                <a:latin typeface="Arial"/>
              </a:rPr>
              <a:t>Jason Trinh</a:t>
            </a:r>
          </a:p>
          <a:p>
            <a:pPr>
              <a:spcAft>
                <a:spcPts val="200"/>
              </a:spcAft>
            </a:pPr>
            <a:r>
              <a:rPr sz="1400" b="0">
                <a:solidFill>
                  <a:srgbClr val="FFFFFF"/>
                </a:solidFill>
                <a:latin typeface="Arial"/>
              </a:rPr>
              <a:t>EECS | UC Berkeley</a:t>
            </a:r>
          </a:p>
          <a:p>
            <a:pPr>
              <a:spcAft>
                <a:spcPts val="200"/>
              </a:spcAft>
            </a:pPr>
            <a:r>
              <a:rPr sz="600" b="0">
                <a:solidFill>
                  <a:srgbClr val="FFFFFF"/>
                </a:solidFill>
                <a:latin typeface="Arial"/>
              </a:rPr>
              <a:t/>
            </a:r>
          </a:p>
          <a:p>
            <a:pPr>
              <a:spcAft>
                <a:spcPts val="200"/>
              </a:spcAft>
            </a:pPr>
            <a:r>
              <a:rPr sz="1300" b="0">
                <a:solidFill>
                  <a:srgbClr val="FFFFFF"/>
                </a:solidFill>
                <a:latin typeface="Arial"/>
              </a:rPr>
              <a:t>Mentor: James Casaletto | August 2026</a:t>
            </a:r>
          </a:p>
        </p:txBody>
      </p:sp>
      <p:sp>
        <p:nvSpPr>
          <p:cNvPr id="3" name="Text Placeholder 2">
            <a:extLst>
              <a:ext uri="{FF2B5EF4-FFF2-40B4-BE49-F238E27FC236}">
                <a16:creationId xmlns:a16="http://schemas.microsoft.com/office/drawing/2014/main" id="{35AAB492-0D30-3AB0-9C9C-3B7725AA34C8}"/>
              </a:ext>
            </a:extLst>
          </p:cNvPr>
          <p:cNvSpPr>
            <a:spLocks noGrp="1"/>
          </p:cNvSpPr>
          <p:nvPr>
            <p:ph type="body" sz="quarter" idx="14"/>
          </p:nvPr>
        </p:nvSpPr>
        <p:spPr/>
        <p:txBody>
          <a:bodyPr wrap="square" anchor="b"/>
          <a:lstStyle/>
          <a:p>
            <a:pPr>
              <a:lnSpc>
                <a:spcPct val="100000"/>
              </a:lnSpc>
              <a:spcBef>
                <a:spcPts val="0"/>
              </a:spcBef>
              <a:spcAft>
                <a:spcPts val="0"/>
              </a:spcAft>
            </a:pPr>
            <a:r>
              <a:rPr sz="2900" b="1">
                <a:solidFill>
                  <a:srgbClr val="FFFFFF"/>
                </a:solidFill>
                <a:latin typeface="Arial"/>
              </a:rPr>
              <a:t>Synthetic transcriptomics
for mouse spaceflight</a:t>
            </a:r>
          </a:p>
        </p:txBody>
      </p:sp>
    </p:spTree>
    <p:extLst>
      <p:ext uri="{BB962C8B-B14F-4D97-AF65-F5344CB8AC3E}">
        <p14:creationId xmlns:p14="http://schemas.microsoft.com/office/powerpoint/2010/main" val="4068975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itle 16">
            <a:extLst>
              <a:ext uri="{FF2B5EF4-FFF2-40B4-BE49-F238E27FC236}">
                <a16:creationId xmlns:a16="http://schemas.microsoft.com/office/drawing/2014/main" id="{15CCDA23-9C9B-2E3C-0808-97FA24C09308}"/>
              </a:ext>
            </a:extLst>
          </p:cNvPr>
          <p:cNvSpPr>
            <a:spLocks noGrp="1"/>
          </p:cNvSpPr>
          <p:nvPr>
            <p:ph type="title"/>
          </p:nvPr>
        </p:nvSpPr>
        <p:spPr/>
        <p:txBody>
          <a:bodyPr/>
          <a:lstStyle/>
          <a:p/>
        </p:txBody>
      </p:sp>
      <p:sp>
        <p:nvSpPr>
          <p:cNvPr id="18" name="Content Placeholder 17">
            <a:extLst>
              <a:ext uri="{FF2B5EF4-FFF2-40B4-BE49-F238E27FC236}">
                <a16:creationId xmlns:a16="http://schemas.microsoft.com/office/drawing/2014/main" id="{EDF69EC4-28BB-B6B3-FB3D-0B6A7B68EADE}"/>
              </a:ext>
            </a:extLst>
          </p:cNvPr>
          <p:cNvSpPr>
            <a:spLocks noGrp="1"/>
          </p:cNvSpPr>
          <p:nvPr>
            <p:ph idx="1"/>
          </p:nvPr>
        </p:nvSpPr>
        <p:spPr/>
        <p:txBody>
          <a:bodyPr/>
          <a:lstStyle/>
          <a:p/>
        </p:txBody>
      </p:sp>
      <p:sp>
        <p:nvSpPr>
          <p:cNvPr id="3" name="Footer Placeholder 2">
            <a:extLst>
              <a:ext uri="{FF2B5EF4-FFF2-40B4-BE49-F238E27FC236}">
                <a16:creationId xmlns:a16="http://schemas.microsoft.com/office/drawing/2014/main" id="{CA6AED0D-F1B8-689C-34E4-C8599A320EAC}"/>
              </a:ext>
            </a:extLst>
          </p:cNvPr>
          <p:cNvSpPr>
            <a:spLocks noGrp="1"/>
          </p:cNvSpPr>
          <p:nvPr>
            <p:ph type="ftr" sz="quarter" idx="11"/>
          </p:nvPr>
        </p:nvSpPr>
        <p:spPr/>
        <p:txBody>
          <a:bodyPr/>
          <a:lstStyle/>
          <a:p/>
        </p:txBody>
      </p:sp>
      <p:sp>
        <p:nvSpPr>
          <p:cNvPr id="4" name="Slide Number Placeholder 3">
            <a:extLst>
              <a:ext uri="{FF2B5EF4-FFF2-40B4-BE49-F238E27FC236}">
                <a16:creationId xmlns:a16="http://schemas.microsoft.com/office/drawing/2014/main" id="{3BCE25FE-C8CB-2ADC-D1BB-2BE7BB0DB777}"/>
              </a:ext>
            </a:extLst>
          </p:cNvPr>
          <p:cNvSpPr>
            <a:spLocks noGrp="1"/>
          </p:cNvSpPr>
          <p:nvPr>
            <p:ph type="sldNum" sz="quarter" idx="4294967295"/>
          </p:nvPr>
        </p:nvSpPr>
        <p:spPr>
          <a:xfrm>
            <a:off x="11131550" y="100013"/>
            <a:ext cx="1060450" cy="261937"/>
          </a:xfrm>
        </p:spPr>
        <p:txBody>
          <a:bodyPr/>
          <a:lstStyle/>
          <a:p>
            <a:r>
              <a:t>2</a:t>
            </a:r>
          </a:p>
        </p:txBody>
      </p:sp>
      <p:sp>
        <p:nvSpPr>
          <p:cNvPr id="19" name="TextBox 18"/>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BACKGROUND</a:t>
            </a:r>
          </a:p>
        </p:txBody>
      </p:sp>
      <p:sp>
        <p:nvSpPr>
          <p:cNvPr id="20" name="TextBox 19"/>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What is synthetic transcriptomics?</a:t>
            </a:r>
          </a:p>
        </p:txBody>
      </p:sp>
      <p:sp>
        <p:nvSpPr>
          <p:cNvPr id="21" name="TextBox 20"/>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 generator learns patterns in measured RNA-seq data, then samples new expression vectors under chosen conditions.</a:t>
            </a:r>
          </a:p>
        </p:txBody>
      </p:sp>
      <p:sp>
        <p:nvSpPr>
          <p:cNvPr id="22" name="TextBox 21"/>
          <p:cNvSpPr txBox="1"/>
          <p:nvPr/>
        </p:nvSpPr>
        <p:spPr>
          <a:xfrm>
            <a:off x="457200" y="1920240"/>
            <a:ext cx="384048" cy="228600"/>
          </a:xfrm>
          <a:prstGeom prst="rect">
            <a:avLst/>
          </a:prstGeom>
          <a:noFill/>
        </p:spPr>
        <p:txBody>
          <a:bodyPr wrap="square" lIns="0" rIns="0" tIns="0" bIns="0" anchor="t">
            <a:spAutoFit/>
          </a:bodyPr>
          <a:lstStyle/>
          <a:p>
            <a:pPr algn="l">
              <a:spcAft>
                <a:spcPts val="0"/>
              </a:spcAft>
            </a:pPr>
            <a:r>
              <a:rPr sz="1100" b="1" i="0">
                <a:solidFill>
                  <a:srgbClr val="2D6496"/>
                </a:solidFill>
                <a:latin typeface="Arial"/>
              </a:rPr>
              <a:t>01</a:t>
            </a:r>
          </a:p>
        </p:txBody>
      </p:sp>
      <p:sp>
        <p:nvSpPr>
          <p:cNvPr id="23" name="TextBox 22"/>
          <p:cNvSpPr txBox="1"/>
          <p:nvPr/>
        </p:nvSpPr>
        <p:spPr>
          <a:xfrm>
            <a:off x="914400" y="1865376"/>
            <a:ext cx="2816352" cy="347472"/>
          </a:xfrm>
          <a:prstGeom prst="rect">
            <a:avLst/>
          </a:prstGeom>
          <a:noFill/>
        </p:spPr>
        <p:txBody>
          <a:bodyPr wrap="square" lIns="0" rIns="0" tIns="0" bIns="0" anchor="t">
            <a:spAutoFit/>
          </a:bodyPr>
          <a:lstStyle/>
          <a:p>
            <a:pPr algn="l">
              <a:spcAft>
                <a:spcPts val="0"/>
              </a:spcAft>
            </a:pPr>
            <a:r>
              <a:rPr sz="1720" b="1" i="0">
                <a:solidFill>
                  <a:srgbClr val="082B55"/>
                </a:solidFill>
                <a:latin typeface="Arial"/>
              </a:rPr>
              <a:t>Observed profiles</a:t>
            </a:r>
          </a:p>
        </p:txBody>
      </p:sp>
      <p:sp>
        <p:nvSpPr>
          <p:cNvPr id="24" name="Rectangle 23"/>
          <p:cNvSpPr/>
          <p:nvPr/>
        </p:nvSpPr>
        <p:spPr>
          <a:xfrm>
            <a:off x="457200" y="2359152"/>
            <a:ext cx="3273552" cy="1152144"/>
          </a:xfrm>
          <a:prstGeom prst="rect">
            <a:avLst/>
          </a:prstGeom>
          <a:solidFill>
            <a:srgbClr val="E9F1F7"/>
          </a:solidFill>
          <a:ln w="10160">
            <a:solidFill>
              <a:srgbClr val="E9F1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257860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23544" y="2578608"/>
            <a:ext cx="182880" cy="109728"/>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188719" y="257860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453895" y="2578608"/>
            <a:ext cx="182880" cy="109728"/>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719072" y="257860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8368" y="276148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923544" y="2761488"/>
            <a:ext cx="182880" cy="109728"/>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188719" y="276148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453895" y="276148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1719072" y="2761488"/>
            <a:ext cx="182880" cy="109728"/>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58368" y="294436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23544" y="294436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188719" y="2944368"/>
            <a:ext cx="182880" cy="109728"/>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453895" y="294436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719072" y="2944368"/>
            <a:ext cx="182880" cy="109728"/>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58368" y="3127248"/>
            <a:ext cx="182880" cy="109728"/>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923544" y="312724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1188719" y="3127248"/>
            <a:ext cx="182880" cy="109728"/>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1453895" y="312724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1719072" y="312724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40664" y="3300984"/>
            <a:ext cx="1024128" cy="146304"/>
          </a:xfrm>
          <a:prstGeom prst="rect">
            <a:avLst/>
          </a:prstGeom>
          <a:noFill/>
        </p:spPr>
        <p:txBody>
          <a:bodyPr wrap="square" lIns="0" rIns="0" tIns="0" bIns="0" anchor="t">
            <a:spAutoFit/>
          </a:bodyPr>
          <a:lstStyle/>
          <a:p>
            <a:pPr algn="ctr">
              <a:spcAft>
                <a:spcPts val="0"/>
              </a:spcAft>
            </a:pPr>
            <a:r>
              <a:rPr sz="819" b="0" i="0">
                <a:solidFill>
                  <a:srgbClr val="59697A"/>
                </a:solidFill>
                <a:latin typeface="Arial"/>
              </a:rPr>
              <a:t>genes</a:t>
            </a:r>
          </a:p>
        </p:txBody>
      </p:sp>
      <p:sp>
        <p:nvSpPr>
          <p:cNvPr id="46" name="TextBox 45"/>
          <p:cNvSpPr txBox="1"/>
          <p:nvPr/>
        </p:nvSpPr>
        <p:spPr>
          <a:xfrm>
            <a:off x="2039112" y="2743200"/>
            <a:ext cx="566928" cy="164592"/>
          </a:xfrm>
          <a:prstGeom prst="rect">
            <a:avLst/>
          </a:prstGeom>
          <a:noFill/>
        </p:spPr>
        <p:txBody>
          <a:bodyPr wrap="square" lIns="0" rIns="0" tIns="0" bIns="0" anchor="t">
            <a:spAutoFit/>
          </a:bodyPr>
          <a:lstStyle/>
          <a:p>
            <a:pPr algn="ctr">
              <a:spcAft>
                <a:spcPts val="0"/>
              </a:spcAft>
            </a:pPr>
            <a:r>
              <a:rPr sz="819" b="0" i="0">
                <a:solidFill>
                  <a:srgbClr val="59697A"/>
                </a:solidFill>
                <a:latin typeface="Arial"/>
              </a:rPr>
              <a:t>profiles</a:t>
            </a:r>
          </a:p>
        </p:txBody>
      </p:sp>
      <p:sp>
        <p:nvSpPr>
          <p:cNvPr id="47" name="TextBox 46"/>
          <p:cNvSpPr txBox="1"/>
          <p:nvPr/>
        </p:nvSpPr>
        <p:spPr>
          <a:xfrm>
            <a:off x="475488" y="3685032"/>
            <a:ext cx="3200400" cy="603504"/>
          </a:xfrm>
          <a:prstGeom prst="rect">
            <a:avLst/>
          </a:prstGeom>
          <a:noFill/>
        </p:spPr>
        <p:txBody>
          <a:bodyPr wrap="square" lIns="0" rIns="0" tIns="0" bIns="0" anchor="t">
            <a:spAutoFit/>
          </a:bodyPr>
          <a:lstStyle/>
          <a:p>
            <a:pPr algn="l">
              <a:spcAft>
                <a:spcPts val="0"/>
              </a:spcAft>
            </a:pPr>
            <a:r>
              <a:rPr sz="1320" b="0" i="0">
                <a:solidFill>
                  <a:srgbClr val="263746"/>
                </a:solidFill>
                <a:latin typeface="Arial"/>
              </a:rPr>
              <a:t>Measured gene expression from real mouse tissue</a:t>
            </a:r>
          </a:p>
        </p:txBody>
      </p:sp>
      <p:sp>
        <p:nvSpPr>
          <p:cNvPr id="48" name="Right Arrow 47"/>
          <p:cNvSpPr/>
          <p:nvPr/>
        </p:nvSpPr>
        <p:spPr>
          <a:xfrm>
            <a:off x="3794760" y="2807208"/>
            <a:ext cx="310896" cy="21945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224528" y="1920240"/>
            <a:ext cx="384048" cy="228600"/>
          </a:xfrm>
          <a:prstGeom prst="rect">
            <a:avLst/>
          </a:prstGeom>
          <a:noFill/>
        </p:spPr>
        <p:txBody>
          <a:bodyPr wrap="square" lIns="0" rIns="0" tIns="0" bIns="0" anchor="t">
            <a:spAutoFit/>
          </a:bodyPr>
          <a:lstStyle/>
          <a:p>
            <a:pPr algn="l">
              <a:spcAft>
                <a:spcPts val="0"/>
              </a:spcAft>
            </a:pPr>
            <a:r>
              <a:rPr sz="1100" b="1" i="0">
                <a:solidFill>
                  <a:srgbClr val="D37B00"/>
                </a:solidFill>
                <a:latin typeface="Arial"/>
              </a:rPr>
              <a:t>02</a:t>
            </a:r>
          </a:p>
        </p:txBody>
      </p:sp>
      <p:sp>
        <p:nvSpPr>
          <p:cNvPr id="50" name="TextBox 49"/>
          <p:cNvSpPr txBox="1"/>
          <p:nvPr/>
        </p:nvSpPr>
        <p:spPr>
          <a:xfrm>
            <a:off x="4681728" y="1865376"/>
            <a:ext cx="2816352" cy="347472"/>
          </a:xfrm>
          <a:prstGeom prst="rect">
            <a:avLst/>
          </a:prstGeom>
          <a:noFill/>
        </p:spPr>
        <p:txBody>
          <a:bodyPr wrap="square" lIns="0" rIns="0" tIns="0" bIns="0" anchor="t">
            <a:spAutoFit/>
          </a:bodyPr>
          <a:lstStyle/>
          <a:p>
            <a:pPr algn="l">
              <a:spcAft>
                <a:spcPts val="0"/>
              </a:spcAft>
            </a:pPr>
            <a:r>
              <a:rPr sz="1720" b="1" i="0">
                <a:solidFill>
                  <a:srgbClr val="082B55"/>
                </a:solidFill>
                <a:latin typeface="Arial"/>
              </a:rPr>
              <a:t>Learn the distribution</a:t>
            </a:r>
          </a:p>
        </p:txBody>
      </p:sp>
      <p:sp>
        <p:nvSpPr>
          <p:cNvPr id="51" name="Rectangle 50"/>
          <p:cNvSpPr/>
          <p:nvPr/>
        </p:nvSpPr>
        <p:spPr>
          <a:xfrm>
            <a:off x="4224528" y="2359152"/>
            <a:ext cx="3273552" cy="1152144"/>
          </a:xfrm>
          <a:prstGeom prst="rect">
            <a:avLst/>
          </a:prstGeom>
          <a:solidFill>
            <a:srgbClr val="F8F1E2"/>
          </a:solidFill>
          <a:ln w="10160">
            <a:solidFill>
              <a:srgbClr val="F8F1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2" name="Connector 51"/>
          <p:cNvCxnSpPr/>
          <p:nvPr/>
        </p:nvCxnSpPr>
        <p:spPr>
          <a:xfrm flipV="1">
            <a:off x="4645152" y="2587752"/>
            <a:ext cx="594360" cy="91440"/>
          </a:xfrm>
          <a:prstGeom prst="line">
            <a:avLst/>
          </a:prstGeom>
          <a:ln w="1397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4645152" y="2679192"/>
            <a:ext cx="594360" cy="365760"/>
          </a:xfrm>
          <a:prstGeom prst="line">
            <a:avLst/>
          </a:prstGeom>
          <a:ln w="1397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5239512" y="2587752"/>
            <a:ext cx="630936" cy="228600"/>
          </a:xfrm>
          <a:prstGeom prst="line">
            <a:avLst/>
          </a:prstGeom>
          <a:ln w="1397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V="1">
            <a:off x="5239512" y="2816352"/>
            <a:ext cx="630936" cy="228600"/>
          </a:xfrm>
          <a:prstGeom prst="line">
            <a:avLst/>
          </a:prstGeom>
          <a:ln w="1397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V="1">
            <a:off x="5870448" y="2587752"/>
            <a:ext cx="621792" cy="228600"/>
          </a:xfrm>
          <a:prstGeom prst="line">
            <a:avLst/>
          </a:prstGeom>
          <a:ln w="1397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5870448" y="2816352"/>
            <a:ext cx="621792" cy="228600"/>
          </a:xfrm>
          <a:prstGeom prst="line">
            <a:avLst/>
          </a:prstGeom>
          <a:ln w="1397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6492240" y="2587752"/>
            <a:ext cx="566928" cy="228600"/>
          </a:xfrm>
          <a:prstGeom prst="line">
            <a:avLst/>
          </a:prstGeom>
          <a:ln w="1397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V="1">
            <a:off x="6492240" y="2816352"/>
            <a:ext cx="566928" cy="228600"/>
          </a:xfrm>
          <a:prstGeom prst="line">
            <a:avLst/>
          </a:prstGeom>
          <a:ln w="13970">
            <a:solidFill>
              <a:srgbClr val="C6B07A"/>
            </a:solidFill>
          </a:ln>
        </p:spPr>
        <p:style>
          <a:lnRef idx="2">
            <a:schemeClr val="accent1"/>
          </a:lnRef>
          <a:fillRef idx="0">
            <a:schemeClr val="accent1"/>
          </a:fillRef>
          <a:effectRef idx="1">
            <a:schemeClr val="accent1"/>
          </a:effectRef>
          <a:fontRef idx="minor">
            <a:schemeClr val="tx1"/>
          </a:fontRef>
        </p:style>
      </p:cxnSp>
      <p:sp>
        <p:nvSpPr>
          <p:cNvPr id="60" name="Oval 59"/>
          <p:cNvSpPr/>
          <p:nvPr/>
        </p:nvSpPr>
        <p:spPr>
          <a:xfrm>
            <a:off x="4572000" y="2606040"/>
            <a:ext cx="146304" cy="146304"/>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5166360" y="2514600"/>
            <a:ext cx="146304" cy="146304"/>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5166360" y="2971800"/>
            <a:ext cx="146304" cy="146304"/>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5797296" y="2743200"/>
            <a:ext cx="146304" cy="146304"/>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6419088" y="2514600"/>
            <a:ext cx="146304" cy="146304"/>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6419088" y="2971800"/>
            <a:ext cx="146304" cy="146304"/>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6986016" y="2743200"/>
            <a:ext cx="146304" cy="146304"/>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4242816" y="3685032"/>
            <a:ext cx="3200400" cy="603504"/>
          </a:xfrm>
          <a:prstGeom prst="rect">
            <a:avLst/>
          </a:prstGeom>
          <a:noFill/>
        </p:spPr>
        <p:txBody>
          <a:bodyPr wrap="square" lIns="0" rIns="0" tIns="0" bIns="0" anchor="t">
            <a:spAutoFit/>
          </a:bodyPr>
          <a:lstStyle/>
          <a:p>
            <a:pPr algn="l">
              <a:spcAft>
                <a:spcPts val="0"/>
              </a:spcAft>
            </a:pPr>
            <a:r>
              <a:rPr sz="1320" b="0" i="0">
                <a:solidFill>
                  <a:srgbClr val="263746"/>
                </a:solidFill>
                <a:latin typeface="Arial"/>
              </a:rPr>
              <a:t>Capture gene relationships and variation by tissue and FLT/GC condition</a:t>
            </a:r>
          </a:p>
        </p:txBody>
      </p:sp>
      <p:sp>
        <p:nvSpPr>
          <p:cNvPr id="68" name="Right Arrow 67"/>
          <p:cNvSpPr/>
          <p:nvPr/>
        </p:nvSpPr>
        <p:spPr>
          <a:xfrm>
            <a:off x="7562088" y="2807208"/>
            <a:ext cx="310896" cy="21945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7991856" y="1920240"/>
            <a:ext cx="384048" cy="228600"/>
          </a:xfrm>
          <a:prstGeom prst="rect">
            <a:avLst/>
          </a:prstGeom>
          <a:noFill/>
        </p:spPr>
        <p:txBody>
          <a:bodyPr wrap="square" lIns="0" rIns="0" tIns="0" bIns="0" anchor="t">
            <a:spAutoFit/>
          </a:bodyPr>
          <a:lstStyle/>
          <a:p>
            <a:pPr algn="l">
              <a:spcAft>
                <a:spcPts val="0"/>
              </a:spcAft>
            </a:pPr>
            <a:r>
              <a:rPr sz="1100" b="1" i="0">
                <a:solidFill>
                  <a:srgbClr val="178681"/>
                </a:solidFill>
                <a:latin typeface="Arial"/>
              </a:rPr>
              <a:t>03</a:t>
            </a:r>
          </a:p>
        </p:txBody>
      </p:sp>
      <p:sp>
        <p:nvSpPr>
          <p:cNvPr id="70" name="TextBox 69"/>
          <p:cNvSpPr txBox="1"/>
          <p:nvPr/>
        </p:nvSpPr>
        <p:spPr>
          <a:xfrm>
            <a:off x="8449056" y="1865376"/>
            <a:ext cx="2816352" cy="347472"/>
          </a:xfrm>
          <a:prstGeom prst="rect">
            <a:avLst/>
          </a:prstGeom>
          <a:noFill/>
        </p:spPr>
        <p:txBody>
          <a:bodyPr wrap="square" lIns="0" rIns="0" tIns="0" bIns="0" anchor="t">
            <a:spAutoFit/>
          </a:bodyPr>
          <a:lstStyle/>
          <a:p>
            <a:pPr algn="l">
              <a:spcAft>
                <a:spcPts val="0"/>
              </a:spcAft>
            </a:pPr>
            <a:r>
              <a:rPr sz="1720" b="1" i="0">
                <a:solidFill>
                  <a:srgbClr val="082B55"/>
                </a:solidFill>
                <a:latin typeface="Arial"/>
              </a:rPr>
              <a:t>Synthetic profiles</a:t>
            </a:r>
          </a:p>
        </p:txBody>
      </p:sp>
      <p:sp>
        <p:nvSpPr>
          <p:cNvPr id="71" name="Rectangle 70"/>
          <p:cNvSpPr/>
          <p:nvPr/>
        </p:nvSpPr>
        <p:spPr>
          <a:xfrm>
            <a:off x="7991856" y="2359152"/>
            <a:ext cx="3273552" cy="1152144"/>
          </a:xfrm>
          <a:prstGeom prst="rect">
            <a:avLst/>
          </a:prstGeom>
          <a:solidFill>
            <a:srgbClr val="E8F3F1"/>
          </a:solidFill>
          <a:ln w="10160">
            <a:solidFill>
              <a:srgbClr val="E8F3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8193024" y="257860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8458200" y="2578608"/>
            <a:ext cx="182880" cy="109728"/>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8723376" y="257860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8988552" y="257860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9253728" y="2578608"/>
            <a:ext cx="182880" cy="109728"/>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8193024" y="276148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8458200" y="276148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8723376" y="2761488"/>
            <a:ext cx="182880" cy="109728"/>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8988552" y="276148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9253728" y="2761488"/>
            <a:ext cx="182880" cy="109728"/>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8193024" y="2944368"/>
            <a:ext cx="182880" cy="109728"/>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8458200" y="294436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8723376" y="2944368"/>
            <a:ext cx="182880" cy="109728"/>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8988552" y="294436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9253728" y="294436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8193024" y="3127248"/>
            <a:ext cx="182880" cy="109728"/>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8458200" y="312724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ectangle 88"/>
          <p:cNvSpPr/>
          <p:nvPr/>
        </p:nvSpPr>
        <p:spPr>
          <a:xfrm>
            <a:off x="8723376" y="312724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8988552" y="3127248"/>
            <a:ext cx="182880" cy="109728"/>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9253728" y="312724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8275320" y="3300984"/>
            <a:ext cx="1024128" cy="146304"/>
          </a:xfrm>
          <a:prstGeom prst="rect">
            <a:avLst/>
          </a:prstGeom>
          <a:noFill/>
        </p:spPr>
        <p:txBody>
          <a:bodyPr wrap="square" lIns="0" rIns="0" tIns="0" bIns="0" anchor="t">
            <a:spAutoFit/>
          </a:bodyPr>
          <a:lstStyle/>
          <a:p>
            <a:pPr algn="ctr">
              <a:spcAft>
                <a:spcPts val="0"/>
              </a:spcAft>
            </a:pPr>
            <a:r>
              <a:rPr sz="819" b="0" i="0">
                <a:solidFill>
                  <a:srgbClr val="59697A"/>
                </a:solidFill>
                <a:latin typeface="Arial"/>
              </a:rPr>
              <a:t>genes</a:t>
            </a:r>
          </a:p>
        </p:txBody>
      </p:sp>
      <p:sp>
        <p:nvSpPr>
          <p:cNvPr id="93" name="TextBox 92"/>
          <p:cNvSpPr txBox="1"/>
          <p:nvPr/>
        </p:nvSpPr>
        <p:spPr>
          <a:xfrm>
            <a:off x="9573768" y="2743200"/>
            <a:ext cx="566928" cy="164592"/>
          </a:xfrm>
          <a:prstGeom prst="rect">
            <a:avLst/>
          </a:prstGeom>
          <a:noFill/>
        </p:spPr>
        <p:txBody>
          <a:bodyPr wrap="square" lIns="0" rIns="0" tIns="0" bIns="0" anchor="t">
            <a:spAutoFit/>
          </a:bodyPr>
          <a:lstStyle/>
          <a:p>
            <a:pPr algn="ctr">
              <a:spcAft>
                <a:spcPts val="0"/>
              </a:spcAft>
            </a:pPr>
            <a:r>
              <a:rPr sz="819" b="0" i="0">
                <a:solidFill>
                  <a:srgbClr val="59697A"/>
                </a:solidFill>
                <a:latin typeface="Arial"/>
              </a:rPr>
              <a:t>profiles</a:t>
            </a:r>
          </a:p>
        </p:txBody>
      </p:sp>
      <p:sp>
        <p:nvSpPr>
          <p:cNvPr id="94" name="TextBox 93"/>
          <p:cNvSpPr txBox="1"/>
          <p:nvPr/>
        </p:nvSpPr>
        <p:spPr>
          <a:xfrm>
            <a:off x="8010144" y="3685032"/>
            <a:ext cx="3200400" cy="603504"/>
          </a:xfrm>
          <a:prstGeom prst="rect">
            <a:avLst/>
          </a:prstGeom>
          <a:noFill/>
        </p:spPr>
        <p:txBody>
          <a:bodyPr wrap="square" lIns="0" rIns="0" tIns="0" bIns="0" anchor="t">
            <a:spAutoFit/>
          </a:bodyPr>
          <a:lstStyle/>
          <a:p>
            <a:pPr algn="l">
              <a:spcAft>
                <a:spcPts val="0"/>
              </a:spcAft>
            </a:pPr>
            <a:r>
              <a:rPr sz="1320" b="0" i="0">
                <a:solidFill>
                  <a:srgbClr val="263746"/>
                </a:solidFill>
                <a:latin typeface="Arial"/>
              </a:rPr>
              <a:t>Sample new numeric expression vectors for a selected context</a:t>
            </a:r>
          </a:p>
        </p:txBody>
      </p:sp>
      <p:sp>
        <p:nvSpPr>
          <p:cNvPr id="95" name="Rectangle 94"/>
          <p:cNvSpPr/>
          <p:nvPr/>
        </p:nvSpPr>
        <p:spPr>
          <a:xfrm>
            <a:off x="484632" y="4526280"/>
            <a:ext cx="11155680" cy="16459"/>
          </a:xfrm>
          <a:prstGeom prst="rect">
            <a:avLst/>
          </a:prstGeom>
          <a:solidFill>
            <a:srgbClr val="D6DE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502920" y="4754880"/>
            <a:ext cx="1463040" cy="274320"/>
          </a:xfrm>
          <a:prstGeom prst="rect">
            <a:avLst/>
          </a:prstGeom>
          <a:noFill/>
        </p:spPr>
        <p:txBody>
          <a:bodyPr wrap="square" lIns="0" rIns="0" tIns="0" bIns="0" anchor="t">
            <a:spAutoFit/>
          </a:bodyPr>
          <a:lstStyle/>
          <a:p>
            <a:pPr algn="l">
              <a:spcAft>
                <a:spcPts val="0"/>
              </a:spcAft>
            </a:pPr>
            <a:r>
              <a:rPr sz="1600" b="1" i="0">
                <a:solidFill>
                  <a:srgbClr val="178681"/>
                </a:solidFill>
                <a:latin typeface="Arial"/>
              </a:rPr>
              <a:t>It can help</a:t>
            </a:r>
          </a:p>
        </p:txBody>
      </p:sp>
      <p:sp>
        <p:nvSpPr>
          <p:cNvPr id="97" name="TextBox 96"/>
          <p:cNvSpPr txBox="1"/>
          <p:nvPr/>
        </p:nvSpPr>
        <p:spPr>
          <a:xfrm>
            <a:off x="1856231" y="4718304"/>
            <a:ext cx="3813048" cy="502920"/>
          </a:xfrm>
          <a:prstGeom prst="rect">
            <a:avLst/>
          </a:prstGeom>
          <a:noFill/>
        </p:spPr>
        <p:txBody>
          <a:bodyPr wrap="square" lIns="0" rIns="0" tIns="0" bIns="0" anchor="t">
            <a:spAutoFit/>
          </a:bodyPr>
          <a:lstStyle/>
          <a:p>
            <a:pPr algn="l">
              <a:spcAft>
                <a:spcPts val="0"/>
              </a:spcAft>
            </a:pPr>
            <a:r>
              <a:rPr sz="1400" b="0" i="0">
                <a:solidFill>
                  <a:srgbClr val="263746"/>
                </a:solidFill>
                <a:latin typeface="Arial"/>
              </a:rPr>
              <a:t>test classifiers, rank candidate genes and compare matched FLT and GC profiles</a:t>
            </a:r>
          </a:p>
        </p:txBody>
      </p:sp>
      <p:sp>
        <p:nvSpPr>
          <p:cNvPr id="98" name="Rectangle 97"/>
          <p:cNvSpPr/>
          <p:nvPr/>
        </p:nvSpPr>
        <p:spPr>
          <a:xfrm>
            <a:off x="5934456" y="4736592"/>
            <a:ext cx="10972" cy="640080"/>
          </a:xfrm>
          <a:prstGeom prst="rect">
            <a:avLst/>
          </a:prstGeom>
          <a:solidFill>
            <a:srgbClr val="D6DE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6236208" y="4754880"/>
            <a:ext cx="1691640" cy="274320"/>
          </a:xfrm>
          <a:prstGeom prst="rect">
            <a:avLst/>
          </a:prstGeom>
          <a:noFill/>
        </p:spPr>
        <p:txBody>
          <a:bodyPr wrap="square" lIns="0" rIns="0" tIns="0" bIns="0" anchor="t">
            <a:spAutoFit/>
          </a:bodyPr>
          <a:lstStyle/>
          <a:p>
            <a:pPr algn="l">
              <a:spcAft>
                <a:spcPts val="0"/>
              </a:spcAft>
            </a:pPr>
            <a:r>
              <a:rPr sz="1600" b="1" i="0">
                <a:solidFill>
                  <a:srgbClr val="D96552"/>
                </a:solidFill>
                <a:latin typeface="Arial"/>
              </a:rPr>
              <a:t>It does not add</a:t>
            </a:r>
          </a:p>
        </p:txBody>
      </p:sp>
      <p:sp>
        <p:nvSpPr>
          <p:cNvPr id="100" name="TextBox 99"/>
          <p:cNvSpPr txBox="1"/>
          <p:nvPr/>
        </p:nvSpPr>
        <p:spPr>
          <a:xfrm>
            <a:off x="7781544" y="4718304"/>
            <a:ext cx="3593592" cy="502920"/>
          </a:xfrm>
          <a:prstGeom prst="rect">
            <a:avLst/>
          </a:prstGeom>
          <a:noFill/>
        </p:spPr>
        <p:txBody>
          <a:bodyPr wrap="square" lIns="0" rIns="0" tIns="0" bIns="0" anchor="t">
            <a:spAutoFit/>
          </a:bodyPr>
          <a:lstStyle/>
          <a:p>
            <a:pPr algn="l">
              <a:spcAft>
                <a:spcPts val="0"/>
              </a:spcAft>
            </a:pPr>
            <a:r>
              <a:rPr sz="1400" b="0" i="0">
                <a:solidFill>
                  <a:srgbClr val="263746"/>
                </a:solidFill>
                <a:latin typeface="Arial"/>
              </a:rPr>
              <a:t>new animals, new measurements or independent biological evidence</a:t>
            </a:r>
          </a:p>
        </p:txBody>
      </p:sp>
    </p:spTree>
    <p:extLst>
      <p:ext uri="{BB962C8B-B14F-4D97-AF65-F5344CB8AC3E}">
        <p14:creationId xmlns:p14="http://schemas.microsoft.com/office/powerpoint/2010/main" val="2938554529"/>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QUESTION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Small studies and study effects complicate tissue comparisons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Can a generator help rank spaceflight signal without pretending it creates new animals?</a:t>
            </a:r>
          </a:p>
        </p:txBody>
      </p:sp>
      <p:sp>
        <p:nvSpPr>
          <p:cNvPr id="7" name="TextBox 6"/>
          <p:cNvSpPr txBox="1"/>
          <p:nvPr/>
        </p:nvSpPr>
        <p:spPr>
          <a:xfrm>
            <a:off x="566928" y="1865376"/>
            <a:ext cx="2011680" cy="274320"/>
          </a:xfrm>
          <a:prstGeom prst="rect">
            <a:avLst/>
          </a:prstGeom>
          <a:noFill/>
        </p:spPr>
        <p:txBody>
          <a:bodyPr wrap="square" lIns="18288" rIns="18288" tIns="18288" bIns="18288" anchor="t">
            <a:spAutoFit/>
          </a:bodyPr>
          <a:lstStyle/>
          <a:p>
            <a:pPr algn="l">
              <a:spcAft>
                <a:spcPts val="0"/>
              </a:spcAft>
            </a:pPr>
            <a:r>
              <a:rPr sz="1700" b="1" i="0">
                <a:solidFill>
                  <a:srgbClr val="2D6496"/>
                </a:solidFill>
                <a:latin typeface="Arial"/>
              </a:rPr>
              <a:t>NASA OSDR</a:t>
            </a:r>
          </a:p>
        </p:txBody>
      </p:sp>
      <p:sp>
        <p:nvSpPr>
          <p:cNvPr id="8" name="TextBox 7"/>
          <p:cNvSpPr txBox="1"/>
          <p:nvPr/>
        </p:nvSpPr>
        <p:spPr>
          <a:xfrm>
            <a:off x="566928" y="2167128"/>
            <a:ext cx="2560320" cy="219456"/>
          </a:xfrm>
          <a:prstGeom prst="rect">
            <a:avLst/>
          </a:prstGeom>
          <a:noFill/>
        </p:spPr>
        <p:txBody>
          <a:bodyPr wrap="square" lIns="18288" rIns="18288" tIns="18288" bIns="18288" anchor="t">
            <a:spAutoFit/>
          </a:bodyPr>
          <a:lstStyle/>
          <a:p>
            <a:pPr algn="l">
              <a:spcAft>
                <a:spcPts val="0"/>
              </a:spcAft>
            </a:pPr>
            <a:r>
              <a:rPr sz="1150" b="0" i="0">
                <a:solidFill>
                  <a:srgbClr val="59697A"/>
                </a:solidFill>
                <a:latin typeface="Arial"/>
              </a:rPr>
              <a:t>Observed spaceflight cohort</a:t>
            </a:r>
          </a:p>
        </p:txBody>
      </p:sp>
      <p:sp>
        <p:nvSpPr>
          <p:cNvPr id="9" name="TextBox 8"/>
          <p:cNvSpPr txBox="1"/>
          <p:nvPr/>
        </p:nvSpPr>
        <p:spPr>
          <a:xfrm>
            <a:off x="530352" y="2414016"/>
            <a:ext cx="2057400" cy="630936"/>
          </a:xfrm>
          <a:prstGeom prst="rect">
            <a:avLst/>
          </a:prstGeom>
          <a:noFill/>
        </p:spPr>
        <p:txBody>
          <a:bodyPr wrap="square" lIns="18288" rIns="18288" tIns="18288" bIns="18288" anchor="t">
            <a:spAutoFit/>
          </a:bodyPr>
          <a:lstStyle/>
          <a:p>
            <a:pPr algn="l">
              <a:spcAft>
                <a:spcPts val="0"/>
              </a:spcAft>
            </a:pPr>
            <a:r>
              <a:rPr sz="4200" b="1" i="0">
                <a:solidFill>
                  <a:srgbClr val="082B55"/>
                </a:solidFill>
                <a:latin typeface="Arial"/>
              </a:rPr>
              <a:t>1,610</a:t>
            </a:r>
          </a:p>
        </p:txBody>
      </p:sp>
      <p:sp>
        <p:nvSpPr>
          <p:cNvPr id="10" name="TextBox 9"/>
          <p:cNvSpPr txBox="1"/>
          <p:nvPr/>
        </p:nvSpPr>
        <p:spPr>
          <a:xfrm>
            <a:off x="585216" y="3008376"/>
            <a:ext cx="1051560"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profiles</a:t>
            </a:r>
          </a:p>
        </p:txBody>
      </p:sp>
      <p:sp>
        <p:nvSpPr>
          <p:cNvPr id="11" name="TextBox 10"/>
          <p:cNvSpPr txBox="1"/>
          <p:nvPr/>
        </p:nvSpPr>
        <p:spPr>
          <a:xfrm>
            <a:off x="2752344" y="2487168"/>
            <a:ext cx="1097280" cy="493776"/>
          </a:xfrm>
          <a:prstGeom prst="rect">
            <a:avLst/>
          </a:prstGeom>
          <a:noFill/>
        </p:spPr>
        <p:txBody>
          <a:bodyPr wrap="square" lIns="18288" rIns="18288" tIns="18288" bIns="18288" anchor="t">
            <a:spAutoFit/>
          </a:bodyPr>
          <a:lstStyle/>
          <a:p>
            <a:pPr algn="l">
              <a:spcAft>
                <a:spcPts val="0"/>
              </a:spcAft>
            </a:pPr>
            <a:r>
              <a:rPr sz="3100" b="1" i="0">
                <a:solidFill>
                  <a:srgbClr val="082B55"/>
                </a:solidFill>
                <a:latin typeface="Arial"/>
              </a:rPr>
              <a:t>75</a:t>
            </a:r>
          </a:p>
        </p:txBody>
      </p:sp>
      <p:sp>
        <p:nvSpPr>
          <p:cNvPr id="12" name="TextBox 11"/>
          <p:cNvSpPr txBox="1"/>
          <p:nvPr/>
        </p:nvSpPr>
        <p:spPr>
          <a:xfrm>
            <a:off x="2779776" y="2980944"/>
            <a:ext cx="1280160"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accessions</a:t>
            </a:r>
          </a:p>
        </p:txBody>
      </p:sp>
      <p:sp>
        <p:nvSpPr>
          <p:cNvPr id="13" name="TextBox 12"/>
          <p:cNvSpPr txBox="1"/>
          <p:nvPr/>
        </p:nvSpPr>
        <p:spPr>
          <a:xfrm>
            <a:off x="585216" y="3337560"/>
            <a:ext cx="1005840" cy="237744"/>
          </a:xfrm>
          <a:prstGeom prst="rect">
            <a:avLst/>
          </a:prstGeom>
          <a:noFill/>
        </p:spPr>
        <p:txBody>
          <a:bodyPr wrap="square" lIns="18288" rIns="18288" tIns="18288" bIns="18288" anchor="t">
            <a:spAutoFit/>
          </a:bodyPr>
          <a:lstStyle/>
          <a:p>
            <a:pPr algn="l">
              <a:spcAft>
                <a:spcPts val="0"/>
              </a:spcAft>
            </a:pPr>
            <a:r>
              <a:rPr sz="1350" b="1" i="0">
                <a:solidFill>
                  <a:srgbClr val="D96552"/>
                </a:solidFill>
                <a:latin typeface="Arial"/>
              </a:rPr>
              <a:t>835 FLT</a:t>
            </a:r>
          </a:p>
        </p:txBody>
      </p:sp>
      <p:sp>
        <p:nvSpPr>
          <p:cNvPr id="14" name="TextBox 13"/>
          <p:cNvSpPr txBox="1"/>
          <p:nvPr/>
        </p:nvSpPr>
        <p:spPr>
          <a:xfrm>
            <a:off x="4370831" y="3337560"/>
            <a:ext cx="1005840" cy="237744"/>
          </a:xfrm>
          <a:prstGeom prst="rect">
            <a:avLst/>
          </a:prstGeom>
          <a:noFill/>
        </p:spPr>
        <p:txBody>
          <a:bodyPr wrap="square" lIns="18288" rIns="18288" tIns="18288" bIns="18288" anchor="t">
            <a:spAutoFit/>
          </a:bodyPr>
          <a:lstStyle/>
          <a:p>
            <a:pPr algn="r">
              <a:spcAft>
                <a:spcPts val="0"/>
              </a:spcAft>
            </a:pPr>
            <a:r>
              <a:rPr sz="1350" b="1" i="0">
                <a:solidFill>
                  <a:srgbClr val="2D6496"/>
                </a:solidFill>
                <a:latin typeface="Arial"/>
              </a:rPr>
              <a:t>775 GC</a:t>
            </a:r>
          </a:p>
        </p:txBody>
      </p:sp>
      <p:sp>
        <p:nvSpPr>
          <p:cNvPr id="15" name="Rectangle 14"/>
          <p:cNvSpPr/>
          <p:nvPr/>
        </p:nvSpPr>
        <p:spPr>
          <a:xfrm>
            <a:off x="585216" y="3685032"/>
            <a:ext cx="2485009" cy="109728"/>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070225" y="3685032"/>
            <a:ext cx="2306446"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34456" y="1847088"/>
            <a:ext cx="16459" cy="2020824"/>
          </a:xfrm>
          <a:prstGeom prst="rect">
            <a:avLst/>
          </a:prstGeom>
          <a:solidFill>
            <a:srgbClr val="CBD4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91072" y="1865376"/>
            <a:ext cx="2194560" cy="274320"/>
          </a:xfrm>
          <a:prstGeom prst="rect">
            <a:avLst/>
          </a:prstGeom>
          <a:noFill/>
        </p:spPr>
        <p:txBody>
          <a:bodyPr wrap="square" lIns="18288" rIns="18288" tIns="18288" bIns="18288" anchor="t">
            <a:spAutoFit/>
          </a:bodyPr>
          <a:lstStyle/>
          <a:p>
            <a:pPr algn="l">
              <a:spcAft>
                <a:spcPts val="0"/>
              </a:spcAft>
            </a:pPr>
            <a:r>
              <a:rPr sz="1700" b="1" i="0">
                <a:solidFill>
                  <a:srgbClr val="178681"/>
                </a:solidFill>
                <a:latin typeface="Arial"/>
              </a:rPr>
              <a:t>ARCHS4 mouse</a:t>
            </a:r>
          </a:p>
        </p:txBody>
      </p:sp>
      <p:sp>
        <p:nvSpPr>
          <p:cNvPr id="19" name="TextBox 18"/>
          <p:cNvSpPr txBox="1"/>
          <p:nvPr/>
        </p:nvSpPr>
        <p:spPr>
          <a:xfrm>
            <a:off x="6291072" y="2167128"/>
            <a:ext cx="2560320" cy="219456"/>
          </a:xfrm>
          <a:prstGeom prst="rect">
            <a:avLst/>
          </a:prstGeom>
          <a:noFill/>
        </p:spPr>
        <p:txBody>
          <a:bodyPr wrap="square" lIns="18288" rIns="18288" tIns="18288" bIns="18288" anchor="t">
            <a:spAutoFit/>
          </a:bodyPr>
          <a:lstStyle/>
          <a:p>
            <a:pPr algn="l">
              <a:spcAft>
                <a:spcPts val="0"/>
              </a:spcAft>
            </a:pPr>
            <a:r>
              <a:rPr sz="1150" b="0" i="0">
                <a:solidFill>
                  <a:srgbClr val="59697A"/>
                </a:solidFill>
                <a:latin typeface="Arial"/>
              </a:rPr>
              <a:t>Reference pretraining cohort</a:t>
            </a:r>
          </a:p>
        </p:txBody>
      </p:sp>
      <p:sp>
        <p:nvSpPr>
          <p:cNvPr id="20" name="TextBox 19"/>
          <p:cNvSpPr txBox="1"/>
          <p:nvPr/>
        </p:nvSpPr>
        <p:spPr>
          <a:xfrm>
            <a:off x="6254496" y="2414016"/>
            <a:ext cx="2331720" cy="630936"/>
          </a:xfrm>
          <a:prstGeom prst="rect">
            <a:avLst/>
          </a:prstGeom>
          <a:noFill/>
        </p:spPr>
        <p:txBody>
          <a:bodyPr wrap="square" lIns="18288" rIns="18288" tIns="18288" bIns="18288" anchor="t">
            <a:spAutoFit/>
          </a:bodyPr>
          <a:lstStyle/>
          <a:p>
            <a:pPr algn="l">
              <a:spcAft>
                <a:spcPts val="0"/>
              </a:spcAft>
            </a:pPr>
            <a:r>
              <a:rPr sz="3900" b="1" i="0">
                <a:solidFill>
                  <a:srgbClr val="082B55"/>
                </a:solidFill>
                <a:latin typeface="Arial"/>
              </a:rPr>
              <a:t>997,515</a:t>
            </a:r>
          </a:p>
        </p:txBody>
      </p:sp>
      <p:sp>
        <p:nvSpPr>
          <p:cNvPr id="21" name="TextBox 20"/>
          <p:cNvSpPr txBox="1"/>
          <p:nvPr/>
        </p:nvSpPr>
        <p:spPr>
          <a:xfrm>
            <a:off x="6309360" y="3008376"/>
            <a:ext cx="1600200"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profiles screened</a:t>
            </a:r>
          </a:p>
        </p:txBody>
      </p:sp>
      <p:sp>
        <p:nvSpPr>
          <p:cNvPr id="22" name="Right Arrow 21"/>
          <p:cNvSpPr/>
          <p:nvPr/>
        </p:nvSpPr>
        <p:spPr>
          <a:xfrm>
            <a:off x="8467344" y="2633472"/>
            <a:ext cx="384048" cy="27432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015984" y="2432304"/>
            <a:ext cx="1554480" cy="493776"/>
          </a:xfrm>
          <a:prstGeom prst="rect">
            <a:avLst/>
          </a:prstGeom>
          <a:noFill/>
        </p:spPr>
        <p:txBody>
          <a:bodyPr wrap="square" lIns="18288" rIns="18288" tIns="18288" bIns="18288" anchor="t">
            <a:spAutoFit/>
          </a:bodyPr>
          <a:lstStyle/>
          <a:p>
            <a:pPr algn="l">
              <a:spcAft>
                <a:spcPts val="0"/>
              </a:spcAft>
            </a:pPr>
            <a:r>
              <a:rPr sz="2900" b="1" i="0">
                <a:solidFill>
                  <a:srgbClr val="082B55"/>
                </a:solidFill>
                <a:latin typeface="Arial"/>
              </a:rPr>
              <a:t>17,244</a:t>
            </a:r>
          </a:p>
        </p:txBody>
      </p:sp>
      <p:sp>
        <p:nvSpPr>
          <p:cNvPr id="24" name="TextBox 23"/>
          <p:cNvSpPr txBox="1"/>
          <p:nvPr/>
        </p:nvSpPr>
        <p:spPr>
          <a:xfrm>
            <a:off x="9043416" y="2962656"/>
            <a:ext cx="1005840"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selected</a:t>
            </a:r>
          </a:p>
        </p:txBody>
      </p:sp>
      <p:sp>
        <p:nvSpPr>
          <p:cNvPr id="25" name="TextBox 24"/>
          <p:cNvSpPr txBox="1"/>
          <p:nvPr/>
        </p:nvSpPr>
        <p:spPr>
          <a:xfrm>
            <a:off x="10442448" y="2496312"/>
            <a:ext cx="1143000" cy="329184"/>
          </a:xfrm>
          <a:prstGeom prst="rect">
            <a:avLst/>
          </a:prstGeom>
          <a:noFill/>
        </p:spPr>
        <p:txBody>
          <a:bodyPr wrap="square" lIns="18288" rIns="18288" tIns="18288" bIns="18288" anchor="t">
            <a:spAutoFit/>
          </a:bodyPr>
          <a:lstStyle/>
          <a:p>
            <a:pPr algn="l">
              <a:spcAft>
                <a:spcPts val="0"/>
              </a:spcAft>
            </a:pPr>
            <a:r>
              <a:rPr sz="1700" b="1" i="0">
                <a:solidFill>
                  <a:srgbClr val="178681"/>
                </a:solidFill>
                <a:latin typeface="Arial"/>
              </a:rPr>
              <a:t>20 tissues</a:t>
            </a:r>
          </a:p>
        </p:txBody>
      </p:sp>
      <p:sp>
        <p:nvSpPr>
          <p:cNvPr id="26" name="Rectangle 25"/>
          <p:cNvSpPr/>
          <p:nvPr/>
        </p:nvSpPr>
        <p:spPr>
          <a:xfrm>
            <a:off x="566928" y="4178808"/>
            <a:ext cx="11045952" cy="16459"/>
          </a:xfrm>
          <a:prstGeom prst="rect">
            <a:avLst/>
          </a:prstGeom>
          <a:solidFill>
            <a:srgbClr val="D6DE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4407408"/>
            <a:ext cx="10789920" cy="384048"/>
          </a:xfrm>
          <a:prstGeom prst="rect">
            <a:avLst/>
          </a:prstGeom>
          <a:noFill/>
        </p:spPr>
        <p:txBody>
          <a:bodyPr wrap="square" lIns="18288" rIns="18288" tIns="18288" bIns="18288" anchor="t">
            <a:spAutoFit/>
          </a:bodyPr>
          <a:lstStyle/>
          <a:p>
            <a:pPr algn="l">
              <a:spcAft>
                <a:spcPts val="0"/>
              </a:spcAft>
            </a:pPr>
            <a:r>
              <a:rPr sz="2200" b="1" i="0">
                <a:solidFill>
                  <a:srgbClr val="082B55"/>
                </a:solidFill>
                <a:latin typeface="Arial"/>
              </a:rPr>
              <a:t>Study effects can look like spaceflight biology.</a:t>
            </a:r>
          </a:p>
        </p:txBody>
      </p:sp>
      <p:sp>
        <p:nvSpPr>
          <p:cNvPr id="28" name="TextBox 27"/>
          <p:cNvSpPr txBox="1"/>
          <p:nvPr/>
        </p:nvSpPr>
        <p:spPr>
          <a:xfrm>
            <a:off x="585216" y="4956048"/>
            <a:ext cx="384048" cy="237744"/>
          </a:xfrm>
          <a:prstGeom prst="rect">
            <a:avLst/>
          </a:prstGeom>
          <a:noFill/>
        </p:spPr>
        <p:txBody>
          <a:bodyPr wrap="square" lIns="0" rIns="0" tIns="0" bIns="0" anchor="t">
            <a:spAutoFit/>
          </a:bodyPr>
          <a:lstStyle/>
          <a:p>
            <a:pPr algn="l">
              <a:spcAft>
                <a:spcPts val="0"/>
              </a:spcAft>
            </a:pPr>
            <a:r>
              <a:rPr sz="1050" b="1" i="0">
                <a:solidFill>
                  <a:srgbClr val="D37B00"/>
                </a:solidFill>
                <a:latin typeface="Arial"/>
              </a:rPr>
              <a:t>01</a:t>
            </a:r>
          </a:p>
        </p:txBody>
      </p:sp>
      <p:sp>
        <p:nvSpPr>
          <p:cNvPr id="29" name="TextBox 28"/>
          <p:cNvSpPr txBox="1"/>
          <p:nvPr/>
        </p:nvSpPr>
        <p:spPr>
          <a:xfrm>
            <a:off x="1069848" y="4928616"/>
            <a:ext cx="10012680" cy="283464"/>
          </a:xfrm>
          <a:prstGeom prst="rect">
            <a:avLst/>
          </a:prstGeom>
          <a:noFill/>
        </p:spPr>
        <p:txBody>
          <a:bodyPr wrap="square" lIns="0" rIns="0" tIns="0" bIns="0" anchor="t">
            <a:spAutoFit/>
          </a:bodyPr>
          <a:lstStyle/>
          <a:p>
            <a:pPr algn="l">
              <a:spcAft>
                <a:spcPts val="0"/>
              </a:spcAft>
            </a:pPr>
            <a:r>
              <a:rPr sz="1450" b="0" i="0">
                <a:solidFill>
                  <a:srgbClr val="263746"/>
                </a:solidFill>
                <a:latin typeface="Arial"/>
              </a:rPr>
              <a:t>Preserve tissue and FLT/GC structure.</a:t>
            </a:r>
          </a:p>
        </p:txBody>
      </p:sp>
      <p:sp>
        <p:nvSpPr>
          <p:cNvPr id="30" name="TextBox 29"/>
          <p:cNvSpPr txBox="1"/>
          <p:nvPr/>
        </p:nvSpPr>
        <p:spPr>
          <a:xfrm>
            <a:off x="585216" y="5340096"/>
            <a:ext cx="384048" cy="237744"/>
          </a:xfrm>
          <a:prstGeom prst="rect">
            <a:avLst/>
          </a:prstGeom>
          <a:noFill/>
        </p:spPr>
        <p:txBody>
          <a:bodyPr wrap="square" lIns="0" rIns="0" tIns="0" bIns="0" anchor="t">
            <a:spAutoFit/>
          </a:bodyPr>
          <a:lstStyle/>
          <a:p>
            <a:pPr algn="l">
              <a:spcAft>
                <a:spcPts val="0"/>
              </a:spcAft>
            </a:pPr>
            <a:r>
              <a:rPr sz="1050" b="1" i="0">
                <a:solidFill>
                  <a:srgbClr val="D37B00"/>
                </a:solidFill>
                <a:latin typeface="Arial"/>
              </a:rPr>
              <a:t>02</a:t>
            </a:r>
          </a:p>
        </p:txBody>
      </p:sp>
      <p:sp>
        <p:nvSpPr>
          <p:cNvPr id="31" name="TextBox 30"/>
          <p:cNvSpPr txBox="1"/>
          <p:nvPr/>
        </p:nvSpPr>
        <p:spPr>
          <a:xfrm>
            <a:off x="1069848" y="5312664"/>
            <a:ext cx="10012680" cy="283464"/>
          </a:xfrm>
          <a:prstGeom prst="rect">
            <a:avLst/>
          </a:prstGeom>
          <a:noFill/>
        </p:spPr>
        <p:txBody>
          <a:bodyPr wrap="square" lIns="0" rIns="0" tIns="0" bIns="0" anchor="t">
            <a:spAutoFit/>
          </a:bodyPr>
          <a:lstStyle/>
          <a:p>
            <a:pPr algn="l">
              <a:spcAft>
                <a:spcPts val="0"/>
              </a:spcAft>
            </a:pPr>
            <a:r>
              <a:rPr sz="1450" b="0" i="0">
                <a:solidFill>
                  <a:srgbClr val="263746"/>
                </a:solidFill>
                <a:latin typeface="Arial"/>
              </a:rPr>
              <a:t>Avoid memorizing individual profiles.</a:t>
            </a:r>
          </a:p>
        </p:txBody>
      </p:sp>
      <p:sp>
        <p:nvSpPr>
          <p:cNvPr id="32" name="TextBox 31"/>
          <p:cNvSpPr txBox="1"/>
          <p:nvPr/>
        </p:nvSpPr>
        <p:spPr>
          <a:xfrm>
            <a:off x="585216" y="5724144"/>
            <a:ext cx="384048" cy="237744"/>
          </a:xfrm>
          <a:prstGeom prst="rect">
            <a:avLst/>
          </a:prstGeom>
          <a:noFill/>
        </p:spPr>
        <p:txBody>
          <a:bodyPr wrap="square" lIns="0" rIns="0" tIns="0" bIns="0" anchor="t">
            <a:spAutoFit/>
          </a:bodyPr>
          <a:lstStyle/>
          <a:p>
            <a:pPr algn="l">
              <a:spcAft>
                <a:spcPts val="0"/>
              </a:spcAft>
            </a:pPr>
            <a:r>
              <a:rPr sz="1050" b="1" i="0">
                <a:solidFill>
                  <a:srgbClr val="D37B00"/>
                </a:solidFill>
                <a:latin typeface="Arial"/>
              </a:rPr>
              <a:t>03</a:t>
            </a:r>
          </a:p>
        </p:txBody>
      </p:sp>
      <p:sp>
        <p:nvSpPr>
          <p:cNvPr id="33" name="TextBox 32"/>
          <p:cNvSpPr txBox="1"/>
          <p:nvPr/>
        </p:nvSpPr>
        <p:spPr>
          <a:xfrm>
            <a:off x="1069848" y="5696712"/>
            <a:ext cx="10012680" cy="283464"/>
          </a:xfrm>
          <a:prstGeom prst="rect">
            <a:avLst/>
          </a:prstGeom>
          <a:noFill/>
        </p:spPr>
        <p:txBody>
          <a:bodyPr wrap="square" lIns="0" rIns="0" tIns="0" bIns="0" anchor="t">
            <a:spAutoFit/>
          </a:bodyPr>
          <a:lstStyle/>
          <a:p>
            <a:pPr algn="l">
              <a:spcAft>
                <a:spcPts val="0"/>
              </a:spcAft>
            </a:pPr>
            <a:r>
              <a:rPr sz="1450" b="0" i="0">
                <a:solidFill>
                  <a:srgbClr val="263746"/>
                </a:solidFill>
                <a:latin typeface="Arial"/>
              </a:rPr>
              <a:t>Test biological effects in observed OSDR samples.</a:t>
            </a:r>
          </a:p>
        </p:txBody>
      </p:sp>
      <p:sp>
        <p:nvSpPr>
          <p:cNvPr id="34" name="TextBox 33"/>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Sources: NASA OSDR Biological Data API; ARCHS4 mouse v2.5.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STUDY GOALS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Match tissue distributions, then test FLT versus GC biology</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first goal validates the generator. The second asks whether synthetic data improves a real-data analysis.</a:t>
            </a:r>
          </a:p>
        </p:txBody>
      </p:sp>
      <p:sp>
        <p:nvSpPr>
          <p:cNvPr id="7" name="TextBox 6"/>
          <p:cNvSpPr txBox="1"/>
          <p:nvPr/>
        </p:nvSpPr>
        <p:spPr>
          <a:xfrm>
            <a:off x="530352" y="1901952"/>
            <a:ext cx="384048" cy="237744"/>
          </a:xfrm>
          <a:prstGeom prst="rect">
            <a:avLst/>
          </a:prstGeom>
          <a:noFill/>
        </p:spPr>
        <p:txBody>
          <a:bodyPr wrap="square" lIns="0" rIns="0" tIns="0" bIns="0" anchor="t">
            <a:spAutoFit/>
          </a:bodyPr>
          <a:lstStyle/>
          <a:p>
            <a:pPr algn="l">
              <a:spcAft>
                <a:spcPts val="0"/>
              </a:spcAft>
            </a:pPr>
            <a:r>
              <a:rPr sz="1100" b="1" i="0">
                <a:solidFill>
                  <a:srgbClr val="178681"/>
                </a:solidFill>
                <a:latin typeface="Arial"/>
              </a:rPr>
              <a:t>01</a:t>
            </a:r>
          </a:p>
        </p:txBody>
      </p:sp>
      <p:sp>
        <p:nvSpPr>
          <p:cNvPr id="8" name="TextBox 7"/>
          <p:cNvSpPr txBox="1"/>
          <p:nvPr/>
        </p:nvSpPr>
        <p:spPr>
          <a:xfrm>
            <a:off x="987552" y="1847088"/>
            <a:ext cx="4114800" cy="347472"/>
          </a:xfrm>
          <a:prstGeom prst="rect">
            <a:avLst/>
          </a:prstGeom>
          <a:noFill/>
        </p:spPr>
        <p:txBody>
          <a:bodyPr wrap="square" lIns="0" rIns="0" tIns="0" bIns="0" anchor="t">
            <a:spAutoFit/>
          </a:bodyPr>
          <a:lstStyle/>
          <a:p>
            <a:pPr algn="l">
              <a:spcAft>
                <a:spcPts val="0"/>
              </a:spcAft>
            </a:pPr>
            <a:r>
              <a:rPr sz="1800" b="1" i="0">
                <a:solidFill>
                  <a:srgbClr val="082B55"/>
                </a:solidFill>
                <a:latin typeface="Arial"/>
              </a:rPr>
              <a:t>Reproduce tissue structure</a:t>
            </a:r>
          </a:p>
        </p:txBody>
      </p:sp>
      <p:sp>
        <p:nvSpPr>
          <p:cNvPr id="9" name="TextBox 8"/>
          <p:cNvSpPr txBox="1"/>
          <p:nvPr/>
        </p:nvSpPr>
        <p:spPr>
          <a:xfrm>
            <a:off x="530352" y="2276856"/>
            <a:ext cx="5102352" cy="512064"/>
          </a:xfrm>
          <a:prstGeom prst="rect">
            <a:avLst/>
          </a:prstGeom>
          <a:noFill/>
        </p:spPr>
        <p:txBody>
          <a:bodyPr wrap="square" lIns="0" rIns="0" tIns="0" bIns="0" anchor="t">
            <a:spAutoFit/>
          </a:bodyPr>
          <a:lstStyle/>
          <a:p>
            <a:pPr algn="l">
              <a:spcAft>
                <a:spcPts val="0"/>
              </a:spcAft>
            </a:pPr>
            <a:r>
              <a:rPr sz="1340" b="0" i="0">
                <a:solidFill>
                  <a:srgbClr val="263746"/>
                </a:solidFill>
                <a:latin typeface="Arial"/>
              </a:rPr>
              <a:t>Synthetic bulk RNA-seq should occupy the same tissue-defined expression space as real profiles.</a:t>
            </a:r>
          </a:p>
        </p:txBody>
      </p:sp>
      <p:sp>
        <p:nvSpPr>
          <p:cNvPr id="10" name="Rectangle 9"/>
          <p:cNvSpPr/>
          <p:nvPr/>
        </p:nvSpPr>
        <p:spPr>
          <a:xfrm>
            <a:off x="758952" y="4187952"/>
            <a:ext cx="4498848" cy="16459"/>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58952" y="2871216"/>
            <a:ext cx="16459" cy="1335024"/>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79576" y="3547872"/>
            <a:ext cx="118872" cy="11887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rot="2700000">
            <a:off x="1271016" y="3575304"/>
            <a:ext cx="164592"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rot="18900000">
            <a:off x="1271016" y="3575304"/>
            <a:ext cx="164592"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435608" y="3465576"/>
            <a:ext cx="118872" cy="11887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rot="2700000">
            <a:off x="1527048" y="3593592"/>
            <a:ext cx="164592"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rot="18900000">
            <a:off x="1527048" y="3593592"/>
            <a:ext cx="164592"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591056" y="3657600"/>
            <a:ext cx="118872" cy="11887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rot="2700000">
            <a:off x="1682496" y="3685032"/>
            <a:ext cx="164592"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rot="18900000">
            <a:off x="1682496" y="3685032"/>
            <a:ext cx="164592"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316736" y="3803904"/>
            <a:ext cx="118872" cy="11887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rot="2700000">
            <a:off x="1408176" y="3931920"/>
            <a:ext cx="164592"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rot="18900000">
            <a:off x="1408176" y="3931920"/>
            <a:ext cx="164592"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51560" y="4005072"/>
            <a:ext cx="896112" cy="201168"/>
          </a:xfrm>
          <a:prstGeom prst="rect">
            <a:avLst/>
          </a:prstGeom>
          <a:noFill/>
        </p:spPr>
        <p:txBody>
          <a:bodyPr wrap="square" lIns="0" rIns="0" tIns="0" bIns="0" anchor="t">
            <a:spAutoFit/>
          </a:bodyPr>
          <a:lstStyle/>
          <a:p>
            <a:pPr algn="ctr">
              <a:spcAft>
                <a:spcPts val="0"/>
              </a:spcAft>
            </a:pPr>
            <a:r>
              <a:rPr sz="919" b="0" i="0">
                <a:solidFill>
                  <a:srgbClr val="59697A"/>
                </a:solidFill>
                <a:latin typeface="Arial"/>
              </a:rPr>
              <a:t>Liver</a:t>
            </a:r>
          </a:p>
        </p:txBody>
      </p:sp>
      <p:sp>
        <p:nvSpPr>
          <p:cNvPr id="25" name="Oval 24"/>
          <p:cNvSpPr/>
          <p:nvPr/>
        </p:nvSpPr>
        <p:spPr>
          <a:xfrm>
            <a:off x="2642616" y="3044952"/>
            <a:ext cx="118872" cy="118872"/>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rot="2700000">
            <a:off x="2734056" y="3072384"/>
            <a:ext cx="164592"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rot="18900000">
            <a:off x="2734056" y="3072384"/>
            <a:ext cx="164592"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2898648" y="2962656"/>
            <a:ext cx="118872" cy="118872"/>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rot="2700000">
            <a:off x="2990088" y="3090672"/>
            <a:ext cx="164592"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rot="18900000">
            <a:off x="2990088" y="3090672"/>
            <a:ext cx="164592"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3054096" y="3154680"/>
            <a:ext cx="118872" cy="118872"/>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rot="2700000">
            <a:off x="3145536" y="3182112"/>
            <a:ext cx="164592"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rot="18900000">
            <a:off x="3145536" y="3182112"/>
            <a:ext cx="164592"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2779776" y="3300984"/>
            <a:ext cx="118872" cy="118872"/>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rot="2700000">
            <a:off x="2871216" y="3429000"/>
            <a:ext cx="164592"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rot="18900000">
            <a:off x="2871216" y="3429000"/>
            <a:ext cx="164592"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514600" y="3502152"/>
            <a:ext cx="896112" cy="201168"/>
          </a:xfrm>
          <a:prstGeom prst="rect">
            <a:avLst/>
          </a:prstGeom>
          <a:noFill/>
        </p:spPr>
        <p:txBody>
          <a:bodyPr wrap="square" lIns="0" rIns="0" tIns="0" bIns="0" anchor="t">
            <a:spAutoFit/>
          </a:bodyPr>
          <a:lstStyle/>
          <a:p>
            <a:pPr algn="ctr">
              <a:spcAft>
                <a:spcPts val="0"/>
              </a:spcAft>
            </a:pPr>
            <a:r>
              <a:rPr sz="919" b="0" i="0">
                <a:solidFill>
                  <a:srgbClr val="59697A"/>
                </a:solidFill>
                <a:latin typeface="Arial"/>
              </a:rPr>
              <a:t>Muscle</a:t>
            </a:r>
          </a:p>
        </p:txBody>
      </p:sp>
      <p:sp>
        <p:nvSpPr>
          <p:cNvPr id="38" name="Oval 37"/>
          <p:cNvSpPr/>
          <p:nvPr/>
        </p:nvSpPr>
        <p:spPr>
          <a:xfrm>
            <a:off x="4151375" y="3593592"/>
            <a:ext cx="118872" cy="118872"/>
          </a:xfrm>
          <a:prstGeom prst="ellipse">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rot="2700000">
            <a:off x="4242815" y="3621024"/>
            <a:ext cx="164592"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rot="18900000">
            <a:off x="4242815" y="3621024"/>
            <a:ext cx="164592"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4407407" y="3511296"/>
            <a:ext cx="118872" cy="118872"/>
          </a:xfrm>
          <a:prstGeom prst="ellipse">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rot="2700000">
            <a:off x="4498847" y="3639312"/>
            <a:ext cx="164592"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rot="18900000">
            <a:off x="4498847" y="3639312"/>
            <a:ext cx="164592"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4562855" y="3703320"/>
            <a:ext cx="118872" cy="118872"/>
          </a:xfrm>
          <a:prstGeom prst="ellipse">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rot="2700000">
            <a:off x="4654295" y="3730751"/>
            <a:ext cx="164592"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rot="18900000">
            <a:off x="4654295" y="3730751"/>
            <a:ext cx="164592"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4288536" y="3849624"/>
            <a:ext cx="118872" cy="118872"/>
          </a:xfrm>
          <a:prstGeom prst="ellipse">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rot="2700000">
            <a:off x="4379975" y="3977639"/>
            <a:ext cx="164592"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rot="18900000">
            <a:off x="4379975" y="3977639"/>
            <a:ext cx="164592"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023359" y="4050792"/>
            <a:ext cx="896112" cy="201168"/>
          </a:xfrm>
          <a:prstGeom prst="rect">
            <a:avLst/>
          </a:prstGeom>
          <a:noFill/>
        </p:spPr>
        <p:txBody>
          <a:bodyPr wrap="square" lIns="0" rIns="0" tIns="0" bIns="0" anchor="t">
            <a:spAutoFit/>
          </a:bodyPr>
          <a:lstStyle/>
          <a:p>
            <a:pPr algn="ctr">
              <a:spcAft>
                <a:spcPts val="0"/>
              </a:spcAft>
            </a:pPr>
            <a:r>
              <a:rPr sz="919" b="0" i="0">
                <a:solidFill>
                  <a:srgbClr val="59697A"/>
                </a:solidFill>
                <a:latin typeface="Arial"/>
              </a:rPr>
              <a:t>Thymus</a:t>
            </a:r>
          </a:p>
        </p:txBody>
      </p:sp>
      <p:sp>
        <p:nvSpPr>
          <p:cNvPr id="51" name="Oval 50"/>
          <p:cNvSpPr/>
          <p:nvPr/>
        </p:nvSpPr>
        <p:spPr>
          <a:xfrm>
            <a:off x="850392" y="2788920"/>
            <a:ext cx="109728" cy="109728"/>
          </a:xfrm>
          <a:prstGeom prst="ellipse">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005840" y="2761488"/>
            <a:ext cx="502920" cy="182880"/>
          </a:xfrm>
          <a:prstGeom prst="rect">
            <a:avLst/>
          </a:prstGeom>
          <a:noFill/>
        </p:spPr>
        <p:txBody>
          <a:bodyPr wrap="square" lIns="0" rIns="0" tIns="0" bIns="0" anchor="t">
            <a:spAutoFit/>
          </a:bodyPr>
          <a:lstStyle/>
          <a:p>
            <a:pPr algn="l">
              <a:spcAft>
                <a:spcPts val="0"/>
              </a:spcAft>
            </a:pPr>
            <a:r>
              <a:rPr sz="919" b="0" i="0">
                <a:solidFill>
                  <a:srgbClr val="59697A"/>
                </a:solidFill>
                <a:latin typeface="Arial"/>
              </a:rPr>
              <a:t>Real</a:t>
            </a:r>
          </a:p>
        </p:txBody>
      </p:sp>
      <p:sp>
        <p:nvSpPr>
          <p:cNvPr id="53" name="Rectangle 52"/>
          <p:cNvSpPr/>
          <p:nvPr/>
        </p:nvSpPr>
        <p:spPr>
          <a:xfrm rot="2700000">
            <a:off x="1554480" y="2825496"/>
            <a:ext cx="164592" cy="22860"/>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rot="18900000">
            <a:off x="1554480" y="2825496"/>
            <a:ext cx="164592" cy="22860"/>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783080" y="2761488"/>
            <a:ext cx="822960" cy="182880"/>
          </a:xfrm>
          <a:prstGeom prst="rect">
            <a:avLst/>
          </a:prstGeom>
          <a:noFill/>
        </p:spPr>
        <p:txBody>
          <a:bodyPr wrap="square" lIns="0" rIns="0" tIns="0" bIns="0" anchor="t">
            <a:spAutoFit/>
          </a:bodyPr>
          <a:lstStyle/>
          <a:p>
            <a:pPr algn="l">
              <a:spcAft>
                <a:spcPts val="0"/>
              </a:spcAft>
            </a:pPr>
            <a:r>
              <a:rPr sz="919" b="0" i="0">
                <a:solidFill>
                  <a:srgbClr val="59697A"/>
                </a:solidFill>
                <a:latin typeface="Arial"/>
              </a:rPr>
              <a:t>Generated</a:t>
            </a:r>
          </a:p>
        </p:txBody>
      </p:sp>
      <p:sp>
        <p:nvSpPr>
          <p:cNvPr id="56" name="Rectangle 55"/>
          <p:cNvSpPr/>
          <p:nvPr/>
        </p:nvSpPr>
        <p:spPr>
          <a:xfrm>
            <a:off x="5943600" y="1874519"/>
            <a:ext cx="13716" cy="2487168"/>
          </a:xfrm>
          <a:prstGeom prst="rect">
            <a:avLst/>
          </a:prstGeom>
          <a:solidFill>
            <a:srgbClr val="D6DE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272784" y="1901952"/>
            <a:ext cx="384048" cy="237744"/>
          </a:xfrm>
          <a:prstGeom prst="rect">
            <a:avLst/>
          </a:prstGeom>
          <a:noFill/>
        </p:spPr>
        <p:txBody>
          <a:bodyPr wrap="square" lIns="0" rIns="0" tIns="0" bIns="0" anchor="t">
            <a:spAutoFit/>
          </a:bodyPr>
          <a:lstStyle/>
          <a:p>
            <a:pPr algn="l">
              <a:spcAft>
                <a:spcPts val="0"/>
              </a:spcAft>
            </a:pPr>
            <a:r>
              <a:rPr sz="1100" b="1" i="0">
                <a:solidFill>
                  <a:srgbClr val="D96552"/>
                </a:solidFill>
                <a:latin typeface="Arial"/>
              </a:rPr>
              <a:t>02</a:t>
            </a:r>
          </a:p>
        </p:txBody>
      </p:sp>
      <p:sp>
        <p:nvSpPr>
          <p:cNvPr id="58" name="TextBox 57"/>
          <p:cNvSpPr txBox="1"/>
          <p:nvPr/>
        </p:nvSpPr>
        <p:spPr>
          <a:xfrm>
            <a:off x="6729984" y="1847088"/>
            <a:ext cx="4535424" cy="347472"/>
          </a:xfrm>
          <a:prstGeom prst="rect">
            <a:avLst/>
          </a:prstGeom>
          <a:noFill/>
        </p:spPr>
        <p:txBody>
          <a:bodyPr wrap="square" lIns="0" rIns="0" tIns="0" bIns="0" anchor="t">
            <a:spAutoFit/>
          </a:bodyPr>
          <a:lstStyle/>
          <a:p>
            <a:pPr algn="l">
              <a:spcAft>
                <a:spcPts val="0"/>
              </a:spcAft>
            </a:pPr>
            <a:r>
              <a:rPr sz="1800" b="1" i="0">
                <a:solidFill>
                  <a:srgbClr val="082B55"/>
                </a:solidFill>
                <a:latin typeface="Arial"/>
              </a:rPr>
              <a:t>Preserve the FLT/GC difference</a:t>
            </a:r>
          </a:p>
        </p:txBody>
      </p:sp>
      <p:sp>
        <p:nvSpPr>
          <p:cNvPr id="59" name="TextBox 58"/>
          <p:cNvSpPr txBox="1"/>
          <p:nvPr/>
        </p:nvSpPr>
        <p:spPr>
          <a:xfrm>
            <a:off x="6272784" y="2276856"/>
            <a:ext cx="5120640" cy="512064"/>
          </a:xfrm>
          <a:prstGeom prst="rect">
            <a:avLst/>
          </a:prstGeom>
          <a:noFill/>
        </p:spPr>
        <p:txBody>
          <a:bodyPr wrap="square" lIns="0" rIns="0" tIns="0" bIns="0" anchor="t">
            <a:spAutoFit/>
          </a:bodyPr>
          <a:lstStyle/>
          <a:p>
            <a:pPr algn="l">
              <a:spcAft>
                <a:spcPts val="0"/>
              </a:spcAft>
            </a:pPr>
            <a:r>
              <a:rPr sz="1340" b="0" i="0">
                <a:solidFill>
                  <a:srgbClr val="263746"/>
                </a:solidFill>
                <a:latin typeface="Arial"/>
              </a:rPr>
              <a:t>Within each tissue, generated profiles should retain the smaller condition signal.</a:t>
            </a:r>
          </a:p>
        </p:txBody>
      </p:sp>
      <p:sp>
        <p:nvSpPr>
          <p:cNvPr id="60" name="TextBox 59"/>
          <p:cNvSpPr txBox="1"/>
          <p:nvPr/>
        </p:nvSpPr>
        <p:spPr>
          <a:xfrm>
            <a:off x="6565392" y="2962656"/>
            <a:ext cx="658368" cy="256032"/>
          </a:xfrm>
          <a:prstGeom prst="rect">
            <a:avLst/>
          </a:prstGeom>
          <a:noFill/>
        </p:spPr>
        <p:txBody>
          <a:bodyPr wrap="square" lIns="0" rIns="0" tIns="0" bIns="0" anchor="t">
            <a:spAutoFit/>
          </a:bodyPr>
          <a:lstStyle/>
          <a:p>
            <a:pPr algn="ctr">
              <a:spcAft>
                <a:spcPts val="0"/>
              </a:spcAft>
            </a:pPr>
            <a:r>
              <a:rPr sz="1400" b="1" i="0">
                <a:solidFill>
                  <a:srgbClr val="D96552"/>
                </a:solidFill>
                <a:latin typeface="Arial"/>
              </a:rPr>
              <a:t>FLT</a:t>
            </a:r>
          </a:p>
        </p:txBody>
      </p:sp>
      <p:sp>
        <p:nvSpPr>
          <p:cNvPr id="61" name="TextBox 60"/>
          <p:cNvSpPr txBox="1"/>
          <p:nvPr/>
        </p:nvSpPr>
        <p:spPr>
          <a:xfrm>
            <a:off x="8302752" y="2962656"/>
            <a:ext cx="658368" cy="256032"/>
          </a:xfrm>
          <a:prstGeom prst="rect">
            <a:avLst/>
          </a:prstGeom>
          <a:noFill/>
        </p:spPr>
        <p:txBody>
          <a:bodyPr wrap="square" lIns="0" rIns="0" tIns="0" bIns="0" anchor="t">
            <a:spAutoFit/>
          </a:bodyPr>
          <a:lstStyle/>
          <a:p>
            <a:pPr algn="ctr">
              <a:spcAft>
                <a:spcPts val="0"/>
              </a:spcAft>
            </a:pPr>
            <a:r>
              <a:rPr sz="1400" b="1" i="0">
                <a:solidFill>
                  <a:srgbClr val="2D6496"/>
                </a:solidFill>
                <a:latin typeface="Arial"/>
              </a:rPr>
              <a:t>GC</a:t>
            </a:r>
          </a:p>
        </p:txBody>
      </p:sp>
      <p:sp>
        <p:nvSpPr>
          <p:cNvPr id="62" name="Oval 61"/>
          <p:cNvSpPr/>
          <p:nvPr/>
        </p:nvSpPr>
        <p:spPr>
          <a:xfrm>
            <a:off x="6565392" y="3410712"/>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6876288" y="3273552"/>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7123176" y="3483864"/>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6739128" y="3694176"/>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8311896" y="3410712"/>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8622792" y="3273552"/>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8869680" y="3483864"/>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8485632" y="3694176"/>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7662672" y="3429000"/>
            <a:ext cx="384048" cy="219456"/>
          </a:xfrm>
          <a:prstGeom prst="rect">
            <a:avLst/>
          </a:prstGeom>
          <a:noFill/>
        </p:spPr>
        <p:txBody>
          <a:bodyPr wrap="square" lIns="0" rIns="0" tIns="0" bIns="0" anchor="t">
            <a:spAutoFit/>
          </a:bodyPr>
          <a:lstStyle/>
          <a:p>
            <a:pPr algn="ctr">
              <a:spcAft>
                <a:spcPts val="0"/>
              </a:spcAft>
            </a:pPr>
            <a:r>
              <a:rPr sz="1150" b="1" i="0">
                <a:solidFill>
                  <a:srgbClr val="8A969E"/>
                </a:solidFill>
                <a:latin typeface="Arial"/>
              </a:rPr>
              <a:t>vs</a:t>
            </a:r>
          </a:p>
        </p:txBody>
      </p:sp>
      <p:sp>
        <p:nvSpPr>
          <p:cNvPr id="71" name="Right Arrow 70"/>
          <p:cNvSpPr/>
          <p:nvPr/>
        </p:nvSpPr>
        <p:spPr>
          <a:xfrm>
            <a:off x="9125712" y="3355848"/>
            <a:ext cx="283464" cy="256032"/>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9592056" y="3017520"/>
            <a:ext cx="1828800" cy="1042415"/>
          </a:xfrm>
          <a:prstGeom prst="rect">
            <a:avLst/>
          </a:prstGeom>
          <a:solidFill>
            <a:srgbClr val="E9F1F7"/>
          </a:solidFill>
          <a:ln w="10160">
            <a:solidFill>
              <a:srgbClr val="D4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9765792" y="3172968"/>
            <a:ext cx="1490472" cy="164592"/>
          </a:xfrm>
          <a:prstGeom prst="rect">
            <a:avLst/>
          </a:prstGeom>
          <a:noFill/>
        </p:spPr>
        <p:txBody>
          <a:bodyPr wrap="square" lIns="0" rIns="0" tIns="0" bIns="0" anchor="t">
            <a:spAutoFit/>
          </a:bodyPr>
          <a:lstStyle/>
          <a:p>
            <a:pPr algn="l">
              <a:spcAft>
                <a:spcPts val="0"/>
              </a:spcAft>
            </a:pPr>
            <a:r>
              <a:rPr sz="919" b="1" i="0">
                <a:solidFill>
                  <a:srgbClr val="2D6496"/>
                </a:solidFill>
                <a:latin typeface="Arial"/>
              </a:rPr>
              <a:t>OUTPUT</a:t>
            </a:r>
          </a:p>
        </p:txBody>
      </p:sp>
      <p:sp>
        <p:nvSpPr>
          <p:cNvPr id="74" name="TextBox 73"/>
          <p:cNvSpPr txBox="1"/>
          <p:nvPr/>
        </p:nvSpPr>
        <p:spPr>
          <a:xfrm>
            <a:off x="9765792" y="3429000"/>
            <a:ext cx="1490472" cy="493776"/>
          </a:xfrm>
          <a:prstGeom prst="rect">
            <a:avLst/>
          </a:prstGeom>
          <a:noFill/>
        </p:spPr>
        <p:txBody>
          <a:bodyPr wrap="square" lIns="0" rIns="0" tIns="0" bIns="0" anchor="t">
            <a:spAutoFit/>
          </a:bodyPr>
          <a:lstStyle/>
          <a:p>
            <a:pPr algn="l">
              <a:spcAft>
                <a:spcPts val="0"/>
              </a:spcAft>
            </a:pPr>
            <a:r>
              <a:rPr sz="1220" b="1" i="0">
                <a:solidFill>
                  <a:srgbClr val="082B55"/>
                </a:solidFill>
                <a:latin typeface="Arial"/>
              </a:rPr>
              <a:t>Tissue-specific
genes and pathways</a:t>
            </a:r>
          </a:p>
        </p:txBody>
      </p:sp>
      <p:sp>
        <p:nvSpPr>
          <p:cNvPr id="75" name="Rectangle 74"/>
          <p:cNvSpPr/>
          <p:nvPr/>
        </p:nvSpPr>
        <p:spPr>
          <a:xfrm>
            <a:off x="548640" y="4681728"/>
            <a:ext cx="11045952" cy="3200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566928" y="4965192"/>
            <a:ext cx="1417320" cy="274320"/>
          </a:xfrm>
          <a:prstGeom prst="rect">
            <a:avLst/>
          </a:prstGeom>
          <a:noFill/>
        </p:spPr>
        <p:txBody>
          <a:bodyPr wrap="square" lIns="0" rIns="0" tIns="0" bIns="0" anchor="t">
            <a:spAutoFit/>
          </a:bodyPr>
          <a:lstStyle/>
          <a:p>
            <a:pPr algn="l">
              <a:spcAft>
                <a:spcPts val="0"/>
              </a:spcAft>
            </a:pPr>
            <a:r>
              <a:rPr sz="1650" b="1" i="0">
                <a:solidFill>
                  <a:srgbClr val="178681"/>
                </a:solidFill>
                <a:latin typeface="Arial"/>
              </a:rPr>
              <a:t>Model choice</a:t>
            </a:r>
          </a:p>
        </p:txBody>
      </p:sp>
      <p:sp>
        <p:nvSpPr>
          <p:cNvPr id="77" name="TextBox 76"/>
          <p:cNvSpPr txBox="1"/>
          <p:nvPr/>
        </p:nvSpPr>
        <p:spPr>
          <a:xfrm>
            <a:off x="1993392" y="4882896"/>
            <a:ext cx="6766560" cy="530352"/>
          </a:xfrm>
          <a:prstGeom prst="rect">
            <a:avLst/>
          </a:prstGeom>
          <a:noFill/>
        </p:spPr>
        <p:txBody>
          <a:bodyPr wrap="square" lIns="0" rIns="0" tIns="0" bIns="0" anchor="ctr">
            <a:spAutoFit/>
          </a:bodyPr>
          <a:lstStyle/>
          <a:p>
            <a:pPr algn="l">
              <a:spcAft>
                <a:spcPts val="0"/>
              </a:spcAft>
            </a:pPr>
            <a:r>
              <a:rPr sz="1500" b="0" i="0">
                <a:solidFill>
                  <a:srgbClr val="082B55"/>
                </a:solidFill>
                <a:latin typeface="Arial"/>
              </a:rPr>
              <a:t>Use the pipeline that matches tissue structure and performs best on held-out real FLT/GC samples.</a:t>
            </a:r>
          </a:p>
        </p:txBody>
      </p:sp>
      <p:sp>
        <p:nvSpPr>
          <p:cNvPr id="78" name="TextBox 77"/>
          <p:cNvSpPr txBox="1"/>
          <p:nvPr/>
        </p:nvSpPr>
        <p:spPr>
          <a:xfrm>
            <a:off x="9034272" y="4956048"/>
            <a:ext cx="2350008" cy="420624"/>
          </a:xfrm>
          <a:prstGeom prst="rect">
            <a:avLst/>
          </a:prstGeom>
          <a:noFill/>
        </p:spPr>
        <p:txBody>
          <a:bodyPr wrap="square" lIns="0" rIns="0" tIns="0" bIns="0" anchor="t">
            <a:spAutoFit/>
          </a:bodyPr>
          <a:lstStyle/>
          <a:p>
            <a:pPr algn="l">
              <a:spcAft>
                <a:spcPts val="0"/>
              </a:spcAft>
            </a:pPr>
            <a:r>
              <a:rPr sz="1150" b="0" i="0">
                <a:solidFill>
                  <a:srgbClr val="59697A"/>
                </a:solidFill>
                <a:latin typeface="Arial"/>
              </a:rPr>
              <a:t>Gene effects and BH FDR use observed OSDR data.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METHOD</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We built a configurable bulk RNA-seq generation pipeline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downstream analysis used the outlined options; the remaining choices stay configurable.</a:t>
            </a:r>
          </a:p>
        </p:txBody>
      </p:sp>
      <p:sp>
        <p:nvSpPr>
          <p:cNvPr id="7" name="Rectangle 6"/>
          <p:cNvSpPr/>
          <p:nvPr/>
        </p:nvSpPr>
        <p:spPr>
          <a:xfrm>
            <a:off x="2551176" y="1856231"/>
            <a:ext cx="10972" cy="2962656"/>
          </a:xfrm>
          <a:prstGeom prst="rect">
            <a:avLst/>
          </a:prstGeom>
          <a:solidFill>
            <a:srgbClr val="D9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882896" y="1856231"/>
            <a:ext cx="10972" cy="2962656"/>
          </a:xfrm>
          <a:prstGeom prst="rect">
            <a:avLst/>
          </a:prstGeom>
          <a:solidFill>
            <a:srgbClr val="D9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214616" y="1856231"/>
            <a:ext cx="10972" cy="2962656"/>
          </a:xfrm>
          <a:prstGeom prst="rect">
            <a:avLst/>
          </a:prstGeom>
          <a:solidFill>
            <a:srgbClr val="D9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546336" y="1856231"/>
            <a:ext cx="10972" cy="2962656"/>
          </a:xfrm>
          <a:prstGeom prst="rect">
            <a:avLst/>
          </a:prstGeom>
          <a:solidFill>
            <a:srgbClr val="D9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805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01</a:t>
            </a:r>
          </a:p>
        </p:txBody>
      </p:sp>
      <p:sp>
        <p:nvSpPr>
          <p:cNvPr id="12" name="TextBox 11"/>
          <p:cNvSpPr txBox="1"/>
          <p:nvPr/>
        </p:nvSpPr>
        <p:spPr>
          <a:xfrm>
            <a:off x="83210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Data scope</a:t>
            </a:r>
          </a:p>
        </p:txBody>
      </p:sp>
      <p:sp>
        <p:nvSpPr>
          <p:cNvPr id="13" name="Rectangle 12"/>
          <p:cNvSpPr/>
          <p:nvPr/>
        </p:nvSpPr>
        <p:spPr>
          <a:xfrm>
            <a:off x="448056" y="2331720"/>
            <a:ext cx="1874519" cy="2011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634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Sources</a:t>
            </a:r>
          </a:p>
        </p:txBody>
      </p:sp>
      <p:sp>
        <p:nvSpPr>
          <p:cNvPr id="15" name="Rectangle 14"/>
          <p:cNvSpPr/>
          <p:nvPr/>
        </p:nvSpPr>
        <p:spPr>
          <a:xfrm>
            <a:off x="466344" y="2688336"/>
            <a:ext cx="905255"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66344" y="2688336"/>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2064" y="2738628"/>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OSDR API</a:t>
            </a:r>
          </a:p>
        </p:txBody>
      </p:sp>
      <p:sp>
        <p:nvSpPr>
          <p:cNvPr id="18" name="Rectangle 17"/>
          <p:cNvSpPr/>
          <p:nvPr/>
        </p:nvSpPr>
        <p:spPr>
          <a:xfrm>
            <a:off x="1417319" y="2688336"/>
            <a:ext cx="905255"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417319" y="2688336"/>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463039" y="2738628"/>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ARCHS4</a:t>
            </a:r>
          </a:p>
        </p:txBody>
      </p:sp>
      <p:sp>
        <p:nvSpPr>
          <p:cNvPr id="21" name="TextBox 20"/>
          <p:cNvSpPr txBox="1"/>
          <p:nvPr/>
        </p:nvSpPr>
        <p:spPr>
          <a:xfrm>
            <a:off x="466344" y="3182112"/>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Studies</a:t>
            </a:r>
          </a:p>
        </p:txBody>
      </p:sp>
      <p:sp>
        <p:nvSpPr>
          <p:cNvPr id="22" name="TextBox 21"/>
          <p:cNvSpPr txBox="1"/>
          <p:nvPr/>
        </p:nvSpPr>
        <p:spPr>
          <a:xfrm>
            <a:off x="512064" y="3433572"/>
            <a:ext cx="813815" cy="210312"/>
          </a:xfrm>
          <a:prstGeom prst="rect">
            <a:avLst/>
          </a:prstGeom>
          <a:noFill/>
        </p:spPr>
        <p:txBody>
          <a:bodyPr wrap="square" lIns="0" rIns="0" tIns="0" bIns="0" anchor="ctr">
            <a:spAutoFit/>
          </a:bodyPr>
          <a:lstStyle/>
          <a:p>
            <a:pPr algn="ctr">
              <a:spcAft>
                <a:spcPts val="0"/>
              </a:spcAft>
            </a:pPr>
            <a:r>
              <a:rPr sz="880" b="0" i="0">
                <a:solidFill>
                  <a:srgbClr val="8A969E"/>
                </a:solidFill>
                <a:latin typeface="Arial"/>
              </a:rPr>
              <a:t>Single</a:t>
            </a:r>
          </a:p>
        </p:txBody>
      </p:sp>
      <p:sp>
        <p:nvSpPr>
          <p:cNvPr id="23" name="Rectangle 22"/>
          <p:cNvSpPr/>
          <p:nvPr/>
        </p:nvSpPr>
        <p:spPr>
          <a:xfrm>
            <a:off x="1417319" y="3383280"/>
            <a:ext cx="905255"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417319" y="3383280"/>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463039" y="3433572"/>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Multiple</a:t>
            </a:r>
          </a:p>
        </p:txBody>
      </p:sp>
      <p:sp>
        <p:nvSpPr>
          <p:cNvPr id="26" name="TextBox 25"/>
          <p:cNvSpPr txBox="1"/>
          <p:nvPr/>
        </p:nvSpPr>
        <p:spPr>
          <a:xfrm>
            <a:off x="466344" y="3877056"/>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Tissues</a:t>
            </a:r>
          </a:p>
        </p:txBody>
      </p:sp>
      <p:sp>
        <p:nvSpPr>
          <p:cNvPr id="27" name="TextBox 26"/>
          <p:cNvSpPr txBox="1"/>
          <p:nvPr/>
        </p:nvSpPr>
        <p:spPr>
          <a:xfrm>
            <a:off x="512064" y="4128515"/>
            <a:ext cx="813815" cy="210312"/>
          </a:xfrm>
          <a:prstGeom prst="rect">
            <a:avLst/>
          </a:prstGeom>
          <a:noFill/>
        </p:spPr>
        <p:txBody>
          <a:bodyPr wrap="square" lIns="0" rIns="0" tIns="0" bIns="0" anchor="ctr">
            <a:spAutoFit/>
          </a:bodyPr>
          <a:lstStyle/>
          <a:p>
            <a:pPr algn="ctr">
              <a:spcAft>
                <a:spcPts val="0"/>
              </a:spcAft>
            </a:pPr>
            <a:r>
              <a:rPr sz="880" b="0" i="0">
                <a:solidFill>
                  <a:srgbClr val="8A969E"/>
                </a:solidFill>
                <a:latin typeface="Arial"/>
              </a:rPr>
              <a:t>Per tissue</a:t>
            </a:r>
          </a:p>
        </p:txBody>
      </p:sp>
      <p:sp>
        <p:nvSpPr>
          <p:cNvPr id="28" name="Rectangle 27"/>
          <p:cNvSpPr/>
          <p:nvPr/>
        </p:nvSpPr>
        <p:spPr>
          <a:xfrm>
            <a:off x="1417319" y="4078224"/>
            <a:ext cx="905255"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417319" y="4078224"/>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463039" y="4128515"/>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All tissues</a:t>
            </a:r>
          </a:p>
        </p:txBody>
      </p:sp>
      <p:sp>
        <p:nvSpPr>
          <p:cNvPr id="31" name="TextBox 30"/>
          <p:cNvSpPr txBox="1"/>
          <p:nvPr/>
        </p:nvSpPr>
        <p:spPr>
          <a:xfrm>
            <a:off x="277977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02</a:t>
            </a:r>
          </a:p>
        </p:txBody>
      </p:sp>
      <p:sp>
        <p:nvSpPr>
          <p:cNvPr id="32" name="TextBox 31"/>
          <p:cNvSpPr txBox="1"/>
          <p:nvPr/>
        </p:nvSpPr>
        <p:spPr>
          <a:xfrm>
            <a:off x="316382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Transform</a:t>
            </a:r>
          </a:p>
        </p:txBody>
      </p:sp>
      <p:sp>
        <p:nvSpPr>
          <p:cNvPr id="33" name="Rectangle 32"/>
          <p:cNvSpPr/>
          <p:nvPr/>
        </p:nvSpPr>
        <p:spPr>
          <a:xfrm>
            <a:off x="2779776" y="2331720"/>
            <a:ext cx="1874519" cy="2011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79806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Expression</a:t>
            </a:r>
          </a:p>
        </p:txBody>
      </p:sp>
      <p:sp>
        <p:nvSpPr>
          <p:cNvPr id="35" name="TextBox 34"/>
          <p:cNvSpPr txBox="1"/>
          <p:nvPr/>
        </p:nvSpPr>
        <p:spPr>
          <a:xfrm>
            <a:off x="2843784" y="2738628"/>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Raw</a:t>
            </a:r>
          </a:p>
        </p:txBody>
      </p:sp>
      <p:sp>
        <p:nvSpPr>
          <p:cNvPr id="36" name="TextBox 35"/>
          <p:cNvSpPr txBox="1"/>
          <p:nvPr/>
        </p:nvSpPr>
        <p:spPr>
          <a:xfrm>
            <a:off x="3477768" y="2738628"/>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CPM</a:t>
            </a:r>
          </a:p>
        </p:txBody>
      </p:sp>
      <p:sp>
        <p:nvSpPr>
          <p:cNvPr id="37" name="Rectangle 36"/>
          <p:cNvSpPr/>
          <p:nvPr/>
        </p:nvSpPr>
        <p:spPr>
          <a:xfrm>
            <a:off x="4066031" y="2688336"/>
            <a:ext cx="588263"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066031" y="2688336"/>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111751" y="2738628"/>
            <a:ext cx="496823" cy="210312"/>
          </a:xfrm>
          <a:prstGeom prst="rect">
            <a:avLst/>
          </a:prstGeom>
          <a:noFill/>
        </p:spPr>
        <p:txBody>
          <a:bodyPr wrap="square" lIns="0" rIns="0" tIns="0" bIns="0" anchor="ctr">
            <a:spAutoFit/>
          </a:bodyPr>
          <a:lstStyle/>
          <a:p>
            <a:pPr algn="ctr">
              <a:spcAft>
                <a:spcPts val="0"/>
              </a:spcAft>
            </a:pPr>
            <a:r>
              <a:rPr sz="819" b="1" i="0">
                <a:solidFill>
                  <a:srgbClr val="082B55"/>
                </a:solidFill>
                <a:latin typeface="Arial"/>
              </a:rPr>
              <a:t>TPM</a:t>
            </a:r>
          </a:p>
        </p:txBody>
      </p:sp>
      <p:sp>
        <p:nvSpPr>
          <p:cNvPr id="40" name="TextBox 39"/>
          <p:cNvSpPr txBox="1"/>
          <p:nvPr/>
        </p:nvSpPr>
        <p:spPr>
          <a:xfrm>
            <a:off x="2798064" y="3182112"/>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Scaling</a:t>
            </a:r>
          </a:p>
        </p:txBody>
      </p:sp>
      <p:sp>
        <p:nvSpPr>
          <p:cNvPr id="41" name="TextBox 40"/>
          <p:cNvSpPr txBox="1"/>
          <p:nvPr/>
        </p:nvSpPr>
        <p:spPr>
          <a:xfrm>
            <a:off x="2843784" y="3433572"/>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None</a:t>
            </a:r>
          </a:p>
        </p:txBody>
      </p:sp>
      <p:sp>
        <p:nvSpPr>
          <p:cNvPr id="42" name="TextBox 41"/>
          <p:cNvSpPr txBox="1"/>
          <p:nvPr/>
        </p:nvSpPr>
        <p:spPr>
          <a:xfrm>
            <a:off x="3477768" y="3433572"/>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Z-score</a:t>
            </a:r>
          </a:p>
        </p:txBody>
      </p:sp>
      <p:sp>
        <p:nvSpPr>
          <p:cNvPr id="43" name="Rectangle 42"/>
          <p:cNvSpPr/>
          <p:nvPr/>
        </p:nvSpPr>
        <p:spPr>
          <a:xfrm>
            <a:off x="4066031" y="3383280"/>
            <a:ext cx="588263"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066031" y="3383280"/>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111751" y="3433572"/>
            <a:ext cx="496823" cy="210312"/>
          </a:xfrm>
          <a:prstGeom prst="rect">
            <a:avLst/>
          </a:prstGeom>
          <a:noFill/>
        </p:spPr>
        <p:txBody>
          <a:bodyPr wrap="square" lIns="0" rIns="0" tIns="0" bIns="0" anchor="ctr">
            <a:spAutoFit/>
          </a:bodyPr>
          <a:lstStyle/>
          <a:p>
            <a:pPr algn="ctr">
              <a:spcAft>
                <a:spcPts val="0"/>
              </a:spcAft>
            </a:pPr>
            <a:r>
              <a:rPr sz="819" b="1" i="0">
                <a:solidFill>
                  <a:srgbClr val="082B55"/>
                </a:solidFill>
                <a:latin typeface="Arial"/>
              </a:rPr>
              <a:t>MaxAbs</a:t>
            </a:r>
          </a:p>
        </p:txBody>
      </p:sp>
      <p:sp>
        <p:nvSpPr>
          <p:cNvPr id="46" name="TextBox 45"/>
          <p:cNvSpPr txBox="1"/>
          <p:nvPr/>
        </p:nvSpPr>
        <p:spPr>
          <a:xfrm>
            <a:off x="2798064" y="3877056"/>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Features</a:t>
            </a:r>
          </a:p>
        </p:txBody>
      </p:sp>
      <p:sp>
        <p:nvSpPr>
          <p:cNvPr id="47" name="TextBox 46"/>
          <p:cNvSpPr txBox="1"/>
          <p:nvPr/>
        </p:nvSpPr>
        <p:spPr>
          <a:xfrm>
            <a:off x="2843784" y="4128515"/>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All</a:t>
            </a:r>
          </a:p>
        </p:txBody>
      </p:sp>
      <p:sp>
        <p:nvSpPr>
          <p:cNvPr id="48" name="TextBox 47"/>
          <p:cNvSpPr txBox="1"/>
          <p:nvPr/>
        </p:nvSpPr>
        <p:spPr>
          <a:xfrm>
            <a:off x="3477768" y="4128515"/>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HVG</a:t>
            </a:r>
          </a:p>
        </p:txBody>
      </p:sp>
      <p:sp>
        <p:nvSpPr>
          <p:cNvPr id="49" name="Rectangle 48"/>
          <p:cNvSpPr/>
          <p:nvPr/>
        </p:nvSpPr>
        <p:spPr>
          <a:xfrm>
            <a:off x="4066031" y="4078224"/>
            <a:ext cx="588263"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4066031" y="4078224"/>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111751" y="4128515"/>
            <a:ext cx="496823" cy="210312"/>
          </a:xfrm>
          <a:prstGeom prst="rect">
            <a:avLst/>
          </a:prstGeom>
          <a:noFill/>
        </p:spPr>
        <p:txBody>
          <a:bodyPr wrap="square" lIns="0" rIns="0" tIns="0" bIns="0" anchor="ctr">
            <a:spAutoFit/>
          </a:bodyPr>
          <a:lstStyle/>
          <a:p>
            <a:pPr algn="ctr">
              <a:spcAft>
                <a:spcPts val="0"/>
              </a:spcAft>
            </a:pPr>
            <a:r>
              <a:rPr sz="819" b="1" i="0">
                <a:solidFill>
                  <a:srgbClr val="082B55"/>
                </a:solidFill>
                <a:latin typeface="Arial"/>
              </a:rPr>
              <a:t>L1000</a:t>
            </a:r>
          </a:p>
        </p:txBody>
      </p:sp>
      <p:sp>
        <p:nvSpPr>
          <p:cNvPr id="52" name="TextBox 51"/>
          <p:cNvSpPr txBox="1"/>
          <p:nvPr/>
        </p:nvSpPr>
        <p:spPr>
          <a:xfrm>
            <a:off x="511149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03</a:t>
            </a:r>
          </a:p>
        </p:txBody>
      </p:sp>
      <p:sp>
        <p:nvSpPr>
          <p:cNvPr id="53" name="TextBox 52"/>
          <p:cNvSpPr txBox="1"/>
          <p:nvPr/>
        </p:nvSpPr>
        <p:spPr>
          <a:xfrm>
            <a:off x="549554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Harmonization</a:t>
            </a:r>
          </a:p>
        </p:txBody>
      </p:sp>
      <p:sp>
        <p:nvSpPr>
          <p:cNvPr id="54" name="Rectangle 53"/>
          <p:cNvSpPr/>
          <p:nvPr/>
        </p:nvSpPr>
        <p:spPr>
          <a:xfrm>
            <a:off x="5111496" y="2331720"/>
            <a:ext cx="1874519" cy="2011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12978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Global or study correction</a:t>
            </a:r>
          </a:p>
        </p:txBody>
      </p:sp>
      <p:sp>
        <p:nvSpPr>
          <p:cNvPr id="56" name="Rectangle 55"/>
          <p:cNvSpPr/>
          <p:nvPr/>
        </p:nvSpPr>
        <p:spPr>
          <a:xfrm>
            <a:off x="5129784" y="2688336"/>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5129784" y="2688336"/>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175504" y="2738628"/>
            <a:ext cx="1764791" cy="210312"/>
          </a:xfrm>
          <a:prstGeom prst="rect">
            <a:avLst/>
          </a:prstGeom>
          <a:noFill/>
        </p:spPr>
        <p:txBody>
          <a:bodyPr wrap="square" lIns="0" rIns="0" tIns="0" bIns="0" anchor="ctr">
            <a:spAutoFit/>
          </a:bodyPr>
          <a:lstStyle/>
          <a:p>
            <a:pPr algn="ctr">
              <a:spcAft>
                <a:spcPts val="0"/>
              </a:spcAft>
            </a:pPr>
            <a:r>
              <a:rPr sz="919" b="1" i="0">
                <a:solidFill>
                  <a:srgbClr val="082B55"/>
                </a:solidFill>
                <a:latin typeface="Arial"/>
              </a:rPr>
              <a:t>None</a:t>
            </a:r>
          </a:p>
        </p:txBody>
      </p:sp>
      <p:sp>
        <p:nvSpPr>
          <p:cNvPr id="59" name="TextBox 58"/>
          <p:cNvSpPr txBox="1"/>
          <p:nvPr/>
        </p:nvSpPr>
        <p:spPr>
          <a:xfrm>
            <a:off x="5175504" y="3195828"/>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Within-study z-score</a:t>
            </a:r>
          </a:p>
        </p:txBody>
      </p:sp>
      <p:sp>
        <p:nvSpPr>
          <p:cNvPr id="60" name="TextBox 59"/>
          <p:cNvSpPr txBox="1"/>
          <p:nvPr/>
        </p:nvSpPr>
        <p:spPr>
          <a:xfrm>
            <a:off x="5175504" y="3653028"/>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ComBat / MBatch</a:t>
            </a:r>
          </a:p>
        </p:txBody>
      </p:sp>
      <p:sp>
        <p:nvSpPr>
          <p:cNvPr id="61" name="TextBox 60"/>
          <p:cNvSpPr txBox="1"/>
          <p:nvPr/>
        </p:nvSpPr>
        <p:spPr>
          <a:xfrm>
            <a:off x="5175504" y="4110227"/>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MOBER</a:t>
            </a:r>
          </a:p>
        </p:txBody>
      </p:sp>
      <p:sp>
        <p:nvSpPr>
          <p:cNvPr id="62" name="TextBox 61"/>
          <p:cNvSpPr txBox="1"/>
          <p:nvPr/>
        </p:nvSpPr>
        <p:spPr>
          <a:xfrm>
            <a:off x="744321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04</a:t>
            </a:r>
          </a:p>
        </p:txBody>
      </p:sp>
      <p:sp>
        <p:nvSpPr>
          <p:cNvPr id="63" name="TextBox 62"/>
          <p:cNvSpPr txBox="1"/>
          <p:nvPr/>
        </p:nvSpPr>
        <p:spPr>
          <a:xfrm>
            <a:off x="782726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Model training</a:t>
            </a:r>
          </a:p>
        </p:txBody>
      </p:sp>
      <p:sp>
        <p:nvSpPr>
          <p:cNvPr id="64" name="Rectangle 63"/>
          <p:cNvSpPr/>
          <p:nvPr/>
        </p:nvSpPr>
        <p:spPr>
          <a:xfrm>
            <a:off x="7443216" y="2331720"/>
            <a:ext cx="1874519" cy="20116"/>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746150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Generator</a:t>
            </a:r>
          </a:p>
        </p:txBody>
      </p:sp>
      <p:sp>
        <p:nvSpPr>
          <p:cNvPr id="66" name="TextBox 65"/>
          <p:cNvSpPr txBox="1"/>
          <p:nvPr/>
        </p:nvSpPr>
        <p:spPr>
          <a:xfrm>
            <a:off x="7507224" y="2738628"/>
            <a:ext cx="813815" cy="210312"/>
          </a:xfrm>
          <a:prstGeom prst="rect">
            <a:avLst/>
          </a:prstGeom>
          <a:noFill/>
        </p:spPr>
        <p:txBody>
          <a:bodyPr wrap="square" lIns="0" rIns="0" tIns="0" bIns="0" anchor="ctr">
            <a:spAutoFit/>
          </a:bodyPr>
          <a:lstStyle/>
          <a:p>
            <a:pPr algn="ctr">
              <a:spcAft>
                <a:spcPts val="0"/>
              </a:spcAft>
            </a:pPr>
            <a:r>
              <a:rPr sz="880" b="0" i="0">
                <a:solidFill>
                  <a:srgbClr val="8A969E"/>
                </a:solidFill>
                <a:latin typeface="Arial"/>
              </a:rPr>
              <a:t>WGAN-GP</a:t>
            </a:r>
          </a:p>
        </p:txBody>
      </p:sp>
      <p:sp>
        <p:nvSpPr>
          <p:cNvPr id="67" name="Rectangle 66"/>
          <p:cNvSpPr/>
          <p:nvPr/>
        </p:nvSpPr>
        <p:spPr>
          <a:xfrm>
            <a:off x="8412480" y="2688336"/>
            <a:ext cx="905255" cy="329184"/>
          </a:xfrm>
          <a:prstGeom prst="rect">
            <a:avLst/>
          </a:prstGeom>
          <a:solidFill>
            <a:srgbClr val="FFFFFF"/>
          </a:solidFill>
          <a:ln w="228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8412480" y="2688336"/>
            <a:ext cx="32004" cy="32918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8458200" y="2738628"/>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DDIM</a:t>
            </a:r>
          </a:p>
        </p:txBody>
      </p:sp>
      <p:sp>
        <p:nvSpPr>
          <p:cNvPr id="70" name="TextBox 69"/>
          <p:cNvSpPr txBox="1"/>
          <p:nvPr/>
        </p:nvSpPr>
        <p:spPr>
          <a:xfrm>
            <a:off x="7461504" y="3182112"/>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Training source</a:t>
            </a:r>
          </a:p>
        </p:txBody>
      </p:sp>
      <p:sp>
        <p:nvSpPr>
          <p:cNvPr id="71" name="TextBox 70"/>
          <p:cNvSpPr txBox="1"/>
          <p:nvPr/>
        </p:nvSpPr>
        <p:spPr>
          <a:xfrm>
            <a:off x="7507224" y="3433572"/>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OSDR only</a:t>
            </a:r>
          </a:p>
        </p:txBody>
      </p:sp>
      <p:sp>
        <p:nvSpPr>
          <p:cNvPr id="72" name="TextBox 71"/>
          <p:cNvSpPr txBox="1"/>
          <p:nvPr/>
        </p:nvSpPr>
        <p:spPr>
          <a:xfrm>
            <a:off x="7507224" y="3890772"/>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ARCHS4 only</a:t>
            </a:r>
          </a:p>
        </p:txBody>
      </p:sp>
      <p:sp>
        <p:nvSpPr>
          <p:cNvPr id="73" name="Rectangle 72"/>
          <p:cNvSpPr/>
          <p:nvPr/>
        </p:nvSpPr>
        <p:spPr>
          <a:xfrm>
            <a:off x="7461504" y="4297680"/>
            <a:ext cx="1856231" cy="329184"/>
          </a:xfrm>
          <a:prstGeom prst="rect">
            <a:avLst/>
          </a:prstGeom>
          <a:solidFill>
            <a:srgbClr val="FFFFFF"/>
          </a:solidFill>
          <a:ln w="228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7461504" y="4297680"/>
            <a:ext cx="32004" cy="32918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7507224" y="4347972"/>
            <a:ext cx="1764791" cy="210312"/>
          </a:xfrm>
          <a:prstGeom prst="rect">
            <a:avLst/>
          </a:prstGeom>
          <a:noFill/>
        </p:spPr>
        <p:txBody>
          <a:bodyPr wrap="square" lIns="0" rIns="0" tIns="0" bIns="0" anchor="ctr">
            <a:spAutoFit/>
          </a:bodyPr>
          <a:lstStyle/>
          <a:p>
            <a:pPr algn="ctr">
              <a:spcAft>
                <a:spcPts val="0"/>
              </a:spcAft>
            </a:pPr>
            <a:r>
              <a:rPr sz="919" b="1" i="0">
                <a:solidFill>
                  <a:srgbClr val="082B55"/>
                </a:solidFill>
                <a:latin typeface="Arial"/>
              </a:rPr>
              <a:t>Pretrain + adapt</a:t>
            </a:r>
          </a:p>
        </p:txBody>
      </p:sp>
      <p:sp>
        <p:nvSpPr>
          <p:cNvPr id="76" name="TextBox 75"/>
          <p:cNvSpPr txBox="1"/>
          <p:nvPr/>
        </p:nvSpPr>
        <p:spPr>
          <a:xfrm>
            <a:off x="977493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05</a:t>
            </a:r>
          </a:p>
        </p:txBody>
      </p:sp>
      <p:sp>
        <p:nvSpPr>
          <p:cNvPr id="77" name="TextBox 76"/>
          <p:cNvSpPr txBox="1"/>
          <p:nvPr/>
        </p:nvSpPr>
        <p:spPr>
          <a:xfrm>
            <a:off x="1015898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Conditioning</a:t>
            </a:r>
          </a:p>
        </p:txBody>
      </p:sp>
      <p:sp>
        <p:nvSpPr>
          <p:cNvPr id="78" name="Rectangle 77"/>
          <p:cNvSpPr/>
          <p:nvPr/>
        </p:nvSpPr>
        <p:spPr>
          <a:xfrm>
            <a:off x="9774936" y="2331720"/>
            <a:ext cx="1874519" cy="2011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979322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Model inputs</a:t>
            </a:r>
          </a:p>
        </p:txBody>
      </p:sp>
      <p:sp>
        <p:nvSpPr>
          <p:cNvPr id="80" name="Rectangle 79"/>
          <p:cNvSpPr/>
          <p:nvPr/>
        </p:nvSpPr>
        <p:spPr>
          <a:xfrm>
            <a:off x="9793224" y="2670048"/>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9793224" y="267004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9838944" y="2720340"/>
            <a:ext cx="1764791" cy="210312"/>
          </a:xfrm>
          <a:prstGeom prst="rect">
            <a:avLst/>
          </a:prstGeom>
          <a:noFill/>
        </p:spPr>
        <p:txBody>
          <a:bodyPr wrap="square" lIns="0" rIns="0" tIns="0" bIns="0" anchor="ctr">
            <a:spAutoFit/>
          </a:bodyPr>
          <a:lstStyle/>
          <a:p>
            <a:pPr algn="ctr">
              <a:spcAft>
                <a:spcPts val="0"/>
              </a:spcAft>
            </a:pPr>
            <a:r>
              <a:rPr sz="890" b="1" i="0">
                <a:solidFill>
                  <a:srgbClr val="082B55"/>
                </a:solidFill>
                <a:latin typeface="Arial"/>
              </a:rPr>
              <a:t>Tissue</a:t>
            </a:r>
          </a:p>
        </p:txBody>
      </p:sp>
      <p:sp>
        <p:nvSpPr>
          <p:cNvPr id="83" name="Rectangle 82"/>
          <p:cNvSpPr/>
          <p:nvPr/>
        </p:nvSpPr>
        <p:spPr>
          <a:xfrm>
            <a:off x="9793224" y="3054096"/>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9793224" y="3054096"/>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9838944" y="3104388"/>
            <a:ext cx="1764791" cy="210312"/>
          </a:xfrm>
          <a:prstGeom prst="rect">
            <a:avLst/>
          </a:prstGeom>
          <a:noFill/>
        </p:spPr>
        <p:txBody>
          <a:bodyPr wrap="square" lIns="0" rIns="0" tIns="0" bIns="0" anchor="ctr">
            <a:spAutoFit/>
          </a:bodyPr>
          <a:lstStyle/>
          <a:p>
            <a:pPr algn="ctr">
              <a:spcAft>
                <a:spcPts val="0"/>
              </a:spcAft>
            </a:pPr>
            <a:r>
              <a:rPr sz="890" b="1" i="0">
                <a:solidFill>
                  <a:srgbClr val="082B55"/>
                </a:solidFill>
                <a:latin typeface="Arial"/>
              </a:rPr>
              <a:t>FLT / GC</a:t>
            </a:r>
          </a:p>
        </p:txBody>
      </p:sp>
      <p:sp>
        <p:nvSpPr>
          <p:cNvPr id="86" name="Rectangle 85"/>
          <p:cNvSpPr/>
          <p:nvPr/>
        </p:nvSpPr>
        <p:spPr>
          <a:xfrm>
            <a:off x="9793224" y="3438144"/>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9793224" y="3438144"/>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9838944" y="3488436"/>
            <a:ext cx="1764791" cy="210312"/>
          </a:xfrm>
          <a:prstGeom prst="rect">
            <a:avLst/>
          </a:prstGeom>
          <a:noFill/>
        </p:spPr>
        <p:txBody>
          <a:bodyPr wrap="square" lIns="0" rIns="0" tIns="0" bIns="0" anchor="ctr">
            <a:spAutoFit/>
          </a:bodyPr>
          <a:lstStyle/>
          <a:p>
            <a:pPr algn="ctr">
              <a:spcAft>
                <a:spcPts val="0"/>
              </a:spcAft>
            </a:pPr>
            <a:r>
              <a:rPr sz="890" b="1" i="0">
                <a:solidFill>
                  <a:srgbClr val="082B55"/>
                </a:solidFill>
                <a:latin typeface="Arial"/>
              </a:rPr>
              <a:t>Accession</a:t>
            </a:r>
          </a:p>
        </p:txBody>
      </p:sp>
      <p:sp>
        <p:nvSpPr>
          <p:cNvPr id="89" name="Rectangle 88"/>
          <p:cNvSpPr/>
          <p:nvPr/>
        </p:nvSpPr>
        <p:spPr>
          <a:xfrm>
            <a:off x="9793224" y="3822191"/>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9793224" y="3822191"/>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9838944" y="3872483"/>
            <a:ext cx="1764791" cy="210312"/>
          </a:xfrm>
          <a:prstGeom prst="rect">
            <a:avLst/>
          </a:prstGeom>
          <a:noFill/>
        </p:spPr>
        <p:txBody>
          <a:bodyPr wrap="square" lIns="0" rIns="0" tIns="0" bIns="0" anchor="ctr">
            <a:spAutoFit/>
          </a:bodyPr>
          <a:lstStyle/>
          <a:p>
            <a:pPr algn="ctr">
              <a:spcAft>
                <a:spcPts val="0"/>
              </a:spcAft>
            </a:pPr>
            <a:r>
              <a:rPr sz="890" b="1" i="0">
                <a:solidFill>
                  <a:srgbClr val="082B55"/>
                </a:solidFill>
                <a:latin typeface="Arial"/>
              </a:rPr>
              <a:t>Material type</a:t>
            </a:r>
          </a:p>
        </p:txBody>
      </p:sp>
      <p:sp>
        <p:nvSpPr>
          <p:cNvPr id="92" name="TextBox 91"/>
          <p:cNvSpPr txBox="1"/>
          <p:nvPr/>
        </p:nvSpPr>
        <p:spPr>
          <a:xfrm>
            <a:off x="9838944" y="4256531"/>
            <a:ext cx="1764791" cy="210312"/>
          </a:xfrm>
          <a:prstGeom prst="rect">
            <a:avLst/>
          </a:prstGeom>
          <a:noFill/>
        </p:spPr>
        <p:txBody>
          <a:bodyPr wrap="square" lIns="0" rIns="0" tIns="0" bIns="0" anchor="ctr">
            <a:spAutoFit/>
          </a:bodyPr>
          <a:lstStyle/>
          <a:p>
            <a:pPr algn="ctr">
              <a:spcAft>
                <a:spcPts val="0"/>
              </a:spcAft>
            </a:pPr>
            <a:r>
              <a:rPr sz="890" b="0" i="0">
                <a:solidFill>
                  <a:srgbClr val="8A969E"/>
                </a:solidFill>
                <a:latin typeface="Arial"/>
              </a:rPr>
              <a:t>Sex / age</a:t>
            </a:r>
          </a:p>
        </p:txBody>
      </p:sp>
      <p:sp>
        <p:nvSpPr>
          <p:cNvPr id="93" name="Rectangle 92"/>
          <p:cNvSpPr/>
          <p:nvPr/>
        </p:nvSpPr>
        <p:spPr>
          <a:xfrm>
            <a:off x="320040" y="5093208"/>
            <a:ext cx="11475720" cy="1124712"/>
          </a:xfrm>
          <a:prstGeom prst="rect">
            <a:avLst/>
          </a:prstGeom>
          <a:solidFill>
            <a:srgbClr val="F7F9FA"/>
          </a:solidFill>
          <a:ln w="10160">
            <a:solidFill>
              <a:srgbClr val="F7F9F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320040" y="5093208"/>
            <a:ext cx="11475720" cy="16459"/>
          </a:xfrm>
          <a:prstGeom prst="rect">
            <a:avLst/>
          </a:prstGeom>
          <a:solidFill>
            <a:srgbClr val="C9D3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585216" y="5303520"/>
            <a:ext cx="1298448" cy="228600"/>
          </a:xfrm>
          <a:prstGeom prst="rect">
            <a:avLst/>
          </a:prstGeom>
          <a:noFill/>
        </p:spPr>
        <p:txBody>
          <a:bodyPr wrap="square" lIns="18288" rIns="18288" tIns="18288" bIns="18288" anchor="t">
            <a:spAutoFit/>
          </a:bodyPr>
          <a:lstStyle/>
          <a:p>
            <a:pPr algn="l">
              <a:spcAft>
                <a:spcPts val="0"/>
              </a:spcAft>
            </a:pPr>
            <a:r>
              <a:rPr sz="1080" b="1" i="0">
                <a:solidFill>
                  <a:srgbClr val="082B55"/>
                </a:solidFill>
                <a:latin typeface="Arial"/>
              </a:rPr>
              <a:t>Downstream</a:t>
            </a:r>
          </a:p>
        </p:txBody>
      </p:sp>
      <p:sp>
        <p:nvSpPr>
          <p:cNvPr id="96" name="TextBox 95"/>
          <p:cNvSpPr txBox="1"/>
          <p:nvPr/>
        </p:nvSpPr>
        <p:spPr>
          <a:xfrm>
            <a:off x="585216" y="5641848"/>
            <a:ext cx="1234440" cy="219456"/>
          </a:xfrm>
          <a:prstGeom prst="rect">
            <a:avLst/>
          </a:prstGeom>
          <a:noFill/>
        </p:spPr>
        <p:txBody>
          <a:bodyPr wrap="square" lIns="18288" rIns="18288" tIns="18288" bIns="18288" anchor="t">
            <a:spAutoFit/>
          </a:bodyPr>
          <a:lstStyle/>
          <a:p>
            <a:pPr algn="l">
              <a:spcAft>
                <a:spcPts val="0"/>
              </a:spcAft>
            </a:pPr>
            <a:r>
              <a:rPr sz="960" b="0" i="0">
                <a:solidFill>
                  <a:srgbClr val="59697A"/>
                </a:solidFill>
                <a:latin typeface="Arial"/>
              </a:rPr>
              <a:t>configuration</a:t>
            </a:r>
          </a:p>
        </p:txBody>
      </p:sp>
      <p:sp>
        <p:nvSpPr>
          <p:cNvPr id="97" name="Rectangle 96"/>
          <p:cNvSpPr/>
          <p:nvPr/>
        </p:nvSpPr>
        <p:spPr>
          <a:xfrm>
            <a:off x="1920240" y="5230368"/>
            <a:ext cx="1965960" cy="448056"/>
          </a:xfrm>
          <a:prstGeom prst="rect">
            <a:avLst/>
          </a:prstGeom>
          <a:solidFill>
            <a:srgbClr val="FFFFFF"/>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2011680" y="5285232"/>
            <a:ext cx="1783080" cy="109728"/>
          </a:xfrm>
          <a:prstGeom prst="rect">
            <a:avLst/>
          </a:prstGeom>
          <a:noFill/>
        </p:spPr>
        <p:txBody>
          <a:bodyPr wrap="square" lIns="0" rIns="0" tIns="0" bIns="0" anchor="t">
            <a:spAutoFit/>
          </a:bodyPr>
          <a:lstStyle/>
          <a:p>
            <a:pPr algn="l">
              <a:spcAft>
                <a:spcPts val="0"/>
              </a:spcAft>
            </a:pPr>
            <a:r>
              <a:rPr sz="710" b="1" i="0">
                <a:solidFill>
                  <a:srgbClr val="178681"/>
                </a:solidFill>
                <a:latin typeface="Arial"/>
              </a:rPr>
              <a:t>PREPROCESS</a:t>
            </a:r>
          </a:p>
        </p:txBody>
      </p:sp>
      <p:sp>
        <p:nvSpPr>
          <p:cNvPr id="99" name="TextBox 98"/>
          <p:cNvSpPr txBox="1"/>
          <p:nvPr/>
        </p:nvSpPr>
        <p:spPr>
          <a:xfrm>
            <a:off x="2011680" y="5431536"/>
            <a:ext cx="1783080" cy="173736"/>
          </a:xfrm>
          <a:prstGeom prst="rect">
            <a:avLst/>
          </a:prstGeom>
          <a:noFill/>
        </p:spPr>
        <p:txBody>
          <a:bodyPr wrap="square" lIns="0" rIns="0" tIns="0" bIns="0" anchor="t">
            <a:spAutoFit/>
          </a:bodyPr>
          <a:lstStyle/>
          <a:p>
            <a:pPr algn="ctr">
              <a:spcAft>
                <a:spcPts val="0"/>
              </a:spcAft>
            </a:pPr>
            <a:r>
              <a:rPr sz="910" b="1" i="0">
                <a:solidFill>
                  <a:srgbClr val="263746"/>
                </a:solidFill>
                <a:latin typeface="Arial"/>
              </a:rPr>
              <a:t>TPM / MaxAbs / 974 landmarks</a:t>
            </a:r>
          </a:p>
        </p:txBody>
      </p:sp>
      <p:sp>
        <p:nvSpPr>
          <p:cNvPr id="100" name="Right Arrow 99"/>
          <p:cNvSpPr/>
          <p:nvPr/>
        </p:nvSpPr>
        <p:spPr>
          <a:xfrm>
            <a:off x="3950208" y="5358384"/>
            <a:ext cx="210312"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4251960" y="5230368"/>
            <a:ext cx="1691640" cy="448056"/>
          </a:xfrm>
          <a:prstGeom prst="rect">
            <a:avLst/>
          </a:prstGeom>
          <a:solidFill>
            <a:srgbClr val="FFFFFF"/>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4343400" y="5285232"/>
            <a:ext cx="1508760" cy="109728"/>
          </a:xfrm>
          <a:prstGeom prst="rect">
            <a:avLst/>
          </a:prstGeom>
          <a:noFill/>
        </p:spPr>
        <p:txBody>
          <a:bodyPr wrap="square" lIns="0" rIns="0" tIns="0" bIns="0" anchor="t">
            <a:spAutoFit/>
          </a:bodyPr>
          <a:lstStyle/>
          <a:p>
            <a:pPr algn="l">
              <a:spcAft>
                <a:spcPts val="0"/>
              </a:spcAft>
            </a:pPr>
            <a:r>
              <a:rPr sz="710" b="1" i="0">
                <a:solidFill>
                  <a:srgbClr val="178681"/>
                </a:solidFill>
                <a:latin typeface="Arial"/>
              </a:rPr>
              <a:t>PRETRAIN</a:t>
            </a:r>
          </a:p>
        </p:txBody>
      </p:sp>
      <p:sp>
        <p:nvSpPr>
          <p:cNvPr id="103" name="TextBox 102"/>
          <p:cNvSpPr txBox="1"/>
          <p:nvPr/>
        </p:nvSpPr>
        <p:spPr>
          <a:xfrm>
            <a:off x="4343400" y="5431536"/>
            <a:ext cx="1508760" cy="173736"/>
          </a:xfrm>
          <a:prstGeom prst="rect">
            <a:avLst/>
          </a:prstGeom>
          <a:noFill/>
        </p:spPr>
        <p:txBody>
          <a:bodyPr wrap="square" lIns="0" rIns="0" tIns="0" bIns="0" anchor="t">
            <a:spAutoFit/>
          </a:bodyPr>
          <a:lstStyle/>
          <a:p>
            <a:pPr algn="ctr">
              <a:spcAft>
                <a:spcPts val="0"/>
              </a:spcAft>
            </a:pPr>
            <a:r>
              <a:rPr sz="910" b="1" i="0">
                <a:solidFill>
                  <a:srgbClr val="263746"/>
                </a:solidFill>
                <a:latin typeface="Arial"/>
              </a:rPr>
              <a:t>ARCHS4</a:t>
            </a:r>
          </a:p>
        </p:txBody>
      </p:sp>
      <p:sp>
        <p:nvSpPr>
          <p:cNvPr id="104" name="Right Arrow 103"/>
          <p:cNvSpPr/>
          <p:nvPr/>
        </p:nvSpPr>
        <p:spPr>
          <a:xfrm>
            <a:off x="6007608" y="5358384"/>
            <a:ext cx="210312"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6309360" y="5230368"/>
            <a:ext cx="1691640" cy="448056"/>
          </a:xfrm>
          <a:prstGeom prst="rect">
            <a:avLst/>
          </a:prstGeom>
          <a:solidFill>
            <a:srgbClr val="FFFFFF"/>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6400800" y="5285232"/>
            <a:ext cx="1508760" cy="109728"/>
          </a:xfrm>
          <a:prstGeom prst="rect">
            <a:avLst/>
          </a:prstGeom>
          <a:noFill/>
        </p:spPr>
        <p:txBody>
          <a:bodyPr wrap="square" lIns="0" rIns="0" tIns="0" bIns="0" anchor="t">
            <a:spAutoFit/>
          </a:bodyPr>
          <a:lstStyle/>
          <a:p>
            <a:pPr algn="l">
              <a:spcAft>
                <a:spcPts val="0"/>
              </a:spcAft>
            </a:pPr>
            <a:r>
              <a:rPr sz="710" b="1" i="0">
                <a:solidFill>
                  <a:srgbClr val="2D6496"/>
                </a:solidFill>
                <a:latin typeface="Arial"/>
              </a:rPr>
              <a:t>ADAPT</a:t>
            </a:r>
          </a:p>
        </p:txBody>
      </p:sp>
      <p:sp>
        <p:nvSpPr>
          <p:cNvPr id="107" name="TextBox 106"/>
          <p:cNvSpPr txBox="1"/>
          <p:nvPr/>
        </p:nvSpPr>
        <p:spPr>
          <a:xfrm>
            <a:off x="6400800" y="5431536"/>
            <a:ext cx="1508760" cy="173736"/>
          </a:xfrm>
          <a:prstGeom prst="rect">
            <a:avLst/>
          </a:prstGeom>
          <a:noFill/>
        </p:spPr>
        <p:txBody>
          <a:bodyPr wrap="square" lIns="0" rIns="0" tIns="0" bIns="0" anchor="t">
            <a:spAutoFit/>
          </a:bodyPr>
          <a:lstStyle/>
          <a:p>
            <a:pPr algn="ctr">
              <a:spcAft>
                <a:spcPts val="0"/>
              </a:spcAft>
            </a:pPr>
            <a:r>
              <a:rPr sz="910" b="1" i="0">
                <a:solidFill>
                  <a:srgbClr val="263746"/>
                </a:solidFill>
                <a:latin typeface="Arial"/>
              </a:rPr>
              <a:t>OSDR</a:t>
            </a:r>
          </a:p>
        </p:txBody>
      </p:sp>
      <p:sp>
        <p:nvSpPr>
          <p:cNvPr id="108" name="Right Arrow 107"/>
          <p:cNvSpPr/>
          <p:nvPr/>
        </p:nvSpPr>
        <p:spPr>
          <a:xfrm>
            <a:off x="8065008" y="5358384"/>
            <a:ext cx="210312"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8366760" y="5230368"/>
            <a:ext cx="2240280" cy="448056"/>
          </a:xfrm>
          <a:prstGeom prst="rect">
            <a:avLst/>
          </a:prstGeom>
          <a:solidFill>
            <a:srgbClr val="FFFFFF"/>
          </a:solidFill>
          <a:ln w="101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8458200" y="5285232"/>
            <a:ext cx="2057400" cy="109728"/>
          </a:xfrm>
          <a:prstGeom prst="rect">
            <a:avLst/>
          </a:prstGeom>
          <a:noFill/>
        </p:spPr>
        <p:txBody>
          <a:bodyPr wrap="square" lIns="0" rIns="0" tIns="0" bIns="0" anchor="t">
            <a:spAutoFit/>
          </a:bodyPr>
          <a:lstStyle/>
          <a:p>
            <a:pPr algn="l">
              <a:spcAft>
                <a:spcPts val="0"/>
              </a:spcAft>
            </a:pPr>
            <a:r>
              <a:rPr sz="710" b="1" i="0">
                <a:solidFill>
                  <a:srgbClr val="D37B00"/>
                </a:solidFill>
                <a:latin typeface="Arial"/>
              </a:rPr>
              <a:t>GENERATE</a:t>
            </a:r>
          </a:p>
        </p:txBody>
      </p:sp>
      <p:sp>
        <p:nvSpPr>
          <p:cNvPr id="111" name="TextBox 110"/>
          <p:cNvSpPr txBox="1"/>
          <p:nvPr/>
        </p:nvSpPr>
        <p:spPr>
          <a:xfrm>
            <a:off x="8458200" y="5431536"/>
            <a:ext cx="2057400" cy="173736"/>
          </a:xfrm>
          <a:prstGeom prst="rect">
            <a:avLst/>
          </a:prstGeom>
          <a:noFill/>
        </p:spPr>
        <p:txBody>
          <a:bodyPr wrap="square" lIns="0" rIns="0" tIns="0" bIns="0" anchor="t">
            <a:spAutoFit/>
          </a:bodyPr>
          <a:lstStyle/>
          <a:p>
            <a:pPr algn="ctr">
              <a:spcAft>
                <a:spcPts val="0"/>
              </a:spcAft>
            </a:pPr>
            <a:r>
              <a:rPr sz="910" b="1" i="0">
                <a:solidFill>
                  <a:srgbClr val="263746"/>
                </a:solidFill>
                <a:latin typeface="Arial"/>
              </a:rPr>
              <a:t>Conditional DDIM</a:t>
            </a:r>
          </a:p>
        </p:txBody>
      </p:sp>
      <p:sp>
        <p:nvSpPr>
          <p:cNvPr id="112" name="TextBox 111"/>
          <p:cNvSpPr txBox="1"/>
          <p:nvPr/>
        </p:nvSpPr>
        <p:spPr>
          <a:xfrm>
            <a:off x="1920240" y="5824728"/>
            <a:ext cx="658368" cy="146304"/>
          </a:xfrm>
          <a:prstGeom prst="rect">
            <a:avLst/>
          </a:prstGeom>
          <a:noFill/>
        </p:spPr>
        <p:txBody>
          <a:bodyPr wrap="square" lIns="0" rIns="0" tIns="0" bIns="0" anchor="t">
            <a:spAutoFit/>
          </a:bodyPr>
          <a:lstStyle/>
          <a:p>
            <a:pPr algn="l">
              <a:spcAft>
                <a:spcPts val="0"/>
              </a:spcAft>
            </a:pPr>
            <a:r>
              <a:rPr sz="730" b="1" i="0">
                <a:solidFill>
                  <a:srgbClr val="178681"/>
                </a:solidFill>
                <a:latin typeface="Arial"/>
              </a:rPr>
              <a:t>CONDITION</a:t>
            </a:r>
          </a:p>
        </p:txBody>
      </p:sp>
      <p:sp>
        <p:nvSpPr>
          <p:cNvPr id="113" name="Rectangle 112"/>
          <p:cNvSpPr/>
          <p:nvPr/>
        </p:nvSpPr>
        <p:spPr>
          <a:xfrm>
            <a:off x="2633472" y="5733288"/>
            <a:ext cx="822960"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2633472"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2679191" y="5783579"/>
            <a:ext cx="731520"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Tissue</a:t>
            </a:r>
          </a:p>
        </p:txBody>
      </p:sp>
      <p:sp>
        <p:nvSpPr>
          <p:cNvPr id="116" name="Rectangle 115"/>
          <p:cNvSpPr/>
          <p:nvPr/>
        </p:nvSpPr>
        <p:spPr>
          <a:xfrm>
            <a:off x="3520440" y="5733288"/>
            <a:ext cx="914400"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3520440"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TextBox 117"/>
          <p:cNvSpPr txBox="1"/>
          <p:nvPr/>
        </p:nvSpPr>
        <p:spPr>
          <a:xfrm>
            <a:off x="3566160" y="5783579"/>
            <a:ext cx="822960"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FLT / GC</a:t>
            </a:r>
          </a:p>
        </p:txBody>
      </p:sp>
      <p:sp>
        <p:nvSpPr>
          <p:cNvPr id="119" name="Rectangle 118"/>
          <p:cNvSpPr/>
          <p:nvPr/>
        </p:nvSpPr>
        <p:spPr>
          <a:xfrm>
            <a:off x="4498848" y="5733288"/>
            <a:ext cx="1042415"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4498848"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4544568" y="5783579"/>
            <a:ext cx="950975"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Accession</a:t>
            </a:r>
          </a:p>
        </p:txBody>
      </p:sp>
      <p:sp>
        <p:nvSpPr>
          <p:cNvPr id="122" name="Rectangle 121"/>
          <p:cNvSpPr/>
          <p:nvPr/>
        </p:nvSpPr>
        <p:spPr>
          <a:xfrm>
            <a:off x="5605272" y="5733288"/>
            <a:ext cx="1261872"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5605272"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5650992" y="5783579"/>
            <a:ext cx="1170431"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Material type</a:t>
            </a:r>
          </a:p>
        </p:txBody>
      </p:sp>
      <p:sp>
        <p:nvSpPr>
          <p:cNvPr id="125" name="TextBox 124"/>
          <p:cNvSpPr txBox="1"/>
          <p:nvPr/>
        </p:nvSpPr>
        <p:spPr>
          <a:xfrm>
            <a:off x="7095744" y="5824728"/>
            <a:ext cx="749808" cy="146304"/>
          </a:xfrm>
          <a:prstGeom prst="rect">
            <a:avLst/>
          </a:prstGeom>
          <a:noFill/>
        </p:spPr>
        <p:txBody>
          <a:bodyPr wrap="square" lIns="0" rIns="0" tIns="0" bIns="0" anchor="t">
            <a:spAutoFit/>
          </a:bodyPr>
          <a:lstStyle/>
          <a:p>
            <a:pPr algn="l">
              <a:spcAft>
                <a:spcPts val="0"/>
              </a:spcAft>
            </a:pPr>
            <a:r>
              <a:rPr sz="730" b="1" i="0">
                <a:solidFill>
                  <a:srgbClr val="178681"/>
                </a:solidFill>
                <a:latin typeface="Arial"/>
              </a:rPr>
              <a:t>HARMONIZE</a:t>
            </a:r>
          </a:p>
        </p:txBody>
      </p:sp>
      <p:sp>
        <p:nvSpPr>
          <p:cNvPr id="126" name="Rectangle 125"/>
          <p:cNvSpPr/>
          <p:nvPr/>
        </p:nvSpPr>
        <p:spPr>
          <a:xfrm>
            <a:off x="7909560" y="5733288"/>
            <a:ext cx="713232"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Rectangle 126"/>
          <p:cNvSpPr/>
          <p:nvPr/>
        </p:nvSpPr>
        <p:spPr>
          <a:xfrm>
            <a:off x="7909560"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TextBox 127"/>
          <p:cNvSpPr txBox="1"/>
          <p:nvPr/>
        </p:nvSpPr>
        <p:spPr>
          <a:xfrm>
            <a:off x="7955280" y="5783579"/>
            <a:ext cx="621792"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None</a:t>
            </a:r>
          </a:p>
        </p:txBody>
      </p:sp>
      <p:sp>
        <p:nvSpPr>
          <p:cNvPr id="129" name="TextBox 128"/>
          <p:cNvSpPr txBox="1"/>
          <p:nvPr/>
        </p:nvSpPr>
        <p:spPr>
          <a:xfrm>
            <a:off x="8869680" y="5824728"/>
            <a:ext cx="420624" cy="146304"/>
          </a:xfrm>
          <a:prstGeom prst="rect">
            <a:avLst/>
          </a:prstGeom>
          <a:noFill/>
        </p:spPr>
        <p:txBody>
          <a:bodyPr wrap="square" lIns="0" rIns="0" tIns="0" bIns="0" anchor="t">
            <a:spAutoFit/>
          </a:bodyPr>
          <a:lstStyle/>
          <a:p>
            <a:pPr algn="l">
              <a:spcAft>
                <a:spcPts val="0"/>
              </a:spcAft>
            </a:pPr>
            <a:r>
              <a:rPr sz="730" b="1" i="0">
                <a:solidFill>
                  <a:srgbClr val="2D6496"/>
                </a:solidFill>
                <a:latin typeface="Arial"/>
              </a:rPr>
              <a:t>SCOPE</a:t>
            </a:r>
          </a:p>
        </p:txBody>
      </p:sp>
      <p:sp>
        <p:nvSpPr>
          <p:cNvPr id="130" name="Rectangle 129"/>
          <p:cNvSpPr/>
          <p:nvPr/>
        </p:nvSpPr>
        <p:spPr>
          <a:xfrm>
            <a:off x="9363456" y="5733288"/>
            <a:ext cx="1097280"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Rectangle 130"/>
          <p:cNvSpPr/>
          <p:nvPr/>
        </p:nvSpPr>
        <p:spPr>
          <a:xfrm>
            <a:off x="9363456" y="5733288"/>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9409176" y="5783579"/>
            <a:ext cx="1005839"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All tissues</a:t>
            </a:r>
          </a:p>
        </p:txBody>
      </p:sp>
      <p:sp>
        <p:nvSpPr>
          <p:cNvPr id="133" name="TextBox 132"/>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Screen: 463 planned configurations and nine matched liver harmonization arms. Models: Vinas et al. (2022); Lacan et al. (2026).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VALIDATION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DDIM had lower separability and distributional distance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Both generators matched expression. DDIM was harder to distinguish from real profiles and had higher F1.</a:t>
            </a:r>
          </a:p>
        </p:txBody>
      </p:sp>
      <p:sp>
        <p:nvSpPr>
          <p:cNvPr id="7" name="TextBox 6"/>
          <p:cNvSpPr txBox="1"/>
          <p:nvPr/>
        </p:nvSpPr>
        <p:spPr>
          <a:xfrm>
            <a:off x="475488" y="1901952"/>
            <a:ext cx="6510528" cy="292608"/>
          </a:xfrm>
          <a:prstGeom prst="rect">
            <a:avLst/>
          </a:prstGeom>
          <a:noFill/>
        </p:spPr>
        <p:txBody>
          <a:bodyPr wrap="square" lIns="18288" rIns="18288" tIns="18288" bIns="18288" anchor="t">
            <a:spAutoFit/>
          </a:bodyPr>
          <a:lstStyle/>
          <a:p>
            <a:pPr algn="l">
              <a:spcAft>
                <a:spcPts val="0"/>
              </a:spcAft>
            </a:pPr>
            <a:r>
              <a:rPr sz="1650" b="1" i="0">
                <a:solidFill>
                  <a:srgbClr val="082B55"/>
                </a:solidFill>
                <a:latin typeface="Arial"/>
              </a:rPr>
              <a:t>Architecture from Lacan et al.</a:t>
            </a:r>
          </a:p>
        </p:txBody>
      </p:sp>
      <p:pic>
        <p:nvPicPr>
          <p:cNvPr id="8" name="Lacan et al. Figure 1C residual diffusion generator architecture" descr="Lacan et al. Figure 1C residual diffusion generator architecture"/>
          <p:cNvPicPr>
            <a:picLocks noChangeAspect="1"/>
          </p:cNvPicPr>
          <p:nvPr/>
        </p:nvPicPr>
        <p:blipFill>
          <a:blip r:embed="rId2"/>
          <a:stretch>
            <a:fillRect/>
          </a:stretch>
        </p:blipFill>
        <p:spPr>
          <a:xfrm>
            <a:off x="186730" y="2185416"/>
            <a:ext cx="6832011" cy="2496312"/>
          </a:xfrm>
          <a:prstGeom prst="rect">
            <a:avLst/>
          </a:prstGeom>
        </p:spPr>
      </p:pic>
      <p:sp>
        <p:nvSpPr>
          <p:cNvPr id="9" name="TextBox 8"/>
          <p:cNvSpPr txBox="1"/>
          <p:nvPr/>
        </p:nvSpPr>
        <p:spPr>
          <a:xfrm>
            <a:off x="512064" y="4727448"/>
            <a:ext cx="6309360" cy="256032"/>
          </a:xfrm>
          <a:prstGeom prst="rect">
            <a:avLst/>
          </a:prstGeom>
          <a:noFill/>
        </p:spPr>
        <p:txBody>
          <a:bodyPr wrap="square" lIns="18288" rIns="18288" tIns="18288" bIns="18288" anchor="t">
            <a:spAutoFit/>
          </a:bodyPr>
          <a:lstStyle/>
          <a:p>
            <a:pPr algn="ctr">
              <a:spcAft>
                <a:spcPts val="0"/>
              </a:spcAft>
            </a:pPr>
            <a:r>
              <a:rPr sz="1130" b="1" i="0">
                <a:solidFill>
                  <a:srgbClr val="263746"/>
                </a:solidFill>
                <a:latin typeface="Arial"/>
              </a:rPr>
              <a:t>Residual dense denoiser conditioned on timestep and tissue.</a:t>
            </a:r>
          </a:p>
        </p:txBody>
      </p:sp>
      <p:sp>
        <p:nvSpPr>
          <p:cNvPr id="10" name="TextBox 9"/>
          <p:cNvSpPr txBox="1"/>
          <p:nvPr/>
        </p:nvSpPr>
        <p:spPr>
          <a:xfrm>
            <a:off x="512064" y="5038344"/>
            <a:ext cx="6309360" cy="310896"/>
          </a:xfrm>
          <a:prstGeom prst="rect">
            <a:avLst/>
          </a:prstGeom>
          <a:noFill/>
        </p:spPr>
        <p:txBody>
          <a:bodyPr wrap="square" lIns="18288" rIns="18288" tIns="18288" bIns="18288" anchor="t">
            <a:spAutoFit/>
          </a:bodyPr>
          <a:lstStyle/>
          <a:p>
            <a:pPr algn="ctr">
              <a:spcAft>
                <a:spcPts val="0"/>
              </a:spcAft>
            </a:pPr>
            <a:r>
              <a:rPr sz="1060" b="0" i="0">
                <a:solidFill>
                  <a:srgbClr val="59697A"/>
                </a:solidFill>
                <a:latin typeface="Arial"/>
              </a:rPr>
              <a:t>OSDR adaptation adds FLT/GC, accession and material context through LoRA.</a:t>
            </a:r>
          </a:p>
        </p:txBody>
      </p:sp>
      <p:sp>
        <p:nvSpPr>
          <p:cNvPr id="11" name="Rectangle 10"/>
          <p:cNvSpPr/>
          <p:nvPr/>
        </p:nvSpPr>
        <p:spPr>
          <a:xfrm>
            <a:off x="7159752" y="1874519"/>
            <a:ext cx="13716" cy="3950208"/>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51775" y="1984248"/>
            <a:ext cx="1298448" cy="256032"/>
          </a:xfrm>
          <a:prstGeom prst="rect">
            <a:avLst/>
          </a:prstGeom>
          <a:noFill/>
        </p:spPr>
        <p:txBody>
          <a:bodyPr wrap="square" lIns="18288" rIns="18288" tIns="18288" bIns="18288" anchor="t">
            <a:spAutoFit/>
          </a:bodyPr>
          <a:lstStyle/>
          <a:p>
            <a:pPr algn="l">
              <a:spcAft>
                <a:spcPts val="0"/>
              </a:spcAft>
            </a:pPr>
            <a:r>
              <a:rPr sz="1000" b="1" i="0">
                <a:solidFill>
                  <a:srgbClr val="59697A"/>
                </a:solidFill>
                <a:latin typeface="Arial"/>
              </a:rPr>
              <a:t>Metric</a:t>
            </a:r>
          </a:p>
        </p:txBody>
      </p:sp>
      <p:sp>
        <p:nvSpPr>
          <p:cNvPr id="13" name="TextBox 12"/>
          <p:cNvSpPr txBox="1"/>
          <p:nvPr/>
        </p:nvSpPr>
        <p:spPr>
          <a:xfrm>
            <a:off x="8750808" y="1984248"/>
            <a:ext cx="777240" cy="256032"/>
          </a:xfrm>
          <a:prstGeom prst="rect">
            <a:avLst/>
          </a:prstGeom>
          <a:noFill/>
        </p:spPr>
        <p:txBody>
          <a:bodyPr wrap="square" lIns="18288" rIns="18288" tIns="18288" bIns="18288" anchor="t">
            <a:spAutoFit/>
          </a:bodyPr>
          <a:lstStyle/>
          <a:p>
            <a:pPr algn="ctr">
              <a:spcAft>
                <a:spcPts val="0"/>
              </a:spcAft>
            </a:pPr>
            <a:r>
              <a:rPr sz="1000" b="1" i="0">
                <a:solidFill>
                  <a:srgbClr val="D96552"/>
                </a:solidFill>
                <a:latin typeface="Arial"/>
              </a:rPr>
              <a:t>WGAN-GP</a:t>
            </a:r>
          </a:p>
        </p:txBody>
      </p:sp>
      <p:sp>
        <p:nvSpPr>
          <p:cNvPr id="14" name="TextBox 13"/>
          <p:cNvSpPr txBox="1"/>
          <p:nvPr/>
        </p:nvSpPr>
        <p:spPr>
          <a:xfrm>
            <a:off x="9619488" y="1984248"/>
            <a:ext cx="694944" cy="256032"/>
          </a:xfrm>
          <a:prstGeom prst="rect">
            <a:avLst/>
          </a:prstGeom>
          <a:noFill/>
        </p:spPr>
        <p:txBody>
          <a:bodyPr wrap="square" lIns="18288" rIns="18288" tIns="18288" bIns="18288" anchor="t">
            <a:spAutoFit/>
          </a:bodyPr>
          <a:lstStyle/>
          <a:p>
            <a:pPr algn="ctr">
              <a:spcAft>
                <a:spcPts val="0"/>
              </a:spcAft>
            </a:pPr>
            <a:r>
              <a:rPr sz="1000" b="1" i="0">
                <a:solidFill>
                  <a:srgbClr val="178681"/>
                </a:solidFill>
                <a:latin typeface="Arial"/>
              </a:rPr>
              <a:t>DDIM</a:t>
            </a:r>
          </a:p>
        </p:txBody>
      </p:sp>
      <p:sp>
        <p:nvSpPr>
          <p:cNvPr id="15" name="TextBox 14"/>
          <p:cNvSpPr txBox="1"/>
          <p:nvPr/>
        </p:nvSpPr>
        <p:spPr>
          <a:xfrm>
            <a:off x="10451592" y="1984248"/>
            <a:ext cx="1005840" cy="256032"/>
          </a:xfrm>
          <a:prstGeom prst="rect">
            <a:avLst/>
          </a:prstGeom>
          <a:noFill/>
        </p:spPr>
        <p:txBody>
          <a:bodyPr wrap="square" lIns="18288" rIns="18288" tIns="18288" bIns="18288" anchor="t">
            <a:spAutoFit/>
          </a:bodyPr>
          <a:lstStyle/>
          <a:p>
            <a:pPr algn="l">
              <a:spcAft>
                <a:spcPts val="0"/>
              </a:spcAft>
            </a:pPr>
            <a:r>
              <a:rPr sz="1000" b="1" i="0">
                <a:solidFill>
                  <a:srgbClr val="59697A"/>
                </a:solidFill>
                <a:latin typeface="Arial"/>
              </a:rPr>
              <a:t>Read</a:t>
            </a:r>
          </a:p>
        </p:txBody>
      </p:sp>
      <p:sp>
        <p:nvSpPr>
          <p:cNvPr id="16" name="Rectangle 15"/>
          <p:cNvSpPr/>
          <p:nvPr/>
        </p:nvSpPr>
        <p:spPr>
          <a:xfrm>
            <a:off x="7351775" y="2340864"/>
            <a:ext cx="4187952" cy="20116"/>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333488" y="2496312"/>
            <a:ext cx="4215384" cy="457200"/>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06640" y="2560320"/>
            <a:ext cx="1271016" cy="292608"/>
          </a:xfrm>
          <a:prstGeom prst="rect">
            <a:avLst/>
          </a:prstGeom>
          <a:noFill/>
        </p:spPr>
        <p:txBody>
          <a:bodyPr wrap="square" lIns="18288" rIns="18288" tIns="18288" bIns="18288" anchor="t">
            <a:spAutoFit/>
          </a:bodyPr>
          <a:lstStyle/>
          <a:p>
            <a:pPr algn="l">
              <a:spcAft>
                <a:spcPts val="0"/>
              </a:spcAft>
            </a:pPr>
            <a:r>
              <a:rPr sz="1030" b="0" i="0">
                <a:solidFill>
                  <a:srgbClr val="263746"/>
                </a:solidFill>
                <a:latin typeface="Arial"/>
              </a:rPr>
              <a:t>Correlation</a:t>
            </a:r>
          </a:p>
        </p:txBody>
      </p:sp>
      <p:sp>
        <p:nvSpPr>
          <p:cNvPr id="19" name="TextBox 18"/>
          <p:cNvSpPr txBox="1"/>
          <p:nvPr/>
        </p:nvSpPr>
        <p:spPr>
          <a:xfrm>
            <a:off x="8750808" y="2560320"/>
            <a:ext cx="777240" cy="292608"/>
          </a:xfrm>
          <a:prstGeom prst="rect">
            <a:avLst/>
          </a:prstGeom>
          <a:noFill/>
        </p:spPr>
        <p:txBody>
          <a:bodyPr wrap="square" lIns="18288" rIns="18288" tIns="18288" bIns="18288" anchor="t">
            <a:spAutoFit/>
          </a:bodyPr>
          <a:lstStyle/>
          <a:p>
            <a:pPr algn="ctr">
              <a:spcAft>
                <a:spcPts val="0"/>
              </a:spcAft>
            </a:pPr>
            <a:r>
              <a:rPr sz="1260" b="1" i="0">
                <a:solidFill>
                  <a:srgbClr val="D96552"/>
                </a:solidFill>
                <a:latin typeface="Arial"/>
              </a:rPr>
              <a:t>0.976</a:t>
            </a:r>
          </a:p>
        </p:txBody>
      </p:sp>
      <p:sp>
        <p:nvSpPr>
          <p:cNvPr id="20" name="TextBox 19"/>
          <p:cNvSpPr txBox="1"/>
          <p:nvPr/>
        </p:nvSpPr>
        <p:spPr>
          <a:xfrm>
            <a:off x="9619488" y="2560320"/>
            <a:ext cx="694944" cy="292608"/>
          </a:xfrm>
          <a:prstGeom prst="rect">
            <a:avLst/>
          </a:prstGeom>
          <a:noFill/>
        </p:spPr>
        <p:txBody>
          <a:bodyPr wrap="square" lIns="18288" rIns="18288" tIns="18288" bIns="18288" anchor="t">
            <a:spAutoFit/>
          </a:bodyPr>
          <a:lstStyle/>
          <a:p>
            <a:pPr algn="ctr">
              <a:spcAft>
                <a:spcPts val="0"/>
              </a:spcAft>
            </a:pPr>
            <a:r>
              <a:rPr sz="1260" b="1" i="0">
                <a:solidFill>
                  <a:srgbClr val="178681"/>
                </a:solidFill>
                <a:latin typeface="Arial"/>
              </a:rPr>
              <a:t>0.974</a:t>
            </a:r>
          </a:p>
        </p:txBody>
      </p:sp>
      <p:sp>
        <p:nvSpPr>
          <p:cNvPr id="21" name="TextBox 20"/>
          <p:cNvSpPr txBox="1"/>
          <p:nvPr/>
        </p:nvSpPr>
        <p:spPr>
          <a:xfrm>
            <a:off x="10451592" y="2560320"/>
            <a:ext cx="1005840" cy="292608"/>
          </a:xfrm>
          <a:prstGeom prst="rect">
            <a:avLst/>
          </a:prstGeom>
          <a:noFill/>
        </p:spPr>
        <p:txBody>
          <a:bodyPr wrap="square" lIns="18288" rIns="18288" tIns="18288" bIns="18288" anchor="t">
            <a:spAutoFit/>
          </a:bodyPr>
          <a:lstStyle/>
          <a:p>
            <a:pPr algn="l">
              <a:spcAft>
                <a:spcPts val="0"/>
              </a:spcAft>
            </a:pPr>
            <a:r>
              <a:rPr sz="1019" b="0" i="0">
                <a:solidFill>
                  <a:srgbClr val="59697A"/>
                </a:solidFill>
                <a:latin typeface="Arial"/>
              </a:rPr>
              <a:t>similar</a:t>
            </a:r>
          </a:p>
        </p:txBody>
      </p:sp>
      <p:sp>
        <p:nvSpPr>
          <p:cNvPr id="22" name="TextBox 21"/>
          <p:cNvSpPr txBox="1"/>
          <p:nvPr/>
        </p:nvSpPr>
        <p:spPr>
          <a:xfrm>
            <a:off x="7406640" y="3099815"/>
            <a:ext cx="1271016" cy="292608"/>
          </a:xfrm>
          <a:prstGeom prst="rect">
            <a:avLst/>
          </a:prstGeom>
          <a:noFill/>
        </p:spPr>
        <p:txBody>
          <a:bodyPr wrap="square" lIns="18288" rIns="18288" tIns="18288" bIns="18288" anchor="t">
            <a:spAutoFit/>
          </a:bodyPr>
          <a:lstStyle/>
          <a:p>
            <a:pPr algn="l">
              <a:spcAft>
                <a:spcPts val="0"/>
              </a:spcAft>
            </a:pPr>
            <a:r>
              <a:rPr sz="1030" b="0" i="0">
                <a:solidFill>
                  <a:srgbClr val="263746"/>
                </a:solidFill>
                <a:latin typeface="Arial"/>
              </a:rPr>
              <a:t>F1</a:t>
            </a:r>
          </a:p>
        </p:txBody>
      </p:sp>
      <p:sp>
        <p:nvSpPr>
          <p:cNvPr id="23" name="TextBox 22"/>
          <p:cNvSpPr txBox="1"/>
          <p:nvPr/>
        </p:nvSpPr>
        <p:spPr>
          <a:xfrm>
            <a:off x="8750808" y="3099815"/>
            <a:ext cx="777240" cy="292608"/>
          </a:xfrm>
          <a:prstGeom prst="rect">
            <a:avLst/>
          </a:prstGeom>
          <a:noFill/>
        </p:spPr>
        <p:txBody>
          <a:bodyPr wrap="square" lIns="18288" rIns="18288" tIns="18288" bIns="18288" anchor="t">
            <a:spAutoFit/>
          </a:bodyPr>
          <a:lstStyle/>
          <a:p>
            <a:pPr algn="ctr">
              <a:spcAft>
                <a:spcPts val="0"/>
              </a:spcAft>
            </a:pPr>
            <a:r>
              <a:rPr sz="1260" b="1" i="0">
                <a:solidFill>
                  <a:srgbClr val="D96552"/>
                </a:solidFill>
                <a:latin typeface="Arial"/>
              </a:rPr>
              <a:t>0.985</a:t>
            </a:r>
          </a:p>
        </p:txBody>
      </p:sp>
      <p:sp>
        <p:nvSpPr>
          <p:cNvPr id="24" name="TextBox 23"/>
          <p:cNvSpPr txBox="1"/>
          <p:nvPr/>
        </p:nvSpPr>
        <p:spPr>
          <a:xfrm>
            <a:off x="9619488" y="3099815"/>
            <a:ext cx="694944" cy="292608"/>
          </a:xfrm>
          <a:prstGeom prst="rect">
            <a:avLst/>
          </a:prstGeom>
          <a:noFill/>
        </p:spPr>
        <p:txBody>
          <a:bodyPr wrap="square" lIns="18288" rIns="18288" tIns="18288" bIns="18288" anchor="t">
            <a:spAutoFit/>
          </a:bodyPr>
          <a:lstStyle/>
          <a:p>
            <a:pPr algn="ctr">
              <a:spcAft>
                <a:spcPts val="0"/>
              </a:spcAft>
            </a:pPr>
            <a:r>
              <a:rPr sz="1260" b="1" i="0">
                <a:solidFill>
                  <a:srgbClr val="178681"/>
                </a:solidFill>
                <a:latin typeface="Arial"/>
              </a:rPr>
              <a:t>0.997</a:t>
            </a:r>
          </a:p>
        </p:txBody>
      </p:sp>
      <p:sp>
        <p:nvSpPr>
          <p:cNvPr id="25" name="TextBox 24"/>
          <p:cNvSpPr txBox="1"/>
          <p:nvPr/>
        </p:nvSpPr>
        <p:spPr>
          <a:xfrm>
            <a:off x="10451592" y="3099815"/>
            <a:ext cx="1005840" cy="292608"/>
          </a:xfrm>
          <a:prstGeom prst="rect">
            <a:avLst/>
          </a:prstGeom>
          <a:noFill/>
        </p:spPr>
        <p:txBody>
          <a:bodyPr wrap="square" lIns="18288" rIns="18288" tIns="18288" bIns="18288" anchor="t">
            <a:spAutoFit/>
          </a:bodyPr>
          <a:lstStyle/>
          <a:p>
            <a:pPr algn="l">
              <a:spcAft>
                <a:spcPts val="0"/>
              </a:spcAft>
            </a:pPr>
            <a:r>
              <a:rPr sz="1019" b="0" i="0">
                <a:solidFill>
                  <a:srgbClr val="59697A"/>
                </a:solidFill>
                <a:latin typeface="Arial"/>
              </a:rPr>
              <a:t>higher</a:t>
            </a:r>
          </a:p>
        </p:txBody>
      </p:sp>
      <p:sp>
        <p:nvSpPr>
          <p:cNvPr id="26" name="Rectangle 25"/>
          <p:cNvSpPr/>
          <p:nvPr/>
        </p:nvSpPr>
        <p:spPr>
          <a:xfrm>
            <a:off x="7333488" y="3575303"/>
            <a:ext cx="4215384" cy="457200"/>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06640" y="3639311"/>
            <a:ext cx="1271016" cy="292608"/>
          </a:xfrm>
          <a:prstGeom prst="rect">
            <a:avLst/>
          </a:prstGeom>
          <a:noFill/>
        </p:spPr>
        <p:txBody>
          <a:bodyPr wrap="square" lIns="18288" rIns="18288" tIns="18288" bIns="18288" anchor="t">
            <a:spAutoFit/>
          </a:bodyPr>
          <a:lstStyle/>
          <a:p>
            <a:pPr algn="l">
              <a:spcAft>
                <a:spcPts val="0"/>
              </a:spcAft>
            </a:pPr>
            <a:r>
              <a:rPr sz="1030" b="1" i="0">
                <a:solidFill>
                  <a:srgbClr val="263746"/>
                </a:solidFill>
                <a:latin typeface="Arial"/>
              </a:rPr>
              <a:t>Adversarial acc.</a:t>
            </a:r>
          </a:p>
        </p:txBody>
      </p:sp>
      <p:sp>
        <p:nvSpPr>
          <p:cNvPr id="28" name="TextBox 27"/>
          <p:cNvSpPr txBox="1"/>
          <p:nvPr/>
        </p:nvSpPr>
        <p:spPr>
          <a:xfrm>
            <a:off x="8750808" y="3639311"/>
            <a:ext cx="777240" cy="292608"/>
          </a:xfrm>
          <a:prstGeom prst="rect">
            <a:avLst/>
          </a:prstGeom>
          <a:noFill/>
        </p:spPr>
        <p:txBody>
          <a:bodyPr wrap="square" lIns="18288" rIns="18288" tIns="18288" bIns="18288" anchor="t">
            <a:spAutoFit/>
          </a:bodyPr>
          <a:lstStyle/>
          <a:p>
            <a:pPr algn="ctr">
              <a:spcAft>
                <a:spcPts val="0"/>
              </a:spcAft>
            </a:pPr>
            <a:r>
              <a:rPr sz="1260" b="1" i="0">
                <a:solidFill>
                  <a:srgbClr val="D96552"/>
                </a:solidFill>
                <a:latin typeface="Arial"/>
              </a:rPr>
              <a:t>0.636</a:t>
            </a:r>
          </a:p>
        </p:txBody>
      </p:sp>
      <p:sp>
        <p:nvSpPr>
          <p:cNvPr id="29" name="TextBox 28"/>
          <p:cNvSpPr txBox="1"/>
          <p:nvPr/>
        </p:nvSpPr>
        <p:spPr>
          <a:xfrm>
            <a:off x="9619488" y="3639311"/>
            <a:ext cx="694944" cy="292608"/>
          </a:xfrm>
          <a:prstGeom prst="rect">
            <a:avLst/>
          </a:prstGeom>
          <a:noFill/>
        </p:spPr>
        <p:txBody>
          <a:bodyPr wrap="square" lIns="18288" rIns="18288" tIns="18288" bIns="18288" anchor="t">
            <a:spAutoFit/>
          </a:bodyPr>
          <a:lstStyle/>
          <a:p>
            <a:pPr algn="ctr">
              <a:spcAft>
                <a:spcPts val="0"/>
              </a:spcAft>
            </a:pPr>
            <a:r>
              <a:rPr sz="1260" b="1" i="0">
                <a:solidFill>
                  <a:srgbClr val="178681"/>
                </a:solidFill>
                <a:latin typeface="Arial"/>
              </a:rPr>
              <a:t>0.475</a:t>
            </a:r>
          </a:p>
        </p:txBody>
      </p:sp>
      <p:sp>
        <p:nvSpPr>
          <p:cNvPr id="30" name="TextBox 29"/>
          <p:cNvSpPr txBox="1"/>
          <p:nvPr/>
        </p:nvSpPr>
        <p:spPr>
          <a:xfrm>
            <a:off x="10451592" y="3639311"/>
            <a:ext cx="1005840" cy="292608"/>
          </a:xfrm>
          <a:prstGeom prst="rect">
            <a:avLst/>
          </a:prstGeom>
          <a:noFill/>
        </p:spPr>
        <p:txBody>
          <a:bodyPr wrap="square" lIns="18288" rIns="18288" tIns="18288" bIns="18288" anchor="t">
            <a:spAutoFit/>
          </a:bodyPr>
          <a:lstStyle/>
          <a:p>
            <a:pPr algn="l">
              <a:spcAft>
                <a:spcPts val="0"/>
              </a:spcAft>
            </a:pPr>
            <a:r>
              <a:rPr sz="1019" b="0" i="0">
                <a:solidFill>
                  <a:srgbClr val="59697A"/>
                </a:solidFill>
                <a:latin typeface="Arial"/>
              </a:rPr>
              <a:t>near 0.5</a:t>
            </a:r>
          </a:p>
        </p:txBody>
      </p:sp>
      <p:sp>
        <p:nvSpPr>
          <p:cNvPr id="31" name="TextBox 30"/>
          <p:cNvSpPr txBox="1"/>
          <p:nvPr/>
        </p:nvSpPr>
        <p:spPr>
          <a:xfrm>
            <a:off x="7406640" y="4178808"/>
            <a:ext cx="1271016" cy="292608"/>
          </a:xfrm>
          <a:prstGeom prst="rect">
            <a:avLst/>
          </a:prstGeom>
          <a:noFill/>
        </p:spPr>
        <p:txBody>
          <a:bodyPr wrap="square" lIns="18288" rIns="18288" tIns="18288" bIns="18288" anchor="t">
            <a:spAutoFit/>
          </a:bodyPr>
          <a:lstStyle/>
          <a:p>
            <a:pPr algn="l">
              <a:spcAft>
                <a:spcPts val="0"/>
              </a:spcAft>
            </a:pPr>
            <a:r>
              <a:rPr sz="1030" b="1" i="0">
                <a:solidFill>
                  <a:srgbClr val="263746"/>
                </a:solidFill>
                <a:latin typeface="Arial"/>
              </a:rPr>
              <a:t>FD / real P95</a:t>
            </a:r>
          </a:p>
        </p:txBody>
      </p:sp>
      <p:sp>
        <p:nvSpPr>
          <p:cNvPr id="32" name="TextBox 31"/>
          <p:cNvSpPr txBox="1"/>
          <p:nvPr/>
        </p:nvSpPr>
        <p:spPr>
          <a:xfrm>
            <a:off x="8750808" y="4178808"/>
            <a:ext cx="777240" cy="292608"/>
          </a:xfrm>
          <a:prstGeom prst="rect">
            <a:avLst/>
          </a:prstGeom>
          <a:noFill/>
        </p:spPr>
        <p:txBody>
          <a:bodyPr wrap="square" lIns="18288" rIns="18288" tIns="18288" bIns="18288" anchor="t">
            <a:spAutoFit/>
          </a:bodyPr>
          <a:lstStyle/>
          <a:p>
            <a:pPr algn="ctr">
              <a:spcAft>
                <a:spcPts val="0"/>
              </a:spcAft>
            </a:pPr>
            <a:r>
              <a:rPr sz="1260" b="1" i="0">
                <a:solidFill>
                  <a:srgbClr val="D96552"/>
                </a:solidFill>
                <a:latin typeface="Arial"/>
              </a:rPr>
              <a:t>0.144</a:t>
            </a:r>
          </a:p>
        </p:txBody>
      </p:sp>
      <p:sp>
        <p:nvSpPr>
          <p:cNvPr id="33" name="TextBox 32"/>
          <p:cNvSpPr txBox="1"/>
          <p:nvPr/>
        </p:nvSpPr>
        <p:spPr>
          <a:xfrm>
            <a:off x="9619488" y="4178808"/>
            <a:ext cx="694944" cy="292608"/>
          </a:xfrm>
          <a:prstGeom prst="rect">
            <a:avLst/>
          </a:prstGeom>
          <a:noFill/>
        </p:spPr>
        <p:txBody>
          <a:bodyPr wrap="square" lIns="18288" rIns="18288" tIns="18288" bIns="18288" anchor="t">
            <a:spAutoFit/>
          </a:bodyPr>
          <a:lstStyle/>
          <a:p>
            <a:pPr algn="ctr">
              <a:spcAft>
                <a:spcPts val="0"/>
              </a:spcAft>
            </a:pPr>
            <a:r>
              <a:rPr sz="1260" b="1" i="0">
                <a:solidFill>
                  <a:srgbClr val="178681"/>
                </a:solidFill>
                <a:latin typeface="Arial"/>
              </a:rPr>
              <a:t>0.074</a:t>
            </a:r>
          </a:p>
        </p:txBody>
      </p:sp>
      <p:sp>
        <p:nvSpPr>
          <p:cNvPr id="34" name="TextBox 33"/>
          <p:cNvSpPr txBox="1"/>
          <p:nvPr/>
        </p:nvSpPr>
        <p:spPr>
          <a:xfrm>
            <a:off x="10451592" y="4178808"/>
            <a:ext cx="1005840" cy="292608"/>
          </a:xfrm>
          <a:prstGeom prst="rect">
            <a:avLst/>
          </a:prstGeom>
          <a:noFill/>
        </p:spPr>
        <p:txBody>
          <a:bodyPr wrap="square" lIns="18288" rIns="18288" tIns="18288" bIns="18288" anchor="t">
            <a:spAutoFit/>
          </a:bodyPr>
          <a:lstStyle/>
          <a:p>
            <a:pPr algn="l">
              <a:spcAft>
                <a:spcPts val="0"/>
              </a:spcAft>
            </a:pPr>
            <a:r>
              <a:rPr sz="1019" b="0" i="0">
                <a:solidFill>
                  <a:srgbClr val="59697A"/>
                </a:solidFill>
                <a:latin typeface="Arial"/>
              </a:rPr>
              <a:t>lower</a:t>
            </a:r>
          </a:p>
        </p:txBody>
      </p:sp>
      <p:sp>
        <p:nvSpPr>
          <p:cNvPr id="35" name="Rectangle 34"/>
          <p:cNvSpPr/>
          <p:nvPr/>
        </p:nvSpPr>
        <p:spPr>
          <a:xfrm>
            <a:off x="502920" y="5404104"/>
            <a:ext cx="6428232" cy="13716"/>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02920" y="5559552"/>
            <a:ext cx="1600200" cy="219456"/>
          </a:xfrm>
          <a:prstGeom prst="rect">
            <a:avLst/>
          </a:prstGeom>
          <a:noFill/>
        </p:spPr>
        <p:txBody>
          <a:bodyPr wrap="square" lIns="0" rIns="0" tIns="0" bIns="0" anchor="t">
            <a:spAutoFit/>
          </a:bodyPr>
          <a:lstStyle/>
          <a:p>
            <a:pPr algn="l">
              <a:spcAft>
                <a:spcPts val="0"/>
              </a:spcAft>
            </a:pPr>
            <a:r>
              <a:rPr sz="1040" b="1" i="0">
                <a:solidFill>
                  <a:srgbClr val="2D6496"/>
                </a:solidFill>
                <a:latin typeface="Arial"/>
              </a:rPr>
              <a:t>ARCHS4 tissue probe</a:t>
            </a:r>
          </a:p>
        </p:txBody>
      </p:sp>
      <p:sp>
        <p:nvSpPr>
          <p:cNvPr id="37" name="TextBox 36"/>
          <p:cNvSpPr txBox="1"/>
          <p:nvPr/>
        </p:nvSpPr>
        <p:spPr>
          <a:xfrm>
            <a:off x="3931920" y="5541264"/>
            <a:ext cx="2852928" cy="246888"/>
          </a:xfrm>
          <a:prstGeom prst="rect">
            <a:avLst/>
          </a:prstGeom>
          <a:noFill/>
        </p:spPr>
        <p:txBody>
          <a:bodyPr wrap="square" lIns="0" rIns="0" tIns="0" bIns="0" anchor="t">
            <a:spAutoFit/>
          </a:bodyPr>
          <a:lstStyle/>
          <a:p>
            <a:pPr algn="r">
              <a:spcAft>
                <a:spcPts val="0"/>
              </a:spcAft>
            </a:pPr>
            <a:r>
              <a:rPr sz="1040" b="0" i="0">
                <a:solidFill>
                  <a:srgbClr val="263746"/>
                </a:solidFill>
                <a:latin typeface="Arial"/>
              </a:rPr>
              <a:t>Real 0.781  |  Synthetic 0.781</a:t>
            </a:r>
          </a:p>
        </p:txBody>
      </p:sp>
      <p:sp>
        <p:nvSpPr>
          <p:cNvPr id="38" name="TextBox 37"/>
          <p:cNvSpPr txBox="1"/>
          <p:nvPr/>
        </p:nvSpPr>
        <p:spPr>
          <a:xfrm>
            <a:off x="502920" y="5843016"/>
            <a:ext cx="6281928" cy="228600"/>
          </a:xfrm>
          <a:prstGeom prst="rect">
            <a:avLst/>
          </a:prstGeom>
          <a:noFill/>
        </p:spPr>
        <p:txBody>
          <a:bodyPr wrap="square" lIns="0" rIns="0" tIns="0" bIns="0" anchor="t">
            <a:spAutoFit/>
          </a:bodyPr>
          <a:lstStyle/>
          <a:p>
            <a:pPr algn="ctr">
              <a:spcAft>
                <a:spcPts val="0"/>
              </a:spcAft>
            </a:pPr>
            <a:r>
              <a:rPr sz="969" b="0" i="0">
                <a:solidFill>
                  <a:srgbClr val="59697A"/>
                </a:solidFill>
                <a:latin typeface="Arial"/>
              </a:rPr>
              <a:t>Balanced accuracy is preserved in generated tissue labels.</a:t>
            </a:r>
          </a:p>
        </p:txBody>
      </p:sp>
      <p:sp>
        <p:nvSpPr>
          <p:cNvPr id="39" name="Rectangle 38"/>
          <p:cNvSpPr/>
          <p:nvPr/>
        </p:nvSpPr>
        <p:spPr>
          <a:xfrm>
            <a:off x="7351775" y="4901184"/>
            <a:ext cx="50292" cy="71323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580375" y="4937760"/>
            <a:ext cx="1207008" cy="283464"/>
          </a:xfrm>
          <a:prstGeom prst="rect">
            <a:avLst/>
          </a:prstGeom>
          <a:noFill/>
        </p:spPr>
        <p:txBody>
          <a:bodyPr wrap="square" lIns="0" rIns="0" tIns="0" bIns="0" anchor="t">
            <a:spAutoFit/>
          </a:bodyPr>
          <a:lstStyle/>
          <a:p>
            <a:pPr algn="l">
              <a:spcAft>
                <a:spcPts val="0"/>
              </a:spcAft>
            </a:pPr>
            <a:r>
              <a:rPr sz="1600" b="1" i="0">
                <a:solidFill>
                  <a:srgbClr val="082B55"/>
                </a:solidFill>
                <a:latin typeface="Arial"/>
              </a:rPr>
              <a:t>Use DDIM</a:t>
            </a:r>
          </a:p>
        </p:txBody>
      </p:sp>
      <p:sp>
        <p:nvSpPr>
          <p:cNvPr id="41" name="TextBox 40"/>
          <p:cNvSpPr txBox="1"/>
          <p:nvPr/>
        </p:nvSpPr>
        <p:spPr>
          <a:xfrm>
            <a:off x="8897112" y="4919472"/>
            <a:ext cx="2542032" cy="429768"/>
          </a:xfrm>
          <a:prstGeom prst="rect">
            <a:avLst/>
          </a:prstGeom>
          <a:noFill/>
        </p:spPr>
        <p:txBody>
          <a:bodyPr wrap="square" lIns="0" rIns="0" tIns="0" bIns="0" anchor="ctr">
            <a:spAutoFit/>
          </a:bodyPr>
          <a:lstStyle/>
          <a:p>
            <a:pPr algn="l">
              <a:spcAft>
                <a:spcPts val="0"/>
              </a:spcAft>
            </a:pPr>
            <a:r>
              <a:rPr sz="1130" b="0" i="0">
                <a:solidFill>
                  <a:srgbClr val="263746"/>
                </a:solidFill>
                <a:latin typeface="Arial"/>
              </a:rPr>
              <a:t>Higher F1 with lower separability and FD.</a:t>
            </a:r>
          </a:p>
        </p:txBody>
      </p:sp>
      <p:sp>
        <p:nvSpPr>
          <p:cNvPr id="42" name="TextBox 41"/>
          <p:cNvSpPr txBox="1"/>
          <p:nvPr/>
        </p:nvSpPr>
        <p:spPr>
          <a:xfrm>
            <a:off x="7580375" y="5458968"/>
            <a:ext cx="3858768" cy="365760"/>
          </a:xfrm>
          <a:prstGeom prst="rect">
            <a:avLst/>
          </a:prstGeom>
          <a:noFill/>
        </p:spPr>
        <p:txBody>
          <a:bodyPr wrap="square" lIns="0" rIns="0" tIns="0" bIns="0" anchor="t">
            <a:spAutoFit/>
          </a:bodyPr>
          <a:lstStyle/>
          <a:p>
            <a:pPr algn="l">
              <a:spcAft>
                <a:spcPts val="0"/>
              </a:spcAft>
            </a:pPr>
            <a:r>
              <a:rPr sz="950" b="0" i="0">
                <a:solidFill>
                  <a:srgbClr val="59697A"/>
                </a:solidFill>
                <a:latin typeface="Arial"/>
              </a:rPr>
              <a:t>AA near 0.5 means real and generated profiles are difficult to separate.</a:t>
            </a:r>
          </a:p>
        </p:txBody>
      </p:sp>
      <p:sp>
        <p:nvSpPr>
          <p:cNvPr id="43" name="TextBox 42"/>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Architecture excerpt: Lacan et al. (2026), Fig. 1C, doi:10.1186/s12859-026-06470-8. Metrics use each model's stated split and are not paired.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DIFFUSION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Diffusion learns tissue structure from noise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same PCA axes follow 1,024 generated profiles through reverse diffusion.</a:t>
            </a:r>
          </a:p>
        </p:txBody>
      </p:sp>
      <p:pic>
        <p:nvPicPr>
          <p:cNvPr id="7" name="DDIM reverse trajectory at timesteps 1000, 200 and 0" descr="DDIM reverse trajectory at timesteps 1000, 200 and 0"/>
          <p:cNvPicPr>
            <a:picLocks noChangeAspect="1"/>
          </p:cNvPicPr>
          <p:nvPr/>
        </p:nvPicPr>
        <p:blipFill>
          <a:blip r:embed="rId2"/>
          <a:stretch>
            <a:fillRect/>
          </a:stretch>
        </p:blipFill>
        <p:spPr>
          <a:xfrm>
            <a:off x="310896" y="1735579"/>
            <a:ext cx="11558016" cy="4100072"/>
          </a:xfrm>
          <a:prstGeom prst="rect">
            <a:avLst/>
          </a:prstGeom>
        </p:spPr>
      </p:pic>
      <p:sp>
        <p:nvSpPr>
          <p:cNvPr id="8" name="TextBox 7"/>
          <p:cNvSpPr txBox="1"/>
          <p:nvPr/>
        </p:nvSpPr>
        <p:spPr>
          <a:xfrm>
            <a:off x="713232" y="5943600"/>
            <a:ext cx="2286000" cy="256032"/>
          </a:xfrm>
          <a:prstGeom prst="rect">
            <a:avLst/>
          </a:prstGeom>
          <a:noFill/>
        </p:spPr>
        <p:txBody>
          <a:bodyPr wrap="square" lIns="18288" rIns="18288" tIns="18288" bIns="18288" anchor="t">
            <a:spAutoFit/>
          </a:bodyPr>
          <a:lstStyle/>
          <a:p>
            <a:pPr algn="ctr">
              <a:spcAft>
                <a:spcPts val="0"/>
              </a:spcAft>
            </a:pPr>
            <a:r>
              <a:rPr sz="1300" b="1" i="0">
                <a:solidFill>
                  <a:srgbClr val="59697A"/>
                </a:solidFill>
                <a:latin typeface="Arial"/>
              </a:rPr>
              <a:t>t = 1000: noise</a:t>
            </a:r>
          </a:p>
        </p:txBody>
      </p:sp>
      <p:sp>
        <p:nvSpPr>
          <p:cNvPr id="9" name="TextBox 8"/>
          <p:cNvSpPr txBox="1"/>
          <p:nvPr/>
        </p:nvSpPr>
        <p:spPr>
          <a:xfrm>
            <a:off x="4782312" y="5943600"/>
            <a:ext cx="2651760" cy="256032"/>
          </a:xfrm>
          <a:prstGeom prst="rect">
            <a:avLst/>
          </a:prstGeom>
          <a:noFill/>
        </p:spPr>
        <p:txBody>
          <a:bodyPr wrap="square" lIns="18288" rIns="18288" tIns="18288" bIns="18288" anchor="t">
            <a:spAutoFit/>
          </a:bodyPr>
          <a:lstStyle/>
          <a:p>
            <a:pPr algn="ctr">
              <a:spcAft>
                <a:spcPts val="0"/>
              </a:spcAft>
            </a:pPr>
            <a:r>
              <a:rPr sz="1300" b="1" i="0">
                <a:solidFill>
                  <a:srgbClr val="59697A"/>
                </a:solidFill>
                <a:latin typeface="Arial"/>
              </a:rPr>
              <a:t>t = 200: partial structure</a:t>
            </a:r>
          </a:p>
        </p:txBody>
      </p:sp>
      <p:sp>
        <p:nvSpPr>
          <p:cNvPr id="10" name="TextBox 9"/>
          <p:cNvSpPr txBox="1"/>
          <p:nvPr/>
        </p:nvSpPr>
        <p:spPr>
          <a:xfrm>
            <a:off x="8366760" y="5943600"/>
            <a:ext cx="3108960" cy="256032"/>
          </a:xfrm>
          <a:prstGeom prst="rect">
            <a:avLst/>
          </a:prstGeom>
          <a:noFill/>
        </p:spPr>
        <p:txBody>
          <a:bodyPr wrap="square" lIns="18288" rIns="18288" tIns="18288" bIns="18288" anchor="t">
            <a:spAutoFit/>
          </a:bodyPr>
          <a:lstStyle/>
          <a:p>
            <a:pPr algn="ctr">
              <a:spcAft>
                <a:spcPts val="0"/>
              </a:spcAft>
            </a:pPr>
            <a:r>
              <a:rPr sz="1300" b="1" i="0">
                <a:solidFill>
                  <a:srgbClr val="178681"/>
                </a:solidFill>
                <a:latin typeface="Arial"/>
              </a:rPr>
              <a:t>t = 0: tissue-conditioned profiles</a:t>
            </a:r>
          </a:p>
        </p:txBody>
      </p:sp>
      <p:sp>
        <p:nvSpPr>
          <p:cNvPr id="11" name="TextBox 1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Gray points are real ARCHS4 profiles; colors identify generated tissue conditions. PC1 and PC2 limits are shared across panels.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DIFFUSION OUTPUT</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Generated profiles track the real OSDR PCA manifold</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Circles are locked real OSDR profiles; crosses are matched DDIM profiles from generation seed 5020.</a:t>
            </a:r>
          </a:p>
        </p:txBody>
      </p:sp>
      <p:pic>
        <p:nvPicPr>
          <p:cNvPr id="7" name="PCA of locked real and matched DDIM OSDR profiles by tissue and condition" descr="PCA of locked real and matched DDIM OSDR profiles by tissue and condition"/>
          <p:cNvPicPr>
            <a:picLocks noChangeAspect="1"/>
          </p:cNvPicPr>
          <p:nvPr/>
        </p:nvPicPr>
        <p:blipFill>
          <a:blip r:embed="rId2"/>
          <a:stretch>
            <a:fillRect/>
          </a:stretch>
        </p:blipFill>
        <p:spPr>
          <a:xfrm>
            <a:off x="1009356" y="1700784"/>
            <a:ext cx="10161095" cy="4169663"/>
          </a:xfrm>
          <a:prstGeom prst="rect">
            <a:avLst/>
          </a:prstGeom>
        </p:spPr>
      </p:pic>
      <p:sp>
        <p:nvSpPr>
          <p:cNvPr id="8" name="Rectangle 7"/>
          <p:cNvSpPr/>
          <p:nvPr/>
        </p:nvSpPr>
        <p:spPr>
          <a:xfrm>
            <a:off x="438912" y="5907024"/>
            <a:ext cx="11311128" cy="438912"/>
          </a:xfrm>
          <a:prstGeom prst="rect">
            <a:avLst/>
          </a:prstGeom>
          <a:solidFill>
            <a:srgbClr val="E9F1F7"/>
          </a:solidFill>
          <a:ln w="10160">
            <a:solidFill>
              <a:srgbClr val="C9DC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5989320"/>
            <a:ext cx="10844784" cy="246888"/>
          </a:xfrm>
          <a:prstGeom prst="rect">
            <a:avLst/>
          </a:prstGeom>
          <a:noFill/>
        </p:spPr>
        <p:txBody>
          <a:bodyPr wrap="square" lIns="18288" rIns="18288" tIns="18288" bIns="18288" anchor="t">
            <a:spAutoFit/>
          </a:bodyPr>
          <a:lstStyle/>
          <a:p>
            <a:pPr algn="ctr">
              <a:spcAft>
                <a:spcPts val="0"/>
              </a:spcAft>
            </a:pPr>
            <a:r>
              <a:rPr sz="1330" b="1" i="0">
                <a:solidFill>
                  <a:srgbClr val="082B55"/>
                </a:solidFill>
                <a:latin typeface="Arial"/>
              </a:rPr>
              <a:t>Tissues separate clearly here. Flight and ground-control samples overlap much more, so we test that difference statistically.</a:t>
            </a:r>
          </a:p>
        </p:txBody>
      </p:sp>
      <p:sp>
        <p:nvSpPr>
          <p:cNvPr id="10" name="TextBox 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PCA was fitted in the common locked OSDR expression space. This is PCA, not UMAP.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ANALYSIS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Five arms separate gene ranking from classifier fitting</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Guided arms use synthetic profiles to help choose genes; they do not treat generated profiles as new animals.</a:t>
            </a:r>
          </a:p>
        </p:txBody>
      </p:sp>
      <p:sp>
        <p:nvSpPr>
          <p:cNvPr id="7" name="TextBox 6"/>
          <p:cNvSpPr txBox="1"/>
          <p:nvPr/>
        </p:nvSpPr>
        <p:spPr>
          <a:xfrm>
            <a:off x="429768" y="1828800"/>
            <a:ext cx="603504" cy="201168"/>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INPUTS</a:t>
            </a:r>
          </a:p>
        </p:txBody>
      </p:sp>
      <p:sp>
        <p:nvSpPr>
          <p:cNvPr id="8" name="Oval 7"/>
          <p:cNvSpPr/>
          <p:nvPr/>
        </p:nvSpPr>
        <p:spPr>
          <a:xfrm>
            <a:off x="1097280" y="1810512"/>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815084"/>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10" name="TextBox 9"/>
          <p:cNvSpPr txBox="1"/>
          <p:nvPr/>
        </p:nvSpPr>
        <p:spPr>
          <a:xfrm>
            <a:off x="1389888" y="1810512"/>
            <a:ext cx="1078992" cy="219456"/>
          </a:xfrm>
          <a:prstGeom prst="rect">
            <a:avLst/>
          </a:prstGeom>
          <a:noFill/>
        </p:spPr>
        <p:txBody>
          <a:bodyPr wrap="square" lIns="0" rIns="0" tIns="0" bIns="0" anchor="t">
            <a:spAutoFit/>
          </a:bodyPr>
          <a:lstStyle/>
          <a:p>
            <a:pPr algn="l">
              <a:spcAft>
                <a:spcPts val="0"/>
              </a:spcAft>
            </a:pPr>
            <a:r>
              <a:rPr sz="1080" b="1" i="0">
                <a:solidFill>
                  <a:srgbClr val="2D6496"/>
                </a:solidFill>
                <a:latin typeface="Arial"/>
              </a:rPr>
              <a:t>real OSDR</a:t>
            </a:r>
          </a:p>
        </p:txBody>
      </p:sp>
      <p:sp>
        <p:nvSpPr>
          <p:cNvPr id="11" name="Oval 10"/>
          <p:cNvSpPr/>
          <p:nvPr/>
        </p:nvSpPr>
        <p:spPr>
          <a:xfrm>
            <a:off x="2660904" y="1810512"/>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660904" y="1815084"/>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13" name="TextBox 12"/>
          <p:cNvSpPr txBox="1"/>
          <p:nvPr/>
        </p:nvSpPr>
        <p:spPr>
          <a:xfrm>
            <a:off x="2953512" y="1810512"/>
            <a:ext cx="1298448" cy="219456"/>
          </a:xfrm>
          <a:prstGeom prst="rect">
            <a:avLst/>
          </a:prstGeom>
          <a:noFill/>
        </p:spPr>
        <p:txBody>
          <a:bodyPr wrap="square" lIns="0" rIns="0" tIns="0" bIns="0" anchor="t">
            <a:spAutoFit/>
          </a:bodyPr>
          <a:lstStyle/>
          <a:p>
            <a:pPr algn="l">
              <a:spcAft>
                <a:spcPts val="0"/>
              </a:spcAft>
            </a:pPr>
            <a:r>
              <a:rPr sz="1080" b="1" i="0">
                <a:solidFill>
                  <a:srgbClr val="D96552"/>
                </a:solidFill>
                <a:latin typeface="Arial"/>
              </a:rPr>
              <a:t>matched DDIM</a:t>
            </a:r>
          </a:p>
        </p:txBody>
      </p:sp>
      <p:sp>
        <p:nvSpPr>
          <p:cNvPr id="14" name="TextBox 13"/>
          <p:cNvSpPr txBox="1"/>
          <p:nvPr/>
        </p:nvSpPr>
        <p:spPr>
          <a:xfrm>
            <a:off x="5577840" y="1819656"/>
            <a:ext cx="640080" cy="201168"/>
          </a:xfrm>
          <a:prstGeom prst="rect">
            <a:avLst/>
          </a:prstGeom>
          <a:noFill/>
        </p:spPr>
        <p:txBody>
          <a:bodyPr wrap="square" lIns="0" rIns="0" tIns="0" bIns="0" anchor="t">
            <a:spAutoFit/>
          </a:bodyPr>
          <a:lstStyle/>
          <a:p>
            <a:pPr algn="l">
              <a:spcAft>
                <a:spcPts val="0"/>
              </a:spcAft>
            </a:pPr>
            <a:r>
              <a:rPr sz="880" b="1" i="0">
                <a:solidFill>
                  <a:srgbClr val="178681"/>
                </a:solidFill>
                <a:latin typeface="Arial"/>
              </a:rPr>
              <a:t>GUIDED</a:t>
            </a:r>
          </a:p>
        </p:txBody>
      </p:sp>
      <p:sp>
        <p:nvSpPr>
          <p:cNvPr id="15" name="TextBox 14"/>
          <p:cNvSpPr txBox="1"/>
          <p:nvPr/>
        </p:nvSpPr>
        <p:spPr>
          <a:xfrm>
            <a:off x="6263640" y="1801368"/>
            <a:ext cx="1874519" cy="228600"/>
          </a:xfrm>
          <a:prstGeom prst="rect">
            <a:avLst/>
          </a:prstGeom>
          <a:noFill/>
        </p:spPr>
        <p:txBody>
          <a:bodyPr wrap="square" lIns="0" rIns="0" tIns="0" bIns="0" anchor="t">
            <a:spAutoFit/>
          </a:bodyPr>
          <a:lstStyle/>
          <a:p>
            <a:pPr algn="l">
              <a:spcAft>
                <a:spcPts val="0"/>
              </a:spcAft>
            </a:pPr>
            <a:r>
              <a:rPr sz="1050" b="0" i="0">
                <a:solidFill>
                  <a:srgbClr val="263746"/>
                </a:solidFill>
                <a:latin typeface="Arial"/>
              </a:rPr>
              <a:t>R + S help rank genes</a:t>
            </a:r>
          </a:p>
        </p:txBody>
      </p:sp>
      <p:sp>
        <p:nvSpPr>
          <p:cNvPr id="16" name="TextBox 15"/>
          <p:cNvSpPr txBox="1"/>
          <p:nvPr/>
        </p:nvSpPr>
        <p:spPr>
          <a:xfrm>
            <a:off x="8604504" y="1819656"/>
            <a:ext cx="347472" cy="201168"/>
          </a:xfrm>
          <a:prstGeom prst="rect">
            <a:avLst/>
          </a:prstGeom>
          <a:noFill/>
        </p:spPr>
        <p:txBody>
          <a:bodyPr wrap="square" lIns="0" rIns="0" tIns="0" bIns="0" anchor="t">
            <a:spAutoFit/>
          </a:bodyPr>
          <a:lstStyle/>
          <a:p>
            <a:pPr algn="l">
              <a:spcAft>
                <a:spcPts val="0"/>
              </a:spcAft>
            </a:pPr>
            <a:r>
              <a:rPr sz="880" b="1" i="0">
                <a:solidFill>
                  <a:srgbClr val="D37B00"/>
                </a:solidFill>
                <a:latin typeface="Arial"/>
              </a:rPr>
              <a:t>5%</a:t>
            </a:r>
          </a:p>
        </p:txBody>
      </p:sp>
      <p:sp>
        <p:nvSpPr>
          <p:cNvPr id="17" name="TextBox 16"/>
          <p:cNvSpPr txBox="1"/>
          <p:nvPr/>
        </p:nvSpPr>
        <p:spPr>
          <a:xfrm>
            <a:off x="8997696" y="1801368"/>
            <a:ext cx="2542032" cy="228600"/>
          </a:xfrm>
          <a:prstGeom prst="rect">
            <a:avLst/>
          </a:prstGeom>
          <a:noFill/>
        </p:spPr>
        <p:txBody>
          <a:bodyPr wrap="square" lIns="0" rIns="0" tIns="0" bIns="0" anchor="t">
            <a:spAutoFit/>
          </a:bodyPr>
          <a:lstStyle/>
          <a:p>
            <a:pPr algn="l">
              <a:spcAft>
                <a:spcPts val="0"/>
              </a:spcAft>
            </a:pPr>
            <a:r>
              <a:rPr sz="1050" b="0" i="0">
                <a:solidFill>
                  <a:srgbClr val="263746"/>
                </a:solidFill>
                <a:latin typeface="Arial"/>
              </a:rPr>
              <a:t>S carries 5% of total fit weight</a:t>
            </a:r>
          </a:p>
        </p:txBody>
      </p:sp>
      <p:sp>
        <p:nvSpPr>
          <p:cNvPr id="18" name="TextBox 17"/>
          <p:cNvSpPr txBox="1"/>
          <p:nvPr/>
        </p:nvSpPr>
        <p:spPr>
          <a:xfrm>
            <a:off x="603504" y="2176272"/>
            <a:ext cx="1993392" cy="201168"/>
          </a:xfrm>
          <a:prstGeom prst="rect">
            <a:avLst/>
          </a:prstGeom>
          <a:noFill/>
        </p:spPr>
        <p:txBody>
          <a:bodyPr wrap="square" lIns="0" rIns="0" tIns="0" bIns="0" anchor="t">
            <a:spAutoFit/>
          </a:bodyPr>
          <a:lstStyle/>
          <a:p>
            <a:pPr algn="l">
              <a:spcAft>
                <a:spcPts val="0"/>
              </a:spcAft>
            </a:pPr>
            <a:r>
              <a:rPr sz="900" b="1" i="0">
                <a:solidFill>
                  <a:srgbClr val="59697A"/>
                </a:solidFill>
                <a:latin typeface="Arial"/>
              </a:rPr>
              <a:t>ANALYSIS ARM</a:t>
            </a:r>
          </a:p>
        </p:txBody>
      </p:sp>
      <p:sp>
        <p:nvSpPr>
          <p:cNvPr id="19" name="TextBox 18"/>
          <p:cNvSpPr txBox="1"/>
          <p:nvPr/>
        </p:nvSpPr>
        <p:spPr>
          <a:xfrm>
            <a:off x="2807208" y="2176272"/>
            <a:ext cx="2651760" cy="201168"/>
          </a:xfrm>
          <a:prstGeom prst="rect">
            <a:avLst/>
          </a:prstGeom>
          <a:noFill/>
        </p:spPr>
        <p:txBody>
          <a:bodyPr wrap="square" lIns="0" rIns="0" tIns="0" bIns="0" anchor="t">
            <a:spAutoFit/>
          </a:bodyPr>
          <a:lstStyle/>
          <a:p>
            <a:pPr algn="l">
              <a:spcAft>
                <a:spcPts val="0"/>
              </a:spcAft>
            </a:pPr>
            <a:r>
              <a:rPr sz="900" b="1" i="0">
                <a:solidFill>
                  <a:srgbClr val="59697A"/>
                </a:solidFill>
                <a:latin typeface="Arial"/>
              </a:rPr>
              <a:t>GENE RANKING</a:t>
            </a:r>
          </a:p>
        </p:txBody>
      </p:sp>
      <p:sp>
        <p:nvSpPr>
          <p:cNvPr id="20" name="TextBox 19"/>
          <p:cNvSpPr txBox="1"/>
          <p:nvPr/>
        </p:nvSpPr>
        <p:spPr>
          <a:xfrm>
            <a:off x="5879592" y="2176272"/>
            <a:ext cx="2697480" cy="201168"/>
          </a:xfrm>
          <a:prstGeom prst="rect">
            <a:avLst/>
          </a:prstGeom>
          <a:noFill/>
        </p:spPr>
        <p:txBody>
          <a:bodyPr wrap="square" lIns="0" rIns="0" tIns="0" bIns="0" anchor="t">
            <a:spAutoFit/>
          </a:bodyPr>
          <a:lstStyle/>
          <a:p>
            <a:pPr algn="l">
              <a:spcAft>
                <a:spcPts val="0"/>
              </a:spcAft>
            </a:pPr>
            <a:r>
              <a:rPr sz="900" b="1" i="0">
                <a:solidFill>
                  <a:srgbClr val="59697A"/>
                </a:solidFill>
                <a:latin typeface="Arial"/>
              </a:rPr>
              <a:t>CLASSIFIER FIT</a:t>
            </a:r>
          </a:p>
        </p:txBody>
      </p:sp>
      <p:sp>
        <p:nvSpPr>
          <p:cNvPr id="21" name="TextBox 20"/>
          <p:cNvSpPr txBox="1"/>
          <p:nvPr/>
        </p:nvSpPr>
        <p:spPr>
          <a:xfrm>
            <a:off x="8979408" y="2176272"/>
            <a:ext cx="2487168" cy="201168"/>
          </a:xfrm>
          <a:prstGeom prst="rect">
            <a:avLst/>
          </a:prstGeom>
          <a:noFill/>
        </p:spPr>
        <p:txBody>
          <a:bodyPr wrap="square" lIns="0" rIns="0" tIns="0" bIns="0" anchor="t">
            <a:spAutoFit/>
          </a:bodyPr>
          <a:lstStyle/>
          <a:p>
            <a:pPr algn="l">
              <a:spcAft>
                <a:spcPts val="0"/>
              </a:spcAft>
            </a:pPr>
            <a:r>
              <a:rPr sz="900" b="1" i="0">
                <a:solidFill>
                  <a:srgbClr val="59697A"/>
                </a:solidFill>
                <a:latin typeface="Arial"/>
              </a:rPr>
              <a:t>WHAT IT TESTS</a:t>
            </a:r>
          </a:p>
        </p:txBody>
      </p:sp>
      <p:sp>
        <p:nvSpPr>
          <p:cNvPr id="22" name="Rectangle 21"/>
          <p:cNvSpPr/>
          <p:nvPr/>
        </p:nvSpPr>
        <p:spPr>
          <a:xfrm>
            <a:off x="429768" y="2414016"/>
            <a:ext cx="11137392" cy="20116"/>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29768" y="2496312"/>
            <a:ext cx="11137392" cy="457200"/>
          </a:xfrm>
          <a:prstGeom prst="rect">
            <a:avLst/>
          </a:prstGeom>
          <a:solidFill>
            <a:srgbClr val="F4F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29768" y="2496312"/>
            <a:ext cx="50292" cy="45720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12648" y="2569464"/>
            <a:ext cx="1984248" cy="301752"/>
          </a:xfrm>
          <a:prstGeom prst="rect">
            <a:avLst/>
          </a:prstGeom>
          <a:noFill/>
        </p:spPr>
        <p:txBody>
          <a:bodyPr wrap="square" lIns="0" rIns="0" tIns="0" bIns="0" anchor="ctr">
            <a:spAutoFit/>
          </a:bodyPr>
          <a:lstStyle/>
          <a:p>
            <a:pPr algn="l">
              <a:spcAft>
                <a:spcPts val="0"/>
              </a:spcAft>
            </a:pPr>
            <a:r>
              <a:rPr sz="1120" b="1" i="0">
                <a:solidFill>
                  <a:srgbClr val="2D6496"/>
                </a:solidFill>
                <a:latin typeface="Arial"/>
              </a:rPr>
              <a:t>Real only</a:t>
            </a:r>
          </a:p>
        </p:txBody>
      </p:sp>
      <p:sp>
        <p:nvSpPr>
          <p:cNvPr id="26" name="Oval 25"/>
          <p:cNvSpPr/>
          <p:nvPr/>
        </p:nvSpPr>
        <p:spPr>
          <a:xfrm>
            <a:off x="2816352" y="2615184"/>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816352" y="2619756"/>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28" name="Right Arrow 27"/>
          <p:cNvSpPr/>
          <p:nvPr/>
        </p:nvSpPr>
        <p:spPr>
          <a:xfrm>
            <a:off x="3127248" y="2651760"/>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465576" y="2569464"/>
            <a:ext cx="1627632"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Rank from real</a:t>
            </a:r>
          </a:p>
        </p:txBody>
      </p:sp>
      <p:sp>
        <p:nvSpPr>
          <p:cNvPr id="30" name="Oval 29"/>
          <p:cNvSpPr/>
          <p:nvPr/>
        </p:nvSpPr>
        <p:spPr>
          <a:xfrm>
            <a:off x="5897880" y="2615184"/>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897880" y="2619756"/>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32" name="Right Arrow 31"/>
          <p:cNvSpPr/>
          <p:nvPr/>
        </p:nvSpPr>
        <p:spPr>
          <a:xfrm>
            <a:off x="6208776" y="2651760"/>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47104" y="2569464"/>
            <a:ext cx="1563624"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Fit real</a:t>
            </a:r>
          </a:p>
        </p:txBody>
      </p:sp>
      <p:sp>
        <p:nvSpPr>
          <p:cNvPr id="34" name="TextBox 33"/>
          <p:cNvSpPr txBox="1"/>
          <p:nvPr/>
        </p:nvSpPr>
        <p:spPr>
          <a:xfrm>
            <a:off x="8988552" y="2569464"/>
            <a:ext cx="2468880" cy="301752"/>
          </a:xfrm>
          <a:prstGeom prst="rect">
            <a:avLst/>
          </a:prstGeom>
          <a:noFill/>
        </p:spPr>
        <p:txBody>
          <a:bodyPr wrap="square" lIns="0" rIns="0" tIns="0" bIns="0" anchor="ctr">
            <a:spAutoFit/>
          </a:bodyPr>
          <a:lstStyle/>
          <a:p>
            <a:pPr algn="l">
              <a:spcAft>
                <a:spcPts val="0"/>
              </a:spcAft>
            </a:pPr>
            <a:r>
              <a:rPr sz="1050" b="0" i="0">
                <a:solidFill>
                  <a:srgbClr val="263746"/>
                </a:solidFill>
                <a:latin typeface="Arial"/>
              </a:rPr>
              <a:t>Baseline</a:t>
            </a:r>
          </a:p>
        </p:txBody>
      </p:sp>
      <p:sp>
        <p:nvSpPr>
          <p:cNvPr id="35" name="Rectangle 34"/>
          <p:cNvSpPr/>
          <p:nvPr/>
        </p:nvSpPr>
        <p:spPr>
          <a:xfrm>
            <a:off x="429768" y="3017520"/>
            <a:ext cx="50292" cy="457200"/>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12648" y="3090672"/>
            <a:ext cx="1984248" cy="301752"/>
          </a:xfrm>
          <a:prstGeom prst="rect">
            <a:avLst/>
          </a:prstGeom>
          <a:noFill/>
        </p:spPr>
        <p:txBody>
          <a:bodyPr wrap="square" lIns="0" rIns="0" tIns="0" bIns="0" anchor="ctr">
            <a:spAutoFit/>
          </a:bodyPr>
          <a:lstStyle/>
          <a:p>
            <a:pPr algn="l">
              <a:spcAft>
                <a:spcPts val="0"/>
              </a:spcAft>
            </a:pPr>
            <a:r>
              <a:rPr sz="1120" b="1" i="0">
                <a:solidFill>
                  <a:srgbClr val="D96552"/>
                </a:solidFill>
                <a:latin typeface="Arial"/>
              </a:rPr>
              <a:t>Generated only</a:t>
            </a:r>
          </a:p>
        </p:txBody>
      </p:sp>
      <p:sp>
        <p:nvSpPr>
          <p:cNvPr id="37" name="Oval 36"/>
          <p:cNvSpPr/>
          <p:nvPr/>
        </p:nvSpPr>
        <p:spPr>
          <a:xfrm>
            <a:off x="2816352" y="3136391"/>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816352" y="3140963"/>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39" name="Right Arrow 38"/>
          <p:cNvSpPr/>
          <p:nvPr/>
        </p:nvSpPr>
        <p:spPr>
          <a:xfrm>
            <a:off x="3127248" y="3172968"/>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465576" y="3090672"/>
            <a:ext cx="1627632"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Rank from generated</a:t>
            </a:r>
          </a:p>
        </p:txBody>
      </p:sp>
      <p:sp>
        <p:nvSpPr>
          <p:cNvPr id="41" name="Oval 40"/>
          <p:cNvSpPr/>
          <p:nvPr/>
        </p:nvSpPr>
        <p:spPr>
          <a:xfrm>
            <a:off x="5897880" y="3136391"/>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897880" y="3140963"/>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43" name="Right Arrow 42"/>
          <p:cNvSpPr/>
          <p:nvPr/>
        </p:nvSpPr>
        <p:spPr>
          <a:xfrm>
            <a:off x="6208776" y="3172968"/>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547104" y="3090672"/>
            <a:ext cx="1563624"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Fit generated</a:t>
            </a:r>
          </a:p>
        </p:txBody>
      </p:sp>
      <p:sp>
        <p:nvSpPr>
          <p:cNvPr id="45" name="TextBox 44"/>
          <p:cNvSpPr txBox="1"/>
          <p:nvPr/>
        </p:nvSpPr>
        <p:spPr>
          <a:xfrm>
            <a:off x="8988552" y="3090672"/>
            <a:ext cx="2468880" cy="301752"/>
          </a:xfrm>
          <a:prstGeom prst="rect">
            <a:avLst/>
          </a:prstGeom>
          <a:noFill/>
        </p:spPr>
        <p:txBody>
          <a:bodyPr wrap="square" lIns="0" rIns="0" tIns="0" bIns="0" anchor="ctr">
            <a:spAutoFit/>
          </a:bodyPr>
          <a:lstStyle/>
          <a:p>
            <a:pPr algn="l">
              <a:spcAft>
                <a:spcPts val="0"/>
              </a:spcAft>
            </a:pPr>
            <a:r>
              <a:rPr sz="1050" b="0" i="0">
                <a:solidFill>
                  <a:srgbClr val="263746"/>
                </a:solidFill>
                <a:latin typeface="Arial"/>
              </a:rPr>
              <a:t>Synthetic-only stress test</a:t>
            </a:r>
          </a:p>
        </p:txBody>
      </p:sp>
      <p:sp>
        <p:nvSpPr>
          <p:cNvPr id="46" name="Rectangle 45"/>
          <p:cNvSpPr/>
          <p:nvPr/>
        </p:nvSpPr>
        <p:spPr>
          <a:xfrm>
            <a:off x="429768" y="3538728"/>
            <a:ext cx="11137392" cy="457200"/>
          </a:xfrm>
          <a:prstGeom prst="rect">
            <a:avLst/>
          </a:prstGeom>
          <a:solidFill>
            <a:srgbClr val="F4F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29768" y="3538728"/>
            <a:ext cx="50292" cy="45720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12648" y="3611880"/>
            <a:ext cx="1984248" cy="301752"/>
          </a:xfrm>
          <a:prstGeom prst="rect">
            <a:avLst/>
          </a:prstGeom>
          <a:noFill/>
        </p:spPr>
        <p:txBody>
          <a:bodyPr wrap="square" lIns="0" rIns="0" tIns="0" bIns="0" anchor="ctr">
            <a:spAutoFit/>
          </a:bodyPr>
          <a:lstStyle/>
          <a:p>
            <a:pPr algn="l">
              <a:spcAft>
                <a:spcPts val="0"/>
              </a:spcAft>
            </a:pPr>
            <a:r>
              <a:rPr sz="1120" b="1" i="0">
                <a:solidFill>
                  <a:srgbClr val="178681"/>
                </a:solidFill>
                <a:latin typeface="Arial"/>
              </a:rPr>
              <a:t>Real + generated</a:t>
            </a:r>
          </a:p>
        </p:txBody>
      </p:sp>
      <p:sp>
        <p:nvSpPr>
          <p:cNvPr id="49" name="Oval 48"/>
          <p:cNvSpPr/>
          <p:nvPr/>
        </p:nvSpPr>
        <p:spPr>
          <a:xfrm>
            <a:off x="2816352" y="3657600"/>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816352" y="3662172"/>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51" name="TextBox 50"/>
          <p:cNvSpPr txBox="1"/>
          <p:nvPr/>
        </p:nvSpPr>
        <p:spPr>
          <a:xfrm>
            <a:off x="3063240" y="3666744"/>
            <a:ext cx="164592" cy="182880"/>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a:t>
            </a:r>
          </a:p>
        </p:txBody>
      </p:sp>
      <p:sp>
        <p:nvSpPr>
          <p:cNvPr id="52" name="Oval 51"/>
          <p:cNvSpPr/>
          <p:nvPr/>
        </p:nvSpPr>
        <p:spPr>
          <a:xfrm>
            <a:off x="3246120" y="3657600"/>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246120" y="3662172"/>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54" name="Right Arrow 53"/>
          <p:cNvSpPr/>
          <p:nvPr/>
        </p:nvSpPr>
        <p:spPr>
          <a:xfrm>
            <a:off x="3566160" y="3694176"/>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3904487" y="3611880"/>
            <a:ext cx="1627632"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Consensus rank</a:t>
            </a:r>
          </a:p>
        </p:txBody>
      </p:sp>
      <p:sp>
        <p:nvSpPr>
          <p:cNvPr id="56" name="Oval 55"/>
          <p:cNvSpPr/>
          <p:nvPr/>
        </p:nvSpPr>
        <p:spPr>
          <a:xfrm>
            <a:off x="5897880" y="3657600"/>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897880" y="3662172"/>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58" name="TextBox 57"/>
          <p:cNvSpPr txBox="1"/>
          <p:nvPr/>
        </p:nvSpPr>
        <p:spPr>
          <a:xfrm>
            <a:off x="6144768" y="3666744"/>
            <a:ext cx="164592" cy="182880"/>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a:t>
            </a:r>
          </a:p>
        </p:txBody>
      </p:sp>
      <p:sp>
        <p:nvSpPr>
          <p:cNvPr id="59" name="Oval 58"/>
          <p:cNvSpPr/>
          <p:nvPr/>
        </p:nvSpPr>
        <p:spPr>
          <a:xfrm>
            <a:off x="6327648" y="3657600"/>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327648" y="3662172"/>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61" name="Right Arrow 60"/>
          <p:cNvSpPr/>
          <p:nvPr/>
        </p:nvSpPr>
        <p:spPr>
          <a:xfrm>
            <a:off x="6647688" y="3694176"/>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986016" y="3611880"/>
            <a:ext cx="1563624"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Equal total weight</a:t>
            </a:r>
          </a:p>
        </p:txBody>
      </p:sp>
      <p:sp>
        <p:nvSpPr>
          <p:cNvPr id="63" name="TextBox 62"/>
          <p:cNvSpPr txBox="1"/>
          <p:nvPr/>
        </p:nvSpPr>
        <p:spPr>
          <a:xfrm>
            <a:off x="8988552" y="3611880"/>
            <a:ext cx="2468880" cy="301752"/>
          </a:xfrm>
          <a:prstGeom prst="rect">
            <a:avLst/>
          </a:prstGeom>
          <a:noFill/>
        </p:spPr>
        <p:txBody>
          <a:bodyPr wrap="square" lIns="0" rIns="0" tIns="0" bIns="0" anchor="ctr">
            <a:spAutoFit/>
          </a:bodyPr>
          <a:lstStyle/>
          <a:p>
            <a:pPr algn="l">
              <a:spcAft>
                <a:spcPts val="0"/>
              </a:spcAft>
            </a:pPr>
            <a:r>
              <a:rPr sz="1050" b="0" i="0">
                <a:solidFill>
                  <a:srgbClr val="263746"/>
                </a:solidFill>
                <a:latin typeface="Arial"/>
              </a:rPr>
              <a:t>Direct augmentation</a:t>
            </a:r>
          </a:p>
        </p:txBody>
      </p:sp>
      <p:sp>
        <p:nvSpPr>
          <p:cNvPr id="64" name="Rectangle 63"/>
          <p:cNvSpPr/>
          <p:nvPr/>
        </p:nvSpPr>
        <p:spPr>
          <a:xfrm>
            <a:off x="429768" y="4059935"/>
            <a:ext cx="50292" cy="45720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12648" y="4133087"/>
            <a:ext cx="1984248" cy="301752"/>
          </a:xfrm>
          <a:prstGeom prst="rect">
            <a:avLst/>
          </a:prstGeom>
          <a:noFill/>
        </p:spPr>
        <p:txBody>
          <a:bodyPr wrap="square" lIns="0" rIns="0" tIns="0" bIns="0" anchor="ctr">
            <a:spAutoFit/>
          </a:bodyPr>
          <a:lstStyle/>
          <a:p>
            <a:pPr algn="l">
              <a:spcAft>
                <a:spcPts val="0"/>
              </a:spcAft>
            </a:pPr>
            <a:r>
              <a:rPr sz="1120" b="1" i="0">
                <a:solidFill>
                  <a:srgbClr val="178681"/>
                </a:solidFill>
                <a:latin typeface="Arial"/>
              </a:rPr>
              <a:t>Guided: real fit</a:t>
            </a:r>
          </a:p>
        </p:txBody>
      </p:sp>
      <p:sp>
        <p:nvSpPr>
          <p:cNvPr id="66" name="Oval 65"/>
          <p:cNvSpPr/>
          <p:nvPr/>
        </p:nvSpPr>
        <p:spPr>
          <a:xfrm>
            <a:off x="2816352" y="4178807"/>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2816352" y="4183379"/>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68" name="TextBox 67"/>
          <p:cNvSpPr txBox="1"/>
          <p:nvPr/>
        </p:nvSpPr>
        <p:spPr>
          <a:xfrm>
            <a:off x="3063240" y="4187951"/>
            <a:ext cx="164592" cy="182880"/>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a:t>
            </a:r>
          </a:p>
        </p:txBody>
      </p:sp>
      <p:sp>
        <p:nvSpPr>
          <p:cNvPr id="69" name="Oval 68"/>
          <p:cNvSpPr/>
          <p:nvPr/>
        </p:nvSpPr>
        <p:spPr>
          <a:xfrm>
            <a:off x="3246120" y="4178807"/>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3246120" y="4183379"/>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71" name="Right Arrow 70"/>
          <p:cNvSpPr/>
          <p:nvPr/>
        </p:nvSpPr>
        <p:spPr>
          <a:xfrm>
            <a:off x="3566160" y="4215383"/>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3904487" y="4133087"/>
            <a:ext cx="1627632"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Consensus rank</a:t>
            </a:r>
          </a:p>
        </p:txBody>
      </p:sp>
      <p:sp>
        <p:nvSpPr>
          <p:cNvPr id="73" name="Oval 72"/>
          <p:cNvSpPr/>
          <p:nvPr/>
        </p:nvSpPr>
        <p:spPr>
          <a:xfrm>
            <a:off x="5897880" y="4178807"/>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5897880" y="4183379"/>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75" name="Right Arrow 74"/>
          <p:cNvSpPr/>
          <p:nvPr/>
        </p:nvSpPr>
        <p:spPr>
          <a:xfrm>
            <a:off x="6208776" y="4215383"/>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547104" y="4133087"/>
            <a:ext cx="1563624"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Fit real only</a:t>
            </a:r>
          </a:p>
        </p:txBody>
      </p:sp>
      <p:sp>
        <p:nvSpPr>
          <p:cNvPr id="77" name="TextBox 76"/>
          <p:cNvSpPr txBox="1"/>
          <p:nvPr/>
        </p:nvSpPr>
        <p:spPr>
          <a:xfrm>
            <a:off x="8988552" y="4133087"/>
            <a:ext cx="2468880" cy="301752"/>
          </a:xfrm>
          <a:prstGeom prst="rect">
            <a:avLst/>
          </a:prstGeom>
          <a:noFill/>
        </p:spPr>
        <p:txBody>
          <a:bodyPr wrap="square" lIns="0" rIns="0" tIns="0" bIns="0" anchor="ctr">
            <a:spAutoFit/>
          </a:bodyPr>
          <a:lstStyle/>
          <a:p>
            <a:pPr algn="l">
              <a:spcAft>
                <a:spcPts val="0"/>
              </a:spcAft>
            </a:pPr>
            <a:r>
              <a:rPr sz="1050" b="0" i="0">
                <a:solidFill>
                  <a:srgbClr val="263746"/>
                </a:solidFill>
                <a:latin typeface="Arial"/>
              </a:rPr>
              <a:t>Feature guidance only</a:t>
            </a:r>
          </a:p>
        </p:txBody>
      </p:sp>
      <p:sp>
        <p:nvSpPr>
          <p:cNvPr id="78" name="Rectangle 77"/>
          <p:cNvSpPr/>
          <p:nvPr/>
        </p:nvSpPr>
        <p:spPr>
          <a:xfrm>
            <a:off x="429768" y="4581144"/>
            <a:ext cx="11137392" cy="457200"/>
          </a:xfrm>
          <a:prstGeom prst="rect">
            <a:avLst/>
          </a:prstGeom>
          <a:solidFill>
            <a:srgbClr val="F4F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429768" y="4581144"/>
            <a:ext cx="50292" cy="45720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12648" y="4654296"/>
            <a:ext cx="1984248" cy="301752"/>
          </a:xfrm>
          <a:prstGeom prst="rect">
            <a:avLst/>
          </a:prstGeom>
          <a:noFill/>
        </p:spPr>
        <p:txBody>
          <a:bodyPr wrap="square" lIns="0" rIns="0" tIns="0" bIns="0" anchor="ctr">
            <a:spAutoFit/>
          </a:bodyPr>
          <a:lstStyle/>
          <a:p>
            <a:pPr algn="l">
              <a:spcAft>
                <a:spcPts val="0"/>
              </a:spcAft>
            </a:pPr>
            <a:r>
              <a:rPr sz="1120" b="1" i="0">
                <a:solidFill>
                  <a:srgbClr val="D37B00"/>
                </a:solidFill>
                <a:latin typeface="Arial"/>
              </a:rPr>
              <a:t>Guided: 5% synthetic</a:t>
            </a:r>
          </a:p>
        </p:txBody>
      </p:sp>
      <p:sp>
        <p:nvSpPr>
          <p:cNvPr id="81" name="Oval 80"/>
          <p:cNvSpPr/>
          <p:nvPr/>
        </p:nvSpPr>
        <p:spPr>
          <a:xfrm>
            <a:off x="2816352" y="4700016"/>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2816352" y="4704588"/>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83" name="TextBox 82"/>
          <p:cNvSpPr txBox="1"/>
          <p:nvPr/>
        </p:nvSpPr>
        <p:spPr>
          <a:xfrm>
            <a:off x="3063240" y="4709159"/>
            <a:ext cx="164592" cy="182880"/>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a:t>
            </a:r>
          </a:p>
        </p:txBody>
      </p:sp>
      <p:sp>
        <p:nvSpPr>
          <p:cNvPr id="84" name="Oval 83"/>
          <p:cNvSpPr/>
          <p:nvPr/>
        </p:nvSpPr>
        <p:spPr>
          <a:xfrm>
            <a:off x="3246120" y="4700016"/>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3246120" y="4704588"/>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86" name="Right Arrow 85"/>
          <p:cNvSpPr/>
          <p:nvPr/>
        </p:nvSpPr>
        <p:spPr>
          <a:xfrm>
            <a:off x="3566160" y="4736592"/>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3904487" y="4654296"/>
            <a:ext cx="1627632"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Consensus rank</a:t>
            </a:r>
          </a:p>
        </p:txBody>
      </p:sp>
      <p:sp>
        <p:nvSpPr>
          <p:cNvPr id="88" name="Oval 87"/>
          <p:cNvSpPr/>
          <p:nvPr/>
        </p:nvSpPr>
        <p:spPr>
          <a:xfrm>
            <a:off x="5897880" y="4700016"/>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5897880" y="4704588"/>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90" name="TextBox 89"/>
          <p:cNvSpPr txBox="1"/>
          <p:nvPr/>
        </p:nvSpPr>
        <p:spPr>
          <a:xfrm>
            <a:off x="6144768" y="4709159"/>
            <a:ext cx="164592" cy="182880"/>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a:t>
            </a:r>
          </a:p>
        </p:txBody>
      </p:sp>
      <p:sp>
        <p:nvSpPr>
          <p:cNvPr id="91" name="Oval 90"/>
          <p:cNvSpPr/>
          <p:nvPr/>
        </p:nvSpPr>
        <p:spPr>
          <a:xfrm>
            <a:off x="6327648" y="4700016"/>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6327648" y="4704588"/>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93" name="Right Arrow 92"/>
          <p:cNvSpPr/>
          <p:nvPr/>
        </p:nvSpPr>
        <p:spPr>
          <a:xfrm>
            <a:off x="6647688" y="4736592"/>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6986016" y="4654296"/>
            <a:ext cx="1563624"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S = 5% weight</a:t>
            </a:r>
          </a:p>
        </p:txBody>
      </p:sp>
      <p:sp>
        <p:nvSpPr>
          <p:cNvPr id="95" name="TextBox 94"/>
          <p:cNvSpPr txBox="1"/>
          <p:nvPr/>
        </p:nvSpPr>
        <p:spPr>
          <a:xfrm>
            <a:off x="8988552" y="4654296"/>
            <a:ext cx="2468880" cy="301752"/>
          </a:xfrm>
          <a:prstGeom prst="rect">
            <a:avLst/>
          </a:prstGeom>
          <a:noFill/>
        </p:spPr>
        <p:txBody>
          <a:bodyPr wrap="square" lIns="0" rIns="0" tIns="0" bIns="0" anchor="ctr">
            <a:spAutoFit/>
          </a:bodyPr>
          <a:lstStyle/>
          <a:p>
            <a:pPr algn="l">
              <a:spcAft>
                <a:spcPts val="0"/>
              </a:spcAft>
            </a:pPr>
            <a:r>
              <a:rPr sz="1050" b="0" i="0">
                <a:solidFill>
                  <a:srgbClr val="263746"/>
                </a:solidFill>
                <a:latin typeface="Arial"/>
              </a:rPr>
              <a:t>Guidance + light regularization</a:t>
            </a:r>
          </a:p>
        </p:txBody>
      </p:sp>
      <p:sp>
        <p:nvSpPr>
          <p:cNvPr id="96" name="Rectangle 95"/>
          <p:cNvSpPr/>
          <p:nvPr/>
        </p:nvSpPr>
        <p:spPr>
          <a:xfrm>
            <a:off x="429768" y="5157216"/>
            <a:ext cx="11137392" cy="16459"/>
          </a:xfrm>
          <a:prstGeom prst="rect">
            <a:avLst/>
          </a:prstGeom>
          <a:solidFill>
            <a:srgbClr val="CDD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566928" y="5330952"/>
            <a:ext cx="1243584" cy="246888"/>
          </a:xfrm>
          <a:prstGeom prst="rect">
            <a:avLst/>
          </a:prstGeom>
          <a:noFill/>
        </p:spPr>
        <p:txBody>
          <a:bodyPr wrap="square" lIns="0" rIns="0" tIns="0" bIns="0" anchor="t">
            <a:spAutoFit/>
          </a:bodyPr>
          <a:lstStyle/>
          <a:p>
            <a:pPr algn="ctr">
              <a:spcAft>
                <a:spcPts val="0"/>
              </a:spcAft>
            </a:pPr>
            <a:r>
              <a:rPr sz="1250" b="1" i="0">
                <a:solidFill>
                  <a:srgbClr val="082B55"/>
                </a:solidFill>
                <a:latin typeface="Arial"/>
              </a:rPr>
              <a:t>All five arms</a:t>
            </a:r>
          </a:p>
        </p:txBody>
      </p:sp>
      <p:sp>
        <p:nvSpPr>
          <p:cNvPr id="98" name="Right Arrow 97"/>
          <p:cNvSpPr/>
          <p:nvPr/>
        </p:nvSpPr>
        <p:spPr>
          <a:xfrm>
            <a:off x="1947672" y="5367528"/>
            <a:ext cx="310896" cy="17373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2432304" y="5321808"/>
            <a:ext cx="1828800" cy="274320"/>
          </a:xfrm>
          <a:prstGeom prst="rect">
            <a:avLst/>
          </a:prstGeom>
          <a:noFill/>
        </p:spPr>
        <p:txBody>
          <a:bodyPr wrap="square" lIns="0" rIns="0" tIns="0" bIns="0" anchor="t">
            <a:spAutoFit/>
          </a:bodyPr>
          <a:lstStyle/>
          <a:p>
            <a:pPr algn="ctr">
              <a:spcAft>
                <a:spcPts val="0"/>
              </a:spcAft>
            </a:pPr>
            <a:r>
              <a:rPr sz="1250" b="1" i="0">
                <a:solidFill>
                  <a:srgbClr val="2D6496"/>
                </a:solidFill>
                <a:latin typeface="Arial"/>
              </a:rPr>
              <a:t>Held-out real profiles</a:t>
            </a:r>
          </a:p>
        </p:txBody>
      </p:sp>
      <p:sp>
        <p:nvSpPr>
          <p:cNvPr id="100" name="Right Arrow 99"/>
          <p:cNvSpPr/>
          <p:nvPr/>
        </p:nvSpPr>
        <p:spPr>
          <a:xfrm>
            <a:off x="4416552" y="5367528"/>
            <a:ext cx="310896" cy="17373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4910328" y="5330952"/>
            <a:ext cx="1719072" cy="246888"/>
          </a:xfrm>
          <a:prstGeom prst="rect">
            <a:avLst/>
          </a:prstGeom>
          <a:noFill/>
        </p:spPr>
        <p:txBody>
          <a:bodyPr wrap="square" lIns="0" rIns="0" tIns="0" bIns="0" anchor="t">
            <a:spAutoFit/>
          </a:bodyPr>
          <a:lstStyle/>
          <a:p>
            <a:pPr algn="ctr">
              <a:spcAft>
                <a:spcPts val="0"/>
              </a:spcAft>
            </a:pPr>
            <a:r>
              <a:rPr sz="1220" b="1" i="0">
                <a:solidFill>
                  <a:srgbClr val="263746"/>
                </a:solidFill>
                <a:latin typeface="Arial"/>
              </a:rPr>
              <a:t>BA  |  AUROC  |  AP</a:t>
            </a:r>
          </a:p>
        </p:txBody>
      </p:sp>
      <p:sp>
        <p:nvSpPr>
          <p:cNvPr id="102" name="Right Arrow 101"/>
          <p:cNvSpPr/>
          <p:nvPr/>
        </p:nvSpPr>
        <p:spPr>
          <a:xfrm>
            <a:off x="6775704" y="5367528"/>
            <a:ext cx="310896" cy="17373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7242048" y="5303520"/>
            <a:ext cx="4023360" cy="310896"/>
          </a:xfrm>
          <a:prstGeom prst="rect">
            <a:avLst/>
          </a:prstGeom>
          <a:noFill/>
        </p:spPr>
        <p:txBody>
          <a:bodyPr wrap="square" lIns="0" rIns="0" tIns="0" bIns="0" anchor="t">
            <a:spAutoFit/>
          </a:bodyPr>
          <a:lstStyle/>
          <a:p>
            <a:pPr algn="ctr">
              <a:spcAft>
                <a:spcPts val="0"/>
              </a:spcAft>
            </a:pPr>
            <a:r>
              <a:rPr sz="1280" b="1" i="0">
                <a:solidFill>
                  <a:srgbClr val="178681"/>
                </a:solidFill>
                <a:latin typeface="Arial"/>
              </a:rPr>
              <a:t>Choose an eligible arm within each tissue</a:t>
            </a:r>
          </a:p>
        </p:txBody>
      </p:sp>
      <p:sp>
        <p:nvSpPr>
          <p:cNvPr id="104" name="Rectangle 103"/>
          <p:cNvSpPr/>
          <p:nvPr/>
        </p:nvSpPr>
        <p:spPr>
          <a:xfrm>
            <a:off x="420624" y="5715000"/>
            <a:ext cx="11173968" cy="530352"/>
          </a:xfrm>
          <a:prstGeom prst="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676656" y="5852160"/>
            <a:ext cx="1426464" cy="228600"/>
          </a:xfrm>
          <a:prstGeom prst="rect">
            <a:avLst/>
          </a:prstGeom>
          <a:noFill/>
        </p:spPr>
        <p:txBody>
          <a:bodyPr wrap="square" lIns="0" rIns="0" tIns="0" bIns="0" anchor="t">
            <a:spAutoFit/>
          </a:bodyPr>
          <a:lstStyle/>
          <a:p>
            <a:pPr algn="l">
              <a:spcAft>
                <a:spcPts val="0"/>
              </a:spcAft>
            </a:pPr>
            <a:r>
              <a:rPr sz="1350" b="1" i="0">
                <a:solidFill>
                  <a:srgbClr val="FFFFFF"/>
                </a:solidFill>
                <a:latin typeface="Arial"/>
              </a:rPr>
              <a:t>Association test</a:t>
            </a:r>
          </a:p>
        </p:txBody>
      </p:sp>
      <p:sp>
        <p:nvSpPr>
          <p:cNvPr id="106" name="TextBox 105"/>
          <p:cNvSpPr txBox="1"/>
          <p:nvPr/>
        </p:nvSpPr>
        <p:spPr>
          <a:xfrm>
            <a:off x="2258568" y="5843016"/>
            <a:ext cx="5852160" cy="246888"/>
          </a:xfrm>
          <a:prstGeom prst="rect">
            <a:avLst/>
          </a:prstGeom>
          <a:noFill/>
        </p:spPr>
        <p:txBody>
          <a:bodyPr wrap="square" lIns="0" rIns="0" tIns="0" bIns="0" anchor="t">
            <a:spAutoFit/>
          </a:bodyPr>
          <a:lstStyle/>
          <a:p>
            <a:pPr algn="l">
              <a:spcAft>
                <a:spcPts val="0"/>
              </a:spcAft>
            </a:pPr>
            <a:r>
              <a:rPr sz="1290" b="0" i="0">
                <a:solidFill>
                  <a:srgbClr val="DCE7F2"/>
                </a:solidFill>
                <a:latin typeface="Arial"/>
              </a:rPr>
              <a:t>FLT vs GC effects and BH FDR use real OSDR profiles only.</a:t>
            </a:r>
          </a:p>
        </p:txBody>
      </p:sp>
      <p:sp>
        <p:nvSpPr>
          <p:cNvPr id="107" name="TextBox 106"/>
          <p:cNvSpPr txBox="1"/>
          <p:nvPr/>
        </p:nvSpPr>
        <p:spPr>
          <a:xfrm>
            <a:off x="8403336" y="5843016"/>
            <a:ext cx="2862072" cy="246888"/>
          </a:xfrm>
          <a:prstGeom prst="rect">
            <a:avLst/>
          </a:prstGeom>
          <a:noFill/>
        </p:spPr>
        <p:txBody>
          <a:bodyPr wrap="square" lIns="0" rIns="0" tIns="0" bIns="0" anchor="t">
            <a:spAutoFit/>
          </a:bodyPr>
          <a:lstStyle/>
          <a:p>
            <a:pPr algn="r">
              <a:spcAft>
                <a:spcPts val="0"/>
              </a:spcAft>
            </a:pPr>
            <a:r>
              <a:rPr sz="1150" b="1" i="0">
                <a:solidFill>
                  <a:srgbClr val="FFD69A"/>
                </a:solidFill>
                <a:latin typeface="Arial"/>
              </a:rPr>
              <a:t>Animal n stays unchanged.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ANALYSIS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Synthetic guidance keeps genes supported by both datasets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Real OSDR and repeated generated draws rank the same genes before the classifier is fit.</a:t>
            </a:r>
          </a:p>
        </p:txBody>
      </p:sp>
      <p:sp>
        <p:nvSpPr>
          <p:cNvPr id="7" name="Rectangle 6"/>
          <p:cNvSpPr/>
          <p:nvPr/>
        </p:nvSpPr>
        <p:spPr>
          <a:xfrm>
            <a:off x="438912" y="1865376"/>
            <a:ext cx="2907792" cy="1581912"/>
          </a:xfrm>
          <a:prstGeom prst="rect">
            <a:avLst/>
          </a:prstGeom>
          <a:solidFill>
            <a:srgbClr val="E9F1F7"/>
          </a:solidFill>
          <a:ln w="10160">
            <a:solidFill>
              <a:srgbClr val="C9DC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029968"/>
            <a:ext cx="1417320" cy="228600"/>
          </a:xfrm>
          <a:prstGeom prst="rect">
            <a:avLst/>
          </a:prstGeom>
          <a:noFill/>
        </p:spPr>
        <p:txBody>
          <a:bodyPr wrap="square" lIns="0" rIns="0" tIns="0" bIns="0" anchor="t">
            <a:spAutoFit/>
          </a:bodyPr>
          <a:lstStyle/>
          <a:p>
            <a:pPr algn="l">
              <a:spcAft>
                <a:spcPts val="0"/>
              </a:spcAft>
            </a:pPr>
            <a:r>
              <a:rPr sz="1300" b="1" i="0">
                <a:solidFill>
                  <a:srgbClr val="2D6496"/>
                </a:solidFill>
                <a:latin typeface="Arial"/>
              </a:rPr>
              <a:t>1  REAL OSDR</a:t>
            </a:r>
          </a:p>
        </p:txBody>
      </p:sp>
      <p:sp>
        <p:nvSpPr>
          <p:cNvPr id="9" name="TextBox 8"/>
          <p:cNvSpPr txBox="1"/>
          <p:nvPr/>
        </p:nvSpPr>
        <p:spPr>
          <a:xfrm>
            <a:off x="640080" y="2304288"/>
            <a:ext cx="2404872" cy="201168"/>
          </a:xfrm>
          <a:prstGeom prst="rect">
            <a:avLst/>
          </a:prstGeom>
          <a:noFill/>
        </p:spPr>
        <p:txBody>
          <a:bodyPr wrap="square" lIns="0" rIns="0" tIns="0" bIns="0" anchor="t">
            <a:spAutoFit/>
          </a:bodyPr>
          <a:lstStyle/>
          <a:p>
            <a:pPr algn="l">
              <a:spcAft>
                <a:spcPts val="0"/>
              </a:spcAft>
            </a:pPr>
            <a:r>
              <a:rPr sz="1000" b="0" i="0">
                <a:solidFill>
                  <a:srgbClr val="263746"/>
                </a:solidFill>
                <a:latin typeface="Arial"/>
              </a:rPr>
              <a:t>Rank every gene by FLT-GC separation</a:t>
            </a:r>
          </a:p>
        </p:txBody>
      </p:sp>
      <p:sp>
        <p:nvSpPr>
          <p:cNvPr id="10" name="TextBox 9"/>
          <p:cNvSpPr txBox="1"/>
          <p:nvPr/>
        </p:nvSpPr>
        <p:spPr>
          <a:xfrm>
            <a:off x="1325880" y="2551176"/>
            <a:ext cx="493776" cy="164592"/>
          </a:xfrm>
          <a:prstGeom prst="rect">
            <a:avLst/>
          </a:prstGeom>
          <a:noFill/>
        </p:spPr>
        <p:txBody>
          <a:bodyPr wrap="square" lIns="0" rIns="0" tIns="0" bIns="0" anchor="t">
            <a:spAutoFit/>
          </a:bodyPr>
          <a:lstStyle/>
          <a:p>
            <a:pPr algn="l">
              <a:spcAft>
                <a:spcPts val="0"/>
              </a:spcAft>
            </a:pPr>
            <a:r>
              <a:rPr sz="810" b="0" i="0">
                <a:solidFill>
                  <a:srgbClr val="59697A"/>
                </a:solidFill>
                <a:latin typeface="Arial"/>
              </a:rPr>
              <a:t>weaker</a:t>
            </a:r>
          </a:p>
        </p:txBody>
      </p:sp>
      <p:sp>
        <p:nvSpPr>
          <p:cNvPr id="11" name="TextBox 10"/>
          <p:cNvSpPr txBox="1"/>
          <p:nvPr/>
        </p:nvSpPr>
        <p:spPr>
          <a:xfrm>
            <a:off x="2487168" y="2551176"/>
            <a:ext cx="585216" cy="164592"/>
          </a:xfrm>
          <a:prstGeom prst="rect">
            <a:avLst/>
          </a:prstGeom>
          <a:noFill/>
        </p:spPr>
        <p:txBody>
          <a:bodyPr wrap="square" lIns="0" rIns="0" tIns="0" bIns="0" anchor="t">
            <a:spAutoFit/>
          </a:bodyPr>
          <a:lstStyle/>
          <a:p>
            <a:pPr algn="r">
              <a:spcAft>
                <a:spcPts val="0"/>
              </a:spcAft>
            </a:pPr>
            <a:r>
              <a:rPr sz="810" b="0" i="0">
                <a:solidFill>
                  <a:srgbClr val="59697A"/>
                </a:solidFill>
                <a:latin typeface="Arial"/>
              </a:rPr>
              <a:t>stronger</a:t>
            </a:r>
          </a:p>
        </p:txBody>
      </p:sp>
      <p:sp>
        <p:nvSpPr>
          <p:cNvPr id="12" name="TextBox 11"/>
          <p:cNvSpPr txBox="1"/>
          <p:nvPr/>
        </p:nvSpPr>
        <p:spPr>
          <a:xfrm>
            <a:off x="640080" y="2738627"/>
            <a:ext cx="658368" cy="182880"/>
          </a:xfrm>
          <a:prstGeom prst="rect">
            <a:avLst/>
          </a:prstGeom>
          <a:noFill/>
        </p:spPr>
        <p:txBody>
          <a:bodyPr wrap="square" lIns="0" rIns="0" tIns="0" bIns="0" anchor="t">
            <a:spAutoFit/>
          </a:bodyPr>
          <a:lstStyle/>
          <a:p>
            <a:pPr algn="l">
              <a:spcAft>
                <a:spcPts val="0"/>
              </a:spcAft>
            </a:pPr>
            <a:r>
              <a:rPr sz="919" b="1" i="0">
                <a:solidFill>
                  <a:srgbClr val="263746"/>
                </a:solidFill>
                <a:latin typeface="Arial"/>
              </a:rPr>
              <a:t>Cdk1</a:t>
            </a:r>
          </a:p>
        </p:txBody>
      </p:sp>
      <p:sp>
        <p:nvSpPr>
          <p:cNvPr id="13" name="Rectangle 12"/>
          <p:cNvSpPr/>
          <p:nvPr/>
        </p:nvSpPr>
        <p:spPr>
          <a:xfrm>
            <a:off x="1325880" y="2802636"/>
            <a:ext cx="1389888" cy="68580"/>
          </a:xfrm>
          <a:prstGeom prst="rect">
            <a:avLst/>
          </a:prstGeom>
          <a:solidFill>
            <a:srgbClr val="DCE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325880" y="2802636"/>
            <a:ext cx="1000719" cy="685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2994660"/>
            <a:ext cx="658368" cy="182880"/>
          </a:xfrm>
          <a:prstGeom prst="rect">
            <a:avLst/>
          </a:prstGeom>
          <a:noFill/>
        </p:spPr>
        <p:txBody>
          <a:bodyPr wrap="square" lIns="0" rIns="0" tIns="0" bIns="0" anchor="t">
            <a:spAutoFit/>
          </a:bodyPr>
          <a:lstStyle/>
          <a:p>
            <a:pPr algn="l">
              <a:spcAft>
                <a:spcPts val="0"/>
              </a:spcAft>
            </a:pPr>
            <a:r>
              <a:rPr sz="919" b="1" i="0">
                <a:solidFill>
                  <a:srgbClr val="263746"/>
                </a:solidFill>
                <a:latin typeface="Arial"/>
              </a:rPr>
              <a:t>Nusap1</a:t>
            </a:r>
          </a:p>
        </p:txBody>
      </p:sp>
      <p:sp>
        <p:nvSpPr>
          <p:cNvPr id="16" name="Rectangle 15"/>
          <p:cNvSpPr/>
          <p:nvPr/>
        </p:nvSpPr>
        <p:spPr>
          <a:xfrm>
            <a:off x="1325880" y="3058668"/>
            <a:ext cx="1389888" cy="68580"/>
          </a:xfrm>
          <a:prstGeom prst="rect">
            <a:avLst/>
          </a:prstGeom>
          <a:solidFill>
            <a:srgbClr val="DCE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325880" y="3058668"/>
            <a:ext cx="945123" cy="685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335024" y="3236976"/>
            <a:ext cx="1700784" cy="155448"/>
          </a:xfrm>
          <a:prstGeom prst="rect">
            <a:avLst/>
          </a:prstGeom>
          <a:noFill/>
        </p:spPr>
        <p:txBody>
          <a:bodyPr wrap="square" lIns="0" rIns="0" tIns="0" bIns="0" anchor="t">
            <a:spAutoFit/>
          </a:bodyPr>
          <a:lstStyle/>
          <a:p>
            <a:pPr algn="r">
              <a:spcAft>
                <a:spcPts val="0"/>
              </a:spcAft>
            </a:pPr>
            <a:r>
              <a:rPr sz="819" b="0" i="1">
                <a:solidFill>
                  <a:srgbClr val="2D6496"/>
                </a:solidFill>
                <a:latin typeface="Arial"/>
              </a:rPr>
              <a:t>near the selection cutoff</a:t>
            </a:r>
          </a:p>
        </p:txBody>
      </p:sp>
      <p:sp>
        <p:nvSpPr>
          <p:cNvPr id="19" name="Right Arrow 18"/>
          <p:cNvSpPr/>
          <p:nvPr/>
        </p:nvSpPr>
        <p:spPr>
          <a:xfrm>
            <a:off x="3401568" y="2468880"/>
            <a:ext cx="246888"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703320" y="1865376"/>
            <a:ext cx="2907792" cy="1581912"/>
          </a:xfrm>
          <a:prstGeom prst="rect">
            <a:avLst/>
          </a:prstGeom>
          <a:solidFill>
            <a:srgbClr val="F8ECE9"/>
          </a:solidFill>
          <a:ln w="10160">
            <a:solidFill>
              <a:srgbClr val="E6CE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904487" y="2029968"/>
            <a:ext cx="1920240" cy="228600"/>
          </a:xfrm>
          <a:prstGeom prst="rect">
            <a:avLst/>
          </a:prstGeom>
          <a:noFill/>
        </p:spPr>
        <p:txBody>
          <a:bodyPr wrap="square" lIns="0" rIns="0" tIns="0" bIns="0" anchor="t">
            <a:spAutoFit/>
          </a:bodyPr>
          <a:lstStyle/>
          <a:p>
            <a:pPr algn="l">
              <a:spcAft>
                <a:spcPts val="0"/>
              </a:spcAft>
            </a:pPr>
            <a:r>
              <a:rPr sz="1300" b="1" i="0">
                <a:solidFill>
                  <a:srgbClr val="D96552"/>
                </a:solidFill>
                <a:latin typeface="Arial"/>
              </a:rPr>
              <a:t>2  GENERATED DRAWS</a:t>
            </a:r>
          </a:p>
        </p:txBody>
      </p:sp>
      <p:sp>
        <p:nvSpPr>
          <p:cNvPr id="22" name="TextBox 21"/>
          <p:cNvSpPr txBox="1"/>
          <p:nvPr/>
        </p:nvSpPr>
        <p:spPr>
          <a:xfrm>
            <a:off x="3904487" y="2304288"/>
            <a:ext cx="2441448" cy="201168"/>
          </a:xfrm>
          <a:prstGeom prst="rect">
            <a:avLst/>
          </a:prstGeom>
          <a:noFill/>
        </p:spPr>
        <p:txBody>
          <a:bodyPr wrap="square" lIns="0" rIns="0" tIns="0" bIns="0" anchor="t">
            <a:spAutoFit/>
          </a:bodyPr>
          <a:lstStyle/>
          <a:p>
            <a:pPr algn="l">
              <a:spcAft>
                <a:spcPts val="0"/>
              </a:spcAft>
            </a:pPr>
            <a:r>
              <a:rPr sz="1000" b="0" i="0">
                <a:solidFill>
                  <a:srgbClr val="263746"/>
                </a:solidFill>
                <a:latin typeface="Arial"/>
              </a:rPr>
              <a:t>Rank the same genes in each matched draw</a:t>
            </a:r>
          </a:p>
        </p:txBody>
      </p:sp>
      <p:sp>
        <p:nvSpPr>
          <p:cNvPr id="23" name="TextBox 22"/>
          <p:cNvSpPr txBox="1"/>
          <p:nvPr/>
        </p:nvSpPr>
        <p:spPr>
          <a:xfrm>
            <a:off x="4590288" y="2551176"/>
            <a:ext cx="1746504" cy="164592"/>
          </a:xfrm>
          <a:prstGeom prst="rect">
            <a:avLst/>
          </a:prstGeom>
          <a:noFill/>
        </p:spPr>
        <p:txBody>
          <a:bodyPr wrap="square" lIns="0" rIns="0" tIns="0" bIns="0" anchor="t">
            <a:spAutoFit/>
          </a:bodyPr>
          <a:lstStyle/>
          <a:p>
            <a:pPr algn="r">
              <a:spcAft>
                <a:spcPts val="0"/>
              </a:spcAft>
            </a:pPr>
            <a:r>
              <a:rPr sz="810" b="0" i="0">
                <a:solidFill>
                  <a:srgbClr val="59697A"/>
                </a:solidFill>
                <a:latin typeface="Arial"/>
              </a:rPr>
              <a:t>typical position across draws</a:t>
            </a:r>
          </a:p>
        </p:txBody>
      </p:sp>
      <p:sp>
        <p:nvSpPr>
          <p:cNvPr id="24" name="TextBox 23"/>
          <p:cNvSpPr txBox="1"/>
          <p:nvPr/>
        </p:nvSpPr>
        <p:spPr>
          <a:xfrm>
            <a:off x="3904487" y="2738627"/>
            <a:ext cx="658368" cy="182880"/>
          </a:xfrm>
          <a:prstGeom prst="rect">
            <a:avLst/>
          </a:prstGeom>
          <a:noFill/>
        </p:spPr>
        <p:txBody>
          <a:bodyPr wrap="square" lIns="0" rIns="0" tIns="0" bIns="0" anchor="t">
            <a:spAutoFit/>
          </a:bodyPr>
          <a:lstStyle/>
          <a:p>
            <a:pPr algn="l">
              <a:spcAft>
                <a:spcPts val="0"/>
              </a:spcAft>
            </a:pPr>
            <a:r>
              <a:rPr sz="919" b="1" i="0">
                <a:solidFill>
                  <a:srgbClr val="263746"/>
                </a:solidFill>
                <a:latin typeface="Arial"/>
              </a:rPr>
              <a:t>Cdk1</a:t>
            </a:r>
          </a:p>
        </p:txBody>
      </p:sp>
      <p:sp>
        <p:nvSpPr>
          <p:cNvPr id="25" name="Rectangle 24"/>
          <p:cNvSpPr/>
          <p:nvPr/>
        </p:nvSpPr>
        <p:spPr>
          <a:xfrm>
            <a:off x="4590288" y="2802636"/>
            <a:ext cx="1389888" cy="68580"/>
          </a:xfrm>
          <a:prstGeom prst="rect">
            <a:avLst/>
          </a:prstGeom>
          <a:solidFill>
            <a:srgbClr val="DCE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590288" y="2802636"/>
            <a:ext cx="1334292" cy="68580"/>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904487" y="2994660"/>
            <a:ext cx="658368" cy="182880"/>
          </a:xfrm>
          <a:prstGeom prst="rect">
            <a:avLst/>
          </a:prstGeom>
          <a:noFill/>
        </p:spPr>
        <p:txBody>
          <a:bodyPr wrap="square" lIns="0" rIns="0" tIns="0" bIns="0" anchor="t">
            <a:spAutoFit/>
          </a:bodyPr>
          <a:lstStyle/>
          <a:p>
            <a:pPr algn="l">
              <a:spcAft>
                <a:spcPts val="0"/>
              </a:spcAft>
            </a:pPr>
            <a:r>
              <a:rPr sz="919" b="1" i="0">
                <a:solidFill>
                  <a:srgbClr val="263746"/>
                </a:solidFill>
                <a:latin typeface="Arial"/>
              </a:rPr>
              <a:t>Nusap1</a:t>
            </a:r>
          </a:p>
        </p:txBody>
      </p:sp>
      <p:sp>
        <p:nvSpPr>
          <p:cNvPr id="28" name="Rectangle 27"/>
          <p:cNvSpPr/>
          <p:nvPr/>
        </p:nvSpPr>
        <p:spPr>
          <a:xfrm>
            <a:off x="4590288" y="3058668"/>
            <a:ext cx="1389888" cy="68580"/>
          </a:xfrm>
          <a:prstGeom prst="rect">
            <a:avLst/>
          </a:prstGeom>
          <a:solidFill>
            <a:srgbClr val="DCE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590288" y="3058668"/>
            <a:ext cx="1264798" cy="68580"/>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941063" y="3236976"/>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4123944" y="3236976"/>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4306824" y="3236976"/>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4489704" y="3236976"/>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4672583" y="3236976"/>
            <a:ext cx="91440" cy="91440"/>
          </a:xfrm>
          <a:prstGeom prst="ellipse">
            <a:avLst/>
          </a:prstGeom>
          <a:solidFill>
            <a:srgbClr val="E7B5A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956048" y="3209544"/>
            <a:ext cx="1234440" cy="164592"/>
          </a:xfrm>
          <a:prstGeom prst="rect">
            <a:avLst/>
          </a:prstGeom>
          <a:noFill/>
        </p:spPr>
        <p:txBody>
          <a:bodyPr wrap="square" lIns="0" rIns="0" tIns="0" bIns="0" anchor="t">
            <a:spAutoFit/>
          </a:bodyPr>
          <a:lstStyle/>
          <a:p>
            <a:pPr algn="l">
              <a:spcAft>
                <a:spcPts val="0"/>
              </a:spcAft>
            </a:pPr>
            <a:r>
              <a:rPr sz="819" b="0" i="1">
                <a:solidFill>
                  <a:srgbClr val="D96552"/>
                </a:solidFill>
                <a:latin typeface="Arial"/>
              </a:rPr>
              <a:t>repeated support</a:t>
            </a:r>
          </a:p>
        </p:txBody>
      </p:sp>
      <p:sp>
        <p:nvSpPr>
          <p:cNvPr id="36" name="Right Arrow 35"/>
          <p:cNvSpPr/>
          <p:nvPr/>
        </p:nvSpPr>
        <p:spPr>
          <a:xfrm>
            <a:off x="6665976" y="2468880"/>
            <a:ext cx="246888"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967728" y="1865376"/>
            <a:ext cx="4599432" cy="1581912"/>
          </a:xfrm>
          <a:prstGeom prst="rect">
            <a:avLst/>
          </a:prstGeom>
          <a:solidFill>
            <a:srgbClr val="E8F3F1"/>
          </a:solidFill>
          <a:ln w="10160">
            <a:solidFill>
              <a:srgbClr val="C9DF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178040" y="2029968"/>
            <a:ext cx="1481328" cy="228600"/>
          </a:xfrm>
          <a:prstGeom prst="rect">
            <a:avLst/>
          </a:prstGeom>
          <a:noFill/>
        </p:spPr>
        <p:txBody>
          <a:bodyPr wrap="square" lIns="0" rIns="0" tIns="0" bIns="0" anchor="t">
            <a:spAutoFit/>
          </a:bodyPr>
          <a:lstStyle/>
          <a:p>
            <a:pPr algn="l">
              <a:spcAft>
                <a:spcPts val="0"/>
              </a:spcAft>
            </a:pPr>
            <a:r>
              <a:rPr sz="1300" b="1" i="0">
                <a:solidFill>
                  <a:srgbClr val="178681"/>
                </a:solidFill>
                <a:latin typeface="Arial"/>
              </a:rPr>
              <a:t>3  CONSENSUS</a:t>
            </a:r>
          </a:p>
        </p:txBody>
      </p:sp>
      <p:sp>
        <p:nvSpPr>
          <p:cNvPr id="39" name="TextBox 38"/>
          <p:cNvSpPr txBox="1"/>
          <p:nvPr/>
        </p:nvSpPr>
        <p:spPr>
          <a:xfrm>
            <a:off x="7178040" y="2304288"/>
            <a:ext cx="2880360" cy="201168"/>
          </a:xfrm>
          <a:prstGeom prst="rect">
            <a:avLst/>
          </a:prstGeom>
          <a:noFill/>
        </p:spPr>
        <p:txBody>
          <a:bodyPr wrap="square" lIns="0" rIns="0" tIns="0" bIns="0" anchor="t">
            <a:spAutoFit/>
          </a:bodyPr>
          <a:lstStyle/>
          <a:p>
            <a:pPr algn="l">
              <a:spcAft>
                <a:spcPts val="0"/>
              </a:spcAft>
            </a:pPr>
            <a:r>
              <a:rPr sz="1000" b="0" i="0">
                <a:solidFill>
                  <a:srgbClr val="263746"/>
                </a:solidFill>
                <a:latin typeface="Arial"/>
              </a:rPr>
              <a:t>Move up only when both rankings agree</a:t>
            </a:r>
          </a:p>
        </p:txBody>
      </p:sp>
      <p:sp>
        <p:nvSpPr>
          <p:cNvPr id="40" name="TextBox 39"/>
          <p:cNvSpPr txBox="1"/>
          <p:nvPr/>
        </p:nvSpPr>
        <p:spPr>
          <a:xfrm>
            <a:off x="8705088" y="2551176"/>
            <a:ext cx="402336" cy="155448"/>
          </a:xfrm>
          <a:prstGeom prst="rect">
            <a:avLst/>
          </a:prstGeom>
          <a:noFill/>
        </p:spPr>
        <p:txBody>
          <a:bodyPr wrap="square" lIns="0" rIns="0" tIns="0" bIns="0" anchor="t">
            <a:spAutoFit/>
          </a:bodyPr>
          <a:lstStyle/>
          <a:p>
            <a:pPr algn="ctr">
              <a:spcAft>
                <a:spcPts val="0"/>
              </a:spcAft>
            </a:pPr>
            <a:r>
              <a:rPr sz="830" b="1" i="0">
                <a:solidFill>
                  <a:srgbClr val="2D6496"/>
                </a:solidFill>
                <a:latin typeface="Arial"/>
              </a:rPr>
              <a:t>real</a:t>
            </a:r>
          </a:p>
        </p:txBody>
      </p:sp>
      <p:sp>
        <p:nvSpPr>
          <p:cNvPr id="41" name="TextBox 40"/>
          <p:cNvSpPr txBox="1"/>
          <p:nvPr/>
        </p:nvSpPr>
        <p:spPr>
          <a:xfrm>
            <a:off x="9272016" y="2551176"/>
            <a:ext cx="713232" cy="155448"/>
          </a:xfrm>
          <a:prstGeom prst="rect">
            <a:avLst/>
          </a:prstGeom>
          <a:noFill/>
        </p:spPr>
        <p:txBody>
          <a:bodyPr wrap="square" lIns="0" rIns="0" tIns="0" bIns="0" anchor="t">
            <a:spAutoFit/>
          </a:bodyPr>
          <a:lstStyle/>
          <a:p>
            <a:pPr algn="ctr">
              <a:spcAft>
                <a:spcPts val="0"/>
              </a:spcAft>
            </a:pPr>
            <a:r>
              <a:rPr sz="830" b="1" i="0">
                <a:solidFill>
                  <a:srgbClr val="D96552"/>
                </a:solidFill>
                <a:latin typeface="Arial"/>
              </a:rPr>
              <a:t>generated</a:t>
            </a:r>
          </a:p>
        </p:txBody>
      </p:sp>
      <p:sp>
        <p:nvSpPr>
          <p:cNvPr id="42" name="TextBox 41"/>
          <p:cNvSpPr txBox="1"/>
          <p:nvPr/>
        </p:nvSpPr>
        <p:spPr>
          <a:xfrm>
            <a:off x="10424160" y="2551176"/>
            <a:ext cx="694944" cy="155448"/>
          </a:xfrm>
          <a:prstGeom prst="rect">
            <a:avLst/>
          </a:prstGeom>
          <a:noFill/>
        </p:spPr>
        <p:txBody>
          <a:bodyPr wrap="square" lIns="0" rIns="0" tIns="0" bIns="0" anchor="t">
            <a:spAutoFit/>
          </a:bodyPr>
          <a:lstStyle/>
          <a:p>
            <a:pPr algn="ctr">
              <a:spcAft>
                <a:spcPts val="0"/>
              </a:spcAft>
            </a:pPr>
            <a:r>
              <a:rPr sz="830" b="1" i="0">
                <a:solidFill>
                  <a:srgbClr val="178681"/>
                </a:solidFill>
                <a:latin typeface="Arial"/>
              </a:rPr>
              <a:t>decision</a:t>
            </a:r>
          </a:p>
        </p:txBody>
      </p:sp>
      <p:sp>
        <p:nvSpPr>
          <p:cNvPr id="43" name="TextBox 42"/>
          <p:cNvSpPr txBox="1"/>
          <p:nvPr/>
        </p:nvSpPr>
        <p:spPr>
          <a:xfrm>
            <a:off x="7178040" y="2743200"/>
            <a:ext cx="1325880" cy="182880"/>
          </a:xfrm>
          <a:prstGeom prst="rect">
            <a:avLst/>
          </a:prstGeom>
          <a:noFill/>
        </p:spPr>
        <p:txBody>
          <a:bodyPr wrap="square" lIns="0" rIns="0" tIns="0" bIns="0" anchor="t">
            <a:spAutoFit/>
          </a:bodyPr>
          <a:lstStyle/>
          <a:p>
            <a:pPr algn="l">
              <a:spcAft>
                <a:spcPts val="0"/>
              </a:spcAft>
            </a:pPr>
            <a:r>
              <a:rPr sz="919" b="1" i="0">
                <a:solidFill>
                  <a:srgbClr val="263746"/>
                </a:solidFill>
                <a:latin typeface="Arial"/>
              </a:rPr>
              <a:t>Cdk1</a:t>
            </a:r>
          </a:p>
        </p:txBody>
      </p:sp>
      <p:sp>
        <p:nvSpPr>
          <p:cNvPr id="44" name="Oval 43"/>
          <p:cNvSpPr/>
          <p:nvPr/>
        </p:nvSpPr>
        <p:spPr>
          <a:xfrm>
            <a:off x="8842248" y="2761488"/>
            <a:ext cx="109728" cy="10972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9573768" y="2761488"/>
            <a:ext cx="109728" cy="10972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ight Arrow 45"/>
          <p:cNvSpPr/>
          <p:nvPr/>
        </p:nvSpPr>
        <p:spPr>
          <a:xfrm>
            <a:off x="9985248" y="2756916"/>
            <a:ext cx="219456"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351008" y="2734056"/>
            <a:ext cx="941832" cy="182880"/>
          </a:xfrm>
          <a:prstGeom prst="rect">
            <a:avLst/>
          </a:prstGeom>
          <a:noFill/>
        </p:spPr>
        <p:txBody>
          <a:bodyPr wrap="square" lIns="0" rIns="0" tIns="0" bIns="0" anchor="t">
            <a:spAutoFit/>
          </a:bodyPr>
          <a:lstStyle/>
          <a:p>
            <a:pPr algn="ctr">
              <a:spcAft>
                <a:spcPts val="0"/>
              </a:spcAft>
            </a:pPr>
            <a:r>
              <a:rPr sz="880" b="1" i="0">
                <a:solidFill>
                  <a:srgbClr val="178681"/>
                </a:solidFill>
                <a:latin typeface="Arial"/>
              </a:rPr>
              <a:t>MOVE UP</a:t>
            </a:r>
          </a:p>
        </p:txBody>
      </p:sp>
      <p:sp>
        <p:nvSpPr>
          <p:cNvPr id="48" name="TextBox 47"/>
          <p:cNvSpPr txBox="1"/>
          <p:nvPr/>
        </p:nvSpPr>
        <p:spPr>
          <a:xfrm>
            <a:off x="7178040" y="2971800"/>
            <a:ext cx="1325880" cy="182880"/>
          </a:xfrm>
          <a:prstGeom prst="rect">
            <a:avLst/>
          </a:prstGeom>
          <a:noFill/>
        </p:spPr>
        <p:txBody>
          <a:bodyPr wrap="square" lIns="0" rIns="0" tIns="0" bIns="0" anchor="t">
            <a:spAutoFit/>
          </a:bodyPr>
          <a:lstStyle/>
          <a:p>
            <a:pPr algn="l">
              <a:spcAft>
                <a:spcPts val="0"/>
              </a:spcAft>
            </a:pPr>
            <a:r>
              <a:rPr sz="919" b="1" i="0">
                <a:solidFill>
                  <a:srgbClr val="263746"/>
                </a:solidFill>
                <a:latin typeface="Arial"/>
              </a:rPr>
              <a:t>Nusap1</a:t>
            </a:r>
          </a:p>
        </p:txBody>
      </p:sp>
      <p:sp>
        <p:nvSpPr>
          <p:cNvPr id="49" name="Oval 48"/>
          <p:cNvSpPr/>
          <p:nvPr/>
        </p:nvSpPr>
        <p:spPr>
          <a:xfrm>
            <a:off x="8842248" y="2990088"/>
            <a:ext cx="109728" cy="10972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9573768" y="2990088"/>
            <a:ext cx="109728" cy="10972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ight Arrow 50"/>
          <p:cNvSpPr/>
          <p:nvPr/>
        </p:nvSpPr>
        <p:spPr>
          <a:xfrm>
            <a:off x="9985248" y="2985516"/>
            <a:ext cx="219456"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0351008" y="2962656"/>
            <a:ext cx="941832" cy="182880"/>
          </a:xfrm>
          <a:prstGeom prst="rect">
            <a:avLst/>
          </a:prstGeom>
          <a:noFill/>
        </p:spPr>
        <p:txBody>
          <a:bodyPr wrap="square" lIns="0" rIns="0" tIns="0" bIns="0" anchor="t">
            <a:spAutoFit/>
          </a:bodyPr>
          <a:lstStyle/>
          <a:p>
            <a:pPr algn="ctr">
              <a:spcAft>
                <a:spcPts val="0"/>
              </a:spcAft>
            </a:pPr>
            <a:r>
              <a:rPr sz="880" b="1" i="0">
                <a:solidFill>
                  <a:srgbClr val="178681"/>
                </a:solidFill>
                <a:latin typeface="Arial"/>
              </a:rPr>
              <a:t>MOVE UP</a:t>
            </a:r>
          </a:p>
        </p:txBody>
      </p:sp>
      <p:sp>
        <p:nvSpPr>
          <p:cNvPr id="53" name="TextBox 52"/>
          <p:cNvSpPr txBox="1"/>
          <p:nvPr/>
        </p:nvSpPr>
        <p:spPr>
          <a:xfrm>
            <a:off x="7178040" y="3200400"/>
            <a:ext cx="1325880" cy="182880"/>
          </a:xfrm>
          <a:prstGeom prst="rect">
            <a:avLst/>
          </a:prstGeom>
          <a:noFill/>
        </p:spPr>
        <p:txBody>
          <a:bodyPr wrap="square" lIns="0" rIns="0" tIns="0" bIns="0" anchor="t">
            <a:spAutoFit/>
          </a:bodyPr>
          <a:lstStyle/>
          <a:p>
            <a:pPr algn="l">
              <a:spcAft>
                <a:spcPts val="0"/>
              </a:spcAft>
            </a:pPr>
            <a:r>
              <a:rPr sz="919" b="0" i="0">
                <a:solidFill>
                  <a:srgbClr val="263746"/>
                </a:solidFill>
                <a:latin typeface="Arial"/>
              </a:rPr>
              <a:t>one-sided gene</a:t>
            </a:r>
          </a:p>
        </p:txBody>
      </p:sp>
      <p:sp>
        <p:nvSpPr>
          <p:cNvPr id="54" name="Oval 53"/>
          <p:cNvSpPr/>
          <p:nvPr/>
        </p:nvSpPr>
        <p:spPr>
          <a:xfrm>
            <a:off x="8842248" y="3218688"/>
            <a:ext cx="109728" cy="10972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9573768" y="3218688"/>
            <a:ext cx="109728" cy="109728"/>
          </a:xfrm>
          <a:prstGeom prst="ellipse">
            <a:avLst/>
          </a:prstGeom>
          <a:solidFill>
            <a:srgbClr val="DCE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ight Arrow 55"/>
          <p:cNvSpPr/>
          <p:nvPr/>
        </p:nvSpPr>
        <p:spPr>
          <a:xfrm>
            <a:off x="9985248" y="3214116"/>
            <a:ext cx="219456"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0351008" y="3191256"/>
            <a:ext cx="941832" cy="182880"/>
          </a:xfrm>
          <a:prstGeom prst="rect">
            <a:avLst/>
          </a:prstGeom>
          <a:noFill/>
        </p:spPr>
        <p:txBody>
          <a:bodyPr wrap="square" lIns="0" rIns="0" tIns="0" bIns="0" anchor="t">
            <a:spAutoFit/>
          </a:bodyPr>
          <a:lstStyle/>
          <a:p>
            <a:pPr algn="ctr">
              <a:spcAft>
                <a:spcPts val="0"/>
              </a:spcAft>
            </a:pPr>
            <a:r>
              <a:rPr sz="880" b="1" i="0">
                <a:solidFill>
                  <a:srgbClr val="59697A"/>
                </a:solidFill>
                <a:latin typeface="Arial"/>
              </a:rPr>
              <a:t>HOLD BACK</a:t>
            </a:r>
          </a:p>
        </p:txBody>
      </p:sp>
      <p:sp>
        <p:nvSpPr>
          <p:cNvPr id="58" name="TextBox 57"/>
          <p:cNvSpPr txBox="1"/>
          <p:nvPr/>
        </p:nvSpPr>
        <p:spPr>
          <a:xfrm>
            <a:off x="475488" y="3675887"/>
            <a:ext cx="3749039" cy="256032"/>
          </a:xfrm>
          <a:prstGeom prst="rect">
            <a:avLst/>
          </a:prstGeom>
          <a:noFill/>
        </p:spPr>
        <p:txBody>
          <a:bodyPr wrap="square" lIns="0" rIns="0" tIns="0" bIns="0" anchor="t">
            <a:spAutoFit/>
          </a:bodyPr>
          <a:lstStyle/>
          <a:p>
            <a:pPr algn="l">
              <a:spcAft>
                <a:spcPts val="0"/>
              </a:spcAft>
            </a:pPr>
            <a:r>
              <a:rPr sz="1600" b="1" i="0">
                <a:solidFill>
                  <a:srgbClr val="082B55"/>
                </a:solidFill>
                <a:latin typeface="Arial"/>
              </a:rPr>
              <a:t>The selected feature set changes</a:t>
            </a:r>
          </a:p>
        </p:txBody>
      </p:sp>
      <p:sp>
        <p:nvSpPr>
          <p:cNvPr id="59" name="TextBox 58"/>
          <p:cNvSpPr txBox="1"/>
          <p:nvPr/>
        </p:nvSpPr>
        <p:spPr>
          <a:xfrm>
            <a:off x="667512" y="4005072"/>
            <a:ext cx="2139696" cy="182880"/>
          </a:xfrm>
          <a:prstGeom prst="rect">
            <a:avLst/>
          </a:prstGeom>
          <a:noFill/>
        </p:spPr>
        <p:txBody>
          <a:bodyPr wrap="square" lIns="0" rIns="0" tIns="0" bIns="0" anchor="t">
            <a:spAutoFit/>
          </a:bodyPr>
          <a:lstStyle/>
          <a:p>
            <a:pPr algn="ctr">
              <a:spcAft>
                <a:spcPts val="0"/>
              </a:spcAft>
            </a:pPr>
            <a:r>
              <a:rPr sz="969" b="1" i="0">
                <a:solidFill>
                  <a:srgbClr val="2D6496"/>
                </a:solidFill>
                <a:latin typeface="Arial"/>
              </a:rPr>
              <a:t>REAL-ONLY GENES</a:t>
            </a:r>
          </a:p>
        </p:txBody>
      </p:sp>
      <p:sp>
        <p:nvSpPr>
          <p:cNvPr id="60" name="TextBox 59"/>
          <p:cNvSpPr txBox="1"/>
          <p:nvPr/>
        </p:nvSpPr>
        <p:spPr>
          <a:xfrm>
            <a:off x="3310128" y="4005072"/>
            <a:ext cx="2304288" cy="182880"/>
          </a:xfrm>
          <a:prstGeom prst="rect">
            <a:avLst/>
          </a:prstGeom>
          <a:noFill/>
        </p:spPr>
        <p:txBody>
          <a:bodyPr wrap="square" lIns="0" rIns="0" tIns="0" bIns="0" anchor="t">
            <a:spAutoFit/>
          </a:bodyPr>
          <a:lstStyle/>
          <a:p>
            <a:pPr algn="ctr">
              <a:spcAft>
                <a:spcPts val="0"/>
              </a:spcAft>
            </a:pPr>
            <a:r>
              <a:rPr sz="969" b="1" i="0">
                <a:solidFill>
                  <a:srgbClr val="178681"/>
                </a:solidFill>
                <a:latin typeface="Arial"/>
              </a:rPr>
              <a:t>CONSENSUS-RANKED GENES</a:t>
            </a:r>
          </a:p>
        </p:txBody>
      </p:sp>
      <p:sp>
        <p:nvSpPr>
          <p:cNvPr id="61" name="Rectangle 60"/>
          <p:cNvSpPr/>
          <p:nvPr/>
        </p:nvSpPr>
        <p:spPr>
          <a:xfrm>
            <a:off x="813816" y="5184648"/>
            <a:ext cx="1847088" cy="16459"/>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813816" y="4270248"/>
            <a:ext cx="16459" cy="932688"/>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1069848" y="4453128"/>
            <a:ext cx="118872" cy="118872"/>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1289304" y="4764024"/>
            <a:ext cx="118872" cy="118872"/>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1527048" y="4928616"/>
            <a:ext cx="118872" cy="118872"/>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1773936" y="4553712"/>
            <a:ext cx="118872" cy="118872"/>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2011680" y="4892040"/>
            <a:ext cx="118872" cy="118872"/>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1371600" y="4489704"/>
            <a:ext cx="118872" cy="11887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1645920" y="4828032"/>
            <a:ext cx="118872" cy="11887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1911095" y="4626864"/>
            <a:ext cx="118872" cy="11887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2231136" y="4956048"/>
            <a:ext cx="118872" cy="11887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2441448" y="4553712"/>
            <a:ext cx="118872" cy="11887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rot="420000">
            <a:off x="1819656" y="4325112"/>
            <a:ext cx="23774" cy="804672"/>
          </a:xfrm>
          <a:prstGeom prst="rect">
            <a:avLst/>
          </a:prstGeom>
          <a:solidFill>
            <a:srgbClr val="5969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ight Arrow 73"/>
          <p:cNvSpPr/>
          <p:nvPr/>
        </p:nvSpPr>
        <p:spPr>
          <a:xfrm>
            <a:off x="2834640" y="4590288"/>
            <a:ext cx="301752" cy="201168"/>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3474720" y="5184648"/>
            <a:ext cx="1847088" cy="16459"/>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3474720" y="4270248"/>
            <a:ext cx="16459" cy="932688"/>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3703320" y="4453128"/>
            <a:ext cx="118872" cy="118872"/>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3867911" y="4736592"/>
            <a:ext cx="118872" cy="118872"/>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4041648" y="4937760"/>
            <a:ext cx="118872" cy="118872"/>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4178808" y="4553712"/>
            <a:ext cx="118872" cy="118872"/>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4306824" y="4828032"/>
            <a:ext cx="118872" cy="118872"/>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4572000" y="4544568"/>
            <a:ext cx="118872" cy="11887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4745736" y="4855464"/>
            <a:ext cx="118872" cy="11887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4910328" y="4434840"/>
            <a:ext cx="118872" cy="11887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5084064" y="4974336"/>
            <a:ext cx="118872" cy="11887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5193792" y="4663440"/>
            <a:ext cx="118872" cy="11887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rot="21480000">
            <a:off x="4443983" y="4325112"/>
            <a:ext cx="32004" cy="80467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758952" y="5294376"/>
            <a:ext cx="4645152" cy="192024"/>
          </a:xfrm>
          <a:prstGeom prst="rect">
            <a:avLst/>
          </a:prstGeom>
          <a:noFill/>
        </p:spPr>
        <p:txBody>
          <a:bodyPr wrap="square" lIns="0" rIns="0" tIns="0" bIns="0" anchor="t">
            <a:spAutoFit/>
          </a:bodyPr>
          <a:lstStyle/>
          <a:p>
            <a:pPr algn="ctr">
              <a:spcAft>
                <a:spcPts val="0"/>
              </a:spcAft>
            </a:pPr>
            <a:r>
              <a:rPr sz="950" b="1" i="0">
                <a:solidFill>
                  <a:srgbClr val="263746"/>
                </a:solidFill>
                <a:latin typeface="Arial"/>
              </a:rPr>
              <a:t>Same held-out real samples; different selected genes</a:t>
            </a:r>
          </a:p>
        </p:txBody>
      </p:sp>
      <p:sp>
        <p:nvSpPr>
          <p:cNvPr id="89" name="Rectangle 88"/>
          <p:cNvSpPr/>
          <p:nvPr/>
        </p:nvSpPr>
        <p:spPr>
          <a:xfrm>
            <a:off x="5916168" y="3694176"/>
            <a:ext cx="5650992" cy="1792224"/>
          </a:xfrm>
          <a:prstGeom prst="rect">
            <a:avLst/>
          </a:prstGeom>
          <a:solidFill>
            <a:srgbClr val="F5F7F8"/>
          </a:solidFill>
          <a:ln w="10160">
            <a:solidFill>
              <a:srgbClr val="D5DD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6153912" y="3877056"/>
            <a:ext cx="2670048" cy="237744"/>
          </a:xfrm>
          <a:prstGeom prst="rect">
            <a:avLst/>
          </a:prstGeom>
          <a:noFill/>
        </p:spPr>
        <p:txBody>
          <a:bodyPr wrap="square" lIns="0" rIns="0" tIns="0" bIns="0" anchor="t">
            <a:spAutoFit/>
          </a:bodyPr>
          <a:lstStyle/>
          <a:p>
            <a:pPr algn="l">
              <a:spcAft>
                <a:spcPts val="0"/>
              </a:spcAft>
            </a:pPr>
            <a:r>
              <a:rPr sz="1450" b="1" i="0">
                <a:solidFill>
                  <a:srgbClr val="082B55"/>
                </a:solidFill>
                <a:latin typeface="Arial"/>
              </a:rPr>
              <a:t>Thymus selection stability</a:t>
            </a:r>
          </a:p>
        </p:txBody>
      </p:sp>
      <p:sp>
        <p:nvSpPr>
          <p:cNvPr id="91" name="TextBox 90"/>
          <p:cNvSpPr txBox="1"/>
          <p:nvPr/>
        </p:nvSpPr>
        <p:spPr>
          <a:xfrm>
            <a:off x="8814816" y="3904487"/>
            <a:ext cx="2286000" cy="192024"/>
          </a:xfrm>
          <a:prstGeom prst="rect">
            <a:avLst/>
          </a:prstGeom>
          <a:noFill/>
        </p:spPr>
        <p:txBody>
          <a:bodyPr wrap="square" lIns="0" rIns="0" tIns="0" bIns="0" anchor="t">
            <a:spAutoFit/>
          </a:bodyPr>
          <a:lstStyle/>
          <a:p>
            <a:pPr algn="r">
              <a:spcAft>
                <a:spcPts val="0"/>
              </a:spcAft>
            </a:pPr>
            <a:r>
              <a:rPr sz="960" b="0" i="0">
                <a:solidFill>
                  <a:srgbClr val="59697A"/>
                </a:solidFill>
                <a:latin typeface="Arial"/>
              </a:rPr>
              <a:t>across 8 repeated splits</a:t>
            </a:r>
          </a:p>
        </p:txBody>
      </p:sp>
      <p:sp>
        <p:nvSpPr>
          <p:cNvPr id="92" name="TextBox 91"/>
          <p:cNvSpPr txBox="1"/>
          <p:nvPr/>
        </p:nvSpPr>
        <p:spPr>
          <a:xfrm>
            <a:off x="7370064" y="4251960"/>
            <a:ext cx="685800" cy="164592"/>
          </a:xfrm>
          <a:prstGeom prst="rect">
            <a:avLst/>
          </a:prstGeom>
          <a:noFill/>
        </p:spPr>
        <p:txBody>
          <a:bodyPr wrap="square" lIns="0" rIns="0" tIns="0" bIns="0" anchor="t">
            <a:spAutoFit/>
          </a:bodyPr>
          <a:lstStyle/>
          <a:p>
            <a:pPr algn="ctr">
              <a:spcAft>
                <a:spcPts val="0"/>
              </a:spcAft>
            </a:pPr>
            <a:r>
              <a:rPr sz="850" b="1" i="0">
                <a:solidFill>
                  <a:srgbClr val="2D6496"/>
                </a:solidFill>
                <a:latin typeface="Arial"/>
              </a:rPr>
              <a:t>real only</a:t>
            </a:r>
          </a:p>
        </p:txBody>
      </p:sp>
      <p:sp>
        <p:nvSpPr>
          <p:cNvPr id="93" name="TextBox 92"/>
          <p:cNvSpPr txBox="1"/>
          <p:nvPr/>
        </p:nvSpPr>
        <p:spPr>
          <a:xfrm>
            <a:off x="9518904" y="4251960"/>
            <a:ext cx="658368" cy="164592"/>
          </a:xfrm>
          <a:prstGeom prst="rect">
            <a:avLst/>
          </a:prstGeom>
          <a:noFill/>
        </p:spPr>
        <p:txBody>
          <a:bodyPr wrap="square" lIns="0" rIns="0" tIns="0" bIns="0" anchor="t">
            <a:spAutoFit/>
          </a:bodyPr>
          <a:lstStyle/>
          <a:p>
            <a:pPr algn="ctr">
              <a:spcAft>
                <a:spcPts val="0"/>
              </a:spcAft>
            </a:pPr>
            <a:r>
              <a:rPr sz="850" b="1" i="0">
                <a:solidFill>
                  <a:srgbClr val="178681"/>
                </a:solidFill>
                <a:latin typeface="Arial"/>
              </a:rPr>
              <a:t>guided</a:t>
            </a:r>
          </a:p>
        </p:txBody>
      </p:sp>
      <p:sp>
        <p:nvSpPr>
          <p:cNvPr id="94" name="TextBox 93"/>
          <p:cNvSpPr txBox="1"/>
          <p:nvPr/>
        </p:nvSpPr>
        <p:spPr>
          <a:xfrm>
            <a:off x="6181344" y="4535424"/>
            <a:ext cx="859536" cy="201168"/>
          </a:xfrm>
          <a:prstGeom prst="rect">
            <a:avLst/>
          </a:prstGeom>
          <a:noFill/>
        </p:spPr>
        <p:txBody>
          <a:bodyPr wrap="square" lIns="0" rIns="0" tIns="0" bIns="0" anchor="t">
            <a:spAutoFit/>
          </a:bodyPr>
          <a:lstStyle/>
          <a:p>
            <a:pPr algn="l">
              <a:spcAft>
                <a:spcPts val="0"/>
              </a:spcAft>
            </a:pPr>
            <a:r>
              <a:rPr sz="1120" b="1" i="0">
                <a:solidFill>
                  <a:srgbClr val="082B55"/>
                </a:solidFill>
                <a:latin typeface="Arial"/>
              </a:rPr>
              <a:t>Cdk1</a:t>
            </a:r>
          </a:p>
        </p:txBody>
      </p:sp>
      <p:sp>
        <p:nvSpPr>
          <p:cNvPr id="95" name="Oval 94"/>
          <p:cNvSpPr/>
          <p:nvPr/>
        </p:nvSpPr>
        <p:spPr>
          <a:xfrm>
            <a:off x="7059168" y="4572000"/>
            <a:ext cx="100584" cy="100584"/>
          </a:xfrm>
          <a:prstGeom prst="ellipse">
            <a:avLst/>
          </a:prstGeom>
          <a:solidFill>
            <a:srgbClr val="FFFFFF"/>
          </a:solidFill>
          <a:ln w="889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9162288" y="4572000"/>
            <a:ext cx="100584" cy="100584"/>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7223759" y="4572000"/>
            <a:ext cx="100584" cy="100584"/>
          </a:xfrm>
          <a:prstGeom prst="ellipse">
            <a:avLst/>
          </a:prstGeom>
          <a:solidFill>
            <a:srgbClr val="FFFFFF"/>
          </a:solidFill>
          <a:ln w="889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9326880" y="4572000"/>
            <a:ext cx="100584" cy="100584"/>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7388352" y="4572000"/>
            <a:ext cx="100584" cy="100584"/>
          </a:xfrm>
          <a:prstGeom prst="ellipse">
            <a:avLst/>
          </a:prstGeom>
          <a:solidFill>
            <a:srgbClr val="FFFFFF"/>
          </a:solidFill>
          <a:ln w="889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9491472" y="4572000"/>
            <a:ext cx="100584" cy="100584"/>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7552944" y="4572000"/>
            <a:ext cx="100584" cy="100584"/>
          </a:xfrm>
          <a:prstGeom prst="ellipse">
            <a:avLst/>
          </a:prstGeom>
          <a:solidFill>
            <a:srgbClr val="FFFFFF"/>
          </a:solidFill>
          <a:ln w="889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9656063" y="4572000"/>
            <a:ext cx="100584" cy="100584"/>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7717536" y="4572000"/>
            <a:ext cx="100584" cy="100584"/>
          </a:xfrm>
          <a:prstGeom prst="ellipse">
            <a:avLst/>
          </a:prstGeom>
          <a:solidFill>
            <a:srgbClr val="FFFFFF"/>
          </a:solidFill>
          <a:ln w="889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9820656" y="4572000"/>
            <a:ext cx="100584" cy="100584"/>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Oval 104"/>
          <p:cNvSpPr/>
          <p:nvPr/>
        </p:nvSpPr>
        <p:spPr>
          <a:xfrm>
            <a:off x="7882127" y="4572000"/>
            <a:ext cx="100584" cy="100584"/>
          </a:xfrm>
          <a:prstGeom prst="ellipse">
            <a:avLst/>
          </a:prstGeom>
          <a:solidFill>
            <a:srgbClr val="FFFFFF"/>
          </a:solidFill>
          <a:ln w="889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Oval 105"/>
          <p:cNvSpPr/>
          <p:nvPr/>
        </p:nvSpPr>
        <p:spPr>
          <a:xfrm>
            <a:off x="9985248" y="4572000"/>
            <a:ext cx="100584" cy="100584"/>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Oval 106"/>
          <p:cNvSpPr/>
          <p:nvPr/>
        </p:nvSpPr>
        <p:spPr>
          <a:xfrm>
            <a:off x="8046720" y="4572000"/>
            <a:ext cx="100584" cy="100584"/>
          </a:xfrm>
          <a:prstGeom prst="ellipse">
            <a:avLst/>
          </a:prstGeom>
          <a:solidFill>
            <a:srgbClr val="FFFFFF"/>
          </a:solidFill>
          <a:ln w="889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Oval 107"/>
          <p:cNvSpPr/>
          <p:nvPr/>
        </p:nvSpPr>
        <p:spPr>
          <a:xfrm>
            <a:off x="10149840" y="4572000"/>
            <a:ext cx="100584" cy="100584"/>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Oval 108"/>
          <p:cNvSpPr/>
          <p:nvPr/>
        </p:nvSpPr>
        <p:spPr>
          <a:xfrm>
            <a:off x="8211312" y="4572000"/>
            <a:ext cx="100584" cy="100584"/>
          </a:xfrm>
          <a:prstGeom prst="ellipse">
            <a:avLst/>
          </a:prstGeom>
          <a:solidFill>
            <a:srgbClr val="FFFFFF"/>
          </a:solidFill>
          <a:ln w="889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Oval 109"/>
          <p:cNvSpPr/>
          <p:nvPr/>
        </p:nvSpPr>
        <p:spPr>
          <a:xfrm>
            <a:off x="10314432" y="4572000"/>
            <a:ext cx="100584" cy="100584"/>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8449056" y="4535424"/>
            <a:ext cx="420624" cy="182880"/>
          </a:xfrm>
          <a:prstGeom prst="rect">
            <a:avLst/>
          </a:prstGeom>
          <a:noFill/>
        </p:spPr>
        <p:txBody>
          <a:bodyPr wrap="square" lIns="0" rIns="0" tIns="0" bIns="0" anchor="t">
            <a:spAutoFit/>
          </a:bodyPr>
          <a:lstStyle/>
          <a:p>
            <a:pPr algn="ctr">
              <a:spcAft>
                <a:spcPts val="0"/>
              </a:spcAft>
            </a:pPr>
            <a:r>
              <a:rPr sz="900" b="1" i="0">
                <a:solidFill>
                  <a:srgbClr val="2D6496"/>
                </a:solidFill>
                <a:latin typeface="Arial"/>
              </a:rPr>
              <a:t>0/8</a:t>
            </a:r>
          </a:p>
        </p:txBody>
      </p:sp>
      <p:sp>
        <p:nvSpPr>
          <p:cNvPr id="112" name="TextBox 111"/>
          <p:cNvSpPr txBox="1"/>
          <p:nvPr/>
        </p:nvSpPr>
        <p:spPr>
          <a:xfrm>
            <a:off x="10552176" y="4535424"/>
            <a:ext cx="420624" cy="182880"/>
          </a:xfrm>
          <a:prstGeom prst="rect">
            <a:avLst/>
          </a:prstGeom>
          <a:noFill/>
        </p:spPr>
        <p:txBody>
          <a:bodyPr wrap="square" lIns="0" rIns="0" tIns="0" bIns="0" anchor="t">
            <a:spAutoFit/>
          </a:bodyPr>
          <a:lstStyle/>
          <a:p>
            <a:pPr algn="ctr">
              <a:spcAft>
                <a:spcPts val="0"/>
              </a:spcAft>
            </a:pPr>
            <a:r>
              <a:rPr sz="900" b="1" i="0">
                <a:solidFill>
                  <a:srgbClr val="178681"/>
                </a:solidFill>
                <a:latin typeface="Arial"/>
              </a:rPr>
              <a:t>8/8</a:t>
            </a:r>
          </a:p>
        </p:txBody>
      </p:sp>
      <p:sp>
        <p:nvSpPr>
          <p:cNvPr id="113" name="TextBox 112"/>
          <p:cNvSpPr txBox="1"/>
          <p:nvPr/>
        </p:nvSpPr>
        <p:spPr>
          <a:xfrm>
            <a:off x="6181344" y="4919472"/>
            <a:ext cx="859536" cy="201168"/>
          </a:xfrm>
          <a:prstGeom prst="rect">
            <a:avLst/>
          </a:prstGeom>
          <a:noFill/>
        </p:spPr>
        <p:txBody>
          <a:bodyPr wrap="square" lIns="0" rIns="0" tIns="0" bIns="0" anchor="t">
            <a:spAutoFit/>
          </a:bodyPr>
          <a:lstStyle/>
          <a:p>
            <a:pPr algn="l">
              <a:spcAft>
                <a:spcPts val="0"/>
              </a:spcAft>
            </a:pPr>
            <a:r>
              <a:rPr sz="1120" b="1" i="0">
                <a:solidFill>
                  <a:srgbClr val="082B55"/>
                </a:solidFill>
                <a:latin typeface="Arial"/>
              </a:rPr>
              <a:t>Nusap1</a:t>
            </a:r>
          </a:p>
        </p:txBody>
      </p:sp>
      <p:sp>
        <p:nvSpPr>
          <p:cNvPr id="114" name="Oval 113"/>
          <p:cNvSpPr/>
          <p:nvPr/>
        </p:nvSpPr>
        <p:spPr>
          <a:xfrm>
            <a:off x="7059168" y="4956048"/>
            <a:ext cx="100584" cy="100584"/>
          </a:xfrm>
          <a:prstGeom prst="ellipse">
            <a:avLst/>
          </a:prstGeom>
          <a:solidFill>
            <a:srgbClr val="FFFFFF"/>
          </a:solidFill>
          <a:ln w="889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Oval 114"/>
          <p:cNvSpPr/>
          <p:nvPr/>
        </p:nvSpPr>
        <p:spPr>
          <a:xfrm>
            <a:off x="9162288" y="4956048"/>
            <a:ext cx="100584" cy="100584"/>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Oval 115"/>
          <p:cNvSpPr/>
          <p:nvPr/>
        </p:nvSpPr>
        <p:spPr>
          <a:xfrm>
            <a:off x="7223759" y="4956048"/>
            <a:ext cx="100584" cy="100584"/>
          </a:xfrm>
          <a:prstGeom prst="ellipse">
            <a:avLst/>
          </a:prstGeom>
          <a:solidFill>
            <a:srgbClr val="FFFFFF"/>
          </a:solidFill>
          <a:ln w="889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Oval 116"/>
          <p:cNvSpPr/>
          <p:nvPr/>
        </p:nvSpPr>
        <p:spPr>
          <a:xfrm>
            <a:off x="9326880" y="4956048"/>
            <a:ext cx="100584" cy="100584"/>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Oval 117"/>
          <p:cNvSpPr/>
          <p:nvPr/>
        </p:nvSpPr>
        <p:spPr>
          <a:xfrm>
            <a:off x="7388352" y="4956048"/>
            <a:ext cx="100584" cy="100584"/>
          </a:xfrm>
          <a:prstGeom prst="ellipse">
            <a:avLst/>
          </a:prstGeom>
          <a:solidFill>
            <a:srgbClr val="FFFFFF"/>
          </a:solidFill>
          <a:ln w="889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Oval 118"/>
          <p:cNvSpPr/>
          <p:nvPr/>
        </p:nvSpPr>
        <p:spPr>
          <a:xfrm>
            <a:off x="9491472" y="4956048"/>
            <a:ext cx="100584" cy="100584"/>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Oval 119"/>
          <p:cNvSpPr/>
          <p:nvPr/>
        </p:nvSpPr>
        <p:spPr>
          <a:xfrm>
            <a:off x="7552944" y="4956048"/>
            <a:ext cx="100584" cy="100584"/>
          </a:xfrm>
          <a:prstGeom prst="ellipse">
            <a:avLst/>
          </a:prstGeom>
          <a:solidFill>
            <a:srgbClr val="FFFFFF"/>
          </a:solidFill>
          <a:ln w="889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Oval 120"/>
          <p:cNvSpPr/>
          <p:nvPr/>
        </p:nvSpPr>
        <p:spPr>
          <a:xfrm>
            <a:off x="9656063" y="4956048"/>
            <a:ext cx="100584" cy="100584"/>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Oval 121"/>
          <p:cNvSpPr/>
          <p:nvPr/>
        </p:nvSpPr>
        <p:spPr>
          <a:xfrm>
            <a:off x="7717536" y="4956048"/>
            <a:ext cx="100584" cy="100584"/>
          </a:xfrm>
          <a:prstGeom prst="ellipse">
            <a:avLst/>
          </a:prstGeom>
          <a:solidFill>
            <a:srgbClr val="FFFFFF"/>
          </a:solidFill>
          <a:ln w="889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Oval 122"/>
          <p:cNvSpPr/>
          <p:nvPr/>
        </p:nvSpPr>
        <p:spPr>
          <a:xfrm>
            <a:off x="9820656" y="4956048"/>
            <a:ext cx="100584" cy="100584"/>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Oval 123"/>
          <p:cNvSpPr/>
          <p:nvPr/>
        </p:nvSpPr>
        <p:spPr>
          <a:xfrm>
            <a:off x="7882127" y="4956048"/>
            <a:ext cx="100584" cy="100584"/>
          </a:xfrm>
          <a:prstGeom prst="ellipse">
            <a:avLst/>
          </a:prstGeom>
          <a:solidFill>
            <a:srgbClr val="FFFFFF"/>
          </a:solidFill>
          <a:ln w="889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Oval 124"/>
          <p:cNvSpPr/>
          <p:nvPr/>
        </p:nvSpPr>
        <p:spPr>
          <a:xfrm>
            <a:off x="9985248" y="4956048"/>
            <a:ext cx="100584" cy="100584"/>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Oval 125"/>
          <p:cNvSpPr/>
          <p:nvPr/>
        </p:nvSpPr>
        <p:spPr>
          <a:xfrm>
            <a:off x="8046720" y="4956048"/>
            <a:ext cx="100584" cy="100584"/>
          </a:xfrm>
          <a:prstGeom prst="ellipse">
            <a:avLst/>
          </a:prstGeom>
          <a:solidFill>
            <a:srgbClr val="FFFFFF"/>
          </a:solidFill>
          <a:ln w="889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Oval 126"/>
          <p:cNvSpPr/>
          <p:nvPr/>
        </p:nvSpPr>
        <p:spPr>
          <a:xfrm>
            <a:off x="10149840" y="4956048"/>
            <a:ext cx="100584" cy="100584"/>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Oval 127"/>
          <p:cNvSpPr/>
          <p:nvPr/>
        </p:nvSpPr>
        <p:spPr>
          <a:xfrm>
            <a:off x="8211312" y="4956048"/>
            <a:ext cx="100584" cy="100584"/>
          </a:xfrm>
          <a:prstGeom prst="ellipse">
            <a:avLst/>
          </a:prstGeom>
          <a:solidFill>
            <a:srgbClr val="FFFFFF"/>
          </a:solidFill>
          <a:ln w="889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Oval 128"/>
          <p:cNvSpPr/>
          <p:nvPr/>
        </p:nvSpPr>
        <p:spPr>
          <a:xfrm>
            <a:off x="10314432" y="4956048"/>
            <a:ext cx="100584" cy="100584"/>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TextBox 129"/>
          <p:cNvSpPr txBox="1"/>
          <p:nvPr/>
        </p:nvSpPr>
        <p:spPr>
          <a:xfrm>
            <a:off x="8449056" y="4919472"/>
            <a:ext cx="420624" cy="182880"/>
          </a:xfrm>
          <a:prstGeom prst="rect">
            <a:avLst/>
          </a:prstGeom>
          <a:noFill/>
        </p:spPr>
        <p:txBody>
          <a:bodyPr wrap="square" lIns="0" rIns="0" tIns="0" bIns="0" anchor="t">
            <a:spAutoFit/>
          </a:bodyPr>
          <a:lstStyle/>
          <a:p>
            <a:pPr algn="ctr">
              <a:spcAft>
                <a:spcPts val="0"/>
              </a:spcAft>
            </a:pPr>
            <a:r>
              <a:rPr sz="900" b="1" i="0">
                <a:solidFill>
                  <a:srgbClr val="2D6496"/>
                </a:solidFill>
                <a:latin typeface="Arial"/>
              </a:rPr>
              <a:t>0/8</a:t>
            </a:r>
          </a:p>
        </p:txBody>
      </p:sp>
      <p:sp>
        <p:nvSpPr>
          <p:cNvPr id="131" name="TextBox 130"/>
          <p:cNvSpPr txBox="1"/>
          <p:nvPr/>
        </p:nvSpPr>
        <p:spPr>
          <a:xfrm>
            <a:off x="10552176" y="4919472"/>
            <a:ext cx="420624" cy="182880"/>
          </a:xfrm>
          <a:prstGeom prst="rect">
            <a:avLst/>
          </a:prstGeom>
          <a:noFill/>
        </p:spPr>
        <p:txBody>
          <a:bodyPr wrap="square" lIns="0" rIns="0" tIns="0" bIns="0" anchor="t">
            <a:spAutoFit/>
          </a:bodyPr>
          <a:lstStyle/>
          <a:p>
            <a:pPr algn="ctr">
              <a:spcAft>
                <a:spcPts val="0"/>
              </a:spcAft>
            </a:pPr>
            <a:r>
              <a:rPr sz="900" b="1" i="0">
                <a:solidFill>
                  <a:srgbClr val="178681"/>
                </a:solidFill>
                <a:latin typeface="Arial"/>
              </a:rPr>
              <a:t>8/8</a:t>
            </a:r>
          </a:p>
        </p:txBody>
      </p:sp>
      <p:sp>
        <p:nvSpPr>
          <p:cNvPr id="132" name="TextBox 131"/>
          <p:cNvSpPr txBox="1"/>
          <p:nvPr/>
        </p:nvSpPr>
        <p:spPr>
          <a:xfrm>
            <a:off x="6181344" y="5266944"/>
            <a:ext cx="4910328" cy="182880"/>
          </a:xfrm>
          <a:prstGeom prst="rect">
            <a:avLst/>
          </a:prstGeom>
          <a:noFill/>
        </p:spPr>
        <p:txBody>
          <a:bodyPr wrap="square" lIns="0" rIns="0" tIns="0" bIns="0" anchor="t">
            <a:spAutoFit/>
          </a:bodyPr>
          <a:lstStyle/>
          <a:p>
            <a:pPr algn="l">
              <a:spcAft>
                <a:spcPts val="0"/>
              </a:spcAft>
            </a:pPr>
            <a:r>
              <a:rPr sz="960" b="0" i="0">
                <a:solidFill>
                  <a:srgbClr val="263746"/>
                </a:solidFill>
                <a:latin typeface="Arial"/>
              </a:rPr>
              <a:t>Both genes crossed the stability rule only after synthetic guidance.</a:t>
            </a:r>
          </a:p>
        </p:txBody>
      </p:sp>
      <p:sp>
        <p:nvSpPr>
          <p:cNvPr id="133" name="Rectangle 132"/>
          <p:cNvSpPr/>
          <p:nvPr/>
        </p:nvSpPr>
        <p:spPr>
          <a:xfrm>
            <a:off x="429768" y="5687568"/>
            <a:ext cx="11155680" cy="557784"/>
          </a:xfrm>
          <a:prstGeom prst="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TextBox 133"/>
          <p:cNvSpPr txBox="1"/>
          <p:nvPr/>
        </p:nvSpPr>
        <p:spPr>
          <a:xfrm>
            <a:off x="640080" y="5797296"/>
            <a:ext cx="5266944" cy="301752"/>
          </a:xfrm>
          <a:prstGeom prst="rect">
            <a:avLst/>
          </a:prstGeom>
          <a:noFill/>
        </p:spPr>
        <p:txBody>
          <a:bodyPr wrap="square" lIns="0" rIns="0" tIns="0" bIns="0" anchor="ctr">
            <a:spAutoFit/>
          </a:bodyPr>
          <a:lstStyle/>
          <a:p>
            <a:pPr algn="l">
              <a:spcAft>
                <a:spcPts val="0"/>
              </a:spcAft>
            </a:pPr>
            <a:r>
              <a:rPr sz="1180" b="1" i="0">
                <a:solidFill>
                  <a:srgbClr val="FFFFFF"/>
                </a:solidFill>
                <a:latin typeface="Arial"/>
              </a:rPr>
              <a:t>Synthetic profiles change feature priority, not biological sample size.</a:t>
            </a:r>
          </a:p>
        </p:txBody>
      </p:sp>
      <p:sp>
        <p:nvSpPr>
          <p:cNvPr id="135" name="TextBox 134"/>
          <p:cNvSpPr txBox="1"/>
          <p:nvPr/>
        </p:nvSpPr>
        <p:spPr>
          <a:xfrm>
            <a:off x="6126480" y="5797296"/>
            <a:ext cx="5093208" cy="301752"/>
          </a:xfrm>
          <a:prstGeom prst="rect">
            <a:avLst/>
          </a:prstGeom>
          <a:noFill/>
        </p:spPr>
        <p:txBody>
          <a:bodyPr wrap="square" lIns="0" rIns="0" tIns="0" bIns="0" anchor="ctr">
            <a:spAutoFit/>
          </a:bodyPr>
          <a:lstStyle/>
          <a:p>
            <a:pPr algn="r">
              <a:spcAft>
                <a:spcPts val="0"/>
              </a:spcAft>
            </a:pPr>
            <a:r>
              <a:rPr sz="1150" b="0" i="0">
                <a:solidFill>
                  <a:srgbClr val="DCE7F2"/>
                </a:solidFill>
                <a:latin typeface="Arial"/>
              </a:rPr>
              <a:t>FLT-GC effects and BH FDR still use observed OSDR profiles.</a:t>
            </a:r>
          </a:p>
        </p:txBody>
      </p:sp>
      <p:sp>
        <p:nvSpPr>
          <p:cNvPr id="136" name="TextBox 135"/>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Rank bars and classifier views are schematic. Thymus split counts are observed results from Table S10.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UTILITY</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Pooled training missed improvements seen within tissues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pooled FLT/GC classifier declined, while several tissue-specific classifiers improved.</a:t>
            </a:r>
          </a:p>
        </p:txBody>
      </p:sp>
      <p:sp>
        <p:nvSpPr>
          <p:cNvPr id="7" name="Rectangle 6"/>
          <p:cNvSpPr/>
          <p:nvPr/>
        </p:nvSpPr>
        <p:spPr>
          <a:xfrm>
            <a:off x="438912" y="1874519"/>
            <a:ext cx="3017520" cy="32004"/>
          </a:xfrm>
          <a:prstGeom prst="rect">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2057400"/>
            <a:ext cx="2651760" cy="320040"/>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Pooled across tissues</a:t>
            </a:r>
          </a:p>
        </p:txBody>
      </p:sp>
      <p:sp>
        <p:nvSpPr>
          <p:cNvPr id="9" name="TextBox 8"/>
          <p:cNvSpPr txBox="1"/>
          <p:nvPr/>
        </p:nvSpPr>
        <p:spPr>
          <a:xfrm rot="16200000">
            <a:off x="-256032" y="3977639"/>
            <a:ext cx="1417320" cy="256032"/>
          </a:xfrm>
          <a:prstGeom prst="rect">
            <a:avLst/>
          </a:prstGeom>
          <a:noFill/>
        </p:spPr>
        <p:txBody>
          <a:bodyPr wrap="square" lIns="0" rIns="0" tIns="0" bIns="0" anchor="t">
            <a:spAutoFit/>
          </a:bodyPr>
          <a:lstStyle/>
          <a:p>
            <a:pPr algn="ctr">
              <a:spcAft>
                <a:spcPts val="0"/>
              </a:spcAft>
            </a:pPr>
            <a:r>
              <a:rPr sz="1050" b="1" i="0">
                <a:solidFill>
                  <a:srgbClr val="59697A"/>
                </a:solidFill>
                <a:latin typeface="Arial"/>
              </a:rPr>
              <a:t>Balanced accuracy</a:t>
            </a:r>
          </a:p>
        </p:txBody>
      </p:sp>
      <p:sp>
        <p:nvSpPr>
          <p:cNvPr id="10" name="Rectangle 9"/>
          <p:cNvSpPr/>
          <p:nvPr/>
        </p:nvSpPr>
        <p:spPr>
          <a:xfrm>
            <a:off x="877824" y="5486400"/>
            <a:ext cx="2432304" cy="10972"/>
          </a:xfrm>
          <a:prstGeom prst="rect">
            <a:avLst/>
          </a:prstGeom>
          <a:solidFill>
            <a:srgbClr val="D8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0936" y="5394960"/>
            <a:ext cx="201168" cy="182880"/>
          </a:xfrm>
          <a:prstGeom prst="rect">
            <a:avLst/>
          </a:prstGeom>
          <a:noFill/>
        </p:spPr>
        <p:txBody>
          <a:bodyPr wrap="square" lIns="0" rIns="0" tIns="0" bIns="0" anchor="t">
            <a:spAutoFit/>
          </a:bodyPr>
          <a:lstStyle/>
          <a:p>
            <a:pPr algn="r">
              <a:spcAft>
                <a:spcPts val="0"/>
              </a:spcAft>
            </a:pPr>
            <a:r>
              <a:rPr sz="850" b="0" i="0">
                <a:solidFill>
                  <a:srgbClr val="8A969E"/>
                </a:solidFill>
                <a:latin typeface="Arial"/>
              </a:rPr>
              <a:t>0</a:t>
            </a:r>
          </a:p>
        </p:txBody>
      </p:sp>
      <p:sp>
        <p:nvSpPr>
          <p:cNvPr id="12" name="Rectangle 11"/>
          <p:cNvSpPr/>
          <p:nvPr/>
        </p:nvSpPr>
        <p:spPr>
          <a:xfrm>
            <a:off x="877824" y="4114800"/>
            <a:ext cx="2432304" cy="10972"/>
          </a:xfrm>
          <a:prstGeom prst="rect">
            <a:avLst/>
          </a:prstGeom>
          <a:solidFill>
            <a:srgbClr val="D8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0936" y="4023360"/>
            <a:ext cx="201168" cy="182880"/>
          </a:xfrm>
          <a:prstGeom prst="rect">
            <a:avLst/>
          </a:prstGeom>
          <a:noFill/>
        </p:spPr>
        <p:txBody>
          <a:bodyPr wrap="square" lIns="0" rIns="0" tIns="0" bIns="0" anchor="t">
            <a:spAutoFit/>
          </a:bodyPr>
          <a:lstStyle/>
          <a:p>
            <a:pPr algn="r">
              <a:spcAft>
                <a:spcPts val="0"/>
              </a:spcAft>
            </a:pPr>
            <a:r>
              <a:rPr sz="850" b="0" i="0">
                <a:solidFill>
                  <a:srgbClr val="8A969E"/>
                </a:solidFill>
                <a:latin typeface="Arial"/>
              </a:rPr>
              <a:t>0.5</a:t>
            </a:r>
          </a:p>
        </p:txBody>
      </p:sp>
      <p:sp>
        <p:nvSpPr>
          <p:cNvPr id="14" name="Rectangle 13"/>
          <p:cNvSpPr/>
          <p:nvPr/>
        </p:nvSpPr>
        <p:spPr>
          <a:xfrm>
            <a:off x="877824" y="2743200"/>
            <a:ext cx="2432304" cy="10972"/>
          </a:xfrm>
          <a:prstGeom prst="rect">
            <a:avLst/>
          </a:prstGeom>
          <a:solidFill>
            <a:srgbClr val="D8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0936" y="2651760"/>
            <a:ext cx="201168" cy="182880"/>
          </a:xfrm>
          <a:prstGeom prst="rect">
            <a:avLst/>
          </a:prstGeom>
          <a:noFill/>
        </p:spPr>
        <p:txBody>
          <a:bodyPr wrap="square" lIns="0" rIns="0" tIns="0" bIns="0" anchor="t">
            <a:spAutoFit/>
          </a:bodyPr>
          <a:lstStyle/>
          <a:p>
            <a:pPr algn="r">
              <a:spcAft>
                <a:spcPts val="0"/>
              </a:spcAft>
            </a:pPr>
            <a:r>
              <a:rPr sz="850" b="0" i="0">
                <a:solidFill>
                  <a:srgbClr val="8A969E"/>
                </a:solidFill>
                <a:latin typeface="Arial"/>
              </a:rPr>
              <a:t>1.0</a:t>
            </a:r>
          </a:p>
        </p:txBody>
      </p:sp>
      <p:sp>
        <p:nvSpPr>
          <p:cNvPr id="16" name="Rectangle 15"/>
          <p:cNvSpPr/>
          <p:nvPr/>
        </p:nvSpPr>
        <p:spPr>
          <a:xfrm>
            <a:off x="905256" y="3418027"/>
            <a:ext cx="566928" cy="206837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2104" y="3097987"/>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0.754</a:t>
            </a:r>
          </a:p>
        </p:txBody>
      </p:sp>
      <p:sp>
        <p:nvSpPr>
          <p:cNvPr id="18" name="TextBox 17"/>
          <p:cNvSpPr txBox="1"/>
          <p:nvPr/>
        </p:nvSpPr>
        <p:spPr>
          <a:xfrm>
            <a:off x="786384" y="5559552"/>
            <a:ext cx="804672" cy="292608"/>
          </a:xfrm>
          <a:prstGeom prst="rect">
            <a:avLst/>
          </a:prstGeom>
          <a:noFill/>
        </p:spPr>
        <p:txBody>
          <a:bodyPr wrap="square" lIns="0" rIns="0" tIns="0" bIns="0" anchor="t">
            <a:spAutoFit/>
          </a:bodyPr>
          <a:lstStyle/>
          <a:p>
            <a:pPr algn="ctr">
              <a:spcAft>
                <a:spcPts val="0"/>
              </a:spcAft>
            </a:pPr>
            <a:r>
              <a:rPr sz="900" b="0" i="0">
                <a:solidFill>
                  <a:srgbClr val="263746"/>
                </a:solidFill>
                <a:latin typeface="Arial"/>
              </a:rPr>
              <a:t>Real</a:t>
            </a:r>
          </a:p>
        </p:txBody>
      </p:sp>
      <p:sp>
        <p:nvSpPr>
          <p:cNvPr id="19" name="Rectangle 18"/>
          <p:cNvSpPr/>
          <p:nvPr/>
        </p:nvSpPr>
        <p:spPr>
          <a:xfrm>
            <a:off x="1719072" y="3579876"/>
            <a:ext cx="566928" cy="1906524"/>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45919" y="3259836"/>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0.695</a:t>
            </a:r>
          </a:p>
        </p:txBody>
      </p:sp>
      <p:sp>
        <p:nvSpPr>
          <p:cNvPr id="21" name="TextBox 20"/>
          <p:cNvSpPr txBox="1"/>
          <p:nvPr/>
        </p:nvSpPr>
        <p:spPr>
          <a:xfrm>
            <a:off x="1600200" y="5559552"/>
            <a:ext cx="804672" cy="292608"/>
          </a:xfrm>
          <a:prstGeom prst="rect">
            <a:avLst/>
          </a:prstGeom>
          <a:noFill/>
        </p:spPr>
        <p:txBody>
          <a:bodyPr wrap="square" lIns="0" rIns="0" tIns="0" bIns="0" anchor="t">
            <a:spAutoFit/>
          </a:bodyPr>
          <a:lstStyle/>
          <a:p>
            <a:pPr algn="ctr">
              <a:spcAft>
                <a:spcPts val="0"/>
              </a:spcAft>
            </a:pPr>
            <a:r>
              <a:rPr sz="900" b="0" i="0">
                <a:solidFill>
                  <a:srgbClr val="263746"/>
                </a:solidFill>
                <a:latin typeface="Arial"/>
              </a:rPr>
              <a:t>Generated</a:t>
            </a:r>
          </a:p>
        </p:txBody>
      </p:sp>
      <p:sp>
        <p:nvSpPr>
          <p:cNvPr id="22" name="Rectangle 21"/>
          <p:cNvSpPr/>
          <p:nvPr/>
        </p:nvSpPr>
        <p:spPr>
          <a:xfrm>
            <a:off x="2532888" y="3464661"/>
            <a:ext cx="566928" cy="202173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459736" y="3144621"/>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0.737</a:t>
            </a:r>
          </a:p>
        </p:txBody>
      </p:sp>
      <p:sp>
        <p:nvSpPr>
          <p:cNvPr id="24" name="TextBox 23"/>
          <p:cNvSpPr txBox="1"/>
          <p:nvPr/>
        </p:nvSpPr>
        <p:spPr>
          <a:xfrm>
            <a:off x="2414016" y="5559552"/>
            <a:ext cx="804672" cy="292608"/>
          </a:xfrm>
          <a:prstGeom prst="rect">
            <a:avLst/>
          </a:prstGeom>
          <a:noFill/>
        </p:spPr>
        <p:txBody>
          <a:bodyPr wrap="square" lIns="0" rIns="0" tIns="0" bIns="0" anchor="t">
            <a:spAutoFit/>
          </a:bodyPr>
          <a:lstStyle/>
          <a:p>
            <a:pPr algn="ctr">
              <a:spcAft>
                <a:spcPts val="0"/>
              </a:spcAft>
            </a:pPr>
            <a:r>
              <a:rPr sz="900" b="0" i="0">
                <a:solidFill>
                  <a:srgbClr val="263746"/>
                </a:solidFill>
                <a:latin typeface="Arial"/>
              </a:rPr>
              <a:t>Real + synth.</a:t>
            </a:r>
          </a:p>
        </p:txBody>
      </p:sp>
      <p:sp>
        <p:nvSpPr>
          <p:cNvPr id="25" name="Rectangle 24"/>
          <p:cNvSpPr/>
          <p:nvPr/>
        </p:nvSpPr>
        <p:spPr>
          <a:xfrm>
            <a:off x="877824" y="5486400"/>
            <a:ext cx="2432304" cy="18288"/>
          </a:xfrm>
          <a:prstGeom prst="rect">
            <a:avLst/>
          </a:prstGeom>
          <a:solidFill>
            <a:srgbClr val="86949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39312" y="1874519"/>
            <a:ext cx="13716" cy="4160520"/>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86200" y="1874519"/>
            <a:ext cx="7754112" cy="3200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41648" y="2057400"/>
            <a:ext cx="3840480" cy="310896"/>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Selected use within each tissue</a:t>
            </a:r>
          </a:p>
        </p:txBody>
      </p:sp>
      <p:pic>
        <p:nvPicPr>
          <p:cNvPr id="29" name="Balanced accuracy before and after tissue-specific synthetic use" descr="Balanced accuracy before and after tissue-specific synthetic use"/>
          <p:cNvPicPr>
            <a:picLocks noChangeAspect="1"/>
          </p:cNvPicPr>
          <p:nvPr/>
        </p:nvPicPr>
        <p:blipFill>
          <a:blip r:embed="rId2"/>
          <a:stretch>
            <a:fillRect/>
          </a:stretch>
        </p:blipFill>
        <p:spPr>
          <a:xfrm>
            <a:off x="4743130" y="2423160"/>
            <a:ext cx="6021963" cy="3383280"/>
          </a:xfrm>
          <a:prstGeom prst="rect">
            <a:avLst/>
          </a:prstGeom>
        </p:spPr>
      </p:pic>
      <p:sp>
        <p:nvSpPr>
          <p:cNvPr id="30" name="TextBox 29"/>
          <p:cNvSpPr txBox="1"/>
          <p:nvPr/>
        </p:nvSpPr>
        <p:spPr>
          <a:xfrm>
            <a:off x="4059936" y="5715000"/>
            <a:ext cx="4114800" cy="246888"/>
          </a:xfrm>
          <a:prstGeom prst="rect">
            <a:avLst/>
          </a:prstGeom>
          <a:noFill/>
        </p:spPr>
        <p:txBody>
          <a:bodyPr wrap="square" lIns="18288" rIns="18288" tIns="18288" bIns="18288" anchor="t">
            <a:spAutoFit/>
          </a:bodyPr>
          <a:lstStyle/>
          <a:p>
            <a:pPr algn="l">
              <a:spcAft>
                <a:spcPts val="0"/>
              </a:spcAft>
            </a:pPr>
            <a:r>
              <a:rPr sz="1250" b="0" i="1">
                <a:solidFill>
                  <a:srgbClr val="59697A"/>
                </a:solidFill>
                <a:latin typeface="Arial"/>
              </a:rPr>
              <a:t>The useful arm differed by tissue.</a:t>
            </a:r>
          </a:p>
        </p:txBody>
      </p:sp>
      <p:sp>
        <p:nvSpPr>
          <p:cNvPr id="31" name="TextBox 3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Development results with held-out profiles from represented accessions; they do not measure transfer to a new mission.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FEATURE ANALYSIS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Synthetic guidance changed ranking, not statistical evidence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Blue marks real-only selection; teal marks synthetic-guided selection. Every displayed association has real OSDR support.</a:t>
            </a:r>
          </a:p>
        </p:txBody>
      </p:sp>
      <p:sp>
        <p:nvSpPr>
          <p:cNvPr id="7" name="TextBox 6"/>
          <p:cNvSpPr txBox="1"/>
          <p:nvPr/>
        </p:nvSpPr>
        <p:spPr>
          <a:xfrm>
            <a:off x="566928" y="1847088"/>
            <a:ext cx="3931920" cy="274320"/>
          </a:xfrm>
          <a:prstGeom prst="rect">
            <a:avLst/>
          </a:prstGeom>
          <a:noFill/>
        </p:spPr>
        <p:txBody>
          <a:bodyPr wrap="square" lIns="0" rIns="0" tIns="0" bIns="0" anchor="t">
            <a:spAutoFit/>
          </a:bodyPr>
          <a:lstStyle/>
          <a:p>
            <a:pPr algn="l">
              <a:spcAft>
                <a:spcPts val="0"/>
              </a:spcAft>
            </a:pPr>
            <a:r>
              <a:rPr sz="1550" b="1" i="0">
                <a:solidFill>
                  <a:srgbClr val="082B55"/>
                </a:solidFill>
                <a:latin typeface="Arial"/>
              </a:rPr>
              <a:t>Stable selection after real-data support</a:t>
            </a:r>
          </a:p>
        </p:txBody>
      </p:sp>
      <p:sp>
        <p:nvSpPr>
          <p:cNvPr id="8" name="Oval 7"/>
          <p:cNvSpPr/>
          <p:nvPr/>
        </p:nvSpPr>
        <p:spPr>
          <a:xfrm>
            <a:off x="585216" y="2212848"/>
            <a:ext cx="118872" cy="11887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2157984"/>
            <a:ext cx="2212848" cy="228600"/>
          </a:xfrm>
          <a:prstGeom prst="rect">
            <a:avLst/>
          </a:prstGeom>
          <a:noFill/>
        </p:spPr>
        <p:txBody>
          <a:bodyPr wrap="square" lIns="0" rIns="0" tIns="0" bIns="0" anchor="t">
            <a:spAutoFit/>
          </a:bodyPr>
          <a:lstStyle/>
          <a:p>
            <a:pPr algn="l">
              <a:spcAft>
                <a:spcPts val="0"/>
              </a:spcAft>
            </a:pPr>
            <a:r>
              <a:rPr sz="1050" b="1" i="0">
                <a:solidFill>
                  <a:srgbClr val="2D6496"/>
                </a:solidFill>
                <a:latin typeface="Arial"/>
              </a:rPr>
              <a:t>Blue: stable in real-only ranking</a:t>
            </a:r>
          </a:p>
        </p:txBody>
      </p:sp>
      <p:sp>
        <p:nvSpPr>
          <p:cNvPr id="10" name="Oval 9"/>
          <p:cNvSpPr/>
          <p:nvPr/>
        </p:nvSpPr>
        <p:spPr>
          <a:xfrm>
            <a:off x="3136392" y="2212848"/>
            <a:ext cx="118872" cy="11887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37560" y="2157984"/>
            <a:ext cx="2724912" cy="228600"/>
          </a:xfrm>
          <a:prstGeom prst="rect">
            <a:avLst/>
          </a:prstGeom>
          <a:noFill/>
        </p:spPr>
        <p:txBody>
          <a:bodyPr wrap="square" lIns="0" rIns="0" tIns="0" bIns="0" anchor="t">
            <a:spAutoFit/>
          </a:bodyPr>
          <a:lstStyle/>
          <a:p>
            <a:pPr algn="l">
              <a:spcAft>
                <a:spcPts val="0"/>
              </a:spcAft>
            </a:pPr>
            <a:r>
              <a:rPr sz="1050" b="1" i="0">
                <a:solidFill>
                  <a:srgbClr val="178681"/>
                </a:solidFill>
                <a:latin typeface="Arial"/>
              </a:rPr>
              <a:t>Teal: stable in synthetic-guided ranking</a:t>
            </a:r>
          </a:p>
        </p:txBody>
      </p:sp>
      <p:sp>
        <p:nvSpPr>
          <p:cNvPr id="12" name="Oval 11"/>
          <p:cNvSpPr/>
          <p:nvPr/>
        </p:nvSpPr>
        <p:spPr>
          <a:xfrm>
            <a:off x="566928" y="2542032"/>
            <a:ext cx="3529584" cy="2542032"/>
          </a:xfrm>
          <a:prstGeom prst="ellipse">
            <a:avLst/>
          </a:prstGeom>
          <a:solidFill>
            <a:srgbClr val="2D6496">
              <a:alpha val="18000"/>
            </a:srgbClr>
          </a:solidFill>
          <a:ln w="3302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743200" y="2542032"/>
            <a:ext cx="3529584" cy="2542032"/>
          </a:xfrm>
          <a:prstGeom prst="ellipse">
            <a:avLst/>
          </a:prstGeom>
          <a:solidFill>
            <a:srgbClr val="178681">
              <a:alpha val="20000"/>
            </a:srgbClr>
          </a:solidFill>
          <a:ln w="3302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60704" y="3127248"/>
            <a:ext cx="1298448" cy="438912"/>
          </a:xfrm>
          <a:prstGeom prst="rect">
            <a:avLst/>
          </a:prstGeom>
          <a:noFill/>
        </p:spPr>
        <p:txBody>
          <a:bodyPr wrap="square" lIns="0" rIns="0" tIns="0" bIns="0" anchor="t">
            <a:spAutoFit/>
          </a:bodyPr>
          <a:lstStyle/>
          <a:p>
            <a:pPr algn="ctr">
              <a:spcAft>
                <a:spcPts val="0"/>
              </a:spcAft>
            </a:pPr>
            <a:r>
              <a:rPr sz="2900" b="1" i="0">
                <a:solidFill>
                  <a:srgbClr val="2D6496"/>
                </a:solidFill>
                <a:latin typeface="Arial"/>
              </a:rPr>
              <a:t>34</a:t>
            </a:r>
          </a:p>
        </p:txBody>
      </p:sp>
      <p:sp>
        <p:nvSpPr>
          <p:cNvPr id="15" name="TextBox 14"/>
          <p:cNvSpPr txBox="1"/>
          <p:nvPr/>
        </p:nvSpPr>
        <p:spPr>
          <a:xfrm>
            <a:off x="1024128" y="3593592"/>
            <a:ext cx="1371600" cy="274320"/>
          </a:xfrm>
          <a:prstGeom prst="rect">
            <a:avLst/>
          </a:prstGeom>
          <a:noFill/>
        </p:spPr>
        <p:txBody>
          <a:bodyPr wrap="square" lIns="0" rIns="0" tIns="0" bIns="0" anchor="t">
            <a:spAutoFit/>
          </a:bodyPr>
          <a:lstStyle/>
          <a:p>
            <a:pPr algn="ctr">
              <a:spcAft>
                <a:spcPts val="0"/>
              </a:spcAft>
            </a:pPr>
            <a:r>
              <a:rPr sz="1450" b="1" i="0">
                <a:solidFill>
                  <a:srgbClr val="082B55"/>
                </a:solidFill>
                <a:latin typeface="Arial"/>
              </a:rPr>
              <a:t>real-only</a:t>
            </a:r>
          </a:p>
        </p:txBody>
      </p:sp>
      <p:sp>
        <p:nvSpPr>
          <p:cNvPr id="16" name="TextBox 15"/>
          <p:cNvSpPr txBox="1"/>
          <p:nvPr/>
        </p:nvSpPr>
        <p:spPr>
          <a:xfrm>
            <a:off x="941832" y="3941063"/>
            <a:ext cx="1536192" cy="219456"/>
          </a:xfrm>
          <a:prstGeom prst="rect">
            <a:avLst/>
          </a:prstGeom>
          <a:noFill/>
        </p:spPr>
        <p:txBody>
          <a:bodyPr wrap="square" lIns="0" rIns="0" tIns="0" bIns="0" anchor="t">
            <a:spAutoFit/>
          </a:bodyPr>
          <a:lstStyle/>
          <a:p>
            <a:pPr algn="ctr">
              <a:spcAft>
                <a:spcPts val="0"/>
              </a:spcAft>
            </a:pPr>
            <a:r>
              <a:rPr sz="919" b="1" i="0">
                <a:solidFill>
                  <a:srgbClr val="2D6496"/>
                </a:solidFill>
                <a:latin typeface="Arial"/>
              </a:rPr>
              <a:t>WITHOUT GUIDANCE</a:t>
            </a:r>
          </a:p>
        </p:txBody>
      </p:sp>
      <p:sp>
        <p:nvSpPr>
          <p:cNvPr id="17" name="TextBox 16"/>
          <p:cNvSpPr txBox="1"/>
          <p:nvPr/>
        </p:nvSpPr>
        <p:spPr>
          <a:xfrm>
            <a:off x="2889504" y="3127248"/>
            <a:ext cx="1069848" cy="438912"/>
          </a:xfrm>
          <a:prstGeom prst="rect">
            <a:avLst/>
          </a:prstGeom>
          <a:noFill/>
        </p:spPr>
        <p:txBody>
          <a:bodyPr wrap="square" lIns="0" rIns="0" tIns="0" bIns="0" anchor="t">
            <a:spAutoFit/>
          </a:bodyPr>
          <a:lstStyle/>
          <a:p>
            <a:pPr algn="ctr">
              <a:spcAft>
                <a:spcPts val="0"/>
              </a:spcAft>
            </a:pPr>
            <a:r>
              <a:rPr sz="2900" b="1" i="0">
                <a:solidFill>
                  <a:srgbClr val="D37B00"/>
                </a:solidFill>
                <a:latin typeface="Arial"/>
              </a:rPr>
              <a:t>23</a:t>
            </a:r>
          </a:p>
        </p:txBody>
      </p:sp>
      <p:sp>
        <p:nvSpPr>
          <p:cNvPr id="18" name="TextBox 17"/>
          <p:cNvSpPr txBox="1"/>
          <p:nvPr/>
        </p:nvSpPr>
        <p:spPr>
          <a:xfrm>
            <a:off x="2834640" y="3593592"/>
            <a:ext cx="1179576" cy="274320"/>
          </a:xfrm>
          <a:prstGeom prst="rect">
            <a:avLst/>
          </a:prstGeom>
          <a:noFill/>
        </p:spPr>
        <p:txBody>
          <a:bodyPr wrap="square" lIns="0" rIns="0" tIns="0" bIns="0" anchor="t">
            <a:spAutoFit/>
          </a:bodyPr>
          <a:lstStyle/>
          <a:p>
            <a:pPr algn="ctr">
              <a:spcAft>
                <a:spcPts val="0"/>
              </a:spcAft>
            </a:pPr>
            <a:r>
              <a:rPr sz="1320" b="1" i="0">
                <a:solidFill>
                  <a:srgbClr val="082B55"/>
                </a:solidFill>
                <a:latin typeface="Arial"/>
              </a:rPr>
              <a:t>reinforced</a:t>
            </a:r>
          </a:p>
        </p:txBody>
      </p:sp>
      <p:sp>
        <p:nvSpPr>
          <p:cNvPr id="19" name="TextBox 18"/>
          <p:cNvSpPr txBox="1"/>
          <p:nvPr/>
        </p:nvSpPr>
        <p:spPr>
          <a:xfrm>
            <a:off x="2779776" y="3941063"/>
            <a:ext cx="1280160" cy="219456"/>
          </a:xfrm>
          <a:prstGeom prst="rect">
            <a:avLst/>
          </a:prstGeom>
          <a:noFill/>
        </p:spPr>
        <p:txBody>
          <a:bodyPr wrap="square" lIns="0" rIns="0" tIns="0" bIns="0" anchor="t">
            <a:spAutoFit/>
          </a:bodyPr>
          <a:lstStyle/>
          <a:p>
            <a:pPr algn="ctr">
              <a:spcAft>
                <a:spcPts val="0"/>
              </a:spcAft>
            </a:pPr>
            <a:r>
              <a:rPr sz="919" b="1" i="0">
                <a:solidFill>
                  <a:srgbClr val="D37B00"/>
                </a:solidFill>
                <a:latin typeface="Arial"/>
              </a:rPr>
              <a:t>BOTH RANKINGS</a:t>
            </a:r>
          </a:p>
        </p:txBody>
      </p:sp>
      <p:sp>
        <p:nvSpPr>
          <p:cNvPr id="20" name="TextBox 19"/>
          <p:cNvSpPr txBox="1"/>
          <p:nvPr/>
        </p:nvSpPr>
        <p:spPr>
          <a:xfrm>
            <a:off x="4471416" y="3127248"/>
            <a:ext cx="1371600" cy="438912"/>
          </a:xfrm>
          <a:prstGeom prst="rect">
            <a:avLst/>
          </a:prstGeom>
          <a:noFill/>
        </p:spPr>
        <p:txBody>
          <a:bodyPr wrap="square" lIns="0" rIns="0" tIns="0" bIns="0" anchor="t">
            <a:spAutoFit/>
          </a:bodyPr>
          <a:lstStyle/>
          <a:p>
            <a:pPr algn="ctr">
              <a:spcAft>
                <a:spcPts val="0"/>
              </a:spcAft>
            </a:pPr>
            <a:r>
              <a:rPr sz="2900" b="1" i="0">
                <a:solidFill>
                  <a:srgbClr val="178681"/>
                </a:solidFill>
                <a:latin typeface="Arial"/>
              </a:rPr>
              <a:t>26</a:t>
            </a:r>
          </a:p>
        </p:txBody>
      </p:sp>
      <p:sp>
        <p:nvSpPr>
          <p:cNvPr id="21" name="TextBox 20"/>
          <p:cNvSpPr txBox="1"/>
          <p:nvPr/>
        </p:nvSpPr>
        <p:spPr>
          <a:xfrm>
            <a:off x="4471416" y="3593592"/>
            <a:ext cx="1371600" cy="274320"/>
          </a:xfrm>
          <a:prstGeom prst="rect">
            <a:avLst/>
          </a:prstGeom>
          <a:noFill/>
        </p:spPr>
        <p:txBody>
          <a:bodyPr wrap="square" lIns="0" rIns="0" tIns="0" bIns="0" anchor="t">
            <a:spAutoFit/>
          </a:bodyPr>
          <a:lstStyle/>
          <a:p>
            <a:pPr algn="ctr">
              <a:spcAft>
                <a:spcPts val="0"/>
              </a:spcAft>
            </a:pPr>
            <a:r>
              <a:rPr sz="1450" b="1" i="0">
                <a:solidFill>
                  <a:srgbClr val="082B55"/>
                </a:solidFill>
                <a:latin typeface="Arial"/>
              </a:rPr>
              <a:t>promoted</a:t>
            </a:r>
          </a:p>
        </p:txBody>
      </p:sp>
      <p:sp>
        <p:nvSpPr>
          <p:cNvPr id="22" name="TextBox 21"/>
          <p:cNvSpPr txBox="1"/>
          <p:nvPr/>
        </p:nvSpPr>
        <p:spPr>
          <a:xfrm>
            <a:off x="4389120" y="3941063"/>
            <a:ext cx="1536192" cy="219456"/>
          </a:xfrm>
          <a:prstGeom prst="rect">
            <a:avLst/>
          </a:prstGeom>
          <a:noFill/>
        </p:spPr>
        <p:txBody>
          <a:bodyPr wrap="square" lIns="0" rIns="0" tIns="0" bIns="0" anchor="t">
            <a:spAutoFit/>
          </a:bodyPr>
          <a:lstStyle/>
          <a:p>
            <a:pPr algn="ctr">
              <a:spcAft>
                <a:spcPts val="0"/>
              </a:spcAft>
            </a:pPr>
            <a:r>
              <a:rPr sz="919" b="1" i="0">
                <a:solidFill>
                  <a:srgbClr val="178681"/>
                </a:solidFill>
                <a:latin typeface="Arial"/>
              </a:rPr>
              <a:t>GUIDANCE ONLY</a:t>
            </a:r>
          </a:p>
        </p:txBody>
      </p:sp>
      <p:sp>
        <p:nvSpPr>
          <p:cNvPr id="23" name="Rectangle 22"/>
          <p:cNvSpPr/>
          <p:nvPr/>
        </p:nvSpPr>
        <p:spPr>
          <a:xfrm>
            <a:off x="6565392" y="1920240"/>
            <a:ext cx="16459" cy="3639312"/>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85432" y="2221992"/>
            <a:ext cx="4498848" cy="365760"/>
          </a:xfrm>
          <a:prstGeom prst="rect">
            <a:avLst/>
          </a:prstGeom>
          <a:noFill/>
        </p:spPr>
        <p:txBody>
          <a:bodyPr wrap="square" lIns="18288" rIns="18288" tIns="18288" bIns="18288" anchor="t">
            <a:spAutoFit/>
          </a:bodyPr>
          <a:lstStyle/>
          <a:p>
            <a:pPr algn="ctr">
              <a:spcAft>
                <a:spcPts val="0"/>
              </a:spcAft>
            </a:pPr>
            <a:r>
              <a:rPr sz="2000" b="1" i="0">
                <a:solidFill>
                  <a:srgbClr val="082B55"/>
                </a:solidFill>
                <a:latin typeface="Arial"/>
              </a:rPr>
              <a:t>Real OSDR evidence gate</a:t>
            </a:r>
          </a:p>
        </p:txBody>
      </p:sp>
      <p:sp>
        <p:nvSpPr>
          <p:cNvPr id="25" name="Oval 24"/>
          <p:cNvSpPr/>
          <p:nvPr/>
        </p:nvSpPr>
        <p:spPr>
          <a:xfrm>
            <a:off x="7123176" y="2999232"/>
            <a:ext cx="91440" cy="9144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60920" y="2907792"/>
            <a:ext cx="3794760" cy="347472"/>
          </a:xfrm>
          <a:prstGeom prst="rect">
            <a:avLst/>
          </a:prstGeom>
          <a:noFill/>
        </p:spPr>
        <p:txBody>
          <a:bodyPr wrap="square" lIns="0" rIns="0" tIns="0" bIns="0" anchor="t">
            <a:spAutoFit/>
          </a:bodyPr>
          <a:lstStyle/>
          <a:p>
            <a:pPr algn="l">
              <a:spcAft>
                <a:spcPts val="0"/>
              </a:spcAft>
            </a:pPr>
            <a:r>
              <a:rPr sz="1420" b="0" i="0">
                <a:solidFill>
                  <a:srgbClr val="263746"/>
                </a:solidFill>
                <a:latin typeface="Arial"/>
              </a:rPr>
              <a:t>Estimate FLT vs GC inside each accession</a:t>
            </a:r>
          </a:p>
        </p:txBody>
      </p:sp>
      <p:sp>
        <p:nvSpPr>
          <p:cNvPr id="27" name="Oval 26"/>
          <p:cNvSpPr/>
          <p:nvPr/>
        </p:nvSpPr>
        <p:spPr>
          <a:xfrm>
            <a:off x="7123176" y="3584448"/>
            <a:ext cx="91440" cy="9144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60920" y="3493008"/>
            <a:ext cx="3794760" cy="530352"/>
          </a:xfrm>
          <a:prstGeom prst="rect">
            <a:avLst/>
          </a:prstGeom>
          <a:noFill/>
        </p:spPr>
        <p:txBody>
          <a:bodyPr wrap="square" lIns="0" rIns="0" tIns="0" bIns="0" anchor="t">
            <a:spAutoFit/>
          </a:bodyPr>
          <a:lstStyle/>
          <a:p>
            <a:pPr algn="l">
              <a:spcAft>
                <a:spcPts val="0"/>
              </a:spcAft>
            </a:pPr>
            <a:r>
              <a:rPr sz="1420" b="0" i="0">
                <a:solidFill>
                  <a:srgbClr val="263746"/>
                </a:solidFill>
                <a:latin typeface="Arial"/>
              </a:rPr>
              <a:t>Combine accession effects with a
random-effects model</a:t>
            </a:r>
          </a:p>
        </p:txBody>
      </p:sp>
      <p:sp>
        <p:nvSpPr>
          <p:cNvPr id="29" name="Oval 28"/>
          <p:cNvSpPr/>
          <p:nvPr/>
        </p:nvSpPr>
        <p:spPr>
          <a:xfrm>
            <a:off x="7123176" y="4325112"/>
            <a:ext cx="91440" cy="9144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60920" y="4233672"/>
            <a:ext cx="3794760" cy="347472"/>
          </a:xfrm>
          <a:prstGeom prst="rect">
            <a:avLst/>
          </a:prstGeom>
          <a:noFill/>
        </p:spPr>
        <p:txBody>
          <a:bodyPr wrap="square" lIns="0" rIns="0" tIns="0" bIns="0" anchor="t">
            <a:spAutoFit/>
          </a:bodyPr>
          <a:lstStyle/>
          <a:p>
            <a:pPr algn="l">
              <a:spcAft>
                <a:spcPts val="0"/>
              </a:spcAft>
            </a:pPr>
            <a:r>
              <a:rPr sz="1420" b="0" i="0">
                <a:solidFill>
                  <a:srgbClr val="263746"/>
                </a:solidFill>
                <a:latin typeface="Arial"/>
              </a:rPr>
              <a:t>Apply BH FDR within each tissue</a:t>
            </a:r>
          </a:p>
        </p:txBody>
      </p:sp>
      <p:sp>
        <p:nvSpPr>
          <p:cNvPr id="31" name="Rectangle 30"/>
          <p:cNvSpPr/>
          <p:nvPr/>
        </p:nvSpPr>
        <p:spPr>
          <a:xfrm>
            <a:off x="7022592" y="4700016"/>
            <a:ext cx="4078224" cy="713232"/>
          </a:xfrm>
          <a:prstGeom prst="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223760" y="4809744"/>
            <a:ext cx="3675887" cy="219456"/>
          </a:xfrm>
          <a:prstGeom prst="rect">
            <a:avLst/>
          </a:prstGeom>
          <a:noFill/>
        </p:spPr>
        <p:txBody>
          <a:bodyPr wrap="square" lIns="0" rIns="0" tIns="0" bIns="0" anchor="t">
            <a:spAutoFit/>
          </a:bodyPr>
          <a:lstStyle/>
          <a:p>
            <a:pPr algn="ctr">
              <a:spcAft>
                <a:spcPts val="0"/>
              </a:spcAft>
            </a:pPr>
            <a:r>
              <a:rPr sz="1150" b="1" i="0">
                <a:solidFill>
                  <a:srgbClr val="BFD0E1"/>
                </a:solidFill>
                <a:latin typeface="Arial"/>
              </a:rPr>
              <a:t>23 reinforced + 26 promoted</a:t>
            </a:r>
          </a:p>
        </p:txBody>
      </p:sp>
      <p:sp>
        <p:nvSpPr>
          <p:cNvPr id="33" name="TextBox 32"/>
          <p:cNvSpPr txBox="1"/>
          <p:nvPr/>
        </p:nvSpPr>
        <p:spPr>
          <a:xfrm>
            <a:off x="7205472" y="5047488"/>
            <a:ext cx="3712463" cy="256032"/>
          </a:xfrm>
          <a:prstGeom prst="rect">
            <a:avLst/>
          </a:prstGeom>
          <a:noFill/>
        </p:spPr>
        <p:txBody>
          <a:bodyPr wrap="square" lIns="0" rIns="0" tIns="0" bIns="0" anchor="t">
            <a:spAutoFit/>
          </a:bodyPr>
          <a:lstStyle/>
          <a:p>
            <a:pPr algn="ctr">
              <a:spcAft>
                <a:spcPts val="0"/>
              </a:spcAft>
            </a:pPr>
            <a:r>
              <a:rPr sz="1550" b="1" i="0">
                <a:solidFill>
                  <a:srgbClr val="FFFFFF"/>
                </a:solidFill>
                <a:latin typeface="Arial"/>
              </a:rPr>
              <a:t>49 synthetic-informed associations</a:t>
            </a:r>
          </a:p>
        </p:txBody>
      </p:sp>
      <p:sp>
        <p:nvSpPr>
          <p:cNvPr id="34" name="Rectangle 33"/>
          <p:cNvSpPr/>
          <p:nvPr/>
        </p:nvSpPr>
        <p:spPr>
          <a:xfrm>
            <a:off x="475488" y="5724144"/>
            <a:ext cx="11109960" cy="16459"/>
          </a:xfrm>
          <a:prstGeom prst="rect">
            <a:avLst/>
          </a:prstGeom>
          <a:solidFill>
            <a:srgbClr val="D6DE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8368" y="5843016"/>
            <a:ext cx="10744200" cy="237744"/>
          </a:xfrm>
          <a:prstGeom prst="rect">
            <a:avLst/>
          </a:prstGeom>
          <a:noFill/>
        </p:spPr>
        <p:txBody>
          <a:bodyPr wrap="square" lIns="18288" rIns="18288" tIns="18288" bIns="18288" anchor="t">
            <a:spAutoFit/>
          </a:bodyPr>
          <a:lstStyle/>
          <a:p>
            <a:pPr algn="ctr">
              <a:spcAft>
                <a:spcPts val="0"/>
              </a:spcAft>
            </a:pPr>
            <a:r>
              <a:rPr sz="1260" b="0" i="0">
                <a:solidFill>
                  <a:srgbClr val="59697A"/>
                </a:solidFill>
                <a:latin typeface="Arial"/>
              </a:rPr>
              <a:t>The 34 real-only associations remain real-data findings; synthetic guidance did not reinforce them.</a:t>
            </a:r>
          </a:p>
        </p:txBody>
      </p:sp>
      <p:sp>
        <p:nvSpPr>
          <p:cNvPr id="36" name="TextBox 35"/>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Counts are tissue-gene associations after BH FDR and compatible real-effect direction; genes may recur across tissues.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LITERATURE INTERPRETATION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Selection and literature are separate dimensions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All 49 synthetic-informed associations received both a selection status and a literature interpretation.</a:t>
            </a:r>
          </a:p>
        </p:txBody>
      </p:sp>
      <p:sp>
        <p:nvSpPr>
          <p:cNvPr id="7" name="TextBox 6"/>
          <p:cNvSpPr txBox="1"/>
          <p:nvPr/>
        </p:nvSpPr>
        <p:spPr>
          <a:xfrm>
            <a:off x="438912" y="1892807"/>
            <a:ext cx="365760" cy="219456"/>
          </a:xfrm>
          <a:prstGeom prst="rect">
            <a:avLst/>
          </a:prstGeom>
          <a:noFill/>
        </p:spPr>
        <p:txBody>
          <a:bodyPr wrap="square" lIns="0" rIns="0" tIns="0" bIns="0" anchor="t">
            <a:spAutoFit/>
          </a:bodyPr>
          <a:lstStyle/>
          <a:p>
            <a:pPr algn="l">
              <a:spcAft>
                <a:spcPts val="0"/>
              </a:spcAft>
            </a:pPr>
            <a:r>
              <a:rPr sz="1080" b="1" i="0">
                <a:solidFill>
                  <a:srgbClr val="2D6496"/>
                </a:solidFill>
                <a:latin typeface="Arial"/>
              </a:rPr>
              <a:t>01</a:t>
            </a:r>
          </a:p>
        </p:txBody>
      </p:sp>
      <p:sp>
        <p:nvSpPr>
          <p:cNvPr id="8" name="TextBox 7"/>
          <p:cNvSpPr txBox="1"/>
          <p:nvPr/>
        </p:nvSpPr>
        <p:spPr>
          <a:xfrm>
            <a:off x="877824" y="1847088"/>
            <a:ext cx="2103120" cy="274320"/>
          </a:xfrm>
          <a:prstGeom prst="rect">
            <a:avLst/>
          </a:prstGeom>
          <a:noFill/>
        </p:spPr>
        <p:txBody>
          <a:bodyPr wrap="square" lIns="0" rIns="0" tIns="0" bIns="0" anchor="t">
            <a:spAutoFit/>
          </a:bodyPr>
          <a:lstStyle/>
          <a:p>
            <a:pPr algn="l">
              <a:spcAft>
                <a:spcPts val="0"/>
              </a:spcAft>
            </a:pPr>
            <a:r>
              <a:rPr sz="1450" b="1" i="0">
                <a:solidFill>
                  <a:srgbClr val="082B55"/>
                </a:solidFill>
                <a:latin typeface="Arial"/>
              </a:rPr>
              <a:t>Fix the candidate</a:t>
            </a:r>
          </a:p>
        </p:txBody>
      </p:sp>
      <p:sp>
        <p:nvSpPr>
          <p:cNvPr id="9" name="TextBox 8"/>
          <p:cNvSpPr txBox="1"/>
          <p:nvPr/>
        </p:nvSpPr>
        <p:spPr>
          <a:xfrm>
            <a:off x="877824" y="2194560"/>
            <a:ext cx="2103120" cy="384048"/>
          </a:xfrm>
          <a:prstGeom prst="rect">
            <a:avLst/>
          </a:prstGeom>
          <a:noFill/>
        </p:spPr>
        <p:txBody>
          <a:bodyPr wrap="square" lIns="0" rIns="0" tIns="0" bIns="0" anchor="t">
            <a:spAutoFit/>
          </a:bodyPr>
          <a:lstStyle/>
          <a:p>
            <a:pPr algn="l">
              <a:spcAft>
                <a:spcPts val="0"/>
              </a:spcAft>
            </a:pPr>
            <a:r>
              <a:rPr sz="1080" b="0" i="0">
                <a:solidFill>
                  <a:srgbClr val="59697A"/>
                </a:solidFill>
                <a:latin typeface="Arial"/>
              </a:rPr>
              <a:t>Gene, tissue, and FLT direction</a:t>
            </a:r>
          </a:p>
        </p:txBody>
      </p:sp>
      <p:sp>
        <p:nvSpPr>
          <p:cNvPr id="10" name="Rectangle 9"/>
          <p:cNvSpPr/>
          <p:nvPr/>
        </p:nvSpPr>
        <p:spPr>
          <a:xfrm>
            <a:off x="438912" y="2697480"/>
            <a:ext cx="2487168" cy="2286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072384" y="1847088"/>
            <a:ext cx="10972" cy="868680"/>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28416" y="1892807"/>
            <a:ext cx="365760" cy="219456"/>
          </a:xfrm>
          <a:prstGeom prst="rect">
            <a:avLst/>
          </a:prstGeom>
          <a:noFill/>
        </p:spPr>
        <p:txBody>
          <a:bodyPr wrap="square" lIns="0" rIns="0" tIns="0" bIns="0" anchor="t">
            <a:spAutoFit/>
          </a:bodyPr>
          <a:lstStyle/>
          <a:p>
            <a:pPr algn="l">
              <a:spcAft>
                <a:spcPts val="0"/>
              </a:spcAft>
            </a:pPr>
            <a:r>
              <a:rPr sz="1080" b="1" i="0">
                <a:solidFill>
                  <a:srgbClr val="178681"/>
                </a:solidFill>
                <a:latin typeface="Arial"/>
              </a:rPr>
              <a:t>02</a:t>
            </a:r>
          </a:p>
        </p:txBody>
      </p:sp>
      <p:sp>
        <p:nvSpPr>
          <p:cNvPr id="13" name="TextBox 12"/>
          <p:cNvSpPr txBox="1"/>
          <p:nvPr/>
        </p:nvSpPr>
        <p:spPr>
          <a:xfrm>
            <a:off x="3767328" y="1847088"/>
            <a:ext cx="2103120" cy="274320"/>
          </a:xfrm>
          <a:prstGeom prst="rect">
            <a:avLst/>
          </a:prstGeom>
          <a:noFill/>
        </p:spPr>
        <p:txBody>
          <a:bodyPr wrap="square" lIns="0" rIns="0" tIns="0" bIns="0" anchor="t">
            <a:spAutoFit/>
          </a:bodyPr>
          <a:lstStyle/>
          <a:p>
            <a:pPr algn="l">
              <a:spcAft>
                <a:spcPts val="0"/>
              </a:spcAft>
            </a:pPr>
            <a:r>
              <a:rPr sz="1450" b="1" i="0">
                <a:solidFill>
                  <a:srgbClr val="082B55"/>
                </a:solidFill>
                <a:latin typeface="Arial"/>
              </a:rPr>
              <a:t>Search</a:t>
            </a:r>
          </a:p>
        </p:txBody>
      </p:sp>
      <p:sp>
        <p:nvSpPr>
          <p:cNvPr id="14" name="TextBox 13"/>
          <p:cNvSpPr txBox="1"/>
          <p:nvPr/>
        </p:nvSpPr>
        <p:spPr>
          <a:xfrm>
            <a:off x="3767328" y="2194560"/>
            <a:ext cx="2103120" cy="384048"/>
          </a:xfrm>
          <a:prstGeom prst="rect">
            <a:avLst/>
          </a:prstGeom>
          <a:noFill/>
        </p:spPr>
        <p:txBody>
          <a:bodyPr wrap="square" lIns="0" rIns="0" tIns="0" bIns="0" anchor="t">
            <a:spAutoFit/>
          </a:bodyPr>
          <a:lstStyle/>
          <a:p>
            <a:pPr algn="l">
              <a:spcAft>
                <a:spcPts val="0"/>
              </a:spcAft>
            </a:pPr>
            <a:r>
              <a:rPr sz="1080" b="0" i="0">
                <a:solidFill>
                  <a:srgbClr val="59697A"/>
                </a:solidFill>
                <a:latin typeface="Arial"/>
              </a:rPr>
              <a:t>Spaceflight and mechanism literature</a:t>
            </a:r>
          </a:p>
        </p:txBody>
      </p:sp>
      <p:sp>
        <p:nvSpPr>
          <p:cNvPr id="15" name="Rectangle 14"/>
          <p:cNvSpPr/>
          <p:nvPr/>
        </p:nvSpPr>
        <p:spPr>
          <a:xfrm>
            <a:off x="3328416" y="2697480"/>
            <a:ext cx="2487168"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961888" y="1847088"/>
            <a:ext cx="10972" cy="868680"/>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17920" y="1892807"/>
            <a:ext cx="365760" cy="219456"/>
          </a:xfrm>
          <a:prstGeom prst="rect">
            <a:avLst/>
          </a:prstGeom>
          <a:noFill/>
        </p:spPr>
        <p:txBody>
          <a:bodyPr wrap="square" lIns="0" rIns="0" tIns="0" bIns="0" anchor="t">
            <a:spAutoFit/>
          </a:bodyPr>
          <a:lstStyle/>
          <a:p>
            <a:pPr algn="l">
              <a:spcAft>
                <a:spcPts val="0"/>
              </a:spcAft>
            </a:pPr>
            <a:r>
              <a:rPr sz="1080" b="1" i="0">
                <a:solidFill>
                  <a:srgbClr val="D37B00"/>
                </a:solidFill>
                <a:latin typeface="Arial"/>
              </a:rPr>
              <a:t>03</a:t>
            </a:r>
          </a:p>
        </p:txBody>
      </p:sp>
      <p:sp>
        <p:nvSpPr>
          <p:cNvPr id="18" name="TextBox 17"/>
          <p:cNvSpPr txBox="1"/>
          <p:nvPr/>
        </p:nvSpPr>
        <p:spPr>
          <a:xfrm>
            <a:off x="6656832" y="1847088"/>
            <a:ext cx="2103120" cy="274320"/>
          </a:xfrm>
          <a:prstGeom prst="rect">
            <a:avLst/>
          </a:prstGeom>
          <a:noFill/>
        </p:spPr>
        <p:txBody>
          <a:bodyPr wrap="square" lIns="0" rIns="0" tIns="0" bIns="0" anchor="t">
            <a:spAutoFit/>
          </a:bodyPr>
          <a:lstStyle/>
          <a:p>
            <a:pPr algn="l">
              <a:spcAft>
                <a:spcPts val="0"/>
              </a:spcAft>
            </a:pPr>
            <a:r>
              <a:rPr sz="1450" b="1" i="0">
                <a:solidFill>
                  <a:srgbClr val="082B55"/>
                </a:solidFill>
                <a:latin typeface="Arial"/>
              </a:rPr>
              <a:t>Compare</a:t>
            </a:r>
          </a:p>
        </p:txBody>
      </p:sp>
      <p:sp>
        <p:nvSpPr>
          <p:cNvPr id="19" name="TextBox 18"/>
          <p:cNvSpPr txBox="1"/>
          <p:nvPr/>
        </p:nvSpPr>
        <p:spPr>
          <a:xfrm>
            <a:off x="6656832" y="2194560"/>
            <a:ext cx="2103120" cy="384048"/>
          </a:xfrm>
          <a:prstGeom prst="rect">
            <a:avLst/>
          </a:prstGeom>
          <a:noFill/>
        </p:spPr>
        <p:txBody>
          <a:bodyPr wrap="square" lIns="0" rIns="0" tIns="0" bIns="0" anchor="t">
            <a:spAutoFit/>
          </a:bodyPr>
          <a:lstStyle/>
          <a:p>
            <a:pPr algn="l">
              <a:spcAft>
                <a:spcPts val="0"/>
              </a:spcAft>
            </a:pPr>
            <a:r>
              <a:rPr sz="1080" b="0" i="0">
                <a:solidFill>
                  <a:srgbClr val="59697A"/>
                </a:solidFill>
                <a:latin typeface="Arial"/>
              </a:rPr>
              <a:t>Observed result with published evidence</a:t>
            </a:r>
          </a:p>
        </p:txBody>
      </p:sp>
      <p:sp>
        <p:nvSpPr>
          <p:cNvPr id="20" name="Rectangle 19"/>
          <p:cNvSpPr/>
          <p:nvPr/>
        </p:nvSpPr>
        <p:spPr>
          <a:xfrm>
            <a:off x="6217920" y="2697480"/>
            <a:ext cx="2487168"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851392" y="1847088"/>
            <a:ext cx="10972" cy="868680"/>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07424" y="1892807"/>
            <a:ext cx="365760" cy="219456"/>
          </a:xfrm>
          <a:prstGeom prst="rect">
            <a:avLst/>
          </a:prstGeom>
          <a:noFill/>
        </p:spPr>
        <p:txBody>
          <a:bodyPr wrap="square" lIns="0" rIns="0" tIns="0" bIns="0" anchor="t">
            <a:spAutoFit/>
          </a:bodyPr>
          <a:lstStyle/>
          <a:p>
            <a:pPr algn="l">
              <a:spcAft>
                <a:spcPts val="0"/>
              </a:spcAft>
            </a:pPr>
            <a:r>
              <a:rPr sz="1080" b="1" i="0">
                <a:solidFill>
                  <a:srgbClr val="8063A6"/>
                </a:solidFill>
                <a:latin typeface="Arial"/>
              </a:rPr>
              <a:t>04</a:t>
            </a:r>
          </a:p>
        </p:txBody>
      </p:sp>
      <p:sp>
        <p:nvSpPr>
          <p:cNvPr id="23" name="TextBox 22"/>
          <p:cNvSpPr txBox="1"/>
          <p:nvPr/>
        </p:nvSpPr>
        <p:spPr>
          <a:xfrm>
            <a:off x="9546336" y="1847088"/>
            <a:ext cx="2103120" cy="274320"/>
          </a:xfrm>
          <a:prstGeom prst="rect">
            <a:avLst/>
          </a:prstGeom>
          <a:noFill/>
        </p:spPr>
        <p:txBody>
          <a:bodyPr wrap="square" lIns="0" rIns="0" tIns="0" bIns="0" anchor="t">
            <a:spAutoFit/>
          </a:bodyPr>
          <a:lstStyle/>
          <a:p>
            <a:pPr algn="l">
              <a:spcAft>
                <a:spcPts val="0"/>
              </a:spcAft>
            </a:pPr>
            <a:r>
              <a:rPr sz="1450" b="1" i="0">
                <a:solidFill>
                  <a:srgbClr val="082B55"/>
                </a:solidFill>
                <a:latin typeface="Arial"/>
              </a:rPr>
              <a:t>Record</a:t>
            </a:r>
          </a:p>
        </p:txBody>
      </p:sp>
      <p:sp>
        <p:nvSpPr>
          <p:cNvPr id="24" name="TextBox 23"/>
          <p:cNvSpPr txBox="1"/>
          <p:nvPr/>
        </p:nvSpPr>
        <p:spPr>
          <a:xfrm>
            <a:off x="9546336" y="2194560"/>
            <a:ext cx="2103120" cy="384048"/>
          </a:xfrm>
          <a:prstGeom prst="rect">
            <a:avLst/>
          </a:prstGeom>
          <a:noFill/>
        </p:spPr>
        <p:txBody>
          <a:bodyPr wrap="square" lIns="0" rIns="0" tIns="0" bIns="0" anchor="t">
            <a:spAutoFit/>
          </a:bodyPr>
          <a:lstStyle/>
          <a:p>
            <a:pPr algn="l">
              <a:spcAft>
                <a:spcPts val="0"/>
              </a:spcAft>
            </a:pPr>
            <a:r>
              <a:rPr sz="1080" b="0" i="0">
                <a:solidFill>
                  <a:srgbClr val="59697A"/>
                </a:solidFill>
                <a:latin typeface="Arial"/>
              </a:rPr>
              <a:t>Category, rationale, and source IDs</a:t>
            </a:r>
          </a:p>
        </p:txBody>
      </p:sp>
      <p:sp>
        <p:nvSpPr>
          <p:cNvPr id="25" name="Rectangle 24"/>
          <p:cNvSpPr/>
          <p:nvPr/>
        </p:nvSpPr>
        <p:spPr>
          <a:xfrm>
            <a:off x="9107424" y="2697480"/>
            <a:ext cx="2487168"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3063240"/>
            <a:ext cx="3273552" cy="310896"/>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Selection status</a:t>
            </a:r>
          </a:p>
        </p:txBody>
      </p:sp>
      <p:sp>
        <p:nvSpPr>
          <p:cNvPr id="27" name="TextBox 26"/>
          <p:cNvSpPr txBox="1"/>
          <p:nvPr/>
        </p:nvSpPr>
        <p:spPr>
          <a:xfrm>
            <a:off x="502920" y="3630168"/>
            <a:ext cx="621792" cy="475488"/>
          </a:xfrm>
          <a:prstGeom prst="rect">
            <a:avLst/>
          </a:prstGeom>
          <a:noFill/>
        </p:spPr>
        <p:txBody>
          <a:bodyPr wrap="square" lIns="0" rIns="0" tIns="0" bIns="0" anchor="t">
            <a:spAutoFit/>
          </a:bodyPr>
          <a:lstStyle/>
          <a:p>
            <a:pPr algn="l">
              <a:spcAft>
                <a:spcPts val="0"/>
              </a:spcAft>
            </a:pPr>
            <a:r>
              <a:rPr sz="2900" b="1" i="0">
                <a:solidFill>
                  <a:srgbClr val="D96552"/>
                </a:solidFill>
                <a:latin typeface="Arial"/>
              </a:rPr>
              <a:t>26</a:t>
            </a:r>
          </a:p>
        </p:txBody>
      </p:sp>
      <p:sp>
        <p:nvSpPr>
          <p:cNvPr id="28" name="TextBox 27"/>
          <p:cNvSpPr txBox="1"/>
          <p:nvPr/>
        </p:nvSpPr>
        <p:spPr>
          <a:xfrm>
            <a:off x="1261872" y="3657599"/>
            <a:ext cx="2423160" cy="274320"/>
          </a:xfrm>
          <a:prstGeom prst="rect">
            <a:avLst/>
          </a:prstGeom>
          <a:noFill/>
        </p:spPr>
        <p:txBody>
          <a:bodyPr wrap="square" lIns="0" rIns="0" tIns="0" bIns="0" anchor="t">
            <a:spAutoFit/>
          </a:bodyPr>
          <a:lstStyle/>
          <a:p>
            <a:pPr algn="l">
              <a:spcAft>
                <a:spcPts val="0"/>
              </a:spcAft>
            </a:pPr>
            <a:r>
              <a:rPr sz="1500" b="1" i="0">
                <a:solidFill>
                  <a:srgbClr val="D96552"/>
                </a:solidFill>
                <a:latin typeface="Arial"/>
              </a:rPr>
              <a:t>Promoted</a:t>
            </a:r>
          </a:p>
        </p:txBody>
      </p:sp>
      <p:sp>
        <p:nvSpPr>
          <p:cNvPr id="29" name="TextBox 28"/>
          <p:cNvSpPr txBox="1"/>
          <p:nvPr/>
        </p:nvSpPr>
        <p:spPr>
          <a:xfrm>
            <a:off x="1261872" y="3959351"/>
            <a:ext cx="2468880" cy="347472"/>
          </a:xfrm>
          <a:prstGeom prst="rect">
            <a:avLst/>
          </a:prstGeom>
          <a:noFill/>
        </p:spPr>
        <p:txBody>
          <a:bodyPr wrap="square" lIns="0" rIns="0" tIns="0" bIns="0" anchor="t">
            <a:spAutoFit/>
          </a:bodyPr>
          <a:lstStyle/>
          <a:p>
            <a:pPr algn="l">
              <a:spcAft>
                <a:spcPts val="0"/>
              </a:spcAft>
            </a:pPr>
            <a:r>
              <a:rPr sz="1150" b="0" i="0">
                <a:solidFill>
                  <a:srgbClr val="263746"/>
                </a:solidFill>
                <a:latin typeface="Arial"/>
              </a:rPr>
              <a:t>Stable only with synthetic guidance</a:t>
            </a:r>
          </a:p>
        </p:txBody>
      </p:sp>
      <p:sp>
        <p:nvSpPr>
          <p:cNvPr id="30" name="Rectangle 29"/>
          <p:cNvSpPr/>
          <p:nvPr/>
        </p:nvSpPr>
        <p:spPr>
          <a:xfrm>
            <a:off x="502920" y="4471416"/>
            <a:ext cx="3273552" cy="10972"/>
          </a:xfrm>
          <a:prstGeom prst="rect">
            <a:avLst/>
          </a:prstGeom>
          <a:solidFill>
            <a:srgbClr val="E0E5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02920" y="4590288"/>
            <a:ext cx="621792" cy="475488"/>
          </a:xfrm>
          <a:prstGeom prst="rect">
            <a:avLst/>
          </a:prstGeom>
          <a:noFill/>
        </p:spPr>
        <p:txBody>
          <a:bodyPr wrap="square" lIns="0" rIns="0" tIns="0" bIns="0" anchor="t">
            <a:spAutoFit/>
          </a:bodyPr>
          <a:lstStyle/>
          <a:p>
            <a:pPr algn="l">
              <a:spcAft>
                <a:spcPts val="0"/>
              </a:spcAft>
            </a:pPr>
            <a:r>
              <a:rPr sz="2900" b="1" i="0">
                <a:solidFill>
                  <a:srgbClr val="178681"/>
                </a:solidFill>
                <a:latin typeface="Arial"/>
              </a:rPr>
              <a:t>23</a:t>
            </a:r>
          </a:p>
        </p:txBody>
      </p:sp>
      <p:sp>
        <p:nvSpPr>
          <p:cNvPr id="32" name="TextBox 31"/>
          <p:cNvSpPr txBox="1"/>
          <p:nvPr/>
        </p:nvSpPr>
        <p:spPr>
          <a:xfrm>
            <a:off x="1261872" y="4617720"/>
            <a:ext cx="2423160" cy="274320"/>
          </a:xfrm>
          <a:prstGeom prst="rect">
            <a:avLst/>
          </a:prstGeom>
          <a:noFill/>
        </p:spPr>
        <p:txBody>
          <a:bodyPr wrap="square" lIns="0" rIns="0" tIns="0" bIns="0" anchor="t">
            <a:spAutoFit/>
          </a:bodyPr>
          <a:lstStyle/>
          <a:p>
            <a:pPr algn="l">
              <a:spcAft>
                <a:spcPts val="0"/>
              </a:spcAft>
            </a:pPr>
            <a:r>
              <a:rPr sz="1500" b="1" i="0">
                <a:solidFill>
                  <a:srgbClr val="178681"/>
                </a:solidFill>
                <a:latin typeface="Arial"/>
              </a:rPr>
              <a:t>Reinforced</a:t>
            </a:r>
          </a:p>
        </p:txBody>
      </p:sp>
      <p:sp>
        <p:nvSpPr>
          <p:cNvPr id="33" name="TextBox 32"/>
          <p:cNvSpPr txBox="1"/>
          <p:nvPr/>
        </p:nvSpPr>
        <p:spPr>
          <a:xfrm>
            <a:off x="1261872" y="4919471"/>
            <a:ext cx="2468880" cy="347472"/>
          </a:xfrm>
          <a:prstGeom prst="rect">
            <a:avLst/>
          </a:prstGeom>
          <a:noFill/>
        </p:spPr>
        <p:txBody>
          <a:bodyPr wrap="square" lIns="0" rIns="0" tIns="0" bIns="0" anchor="t">
            <a:spAutoFit/>
          </a:bodyPr>
          <a:lstStyle/>
          <a:p>
            <a:pPr algn="l">
              <a:spcAft>
                <a:spcPts val="0"/>
              </a:spcAft>
            </a:pPr>
            <a:r>
              <a:rPr sz="1150" b="0" i="0">
                <a:solidFill>
                  <a:srgbClr val="263746"/>
                </a:solidFill>
                <a:latin typeface="Arial"/>
              </a:rPr>
              <a:t>Stable with and without guidance</a:t>
            </a:r>
          </a:p>
        </p:txBody>
      </p:sp>
      <p:sp>
        <p:nvSpPr>
          <p:cNvPr id="34" name="Rectangle 33"/>
          <p:cNvSpPr/>
          <p:nvPr/>
        </p:nvSpPr>
        <p:spPr>
          <a:xfrm>
            <a:off x="4069080" y="3044952"/>
            <a:ext cx="13716" cy="2532888"/>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407408" y="3063240"/>
            <a:ext cx="6876288" cy="310896"/>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Literature interpretation</a:t>
            </a:r>
          </a:p>
        </p:txBody>
      </p:sp>
      <p:sp>
        <p:nvSpPr>
          <p:cNvPr id="36" name="TextBox 35"/>
          <p:cNvSpPr txBox="1"/>
          <p:nvPr/>
        </p:nvSpPr>
        <p:spPr>
          <a:xfrm>
            <a:off x="4425696" y="3529584"/>
            <a:ext cx="1417320" cy="201168"/>
          </a:xfrm>
          <a:prstGeom prst="rect">
            <a:avLst/>
          </a:prstGeom>
          <a:noFill/>
        </p:spPr>
        <p:txBody>
          <a:bodyPr wrap="square" lIns="0" rIns="0" tIns="0" bIns="0" anchor="t">
            <a:spAutoFit/>
          </a:bodyPr>
          <a:lstStyle/>
          <a:p>
            <a:pPr algn="l">
              <a:spcAft>
                <a:spcPts val="0"/>
              </a:spcAft>
            </a:pPr>
            <a:r>
              <a:rPr sz="950" b="1" i="0">
                <a:solidFill>
                  <a:srgbClr val="59697A"/>
                </a:solidFill>
                <a:latin typeface="Arial"/>
              </a:rPr>
              <a:t>Class</a:t>
            </a:r>
          </a:p>
        </p:txBody>
      </p:sp>
      <p:sp>
        <p:nvSpPr>
          <p:cNvPr id="37" name="TextBox 36"/>
          <p:cNvSpPr txBox="1"/>
          <p:nvPr/>
        </p:nvSpPr>
        <p:spPr>
          <a:xfrm>
            <a:off x="6272784" y="3529584"/>
            <a:ext cx="640080" cy="201168"/>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Count</a:t>
            </a:r>
          </a:p>
        </p:txBody>
      </p:sp>
      <p:sp>
        <p:nvSpPr>
          <p:cNvPr id="38" name="TextBox 37"/>
          <p:cNvSpPr txBox="1"/>
          <p:nvPr/>
        </p:nvSpPr>
        <p:spPr>
          <a:xfrm>
            <a:off x="7031736" y="3529584"/>
            <a:ext cx="3941063" cy="201168"/>
          </a:xfrm>
          <a:prstGeom prst="rect">
            <a:avLst/>
          </a:prstGeom>
          <a:noFill/>
        </p:spPr>
        <p:txBody>
          <a:bodyPr wrap="square" lIns="0" rIns="0" tIns="0" bIns="0" anchor="t">
            <a:spAutoFit/>
          </a:bodyPr>
          <a:lstStyle/>
          <a:p>
            <a:pPr algn="l">
              <a:spcAft>
                <a:spcPts val="0"/>
              </a:spcAft>
            </a:pPr>
            <a:r>
              <a:rPr sz="950" b="1" i="0">
                <a:solidFill>
                  <a:srgbClr val="59697A"/>
                </a:solidFill>
                <a:latin typeface="Arial"/>
              </a:rPr>
              <a:t>Meaning</a:t>
            </a:r>
          </a:p>
        </p:txBody>
      </p:sp>
      <p:sp>
        <p:nvSpPr>
          <p:cNvPr id="39" name="Rectangle 38"/>
          <p:cNvSpPr/>
          <p:nvPr/>
        </p:nvSpPr>
        <p:spPr>
          <a:xfrm>
            <a:off x="4407408" y="3776472"/>
            <a:ext cx="6894576" cy="18288"/>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407408" y="3867911"/>
            <a:ext cx="6894576" cy="384048"/>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443984" y="4005072"/>
            <a:ext cx="109728" cy="109728"/>
          </a:xfrm>
          <a:prstGeom prst="rect">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663440" y="3904487"/>
            <a:ext cx="1536192" cy="310896"/>
          </a:xfrm>
          <a:prstGeom prst="rect">
            <a:avLst/>
          </a:prstGeom>
          <a:noFill/>
        </p:spPr>
        <p:txBody>
          <a:bodyPr wrap="square" lIns="0" rIns="0" tIns="0" bIns="0" anchor="ctr">
            <a:spAutoFit/>
          </a:bodyPr>
          <a:lstStyle/>
          <a:p>
            <a:pPr algn="l">
              <a:spcAft>
                <a:spcPts val="0"/>
              </a:spcAft>
            </a:pPr>
            <a:r>
              <a:rPr sz="1260" b="1" i="0">
                <a:solidFill>
                  <a:srgbClr val="478A64"/>
                </a:solidFill>
                <a:latin typeface="Arial"/>
              </a:rPr>
              <a:t>Aligning</a:t>
            </a:r>
          </a:p>
        </p:txBody>
      </p:sp>
      <p:sp>
        <p:nvSpPr>
          <p:cNvPr id="43" name="TextBox 42"/>
          <p:cNvSpPr txBox="1"/>
          <p:nvPr/>
        </p:nvSpPr>
        <p:spPr>
          <a:xfrm>
            <a:off x="6281928" y="3904487"/>
            <a:ext cx="603504" cy="310896"/>
          </a:xfrm>
          <a:prstGeom prst="rect">
            <a:avLst/>
          </a:prstGeom>
          <a:noFill/>
        </p:spPr>
        <p:txBody>
          <a:bodyPr wrap="square" lIns="0" rIns="0" tIns="0" bIns="0" anchor="ctr">
            <a:spAutoFit/>
          </a:bodyPr>
          <a:lstStyle/>
          <a:p>
            <a:pPr algn="ctr">
              <a:spcAft>
                <a:spcPts val="0"/>
              </a:spcAft>
            </a:pPr>
            <a:r>
              <a:rPr sz="1400" b="1" i="0">
                <a:solidFill>
                  <a:srgbClr val="263746"/>
                </a:solidFill>
                <a:latin typeface="Arial"/>
              </a:rPr>
              <a:t>22</a:t>
            </a:r>
          </a:p>
        </p:txBody>
      </p:sp>
      <p:sp>
        <p:nvSpPr>
          <p:cNvPr id="44" name="TextBox 43"/>
          <p:cNvSpPr txBox="1"/>
          <p:nvPr/>
        </p:nvSpPr>
        <p:spPr>
          <a:xfrm>
            <a:off x="7031736" y="3904487"/>
            <a:ext cx="4032504" cy="310896"/>
          </a:xfrm>
          <a:prstGeom prst="rect">
            <a:avLst/>
          </a:prstGeom>
          <a:noFill/>
        </p:spPr>
        <p:txBody>
          <a:bodyPr wrap="square" lIns="0" rIns="0" tIns="0" bIns="0" anchor="ctr">
            <a:spAutoFit/>
          </a:bodyPr>
          <a:lstStyle/>
          <a:p>
            <a:pPr algn="l">
              <a:spcAft>
                <a:spcPts val="0"/>
              </a:spcAft>
            </a:pPr>
            <a:r>
              <a:rPr sz="1180" b="0" i="0">
                <a:solidFill>
                  <a:srgbClr val="263746"/>
                </a:solidFill>
                <a:latin typeface="Arial"/>
              </a:rPr>
              <a:t>Direct or same-tissue process agreement</a:t>
            </a:r>
          </a:p>
        </p:txBody>
      </p:sp>
      <p:sp>
        <p:nvSpPr>
          <p:cNvPr id="45" name="Rectangle 44"/>
          <p:cNvSpPr/>
          <p:nvPr/>
        </p:nvSpPr>
        <p:spPr>
          <a:xfrm>
            <a:off x="4443984" y="4443984"/>
            <a:ext cx="109728"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663440" y="4343400"/>
            <a:ext cx="1536192" cy="310896"/>
          </a:xfrm>
          <a:prstGeom prst="rect">
            <a:avLst/>
          </a:prstGeom>
          <a:noFill/>
        </p:spPr>
        <p:txBody>
          <a:bodyPr wrap="square" lIns="0" rIns="0" tIns="0" bIns="0" anchor="ctr">
            <a:spAutoFit/>
          </a:bodyPr>
          <a:lstStyle/>
          <a:p>
            <a:pPr algn="l">
              <a:spcAft>
                <a:spcPts val="0"/>
              </a:spcAft>
            </a:pPr>
            <a:r>
              <a:rPr sz="1260" b="1" i="0">
                <a:solidFill>
                  <a:srgbClr val="2D6496"/>
                </a:solidFill>
                <a:latin typeface="Arial"/>
              </a:rPr>
              <a:t>Complementary</a:t>
            </a:r>
          </a:p>
        </p:txBody>
      </p:sp>
      <p:sp>
        <p:nvSpPr>
          <p:cNvPr id="47" name="TextBox 46"/>
          <p:cNvSpPr txBox="1"/>
          <p:nvPr/>
        </p:nvSpPr>
        <p:spPr>
          <a:xfrm>
            <a:off x="6281928" y="4343400"/>
            <a:ext cx="603504" cy="310896"/>
          </a:xfrm>
          <a:prstGeom prst="rect">
            <a:avLst/>
          </a:prstGeom>
          <a:noFill/>
        </p:spPr>
        <p:txBody>
          <a:bodyPr wrap="square" lIns="0" rIns="0" tIns="0" bIns="0" anchor="ctr">
            <a:spAutoFit/>
          </a:bodyPr>
          <a:lstStyle/>
          <a:p>
            <a:pPr algn="ctr">
              <a:spcAft>
                <a:spcPts val="0"/>
              </a:spcAft>
            </a:pPr>
            <a:r>
              <a:rPr sz="1400" b="1" i="0">
                <a:solidFill>
                  <a:srgbClr val="263746"/>
                </a:solidFill>
                <a:latin typeface="Arial"/>
              </a:rPr>
              <a:t>19</a:t>
            </a:r>
          </a:p>
        </p:txBody>
      </p:sp>
      <p:sp>
        <p:nvSpPr>
          <p:cNvPr id="48" name="TextBox 47"/>
          <p:cNvSpPr txBox="1"/>
          <p:nvPr/>
        </p:nvSpPr>
        <p:spPr>
          <a:xfrm>
            <a:off x="7031736" y="4343400"/>
            <a:ext cx="4032504" cy="310896"/>
          </a:xfrm>
          <a:prstGeom prst="rect">
            <a:avLst/>
          </a:prstGeom>
          <a:noFill/>
        </p:spPr>
        <p:txBody>
          <a:bodyPr wrap="square" lIns="0" rIns="0" tIns="0" bIns="0" anchor="ctr">
            <a:spAutoFit/>
          </a:bodyPr>
          <a:lstStyle/>
          <a:p>
            <a:pPr algn="l">
              <a:spcAft>
                <a:spcPts val="0"/>
              </a:spcAft>
            </a:pPr>
            <a:r>
              <a:rPr sz="1180" b="0" i="0">
                <a:solidFill>
                  <a:srgbClr val="263746"/>
                </a:solidFill>
                <a:latin typeface="Arial"/>
              </a:rPr>
              <a:t>Related process or mechanism</a:t>
            </a:r>
          </a:p>
        </p:txBody>
      </p:sp>
      <p:sp>
        <p:nvSpPr>
          <p:cNvPr id="49" name="Rectangle 48"/>
          <p:cNvSpPr/>
          <p:nvPr/>
        </p:nvSpPr>
        <p:spPr>
          <a:xfrm>
            <a:off x="4407408" y="4745736"/>
            <a:ext cx="6894576" cy="384048"/>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4443984" y="4882896"/>
            <a:ext cx="109728" cy="10972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663440" y="4782312"/>
            <a:ext cx="1536192" cy="310896"/>
          </a:xfrm>
          <a:prstGeom prst="rect">
            <a:avLst/>
          </a:prstGeom>
          <a:noFill/>
        </p:spPr>
        <p:txBody>
          <a:bodyPr wrap="square" lIns="0" rIns="0" tIns="0" bIns="0" anchor="ctr">
            <a:spAutoFit/>
          </a:bodyPr>
          <a:lstStyle/>
          <a:p>
            <a:pPr algn="l">
              <a:spcAft>
                <a:spcPts val="0"/>
              </a:spcAft>
            </a:pPr>
            <a:r>
              <a:rPr sz="1260" b="1" i="0">
                <a:solidFill>
                  <a:srgbClr val="D37B00"/>
                </a:solidFill>
                <a:latin typeface="Arial"/>
              </a:rPr>
              <a:t>Ambiguous</a:t>
            </a:r>
          </a:p>
        </p:txBody>
      </p:sp>
      <p:sp>
        <p:nvSpPr>
          <p:cNvPr id="52" name="TextBox 51"/>
          <p:cNvSpPr txBox="1"/>
          <p:nvPr/>
        </p:nvSpPr>
        <p:spPr>
          <a:xfrm>
            <a:off x="6281928" y="4782312"/>
            <a:ext cx="603504" cy="310896"/>
          </a:xfrm>
          <a:prstGeom prst="rect">
            <a:avLst/>
          </a:prstGeom>
          <a:noFill/>
        </p:spPr>
        <p:txBody>
          <a:bodyPr wrap="square" lIns="0" rIns="0" tIns="0" bIns="0" anchor="ctr">
            <a:spAutoFit/>
          </a:bodyPr>
          <a:lstStyle/>
          <a:p>
            <a:pPr algn="ctr">
              <a:spcAft>
                <a:spcPts val="0"/>
              </a:spcAft>
            </a:pPr>
            <a:r>
              <a:rPr sz="1400" b="1" i="0">
                <a:solidFill>
                  <a:srgbClr val="263746"/>
                </a:solidFill>
                <a:latin typeface="Arial"/>
              </a:rPr>
              <a:t>4</a:t>
            </a:r>
          </a:p>
        </p:txBody>
      </p:sp>
      <p:sp>
        <p:nvSpPr>
          <p:cNvPr id="53" name="TextBox 52"/>
          <p:cNvSpPr txBox="1"/>
          <p:nvPr/>
        </p:nvSpPr>
        <p:spPr>
          <a:xfrm>
            <a:off x="7031736" y="4782312"/>
            <a:ext cx="4032504" cy="310896"/>
          </a:xfrm>
          <a:prstGeom prst="rect">
            <a:avLst/>
          </a:prstGeom>
          <a:noFill/>
        </p:spPr>
        <p:txBody>
          <a:bodyPr wrap="square" lIns="0" rIns="0" tIns="0" bIns="0" anchor="ctr">
            <a:spAutoFit/>
          </a:bodyPr>
          <a:lstStyle/>
          <a:p>
            <a:pPr algn="l">
              <a:spcAft>
                <a:spcPts val="0"/>
              </a:spcAft>
            </a:pPr>
            <a:r>
              <a:rPr sz="1180" b="0" i="0">
                <a:solidFill>
                  <a:srgbClr val="263746"/>
                </a:solidFill>
                <a:latin typeface="Arial"/>
              </a:rPr>
              <a:t>Mixed or context-dependent evidence</a:t>
            </a:r>
          </a:p>
        </p:txBody>
      </p:sp>
      <p:sp>
        <p:nvSpPr>
          <p:cNvPr id="54" name="Rectangle 53"/>
          <p:cNvSpPr/>
          <p:nvPr/>
        </p:nvSpPr>
        <p:spPr>
          <a:xfrm>
            <a:off x="4443984" y="5321807"/>
            <a:ext cx="109728" cy="109728"/>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663440" y="5221223"/>
            <a:ext cx="1536192" cy="310896"/>
          </a:xfrm>
          <a:prstGeom prst="rect">
            <a:avLst/>
          </a:prstGeom>
          <a:noFill/>
        </p:spPr>
        <p:txBody>
          <a:bodyPr wrap="square" lIns="0" rIns="0" tIns="0" bIns="0" anchor="ctr">
            <a:spAutoFit/>
          </a:bodyPr>
          <a:lstStyle/>
          <a:p>
            <a:pPr algn="l">
              <a:spcAft>
                <a:spcPts val="0"/>
              </a:spcAft>
            </a:pPr>
            <a:r>
              <a:rPr sz="1260" b="1" i="0">
                <a:solidFill>
                  <a:srgbClr val="8063A6"/>
                </a:solidFill>
                <a:latin typeface="Arial"/>
              </a:rPr>
              <a:t>Unmatched</a:t>
            </a:r>
          </a:p>
        </p:txBody>
      </p:sp>
      <p:sp>
        <p:nvSpPr>
          <p:cNvPr id="56" name="TextBox 55"/>
          <p:cNvSpPr txBox="1"/>
          <p:nvPr/>
        </p:nvSpPr>
        <p:spPr>
          <a:xfrm>
            <a:off x="6281928" y="5221223"/>
            <a:ext cx="603504" cy="310896"/>
          </a:xfrm>
          <a:prstGeom prst="rect">
            <a:avLst/>
          </a:prstGeom>
          <a:noFill/>
        </p:spPr>
        <p:txBody>
          <a:bodyPr wrap="square" lIns="0" rIns="0" tIns="0" bIns="0" anchor="ctr">
            <a:spAutoFit/>
          </a:bodyPr>
          <a:lstStyle/>
          <a:p>
            <a:pPr algn="ctr">
              <a:spcAft>
                <a:spcPts val="0"/>
              </a:spcAft>
            </a:pPr>
            <a:r>
              <a:rPr sz="1400" b="1" i="0">
                <a:solidFill>
                  <a:srgbClr val="263746"/>
                </a:solidFill>
                <a:latin typeface="Arial"/>
              </a:rPr>
              <a:t>4</a:t>
            </a:r>
          </a:p>
        </p:txBody>
      </p:sp>
      <p:sp>
        <p:nvSpPr>
          <p:cNvPr id="57" name="TextBox 56"/>
          <p:cNvSpPr txBox="1"/>
          <p:nvPr/>
        </p:nvSpPr>
        <p:spPr>
          <a:xfrm>
            <a:off x="7031736" y="5221223"/>
            <a:ext cx="4032504" cy="310896"/>
          </a:xfrm>
          <a:prstGeom prst="rect">
            <a:avLst/>
          </a:prstGeom>
          <a:noFill/>
        </p:spPr>
        <p:txBody>
          <a:bodyPr wrap="square" lIns="0" rIns="0" tIns="0" bIns="0" anchor="ctr">
            <a:spAutoFit/>
          </a:bodyPr>
          <a:lstStyle/>
          <a:p>
            <a:pPr algn="l">
              <a:spcAft>
                <a:spcPts val="0"/>
              </a:spcAft>
            </a:pPr>
            <a:r>
              <a:rPr sz="1180" b="0" i="0">
                <a:solidFill>
                  <a:srgbClr val="263746"/>
                </a:solidFill>
                <a:latin typeface="Arial"/>
              </a:rPr>
              <a:t>No sufficiently specific match found</a:t>
            </a:r>
          </a:p>
        </p:txBody>
      </p:sp>
      <p:sp>
        <p:nvSpPr>
          <p:cNvPr id="58" name="Rectangle 57"/>
          <p:cNvSpPr/>
          <p:nvPr/>
        </p:nvSpPr>
        <p:spPr>
          <a:xfrm>
            <a:off x="502920" y="5806440"/>
            <a:ext cx="10991088" cy="16459"/>
          </a:xfrm>
          <a:prstGeom prst="rect">
            <a:avLst/>
          </a:prstGeom>
          <a:solidFill>
            <a:srgbClr val="CED7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94360" y="5934456"/>
            <a:ext cx="10808208" cy="256032"/>
          </a:xfrm>
          <a:prstGeom prst="rect">
            <a:avLst/>
          </a:prstGeom>
          <a:noFill/>
        </p:spPr>
        <p:txBody>
          <a:bodyPr wrap="square" lIns="18288" rIns="18288" tIns="18288" bIns="18288" anchor="t">
            <a:spAutoFit/>
          </a:bodyPr>
          <a:lstStyle/>
          <a:p>
            <a:pPr algn="ctr">
              <a:spcAft>
                <a:spcPts val="0"/>
              </a:spcAft>
            </a:pPr>
            <a:r>
              <a:rPr sz="1350" b="1" i="0">
                <a:solidFill>
                  <a:srgbClr val="082B55"/>
                </a:solidFill>
                <a:latin typeface="Arial"/>
              </a:rPr>
              <a:t>A reinforced gene can be complementary, ambiguous, or unmatched; an aligning gene can be promoted.</a:t>
            </a:r>
          </a:p>
        </p:txBody>
      </p:sp>
      <p:sp>
        <p:nvSpPr>
          <p:cNvPr id="60" name="TextBox 5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Table S16 records gene-level rationale, evidence scope and source IDs; Table S17 provides 33 citations with DOI/URL and data relationship.</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ANALYSIS COVERAGE</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The screen covered all 27 completed tissue analyses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biological discussion narrows only after reporting synthetic-informed, real-only, and null outcomes.</a:t>
            </a:r>
          </a:p>
        </p:txBody>
      </p:sp>
      <p:sp>
        <p:nvSpPr>
          <p:cNvPr id="7" name="Rectangle 6"/>
          <p:cNvSpPr/>
          <p:nvPr/>
        </p:nvSpPr>
        <p:spPr>
          <a:xfrm>
            <a:off x="393192" y="1865376"/>
            <a:ext cx="3337560" cy="3200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1480" y="2029968"/>
            <a:ext cx="640080" cy="502920"/>
          </a:xfrm>
          <a:prstGeom prst="rect">
            <a:avLst/>
          </a:prstGeom>
          <a:noFill/>
        </p:spPr>
        <p:txBody>
          <a:bodyPr wrap="square" lIns="0" rIns="0" tIns="0" bIns="0" anchor="t">
            <a:spAutoFit/>
          </a:bodyPr>
          <a:lstStyle/>
          <a:p>
            <a:pPr algn="l">
              <a:spcAft>
                <a:spcPts val="0"/>
              </a:spcAft>
            </a:pPr>
            <a:r>
              <a:rPr sz="3100" b="1" i="0">
                <a:solidFill>
                  <a:srgbClr val="178681"/>
                </a:solidFill>
                <a:latin typeface="Arial"/>
              </a:rPr>
              <a:t>10</a:t>
            </a:r>
          </a:p>
        </p:txBody>
      </p:sp>
      <p:sp>
        <p:nvSpPr>
          <p:cNvPr id="9" name="TextBox 8"/>
          <p:cNvSpPr txBox="1"/>
          <p:nvPr/>
        </p:nvSpPr>
        <p:spPr>
          <a:xfrm>
            <a:off x="1161288" y="2075688"/>
            <a:ext cx="2487168" cy="347472"/>
          </a:xfrm>
          <a:prstGeom prst="rect">
            <a:avLst/>
          </a:prstGeom>
          <a:noFill/>
        </p:spPr>
        <p:txBody>
          <a:bodyPr wrap="square" lIns="0" rIns="0" tIns="0" bIns="0" anchor="ctr">
            <a:spAutoFit/>
          </a:bodyPr>
          <a:lstStyle/>
          <a:p>
            <a:pPr algn="l">
              <a:spcAft>
                <a:spcPts val="0"/>
              </a:spcAft>
            </a:pPr>
            <a:r>
              <a:rPr sz="1600" b="1" i="0">
                <a:solidFill>
                  <a:srgbClr val="082B55"/>
                </a:solidFill>
                <a:latin typeface="Arial"/>
              </a:rPr>
              <a:t>Synthetic-informed</a:t>
            </a:r>
          </a:p>
        </p:txBody>
      </p:sp>
      <p:sp>
        <p:nvSpPr>
          <p:cNvPr id="10" name="TextBox 9"/>
          <p:cNvSpPr txBox="1"/>
          <p:nvPr/>
        </p:nvSpPr>
        <p:spPr>
          <a:xfrm>
            <a:off x="411480" y="2670048"/>
            <a:ext cx="3182112" cy="384048"/>
          </a:xfrm>
          <a:prstGeom prst="rect">
            <a:avLst/>
          </a:prstGeom>
          <a:noFill/>
        </p:spPr>
        <p:txBody>
          <a:bodyPr wrap="square" lIns="0" rIns="0" tIns="0" bIns="0" anchor="ctr">
            <a:spAutoFit/>
          </a:bodyPr>
          <a:lstStyle/>
          <a:p>
            <a:pPr algn="l">
              <a:spcAft>
                <a:spcPts val="0"/>
              </a:spcAft>
            </a:pPr>
            <a:r>
              <a:rPr sz="1050" b="0" i="0">
                <a:solidFill>
                  <a:srgbClr val="59697A"/>
                </a:solidFill>
                <a:latin typeface="Arial"/>
              </a:rPr>
              <a:t>Promoted or reinforced BH-FDR gene</a:t>
            </a:r>
          </a:p>
        </p:txBody>
      </p:sp>
      <p:sp>
        <p:nvSpPr>
          <p:cNvPr id="11" name="Rectangle 10"/>
          <p:cNvSpPr/>
          <p:nvPr/>
        </p:nvSpPr>
        <p:spPr>
          <a:xfrm>
            <a:off x="393192" y="3200400"/>
            <a:ext cx="3273552" cy="12801"/>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3346704"/>
            <a:ext cx="1097280" cy="173736"/>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ANALYSIS UNITS</a:t>
            </a:r>
          </a:p>
        </p:txBody>
      </p:sp>
      <p:sp>
        <p:nvSpPr>
          <p:cNvPr id="13" name="Rectangle 12"/>
          <p:cNvSpPr/>
          <p:nvPr/>
        </p:nvSpPr>
        <p:spPr>
          <a:xfrm>
            <a:off x="420623" y="3711092"/>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1792" y="3621024"/>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Adrenal Gland</a:t>
            </a:r>
          </a:p>
        </p:txBody>
      </p:sp>
      <p:sp>
        <p:nvSpPr>
          <p:cNvPr id="15" name="Rectangle 14"/>
          <p:cNvSpPr/>
          <p:nvPr/>
        </p:nvSpPr>
        <p:spPr>
          <a:xfrm>
            <a:off x="420623" y="3932377"/>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1792" y="3842308"/>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Eye</a:t>
            </a:r>
          </a:p>
        </p:txBody>
      </p:sp>
      <p:sp>
        <p:nvSpPr>
          <p:cNvPr id="17" name="Rectangle 16"/>
          <p:cNvSpPr/>
          <p:nvPr/>
        </p:nvSpPr>
        <p:spPr>
          <a:xfrm>
            <a:off x="420623" y="4153661"/>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1792" y="4063593"/>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Kidney</a:t>
            </a:r>
          </a:p>
        </p:txBody>
      </p:sp>
      <p:sp>
        <p:nvSpPr>
          <p:cNvPr id="19" name="Rectangle 18"/>
          <p:cNvSpPr/>
          <p:nvPr/>
        </p:nvSpPr>
        <p:spPr>
          <a:xfrm>
            <a:off x="420623" y="4374946"/>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 y="4284878"/>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Skeletal muscle (pooled)</a:t>
            </a:r>
          </a:p>
        </p:txBody>
      </p:sp>
      <p:sp>
        <p:nvSpPr>
          <p:cNvPr id="21" name="Rectangle 20"/>
          <p:cNvSpPr/>
          <p:nvPr/>
        </p:nvSpPr>
        <p:spPr>
          <a:xfrm>
            <a:off x="420623" y="4596231"/>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 y="4506163"/>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Skin</a:t>
            </a:r>
          </a:p>
        </p:txBody>
      </p:sp>
      <p:sp>
        <p:nvSpPr>
          <p:cNvPr id="23" name="Rectangle 22"/>
          <p:cNvSpPr/>
          <p:nvPr/>
        </p:nvSpPr>
        <p:spPr>
          <a:xfrm>
            <a:off x="420623" y="4817516"/>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21792" y="4727448"/>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Spleen</a:t>
            </a:r>
          </a:p>
        </p:txBody>
      </p:sp>
      <p:sp>
        <p:nvSpPr>
          <p:cNvPr id="25" name="Rectangle 24"/>
          <p:cNvSpPr/>
          <p:nvPr/>
        </p:nvSpPr>
        <p:spPr>
          <a:xfrm>
            <a:off x="420623" y="5038801"/>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1792" y="4948732"/>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Thymus</a:t>
            </a:r>
          </a:p>
        </p:txBody>
      </p:sp>
      <p:sp>
        <p:nvSpPr>
          <p:cNvPr id="27" name="Rectangle 26"/>
          <p:cNvSpPr/>
          <p:nvPr/>
        </p:nvSpPr>
        <p:spPr>
          <a:xfrm>
            <a:off x="420623" y="5260086"/>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1792" y="5170017"/>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Gastrocnemius</a:t>
            </a:r>
          </a:p>
        </p:txBody>
      </p:sp>
      <p:sp>
        <p:nvSpPr>
          <p:cNvPr id="29" name="Rectangle 28"/>
          <p:cNvSpPr/>
          <p:nvPr/>
        </p:nvSpPr>
        <p:spPr>
          <a:xfrm>
            <a:off x="420623" y="5481370"/>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1792" y="5391302"/>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Soleus</a:t>
            </a:r>
          </a:p>
        </p:txBody>
      </p:sp>
      <p:sp>
        <p:nvSpPr>
          <p:cNvPr id="31" name="Rectangle 30"/>
          <p:cNvSpPr/>
          <p:nvPr/>
        </p:nvSpPr>
        <p:spPr>
          <a:xfrm>
            <a:off x="420623" y="5702655"/>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21792" y="5612587"/>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Tibialis Anterior</a:t>
            </a:r>
          </a:p>
        </p:txBody>
      </p:sp>
      <p:sp>
        <p:nvSpPr>
          <p:cNvPr id="33" name="Rectangle 32"/>
          <p:cNvSpPr/>
          <p:nvPr/>
        </p:nvSpPr>
        <p:spPr>
          <a:xfrm>
            <a:off x="3941064" y="1874519"/>
            <a:ext cx="10972" cy="4187952"/>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105656" y="1865376"/>
            <a:ext cx="3337560" cy="3200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23944" y="2029968"/>
            <a:ext cx="640080" cy="502920"/>
          </a:xfrm>
          <a:prstGeom prst="rect">
            <a:avLst/>
          </a:prstGeom>
          <a:noFill/>
        </p:spPr>
        <p:txBody>
          <a:bodyPr wrap="square" lIns="0" rIns="0" tIns="0" bIns="0" anchor="t">
            <a:spAutoFit/>
          </a:bodyPr>
          <a:lstStyle/>
          <a:p>
            <a:pPr algn="l">
              <a:spcAft>
                <a:spcPts val="0"/>
              </a:spcAft>
            </a:pPr>
            <a:r>
              <a:rPr sz="3100" b="1" i="0">
                <a:solidFill>
                  <a:srgbClr val="2D6496"/>
                </a:solidFill>
                <a:latin typeface="Arial"/>
              </a:rPr>
              <a:t>5</a:t>
            </a:r>
          </a:p>
        </p:txBody>
      </p:sp>
      <p:sp>
        <p:nvSpPr>
          <p:cNvPr id="36" name="TextBox 35"/>
          <p:cNvSpPr txBox="1"/>
          <p:nvPr/>
        </p:nvSpPr>
        <p:spPr>
          <a:xfrm>
            <a:off x="4873752" y="2075688"/>
            <a:ext cx="2487168" cy="347472"/>
          </a:xfrm>
          <a:prstGeom prst="rect">
            <a:avLst/>
          </a:prstGeom>
          <a:noFill/>
        </p:spPr>
        <p:txBody>
          <a:bodyPr wrap="square" lIns="0" rIns="0" tIns="0" bIns="0" anchor="ctr">
            <a:spAutoFit/>
          </a:bodyPr>
          <a:lstStyle/>
          <a:p>
            <a:pPr algn="l">
              <a:spcAft>
                <a:spcPts val="0"/>
              </a:spcAft>
            </a:pPr>
            <a:r>
              <a:rPr sz="1600" b="1" i="0">
                <a:solidFill>
                  <a:srgbClr val="082B55"/>
                </a:solidFill>
                <a:latin typeface="Arial"/>
              </a:rPr>
              <a:t>Real BH-FDR only</a:t>
            </a:r>
          </a:p>
        </p:txBody>
      </p:sp>
      <p:sp>
        <p:nvSpPr>
          <p:cNvPr id="37" name="TextBox 36"/>
          <p:cNvSpPr txBox="1"/>
          <p:nvPr/>
        </p:nvSpPr>
        <p:spPr>
          <a:xfrm>
            <a:off x="4123944" y="2670048"/>
            <a:ext cx="3182112" cy="384048"/>
          </a:xfrm>
          <a:prstGeom prst="rect">
            <a:avLst/>
          </a:prstGeom>
          <a:noFill/>
        </p:spPr>
        <p:txBody>
          <a:bodyPr wrap="square" lIns="0" rIns="0" tIns="0" bIns="0" anchor="ctr">
            <a:spAutoFit/>
          </a:bodyPr>
          <a:lstStyle/>
          <a:p>
            <a:pPr algn="l">
              <a:spcAft>
                <a:spcPts val="0"/>
              </a:spcAft>
            </a:pPr>
            <a:r>
              <a:rPr sz="1050" b="0" i="0">
                <a:solidFill>
                  <a:srgbClr val="59697A"/>
                </a:solidFill>
                <a:latin typeface="Arial"/>
              </a:rPr>
              <a:t>Real association, no synthetic-informed selection</a:t>
            </a:r>
          </a:p>
        </p:txBody>
      </p:sp>
      <p:sp>
        <p:nvSpPr>
          <p:cNvPr id="38" name="Rectangle 37"/>
          <p:cNvSpPr/>
          <p:nvPr/>
        </p:nvSpPr>
        <p:spPr>
          <a:xfrm>
            <a:off x="4105656" y="3200400"/>
            <a:ext cx="3273552" cy="12801"/>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123944" y="3346704"/>
            <a:ext cx="1097280" cy="173736"/>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ANALYSIS UNITS</a:t>
            </a:r>
          </a:p>
        </p:txBody>
      </p:sp>
      <p:sp>
        <p:nvSpPr>
          <p:cNvPr id="40" name="Rectangle 39"/>
          <p:cNvSpPr/>
          <p:nvPr/>
        </p:nvSpPr>
        <p:spPr>
          <a:xfrm>
            <a:off x="4133088" y="3765041"/>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334256" y="3621024"/>
            <a:ext cx="2971800"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Heart</a:t>
            </a:r>
          </a:p>
        </p:txBody>
      </p:sp>
      <p:sp>
        <p:nvSpPr>
          <p:cNvPr id="42" name="Rectangle 41"/>
          <p:cNvSpPr/>
          <p:nvPr/>
        </p:nvSpPr>
        <p:spPr>
          <a:xfrm>
            <a:off x="4133088" y="4094226"/>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334256" y="3950208"/>
            <a:ext cx="2971800"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Liver</a:t>
            </a:r>
          </a:p>
        </p:txBody>
      </p:sp>
      <p:sp>
        <p:nvSpPr>
          <p:cNvPr id="44" name="Rectangle 43"/>
          <p:cNvSpPr/>
          <p:nvPr/>
        </p:nvSpPr>
        <p:spPr>
          <a:xfrm>
            <a:off x="4133088" y="4423409"/>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334256" y="4279392"/>
            <a:ext cx="2971800"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Retina</a:t>
            </a:r>
          </a:p>
        </p:txBody>
      </p:sp>
      <p:sp>
        <p:nvSpPr>
          <p:cNvPr id="46" name="Rectangle 45"/>
          <p:cNvSpPr/>
          <p:nvPr/>
        </p:nvSpPr>
        <p:spPr>
          <a:xfrm>
            <a:off x="4133088" y="4752594"/>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334256" y="4608576"/>
            <a:ext cx="2971800"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EDL</a:t>
            </a:r>
          </a:p>
        </p:txBody>
      </p:sp>
      <p:sp>
        <p:nvSpPr>
          <p:cNvPr id="48" name="Rectangle 47"/>
          <p:cNvSpPr/>
          <p:nvPr/>
        </p:nvSpPr>
        <p:spPr>
          <a:xfrm>
            <a:off x="4133088" y="5081778"/>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334256" y="4937760"/>
            <a:ext cx="2971800"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Quadriceps</a:t>
            </a:r>
          </a:p>
        </p:txBody>
      </p:sp>
      <p:sp>
        <p:nvSpPr>
          <p:cNvPr id="50" name="Rectangle 49"/>
          <p:cNvSpPr/>
          <p:nvPr/>
        </p:nvSpPr>
        <p:spPr>
          <a:xfrm>
            <a:off x="7653528" y="1874519"/>
            <a:ext cx="10972" cy="4187952"/>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7818120" y="1865376"/>
            <a:ext cx="3337560" cy="3200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836408" y="2029968"/>
            <a:ext cx="640080" cy="502920"/>
          </a:xfrm>
          <a:prstGeom prst="rect">
            <a:avLst/>
          </a:prstGeom>
          <a:noFill/>
        </p:spPr>
        <p:txBody>
          <a:bodyPr wrap="square" lIns="0" rIns="0" tIns="0" bIns="0" anchor="t">
            <a:spAutoFit/>
          </a:bodyPr>
          <a:lstStyle/>
          <a:p>
            <a:pPr algn="l">
              <a:spcAft>
                <a:spcPts val="0"/>
              </a:spcAft>
            </a:pPr>
            <a:r>
              <a:rPr sz="3100" b="1" i="0">
                <a:solidFill>
                  <a:srgbClr val="D37B00"/>
                </a:solidFill>
                <a:latin typeface="Arial"/>
              </a:rPr>
              <a:t>12</a:t>
            </a:r>
          </a:p>
        </p:txBody>
      </p:sp>
      <p:sp>
        <p:nvSpPr>
          <p:cNvPr id="53" name="TextBox 52"/>
          <p:cNvSpPr txBox="1"/>
          <p:nvPr/>
        </p:nvSpPr>
        <p:spPr>
          <a:xfrm>
            <a:off x="8586216" y="2075688"/>
            <a:ext cx="2487168" cy="347472"/>
          </a:xfrm>
          <a:prstGeom prst="rect">
            <a:avLst/>
          </a:prstGeom>
          <a:noFill/>
        </p:spPr>
        <p:txBody>
          <a:bodyPr wrap="square" lIns="0" rIns="0" tIns="0" bIns="0" anchor="ctr">
            <a:spAutoFit/>
          </a:bodyPr>
          <a:lstStyle/>
          <a:p>
            <a:pPr algn="l">
              <a:spcAft>
                <a:spcPts val="0"/>
              </a:spcAft>
            </a:pPr>
            <a:r>
              <a:rPr sz="1600" b="1" i="0">
                <a:solidFill>
                  <a:srgbClr val="082B55"/>
                </a:solidFill>
                <a:latin typeface="Arial"/>
              </a:rPr>
              <a:t>No BH-FDR gene</a:t>
            </a:r>
          </a:p>
        </p:txBody>
      </p:sp>
      <p:sp>
        <p:nvSpPr>
          <p:cNvPr id="54" name="TextBox 53"/>
          <p:cNvSpPr txBox="1"/>
          <p:nvPr/>
        </p:nvSpPr>
        <p:spPr>
          <a:xfrm>
            <a:off x="7836408" y="2670048"/>
            <a:ext cx="3182112" cy="384048"/>
          </a:xfrm>
          <a:prstGeom prst="rect">
            <a:avLst/>
          </a:prstGeom>
          <a:noFill/>
        </p:spPr>
        <p:txBody>
          <a:bodyPr wrap="square" lIns="0" rIns="0" tIns="0" bIns="0" anchor="ctr">
            <a:spAutoFit/>
          </a:bodyPr>
          <a:lstStyle/>
          <a:p>
            <a:pPr algn="l">
              <a:spcAft>
                <a:spcPts val="0"/>
              </a:spcAft>
            </a:pPr>
            <a:r>
              <a:rPr sz="1050" b="0" i="0">
                <a:solidFill>
                  <a:srgbClr val="59697A"/>
                </a:solidFill>
                <a:latin typeface="Arial"/>
              </a:rPr>
              <a:t>No BH-FDR gene in the 974-gene panel</a:t>
            </a:r>
          </a:p>
        </p:txBody>
      </p:sp>
      <p:sp>
        <p:nvSpPr>
          <p:cNvPr id="55" name="Rectangle 54"/>
          <p:cNvSpPr/>
          <p:nvPr/>
        </p:nvSpPr>
        <p:spPr>
          <a:xfrm>
            <a:off x="7818120" y="3200400"/>
            <a:ext cx="3273552" cy="12801"/>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7836408" y="3346704"/>
            <a:ext cx="1097280" cy="173736"/>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ANALYSIS UNITS</a:t>
            </a:r>
          </a:p>
        </p:txBody>
      </p:sp>
      <p:sp>
        <p:nvSpPr>
          <p:cNvPr id="57" name="Rectangle 56"/>
          <p:cNvSpPr/>
          <p:nvPr/>
        </p:nvSpPr>
        <p:spPr>
          <a:xfrm>
            <a:off x="7845552" y="3692652"/>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046720" y="3621024"/>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Bone</a:t>
            </a:r>
          </a:p>
        </p:txBody>
      </p:sp>
      <p:sp>
        <p:nvSpPr>
          <p:cNvPr id="59" name="Rectangle 58"/>
          <p:cNvSpPr/>
          <p:nvPr/>
        </p:nvSpPr>
        <p:spPr>
          <a:xfrm>
            <a:off x="7845552" y="3877056"/>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046720" y="3805428"/>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Bone Marrow</a:t>
            </a:r>
          </a:p>
        </p:txBody>
      </p:sp>
      <p:sp>
        <p:nvSpPr>
          <p:cNvPr id="61" name="Rectangle 60"/>
          <p:cNvSpPr/>
          <p:nvPr/>
        </p:nvSpPr>
        <p:spPr>
          <a:xfrm>
            <a:off x="7845552" y="4061460"/>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046720" y="3989832"/>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Brain</a:t>
            </a:r>
          </a:p>
        </p:txBody>
      </p:sp>
      <p:sp>
        <p:nvSpPr>
          <p:cNvPr id="63" name="Rectangle 62"/>
          <p:cNvSpPr/>
          <p:nvPr/>
        </p:nvSpPr>
        <p:spPr>
          <a:xfrm>
            <a:off x="7845552" y="4245863"/>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8046720" y="4174235"/>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Brown Adipose Tissue</a:t>
            </a:r>
          </a:p>
        </p:txBody>
      </p:sp>
      <p:sp>
        <p:nvSpPr>
          <p:cNvPr id="65" name="Rectangle 64"/>
          <p:cNvSpPr/>
          <p:nvPr/>
        </p:nvSpPr>
        <p:spPr>
          <a:xfrm>
            <a:off x="7845552" y="4430268"/>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046720" y="4358640"/>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Cecum</a:t>
            </a:r>
          </a:p>
        </p:txBody>
      </p:sp>
      <p:sp>
        <p:nvSpPr>
          <p:cNvPr id="67" name="Rectangle 66"/>
          <p:cNvSpPr/>
          <p:nvPr/>
        </p:nvSpPr>
        <p:spPr>
          <a:xfrm>
            <a:off x="7845552" y="4614672"/>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046720" y="4543044"/>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Cerebellum</a:t>
            </a:r>
          </a:p>
        </p:txBody>
      </p:sp>
      <p:sp>
        <p:nvSpPr>
          <p:cNvPr id="69" name="Rectangle 68"/>
          <p:cNvSpPr/>
          <p:nvPr/>
        </p:nvSpPr>
        <p:spPr>
          <a:xfrm>
            <a:off x="7845552" y="4799076"/>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8046720" y="4727448"/>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Colon</a:t>
            </a:r>
          </a:p>
        </p:txBody>
      </p:sp>
      <p:sp>
        <p:nvSpPr>
          <p:cNvPr id="71" name="Rectangle 70"/>
          <p:cNvSpPr/>
          <p:nvPr/>
        </p:nvSpPr>
        <p:spPr>
          <a:xfrm>
            <a:off x="7845552" y="4983479"/>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8046720" y="4911851"/>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Hippocampus</a:t>
            </a:r>
          </a:p>
        </p:txBody>
      </p:sp>
      <p:sp>
        <p:nvSpPr>
          <p:cNvPr id="73" name="Rectangle 72"/>
          <p:cNvSpPr/>
          <p:nvPr/>
        </p:nvSpPr>
        <p:spPr>
          <a:xfrm>
            <a:off x="7845552" y="5167884"/>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8046720" y="5096256"/>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Lung</a:t>
            </a:r>
          </a:p>
        </p:txBody>
      </p:sp>
      <p:sp>
        <p:nvSpPr>
          <p:cNvPr id="75" name="Rectangle 74"/>
          <p:cNvSpPr/>
          <p:nvPr/>
        </p:nvSpPr>
        <p:spPr>
          <a:xfrm>
            <a:off x="7845552" y="5352288"/>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8046720" y="5280660"/>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Mammary Gland</a:t>
            </a:r>
          </a:p>
        </p:txBody>
      </p:sp>
      <p:sp>
        <p:nvSpPr>
          <p:cNvPr id="77" name="Rectangle 76"/>
          <p:cNvSpPr/>
          <p:nvPr/>
        </p:nvSpPr>
        <p:spPr>
          <a:xfrm>
            <a:off x="7845552" y="5536692"/>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8046720" y="5465064"/>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Optic Nerve</a:t>
            </a:r>
          </a:p>
        </p:txBody>
      </p:sp>
      <p:sp>
        <p:nvSpPr>
          <p:cNvPr id="79" name="Rectangle 78"/>
          <p:cNvSpPr/>
          <p:nvPr/>
        </p:nvSpPr>
        <p:spPr>
          <a:xfrm>
            <a:off x="7845552" y="5721095"/>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8046720" y="5649467"/>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White Adipose Tissue</a:t>
            </a:r>
          </a:p>
        </p:txBody>
      </p:sp>
      <p:sp>
        <p:nvSpPr>
          <p:cNvPr id="81" name="TextBox 8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Twenty-two canonical tissues plus EDL, gastrocnemius, quadriceps, soleus and tibialis anterior; complete counts in Table S12.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GENE INVENTORY</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Ten tissue analyses contained synthetic-informed genes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All 49 associations passed BH FDR in real OSDR data; synthetic profiles affected prioritization, not the statistical test.</a:t>
            </a:r>
          </a:p>
        </p:txBody>
      </p:sp>
      <p:sp>
        <p:nvSpPr>
          <p:cNvPr id="7" name="TextBox 6"/>
          <p:cNvSpPr txBox="1"/>
          <p:nvPr/>
        </p:nvSpPr>
        <p:spPr>
          <a:xfrm>
            <a:off x="411480" y="1700784"/>
            <a:ext cx="2212848" cy="228600"/>
          </a:xfrm>
          <a:prstGeom prst="rect">
            <a:avLst/>
          </a:prstGeom>
          <a:noFill/>
        </p:spPr>
        <p:txBody>
          <a:bodyPr wrap="square" lIns="18288" rIns="18288" tIns="18288" bIns="18288" anchor="t">
            <a:spAutoFit/>
          </a:bodyPr>
          <a:lstStyle/>
          <a:p>
            <a:pPr algn="l">
              <a:spcAft>
                <a:spcPts val="0"/>
              </a:spcAft>
            </a:pPr>
            <a:r>
              <a:rPr sz="980" b="1" i="0">
                <a:solidFill>
                  <a:srgbClr val="082B55"/>
                </a:solidFill>
                <a:latin typeface="Arial"/>
              </a:rPr>
              <a:t>Rows: FLT direction + status</a:t>
            </a:r>
          </a:p>
        </p:txBody>
      </p:sp>
      <p:sp>
        <p:nvSpPr>
          <p:cNvPr id="8" name="Rectangle 7"/>
          <p:cNvSpPr/>
          <p:nvPr/>
        </p:nvSpPr>
        <p:spPr>
          <a:xfrm>
            <a:off x="2761488" y="1746504"/>
            <a:ext cx="128016" cy="45720"/>
          </a:xfrm>
          <a:prstGeom prst="rect">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35224" y="1691640"/>
            <a:ext cx="768096" cy="228600"/>
          </a:xfrm>
          <a:prstGeom prst="rect">
            <a:avLst/>
          </a:prstGeom>
          <a:noFill/>
        </p:spPr>
        <p:txBody>
          <a:bodyPr wrap="square" lIns="18288" rIns="18288" tIns="18288" bIns="18288" anchor="t">
            <a:spAutoFit/>
          </a:bodyPr>
          <a:lstStyle/>
          <a:p>
            <a:pPr algn="l">
              <a:spcAft>
                <a:spcPts val="0"/>
              </a:spcAft>
            </a:pPr>
            <a:r>
              <a:rPr sz="980" b="1" i="0">
                <a:solidFill>
                  <a:srgbClr val="478A64"/>
                </a:solidFill>
                <a:latin typeface="Arial"/>
              </a:rPr>
              <a:t>aligning</a:t>
            </a:r>
          </a:p>
        </p:txBody>
      </p:sp>
      <p:sp>
        <p:nvSpPr>
          <p:cNvPr id="10" name="Rectangle 9"/>
          <p:cNvSpPr/>
          <p:nvPr/>
        </p:nvSpPr>
        <p:spPr>
          <a:xfrm>
            <a:off x="3675887" y="1746504"/>
            <a:ext cx="128016" cy="4572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849624" y="1691640"/>
            <a:ext cx="1051560" cy="228600"/>
          </a:xfrm>
          <a:prstGeom prst="rect">
            <a:avLst/>
          </a:prstGeom>
          <a:noFill/>
        </p:spPr>
        <p:txBody>
          <a:bodyPr wrap="square" lIns="18288" rIns="18288" tIns="18288" bIns="18288" anchor="t">
            <a:spAutoFit/>
          </a:bodyPr>
          <a:lstStyle/>
          <a:p>
            <a:pPr algn="l">
              <a:spcAft>
                <a:spcPts val="0"/>
              </a:spcAft>
            </a:pPr>
            <a:r>
              <a:rPr sz="980" b="1" i="0">
                <a:solidFill>
                  <a:srgbClr val="2D6496"/>
                </a:solidFill>
                <a:latin typeface="Arial"/>
              </a:rPr>
              <a:t>complementary</a:t>
            </a:r>
          </a:p>
        </p:txBody>
      </p:sp>
      <p:sp>
        <p:nvSpPr>
          <p:cNvPr id="12" name="Rectangle 11"/>
          <p:cNvSpPr/>
          <p:nvPr/>
        </p:nvSpPr>
        <p:spPr>
          <a:xfrm>
            <a:off x="4910328" y="1746504"/>
            <a:ext cx="128016" cy="4572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84064" y="1691640"/>
            <a:ext cx="877824" cy="228600"/>
          </a:xfrm>
          <a:prstGeom prst="rect">
            <a:avLst/>
          </a:prstGeom>
          <a:noFill/>
        </p:spPr>
        <p:txBody>
          <a:bodyPr wrap="square" lIns="18288" rIns="18288" tIns="18288" bIns="18288" anchor="t">
            <a:spAutoFit/>
          </a:bodyPr>
          <a:lstStyle/>
          <a:p>
            <a:pPr algn="l">
              <a:spcAft>
                <a:spcPts val="0"/>
              </a:spcAft>
            </a:pPr>
            <a:r>
              <a:rPr sz="980" b="1" i="0">
                <a:solidFill>
                  <a:srgbClr val="D37B00"/>
                </a:solidFill>
                <a:latin typeface="Arial"/>
              </a:rPr>
              <a:t>ambiguous</a:t>
            </a:r>
          </a:p>
        </p:txBody>
      </p:sp>
      <p:sp>
        <p:nvSpPr>
          <p:cNvPr id="14" name="Rectangle 13"/>
          <p:cNvSpPr/>
          <p:nvPr/>
        </p:nvSpPr>
        <p:spPr>
          <a:xfrm>
            <a:off x="5971032" y="1746504"/>
            <a:ext cx="128016" cy="4572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44768" y="1691640"/>
            <a:ext cx="877824" cy="228600"/>
          </a:xfrm>
          <a:prstGeom prst="rect">
            <a:avLst/>
          </a:prstGeom>
          <a:noFill/>
        </p:spPr>
        <p:txBody>
          <a:bodyPr wrap="square" lIns="18288" rIns="18288" tIns="18288" bIns="18288" anchor="t">
            <a:spAutoFit/>
          </a:bodyPr>
          <a:lstStyle/>
          <a:p>
            <a:pPr algn="l">
              <a:spcAft>
                <a:spcPts val="0"/>
              </a:spcAft>
            </a:pPr>
            <a:r>
              <a:rPr sz="980" b="1" i="0">
                <a:solidFill>
                  <a:srgbClr val="8063A6"/>
                </a:solidFill>
                <a:latin typeface="Arial"/>
              </a:rPr>
              <a:t>unmatched</a:t>
            </a:r>
          </a:p>
        </p:txBody>
      </p:sp>
      <p:sp>
        <p:nvSpPr>
          <p:cNvPr id="16" name="TextBox 15"/>
          <p:cNvSpPr txBox="1"/>
          <p:nvPr/>
        </p:nvSpPr>
        <p:spPr>
          <a:xfrm>
            <a:off x="7900416" y="1691640"/>
            <a:ext cx="3840480" cy="228600"/>
          </a:xfrm>
          <a:prstGeom prst="rect">
            <a:avLst/>
          </a:prstGeom>
          <a:noFill/>
        </p:spPr>
        <p:txBody>
          <a:bodyPr wrap="square" lIns="18288" rIns="18288" tIns="18288" bIns="18288" anchor="t">
            <a:spAutoFit/>
          </a:bodyPr>
          <a:lstStyle/>
          <a:p>
            <a:pPr algn="r">
              <a:spcAft>
                <a:spcPts val="0"/>
              </a:spcAft>
            </a:pPr>
            <a:r>
              <a:rPr sz="980" b="0" i="1">
                <a:solidFill>
                  <a:srgbClr val="8A969E"/>
                </a:solidFill>
                <a:latin typeface="Arial"/>
              </a:rPr>
              <a:t>Gene color = literature | Non-empty rows shown</a:t>
            </a:r>
          </a:p>
        </p:txBody>
      </p:sp>
      <p:sp>
        <p:nvSpPr>
          <p:cNvPr id="17" name="Rectangle 16"/>
          <p:cNvSpPr/>
          <p:nvPr/>
        </p:nvSpPr>
        <p:spPr>
          <a:xfrm>
            <a:off x="393192" y="204825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8056" y="2112264"/>
            <a:ext cx="1243584" cy="1234439"/>
          </a:xfrm>
          <a:prstGeom prst="rect">
            <a:avLst/>
          </a:prstGeom>
          <a:noFill/>
        </p:spPr>
        <p:txBody>
          <a:bodyPr wrap="square" lIns="0" rIns="0" tIns="0" bIns="0" anchor="t">
            <a:spAutoFit/>
          </a:bodyPr>
          <a:lstStyle/>
          <a:p>
            <a:pPr>
              <a:spcAft>
                <a:spcPts val="0"/>
              </a:spcAft>
            </a:pPr>
            <a:r>
              <a:rPr sz="1180" b="1" i="0">
                <a:solidFill>
                  <a:srgbClr val="082B55"/>
                </a:solidFill>
                <a:latin typeface="Arial"/>
              </a:rPr>
              <a:t>Thymus
</a:t>
            </a:r>
            <a:r>
              <a:rPr sz="900" b="0" i="0">
                <a:solidFill>
                  <a:srgbClr val="8A969E"/>
                </a:solidFill>
                <a:latin typeface="Arial"/>
              </a:rPr>
              <a:t>16 genes</a:t>
            </a:r>
          </a:p>
        </p:txBody>
      </p:sp>
      <p:sp>
        <p:nvSpPr>
          <p:cNvPr id="19" name="TextBox 18"/>
          <p:cNvSpPr txBox="1"/>
          <p:nvPr/>
        </p:nvSpPr>
        <p:spPr>
          <a:xfrm>
            <a:off x="1737360" y="2112264"/>
            <a:ext cx="658368" cy="239669"/>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20" name="TextBox 19"/>
          <p:cNvSpPr txBox="1"/>
          <p:nvPr/>
        </p:nvSpPr>
        <p:spPr>
          <a:xfrm>
            <a:off x="2423160" y="2112264"/>
            <a:ext cx="713232" cy="239669"/>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21" name="TextBox 20"/>
          <p:cNvSpPr txBox="1"/>
          <p:nvPr/>
        </p:nvSpPr>
        <p:spPr>
          <a:xfrm>
            <a:off x="3172968" y="2112264"/>
            <a:ext cx="2770632" cy="239669"/>
          </a:xfrm>
          <a:prstGeom prst="rect">
            <a:avLst/>
          </a:prstGeom>
          <a:noFill/>
        </p:spPr>
        <p:txBody>
          <a:bodyPr wrap="square" lIns="0" rIns="0" tIns="0" bIns="0" anchor="ctr">
            <a:spAutoFit/>
          </a:bodyPr>
          <a:lstStyle/>
          <a:p>
            <a:pPr>
              <a:spcAft>
                <a:spcPts val="0"/>
              </a:spcAft>
            </a:pPr>
            <a:r>
              <a:rPr sz="900" b="1" i="1">
                <a:solidFill>
                  <a:srgbClr val="2D6496"/>
                </a:solidFill>
                <a:latin typeface="Arial"/>
              </a:rPr>
              <a:t>Hsd17b11</a:t>
            </a:r>
            <a:r>
              <a:rPr sz="900" b="0" i="0">
                <a:solidFill>
                  <a:srgbClr val="8A969E"/>
                </a:solidFill>
                <a:latin typeface="Arial"/>
              </a:rPr>
              <a:t>, </a:t>
            </a:r>
            <a:r>
              <a:rPr sz="900" b="1" i="1">
                <a:solidFill>
                  <a:srgbClr val="2D6496"/>
                </a:solidFill>
                <a:latin typeface="Arial"/>
              </a:rPr>
              <a:t>Etv1</a:t>
            </a:r>
          </a:p>
        </p:txBody>
      </p:sp>
      <p:sp>
        <p:nvSpPr>
          <p:cNvPr id="22" name="Rectangle 21"/>
          <p:cNvSpPr/>
          <p:nvPr/>
        </p:nvSpPr>
        <p:spPr>
          <a:xfrm>
            <a:off x="1709928" y="2361077"/>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737360" y="2370221"/>
            <a:ext cx="658368" cy="239669"/>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24" name="TextBox 23"/>
          <p:cNvSpPr txBox="1"/>
          <p:nvPr/>
        </p:nvSpPr>
        <p:spPr>
          <a:xfrm>
            <a:off x="2423160" y="2370221"/>
            <a:ext cx="713232" cy="239669"/>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25" name="TextBox 24"/>
          <p:cNvSpPr txBox="1"/>
          <p:nvPr/>
        </p:nvSpPr>
        <p:spPr>
          <a:xfrm>
            <a:off x="3172968" y="2370221"/>
            <a:ext cx="2770632" cy="239669"/>
          </a:xfrm>
          <a:prstGeom prst="rect">
            <a:avLst/>
          </a:prstGeom>
          <a:noFill/>
        </p:spPr>
        <p:txBody>
          <a:bodyPr wrap="square" lIns="0" rIns="0" tIns="0" bIns="0" anchor="ctr">
            <a:spAutoFit/>
          </a:bodyPr>
          <a:lstStyle/>
          <a:p>
            <a:pPr>
              <a:spcAft>
                <a:spcPts val="0"/>
              </a:spcAft>
            </a:pPr>
            <a:r>
              <a:rPr sz="900" b="1" i="1">
                <a:solidFill>
                  <a:srgbClr val="8063A6"/>
                </a:solidFill>
                <a:latin typeface="Arial"/>
              </a:rPr>
              <a:t>Snx7</a:t>
            </a:r>
          </a:p>
        </p:txBody>
      </p:sp>
      <p:sp>
        <p:nvSpPr>
          <p:cNvPr id="26" name="Rectangle 25"/>
          <p:cNvSpPr/>
          <p:nvPr/>
        </p:nvSpPr>
        <p:spPr>
          <a:xfrm>
            <a:off x="1709928" y="2619034"/>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737360" y="2628178"/>
            <a:ext cx="658368" cy="433136"/>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28" name="TextBox 27"/>
          <p:cNvSpPr txBox="1"/>
          <p:nvPr/>
        </p:nvSpPr>
        <p:spPr>
          <a:xfrm>
            <a:off x="2423160" y="2628178"/>
            <a:ext cx="713232" cy="433136"/>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29" name="TextBox 28"/>
          <p:cNvSpPr txBox="1"/>
          <p:nvPr/>
        </p:nvSpPr>
        <p:spPr>
          <a:xfrm>
            <a:off x="3172968" y="2628178"/>
            <a:ext cx="2770632" cy="433136"/>
          </a:xfrm>
          <a:prstGeom prst="rect">
            <a:avLst/>
          </a:prstGeom>
          <a:noFill/>
        </p:spPr>
        <p:txBody>
          <a:bodyPr wrap="square" lIns="0" rIns="0" tIns="0" bIns="0" anchor="ctr">
            <a:spAutoFit/>
          </a:bodyPr>
          <a:lstStyle/>
          <a:p>
            <a:pPr>
              <a:spcAft>
                <a:spcPts val="0"/>
              </a:spcAft>
            </a:pPr>
            <a:r>
              <a:rPr sz="900" b="1" i="1">
                <a:solidFill>
                  <a:srgbClr val="478A64"/>
                </a:solidFill>
                <a:latin typeface="Arial"/>
              </a:rPr>
              <a:t>Nusap1</a:t>
            </a:r>
            <a:r>
              <a:rPr sz="900" b="0" i="0">
                <a:solidFill>
                  <a:srgbClr val="8A969E"/>
                </a:solidFill>
                <a:latin typeface="Arial"/>
              </a:rPr>
              <a:t>, </a:t>
            </a:r>
            <a:r>
              <a:rPr sz="900" b="1" i="1">
                <a:solidFill>
                  <a:srgbClr val="478A64"/>
                </a:solidFill>
                <a:latin typeface="Arial"/>
              </a:rPr>
              <a:t>Stmn1</a:t>
            </a:r>
            <a:r>
              <a:rPr sz="900" b="0" i="0">
                <a:solidFill>
                  <a:srgbClr val="8A969E"/>
                </a:solidFill>
                <a:latin typeface="Arial"/>
              </a:rPr>
              <a:t>, </a:t>
            </a:r>
            <a:r>
              <a:rPr sz="900" b="1" i="1">
                <a:solidFill>
                  <a:srgbClr val="D37B00"/>
                </a:solidFill>
                <a:latin typeface="Arial"/>
              </a:rPr>
              <a:t>Birc5</a:t>
            </a:r>
            <a:r>
              <a:rPr sz="900" b="0" i="0">
                <a:solidFill>
                  <a:srgbClr val="8A969E"/>
                </a:solidFill>
                <a:latin typeface="Arial"/>
              </a:rPr>
              <a:t>, </a:t>
            </a:r>
            <a:r>
              <a:rPr sz="900" b="1" i="1">
                <a:solidFill>
                  <a:srgbClr val="478A64"/>
                </a:solidFill>
                <a:latin typeface="Arial"/>
              </a:rPr>
              <a:t>Cdk1</a:t>
            </a:r>
            <a:r>
              <a:rPr sz="900" b="0" i="0">
                <a:solidFill>
                  <a:srgbClr val="8A969E"/>
                </a:solidFill>
                <a:latin typeface="Arial"/>
              </a:rPr>
              <a:t>, </a:t>
            </a:r>
            <a:r>
              <a:rPr sz="900" b="1" i="1">
                <a:solidFill>
                  <a:srgbClr val="478A64"/>
                </a:solidFill>
                <a:latin typeface="Arial"/>
              </a:rPr>
              <a:t>Top2a</a:t>
            </a:r>
            <a:r>
              <a:rPr sz="900" b="0" i="0">
                <a:solidFill>
                  <a:srgbClr val="8A969E"/>
                </a:solidFill>
                <a:latin typeface="Arial"/>
              </a:rPr>
              <a:t>, </a:t>
            </a:r>
            <a:r>
              <a:rPr sz="900" b="1" i="1">
                <a:solidFill>
                  <a:srgbClr val="478A64"/>
                </a:solidFill>
                <a:latin typeface="Arial"/>
              </a:rPr>
              <a:t>Ccnb2</a:t>
            </a:r>
            <a:r>
              <a:rPr sz="900" b="0" i="0">
                <a:solidFill>
                  <a:srgbClr val="8A969E"/>
                </a:solidFill>
                <a:latin typeface="Arial"/>
              </a:rPr>
              <a:t>, </a:t>
            </a:r>
            <a:r>
              <a:rPr sz="900" b="1" i="1">
                <a:solidFill>
                  <a:srgbClr val="478A64"/>
                </a:solidFill>
                <a:latin typeface="Arial"/>
              </a:rPr>
              <a:t>Aurka</a:t>
            </a:r>
            <a:r>
              <a:rPr sz="900" b="0" i="0">
                <a:solidFill>
                  <a:srgbClr val="8A969E"/>
                </a:solidFill>
                <a:latin typeface="Arial"/>
              </a:rPr>
              <a:t>, </a:t>
            </a:r>
            <a:r>
              <a:rPr sz="900" b="1" i="1">
                <a:solidFill>
                  <a:srgbClr val="478A64"/>
                </a:solidFill>
                <a:latin typeface="Arial"/>
              </a:rPr>
              <a:t>Ccne2</a:t>
            </a:r>
            <a:r>
              <a:rPr sz="900" b="0" i="0">
                <a:solidFill>
                  <a:srgbClr val="8A969E"/>
                </a:solidFill>
                <a:latin typeface="Arial"/>
              </a:rPr>
              <a:t>, </a:t>
            </a:r>
            <a:r>
              <a:rPr sz="900" b="1" i="1">
                <a:solidFill>
                  <a:srgbClr val="478A64"/>
                </a:solidFill>
                <a:latin typeface="Arial"/>
              </a:rPr>
              <a:t>Kif20a</a:t>
            </a:r>
            <a:r>
              <a:rPr sz="900" b="0" i="0">
                <a:solidFill>
                  <a:srgbClr val="8A969E"/>
                </a:solidFill>
                <a:latin typeface="Arial"/>
              </a:rPr>
              <a:t>, </a:t>
            </a:r>
            <a:r>
              <a:rPr sz="900" b="1" i="1">
                <a:solidFill>
                  <a:srgbClr val="478A64"/>
                </a:solidFill>
                <a:latin typeface="Arial"/>
              </a:rPr>
              <a:t>Pcna</a:t>
            </a:r>
            <a:r>
              <a:rPr sz="900" b="0" i="0">
                <a:solidFill>
                  <a:srgbClr val="8A969E"/>
                </a:solidFill>
                <a:latin typeface="Arial"/>
              </a:rPr>
              <a:t>, </a:t>
            </a:r>
            <a:r>
              <a:rPr sz="900" b="1" i="1">
                <a:solidFill>
                  <a:srgbClr val="478A64"/>
                </a:solidFill>
                <a:latin typeface="Arial"/>
              </a:rPr>
              <a:t>Ccnf</a:t>
            </a:r>
          </a:p>
        </p:txBody>
      </p:sp>
      <p:sp>
        <p:nvSpPr>
          <p:cNvPr id="30" name="Rectangle 29"/>
          <p:cNvSpPr/>
          <p:nvPr/>
        </p:nvSpPr>
        <p:spPr>
          <a:xfrm>
            <a:off x="1709928" y="3070458"/>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737360" y="3079602"/>
            <a:ext cx="658368" cy="239669"/>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32" name="TextBox 31"/>
          <p:cNvSpPr txBox="1"/>
          <p:nvPr/>
        </p:nvSpPr>
        <p:spPr>
          <a:xfrm>
            <a:off x="2423160" y="3079602"/>
            <a:ext cx="713232" cy="239669"/>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33" name="TextBox 32"/>
          <p:cNvSpPr txBox="1"/>
          <p:nvPr/>
        </p:nvSpPr>
        <p:spPr>
          <a:xfrm>
            <a:off x="3172968" y="3079602"/>
            <a:ext cx="2770632" cy="239669"/>
          </a:xfrm>
          <a:prstGeom prst="rect">
            <a:avLst/>
          </a:prstGeom>
          <a:noFill/>
        </p:spPr>
        <p:txBody>
          <a:bodyPr wrap="square" lIns="0" rIns="0" tIns="0" bIns="0" anchor="ctr">
            <a:spAutoFit/>
          </a:bodyPr>
          <a:lstStyle/>
          <a:p>
            <a:pPr>
              <a:spcAft>
                <a:spcPts val="0"/>
              </a:spcAft>
            </a:pPr>
            <a:r>
              <a:rPr sz="900" b="1" i="1">
                <a:solidFill>
                  <a:srgbClr val="478A64"/>
                </a:solidFill>
                <a:latin typeface="Arial"/>
              </a:rPr>
              <a:t>Ube2c</a:t>
            </a:r>
            <a:r>
              <a:rPr sz="900" b="0" i="0">
                <a:solidFill>
                  <a:srgbClr val="8A969E"/>
                </a:solidFill>
                <a:latin typeface="Arial"/>
              </a:rPr>
              <a:t>, </a:t>
            </a:r>
            <a:r>
              <a:rPr sz="900" b="1" i="1">
                <a:solidFill>
                  <a:srgbClr val="478A64"/>
                </a:solidFill>
                <a:latin typeface="Arial"/>
              </a:rPr>
              <a:t>Gmnn</a:t>
            </a:r>
          </a:p>
        </p:txBody>
      </p:sp>
      <p:sp>
        <p:nvSpPr>
          <p:cNvPr id="34" name="Rectangle 33"/>
          <p:cNvSpPr/>
          <p:nvPr/>
        </p:nvSpPr>
        <p:spPr>
          <a:xfrm>
            <a:off x="393192" y="345643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48056" y="3520439"/>
            <a:ext cx="1243584" cy="521208"/>
          </a:xfrm>
          <a:prstGeom prst="rect">
            <a:avLst/>
          </a:prstGeom>
          <a:noFill/>
        </p:spPr>
        <p:txBody>
          <a:bodyPr wrap="square" lIns="0" rIns="0" tIns="0" bIns="0" anchor="t">
            <a:spAutoFit/>
          </a:bodyPr>
          <a:lstStyle/>
          <a:p>
            <a:pPr>
              <a:spcAft>
                <a:spcPts val="0"/>
              </a:spcAft>
            </a:pPr>
            <a:r>
              <a:rPr sz="1180" b="1" i="0">
                <a:solidFill>
                  <a:srgbClr val="082B55"/>
                </a:solidFill>
                <a:latin typeface="Arial"/>
              </a:rPr>
              <a:t>Spleen
</a:t>
            </a:r>
            <a:r>
              <a:rPr sz="900" b="0" i="0">
                <a:solidFill>
                  <a:srgbClr val="8A969E"/>
                </a:solidFill>
                <a:latin typeface="Arial"/>
              </a:rPr>
              <a:t>4 genes</a:t>
            </a:r>
          </a:p>
        </p:txBody>
      </p:sp>
      <p:sp>
        <p:nvSpPr>
          <p:cNvPr id="36" name="TextBox 35"/>
          <p:cNvSpPr txBox="1"/>
          <p:nvPr/>
        </p:nvSpPr>
        <p:spPr>
          <a:xfrm>
            <a:off x="1737360" y="3520439"/>
            <a:ext cx="658368" cy="237744"/>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37" name="TextBox 36"/>
          <p:cNvSpPr txBox="1"/>
          <p:nvPr/>
        </p:nvSpPr>
        <p:spPr>
          <a:xfrm>
            <a:off x="2423160" y="3520439"/>
            <a:ext cx="713232" cy="237744"/>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38" name="TextBox 37"/>
          <p:cNvSpPr txBox="1"/>
          <p:nvPr/>
        </p:nvSpPr>
        <p:spPr>
          <a:xfrm>
            <a:off x="3172968" y="3520439"/>
            <a:ext cx="2770632" cy="237744"/>
          </a:xfrm>
          <a:prstGeom prst="rect">
            <a:avLst/>
          </a:prstGeom>
          <a:noFill/>
        </p:spPr>
        <p:txBody>
          <a:bodyPr wrap="square" lIns="0" rIns="0" tIns="0" bIns="0" anchor="ctr">
            <a:spAutoFit/>
          </a:bodyPr>
          <a:lstStyle/>
          <a:p>
            <a:pPr>
              <a:spcAft>
                <a:spcPts val="0"/>
              </a:spcAft>
            </a:pPr>
            <a:r>
              <a:rPr sz="900" b="1" i="1">
                <a:solidFill>
                  <a:srgbClr val="2D6496"/>
                </a:solidFill>
                <a:latin typeface="Arial"/>
              </a:rPr>
              <a:t>Rai14</a:t>
            </a:r>
            <a:r>
              <a:rPr sz="900" b="0" i="0">
                <a:solidFill>
                  <a:srgbClr val="8A969E"/>
                </a:solidFill>
                <a:latin typeface="Arial"/>
              </a:rPr>
              <a:t>, </a:t>
            </a:r>
            <a:r>
              <a:rPr sz="900" b="1" i="1">
                <a:solidFill>
                  <a:srgbClr val="2D6496"/>
                </a:solidFill>
                <a:latin typeface="Arial"/>
              </a:rPr>
              <a:t>Myl9</a:t>
            </a:r>
            <a:r>
              <a:rPr sz="900" b="0" i="0">
                <a:solidFill>
                  <a:srgbClr val="8A969E"/>
                </a:solidFill>
                <a:latin typeface="Arial"/>
              </a:rPr>
              <a:t>, </a:t>
            </a:r>
            <a:r>
              <a:rPr sz="900" b="1" i="1">
                <a:solidFill>
                  <a:srgbClr val="2D6496"/>
                </a:solidFill>
                <a:latin typeface="Arial"/>
              </a:rPr>
              <a:t>Ptprk</a:t>
            </a:r>
          </a:p>
        </p:txBody>
      </p:sp>
      <p:sp>
        <p:nvSpPr>
          <p:cNvPr id="39" name="Rectangle 38"/>
          <p:cNvSpPr/>
          <p:nvPr/>
        </p:nvSpPr>
        <p:spPr>
          <a:xfrm>
            <a:off x="1709928" y="3767328"/>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737360" y="3776472"/>
            <a:ext cx="658368" cy="237744"/>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41" name="TextBox 40"/>
          <p:cNvSpPr txBox="1"/>
          <p:nvPr/>
        </p:nvSpPr>
        <p:spPr>
          <a:xfrm>
            <a:off x="2423160" y="3776472"/>
            <a:ext cx="713232" cy="237744"/>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42" name="TextBox 41"/>
          <p:cNvSpPr txBox="1"/>
          <p:nvPr/>
        </p:nvSpPr>
        <p:spPr>
          <a:xfrm>
            <a:off x="3172968" y="3776472"/>
            <a:ext cx="2770632" cy="237744"/>
          </a:xfrm>
          <a:prstGeom prst="rect">
            <a:avLst/>
          </a:prstGeom>
          <a:noFill/>
        </p:spPr>
        <p:txBody>
          <a:bodyPr wrap="square" lIns="0" rIns="0" tIns="0" bIns="0" anchor="ctr">
            <a:spAutoFit/>
          </a:bodyPr>
          <a:lstStyle/>
          <a:p>
            <a:pPr>
              <a:spcAft>
                <a:spcPts val="0"/>
              </a:spcAft>
            </a:pPr>
            <a:r>
              <a:rPr sz="900" b="1" i="1">
                <a:solidFill>
                  <a:srgbClr val="2D6496"/>
                </a:solidFill>
                <a:latin typeface="Arial"/>
              </a:rPr>
              <a:t>Loxl1</a:t>
            </a:r>
          </a:p>
        </p:txBody>
      </p:sp>
      <p:sp>
        <p:nvSpPr>
          <p:cNvPr id="43" name="Rectangle 42"/>
          <p:cNvSpPr/>
          <p:nvPr/>
        </p:nvSpPr>
        <p:spPr>
          <a:xfrm>
            <a:off x="393192" y="415137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48056" y="4215384"/>
            <a:ext cx="1243584" cy="466344"/>
          </a:xfrm>
          <a:prstGeom prst="rect">
            <a:avLst/>
          </a:prstGeom>
          <a:noFill/>
        </p:spPr>
        <p:txBody>
          <a:bodyPr wrap="square" lIns="0" rIns="0" tIns="0" bIns="0" anchor="t">
            <a:spAutoFit/>
          </a:bodyPr>
          <a:lstStyle/>
          <a:p>
            <a:pPr>
              <a:spcAft>
                <a:spcPts val="0"/>
              </a:spcAft>
            </a:pPr>
            <a:r>
              <a:rPr sz="1180" b="1" i="0">
                <a:solidFill>
                  <a:srgbClr val="082B55"/>
                </a:solidFill>
                <a:latin typeface="Arial"/>
              </a:rPr>
              <a:t>Kidney
</a:t>
            </a:r>
            <a:r>
              <a:rPr sz="900" b="0" i="0">
                <a:solidFill>
                  <a:srgbClr val="8A969E"/>
                </a:solidFill>
                <a:latin typeface="Arial"/>
              </a:rPr>
              <a:t>2 genes</a:t>
            </a:r>
          </a:p>
        </p:txBody>
      </p:sp>
      <p:sp>
        <p:nvSpPr>
          <p:cNvPr id="45" name="TextBox 44"/>
          <p:cNvSpPr txBox="1"/>
          <p:nvPr/>
        </p:nvSpPr>
        <p:spPr>
          <a:xfrm>
            <a:off x="1737360" y="4215383"/>
            <a:ext cx="658368" cy="210312"/>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46" name="TextBox 45"/>
          <p:cNvSpPr txBox="1"/>
          <p:nvPr/>
        </p:nvSpPr>
        <p:spPr>
          <a:xfrm>
            <a:off x="2423160" y="4215383"/>
            <a:ext cx="713232" cy="210312"/>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47" name="TextBox 46"/>
          <p:cNvSpPr txBox="1"/>
          <p:nvPr/>
        </p:nvSpPr>
        <p:spPr>
          <a:xfrm>
            <a:off x="3172968" y="4215383"/>
            <a:ext cx="2770632" cy="210312"/>
          </a:xfrm>
          <a:prstGeom prst="rect">
            <a:avLst/>
          </a:prstGeom>
          <a:noFill/>
        </p:spPr>
        <p:txBody>
          <a:bodyPr wrap="square" lIns="0" rIns="0" tIns="0" bIns="0" anchor="ctr">
            <a:spAutoFit/>
          </a:bodyPr>
          <a:lstStyle/>
          <a:p>
            <a:pPr>
              <a:spcAft>
                <a:spcPts val="0"/>
              </a:spcAft>
            </a:pPr>
            <a:r>
              <a:rPr sz="900" b="1" i="1">
                <a:solidFill>
                  <a:srgbClr val="2D6496"/>
                </a:solidFill>
                <a:latin typeface="Arial"/>
              </a:rPr>
              <a:t>Inpp4b</a:t>
            </a:r>
          </a:p>
        </p:txBody>
      </p:sp>
      <p:sp>
        <p:nvSpPr>
          <p:cNvPr id="48" name="Rectangle 47"/>
          <p:cNvSpPr/>
          <p:nvPr/>
        </p:nvSpPr>
        <p:spPr>
          <a:xfrm>
            <a:off x="1709928" y="4434840"/>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737360" y="4443983"/>
            <a:ext cx="658368" cy="210312"/>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50" name="TextBox 49"/>
          <p:cNvSpPr txBox="1"/>
          <p:nvPr/>
        </p:nvSpPr>
        <p:spPr>
          <a:xfrm>
            <a:off x="2423160" y="4443983"/>
            <a:ext cx="713232" cy="210312"/>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51" name="TextBox 50"/>
          <p:cNvSpPr txBox="1"/>
          <p:nvPr/>
        </p:nvSpPr>
        <p:spPr>
          <a:xfrm>
            <a:off x="3172968" y="4443983"/>
            <a:ext cx="2770632" cy="210312"/>
          </a:xfrm>
          <a:prstGeom prst="rect">
            <a:avLst/>
          </a:prstGeom>
          <a:noFill/>
        </p:spPr>
        <p:txBody>
          <a:bodyPr wrap="square" lIns="0" rIns="0" tIns="0" bIns="0" anchor="ctr">
            <a:spAutoFit/>
          </a:bodyPr>
          <a:lstStyle/>
          <a:p>
            <a:pPr>
              <a:spcAft>
                <a:spcPts val="0"/>
              </a:spcAft>
            </a:pPr>
            <a:r>
              <a:rPr sz="900" b="1" i="1">
                <a:solidFill>
                  <a:srgbClr val="2D6496"/>
                </a:solidFill>
                <a:latin typeface="Arial"/>
              </a:rPr>
              <a:t>Slc37a4</a:t>
            </a:r>
          </a:p>
        </p:txBody>
      </p:sp>
      <p:sp>
        <p:nvSpPr>
          <p:cNvPr id="52" name="Rectangle 51"/>
          <p:cNvSpPr/>
          <p:nvPr/>
        </p:nvSpPr>
        <p:spPr>
          <a:xfrm>
            <a:off x="393192" y="479145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48056" y="4855464"/>
            <a:ext cx="1243584" cy="466344"/>
          </a:xfrm>
          <a:prstGeom prst="rect">
            <a:avLst/>
          </a:prstGeom>
          <a:noFill/>
        </p:spPr>
        <p:txBody>
          <a:bodyPr wrap="square" lIns="0" rIns="0" tIns="0" bIns="0" anchor="t">
            <a:spAutoFit/>
          </a:bodyPr>
          <a:lstStyle/>
          <a:p>
            <a:pPr>
              <a:spcAft>
                <a:spcPts val="0"/>
              </a:spcAft>
            </a:pPr>
            <a:r>
              <a:rPr sz="1080" b="1" i="0">
                <a:solidFill>
                  <a:srgbClr val="082B55"/>
                </a:solidFill>
                <a:latin typeface="Arial"/>
              </a:rPr>
              <a:t>Gastrocnemius
</a:t>
            </a:r>
            <a:r>
              <a:rPr sz="900" b="0" i="0">
                <a:solidFill>
                  <a:srgbClr val="8A969E"/>
                </a:solidFill>
                <a:latin typeface="Arial"/>
              </a:rPr>
              <a:t>2 genes</a:t>
            </a:r>
          </a:p>
        </p:txBody>
      </p:sp>
      <p:sp>
        <p:nvSpPr>
          <p:cNvPr id="54" name="TextBox 53"/>
          <p:cNvSpPr txBox="1"/>
          <p:nvPr/>
        </p:nvSpPr>
        <p:spPr>
          <a:xfrm>
            <a:off x="1737360" y="4855464"/>
            <a:ext cx="658368" cy="210312"/>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55" name="TextBox 54"/>
          <p:cNvSpPr txBox="1"/>
          <p:nvPr/>
        </p:nvSpPr>
        <p:spPr>
          <a:xfrm>
            <a:off x="2423160" y="4855464"/>
            <a:ext cx="713232" cy="210312"/>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56" name="TextBox 55"/>
          <p:cNvSpPr txBox="1"/>
          <p:nvPr/>
        </p:nvSpPr>
        <p:spPr>
          <a:xfrm>
            <a:off x="3172968" y="4855464"/>
            <a:ext cx="2770632" cy="210312"/>
          </a:xfrm>
          <a:prstGeom prst="rect">
            <a:avLst/>
          </a:prstGeom>
          <a:noFill/>
        </p:spPr>
        <p:txBody>
          <a:bodyPr wrap="square" lIns="0" rIns="0" tIns="0" bIns="0" anchor="ctr">
            <a:spAutoFit/>
          </a:bodyPr>
          <a:lstStyle/>
          <a:p>
            <a:pPr>
              <a:spcAft>
                <a:spcPts val="0"/>
              </a:spcAft>
            </a:pPr>
            <a:r>
              <a:rPr sz="900" b="1" i="1">
                <a:solidFill>
                  <a:srgbClr val="478A64"/>
                </a:solidFill>
                <a:latin typeface="Arial"/>
              </a:rPr>
              <a:t>Nfkbia</a:t>
            </a:r>
          </a:p>
        </p:txBody>
      </p:sp>
      <p:sp>
        <p:nvSpPr>
          <p:cNvPr id="57" name="Rectangle 56"/>
          <p:cNvSpPr/>
          <p:nvPr/>
        </p:nvSpPr>
        <p:spPr>
          <a:xfrm>
            <a:off x="1709928" y="5074920"/>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737360" y="5084064"/>
            <a:ext cx="658368" cy="210312"/>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59" name="TextBox 58"/>
          <p:cNvSpPr txBox="1"/>
          <p:nvPr/>
        </p:nvSpPr>
        <p:spPr>
          <a:xfrm>
            <a:off x="2423160" y="5084064"/>
            <a:ext cx="713232" cy="210312"/>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60" name="TextBox 59"/>
          <p:cNvSpPr txBox="1"/>
          <p:nvPr/>
        </p:nvSpPr>
        <p:spPr>
          <a:xfrm>
            <a:off x="3172968" y="5084064"/>
            <a:ext cx="2770632" cy="210312"/>
          </a:xfrm>
          <a:prstGeom prst="rect">
            <a:avLst/>
          </a:prstGeom>
          <a:noFill/>
        </p:spPr>
        <p:txBody>
          <a:bodyPr wrap="square" lIns="0" rIns="0" tIns="0" bIns="0" anchor="ctr">
            <a:spAutoFit/>
          </a:bodyPr>
          <a:lstStyle/>
          <a:p>
            <a:pPr>
              <a:spcAft>
                <a:spcPts val="0"/>
              </a:spcAft>
            </a:pPr>
            <a:r>
              <a:rPr sz="900" b="1" i="1">
                <a:solidFill>
                  <a:srgbClr val="2D6496"/>
                </a:solidFill>
                <a:latin typeface="Arial"/>
              </a:rPr>
              <a:t>Fhl2</a:t>
            </a:r>
          </a:p>
        </p:txBody>
      </p:sp>
      <p:sp>
        <p:nvSpPr>
          <p:cNvPr id="61" name="Rectangle 60"/>
          <p:cNvSpPr/>
          <p:nvPr/>
        </p:nvSpPr>
        <p:spPr>
          <a:xfrm>
            <a:off x="393192" y="543153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48056" y="5495544"/>
            <a:ext cx="1243584" cy="374904"/>
          </a:xfrm>
          <a:prstGeom prst="rect">
            <a:avLst/>
          </a:prstGeom>
          <a:noFill/>
        </p:spPr>
        <p:txBody>
          <a:bodyPr wrap="square" lIns="0" rIns="0" tIns="0" bIns="0" anchor="t">
            <a:spAutoFit/>
          </a:bodyPr>
          <a:lstStyle/>
          <a:p>
            <a:pPr>
              <a:spcAft>
                <a:spcPts val="0"/>
              </a:spcAft>
            </a:pPr>
            <a:r>
              <a:rPr sz="1180" b="1" i="0">
                <a:solidFill>
                  <a:srgbClr val="082B55"/>
                </a:solidFill>
                <a:latin typeface="Arial"/>
              </a:rPr>
              <a:t>Eye
</a:t>
            </a:r>
            <a:r>
              <a:rPr sz="900" b="0" i="0">
                <a:solidFill>
                  <a:srgbClr val="8A969E"/>
                </a:solidFill>
                <a:latin typeface="Arial"/>
              </a:rPr>
              <a:t>1 gene</a:t>
            </a:r>
          </a:p>
        </p:txBody>
      </p:sp>
      <p:sp>
        <p:nvSpPr>
          <p:cNvPr id="63" name="TextBox 62"/>
          <p:cNvSpPr txBox="1"/>
          <p:nvPr/>
        </p:nvSpPr>
        <p:spPr>
          <a:xfrm>
            <a:off x="1737360" y="5495544"/>
            <a:ext cx="658368" cy="347472"/>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64" name="TextBox 63"/>
          <p:cNvSpPr txBox="1"/>
          <p:nvPr/>
        </p:nvSpPr>
        <p:spPr>
          <a:xfrm>
            <a:off x="2423160" y="5495544"/>
            <a:ext cx="713232" cy="347472"/>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65" name="TextBox 64"/>
          <p:cNvSpPr txBox="1"/>
          <p:nvPr/>
        </p:nvSpPr>
        <p:spPr>
          <a:xfrm>
            <a:off x="3172968" y="5495544"/>
            <a:ext cx="2770632" cy="347472"/>
          </a:xfrm>
          <a:prstGeom prst="rect">
            <a:avLst/>
          </a:prstGeom>
          <a:noFill/>
        </p:spPr>
        <p:txBody>
          <a:bodyPr wrap="square" lIns="0" rIns="0" tIns="0" bIns="0" anchor="ctr">
            <a:spAutoFit/>
          </a:bodyPr>
          <a:lstStyle/>
          <a:p>
            <a:pPr>
              <a:spcAft>
                <a:spcPts val="0"/>
              </a:spcAft>
            </a:pPr>
            <a:r>
              <a:rPr sz="900" b="1" i="1">
                <a:solidFill>
                  <a:srgbClr val="478A64"/>
                </a:solidFill>
                <a:latin typeface="Arial"/>
              </a:rPr>
              <a:t>Klhl21</a:t>
            </a:r>
          </a:p>
        </p:txBody>
      </p:sp>
      <p:sp>
        <p:nvSpPr>
          <p:cNvPr id="66" name="Rectangle 65"/>
          <p:cNvSpPr/>
          <p:nvPr/>
        </p:nvSpPr>
        <p:spPr>
          <a:xfrm>
            <a:off x="6181344" y="204825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236207" y="2112264"/>
            <a:ext cx="1243584" cy="1051560"/>
          </a:xfrm>
          <a:prstGeom prst="rect">
            <a:avLst/>
          </a:prstGeom>
          <a:noFill/>
        </p:spPr>
        <p:txBody>
          <a:bodyPr wrap="square" lIns="0" rIns="0" tIns="0" bIns="0" anchor="t">
            <a:spAutoFit/>
          </a:bodyPr>
          <a:lstStyle/>
          <a:p>
            <a:pPr>
              <a:spcAft>
                <a:spcPts val="0"/>
              </a:spcAft>
            </a:pPr>
            <a:r>
              <a:rPr sz="1080" b="1" i="0">
                <a:solidFill>
                  <a:srgbClr val="082B55"/>
                </a:solidFill>
                <a:latin typeface="Arial"/>
              </a:rPr>
              <a:t>Skeletal muscle
(pooled)
</a:t>
            </a:r>
            <a:r>
              <a:rPr sz="900" b="0" i="0">
                <a:solidFill>
                  <a:srgbClr val="8A969E"/>
                </a:solidFill>
                <a:latin typeface="Arial"/>
              </a:rPr>
              <a:t>12 genes</a:t>
            </a:r>
          </a:p>
        </p:txBody>
      </p:sp>
      <p:sp>
        <p:nvSpPr>
          <p:cNvPr id="68" name="TextBox 67"/>
          <p:cNvSpPr txBox="1"/>
          <p:nvPr/>
        </p:nvSpPr>
        <p:spPr>
          <a:xfrm>
            <a:off x="7525512" y="2112264"/>
            <a:ext cx="658368" cy="468172"/>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69" name="TextBox 68"/>
          <p:cNvSpPr txBox="1"/>
          <p:nvPr/>
        </p:nvSpPr>
        <p:spPr>
          <a:xfrm>
            <a:off x="8211312" y="2112264"/>
            <a:ext cx="713232" cy="468172"/>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70" name="TextBox 69"/>
          <p:cNvSpPr txBox="1"/>
          <p:nvPr/>
        </p:nvSpPr>
        <p:spPr>
          <a:xfrm>
            <a:off x="8961120" y="2112264"/>
            <a:ext cx="2770632" cy="468172"/>
          </a:xfrm>
          <a:prstGeom prst="rect">
            <a:avLst/>
          </a:prstGeom>
          <a:noFill/>
        </p:spPr>
        <p:txBody>
          <a:bodyPr wrap="square" lIns="0" rIns="0" tIns="0" bIns="0" anchor="ctr">
            <a:spAutoFit/>
          </a:bodyPr>
          <a:lstStyle/>
          <a:p>
            <a:pPr>
              <a:spcAft>
                <a:spcPts val="0"/>
              </a:spcAft>
            </a:pPr>
            <a:r>
              <a:rPr sz="900" b="1" i="1">
                <a:solidFill>
                  <a:srgbClr val="478A64"/>
                </a:solidFill>
                <a:latin typeface="Arial"/>
              </a:rPr>
              <a:t>Sox4</a:t>
            </a:r>
            <a:r>
              <a:rPr sz="900" b="0" i="0">
                <a:solidFill>
                  <a:srgbClr val="8A969E"/>
                </a:solidFill>
                <a:latin typeface="Arial"/>
              </a:rPr>
              <a:t>, </a:t>
            </a:r>
            <a:r>
              <a:rPr sz="900" b="1" i="1">
                <a:solidFill>
                  <a:srgbClr val="478A64"/>
                </a:solidFill>
                <a:latin typeface="Arial"/>
              </a:rPr>
              <a:t>Cebpd</a:t>
            </a:r>
            <a:r>
              <a:rPr sz="900" b="0" i="0">
                <a:solidFill>
                  <a:srgbClr val="8A969E"/>
                </a:solidFill>
                <a:latin typeface="Arial"/>
              </a:rPr>
              <a:t>, </a:t>
            </a:r>
            <a:r>
              <a:rPr sz="900" b="1" i="1">
                <a:solidFill>
                  <a:srgbClr val="2D6496"/>
                </a:solidFill>
                <a:latin typeface="Arial"/>
              </a:rPr>
              <a:t>Sh3bp5</a:t>
            </a:r>
            <a:r>
              <a:rPr sz="900" b="0" i="0">
                <a:solidFill>
                  <a:srgbClr val="8A969E"/>
                </a:solidFill>
                <a:latin typeface="Arial"/>
              </a:rPr>
              <a:t>, </a:t>
            </a:r>
            <a:r>
              <a:rPr sz="900" b="1" i="1">
                <a:solidFill>
                  <a:srgbClr val="478A64"/>
                </a:solidFill>
                <a:latin typeface="Arial"/>
              </a:rPr>
              <a:t>Prkcd</a:t>
            </a:r>
            <a:r>
              <a:rPr sz="900" b="0" i="0">
                <a:solidFill>
                  <a:srgbClr val="8A969E"/>
                </a:solidFill>
                <a:latin typeface="Arial"/>
              </a:rPr>
              <a:t>, </a:t>
            </a:r>
            <a:r>
              <a:rPr sz="900" b="1" i="1">
                <a:solidFill>
                  <a:srgbClr val="478A64"/>
                </a:solidFill>
                <a:latin typeface="Arial"/>
              </a:rPr>
              <a:t>Arid5b</a:t>
            </a:r>
            <a:r>
              <a:rPr sz="900" b="0" i="0">
                <a:solidFill>
                  <a:srgbClr val="8A969E"/>
                </a:solidFill>
                <a:latin typeface="Arial"/>
              </a:rPr>
              <a:t>, </a:t>
            </a:r>
            <a:r>
              <a:rPr sz="900" b="1" i="1">
                <a:solidFill>
                  <a:srgbClr val="478A64"/>
                </a:solidFill>
                <a:latin typeface="Arial"/>
              </a:rPr>
              <a:t>Sesn1</a:t>
            </a:r>
            <a:r>
              <a:rPr sz="900" b="0" i="0">
                <a:solidFill>
                  <a:srgbClr val="8A969E"/>
                </a:solidFill>
                <a:latin typeface="Arial"/>
              </a:rPr>
              <a:t>, </a:t>
            </a:r>
            <a:r>
              <a:rPr sz="900" b="1" i="1">
                <a:solidFill>
                  <a:srgbClr val="2D6496"/>
                </a:solidFill>
                <a:latin typeface="Arial"/>
              </a:rPr>
              <a:t>Tle1</a:t>
            </a:r>
          </a:p>
        </p:txBody>
      </p:sp>
      <p:sp>
        <p:nvSpPr>
          <p:cNvPr id="71" name="Rectangle 70"/>
          <p:cNvSpPr/>
          <p:nvPr/>
        </p:nvSpPr>
        <p:spPr>
          <a:xfrm>
            <a:off x="7498079" y="2589580"/>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525512" y="2598724"/>
            <a:ext cx="658368" cy="259689"/>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73" name="TextBox 72"/>
          <p:cNvSpPr txBox="1"/>
          <p:nvPr/>
        </p:nvSpPr>
        <p:spPr>
          <a:xfrm>
            <a:off x="8211312" y="2598724"/>
            <a:ext cx="713232" cy="259689"/>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74" name="TextBox 73"/>
          <p:cNvSpPr txBox="1"/>
          <p:nvPr/>
        </p:nvSpPr>
        <p:spPr>
          <a:xfrm>
            <a:off x="8961120" y="2598724"/>
            <a:ext cx="2770632" cy="259689"/>
          </a:xfrm>
          <a:prstGeom prst="rect">
            <a:avLst/>
          </a:prstGeom>
          <a:noFill/>
        </p:spPr>
        <p:txBody>
          <a:bodyPr wrap="square" lIns="0" rIns="0" tIns="0" bIns="0" anchor="ctr">
            <a:spAutoFit/>
          </a:bodyPr>
          <a:lstStyle/>
          <a:p>
            <a:pPr>
              <a:spcAft>
                <a:spcPts val="0"/>
              </a:spcAft>
            </a:pPr>
            <a:r>
              <a:rPr sz="900" b="1" i="1">
                <a:solidFill>
                  <a:srgbClr val="2D6496"/>
                </a:solidFill>
                <a:latin typeface="Arial"/>
              </a:rPr>
              <a:t>Klhl21</a:t>
            </a:r>
            <a:r>
              <a:rPr sz="900" b="0" i="0">
                <a:solidFill>
                  <a:srgbClr val="8A969E"/>
                </a:solidFill>
                <a:latin typeface="Arial"/>
              </a:rPr>
              <a:t>, </a:t>
            </a:r>
            <a:r>
              <a:rPr sz="900" b="1" i="1">
                <a:solidFill>
                  <a:srgbClr val="2D6496"/>
                </a:solidFill>
                <a:latin typeface="Arial"/>
              </a:rPr>
              <a:t>Mapkapk5</a:t>
            </a:r>
            <a:r>
              <a:rPr sz="900" b="0" i="0">
                <a:solidFill>
                  <a:srgbClr val="8A969E"/>
                </a:solidFill>
                <a:latin typeface="Arial"/>
              </a:rPr>
              <a:t>, </a:t>
            </a:r>
            <a:r>
              <a:rPr sz="900" b="1" i="1">
                <a:solidFill>
                  <a:srgbClr val="2D6496"/>
                </a:solidFill>
                <a:latin typeface="Arial"/>
              </a:rPr>
              <a:t>Reep5</a:t>
            </a:r>
            <a:r>
              <a:rPr sz="900" b="0" i="0">
                <a:solidFill>
                  <a:srgbClr val="8A969E"/>
                </a:solidFill>
                <a:latin typeface="Arial"/>
              </a:rPr>
              <a:t>, </a:t>
            </a:r>
            <a:r>
              <a:rPr sz="900" b="1" i="1">
                <a:solidFill>
                  <a:srgbClr val="2D6496"/>
                </a:solidFill>
                <a:latin typeface="Arial"/>
              </a:rPr>
              <a:t>Itgb5</a:t>
            </a:r>
          </a:p>
        </p:txBody>
      </p:sp>
      <p:sp>
        <p:nvSpPr>
          <p:cNvPr id="75" name="Rectangle 74"/>
          <p:cNvSpPr/>
          <p:nvPr/>
        </p:nvSpPr>
        <p:spPr>
          <a:xfrm>
            <a:off x="7498079" y="2867558"/>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7525512" y="2876702"/>
            <a:ext cx="658368" cy="259689"/>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77" name="TextBox 76"/>
          <p:cNvSpPr txBox="1"/>
          <p:nvPr/>
        </p:nvSpPr>
        <p:spPr>
          <a:xfrm>
            <a:off x="8211312" y="2876702"/>
            <a:ext cx="713232" cy="259689"/>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78" name="TextBox 77"/>
          <p:cNvSpPr txBox="1"/>
          <p:nvPr/>
        </p:nvSpPr>
        <p:spPr>
          <a:xfrm>
            <a:off x="8961120" y="2876702"/>
            <a:ext cx="2770632" cy="259689"/>
          </a:xfrm>
          <a:prstGeom prst="rect">
            <a:avLst/>
          </a:prstGeom>
          <a:noFill/>
        </p:spPr>
        <p:txBody>
          <a:bodyPr wrap="square" lIns="0" rIns="0" tIns="0" bIns="0" anchor="ctr">
            <a:spAutoFit/>
          </a:bodyPr>
          <a:lstStyle/>
          <a:p>
            <a:pPr>
              <a:spcAft>
                <a:spcPts val="0"/>
              </a:spcAft>
            </a:pPr>
            <a:r>
              <a:rPr sz="900" b="1" i="1">
                <a:solidFill>
                  <a:srgbClr val="8063A6"/>
                </a:solidFill>
                <a:latin typeface="Arial"/>
              </a:rPr>
              <a:t>Bphl</a:t>
            </a:r>
          </a:p>
        </p:txBody>
      </p:sp>
      <p:sp>
        <p:nvSpPr>
          <p:cNvPr id="79" name="Rectangle 78"/>
          <p:cNvSpPr/>
          <p:nvPr/>
        </p:nvSpPr>
        <p:spPr>
          <a:xfrm>
            <a:off x="6181344" y="327355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236207" y="3337560"/>
            <a:ext cx="1243584" cy="530352"/>
          </a:xfrm>
          <a:prstGeom prst="rect">
            <a:avLst/>
          </a:prstGeom>
          <a:noFill/>
        </p:spPr>
        <p:txBody>
          <a:bodyPr wrap="square" lIns="0" rIns="0" tIns="0" bIns="0" anchor="t">
            <a:spAutoFit/>
          </a:bodyPr>
          <a:lstStyle/>
          <a:p>
            <a:pPr>
              <a:spcAft>
                <a:spcPts val="0"/>
              </a:spcAft>
            </a:pPr>
            <a:r>
              <a:rPr sz="1180" b="1" i="0">
                <a:solidFill>
                  <a:srgbClr val="082B55"/>
                </a:solidFill>
                <a:latin typeface="Arial"/>
              </a:rPr>
              <a:t>Soleus
</a:t>
            </a:r>
            <a:r>
              <a:rPr sz="900" b="0" i="0">
                <a:solidFill>
                  <a:srgbClr val="8A969E"/>
                </a:solidFill>
                <a:latin typeface="Arial"/>
              </a:rPr>
              <a:t>5 genes</a:t>
            </a:r>
          </a:p>
        </p:txBody>
      </p:sp>
      <p:sp>
        <p:nvSpPr>
          <p:cNvPr id="81" name="TextBox 80"/>
          <p:cNvSpPr txBox="1"/>
          <p:nvPr/>
        </p:nvSpPr>
        <p:spPr>
          <a:xfrm>
            <a:off x="7525512" y="3337560"/>
            <a:ext cx="658368" cy="242316"/>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82" name="TextBox 81"/>
          <p:cNvSpPr txBox="1"/>
          <p:nvPr/>
        </p:nvSpPr>
        <p:spPr>
          <a:xfrm>
            <a:off x="8211312" y="3337560"/>
            <a:ext cx="713232" cy="242316"/>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83" name="TextBox 82"/>
          <p:cNvSpPr txBox="1"/>
          <p:nvPr/>
        </p:nvSpPr>
        <p:spPr>
          <a:xfrm>
            <a:off x="8961120" y="3337560"/>
            <a:ext cx="2770632" cy="242316"/>
          </a:xfrm>
          <a:prstGeom prst="rect">
            <a:avLst/>
          </a:prstGeom>
          <a:noFill/>
        </p:spPr>
        <p:txBody>
          <a:bodyPr wrap="square" lIns="0" rIns="0" tIns="0" bIns="0" anchor="ctr">
            <a:spAutoFit/>
          </a:bodyPr>
          <a:lstStyle/>
          <a:p>
            <a:pPr>
              <a:spcAft>
                <a:spcPts val="0"/>
              </a:spcAft>
            </a:pPr>
            <a:r>
              <a:rPr sz="900" b="1" i="1">
                <a:solidFill>
                  <a:srgbClr val="D37B00"/>
                </a:solidFill>
                <a:latin typeface="Arial"/>
              </a:rPr>
              <a:t>Tpm1</a:t>
            </a:r>
          </a:p>
        </p:txBody>
      </p:sp>
      <p:sp>
        <p:nvSpPr>
          <p:cNvPr id="84" name="Rectangle 83"/>
          <p:cNvSpPr/>
          <p:nvPr/>
        </p:nvSpPr>
        <p:spPr>
          <a:xfrm>
            <a:off x="7498079" y="3589020"/>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7525512" y="3598164"/>
            <a:ext cx="658368" cy="242316"/>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86" name="TextBox 85"/>
          <p:cNvSpPr txBox="1"/>
          <p:nvPr/>
        </p:nvSpPr>
        <p:spPr>
          <a:xfrm>
            <a:off x="8211312" y="3598164"/>
            <a:ext cx="713232" cy="242316"/>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87" name="TextBox 86"/>
          <p:cNvSpPr txBox="1"/>
          <p:nvPr/>
        </p:nvSpPr>
        <p:spPr>
          <a:xfrm>
            <a:off x="8961120" y="3598164"/>
            <a:ext cx="2770632" cy="242316"/>
          </a:xfrm>
          <a:prstGeom prst="rect">
            <a:avLst/>
          </a:prstGeom>
          <a:noFill/>
        </p:spPr>
        <p:txBody>
          <a:bodyPr wrap="square" lIns="0" rIns="0" tIns="0" bIns="0" anchor="ctr">
            <a:spAutoFit/>
          </a:bodyPr>
          <a:lstStyle/>
          <a:p>
            <a:pPr>
              <a:spcAft>
                <a:spcPts val="0"/>
              </a:spcAft>
            </a:pPr>
            <a:r>
              <a:rPr sz="900" b="1" i="1">
                <a:solidFill>
                  <a:srgbClr val="478A64"/>
                </a:solidFill>
                <a:latin typeface="Arial"/>
              </a:rPr>
              <a:t>Bdh1</a:t>
            </a:r>
            <a:r>
              <a:rPr sz="900" b="0" i="0">
                <a:solidFill>
                  <a:srgbClr val="8A969E"/>
                </a:solidFill>
                <a:latin typeface="Arial"/>
              </a:rPr>
              <a:t>, </a:t>
            </a:r>
            <a:r>
              <a:rPr sz="900" b="1" i="1">
                <a:solidFill>
                  <a:srgbClr val="478A64"/>
                </a:solidFill>
                <a:latin typeface="Arial"/>
              </a:rPr>
              <a:t>Ech1</a:t>
            </a:r>
            <a:r>
              <a:rPr sz="900" b="0" i="0">
                <a:solidFill>
                  <a:srgbClr val="8A969E"/>
                </a:solidFill>
                <a:latin typeface="Arial"/>
              </a:rPr>
              <a:t>, </a:t>
            </a:r>
            <a:r>
              <a:rPr sz="900" b="1" i="1">
                <a:solidFill>
                  <a:srgbClr val="D37B00"/>
                </a:solidFill>
                <a:latin typeface="Arial"/>
              </a:rPr>
              <a:t>Bnip3</a:t>
            </a:r>
            <a:r>
              <a:rPr sz="900" b="0" i="0">
                <a:solidFill>
                  <a:srgbClr val="8A969E"/>
                </a:solidFill>
                <a:latin typeface="Arial"/>
              </a:rPr>
              <a:t>, </a:t>
            </a:r>
            <a:r>
              <a:rPr sz="900" b="1" i="1">
                <a:solidFill>
                  <a:srgbClr val="478A64"/>
                </a:solidFill>
                <a:latin typeface="Arial"/>
              </a:rPr>
              <a:t>Decr1</a:t>
            </a:r>
          </a:p>
        </p:txBody>
      </p:sp>
      <p:sp>
        <p:nvSpPr>
          <p:cNvPr id="88" name="Rectangle 87"/>
          <p:cNvSpPr/>
          <p:nvPr/>
        </p:nvSpPr>
        <p:spPr>
          <a:xfrm>
            <a:off x="6181344" y="3977639"/>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6236207" y="4041648"/>
            <a:ext cx="1243584" cy="539496"/>
          </a:xfrm>
          <a:prstGeom prst="rect">
            <a:avLst/>
          </a:prstGeom>
          <a:noFill/>
        </p:spPr>
        <p:txBody>
          <a:bodyPr wrap="square" lIns="0" rIns="0" tIns="0" bIns="0" anchor="t">
            <a:spAutoFit/>
          </a:bodyPr>
          <a:lstStyle/>
          <a:p>
            <a:pPr>
              <a:spcAft>
                <a:spcPts val="0"/>
              </a:spcAft>
            </a:pPr>
            <a:r>
              <a:rPr sz="1080" b="1" i="0">
                <a:solidFill>
                  <a:srgbClr val="082B55"/>
                </a:solidFill>
                <a:latin typeface="Arial"/>
              </a:rPr>
              <a:t>Tibialis anterior
</a:t>
            </a:r>
            <a:r>
              <a:rPr sz="900" b="0" i="0">
                <a:solidFill>
                  <a:srgbClr val="8A969E"/>
                </a:solidFill>
                <a:latin typeface="Arial"/>
              </a:rPr>
              <a:t>4 genes</a:t>
            </a:r>
          </a:p>
        </p:txBody>
      </p:sp>
      <p:sp>
        <p:nvSpPr>
          <p:cNvPr id="90" name="TextBox 89"/>
          <p:cNvSpPr txBox="1"/>
          <p:nvPr/>
        </p:nvSpPr>
        <p:spPr>
          <a:xfrm>
            <a:off x="7525512" y="4041647"/>
            <a:ext cx="658368" cy="246887"/>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91" name="TextBox 90"/>
          <p:cNvSpPr txBox="1"/>
          <p:nvPr/>
        </p:nvSpPr>
        <p:spPr>
          <a:xfrm>
            <a:off x="8211312" y="4041647"/>
            <a:ext cx="713232" cy="246887"/>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92" name="TextBox 91"/>
          <p:cNvSpPr txBox="1"/>
          <p:nvPr/>
        </p:nvSpPr>
        <p:spPr>
          <a:xfrm>
            <a:off x="8961120" y="4041647"/>
            <a:ext cx="2770632" cy="246887"/>
          </a:xfrm>
          <a:prstGeom prst="rect">
            <a:avLst/>
          </a:prstGeom>
          <a:noFill/>
        </p:spPr>
        <p:txBody>
          <a:bodyPr wrap="square" lIns="0" rIns="0" tIns="0" bIns="0" anchor="ctr">
            <a:spAutoFit/>
          </a:bodyPr>
          <a:lstStyle/>
          <a:p>
            <a:pPr>
              <a:spcAft>
                <a:spcPts val="0"/>
              </a:spcAft>
            </a:pPr>
            <a:r>
              <a:rPr sz="900" b="1" i="1">
                <a:solidFill>
                  <a:srgbClr val="2D6496"/>
                </a:solidFill>
                <a:latin typeface="Arial"/>
              </a:rPr>
              <a:t>Cebpd</a:t>
            </a:r>
          </a:p>
        </p:txBody>
      </p:sp>
      <p:sp>
        <p:nvSpPr>
          <p:cNvPr id="93" name="Rectangle 92"/>
          <p:cNvSpPr/>
          <p:nvPr/>
        </p:nvSpPr>
        <p:spPr>
          <a:xfrm>
            <a:off x="7498079" y="4297679"/>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7525512" y="4306823"/>
            <a:ext cx="658368" cy="246887"/>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95" name="TextBox 94"/>
          <p:cNvSpPr txBox="1"/>
          <p:nvPr/>
        </p:nvSpPr>
        <p:spPr>
          <a:xfrm>
            <a:off x="8211312" y="4306823"/>
            <a:ext cx="713232" cy="246887"/>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96" name="TextBox 95"/>
          <p:cNvSpPr txBox="1"/>
          <p:nvPr/>
        </p:nvSpPr>
        <p:spPr>
          <a:xfrm>
            <a:off x="8961120" y="4306823"/>
            <a:ext cx="2770632" cy="246887"/>
          </a:xfrm>
          <a:prstGeom prst="rect">
            <a:avLst/>
          </a:prstGeom>
          <a:noFill/>
        </p:spPr>
        <p:txBody>
          <a:bodyPr wrap="square" lIns="0" rIns="0" tIns="0" bIns="0" anchor="ctr">
            <a:spAutoFit/>
          </a:bodyPr>
          <a:lstStyle/>
          <a:p>
            <a:pPr>
              <a:spcAft>
                <a:spcPts val="0"/>
              </a:spcAft>
            </a:pPr>
            <a:r>
              <a:rPr sz="900" b="1" i="1">
                <a:solidFill>
                  <a:srgbClr val="D37B00"/>
                </a:solidFill>
                <a:latin typeface="Arial"/>
              </a:rPr>
              <a:t>Cdkn1a</a:t>
            </a:r>
            <a:r>
              <a:rPr sz="900" b="0" i="0">
                <a:solidFill>
                  <a:srgbClr val="8A969E"/>
                </a:solidFill>
                <a:latin typeface="Arial"/>
              </a:rPr>
              <a:t>, </a:t>
            </a:r>
            <a:r>
              <a:rPr sz="900" b="1" i="1">
                <a:solidFill>
                  <a:srgbClr val="2D6496"/>
                </a:solidFill>
                <a:latin typeface="Arial"/>
              </a:rPr>
              <a:t>St3gal5</a:t>
            </a:r>
            <a:r>
              <a:rPr sz="900" b="0" i="0">
                <a:solidFill>
                  <a:srgbClr val="8A969E"/>
                </a:solidFill>
                <a:latin typeface="Arial"/>
              </a:rPr>
              <a:t>, </a:t>
            </a:r>
            <a:r>
              <a:rPr sz="900" b="1" i="1">
                <a:solidFill>
                  <a:srgbClr val="2D6496"/>
                </a:solidFill>
                <a:latin typeface="Arial"/>
              </a:rPr>
              <a:t>Bnip3</a:t>
            </a:r>
          </a:p>
        </p:txBody>
      </p:sp>
      <p:sp>
        <p:nvSpPr>
          <p:cNvPr id="97" name="Rectangle 96"/>
          <p:cNvSpPr/>
          <p:nvPr/>
        </p:nvSpPr>
        <p:spPr>
          <a:xfrm>
            <a:off x="6181344" y="469087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6236207" y="4754880"/>
            <a:ext cx="1243584" cy="466344"/>
          </a:xfrm>
          <a:prstGeom prst="rect">
            <a:avLst/>
          </a:prstGeom>
          <a:noFill/>
        </p:spPr>
        <p:txBody>
          <a:bodyPr wrap="square" lIns="0" rIns="0" tIns="0" bIns="0" anchor="t">
            <a:spAutoFit/>
          </a:bodyPr>
          <a:lstStyle/>
          <a:p>
            <a:pPr>
              <a:spcAft>
                <a:spcPts val="0"/>
              </a:spcAft>
            </a:pPr>
            <a:r>
              <a:rPr sz="1080" b="1" i="0">
                <a:solidFill>
                  <a:srgbClr val="082B55"/>
                </a:solidFill>
                <a:latin typeface="Arial"/>
              </a:rPr>
              <a:t>Adrenal gland
</a:t>
            </a:r>
            <a:r>
              <a:rPr sz="900" b="0" i="0">
                <a:solidFill>
                  <a:srgbClr val="8A969E"/>
                </a:solidFill>
                <a:latin typeface="Arial"/>
              </a:rPr>
              <a:t>2 genes</a:t>
            </a:r>
          </a:p>
        </p:txBody>
      </p:sp>
      <p:sp>
        <p:nvSpPr>
          <p:cNvPr id="99" name="TextBox 98"/>
          <p:cNvSpPr txBox="1"/>
          <p:nvPr/>
        </p:nvSpPr>
        <p:spPr>
          <a:xfrm>
            <a:off x="7525512" y="4754879"/>
            <a:ext cx="658368" cy="210312"/>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100" name="TextBox 99"/>
          <p:cNvSpPr txBox="1"/>
          <p:nvPr/>
        </p:nvSpPr>
        <p:spPr>
          <a:xfrm>
            <a:off x="8211312" y="4754879"/>
            <a:ext cx="713232" cy="210312"/>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101" name="TextBox 100"/>
          <p:cNvSpPr txBox="1"/>
          <p:nvPr/>
        </p:nvSpPr>
        <p:spPr>
          <a:xfrm>
            <a:off x="8961120" y="4754879"/>
            <a:ext cx="2770632" cy="210312"/>
          </a:xfrm>
          <a:prstGeom prst="rect">
            <a:avLst/>
          </a:prstGeom>
          <a:noFill/>
        </p:spPr>
        <p:txBody>
          <a:bodyPr wrap="square" lIns="0" rIns="0" tIns="0" bIns="0" anchor="ctr">
            <a:spAutoFit/>
          </a:bodyPr>
          <a:lstStyle/>
          <a:p>
            <a:pPr>
              <a:spcAft>
                <a:spcPts val="0"/>
              </a:spcAft>
            </a:pPr>
            <a:r>
              <a:rPr sz="900" b="1" i="1">
                <a:solidFill>
                  <a:srgbClr val="8063A6"/>
                </a:solidFill>
                <a:latin typeface="Arial"/>
              </a:rPr>
              <a:t>Psmb8</a:t>
            </a:r>
          </a:p>
        </p:txBody>
      </p:sp>
      <p:sp>
        <p:nvSpPr>
          <p:cNvPr id="102" name="Rectangle 101"/>
          <p:cNvSpPr/>
          <p:nvPr/>
        </p:nvSpPr>
        <p:spPr>
          <a:xfrm>
            <a:off x="7498079" y="4974336"/>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7525512" y="4983479"/>
            <a:ext cx="658368" cy="210312"/>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104" name="TextBox 103"/>
          <p:cNvSpPr txBox="1"/>
          <p:nvPr/>
        </p:nvSpPr>
        <p:spPr>
          <a:xfrm>
            <a:off x="8211312" y="4983479"/>
            <a:ext cx="713232" cy="210312"/>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105" name="TextBox 104"/>
          <p:cNvSpPr txBox="1"/>
          <p:nvPr/>
        </p:nvSpPr>
        <p:spPr>
          <a:xfrm>
            <a:off x="8961120" y="4983479"/>
            <a:ext cx="2770632" cy="210312"/>
          </a:xfrm>
          <a:prstGeom prst="rect">
            <a:avLst/>
          </a:prstGeom>
          <a:noFill/>
        </p:spPr>
        <p:txBody>
          <a:bodyPr wrap="square" lIns="0" rIns="0" tIns="0" bIns="0" anchor="ctr">
            <a:spAutoFit/>
          </a:bodyPr>
          <a:lstStyle/>
          <a:p>
            <a:pPr>
              <a:spcAft>
                <a:spcPts val="0"/>
              </a:spcAft>
            </a:pPr>
            <a:r>
              <a:rPr sz="900" b="1" i="1">
                <a:solidFill>
                  <a:srgbClr val="8063A6"/>
                </a:solidFill>
                <a:latin typeface="Arial"/>
              </a:rPr>
              <a:t>Tspan4</a:t>
            </a:r>
          </a:p>
        </p:txBody>
      </p:sp>
      <p:sp>
        <p:nvSpPr>
          <p:cNvPr id="106" name="Rectangle 105"/>
          <p:cNvSpPr/>
          <p:nvPr/>
        </p:nvSpPr>
        <p:spPr>
          <a:xfrm>
            <a:off x="6181344" y="533095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6236207" y="5394960"/>
            <a:ext cx="1243584" cy="411480"/>
          </a:xfrm>
          <a:prstGeom prst="rect">
            <a:avLst/>
          </a:prstGeom>
          <a:noFill/>
        </p:spPr>
        <p:txBody>
          <a:bodyPr wrap="square" lIns="0" rIns="0" tIns="0" bIns="0" anchor="t">
            <a:spAutoFit/>
          </a:bodyPr>
          <a:lstStyle/>
          <a:p>
            <a:pPr>
              <a:spcAft>
                <a:spcPts val="0"/>
              </a:spcAft>
            </a:pPr>
            <a:r>
              <a:rPr sz="1180" b="1" i="0">
                <a:solidFill>
                  <a:srgbClr val="082B55"/>
                </a:solidFill>
                <a:latin typeface="Arial"/>
              </a:rPr>
              <a:t>Skin
</a:t>
            </a:r>
            <a:r>
              <a:rPr sz="900" b="0" i="0">
                <a:solidFill>
                  <a:srgbClr val="8A969E"/>
                </a:solidFill>
                <a:latin typeface="Arial"/>
              </a:rPr>
              <a:t>1 gene</a:t>
            </a:r>
          </a:p>
        </p:txBody>
      </p:sp>
      <p:sp>
        <p:nvSpPr>
          <p:cNvPr id="108" name="TextBox 107"/>
          <p:cNvSpPr txBox="1"/>
          <p:nvPr/>
        </p:nvSpPr>
        <p:spPr>
          <a:xfrm>
            <a:off x="7525512" y="5394959"/>
            <a:ext cx="658368" cy="384048"/>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109" name="TextBox 108"/>
          <p:cNvSpPr txBox="1"/>
          <p:nvPr/>
        </p:nvSpPr>
        <p:spPr>
          <a:xfrm>
            <a:off x="8211312" y="5394959"/>
            <a:ext cx="713232" cy="384048"/>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110" name="TextBox 109"/>
          <p:cNvSpPr txBox="1"/>
          <p:nvPr/>
        </p:nvSpPr>
        <p:spPr>
          <a:xfrm>
            <a:off x="8961120" y="5394959"/>
            <a:ext cx="2770632" cy="384048"/>
          </a:xfrm>
          <a:prstGeom prst="rect">
            <a:avLst/>
          </a:prstGeom>
          <a:noFill/>
        </p:spPr>
        <p:txBody>
          <a:bodyPr wrap="square" lIns="0" rIns="0" tIns="0" bIns="0" anchor="ctr">
            <a:spAutoFit/>
          </a:bodyPr>
          <a:lstStyle/>
          <a:p>
            <a:pPr>
              <a:spcAft>
                <a:spcPts val="0"/>
              </a:spcAft>
            </a:pPr>
            <a:r>
              <a:rPr sz="900" b="1" i="1">
                <a:solidFill>
                  <a:srgbClr val="2D6496"/>
                </a:solidFill>
                <a:latin typeface="Arial"/>
              </a:rPr>
              <a:t>Plscr1</a:t>
            </a:r>
          </a:p>
        </p:txBody>
      </p:sp>
      <p:sp>
        <p:nvSpPr>
          <p:cNvPr id="111" name="TextBox 11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Separate rows report FLT direction and selection status; gene color independently reports literature interpretation for all 49 associations.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THYMUS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Thymus points to lower proliferative renewal</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cell-cycle program persisted without material conditioning; two FLT-higher genes extend the hypothesis.</a:t>
            </a:r>
          </a:p>
        </p:txBody>
      </p:sp>
      <p:pic>
        <p:nvPicPr>
          <p:cNvPr id="7" name="Thymus gene effects and Reactome processes" descr="Thymus gene effects and Reactome processes"/>
          <p:cNvPicPr>
            <a:picLocks noChangeAspect="1"/>
          </p:cNvPicPr>
          <p:nvPr/>
        </p:nvPicPr>
        <p:blipFill>
          <a:blip r:embed="rId2"/>
          <a:stretch>
            <a:fillRect/>
          </a:stretch>
        </p:blipFill>
        <p:spPr>
          <a:xfrm>
            <a:off x="320040" y="1895403"/>
            <a:ext cx="7818120" cy="4109608"/>
          </a:xfrm>
          <a:prstGeom prst="rect">
            <a:avLst/>
          </a:prstGeom>
        </p:spPr>
      </p:pic>
      <p:sp>
        <p:nvSpPr>
          <p:cNvPr id="8" name="Rectangle 7"/>
          <p:cNvSpPr/>
          <p:nvPr/>
        </p:nvSpPr>
        <p:spPr>
          <a:xfrm>
            <a:off x="8321040" y="1847088"/>
            <a:ext cx="3493008" cy="4178808"/>
          </a:xfrm>
          <a:prstGeom prst="rect">
            <a:avLst/>
          </a:prstGeom>
          <a:solidFill>
            <a:srgbClr val="F8ECE9"/>
          </a:solidFill>
          <a:ln w="10160">
            <a:solidFill>
              <a:srgbClr val="E8C9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22792" y="2139696"/>
            <a:ext cx="1005840" cy="594360"/>
          </a:xfrm>
          <a:prstGeom prst="rect">
            <a:avLst/>
          </a:prstGeom>
          <a:noFill/>
        </p:spPr>
        <p:txBody>
          <a:bodyPr wrap="square" lIns="18288" rIns="18288" tIns="18288" bIns="18288" anchor="t">
            <a:spAutoFit/>
          </a:bodyPr>
          <a:lstStyle/>
          <a:p>
            <a:pPr algn="l">
              <a:spcAft>
                <a:spcPts val="0"/>
              </a:spcAft>
            </a:pPr>
            <a:r>
              <a:rPr sz="3500" b="1" i="0">
                <a:solidFill>
                  <a:srgbClr val="D96552"/>
                </a:solidFill>
                <a:latin typeface="Arial"/>
              </a:rPr>
              <a:t>16</a:t>
            </a:r>
          </a:p>
        </p:txBody>
      </p:sp>
      <p:sp>
        <p:nvSpPr>
          <p:cNvPr id="10" name="TextBox 9"/>
          <p:cNvSpPr txBox="1"/>
          <p:nvPr/>
        </p:nvSpPr>
        <p:spPr>
          <a:xfrm>
            <a:off x="9491472" y="2176272"/>
            <a:ext cx="1938528" cy="566928"/>
          </a:xfrm>
          <a:prstGeom prst="rect">
            <a:avLst/>
          </a:prstGeom>
          <a:noFill/>
        </p:spPr>
        <p:txBody>
          <a:bodyPr wrap="square" lIns="18288" rIns="18288" tIns="18288" bIns="18288" anchor="t">
            <a:spAutoFit/>
          </a:bodyPr>
          <a:lstStyle/>
          <a:p>
            <a:pPr algn="l">
              <a:spcAft>
                <a:spcPts val="0"/>
              </a:spcAft>
            </a:pPr>
            <a:r>
              <a:rPr sz="1400" b="1" i="0">
                <a:solidFill>
                  <a:srgbClr val="263746"/>
                </a:solidFill>
                <a:latin typeface="Arial"/>
              </a:rPr>
              <a:t>synthetic-informed
BH-FDR associations</a:t>
            </a:r>
          </a:p>
        </p:txBody>
      </p:sp>
      <p:sp>
        <p:nvSpPr>
          <p:cNvPr id="11" name="TextBox 10"/>
          <p:cNvSpPr txBox="1"/>
          <p:nvPr/>
        </p:nvSpPr>
        <p:spPr>
          <a:xfrm>
            <a:off x="8631936" y="2862072"/>
            <a:ext cx="2788920" cy="274320"/>
          </a:xfrm>
          <a:prstGeom prst="rect">
            <a:avLst/>
          </a:prstGeom>
          <a:noFill/>
        </p:spPr>
        <p:txBody>
          <a:bodyPr wrap="square" lIns="18288" rIns="18288" tIns="18288" bIns="18288" anchor="t">
            <a:spAutoFit/>
          </a:bodyPr>
          <a:lstStyle/>
          <a:p>
            <a:pPr algn="l">
              <a:spcAft>
                <a:spcPts val="0"/>
              </a:spcAft>
            </a:pPr>
            <a:r>
              <a:rPr sz="1400" b="1" i="0">
                <a:solidFill>
                  <a:srgbClr val="178681"/>
                </a:solidFill>
                <a:latin typeface="Arial"/>
              </a:rPr>
              <a:t>13 promoted | 3 reinforced</a:t>
            </a:r>
          </a:p>
        </p:txBody>
      </p:sp>
      <p:sp>
        <p:nvSpPr>
          <p:cNvPr id="12" name="Oval 11"/>
          <p:cNvSpPr/>
          <p:nvPr/>
        </p:nvSpPr>
        <p:spPr>
          <a:xfrm>
            <a:off x="8631936" y="3319272"/>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14815" y="3227832"/>
            <a:ext cx="2587751" cy="585216"/>
          </a:xfrm>
          <a:prstGeom prst="rect">
            <a:avLst/>
          </a:prstGeom>
          <a:noFill/>
        </p:spPr>
        <p:txBody>
          <a:bodyPr wrap="square" lIns="0" rIns="0" tIns="0" bIns="0" anchor="t">
            <a:spAutoFit/>
          </a:bodyPr>
          <a:lstStyle/>
          <a:p>
            <a:pPr algn="l">
              <a:spcAft>
                <a:spcPts val="0"/>
              </a:spcAft>
            </a:pPr>
            <a:r>
              <a:rPr sz="1220" b="0" i="0">
                <a:solidFill>
                  <a:srgbClr val="263746"/>
                </a:solidFill>
                <a:latin typeface="Arial"/>
              </a:rPr>
              <a:t>Lower Nusap1, Stmn1, Birc5, Cdk1, Top2a and related genes</a:t>
            </a:r>
          </a:p>
        </p:txBody>
      </p:sp>
      <p:sp>
        <p:nvSpPr>
          <p:cNvPr id="14" name="Oval 13"/>
          <p:cNvSpPr/>
          <p:nvPr/>
        </p:nvSpPr>
        <p:spPr>
          <a:xfrm>
            <a:off x="8631936" y="3904487"/>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14815" y="3813048"/>
            <a:ext cx="2587751" cy="585216"/>
          </a:xfrm>
          <a:prstGeom prst="rect">
            <a:avLst/>
          </a:prstGeom>
          <a:noFill/>
        </p:spPr>
        <p:txBody>
          <a:bodyPr wrap="square" lIns="0" rIns="0" tIns="0" bIns="0" anchor="t">
            <a:spAutoFit/>
          </a:bodyPr>
          <a:lstStyle/>
          <a:p>
            <a:pPr algn="l">
              <a:spcAft>
                <a:spcPts val="0"/>
              </a:spcAft>
            </a:pPr>
            <a:r>
              <a:rPr sz="1220" b="0" i="0">
                <a:solidFill>
                  <a:srgbClr val="263746"/>
                </a:solidFill>
                <a:latin typeface="Arial"/>
              </a:rPr>
              <a:t>Cell cycle, DNA replication, APC/C and G2/M processes</a:t>
            </a:r>
          </a:p>
        </p:txBody>
      </p:sp>
      <p:sp>
        <p:nvSpPr>
          <p:cNvPr id="16" name="Oval 15"/>
          <p:cNvSpPr/>
          <p:nvPr/>
        </p:nvSpPr>
        <p:spPr>
          <a:xfrm>
            <a:off x="8631936" y="4489703"/>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814815" y="4398264"/>
            <a:ext cx="2587751" cy="585216"/>
          </a:xfrm>
          <a:prstGeom prst="rect">
            <a:avLst/>
          </a:prstGeom>
          <a:noFill/>
        </p:spPr>
        <p:txBody>
          <a:bodyPr wrap="square" lIns="0" rIns="0" tIns="0" bIns="0" anchor="t">
            <a:spAutoFit/>
          </a:bodyPr>
          <a:lstStyle/>
          <a:p>
            <a:pPr algn="l">
              <a:spcAft>
                <a:spcPts val="0"/>
              </a:spcAft>
            </a:pPr>
            <a:r>
              <a:rPr sz="1220" b="0" i="0">
                <a:solidFill>
                  <a:srgbClr val="263746"/>
                </a:solidFill>
                <a:latin typeface="Arial"/>
              </a:rPr>
              <a:t>Higher Hsd17b11 and Etv1 suggest lipid or T-cell-state shifts</a:t>
            </a:r>
          </a:p>
        </p:txBody>
      </p:sp>
      <p:sp>
        <p:nvSpPr>
          <p:cNvPr id="18" name="Oval 17"/>
          <p:cNvSpPr/>
          <p:nvPr/>
        </p:nvSpPr>
        <p:spPr>
          <a:xfrm>
            <a:off x="8631936" y="5074919"/>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814815" y="4983479"/>
            <a:ext cx="2587751" cy="585216"/>
          </a:xfrm>
          <a:prstGeom prst="rect">
            <a:avLst/>
          </a:prstGeom>
          <a:noFill/>
        </p:spPr>
        <p:txBody>
          <a:bodyPr wrap="square" lIns="0" rIns="0" tIns="0" bIns="0" anchor="t">
            <a:spAutoFit/>
          </a:bodyPr>
          <a:lstStyle/>
          <a:p>
            <a:pPr algn="l">
              <a:spcAft>
                <a:spcPts val="0"/>
              </a:spcAft>
            </a:pPr>
            <a:r>
              <a:rPr sz="1220" b="0" i="0">
                <a:solidFill>
                  <a:srgbClr val="263746"/>
                </a:solidFill>
                <a:latin typeface="Arial"/>
              </a:rPr>
              <a:t>Bulk RNA-seq cannot separate cell loss from lower transcription</a:t>
            </a:r>
          </a:p>
        </p:txBody>
      </p:sp>
      <p:sp>
        <p:nvSpPr>
          <p:cNvPr id="20" name="TextBox 1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Context: Gridley et al. (2013), Horie et al. (2019), Keenan et al. (2025), and Shi et al. (2026).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SOLEUS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Soleus reinforces a mitochondrial and lipid program</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real-data program is coherent, but its synthetic reinforcement required explicit material conditioning.</a:t>
            </a:r>
          </a:p>
        </p:txBody>
      </p:sp>
      <p:pic>
        <p:nvPicPr>
          <p:cNvPr id="7" name="Soleus gene effects and Reactome processes" descr="Soleus gene effects and Reactome processes"/>
          <p:cNvPicPr>
            <a:picLocks noChangeAspect="1"/>
          </p:cNvPicPr>
          <p:nvPr/>
        </p:nvPicPr>
        <p:blipFill>
          <a:blip r:embed="rId2"/>
          <a:stretch>
            <a:fillRect/>
          </a:stretch>
        </p:blipFill>
        <p:spPr>
          <a:xfrm>
            <a:off x="310896" y="1984025"/>
            <a:ext cx="8366760" cy="3914076"/>
          </a:xfrm>
          <a:prstGeom prst="rect">
            <a:avLst/>
          </a:prstGeom>
        </p:spPr>
      </p:pic>
      <p:sp>
        <p:nvSpPr>
          <p:cNvPr id="8" name="Rectangle 7"/>
          <p:cNvSpPr/>
          <p:nvPr/>
        </p:nvSpPr>
        <p:spPr>
          <a:xfrm>
            <a:off x="8805672" y="1865376"/>
            <a:ext cx="2971800" cy="4133087"/>
          </a:xfrm>
          <a:prstGeom prst="rect">
            <a:avLst/>
          </a:prstGeom>
          <a:solidFill>
            <a:srgbClr val="E8F3F1"/>
          </a:solidFill>
          <a:ln w="10160">
            <a:solidFill>
              <a:srgbClr val="C7DD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043416" y="2139696"/>
            <a:ext cx="2487168" cy="384048"/>
          </a:xfrm>
          <a:prstGeom prst="rect">
            <a:avLst/>
          </a:prstGeom>
          <a:noFill/>
        </p:spPr>
        <p:txBody>
          <a:bodyPr wrap="square" lIns="18288" rIns="18288" tIns="18288" bIns="18288" anchor="t">
            <a:spAutoFit/>
          </a:bodyPr>
          <a:lstStyle/>
          <a:p>
            <a:pPr algn="ctr">
              <a:spcAft>
                <a:spcPts val="0"/>
              </a:spcAft>
            </a:pPr>
            <a:r>
              <a:rPr sz="2000" b="1" i="0">
                <a:solidFill>
                  <a:srgbClr val="178681"/>
                </a:solidFill>
                <a:latin typeface="Arial"/>
              </a:rPr>
              <a:t>0.925 to 0.963</a:t>
            </a:r>
          </a:p>
        </p:txBody>
      </p:sp>
      <p:sp>
        <p:nvSpPr>
          <p:cNvPr id="10" name="TextBox 9"/>
          <p:cNvSpPr txBox="1"/>
          <p:nvPr/>
        </p:nvSpPr>
        <p:spPr>
          <a:xfrm>
            <a:off x="9125712" y="2542032"/>
            <a:ext cx="2331720" cy="256032"/>
          </a:xfrm>
          <a:prstGeom prst="rect">
            <a:avLst/>
          </a:prstGeom>
          <a:noFill/>
        </p:spPr>
        <p:txBody>
          <a:bodyPr wrap="square" lIns="18288" rIns="18288" tIns="18288" bIns="18288" anchor="t">
            <a:spAutoFit/>
          </a:bodyPr>
          <a:lstStyle/>
          <a:p>
            <a:pPr algn="ctr">
              <a:spcAft>
                <a:spcPts val="0"/>
              </a:spcAft>
            </a:pPr>
            <a:r>
              <a:rPr sz="1250" b="0" i="0">
                <a:solidFill>
                  <a:srgbClr val="59697A"/>
                </a:solidFill>
                <a:latin typeface="Arial"/>
              </a:rPr>
              <a:t>balanced accuracy</a:t>
            </a:r>
          </a:p>
        </p:txBody>
      </p:sp>
      <p:sp>
        <p:nvSpPr>
          <p:cNvPr id="11" name="TextBox 10"/>
          <p:cNvSpPr txBox="1"/>
          <p:nvPr/>
        </p:nvSpPr>
        <p:spPr>
          <a:xfrm>
            <a:off x="9025128" y="2990088"/>
            <a:ext cx="2532888" cy="310896"/>
          </a:xfrm>
          <a:prstGeom prst="rect">
            <a:avLst/>
          </a:prstGeom>
          <a:noFill/>
        </p:spPr>
        <p:txBody>
          <a:bodyPr wrap="square" lIns="18288" rIns="18288" tIns="18288" bIns="18288" anchor="t">
            <a:spAutoFit/>
          </a:bodyPr>
          <a:lstStyle/>
          <a:p>
            <a:pPr algn="ctr">
              <a:spcAft>
                <a:spcPts val="0"/>
              </a:spcAft>
            </a:pPr>
            <a:r>
              <a:rPr sz="1500" b="1" i="0">
                <a:solidFill>
                  <a:srgbClr val="082B55"/>
                </a:solidFill>
                <a:latin typeface="Arial"/>
              </a:rPr>
              <a:t>5 reinforced | 0 promoted</a:t>
            </a:r>
          </a:p>
        </p:txBody>
      </p:sp>
      <p:sp>
        <p:nvSpPr>
          <p:cNvPr id="12" name="Oval 11"/>
          <p:cNvSpPr/>
          <p:nvPr/>
        </p:nvSpPr>
        <p:spPr>
          <a:xfrm>
            <a:off x="9089136" y="3547872"/>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72015" y="3456432"/>
            <a:ext cx="2139696" cy="530352"/>
          </a:xfrm>
          <a:prstGeom prst="rect">
            <a:avLst/>
          </a:prstGeom>
          <a:noFill/>
        </p:spPr>
        <p:txBody>
          <a:bodyPr wrap="square" lIns="0" rIns="0" tIns="0" bIns="0" anchor="t">
            <a:spAutoFit/>
          </a:bodyPr>
          <a:lstStyle/>
          <a:p>
            <a:pPr algn="l">
              <a:spcAft>
                <a:spcPts val="0"/>
              </a:spcAft>
            </a:pPr>
            <a:r>
              <a:rPr sz="1280" b="0" i="0">
                <a:solidFill>
                  <a:srgbClr val="263746"/>
                </a:solidFill>
                <a:latin typeface="Arial"/>
              </a:rPr>
              <a:t>Lower Bdh1, Ech1, Bnip3 and Decr1</a:t>
            </a:r>
          </a:p>
        </p:txBody>
      </p:sp>
      <p:sp>
        <p:nvSpPr>
          <p:cNvPr id="14" name="Oval 13"/>
          <p:cNvSpPr/>
          <p:nvPr/>
        </p:nvSpPr>
        <p:spPr>
          <a:xfrm>
            <a:off x="9089136" y="4078223"/>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72015" y="3986783"/>
            <a:ext cx="2139696" cy="530352"/>
          </a:xfrm>
          <a:prstGeom prst="rect">
            <a:avLst/>
          </a:prstGeom>
          <a:noFill/>
        </p:spPr>
        <p:txBody>
          <a:bodyPr wrap="square" lIns="0" rIns="0" tIns="0" bIns="0" anchor="t">
            <a:spAutoFit/>
          </a:bodyPr>
          <a:lstStyle/>
          <a:p>
            <a:pPr algn="l">
              <a:spcAft>
                <a:spcPts val="0"/>
              </a:spcAft>
            </a:pPr>
            <a:r>
              <a:rPr sz="1280" b="0" i="0">
                <a:solidFill>
                  <a:srgbClr val="263746"/>
                </a:solidFill>
                <a:latin typeface="Arial"/>
              </a:rPr>
              <a:t>Higher Tpm1</a:t>
            </a:r>
          </a:p>
        </p:txBody>
      </p:sp>
      <p:sp>
        <p:nvSpPr>
          <p:cNvPr id="16" name="Oval 15"/>
          <p:cNvSpPr/>
          <p:nvPr/>
        </p:nvSpPr>
        <p:spPr>
          <a:xfrm>
            <a:off x="9089136" y="4608575"/>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72015" y="4517136"/>
            <a:ext cx="2139696" cy="530352"/>
          </a:xfrm>
          <a:prstGeom prst="rect">
            <a:avLst/>
          </a:prstGeom>
          <a:noFill/>
        </p:spPr>
        <p:txBody>
          <a:bodyPr wrap="square" lIns="0" rIns="0" tIns="0" bIns="0" anchor="t">
            <a:spAutoFit/>
          </a:bodyPr>
          <a:lstStyle/>
          <a:p>
            <a:pPr algn="l">
              <a:spcAft>
                <a:spcPts val="0"/>
              </a:spcAft>
            </a:pPr>
            <a:r>
              <a:rPr sz="1280" b="0" i="0">
                <a:solidFill>
                  <a:srgbClr val="263746"/>
                </a:solidFill>
                <a:latin typeface="Arial"/>
              </a:rPr>
              <a:t>Mitochondrial turnover and fatty-acid metabolism</a:t>
            </a:r>
          </a:p>
        </p:txBody>
      </p:sp>
      <p:sp>
        <p:nvSpPr>
          <p:cNvPr id="18" name="Oval 17"/>
          <p:cNvSpPr/>
          <p:nvPr/>
        </p:nvSpPr>
        <p:spPr>
          <a:xfrm>
            <a:off x="9089136" y="5138927"/>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72015" y="5047488"/>
            <a:ext cx="2139696" cy="530352"/>
          </a:xfrm>
          <a:prstGeom prst="rect">
            <a:avLst/>
          </a:prstGeom>
          <a:noFill/>
        </p:spPr>
        <p:txBody>
          <a:bodyPr wrap="square" lIns="0" rIns="0" tIns="0" bIns="0" anchor="t">
            <a:spAutoFit/>
          </a:bodyPr>
          <a:lstStyle/>
          <a:p>
            <a:pPr algn="l">
              <a:spcAft>
                <a:spcPts val="0"/>
              </a:spcAft>
            </a:pPr>
            <a:r>
              <a:rPr sz="1280" b="0" i="0">
                <a:solidFill>
                  <a:srgbClr val="263746"/>
                </a:solidFill>
                <a:latin typeface="Arial"/>
              </a:rPr>
              <a:t>Compatible with unloading and contractile remodeling</a:t>
            </a:r>
          </a:p>
        </p:txBody>
      </p:sp>
      <p:sp>
        <p:nvSpPr>
          <p:cNvPr id="20" name="TextBox 1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Literature context: Gambara et al. (2017) and Stein et al. (2002).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ADDITIONAL FINDINGS I</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Additional tissues produced distinct hypotheses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Promoted and reinforced selections are shown separately for each tissue.</a:t>
            </a:r>
          </a:p>
        </p:txBody>
      </p:sp>
      <p:sp>
        <p:nvSpPr>
          <p:cNvPr id="7" name="TextBox 6"/>
          <p:cNvSpPr txBox="1"/>
          <p:nvPr/>
        </p:nvSpPr>
        <p:spPr>
          <a:xfrm>
            <a:off x="658368" y="1828800"/>
            <a:ext cx="155448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Analysis unit</a:t>
            </a:r>
          </a:p>
        </p:txBody>
      </p:sp>
      <p:sp>
        <p:nvSpPr>
          <p:cNvPr id="8" name="TextBox 7"/>
          <p:cNvSpPr txBox="1"/>
          <p:nvPr/>
        </p:nvSpPr>
        <p:spPr>
          <a:xfrm>
            <a:off x="2267712" y="1828800"/>
            <a:ext cx="10515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Selection</a:t>
            </a:r>
          </a:p>
        </p:txBody>
      </p:sp>
      <p:sp>
        <p:nvSpPr>
          <p:cNvPr id="9" name="TextBox 8"/>
          <p:cNvSpPr txBox="1"/>
          <p:nvPr/>
        </p:nvSpPr>
        <p:spPr>
          <a:xfrm>
            <a:off x="3456432" y="1828800"/>
            <a:ext cx="28803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Genes and FLT direction</a:t>
            </a:r>
          </a:p>
        </p:txBody>
      </p:sp>
      <p:sp>
        <p:nvSpPr>
          <p:cNvPr id="10" name="TextBox 9"/>
          <p:cNvSpPr txBox="1"/>
          <p:nvPr/>
        </p:nvSpPr>
        <p:spPr>
          <a:xfrm>
            <a:off x="6583680" y="1828800"/>
            <a:ext cx="466344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Interpretation</a:t>
            </a:r>
          </a:p>
        </p:txBody>
      </p:sp>
      <p:sp>
        <p:nvSpPr>
          <p:cNvPr id="11" name="Rectangle 10"/>
          <p:cNvSpPr/>
          <p:nvPr/>
        </p:nvSpPr>
        <p:spPr>
          <a:xfrm>
            <a:off x="393192" y="2148840"/>
            <a:ext cx="11375136" cy="804672"/>
          </a:xfrm>
          <a:prstGeom prst="rect">
            <a:avLst/>
          </a:prstGeom>
          <a:solidFill>
            <a:srgbClr val="E9F1F7"/>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93192" y="2148840"/>
            <a:ext cx="73152" cy="80467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2331720"/>
            <a:ext cx="1481328" cy="402336"/>
          </a:xfrm>
          <a:prstGeom prst="rect">
            <a:avLst/>
          </a:prstGeom>
          <a:noFill/>
        </p:spPr>
        <p:txBody>
          <a:bodyPr wrap="square" lIns="18288" rIns="18288" tIns="18288" bIns="18288" anchor="ctr">
            <a:spAutoFit/>
          </a:bodyPr>
          <a:lstStyle/>
          <a:p>
            <a:pPr algn="l">
              <a:spcAft>
                <a:spcPts val="0"/>
              </a:spcAft>
            </a:pPr>
            <a:r>
              <a:rPr sz="1500" b="1" i="0">
                <a:solidFill>
                  <a:srgbClr val="2D6496"/>
                </a:solidFill>
                <a:latin typeface="Arial"/>
              </a:rPr>
              <a:t>Pooled muscle</a:t>
            </a:r>
          </a:p>
        </p:txBody>
      </p:sp>
      <p:sp>
        <p:nvSpPr>
          <p:cNvPr id="14" name="Rectangle 13"/>
          <p:cNvSpPr/>
          <p:nvPr/>
        </p:nvSpPr>
        <p:spPr>
          <a:xfrm>
            <a:off x="2212848" y="2551176"/>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267712" y="22219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16" name="TextBox 15"/>
          <p:cNvSpPr txBox="1"/>
          <p:nvPr/>
        </p:nvSpPr>
        <p:spPr>
          <a:xfrm>
            <a:off x="3456432" y="219456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Lower: Klhl21, Mapkapk5, Reep5, Itgb5</a:t>
            </a:r>
          </a:p>
        </p:txBody>
      </p:sp>
      <p:sp>
        <p:nvSpPr>
          <p:cNvPr id="17" name="TextBox 16"/>
          <p:cNvSpPr txBox="1"/>
          <p:nvPr/>
        </p:nvSpPr>
        <p:spPr>
          <a:xfrm>
            <a:off x="2267712" y="2624328"/>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18" name="TextBox 17"/>
          <p:cNvSpPr txBox="1"/>
          <p:nvPr/>
        </p:nvSpPr>
        <p:spPr>
          <a:xfrm>
            <a:off x="3456432" y="25877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Higher: Sox4, Cebpd, Sh3bp5, Prkcd, Arid5b, Sesn1, Tle1; lower: Bphl</a:t>
            </a:r>
          </a:p>
        </p:txBody>
      </p:sp>
      <p:sp>
        <p:nvSpPr>
          <p:cNvPr id="19" name="TextBox 18"/>
          <p:cNvSpPr txBox="1"/>
          <p:nvPr/>
        </p:nvSpPr>
        <p:spPr>
          <a:xfrm>
            <a:off x="6583680" y="2240280"/>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Heterogeneous stress, differentiation, interferon and sialic-acid response; interpret with the anatomical muscle groups.</a:t>
            </a:r>
          </a:p>
        </p:txBody>
      </p:sp>
      <p:sp>
        <p:nvSpPr>
          <p:cNvPr id="20" name="Rectangle 19"/>
          <p:cNvSpPr/>
          <p:nvPr/>
        </p:nvSpPr>
        <p:spPr>
          <a:xfrm>
            <a:off x="393192" y="3118104"/>
            <a:ext cx="11375136" cy="804672"/>
          </a:xfrm>
          <a:prstGeom prst="rect">
            <a:avLst/>
          </a:prstGeom>
          <a:solidFill>
            <a:srgbClr val="F0ECF6"/>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93192" y="3118104"/>
            <a:ext cx="73152" cy="804672"/>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3300984"/>
            <a:ext cx="1481328" cy="402336"/>
          </a:xfrm>
          <a:prstGeom prst="rect">
            <a:avLst/>
          </a:prstGeom>
          <a:noFill/>
        </p:spPr>
        <p:txBody>
          <a:bodyPr wrap="square" lIns="18288" rIns="18288" tIns="18288" bIns="18288" anchor="ctr">
            <a:spAutoFit/>
          </a:bodyPr>
          <a:lstStyle/>
          <a:p>
            <a:pPr algn="l">
              <a:spcAft>
                <a:spcPts val="0"/>
              </a:spcAft>
            </a:pPr>
            <a:r>
              <a:rPr sz="1500" b="1" i="0">
                <a:solidFill>
                  <a:srgbClr val="8063A6"/>
                </a:solidFill>
                <a:latin typeface="Arial"/>
              </a:rPr>
              <a:t>Kidney</a:t>
            </a:r>
          </a:p>
        </p:txBody>
      </p:sp>
      <p:sp>
        <p:nvSpPr>
          <p:cNvPr id="23" name="Rectangle 22"/>
          <p:cNvSpPr/>
          <p:nvPr/>
        </p:nvSpPr>
        <p:spPr>
          <a:xfrm>
            <a:off x="2212848" y="3520440"/>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267712" y="31912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25" name="TextBox 24"/>
          <p:cNvSpPr txBox="1"/>
          <p:nvPr/>
        </p:nvSpPr>
        <p:spPr>
          <a:xfrm>
            <a:off x="3456432" y="316382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Inpp4b higher</a:t>
            </a:r>
          </a:p>
        </p:txBody>
      </p:sp>
      <p:sp>
        <p:nvSpPr>
          <p:cNvPr id="26" name="TextBox 25"/>
          <p:cNvSpPr txBox="1"/>
          <p:nvPr/>
        </p:nvSpPr>
        <p:spPr>
          <a:xfrm>
            <a:off x="2267712" y="35935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27" name="TextBox 26"/>
          <p:cNvSpPr txBox="1"/>
          <p:nvPr/>
        </p:nvSpPr>
        <p:spPr>
          <a:xfrm>
            <a:off x="3456432" y="3557016"/>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Slc37a4 higher</a:t>
            </a:r>
          </a:p>
        </p:txBody>
      </p:sp>
      <p:sp>
        <p:nvSpPr>
          <p:cNvPr id="28" name="TextBox 27"/>
          <p:cNvSpPr txBox="1"/>
          <p:nvPr/>
        </p:nvSpPr>
        <p:spPr>
          <a:xfrm>
            <a:off x="6583680" y="3209544"/>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Renal phosphoinositide signaling and glucose-handling hypothesis; the pair had no shared Reactome enrichment.</a:t>
            </a:r>
          </a:p>
        </p:txBody>
      </p:sp>
      <p:sp>
        <p:nvSpPr>
          <p:cNvPr id="29" name="Rectangle 28"/>
          <p:cNvSpPr/>
          <p:nvPr/>
        </p:nvSpPr>
        <p:spPr>
          <a:xfrm>
            <a:off x="393192" y="4087368"/>
            <a:ext cx="11375136" cy="804672"/>
          </a:xfrm>
          <a:prstGeom prst="rect">
            <a:avLst/>
          </a:prstGeom>
          <a:solidFill>
            <a:srgbClr val="E8F3F1"/>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93192" y="4087368"/>
            <a:ext cx="73152" cy="80467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8368" y="4270248"/>
            <a:ext cx="1481328" cy="402336"/>
          </a:xfrm>
          <a:prstGeom prst="rect">
            <a:avLst/>
          </a:prstGeom>
          <a:noFill/>
        </p:spPr>
        <p:txBody>
          <a:bodyPr wrap="square" lIns="18288" rIns="18288" tIns="18288" bIns="18288" anchor="ctr">
            <a:spAutoFit/>
          </a:bodyPr>
          <a:lstStyle/>
          <a:p>
            <a:pPr algn="l">
              <a:spcAft>
                <a:spcPts val="0"/>
              </a:spcAft>
            </a:pPr>
            <a:r>
              <a:rPr sz="1500" b="1" i="0">
                <a:solidFill>
                  <a:srgbClr val="178681"/>
                </a:solidFill>
                <a:latin typeface="Arial"/>
              </a:rPr>
              <a:t>Spleen</a:t>
            </a:r>
          </a:p>
        </p:txBody>
      </p:sp>
      <p:sp>
        <p:nvSpPr>
          <p:cNvPr id="32" name="Rectangle 31"/>
          <p:cNvSpPr/>
          <p:nvPr/>
        </p:nvSpPr>
        <p:spPr>
          <a:xfrm>
            <a:off x="2212848" y="4489704"/>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267712" y="41605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34" name="TextBox 33"/>
          <p:cNvSpPr txBox="1"/>
          <p:nvPr/>
        </p:nvSpPr>
        <p:spPr>
          <a:xfrm>
            <a:off x="3456432" y="4133088"/>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Rai14, Myl9, Ptprk higher</a:t>
            </a:r>
          </a:p>
        </p:txBody>
      </p:sp>
      <p:sp>
        <p:nvSpPr>
          <p:cNvPr id="35" name="TextBox 34"/>
          <p:cNvSpPr txBox="1"/>
          <p:nvPr/>
        </p:nvSpPr>
        <p:spPr>
          <a:xfrm>
            <a:off x="2267712" y="45628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36" name="TextBox 35"/>
          <p:cNvSpPr txBox="1"/>
          <p:nvPr/>
        </p:nvSpPr>
        <p:spPr>
          <a:xfrm>
            <a:off x="3456432" y="452628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Loxl1 higher</a:t>
            </a:r>
          </a:p>
        </p:txBody>
      </p:sp>
      <p:sp>
        <p:nvSpPr>
          <p:cNvPr id="37" name="TextBox 36"/>
          <p:cNvSpPr txBox="1"/>
          <p:nvPr/>
        </p:nvSpPr>
        <p:spPr>
          <a:xfrm>
            <a:off x="6583680" y="4178808"/>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Adhesion, actomyosin and extracellular-matrix or immune-organization hypothesis; no coherent pathway enrichment.</a:t>
            </a:r>
          </a:p>
        </p:txBody>
      </p:sp>
      <p:sp>
        <p:nvSpPr>
          <p:cNvPr id="38" name="Rectangle 37"/>
          <p:cNvSpPr/>
          <p:nvPr/>
        </p:nvSpPr>
        <p:spPr>
          <a:xfrm>
            <a:off x="393192" y="5056632"/>
            <a:ext cx="11375136" cy="804672"/>
          </a:xfrm>
          <a:prstGeom prst="rect">
            <a:avLst/>
          </a:prstGeom>
          <a:solidFill>
            <a:srgbClr val="F8F1E2"/>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93192" y="5056632"/>
            <a:ext cx="73152" cy="804672"/>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8368" y="5239512"/>
            <a:ext cx="1481328" cy="402336"/>
          </a:xfrm>
          <a:prstGeom prst="rect">
            <a:avLst/>
          </a:prstGeom>
          <a:noFill/>
        </p:spPr>
        <p:txBody>
          <a:bodyPr wrap="square" lIns="18288" rIns="18288" tIns="18288" bIns="18288" anchor="ctr">
            <a:spAutoFit/>
          </a:bodyPr>
          <a:lstStyle/>
          <a:p>
            <a:pPr algn="l">
              <a:spcAft>
                <a:spcPts val="0"/>
              </a:spcAft>
            </a:pPr>
            <a:r>
              <a:rPr sz="1500" b="1" i="0">
                <a:solidFill>
                  <a:srgbClr val="D37B00"/>
                </a:solidFill>
                <a:latin typeface="Arial"/>
              </a:rPr>
              <a:t>Skin</a:t>
            </a:r>
          </a:p>
        </p:txBody>
      </p:sp>
      <p:sp>
        <p:nvSpPr>
          <p:cNvPr id="41" name="Rectangle 40"/>
          <p:cNvSpPr/>
          <p:nvPr/>
        </p:nvSpPr>
        <p:spPr>
          <a:xfrm>
            <a:off x="2212848" y="5458968"/>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267712" y="5129784"/>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43" name="TextBox 42"/>
          <p:cNvSpPr txBox="1"/>
          <p:nvPr/>
        </p:nvSpPr>
        <p:spPr>
          <a:xfrm>
            <a:off x="3456432" y="51023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Plscr1 higher</a:t>
            </a:r>
          </a:p>
        </p:txBody>
      </p:sp>
      <p:sp>
        <p:nvSpPr>
          <p:cNvPr id="44" name="TextBox 43"/>
          <p:cNvSpPr txBox="1"/>
          <p:nvPr/>
        </p:nvSpPr>
        <p:spPr>
          <a:xfrm>
            <a:off x="2267712" y="55321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45" name="TextBox 44"/>
          <p:cNvSpPr txBox="1"/>
          <p:nvPr/>
        </p:nvSpPr>
        <p:spPr>
          <a:xfrm>
            <a:off x="3456432" y="549554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None</a:t>
            </a:r>
          </a:p>
        </p:txBody>
      </p:sp>
      <p:sp>
        <p:nvSpPr>
          <p:cNvPr id="46" name="TextBox 45"/>
          <p:cNvSpPr txBox="1"/>
          <p:nvPr/>
        </p:nvSpPr>
        <p:spPr>
          <a:xfrm>
            <a:off x="6583680" y="5148072"/>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Interferon-linked skin candidate within broader cell-cycle and DNA-repair responses; a single-gene result.</a:t>
            </a:r>
          </a:p>
        </p:txBody>
      </p:sp>
      <p:sp>
        <p:nvSpPr>
          <p:cNvPr id="47" name="TextBox 46"/>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All listed effects passed BH FDR in observed OSDR profiles; 'None' means no gene in that selection category.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ADDITIONAL FINDINGS II</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Eye, adrenal and muscle-group results remain tissue-specific</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Promoted and reinforced selections are separated within every tissue.</a:t>
            </a:r>
          </a:p>
        </p:txBody>
      </p:sp>
      <p:sp>
        <p:nvSpPr>
          <p:cNvPr id="7" name="TextBox 6"/>
          <p:cNvSpPr txBox="1"/>
          <p:nvPr/>
        </p:nvSpPr>
        <p:spPr>
          <a:xfrm>
            <a:off x="658368" y="1828800"/>
            <a:ext cx="155448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Analysis unit</a:t>
            </a:r>
          </a:p>
        </p:txBody>
      </p:sp>
      <p:sp>
        <p:nvSpPr>
          <p:cNvPr id="8" name="TextBox 7"/>
          <p:cNvSpPr txBox="1"/>
          <p:nvPr/>
        </p:nvSpPr>
        <p:spPr>
          <a:xfrm>
            <a:off x="2267712" y="1828800"/>
            <a:ext cx="10515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Selection</a:t>
            </a:r>
          </a:p>
        </p:txBody>
      </p:sp>
      <p:sp>
        <p:nvSpPr>
          <p:cNvPr id="9" name="TextBox 8"/>
          <p:cNvSpPr txBox="1"/>
          <p:nvPr/>
        </p:nvSpPr>
        <p:spPr>
          <a:xfrm>
            <a:off x="3456432" y="1828800"/>
            <a:ext cx="28803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Genes and FLT direction</a:t>
            </a:r>
          </a:p>
        </p:txBody>
      </p:sp>
      <p:sp>
        <p:nvSpPr>
          <p:cNvPr id="10" name="TextBox 9"/>
          <p:cNvSpPr txBox="1"/>
          <p:nvPr/>
        </p:nvSpPr>
        <p:spPr>
          <a:xfrm>
            <a:off x="6583680" y="1828800"/>
            <a:ext cx="466344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Interpretation</a:t>
            </a:r>
          </a:p>
        </p:txBody>
      </p:sp>
      <p:sp>
        <p:nvSpPr>
          <p:cNvPr id="11" name="Rectangle 10"/>
          <p:cNvSpPr/>
          <p:nvPr/>
        </p:nvSpPr>
        <p:spPr>
          <a:xfrm>
            <a:off x="393192" y="2148840"/>
            <a:ext cx="11375136" cy="804672"/>
          </a:xfrm>
          <a:prstGeom prst="rect">
            <a:avLst/>
          </a:prstGeom>
          <a:solidFill>
            <a:srgbClr val="ECF4ED"/>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93192" y="2148840"/>
            <a:ext cx="73152" cy="804672"/>
          </a:xfrm>
          <a:prstGeom prst="rect">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2331720"/>
            <a:ext cx="1481328" cy="402336"/>
          </a:xfrm>
          <a:prstGeom prst="rect">
            <a:avLst/>
          </a:prstGeom>
          <a:noFill/>
        </p:spPr>
        <p:txBody>
          <a:bodyPr wrap="square" lIns="18288" rIns="18288" tIns="18288" bIns="18288" anchor="ctr">
            <a:spAutoFit/>
          </a:bodyPr>
          <a:lstStyle/>
          <a:p>
            <a:pPr algn="l">
              <a:spcAft>
                <a:spcPts val="0"/>
              </a:spcAft>
            </a:pPr>
            <a:r>
              <a:rPr sz="1500" b="1" i="0">
                <a:solidFill>
                  <a:srgbClr val="478A64"/>
                </a:solidFill>
                <a:latin typeface="Arial"/>
              </a:rPr>
              <a:t>Eye</a:t>
            </a:r>
          </a:p>
        </p:txBody>
      </p:sp>
      <p:sp>
        <p:nvSpPr>
          <p:cNvPr id="14" name="Rectangle 13"/>
          <p:cNvSpPr/>
          <p:nvPr/>
        </p:nvSpPr>
        <p:spPr>
          <a:xfrm>
            <a:off x="2212848" y="2551176"/>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267712" y="22219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16" name="TextBox 15"/>
          <p:cNvSpPr txBox="1"/>
          <p:nvPr/>
        </p:nvSpPr>
        <p:spPr>
          <a:xfrm>
            <a:off x="3456432" y="219456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None</a:t>
            </a:r>
          </a:p>
        </p:txBody>
      </p:sp>
      <p:sp>
        <p:nvSpPr>
          <p:cNvPr id="17" name="TextBox 16"/>
          <p:cNvSpPr txBox="1"/>
          <p:nvPr/>
        </p:nvSpPr>
        <p:spPr>
          <a:xfrm>
            <a:off x="2267712" y="2624328"/>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18" name="TextBox 17"/>
          <p:cNvSpPr txBox="1"/>
          <p:nvPr/>
        </p:nvSpPr>
        <p:spPr>
          <a:xfrm>
            <a:off x="3456432" y="25877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Klhl21 lower</a:t>
            </a:r>
          </a:p>
        </p:txBody>
      </p:sp>
      <p:sp>
        <p:nvSpPr>
          <p:cNvPr id="19" name="TextBox 18"/>
          <p:cNvSpPr txBox="1"/>
          <p:nvPr/>
        </p:nvSpPr>
        <p:spPr>
          <a:xfrm>
            <a:off x="6583680" y="2240280"/>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Process-level alignment with lower proliferation and cytokinesis in flight eye tissue; not an exact prior gene replication.</a:t>
            </a:r>
          </a:p>
        </p:txBody>
      </p:sp>
      <p:sp>
        <p:nvSpPr>
          <p:cNvPr id="20" name="Rectangle 19"/>
          <p:cNvSpPr/>
          <p:nvPr/>
        </p:nvSpPr>
        <p:spPr>
          <a:xfrm>
            <a:off x="393192" y="3118104"/>
            <a:ext cx="11375136" cy="804672"/>
          </a:xfrm>
          <a:prstGeom prst="rect">
            <a:avLst/>
          </a:prstGeom>
          <a:solidFill>
            <a:srgbClr val="F2F4F5"/>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93192" y="3118104"/>
            <a:ext cx="73152" cy="804672"/>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3300984"/>
            <a:ext cx="1481328" cy="402336"/>
          </a:xfrm>
          <a:prstGeom prst="rect">
            <a:avLst/>
          </a:prstGeom>
          <a:noFill/>
        </p:spPr>
        <p:txBody>
          <a:bodyPr wrap="square" lIns="18288" rIns="18288" tIns="18288" bIns="18288" anchor="ctr">
            <a:spAutoFit/>
          </a:bodyPr>
          <a:lstStyle/>
          <a:p>
            <a:pPr algn="l">
              <a:spcAft>
                <a:spcPts val="0"/>
              </a:spcAft>
            </a:pPr>
            <a:r>
              <a:rPr sz="1500" b="1" i="0">
                <a:solidFill>
                  <a:srgbClr val="8A969E"/>
                </a:solidFill>
                <a:latin typeface="Arial"/>
              </a:rPr>
              <a:t>Adrenal gland</a:t>
            </a:r>
          </a:p>
        </p:txBody>
      </p:sp>
      <p:sp>
        <p:nvSpPr>
          <p:cNvPr id="23" name="Rectangle 22"/>
          <p:cNvSpPr/>
          <p:nvPr/>
        </p:nvSpPr>
        <p:spPr>
          <a:xfrm>
            <a:off x="2212848" y="3520440"/>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267712" y="31912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25" name="TextBox 24"/>
          <p:cNvSpPr txBox="1"/>
          <p:nvPr/>
        </p:nvSpPr>
        <p:spPr>
          <a:xfrm>
            <a:off x="3456432" y="316382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Psmb8 lower</a:t>
            </a:r>
          </a:p>
        </p:txBody>
      </p:sp>
      <p:sp>
        <p:nvSpPr>
          <p:cNvPr id="26" name="TextBox 25"/>
          <p:cNvSpPr txBox="1"/>
          <p:nvPr/>
        </p:nvSpPr>
        <p:spPr>
          <a:xfrm>
            <a:off x="2267712" y="35935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27" name="TextBox 26"/>
          <p:cNvSpPr txBox="1"/>
          <p:nvPr/>
        </p:nvSpPr>
        <p:spPr>
          <a:xfrm>
            <a:off x="3456432" y="3557016"/>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Tspan4 lower</a:t>
            </a:r>
          </a:p>
        </p:txBody>
      </p:sp>
      <p:sp>
        <p:nvSpPr>
          <p:cNvPr id="28" name="TextBox 27"/>
          <p:cNvSpPr txBox="1"/>
          <p:nvPr/>
        </p:nvSpPr>
        <p:spPr>
          <a:xfrm>
            <a:off x="6583680" y="3209544"/>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Literature-unmatched immune, proteostasis or tissue-composition candidates; no adrenal mechanism is established.</a:t>
            </a:r>
          </a:p>
        </p:txBody>
      </p:sp>
      <p:sp>
        <p:nvSpPr>
          <p:cNvPr id="29" name="Rectangle 28"/>
          <p:cNvSpPr/>
          <p:nvPr/>
        </p:nvSpPr>
        <p:spPr>
          <a:xfrm>
            <a:off x="393192" y="4087368"/>
            <a:ext cx="11375136" cy="804672"/>
          </a:xfrm>
          <a:prstGeom prst="rect">
            <a:avLst/>
          </a:prstGeom>
          <a:solidFill>
            <a:srgbClr val="E9F1F7"/>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93192" y="4087368"/>
            <a:ext cx="73152" cy="80467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8368" y="4270248"/>
            <a:ext cx="1481328" cy="402336"/>
          </a:xfrm>
          <a:prstGeom prst="rect">
            <a:avLst/>
          </a:prstGeom>
          <a:noFill/>
        </p:spPr>
        <p:txBody>
          <a:bodyPr wrap="square" lIns="18288" rIns="18288" tIns="18288" bIns="18288" anchor="ctr">
            <a:spAutoFit/>
          </a:bodyPr>
          <a:lstStyle/>
          <a:p>
            <a:pPr algn="l">
              <a:spcAft>
                <a:spcPts val="0"/>
              </a:spcAft>
            </a:pPr>
            <a:r>
              <a:rPr sz="1500" b="1" i="0">
                <a:solidFill>
                  <a:srgbClr val="2D6496"/>
                </a:solidFill>
                <a:latin typeface="Arial"/>
              </a:rPr>
              <a:t>Gastrocnemius</a:t>
            </a:r>
          </a:p>
        </p:txBody>
      </p:sp>
      <p:sp>
        <p:nvSpPr>
          <p:cNvPr id="32" name="Rectangle 31"/>
          <p:cNvSpPr/>
          <p:nvPr/>
        </p:nvSpPr>
        <p:spPr>
          <a:xfrm>
            <a:off x="2212848" y="4489704"/>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267712" y="41605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34" name="TextBox 33"/>
          <p:cNvSpPr txBox="1"/>
          <p:nvPr/>
        </p:nvSpPr>
        <p:spPr>
          <a:xfrm>
            <a:off x="3456432" y="4133088"/>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Nfkbia higher; Fhl2 lower</a:t>
            </a:r>
          </a:p>
        </p:txBody>
      </p:sp>
      <p:sp>
        <p:nvSpPr>
          <p:cNvPr id="35" name="TextBox 34"/>
          <p:cNvSpPr txBox="1"/>
          <p:nvPr/>
        </p:nvSpPr>
        <p:spPr>
          <a:xfrm>
            <a:off x="2267712" y="45628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36" name="TextBox 35"/>
          <p:cNvSpPr txBox="1"/>
          <p:nvPr/>
        </p:nvSpPr>
        <p:spPr>
          <a:xfrm>
            <a:off x="3456432" y="452628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None</a:t>
            </a:r>
          </a:p>
        </p:txBody>
      </p:sp>
      <p:sp>
        <p:nvSpPr>
          <p:cNvPr id="37" name="TextBox 36"/>
          <p:cNvSpPr txBox="1"/>
          <p:nvPr/>
        </p:nvSpPr>
        <p:spPr>
          <a:xfrm>
            <a:off x="6583680" y="4178808"/>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NF-kappaB stress alignment plus an autophagy or myogenesis candidate; the two genes do not form a coherent pathway.</a:t>
            </a:r>
          </a:p>
        </p:txBody>
      </p:sp>
      <p:sp>
        <p:nvSpPr>
          <p:cNvPr id="38" name="Rectangle 37"/>
          <p:cNvSpPr/>
          <p:nvPr/>
        </p:nvSpPr>
        <p:spPr>
          <a:xfrm>
            <a:off x="393192" y="5056632"/>
            <a:ext cx="11375136" cy="804672"/>
          </a:xfrm>
          <a:prstGeom prst="rect">
            <a:avLst/>
          </a:prstGeom>
          <a:solidFill>
            <a:srgbClr val="E8F3F1"/>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93192" y="5056632"/>
            <a:ext cx="73152" cy="80467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8368" y="5239512"/>
            <a:ext cx="1481328" cy="402336"/>
          </a:xfrm>
          <a:prstGeom prst="rect">
            <a:avLst/>
          </a:prstGeom>
          <a:noFill/>
        </p:spPr>
        <p:txBody>
          <a:bodyPr wrap="square" lIns="18288" rIns="18288" tIns="18288" bIns="18288" anchor="ctr">
            <a:spAutoFit/>
          </a:bodyPr>
          <a:lstStyle/>
          <a:p>
            <a:pPr algn="l">
              <a:spcAft>
                <a:spcPts val="0"/>
              </a:spcAft>
            </a:pPr>
            <a:r>
              <a:rPr sz="1500" b="1" i="0">
                <a:solidFill>
                  <a:srgbClr val="178681"/>
                </a:solidFill>
                <a:latin typeface="Arial"/>
              </a:rPr>
              <a:t>Tibialis anterior</a:t>
            </a:r>
          </a:p>
        </p:txBody>
      </p:sp>
      <p:sp>
        <p:nvSpPr>
          <p:cNvPr id="41" name="Rectangle 40"/>
          <p:cNvSpPr/>
          <p:nvPr/>
        </p:nvSpPr>
        <p:spPr>
          <a:xfrm>
            <a:off x="2212848" y="5458968"/>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267712" y="5129784"/>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43" name="TextBox 42"/>
          <p:cNvSpPr txBox="1"/>
          <p:nvPr/>
        </p:nvSpPr>
        <p:spPr>
          <a:xfrm>
            <a:off x="3456432" y="51023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Cebpd higher</a:t>
            </a:r>
          </a:p>
        </p:txBody>
      </p:sp>
      <p:sp>
        <p:nvSpPr>
          <p:cNvPr id="44" name="TextBox 43"/>
          <p:cNvSpPr txBox="1"/>
          <p:nvPr/>
        </p:nvSpPr>
        <p:spPr>
          <a:xfrm>
            <a:off x="2267712" y="55321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45" name="TextBox 44"/>
          <p:cNvSpPr txBox="1"/>
          <p:nvPr/>
        </p:nvSpPr>
        <p:spPr>
          <a:xfrm>
            <a:off x="3456432" y="549554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Cdkn1a, St3gal5, Bnip3 higher</a:t>
            </a:r>
          </a:p>
        </p:txBody>
      </p:sp>
      <p:sp>
        <p:nvSpPr>
          <p:cNvPr id="46" name="TextBox 45"/>
          <p:cNvSpPr txBox="1"/>
          <p:nvPr/>
        </p:nvSpPr>
        <p:spPr>
          <a:xfrm>
            <a:off x="6583680" y="5148072"/>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Stress, cell-cycle, ganglioside-signaling and mitophagy candidates with mixed or complementary prior evidence.</a:t>
            </a:r>
          </a:p>
        </p:txBody>
      </p:sp>
      <p:sp>
        <p:nvSpPr>
          <p:cNvPr id="47" name="TextBox 46"/>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Interpretations follow the independent literature annotations in Table S16; 'None' means no gene in that selection category.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TAKEAWAYS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Synthetic data worked best as a tissue-specific prior</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generator helped prioritize observed signal. Biological claims still come from OSDR profiles.</a:t>
            </a:r>
          </a:p>
        </p:txBody>
      </p:sp>
      <p:sp>
        <p:nvSpPr>
          <p:cNvPr id="7" name="Rectangle 6"/>
          <p:cNvSpPr/>
          <p:nvPr/>
        </p:nvSpPr>
        <p:spPr>
          <a:xfrm>
            <a:off x="384048" y="1920240"/>
            <a:ext cx="3246120" cy="3200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02336" y="2130552"/>
            <a:ext cx="621792" cy="365760"/>
          </a:xfrm>
          <a:prstGeom prst="rect">
            <a:avLst/>
          </a:prstGeom>
          <a:noFill/>
        </p:spPr>
        <p:txBody>
          <a:bodyPr wrap="square" lIns="0" rIns="0" tIns="0" bIns="0" anchor="t">
            <a:spAutoFit/>
          </a:bodyPr>
          <a:lstStyle/>
          <a:p>
            <a:pPr algn="l">
              <a:spcAft>
                <a:spcPts val="0"/>
              </a:spcAft>
            </a:pPr>
            <a:r>
              <a:rPr sz="2100" b="1" i="0">
                <a:solidFill>
                  <a:srgbClr val="2D6496"/>
                </a:solidFill>
                <a:latin typeface="Arial"/>
              </a:rPr>
              <a:t>01</a:t>
            </a:r>
          </a:p>
        </p:txBody>
      </p:sp>
      <p:sp>
        <p:nvSpPr>
          <p:cNvPr id="9" name="TextBox 8"/>
          <p:cNvSpPr txBox="1"/>
          <p:nvPr/>
        </p:nvSpPr>
        <p:spPr>
          <a:xfrm>
            <a:off x="1170432" y="2148840"/>
            <a:ext cx="2249424" cy="329184"/>
          </a:xfrm>
          <a:prstGeom prst="rect">
            <a:avLst/>
          </a:prstGeom>
          <a:noFill/>
        </p:spPr>
        <p:txBody>
          <a:bodyPr wrap="square" lIns="0" rIns="0" tIns="0" bIns="0" anchor="t">
            <a:spAutoFit/>
          </a:bodyPr>
          <a:lstStyle/>
          <a:p>
            <a:pPr algn="l">
              <a:spcAft>
                <a:spcPts val="0"/>
              </a:spcAft>
            </a:pPr>
            <a:r>
              <a:rPr sz="1900" b="1" i="0">
                <a:solidFill>
                  <a:srgbClr val="082B55"/>
                </a:solidFill>
                <a:latin typeface="Arial"/>
              </a:rPr>
              <a:t>Generate</a:t>
            </a:r>
          </a:p>
        </p:txBody>
      </p:sp>
      <p:sp>
        <p:nvSpPr>
          <p:cNvPr id="10" name="TextBox 9"/>
          <p:cNvSpPr txBox="1"/>
          <p:nvPr/>
        </p:nvSpPr>
        <p:spPr>
          <a:xfrm>
            <a:off x="411479" y="2852928"/>
            <a:ext cx="2999232" cy="1188720"/>
          </a:xfrm>
          <a:prstGeom prst="rect">
            <a:avLst/>
          </a:prstGeom>
          <a:noFill/>
        </p:spPr>
        <p:txBody>
          <a:bodyPr wrap="square" lIns="0" rIns="0" tIns="0" bIns="0" anchor="t">
            <a:spAutoFit/>
          </a:bodyPr>
          <a:lstStyle/>
          <a:p>
            <a:pPr algn="l">
              <a:spcAft>
                <a:spcPts val="0"/>
              </a:spcAft>
            </a:pPr>
            <a:r>
              <a:rPr sz="1500" b="0" i="0">
                <a:solidFill>
                  <a:srgbClr val="263746"/>
                </a:solidFill>
                <a:latin typeface="Arial"/>
              </a:rPr>
              <a:t>Conditional DDIM produced high-fidelity profiles with near-chance real-versus-synthetic separation.</a:t>
            </a:r>
          </a:p>
        </p:txBody>
      </p:sp>
      <p:sp>
        <p:nvSpPr>
          <p:cNvPr id="11" name="Rectangle 10"/>
          <p:cNvSpPr/>
          <p:nvPr/>
        </p:nvSpPr>
        <p:spPr>
          <a:xfrm>
            <a:off x="3877056" y="1920240"/>
            <a:ext cx="10972" cy="2404872"/>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059936" y="1920240"/>
            <a:ext cx="3246120" cy="3200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078224" y="2130552"/>
            <a:ext cx="621792" cy="365760"/>
          </a:xfrm>
          <a:prstGeom prst="rect">
            <a:avLst/>
          </a:prstGeom>
          <a:noFill/>
        </p:spPr>
        <p:txBody>
          <a:bodyPr wrap="square" lIns="0" rIns="0" tIns="0" bIns="0" anchor="t">
            <a:spAutoFit/>
          </a:bodyPr>
          <a:lstStyle/>
          <a:p>
            <a:pPr algn="l">
              <a:spcAft>
                <a:spcPts val="0"/>
              </a:spcAft>
            </a:pPr>
            <a:r>
              <a:rPr sz="2100" b="1" i="0">
                <a:solidFill>
                  <a:srgbClr val="178681"/>
                </a:solidFill>
                <a:latin typeface="Arial"/>
              </a:rPr>
              <a:t>02</a:t>
            </a:r>
          </a:p>
        </p:txBody>
      </p:sp>
      <p:sp>
        <p:nvSpPr>
          <p:cNvPr id="14" name="TextBox 13"/>
          <p:cNvSpPr txBox="1"/>
          <p:nvPr/>
        </p:nvSpPr>
        <p:spPr>
          <a:xfrm>
            <a:off x="4846320" y="2148840"/>
            <a:ext cx="2249424" cy="329184"/>
          </a:xfrm>
          <a:prstGeom prst="rect">
            <a:avLst/>
          </a:prstGeom>
          <a:noFill/>
        </p:spPr>
        <p:txBody>
          <a:bodyPr wrap="square" lIns="0" rIns="0" tIns="0" bIns="0" anchor="t">
            <a:spAutoFit/>
          </a:bodyPr>
          <a:lstStyle/>
          <a:p>
            <a:pPr algn="l">
              <a:spcAft>
                <a:spcPts val="0"/>
              </a:spcAft>
            </a:pPr>
            <a:r>
              <a:rPr sz="1900" b="1" i="0">
                <a:solidFill>
                  <a:srgbClr val="082B55"/>
                </a:solidFill>
                <a:latin typeface="Arial"/>
              </a:rPr>
              <a:t>Use</a:t>
            </a:r>
          </a:p>
        </p:txBody>
      </p:sp>
      <p:sp>
        <p:nvSpPr>
          <p:cNvPr id="15" name="TextBox 14"/>
          <p:cNvSpPr txBox="1"/>
          <p:nvPr/>
        </p:nvSpPr>
        <p:spPr>
          <a:xfrm>
            <a:off x="4087368" y="2852928"/>
            <a:ext cx="2999232" cy="1188720"/>
          </a:xfrm>
          <a:prstGeom prst="rect">
            <a:avLst/>
          </a:prstGeom>
          <a:noFill/>
        </p:spPr>
        <p:txBody>
          <a:bodyPr wrap="square" lIns="0" rIns="0" tIns="0" bIns="0" anchor="t">
            <a:spAutoFit/>
          </a:bodyPr>
          <a:lstStyle/>
          <a:p>
            <a:pPr algn="l">
              <a:spcAft>
                <a:spcPts val="0"/>
              </a:spcAft>
            </a:pPr>
            <a:r>
              <a:rPr sz="1500" b="0" i="0">
                <a:solidFill>
                  <a:srgbClr val="263746"/>
                </a:solidFill>
                <a:latin typeface="Arial"/>
              </a:rPr>
              <a:t>Pooled augmentation failed. Tissue-specific ranking and low-weight training were more useful.</a:t>
            </a:r>
          </a:p>
        </p:txBody>
      </p:sp>
      <p:sp>
        <p:nvSpPr>
          <p:cNvPr id="16" name="Rectangle 15"/>
          <p:cNvSpPr/>
          <p:nvPr/>
        </p:nvSpPr>
        <p:spPr>
          <a:xfrm>
            <a:off x="7552944" y="1920240"/>
            <a:ext cx="10972" cy="2404872"/>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35824" y="1920240"/>
            <a:ext cx="3246120" cy="3200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54112" y="2130552"/>
            <a:ext cx="621792" cy="365760"/>
          </a:xfrm>
          <a:prstGeom prst="rect">
            <a:avLst/>
          </a:prstGeom>
          <a:noFill/>
        </p:spPr>
        <p:txBody>
          <a:bodyPr wrap="square" lIns="0" rIns="0" tIns="0" bIns="0" anchor="t">
            <a:spAutoFit/>
          </a:bodyPr>
          <a:lstStyle/>
          <a:p>
            <a:pPr algn="l">
              <a:spcAft>
                <a:spcPts val="0"/>
              </a:spcAft>
            </a:pPr>
            <a:r>
              <a:rPr sz="2100" b="1" i="0">
                <a:solidFill>
                  <a:srgbClr val="D37B00"/>
                </a:solidFill>
                <a:latin typeface="Arial"/>
              </a:rPr>
              <a:t>03</a:t>
            </a:r>
          </a:p>
        </p:txBody>
      </p:sp>
      <p:sp>
        <p:nvSpPr>
          <p:cNvPr id="19" name="TextBox 18"/>
          <p:cNvSpPr txBox="1"/>
          <p:nvPr/>
        </p:nvSpPr>
        <p:spPr>
          <a:xfrm>
            <a:off x="8522208" y="2148840"/>
            <a:ext cx="2249424" cy="329184"/>
          </a:xfrm>
          <a:prstGeom prst="rect">
            <a:avLst/>
          </a:prstGeom>
          <a:noFill/>
        </p:spPr>
        <p:txBody>
          <a:bodyPr wrap="square" lIns="0" rIns="0" tIns="0" bIns="0" anchor="t">
            <a:spAutoFit/>
          </a:bodyPr>
          <a:lstStyle/>
          <a:p>
            <a:pPr algn="l">
              <a:spcAft>
                <a:spcPts val="0"/>
              </a:spcAft>
            </a:pPr>
            <a:r>
              <a:rPr sz="1900" b="1" i="0">
                <a:solidFill>
                  <a:srgbClr val="082B55"/>
                </a:solidFill>
                <a:latin typeface="Arial"/>
              </a:rPr>
              <a:t>Interpret</a:t>
            </a:r>
          </a:p>
        </p:txBody>
      </p:sp>
      <p:sp>
        <p:nvSpPr>
          <p:cNvPr id="20" name="TextBox 19"/>
          <p:cNvSpPr txBox="1"/>
          <p:nvPr/>
        </p:nvSpPr>
        <p:spPr>
          <a:xfrm>
            <a:off x="7763256" y="2852928"/>
            <a:ext cx="2999232" cy="1188720"/>
          </a:xfrm>
          <a:prstGeom prst="rect">
            <a:avLst/>
          </a:prstGeom>
          <a:noFill/>
        </p:spPr>
        <p:txBody>
          <a:bodyPr wrap="square" lIns="0" rIns="0" tIns="0" bIns="0" anchor="t">
            <a:spAutoFit/>
          </a:bodyPr>
          <a:lstStyle/>
          <a:p>
            <a:pPr algn="l">
              <a:spcAft>
                <a:spcPts val="0"/>
              </a:spcAft>
            </a:pPr>
            <a:r>
              <a:rPr sz="1500" b="0" i="0">
                <a:solidFill>
                  <a:srgbClr val="263746"/>
                </a:solidFill>
                <a:latin typeface="Arial"/>
              </a:rPr>
              <a:t>Thymus was robust to material ablation; soleus was conditioning-sensitive. Literature review separated recovery from extension.</a:t>
            </a:r>
          </a:p>
        </p:txBody>
      </p:sp>
      <p:sp>
        <p:nvSpPr>
          <p:cNvPr id="21" name="Rectangle 20"/>
          <p:cNvSpPr/>
          <p:nvPr/>
        </p:nvSpPr>
        <p:spPr>
          <a:xfrm>
            <a:off x="411480" y="4681728"/>
            <a:ext cx="10972800" cy="3200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8912" y="4928616"/>
            <a:ext cx="1261872" cy="310896"/>
          </a:xfrm>
          <a:prstGeom prst="rect">
            <a:avLst/>
          </a:prstGeom>
          <a:noFill/>
        </p:spPr>
        <p:txBody>
          <a:bodyPr wrap="square" lIns="0" rIns="0" tIns="0" bIns="0" anchor="t">
            <a:spAutoFit/>
          </a:bodyPr>
          <a:lstStyle/>
          <a:p>
            <a:pPr algn="l">
              <a:spcAft>
                <a:spcPts val="0"/>
              </a:spcAft>
            </a:pPr>
            <a:r>
              <a:rPr sz="1700" b="1" i="0">
                <a:solidFill>
                  <a:srgbClr val="D37B00"/>
                </a:solidFill>
                <a:latin typeface="Arial"/>
              </a:rPr>
              <a:t>Next test</a:t>
            </a:r>
          </a:p>
        </p:txBody>
      </p:sp>
      <p:sp>
        <p:nvSpPr>
          <p:cNvPr id="23" name="TextBox 22"/>
          <p:cNvSpPr txBox="1"/>
          <p:nvPr/>
        </p:nvSpPr>
        <p:spPr>
          <a:xfrm>
            <a:off x="1828800" y="4837176"/>
            <a:ext cx="9253728" cy="566928"/>
          </a:xfrm>
          <a:prstGeom prst="rect">
            <a:avLst/>
          </a:prstGeom>
          <a:noFill/>
        </p:spPr>
        <p:txBody>
          <a:bodyPr wrap="square" lIns="0" rIns="0" tIns="0" bIns="0" anchor="ctr">
            <a:spAutoFit/>
          </a:bodyPr>
          <a:lstStyle/>
          <a:p>
            <a:pPr algn="l">
              <a:spcAft>
                <a:spcPts val="0"/>
              </a:spcAft>
            </a:pPr>
            <a:r>
              <a:rPr sz="1600" b="0" i="0">
                <a:solidFill>
                  <a:srgbClr val="082B55"/>
                </a:solidFill>
                <a:latin typeface="Arial"/>
              </a:rPr>
              <a:t>Use independent samples and cell-resolved assays to test thymus proliferation, soleus metabolism and prioritized candidates from additional tissues.</a:t>
            </a:r>
          </a:p>
        </p:txBody>
      </p:sp>
      <p:sp>
        <p:nvSpPr>
          <p:cNvPr id="24" name="TextBox 23"/>
          <p:cNvSpPr txBox="1"/>
          <p:nvPr/>
        </p:nvSpPr>
        <p:spPr>
          <a:xfrm>
            <a:off x="1828800" y="5486400"/>
            <a:ext cx="9253728" cy="256032"/>
          </a:xfrm>
          <a:prstGeom prst="rect">
            <a:avLst/>
          </a:prstGeom>
          <a:noFill/>
        </p:spPr>
        <p:txBody>
          <a:bodyPr wrap="square" lIns="0" rIns="0" tIns="0" bIns="0" anchor="t">
            <a:spAutoFit/>
          </a:bodyPr>
          <a:lstStyle/>
          <a:p>
            <a:pPr algn="l">
              <a:spcAft>
                <a:spcPts val="0"/>
              </a:spcAft>
            </a:pPr>
            <a:r>
              <a:rPr sz="1250" b="0" i="0">
                <a:solidFill>
                  <a:srgbClr val="59697A"/>
                </a:solidFill>
                <a:latin typeface="Arial"/>
              </a:rPr>
              <a:t>Generated profiles never enter the biological sample count or the BH-FDR test.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Rectangle 3"/>
          <p:cNvSpPr/>
          <p:nvPr/>
        </p:nvSpPr>
        <p:spPr>
          <a:xfrm>
            <a:off x="0" y="347472"/>
            <a:ext cx="12191999" cy="6510528"/>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115568"/>
            <a:ext cx="4937760" cy="731520"/>
          </a:xfrm>
          <a:prstGeom prst="rect">
            <a:avLst/>
          </a:prstGeom>
          <a:noFill/>
        </p:spPr>
        <p:txBody>
          <a:bodyPr wrap="square" lIns="18288" rIns="18288" tIns="18288" bIns="18288" anchor="t">
            <a:spAutoFit/>
          </a:bodyPr>
          <a:lstStyle/>
          <a:p>
            <a:pPr algn="l">
              <a:spcAft>
                <a:spcPts val="0"/>
              </a:spcAft>
            </a:pPr>
            <a:r>
              <a:rPr sz="3400" b="1" i="0">
                <a:solidFill>
                  <a:srgbClr val="FFFFFF"/>
                </a:solidFill>
                <a:latin typeface="Arial"/>
              </a:rPr>
              <a:t>Thank you</a:t>
            </a:r>
          </a:p>
        </p:txBody>
      </p:sp>
      <p:sp>
        <p:nvSpPr>
          <p:cNvPr id="6" name="TextBox 5"/>
          <p:cNvSpPr txBox="1"/>
          <p:nvPr/>
        </p:nvSpPr>
        <p:spPr>
          <a:xfrm>
            <a:off x="612648" y="1920240"/>
            <a:ext cx="3657600" cy="411480"/>
          </a:xfrm>
          <a:prstGeom prst="rect">
            <a:avLst/>
          </a:prstGeom>
          <a:noFill/>
        </p:spPr>
        <p:txBody>
          <a:bodyPr wrap="square" lIns="18288" rIns="18288" tIns="18288" bIns="18288" anchor="t">
            <a:spAutoFit/>
          </a:bodyPr>
          <a:lstStyle/>
          <a:p>
            <a:pPr algn="l">
              <a:spcAft>
                <a:spcPts val="0"/>
              </a:spcAft>
            </a:pPr>
            <a:r>
              <a:rPr sz="2100" b="0" i="0">
                <a:solidFill>
                  <a:srgbClr val="BFD0E1"/>
                </a:solidFill>
                <a:latin typeface="Arial"/>
              </a:rPr>
              <a:t>Questions?</a:t>
            </a:r>
          </a:p>
        </p:txBody>
      </p:sp>
      <p:sp>
        <p:nvSpPr>
          <p:cNvPr id="7" name="Rectangle 6"/>
          <p:cNvSpPr/>
          <p:nvPr/>
        </p:nvSpPr>
        <p:spPr>
          <a:xfrm>
            <a:off x="621792" y="2596896"/>
            <a:ext cx="2743200" cy="4572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1792" y="2935224"/>
            <a:ext cx="2743200" cy="320040"/>
          </a:xfrm>
          <a:prstGeom prst="rect">
            <a:avLst/>
          </a:prstGeom>
          <a:noFill/>
        </p:spPr>
        <p:txBody>
          <a:bodyPr wrap="square" lIns="18288" rIns="18288" tIns="18288" bIns="18288" anchor="t">
            <a:spAutoFit/>
          </a:bodyPr>
          <a:lstStyle/>
          <a:p>
            <a:pPr algn="l">
              <a:spcAft>
                <a:spcPts val="0"/>
              </a:spcAft>
            </a:pPr>
            <a:r>
              <a:rPr sz="1800" b="1" i="0">
                <a:solidFill>
                  <a:srgbClr val="FFFFFF"/>
                </a:solidFill>
                <a:latin typeface="Arial"/>
              </a:rPr>
              <a:t>Jason Trinh</a:t>
            </a:r>
          </a:p>
        </p:txBody>
      </p:sp>
      <p:sp>
        <p:nvSpPr>
          <p:cNvPr id="9" name="TextBox 8"/>
          <p:cNvSpPr txBox="1"/>
          <p:nvPr/>
        </p:nvSpPr>
        <p:spPr>
          <a:xfrm>
            <a:off x="621792" y="3319272"/>
            <a:ext cx="3200400" cy="274320"/>
          </a:xfrm>
          <a:prstGeom prst="rect">
            <a:avLst/>
          </a:prstGeom>
          <a:noFill/>
        </p:spPr>
        <p:txBody>
          <a:bodyPr wrap="square" lIns="18288" rIns="18288" tIns="18288" bIns="18288" anchor="t">
            <a:spAutoFit/>
          </a:bodyPr>
          <a:lstStyle/>
          <a:p>
            <a:pPr algn="l">
              <a:spcAft>
                <a:spcPts val="0"/>
              </a:spcAft>
            </a:pPr>
            <a:r>
              <a:rPr sz="1400" b="0" i="0">
                <a:solidFill>
                  <a:srgbClr val="BFD0E1"/>
                </a:solidFill>
                <a:latin typeface="Arial"/>
              </a:rPr>
              <a:t>jasontrinh@berkeley.edu</a:t>
            </a:r>
          </a:p>
        </p:txBody>
      </p:sp>
      <p:sp>
        <p:nvSpPr>
          <p:cNvPr id="10" name="TextBox 9"/>
          <p:cNvSpPr txBox="1"/>
          <p:nvPr/>
        </p:nvSpPr>
        <p:spPr>
          <a:xfrm>
            <a:off x="5504688" y="1353312"/>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Mentor</a:t>
            </a:r>
          </a:p>
        </p:txBody>
      </p:sp>
      <p:sp>
        <p:nvSpPr>
          <p:cNvPr id="11" name="TextBox 10"/>
          <p:cNvSpPr txBox="1"/>
          <p:nvPr/>
        </p:nvSpPr>
        <p:spPr>
          <a:xfrm>
            <a:off x="6793992" y="1325880"/>
            <a:ext cx="4160520" cy="310896"/>
          </a:xfrm>
          <a:prstGeom prst="rect">
            <a:avLst/>
          </a:prstGeom>
          <a:noFill/>
        </p:spPr>
        <p:txBody>
          <a:bodyPr wrap="square" lIns="18288" rIns="18288" tIns="18288" bIns="18288" anchor="t">
            <a:spAutoFit/>
          </a:bodyPr>
          <a:lstStyle/>
          <a:p>
            <a:pPr algn="l">
              <a:spcAft>
                <a:spcPts val="0"/>
              </a:spcAft>
            </a:pPr>
            <a:r>
              <a:rPr sz="1700" b="1" i="0">
                <a:solidFill>
                  <a:srgbClr val="FFFFFF"/>
                </a:solidFill>
                <a:latin typeface="Arial"/>
              </a:rPr>
              <a:t>James Casaletto</a:t>
            </a:r>
          </a:p>
        </p:txBody>
      </p:sp>
      <p:sp>
        <p:nvSpPr>
          <p:cNvPr id="12" name="TextBox 11"/>
          <p:cNvSpPr txBox="1"/>
          <p:nvPr/>
        </p:nvSpPr>
        <p:spPr>
          <a:xfrm>
            <a:off x="5504688" y="1975104"/>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Program</a:t>
            </a:r>
          </a:p>
        </p:txBody>
      </p:sp>
      <p:sp>
        <p:nvSpPr>
          <p:cNvPr id="13" name="TextBox 12"/>
          <p:cNvSpPr txBox="1"/>
          <p:nvPr/>
        </p:nvSpPr>
        <p:spPr>
          <a:xfrm>
            <a:off x="6793992" y="1947672"/>
            <a:ext cx="4407408" cy="475488"/>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Space Life Sciences Training Program</a:t>
            </a:r>
          </a:p>
        </p:txBody>
      </p:sp>
      <p:sp>
        <p:nvSpPr>
          <p:cNvPr id="14" name="TextBox 13"/>
          <p:cNvSpPr txBox="1"/>
          <p:nvPr/>
        </p:nvSpPr>
        <p:spPr>
          <a:xfrm>
            <a:off x="5504688" y="2779776"/>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Data</a:t>
            </a:r>
          </a:p>
        </p:txBody>
      </p:sp>
      <p:sp>
        <p:nvSpPr>
          <p:cNvPr id="15" name="TextBox 14"/>
          <p:cNvSpPr txBox="1"/>
          <p:nvPr/>
        </p:nvSpPr>
        <p:spPr>
          <a:xfrm>
            <a:off x="6793992" y="2752344"/>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OSDR | ARCHS4 | Reactome</a:t>
            </a:r>
          </a:p>
        </p:txBody>
      </p:sp>
      <p:sp>
        <p:nvSpPr>
          <p:cNvPr id="16" name="TextBox 15"/>
          <p:cNvSpPr txBox="1"/>
          <p:nvPr/>
        </p:nvSpPr>
        <p:spPr>
          <a:xfrm>
            <a:off x="5504688" y="3410712"/>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Compute</a:t>
            </a:r>
          </a:p>
        </p:txBody>
      </p:sp>
      <p:sp>
        <p:nvSpPr>
          <p:cNvPr id="17" name="TextBox 16"/>
          <p:cNvSpPr txBox="1"/>
          <p:nvPr/>
        </p:nvSpPr>
        <p:spPr>
          <a:xfrm>
            <a:off x="6793992" y="3383280"/>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Ames Research Center</a:t>
            </a:r>
          </a:p>
        </p:txBody>
      </p:sp>
      <p:sp>
        <p:nvSpPr>
          <p:cNvPr id="18" name="TextBox 17"/>
          <p:cNvSpPr txBox="1"/>
          <p:nvPr/>
        </p:nvSpPr>
        <p:spPr>
          <a:xfrm>
            <a:off x="5504688" y="4041648"/>
            <a:ext cx="1188720" cy="365760"/>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Code and manuscript</a:t>
            </a:r>
          </a:p>
        </p:txBody>
      </p:sp>
      <p:sp>
        <p:nvSpPr>
          <p:cNvPr id="19" name="TextBox 18"/>
          <p:cNvSpPr txBox="1"/>
          <p:nvPr/>
        </p:nvSpPr>
        <p:spPr>
          <a:xfrm>
            <a:off x="6793992" y="4023360"/>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github.com/jasont314/nasa-mouse</a:t>
            </a:r>
          </a:p>
        </p:txBody>
      </p:sp>
      <p:sp>
        <p:nvSpPr>
          <p:cNvPr id="20" name="TextBox 19"/>
          <p:cNvSpPr txBox="1"/>
          <p:nvPr/>
        </p:nvSpPr>
        <p:spPr>
          <a:xfrm>
            <a:off x="5504688" y="5029200"/>
            <a:ext cx="5486400" cy="365760"/>
          </a:xfrm>
          <a:prstGeom prst="rect">
            <a:avLst/>
          </a:prstGeom>
          <a:noFill/>
        </p:spPr>
        <p:txBody>
          <a:bodyPr wrap="square" lIns="18288" rIns="18288" tIns="18288" bIns="18288" anchor="t">
            <a:spAutoFit/>
          </a:bodyPr>
          <a:lstStyle/>
          <a:p>
            <a:pPr algn="l">
              <a:spcAft>
                <a:spcPts val="0"/>
              </a:spcAft>
            </a:pPr>
            <a:r>
              <a:rPr sz="1350" b="0" i="1">
                <a:solidFill>
                  <a:srgbClr val="BFD0E1"/>
                </a:solidFill>
                <a:latin typeface="Arial"/>
              </a:rPr>
              <a:t>All biological associations were tested in observed OSDR profiles.</a:t>
            </a:r>
          </a:p>
        </p:txBody>
      </p:sp>
    </p:spTree>
  </p:cSld>
  <p:clrMapOvr>
    <a:masterClrMapping/>
  </p:clrMapOvr>
</p:sld>
</file>

<file path=ppt/theme/theme1.xml><?xml version="1.0" encoding="utf-8"?>
<a:theme xmlns:a="http://schemas.openxmlformats.org/drawingml/2006/main" name="1_Office Theme">
  <a:themeElements>
    <a:clrScheme name="BPS_2024_gold">
      <a:dk1>
        <a:srgbClr val="061F49"/>
      </a:dk1>
      <a:lt1>
        <a:srgbClr val="FFFFFF"/>
      </a:lt1>
      <a:dk2>
        <a:srgbClr val="061F49"/>
      </a:dk2>
      <a:lt2>
        <a:srgbClr val="E7E6E6"/>
      </a:lt2>
      <a:accent1>
        <a:srgbClr val="061F48"/>
      </a:accent1>
      <a:accent2>
        <a:srgbClr val="276644"/>
      </a:accent2>
      <a:accent3>
        <a:srgbClr val="D47800"/>
      </a:accent3>
      <a:accent4>
        <a:srgbClr val="D4BF88"/>
      </a:accent4>
      <a:accent5>
        <a:srgbClr val="8F6725"/>
      </a:accent5>
      <a:accent6>
        <a:srgbClr val="205391"/>
      </a:accent6>
      <a:hlink>
        <a:srgbClr val="205391"/>
      </a:hlink>
      <a:folHlink>
        <a:srgbClr val="0B3C91"/>
      </a:folHlink>
    </a:clrScheme>
    <a:fontScheme name="Arial Black-Arial">
      <a:majorFont>
        <a:latin typeface="Arial Black" panose="020B0A04020102020204"/>
        <a:ea typeface=""/>
        <a:cs typeface=""/>
        <a:font script="Jpan" typeface="ＭＳ ゴシック"/>
        <a:font script="Hang" typeface="굴림"/>
        <a:font script="Hans" typeface="微软雅黑"/>
        <a:font script="Hant" typeface="微軟正黑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2024-01-24_BPS_PPT_Template" id="{F69818ED-1EB5-154C-9646-61EECBC32C17}" vid="{337BE73D-1FC8-8444-A6A2-B6928143BD4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haredWithUsers xmlns="43f8f0fe-7515-424d-86d7-0a337e4aa03f">
      <UserInfo>
        <DisplayName>Mangan, Keara L. (HQ-DP000)[BOOZ ALLEN &amp; HAMILTON INC]</DisplayName>
        <AccountId>13</AccountId>
        <AccountType/>
      </UserInfo>
      <UserInfo>
        <DisplayName>Gilbertson, Gamble (HQ-DP000)[EAST2]</DisplayName>
        <AccountId>15</AccountId>
        <AccountType/>
      </UserInfo>
      <UserInfo>
        <DisplayName>Lee, Jemie (HQ-DP000)[BOOZ ALLEN &amp; HAMILTON INC]</DisplayName>
        <AccountId>14</AccountId>
        <AccountType/>
      </UserInfo>
      <UserInfo>
        <DisplayName>White Lyons, Melanie M. (HQ-DP000)[BOOZ ALLEN &amp; HAMILTON INC]</DisplayName>
        <AccountId>12</AccountId>
        <AccountType/>
      </UserInfo>
      <UserInfo>
        <DisplayName>Lele, Julie (HQ-DM000)[BOOZ ALLEN &amp; HAMILTON INC]</DisplayName>
        <AccountId>10</AccountId>
        <AccountType/>
      </UserInfo>
      <UserInfo>
        <DisplayName>Burg, Joseph A. (HQ-DP000)[BOOZ ALLEN &amp; HAMILTON INC]</DisplayName>
        <AccountId>119</AccountId>
        <AccountType/>
      </UserInfo>
      <UserInfo>
        <DisplayName>Carnell, Lisa (HQ-DP000)</DisplayName>
        <AccountId>21</AccountId>
        <AccountType/>
      </UserInfo>
      <UserInfo>
        <DisplayName>Hertz, Paul (HQ-DA000)</DisplayName>
        <AccountId>100</AccountId>
        <AccountType/>
      </UserInfo>
      <UserInfo>
        <DisplayName>Fauntleroy, Haley (HQ-DP000)[BOOZ ALLEN &amp; HAMILTON INC]</DisplayName>
        <AccountId>22</AccountId>
        <AccountType/>
      </UserInfo>
      <UserInfo>
        <DisplayName>Cubberley, Hannah (HQ-DP000)[BOOZ ALLEN &amp; HAMILTON INC]</DisplayName>
        <AccountId>28</AccountId>
        <AccountType/>
      </UserInfo>
      <UserInfo>
        <DisplayName>Galazka, Jonathan M. (ARC-SC)</DisplayName>
        <AccountId>182</AccountId>
        <AccountType/>
      </UserInfo>
      <UserInfo>
        <DisplayName>Massa, Gioia D. (KSC-UBA00)</DisplayName>
        <AccountId>183</AccountId>
        <AccountType/>
      </UserInfo>
      <UserInfo>
        <DisplayName>Callas, John L (JPL-7500)[JPL Employee]</DisplayName>
        <AccountId>58</AccountId>
        <AccountType/>
      </UserInfo>
    </SharedWithUsers>
    <lcf76f155ced4ddcb4097134ff3c332f xmlns="6527ccf2-24c5-4a86-be07-80241091aeab">
      <Terms xmlns="http://schemas.microsoft.com/office/infopath/2007/PartnerControls"/>
    </lcf76f155ced4ddcb4097134ff3c332f>
    <TaxCatchAll xmlns="d900e117-17a0-4b24-9e47-511ef1d02c43"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19211DFDB3DA3845BD556C40032E64D0" ma:contentTypeVersion="16" ma:contentTypeDescription="Create a new document." ma:contentTypeScope="" ma:versionID="6fb8bd780a822da7d8e3d3891ea50a85">
  <xsd:schema xmlns:xsd="http://www.w3.org/2001/XMLSchema" xmlns:xs="http://www.w3.org/2001/XMLSchema" xmlns:p="http://schemas.microsoft.com/office/2006/metadata/properties" xmlns:ns2="6527ccf2-24c5-4a86-be07-80241091aeab" xmlns:ns3="43f8f0fe-7515-424d-86d7-0a337e4aa03f" xmlns:ns4="d900e117-17a0-4b24-9e47-511ef1d02c43" targetNamespace="http://schemas.microsoft.com/office/2006/metadata/properties" ma:root="true" ma:fieldsID="cb6437ea38db5bccedba4b312cc29faa" ns2:_="" ns3:_="" ns4:_="">
    <xsd:import namespace="6527ccf2-24c5-4a86-be07-80241091aeab"/>
    <xsd:import namespace="43f8f0fe-7515-424d-86d7-0a337e4aa03f"/>
    <xsd:import namespace="d900e117-17a0-4b24-9e47-511ef1d02c43"/>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GenerationTime" minOccurs="0"/>
                <xsd:element ref="ns2:MediaServiceEventHashCode" minOccurs="0"/>
                <xsd:element ref="ns2:MediaServiceOCR" minOccurs="0"/>
                <xsd:element ref="ns2:MediaServiceLocation" minOccurs="0"/>
                <xsd:element ref="ns3:SharedWithUsers" minOccurs="0"/>
                <xsd:element ref="ns3:SharedWithDetails" minOccurs="0"/>
                <xsd:element ref="ns2:lcf76f155ced4ddcb4097134ff3c332f" minOccurs="0"/>
                <xsd:element ref="ns4:TaxCatchAll" minOccurs="0"/>
                <xsd:element ref="ns2:MediaLengthInSecond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527ccf2-24c5-4a86-be07-80241091aea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GenerationTime" ma:index="11" nillable="true" ma:displayName="MediaServiceGenerationTime" ma:hidden="true" ma:internalName="MediaServiceGenerationTime"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Location" ma:index="14" nillable="true" ma:displayName="Location" ma:internalName="MediaServiceLocation" ma:readOnly="true">
      <xsd:simpleType>
        <xsd:restriction base="dms:Text"/>
      </xsd:simpleType>
    </xsd:element>
    <xsd:element name="lcf76f155ced4ddcb4097134ff3c332f" ma:index="18" nillable="true" ma:taxonomy="true" ma:internalName="lcf76f155ced4ddcb4097134ff3c332f" ma:taxonomyFieldName="MediaServiceImageTags" ma:displayName="Image Tags" ma:readOnly="false" ma:fieldId="{5cf76f15-5ced-4ddc-b409-7134ff3c332f}" ma:taxonomyMulti="true" ma:sspId="0fb68aea-d2ee-4a6c-85e6-e4b5686e96e8" ma:termSetId="09814cd3-568e-fe90-9814-8d621ff8fb84" ma:anchorId="fba54fb3-c3e1-fe81-a776-ca4b69148c4d" ma:open="true" ma:isKeyword="false">
      <xsd:complexType>
        <xsd:sequence>
          <xsd:element ref="pc:Terms" minOccurs="0" maxOccurs="1"/>
        </xsd:sequence>
      </xsd:complexType>
    </xsd:element>
    <xsd:element name="MediaLengthInSeconds" ma:index="20" nillable="true" ma:displayName="MediaLengthInSeconds" ma:hidden="true" ma:internalName="MediaLengthInSeconds" ma:readOnly="true">
      <xsd:simpleType>
        <xsd:restriction base="dms:Unknown"/>
      </xsd:simpleType>
    </xsd:element>
    <xsd:element name="MediaServiceObjectDetectorVersions" ma:index="21" nillable="true" ma:displayName="MediaServiceObjectDetectorVersions" ma:hidden="true" ma:indexed="true" ma:internalName="MediaServiceObjectDetectorVersions"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43f8f0fe-7515-424d-86d7-0a337e4aa03f" elementFormDefault="qualified">
    <xsd:import namespace="http://schemas.microsoft.com/office/2006/documentManagement/types"/>
    <xsd:import namespace="http://schemas.microsoft.com/office/infopath/2007/PartnerControls"/>
    <xsd:element name="SharedWithUsers" ma:index="15"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6"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d900e117-17a0-4b24-9e47-511ef1d02c43" elementFormDefault="qualified">
    <xsd:import namespace="http://schemas.microsoft.com/office/2006/documentManagement/types"/>
    <xsd:import namespace="http://schemas.microsoft.com/office/infopath/2007/PartnerControls"/>
    <xsd:element name="TaxCatchAll" ma:index="19" nillable="true" ma:displayName="Taxonomy Catch All Column" ma:hidden="true" ma:list="{dea376dd-3888-4ec2-aac9-035288c88b0b}" ma:internalName="TaxCatchAll" ma:showField="CatchAllData" ma:web="43f8f0fe-7515-424d-86d7-0a337e4aa03f">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8462A2FE-7911-4E6A-8BD5-16877A182B2F}">
  <ds:schemaRefs>
    <ds:schemaRef ds:uri="http://schemas.openxmlformats.org/package/2006/metadata/core-properties"/>
    <ds:schemaRef ds:uri="a3f7648c-ef34-4383-9913-3e4132c38d7f"/>
    <ds:schemaRef ds:uri="http://schemas.microsoft.com/office/infopath/2007/PartnerControls"/>
    <ds:schemaRef ds:uri="http://purl.org/dc/dcmitype/"/>
    <ds:schemaRef ds:uri="http://schemas.microsoft.com/office/2006/documentManagement/types"/>
    <ds:schemaRef ds:uri="http://purl.org/dc/elements/1.1/"/>
    <ds:schemaRef ds:uri="http://schemas.microsoft.com/office/2006/metadata/properties"/>
    <ds:schemaRef ds:uri="http://www.w3.org/XML/1998/namespace"/>
    <ds:schemaRef ds:uri="http://purl.org/dc/terms/"/>
    <ds:schemaRef ds:uri="c852713b-0caa-4ac0-ba75-048f00e27b76"/>
    <ds:schemaRef ds:uri="43f8f0fe-7515-424d-86d7-0a337e4aa03f"/>
    <ds:schemaRef ds:uri="6527ccf2-24c5-4a86-be07-80241091aeab"/>
    <ds:schemaRef ds:uri="d900e117-17a0-4b24-9e47-511ef1d02c43"/>
  </ds:schemaRefs>
</ds:datastoreItem>
</file>

<file path=customXml/itemProps2.xml><?xml version="1.0" encoding="utf-8"?>
<ds:datastoreItem xmlns:ds="http://schemas.openxmlformats.org/officeDocument/2006/customXml" ds:itemID="{2FDDDE26-D355-44FB-AB9E-19995162FF7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527ccf2-24c5-4a86-be07-80241091aeab"/>
    <ds:schemaRef ds:uri="43f8f0fe-7515-424d-86d7-0a337e4aa03f"/>
    <ds:schemaRef ds:uri="d900e117-17a0-4b24-9e47-511ef1d02c4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706B03FA-AE60-4B79-AD46-B79CDABDEAE0}">
  <ds:schemaRefs>
    <ds:schemaRef ds:uri="http://schemas.microsoft.com/sharepoint/v3/contenttype/forms"/>
  </ds:schemaRefs>
</ds:datastoreItem>
</file>

<file path=docMetadata/LabelInfo.xml><?xml version="1.0" encoding="utf-8"?>
<clbl:labelList xmlns:clbl="http://schemas.microsoft.com/office/2020/mipLabelMetadata">
  <clbl:label id="{7005d458-45be-48ae-8140-d43da96dd17b}" enabled="0" method="" siteId="{7005d458-45be-48ae-8140-d43da96dd17b}" removed="1"/>
</clbl:labelList>
</file>

<file path=docProps/app.xml><?xml version="1.0" encoding="utf-8"?>
<Properties xmlns="http://schemas.openxmlformats.org/officeDocument/2006/extended-properties" xmlns:vt="http://schemas.openxmlformats.org/officeDocument/2006/docPropsVTypes">
  <Template>2024-01-29_BPS_PPT_Template</Template>
  <TotalTime>5180</TotalTime>
  <Words>15</Words>
  <Application>Microsoft Office PowerPoint</Application>
  <PresentationFormat>Widescreen</PresentationFormat>
  <Paragraphs>6</Paragraphs>
  <Slides>2</Slides>
  <Notes>0</Notes>
  <HiddenSlides>0</HiddenSlides>
  <MMClips>0</MMClips>
  <ScaleCrop>false</ScaleCrop>
  <HeadingPairs>
    <vt:vector size="4" baseType="variant">
      <vt:variant>
        <vt:lpstr>Theme</vt:lpstr>
      </vt:variant>
      <vt:variant>
        <vt:i4>1</vt:i4>
      </vt:variant>
      <vt:variant>
        <vt:lpstr>Slide Titles</vt:lpstr>
      </vt:variant>
      <vt:variant>
        <vt:i4>2</vt:i4>
      </vt:variant>
    </vt:vector>
  </HeadingPairs>
  <TitlesOfParts>
    <vt:vector size="3" baseType="lpstr">
      <vt:lpstr>1_Office Theme</vt:lpstr>
      <vt:lpstr>PowerPoint Presentation</vt:lpstr>
      <vt:lpstr>PowerPoint Presentation</vt:lpstr>
    </vt:vector>
  </TitlesOfParts>
  <Company>NASA OCIO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Lele, Julie (HQ-DM000)[BOOZ ALLEN &amp; HAMILTON INC]</dc:creator>
  <cp:lastModifiedBy>Keller, Elizabeth E. (ARC-SC)[Amentum Services, Inc]</cp:lastModifiedBy>
  <cp:revision>178</cp:revision>
  <dcterms:created xsi:type="dcterms:W3CDTF">2024-01-29T19:52:06Z</dcterms:created>
  <dcterms:modified xsi:type="dcterms:W3CDTF">2026-06-29T22:38:13Z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0x01010019211DFDB3DA3845BD556C40032E64D0</vt:lpwstr>
  </property>
  <property fmtid="{D5CDD505-2E9C-101B-9397-08002B2CF9AE}" pid="3" name="MediaServiceImageTags">
    <vt:lpwstr/>
  </property>
</Properties>
</file>