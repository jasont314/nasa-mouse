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We built one pipeline that can change data source, transformation, feature set, harmonization, model, training scope and conditions without changing the evaluation contract. It supports OSDR-only, ARCHS4-only and ARCHS4-pretrained plus OSDR-adapted runs, with pooled or per-tissue cohorts. We completed WGAN-GP and DDIM generator branches. The selected path used TPM, 974 mouse landmarks, no global correction and a DDIM conditioned on tissue, FLT/GC, accession and material.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Both WGAN-GP and DDIM had high correlation and F1. DDIM had adversarial accuracy near 0.5 and a lower Frechet-distance ratio, so it was harder to separate from real profiles and closer in distribution. The metrics use each model's stated evaluation split. These results are why the remaining analyses use DDIM.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A reinforced gene is not automatically literature aligned, and an aligning gene can still be promoted.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narrative focuses later, but no completed tissue result is hidden.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P and R show promoted versus reinforced selection. Color independently shows aligning, complementary, ambiguous or unmatched literature. FLT-higher and FLT-lower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The literature is mixed for Bnip3 and Tpm1, which is recorded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Pooled muscle, kidney, spleen, skin, eye, adrenal gland, gastrocnemius and tibialis anterior also produced synthetic-informed genes. These findings remain in the inventory, but none formed a process-level story as coherent as thymus or soleus. They should be prioritized by biological relevance and available validation material rather than by a single secondary-tissue ranking.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The useful role was tissue-specific feature ranking or limited regularization, not increasing biological sample size. Literature annotation then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Data scope, transforms, harmonization, training and conditioning can change without changing the evaluation contract.</a:t>
            </a:r>
          </a:p>
        </p:txBody>
      </p:sp>
      <p:sp>
        <p:nvSpPr>
          <p:cNvPr id="7" name="Rounded Rectangle 6"/>
          <p:cNvSpPr/>
          <p:nvPr/>
        </p:nvSpPr>
        <p:spPr>
          <a:xfrm>
            <a:off x="320040" y="1901952"/>
            <a:ext cx="2148840" cy="235915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901952"/>
            <a:ext cx="214884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Data + scope</a:t>
            </a:r>
          </a:p>
        </p:txBody>
      </p:sp>
      <p:sp>
        <p:nvSpPr>
          <p:cNvPr id="10" name="TextBox 9"/>
          <p:cNvSpPr txBox="1"/>
          <p:nvPr/>
        </p:nvSpPr>
        <p:spPr>
          <a:xfrm>
            <a:off x="48463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OSDR API or ARCHS4
one or many studies
pooled or per tissue</a:t>
            </a:r>
          </a:p>
        </p:txBody>
      </p:sp>
      <p:sp>
        <p:nvSpPr>
          <p:cNvPr id="11" name="Rounded Rectangle 10"/>
          <p:cNvSpPr/>
          <p:nvPr/>
        </p:nvSpPr>
        <p:spPr>
          <a:xfrm>
            <a:off x="2651760" y="1901952"/>
            <a:ext cx="2148840" cy="235915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51760" y="1901952"/>
            <a:ext cx="214884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Transform</a:t>
            </a:r>
          </a:p>
        </p:txBody>
      </p:sp>
      <p:sp>
        <p:nvSpPr>
          <p:cNvPr id="14" name="TextBox 13"/>
          <p:cNvSpPr txBox="1"/>
          <p:nvPr/>
        </p:nvSpPr>
        <p:spPr>
          <a:xfrm>
            <a:off x="281635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raw / CPM / TPM
log + scaling
all genes / HVG / L1000</a:t>
            </a:r>
          </a:p>
        </p:txBody>
      </p:sp>
      <p:sp>
        <p:nvSpPr>
          <p:cNvPr id="15" name="Rounded Rectangle 14"/>
          <p:cNvSpPr/>
          <p:nvPr/>
        </p:nvSpPr>
        <p:spPr>
          <a:xfrm>
            <a:off x="4983480" y="1901952"/>
            <a:ext cx="2148840" cy="235915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983480" y="1901952"/>
            <a:ext cx="2148840" cy="36576"/>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807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Harmonize</a:t>
            </a:r>
          </a:p>
        </p:txBody>
      </p:sp>
      <p:sp>
        <p:nvSpPr>
          <p:cNvPr id="18" name="TextBox 17"/>
          <p:cNvSpPr txBox="1"/>
          <p:nvPr/>
        </p:nvSpPr>
        <p:spPr>
          <a:xfrm>
            <a:off x="514807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none or study z
ComBat / MBatch
MOBER adapter</a:t>
            </a:r>
          </a:p>
        </p:txBody>
      </p:sp>
      <p:sp>
        <p:nvSpPr>
          <p:cNvPr id="19" name="Rounded Rectangle 18"/>
          <p:cNvSpPr/>
          <p:nvPr/>
        </p:nvSpPr>
        <p:spPr>
          <a:xfrm>
            <a:off x="7315200" y="1901952"/>
            <a:ext cx="2148840" cy="235915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901952"/>
            <a:ext cx="2148840" cy="3657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Model + train</a:t>
            </a:r>
          </a:p>
        </p:txBody>
      </p:sp>
      <p:sp>
        <p:nvSpPr>
          <p:cNvPr id="22" name="TextBox 21"/>
          <p:cNvSpPr txBox="1"/>
          <p:nvPr/>
        </p:nvSpPr>
        <p:spPr>
          <a:xfrm>
            <a:off x="747979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WGAN-GP or DDIM
OSDR or ARCHS4
pretrain + adapt</a:t>
            </a:r>
          </a:p>
        </p:txBody>
      </p:sp>
      <p:sp>
        <p:nvSpPr>
          <p:cNvPr id="23" name="Rounded Rectangle 22"/>
          <p:cNvSpPr/>
          <p:nvPr/>
        </p:nvSpPr>
        <p:spPr>
          <a:xfrm>
            <a:off x="9646920" y="1901952"/>
            <a:ext cx="2148840" cy="2359152"/>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646920" y="1901952"/>
            <a:ext cx="2148840" cy="36576"/>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1151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478A64"/>
                </a:solidFill>
                <a:latin typeface="Arial"/>
              </a:rPr>
              <a:t>Condition</a:t>
            </a:r>
          </a:p>
        </p:txBody>
      </p:sp>
      <p:sp>
        <p:nvSpPr>
          <p:cNvPr id="26" name="TextBox 25"/>
          <p:cNvSpPr txBox="1"/>
          <p:nvPr/>
        </p:nvSpPr>
        <p:spPr>
          <a:xfrm>
            <a:off x="981151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FLT/GC + tissue
study + material
available covariates</a:t>
            </a:r>
          </a:p>
        </p:txBody>
      </p:sp>
      <p:sp>
        <p:nvSpPr>
          <p:cNvPr id="27" name="Rounded Rectangle 26"/>
          <p:cNvSpPr/>
          <p:nvPr/>
        </p:nvSpPr>
        <p:spPr>
          <a:xfrm>
            <a:off x="320040" y="4526280"/>
            <a:ext cx="11475720" cy="117043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 y="4736592"/>
            <a:ext cx="1508760" cy="256032"/>
          </a:xfrm>
          <a:prstGeom prst="rect">
            <a:avLst/>
          </a:prstGeom>
          <a:noFill/>
        </p:spPr>
        <p:txBody>
          <a:bodyPr wrap="square" lIns="18288" rIns="18288" tIns="18288" bIns="18288" anchor="t">
            <a:spAutoFit/>
          </a:bodyPr>
          <a:lstStyle/>
          <a:p>
            <a:pPr algn="l">
              <a:spcAft>
                <a:spcPts val="0"/>
              </a:spcAft>
            </a:pPr>
            <a:r>
              <a:rPr sz="1300" b="1" i="0">
                <a:solidFill>
                  <a:srgbClr val="9A6B20"/>
                </a:solidFill>
                <a:latin typeface="Arial"/>
              </a:rPr>
              <a:t>Selected branch</a:t>
            </a:r>
          </a:p>
        </p:txBody>
      </p:sp>
      <p:sp>
        <p:nvSpPr>
          <p:cNvPr id="29" name="TextBox 28"/>
          <p:cNvSpPr txBox="1"/>
          <p:nvPr/>
        </p:nvSpPr>
        <p:spPr>
          <a:xfrm>
            <a:off x="2057400" y="4681728"/>
            <a:ext cx="9281160" cy="502920"/>
          </a:xfrm>
          <a:prstGeom prst="rect">
            <a:avLst/>
          </a:prstGeom>
          <a:noFill/>
        </p:spPr>
        <p:txBody>
          <a:bodyPr wrap="square" lIns="18288" rIns="18288" tIns="18288" bIns="18288" anchor="t">
            <a:spAutoFit/>
          </a:bodyPr>
          <a:lstStyle/>
          <a:p>
            <a:pPr>
              <a:spcAft>
                <a:spcPts val="0"/>
              </a:spcAft>
            </a:pPr>
            <a:r>
              <a:rPr sz="1460" b="1" i="0">
                <a:solidFill>
                  <a:srgbClr val="082B55"/>
                </a:solidFill>
                <a:latin typeface="Arial"/>
              </a:rPr>
              <a:t>TPM / MaxAbs -&gt; ARCHS4 DDIM -&gt; OSDR adaptation. </a:t>
            </a:r>
            <a:r>
              <a:rPr sz="1460" b="0" i="0">
                <a:solidFill>
                  <a:srgbClr val="263746"/>
                </a:solidFill>
                <a:latin typeface="Arial"/>
              </a:rPr>
              <a:t>Conditions: tissue, FLT/GC, accession and material; no global batch correction.</a:t>
            </a:r>
          </a:p>
        </p:txBody>
      </p:sp>
      <p:sp>
        <p:nvSpPr>
          <p:cNvPr id="30" name="TextBox 29"/>
          <p:cNvSpPr txBox="1"/>
          <p:nvPr/>
        </p:nvSpPr>
        <p:spPr>
          <a:xfrm>
            <a:off x="2057400" y="5212080"/>
            <a:ext cx="9281160" cy="301752"/>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 463-row experiment plan and nine matched liver harmonization arms were screened before full training.</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Generator sources: Vinas et al., Bioinformatics (2022); Lacan et al., BMC Bioinformatics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713232" y="5126766"/>
            <a:ext cx="566928" cy="359633"/>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672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1" name="TextBox 10"/>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2" name="Rectangle 11"/>
          <p:cNvSpPr/>
          <p:nvPr/>
        </p:nvSpPr>
        <p:spPr>
          <a:xfrm>
            <a:off x="1591056" y="5312892"/>
            <a:ext cx="566928" cy="173507"/>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4992852"/>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14" name="TextBox 13"/>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15" name="Rectangle 14"/>
          <p:cNvSpPr/>
          <p:nvPr/>
        </p:nvSpPr>
        <p:spPr>
          <a:xfrm>
            <a:off x="2468880" y="5180396"/>
            <a:ext cx="566928" cy="306003"/>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95728" y="486035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17" name="TextBox 16"/>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18" name="Rectangle 17"/>
          <p:cNvSpPr/>
          <p:nvPr/>
        </p:nvSpPr>
        <p:spPr>
          <a:xfrm>
            <a:off x="576072" y="5486400"/>
            <a:ext cx="269748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a:t>
            </a:r>
          </a:p>
        </p:txBody>
      </p:sp>
      <p:sp>
        <p:nvSpPr>
          <p:cNvPr id="20" name="Rounded Rectangle 19"/>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2"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3" name="TextBox 22"/>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24" name="TextBox 2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3785615" cy="2980944"/>
          </a:xfrm>
          <a:prstGeom prst="roundRect">
            <a:avLst/>
          </a:prstGeom>
          <a:solidFill>
            <a:srgbClr val="E9F1F7"/>
          </a:solidFill>
          <a:ln w="10160">
            <a:solidFill>
              <a:srgbClr val="C9D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136392"/>
            <a:ext cx="3273552" cy="310896"/>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Selection status</a:t>
            </a:r>
          </a:p>
        </p:txBody>
      </p:sp>
      <p:sp>
        <p:nvSpPr>
          <p:cNvPr id="24" name="Oval 23"/>
          <p:cNvSpPr/>
          <p:nvPr/>
        </p:nvSpPr>
        <p:spPr>
          <a:xfrm>
            <a:off x="685800" y="3730752"/>
            <a:ext cx="457200" cy="45720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803904"/>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26</a:t>
            </a:r>
          </a:p>
        </p:txBody>
      </p:sp>
      <p:sp>
        <p:nvSpPr>
          <p:cNvPr id="26" name="TextBox 25"/>
          <p:cNvSpPr txBox="1"/>
          <p:nvPr/>
        </p:nvSpPr>
        <p:spPr>
          <a:xfrm>
            <a:off x="1325880" y="3712464"/>
            <a:ext cx="2423160" cy="274320"/>
          </a:xfrm>
          <a:prstGeom prst="rect">
            <a:avLst/>
          </a:prstGeom>
          <a:noFill/>
        </p:spPr>
        <p:txBody>
          <a:bodyPr wrap="square" lIns="18288" rIns="18288" tIns="18288" bIns="18288" anchor="t">
            <a:spAutoFit/>
          </a:bodyPr>
          <a:lstStyle/>
          <a:p>
            <a:pPr algn="l">
              <a:spcAft>
                <a:spcPts val="0"/>
              </a:spcAft>
            </a:pPr>
            <a:r>
              <a:rPr sz="1500" b="1" i="0">
                <a:solidFill>
                  <a:srgbClr val="D96552"/>
                </a:solidFill>
                <a:latin typeface="Arial"/>
              </a:rPr>
              <a:t>Promoted</a:t>
            </a:r>
          </a:p>
        </p:txBody>
      </p:sp>
      <p:sp>
        <p:nvSpPr>
          <p:cNvPr id="27" name="TextBox 26"/>
          <p:cNvSpPr txBox="1"/>
          <p:nvPr/>
        </p:nvSpPr>
        <p:spPr>
          <a:xfrm>
            <a:off x="1325880" y="4014215"/>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only with synthetic guidance</a:t>
            </a:r>
          </a:p>
        </p:txBody>
      </p:sp>
      <p:sp>
        <p:nvSpPr>
          <p:cNvPr id="28" name="Oval 27"/>
          <p:cNvSpPr/>
          <p:nvPr/>
        </p:nvSpPr>
        <p:spPr>
          <a:xfrm>
            <a:off x="685800" y="4581144"/>
            <a:ext cx="457200" cy="45720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54296"/>
            <a:ext cx="45720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23</a:t>
            </a:r>
          </a:p>
        </p:txBody>
      </p:sp>
      <p:sp>
        <p:nvSpPr>
          <p:cNvPr id="30" name="TextBox 29"/>
          <p:cNvSpPr txBox="1"/>
          <p:nvPr/>
        </p:nvSpPr>
        <p:spPr>
          <a:xfrm>
            <a:off x="1325880" y="4562856"/>
            <a:ext cx="2423160" cy="274320"/>
          </a:xfrm>
          <a:prstGeom prst="rect">
            <a:avLst/>
          </a:prstGeom>
          <a:noFill/>
        </p:spPr>
        <p:txBody>
          <a:bodyPr wrap="square" lIns="18288" rIns="18288" tIns="18288" bIns="18288" anchor="t">
            <a:spAutoFit/>
          </a:bodyPr>
          <a:lstStyle/>
          <a:p>
            <a:pPr algn="l">
              <a:spcAft>
                <a:spcPts val="0"/>
              </a:spcAft>
            </a:pPr>
            <a:r>
              <a:rPr sz="1500" b="1" i="0">
                <a:solidFill>
                  <a:srgbClr val="178681"/>
                </a:solidFill>
                <a:latin typeface="Arial"/>
              </a:rPr>
              <a:t>Reinforced</a:t>
            </a:r>
          </a:p>
        </p:txBody>
      </p:sp>
      <p:sp>
        <p:nvSpPr>
          <p:cNvPr id="31" name="TextBox 30"/>
          <p:cNvSpPr txBox="1"/>
          <p:nvPr/>
        </p:nvSpPr>
        <p:spPr>
          <a:xfrm>
            <a:off x="1325880" y="4864607"/>
            <a:ext cx="2423160" cy="347472"/>
          </a:xfrm>
          <a:prstGeom prst="rect">
            <a:avLst/>
          </a:prstGeom>
          <a:noFill/>
        </p:spPr>
        <p:txBody>
          <a:bodyPr wrap="square" lIns="18288" rIns="18288" tIns="18288" bIns="18288" anchor="t">
            <a:spAutoFit/>
          </a:bodyPr>
          <a:lstStyle/>
          <a:p>
            <a:pPr algn="l">
              <a:spcAft>
                <a:spcPts val="0"/>
              </a:spcAft>
            </a:pPr>
            <a:r>
              <a:rPr sz="1150" b="0" i="0">
                <a:solidFill>
                  <a:srgbClr val="263746"/>
                </a:solidFill>
                <a:latin typeface="Arial"/>
              </a:rPr>
              <a:t>Stable with and without guidance</a:t>
            </a:r>
          </a:p>
        </p:txBody>
      </p:sp>
      <p:sp>
        <p:nvSpPr>
          <p:cNvPr id="32" name="Rounded Rectangle 31"/>
          <p:cNvSpPr/>
          <p:nvPr/>
        </p:nvSpPr>
        <p:spPr>
          <a:xfrm>
            <a:off x="4389120" y="2916936"/>
            <a:ext cx="7379208"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5152" y="3136392"/>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4" name="Oval 33"/>
          <p:cNvSpPr/>
          <p:nvPr/>
        </p:nvSpPr>
        <p:spPr>
          <a:xfrm>
            <a:off x="4654296"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54296"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22</a:t>
            </a:r>
          </a:p>
        </p:txBody>
      </p:sp>
      <p:sp>
        <p:nvSpPr>
          <p:cNvPr id="36" name="TextBox 35"/>
          <p:cNvSpPr txBox="1"/>
          <p:nvPr/>
        </p:nvSpPr>
        <p:spPr>
          <a:xfrm>
            <a:off x="5138928" y="3575304"/>
            <a:ext cx="1591056"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37" name="TextBox 36"/>
          <p:cNvSpPr txBox="1"/>
          <p:nvPr/>
        </p:nvSpPr>
        <p:spPr>
          <a:xfrm>
            <a:off x="6784848" y="3575304"/>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Direct or same-tissue process agreement</a:t>
            </a:r>
          </a:p>
        </p:txBody>
      </p:sp>
      <p:sp>
        <p:nvSpPr>
          <p:cNvPr id="38" name="Oval 37"/>
          <p:cNvSpPr/>
          <p:nvPr/>
        </p:nvSpPr>
        <p:spPr>
          <a:xfrm>
            <a:off x="4654296"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54296"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19</a:t>
            </a:r>
          </a:p>
        </p:txBody>
      </p:sp>
      <p:sp>
        <p:nvSpPr>
          <p:cNvPr id="40" name="TextBox 39"/>
          <p:cNvSpPr txBox="1"/>
          <p:nvPr/>
        </p:nvSpPr>
        <p:spPr>
          <a:xfrm>
            <a:off x="5138928" y="4096512"/>
            <a:ext cx="1591056"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41" name="TextBox 40"/>
          <p:cNvSpPr txBox="1"/>
          <p:nvPr/>
        </p:nvSpPr>
        <p:spPr>
          <a:xfrm>
            <a:off x="6784848" y="4096512"/>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Related process or mechanism</a:t>
            </a:r>
          </a:p>
        </p:txBody>
      </p:sp>
      <p:sp>
        <p:nvSpPr>
          <p:cNvPr id="42" name="Oval 41"/>
          <p:cNvSpPr/>
          <p:nvPr/>
        </p:nvSpPr>
        <p:spPr>
          <a:xfrm>
            <a:off x="4654296"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54296"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4" name="TextBox 43"/>
          <p:cNvSpPr txBox="1"/>
          <p:nvPr/>
        </p:nvSpPr>
        <p:spPr>
          <a:xfrm>
            <a:off x="5138928" y="4617720"/>
            <a:ext cx="1591056"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45" name="TextBox 44"/>
          <p:cNvSpPr txBox="1"/>
          <p:nvPr/>
        </p:nvSpPr>
        <p:spPr>
          <a:xfrm>
            <a:off x="6784848" y="4617720"/>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Mixed or context-dependent evidence</a:t>
            </a:r>
          </a:p>
        </p:txBody>
      </p:sp>
      <p:sp>
        <p:nvSpPr>
          <p:cNvPr id="46" name="Oval 45"/>
          <p:cNvSpPr/>
          <p:nvPr/>
        </p:nvSpPr>
        <p:spPr>
          <a:xfrm>
            <a:off x="4654296"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54296"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4</a:t>
            </a:r>
          </a:p>
        </p:txBody>
      </p:sp>
      <p:sp>
        <p:nvSpPr>
          <p:cNvPr id="48" name="TextBox 47"/>
          <p:cNvSpPr txBox="1"/>
          <p:nvPr/>
        </p:nvSpPr>
        <p:spPr>
          <a:xfrm>
            <a:off x="5138928" y="5138928"/>
            <a:ext cx="1591056"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Unmatched</a:t>
            </a:r>
          </a:p>
        </p:txBody>
      </p:sp>
      <p:sp>
        <p:nvSpPr>
          <p:cNvPr id="49" name="TextBox 48"/>
          <p:cNvSpPr txBox="1"/>
          <p:nvPr/>
        </p:nvSpPr>
        <p:spPr>
          <a:xfrm>
            <a:off x="6784848" y="5138928"/>
            <a:ext cx="4507992" cy="310896"/>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No sufficiently specific match found</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A reinforced gene can be complementary, ambiguous, or unmatched; an aligning gene can be promoted.</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5 direct transcript-level matches and a 33-source inventory are in Tables S16-S17.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All 27 completed tissue analyses were retained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narrative narrows only after reporting synthetic-informed, real-only, and null outcomes.</a:t>
            </a:r>
          </a:p>
        </p:txBody>
      </p:sp>
      <p:sp>
        <p:nvSpPr>
          <p:cNvPr id="7" name="Rounded Rectangle 6"/>
          <p:cNvSpPr/>
          <p:nvPr/>
        </p:nvSpPr>
        <p:spPr>
          <a:xfrm>
            <a:off x="393192" y="1847088"/>
            <a:ext cx="3502152" cy="4297680"/>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075688"/>
            <a:ext cx="521207" cy="521207"/>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10</a:t>
            </a:r>
          </a:p>
        </p:txBody>
      </p:sp>
      <p:sp>
        <p:nvSpPr>
          <p:cNvPr id="10" name="TextBox 9"/>
          <p:cNvSpPr txBox="1"/>
          <p:nvPr/>
        </p:nvSpPr>
        <p:spPr>
          <a:xfrm>
            <a:off x="1289304"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Synthetic-informed</a:t>
            </a:r>
          </a:p>
        </p:txBody>
      </p:sp>
      <p:sp>
        <p:nvSpPr>
          <p:cNvPr id="11" name="TextBox 10"/>
          <p:cNvSpPr txBox="1"/>
          <p:nvPr/>
        </p:nvSpPr>
        <p:spPr>
          <a:xfrm>
            <a:off x="658368"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Promoted or reinforced BH-FDR gene</a:t>
            </a:r>
          </a:p>
        </p:txBody>
      </p:sp>
      <p:sp>
        <p:nvSpPr>
          <p:cNvPr id="12" name="TextBox 11"/>
          <p:cNvSpPr txBox="1"/>
          <p:nvPr/>
        </p:nvSpPr>
        <p:spPr>
          <a:xfrm>
            <a:off x="685800"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Adrenal Gland
Eye
Kidney
Skeletal muscle (pooled)
Skin
Spleen
Thymus
Gastrocnemius
Soleus
Tibialis Anterior</a:t>
            </a:r>
          </a:p>
        </p:txBody>
      </p:sp>
      <p:sp>
        <p:nvSpPr>
          <p:cNvPr id="13" name="Rounded Rectangle 12"/>
          <p:cNvSpPr/>
          <p:nvPr/>
        </p:nvSpPr>
        <p:spPr>
          <a:xfrm>
            <a:off x="4105656" y="1847088"/>
            <a:ext cx="3502152" cy="4297680"/>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334256" y="2075688"/>
            <a:ext cx="521207" cy="521207"/>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34256"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5</a:t>
            </a:r>
          </a:p>
        </p:txBody>
      </p:sp>
      <p:sp>
        <p:nvSpPr>
          <p:cNvPr id="16" name="TextBox 15"/>
          <p:cNvSpPr txBox="1"/>
          <p:nvPr/>
        </p:nvSpPr>
        <p:spPr>
          <a:xfrm>
            <a:off x="5001768"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Real BH FDR only</a:t>
            </a:r>
          </a:p>
        </p:txBody>
      </p:sp>
      <p:sp>
        <p:nvSpPr>
          <p:cNvPr id="17" name="TextBox 16"/>
          <p:cNvSpPr txBox="1"/>
          <p:nvPr/>
        </p:nvSpPr>
        <p:spPr>
          <a:xfrm>
            <a:off x="4370832"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Real association, no synthetic-informed selection</a:t>
            </a:r>
          </a:p>
        </p:txBody>
      </p:sp>
      <p:sp>
        <p:nvSpPr>
          <p:cNvPr id="18" name="TextBox 17"/>
          <p:cNvSpPr txBox="1"/>
          <p:nvPr/>
        </p:nvSpPr>
        <p:spPr>
          <a:xfrm>
            <a:off x="4398264"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Heart
Liver
Retina
EDL
Quadriceps</a:t>
            </a:r>
          </a:p>
        </p:txBody>
      </p:sp>
      <p:sp>
        <p:nvSpPr>
          <p:cNvPr id="19" name="Rounded Rectangle 18"/>
          <p:cNvSpPr/>
          <p:nvPr/>
        </p:nvSpPr>
        <p:spPr>
          <a:xfrm>
            <a:off x="7818120" y="1847088"/>
            <a:ext cx="3502152" cy="4297680"/>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20" y="2075688"/>
            <a:ext cx="521207" cy="521207"/>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0" y="2167128"/>
            <a:ext cx="521207" cy="246888"/>
          </a:xfrm>
          <a:prstGeom prst="rect">
            <a:avLst/>
          </a:prstGeom>
          <a:noFill/>
        </p:spPr>
        <p:txBody>
          <a:bodyPr wrap="square" lIns="18288" rIns="18288" tIns="18288" bIns="18288" anchor="t">
            <a:spAutoFit/>
          </a:bodyPr>
          <a:lstStyle/>
          <a:p>
            <a:pPr algn="ctr">
              <a:spcAft>
                <a:spcPts val="0"/>
              </a:spcAft>
            </a:pPr>
            <a:r>
              <a:rPr sz="1500" b="1" i="0">
                <a:solidFill>
                  <a:srgbClr val="FFFFFF"/>
                </a:solidFill>
                <a:latin typeface="Arial"/>
              </a:rPr>
              <a:t>12</a:t>
            </a:r>
          </a:p>
        </p:txBody>
      </p:sp>
      <p:sp>
        <p:nvSpPr>
          <p:cNvPr id="22" name="TextBox 21"/>
          <p:cNvSpPr txBox="1"/>
          <p:nvPr/>
        </p:nvSpPr>
        <p:spPr>
          <a:xfrm>
            <a:off x="8714232" y="2093976"/>
            <a:ext cx="2331720" cy="320040"/>
          </a:xfrm>
          <a:prstGeom prst="rect">
            <a:avLst/>
          </a:prstGeom>
          <a:noFill/>
        </p:spPr>
        <p:txBody>
          <a:bodyPr wrap="square" lIns="18288" rIns="18288" tIns="18288" bIns="18288" anchor="t">
            <a:spAutoFit/>
          </a:bodyPr>
          <a:lstStyle/>
          <a:p>
            <a:pPr algn="l">
              <a:spcAft>
                <a:spcPts val="0"/>
              </a:spcAft>
            </a:pPr>
            <a:r>
              <a:rPr sz="1700" b="1" i="0">
                <a:solidFill>
                  <a:srgbClr val="D37B00"/>
                </a:solidFill>
                <a:latin typeface="Arial"/>
              </a:rPr>
              <a:t>No panel BH-FDR gene</a:t>
            </a:r>
          </a:p>
        </p:txBody>
      </p:sp>
      <p:sp>
        <p:nvSpPr>
          <p:cNvPr id="23" name="TextBox 22"/>
          <p:cNvSpPr txBox="1"/>
          <p:nvPr/>
        </p:nvSpPr>
        <p:spPr>
          <a:xfrm>
            <a:off x="8083296" y="2660904"/>
            <a:ext cx="2953512" cy="429768"/>
          </a:xfrm>
          <a:prstGeom prst="rect">
            <a:avLst/>
          </a:prstGeom>
          <a:noFill/>
        </p:spPr>
        <p:txBody>
          <a:bodyPr wrap="square" lIns="18288" rIns="18288" tIns="18288" bIns="18288" anchor="t">
            <a:spAutoFit/>
          </a:bodyPr>
          <a:lstStyle/>
          <a:p>
            <a:pPr algn="l">
              <a:spcAft>
                <a:spcPts val="0"/>
              </a:spcAft>
            </a:pPr>
            <a:r>
              <a:rPr sz="1080" b="0" i="0">
                <a:solidFill>
                  <a:srgbClr val="59697A"/>
                </a:solidFill>
                <a:latin typeface="Arial"/>
              </a:rPr>
              <a:t>No BH-FDR gene in the 974-gene panel</a:t>
            </a:r>
          </a:p>
        </p:txBody>
      </p:sp>
      <p:sp>
        <p:nvSpPr>
          <p:cNvPr id="24" name="TextBox 23"/>
          <p:cNvSpPr txBox="1"/>
          <p:nvPr/>
        </p:nvSpPr>
        <p:spPr>
          <a:xfrm>
            <a:off x="8110728" y="3182112"/>
            <a:ext cx="2926080" cy="2633472"/>
          </a:xfrm>
          <a:prstGeom prst="rect">
            <a:avLst/>
          </a:prstGeom>
          <a:noFill/>
        </p:spPr>
        <p:txBody>
          <a:bodyPr wrap="square" lIns="0" rIns="0" tIns="0" bIns="0" anchor="t">
            <a:spAutoFit/>
          </a:bodyPr>
          <a:lstStyle/>
          <a:p>
            <a:pPr algn="l">
              <a:spcAft>
                <a:spcPts val="0"/>
              </a:spcAft>
            </a:pPr>
            <a:r>
              <a:rPr sz="1160" b="0" i="0">
                <a:solidFill>
                  <a:srgbClr val="263746"/>
                </a:solidFill>
                <a:latin typeface="Arial"/>
              </a:rPr>
              <a:t>Bone
Bone Marrow
Brain
Brown Adipose Tissue
Cecum
Cerebellum
Colon
Hippocampus
Lung
Mammary Gland
Optic Nerve
White Adipose Tissue</a:t>
            </a:r>
          </a:p>
        </p:txBody>
      </p:sp>
      <p:sp>
        <p:nvSpPr>
          <p:cNvPr id="25" name="TextBox 2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Synthetic-informed genes spanned 10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9928"/>
            <a:ext cx="1298448" cy="228600"/>
          </a:xfrm>
          <a:prstGeom prst="rect">
            <a:avLst/>
          </a:prstGeom>
          <a:noFill/>
        </p:spPr>
        <p:txBody>
          <a:bodyPr wrap="square" lIns="18288" rIns="18288" tIns="18288" bIns="18288" anchor="t">
            <a:spAutoFit/>
          </a:bodyPr>
          <a:lstStyle/>
          <a:p>
            <a:pPr algn="l">
              <a:spcAft>
                <a:spcPts val="0"/>
              </a:spcAft>
            </a:pPr>
            <a:r>
              <a:rPr sz="1019" b="1" i="0">
                <a:solidFill>
                  <a:srgbClr val="082B55"/>
                </a:solidFill>
                <a:latin typeface="Arial"/>
              </a:rPr>
              <a:t>P: promoted (bold)</a:t>
            </a:r>
          </a:p>
        </p:txBody>
      </p:sp>
      <p:sp>
        <p:nvSpPr>
          <p:cNvPr id="8" name="Rectangle 7"/>
          <p:cNvSpPr/>
          <p:nvPr/>
        </p:nvSpPr>
        <p:spPr>
          <a:xfrm>
            <a:off x="1746504"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0240" y="1691640"/>
            <a:ext cx="841248"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2660904"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40" y="1691640"/>
            <a:ext cx="1115568"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3877056"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50792" y="1691640"/>
            <a:ext cx="932688"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491947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93208" y="1691640"/>
            <a:ext cx="960120"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6144768" y="1691640"/>
            <a:ext cx="1609344"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 reinforced (regular)</a:t>
            </a:r>
          </a:p>
        </p:txBody>
      </p:sp>
      <p:sp>
        <p:nvSpPr>
          <p:cNvPr id="17" name="TextBox 16"/>
          <p:cNvSpPr txBox="1"/>
          <p:nvPr/>
        </p:nvSpPr>
        <p:spPr>
          <a:xfrm>
            <a:off x="8805672" y="1691640"/>
            <a:ext cx="2935224"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Color = literature | P/R = selection</a:t>
            </a:r>
          </a:p>
        </p:txBody>
      </p:sp>
      <p:sp>
        <p:nvSpPr>
          <p:cNvPr id="18" name="Rectangle 17"/>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 y="2112264"/>
            <a:ext cx="1170432"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20" name="TextBox 19"/>
          <p:cNvSpPr txBox="1"/>
          <p:nvPr/>
        </p:nvSpPr>
        <p:spPr>
          <a:xfrm>
            <a:off x="1645920"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1" name="TextBox 20"/>
          <p:cNvSpPr txBox="1"/>
          <p:nvPr/>
        </p:nvSpPr>
        <p:spPr>
          <a:xfrm>
            <a:off x="2331720" y="2103120"/>
            <a:ext cx="3611880" cy="310896"/>
          </a:xfrm>
          <a:prstGeom prst="rect">
            <a:avLst/>
          </a:prstGeom>
          <a:noFill/>
        </p:spPr>
        <p:txBody>
          <a:bodyPr wrap="square" lIns="0" rIns="0" tIns="0" bIns="0" anchor="t">
            <a:spAutoFit/>
          </a:bodyPr>
          <a:lstStyle/>
          <a:p>
            <a:pPr>
              <a:spcAft>
                <a:spcPts val="0"/>
              </a:spcAft>
            </a:pPr>
            <a:r>
              <a:rPr sz="980" b="1" i="1">
                <a:solidFill>
                  <a:srgbClr val="2D6496"/>
                </a:solidFill>
                <a:latin typeface="Arial"/>
              </a:rPr>
              <a:t>P:Hsd17b11</a:t>
            </a:r>
            <a:r>
              <a:rPr sz="980" b="0" i="0">
                <a:solidFill>
                  <a:srgbClr val="8A969E"/>
                </a:solidFill>
                <a:latin typeface="Arial"/>
              </a:rPr>
              <a:t>, </a:t>
            </a:r>
            <a:r>
              <a:rPr sz="980" b="1" i="1">
                <a:solidFill>
                  <a:srgbClr val="2D6496"/>
                </a:solidFill>
                <a:latin typeface="Arial"/>
              </a:rPr>
              <a:t>P:Etv1</a:t>
            </a:r>
            <a:r>
              <a:rPr sz="980" b="0" i="0">
                <a:solidFill>
                  <a:srgbClr val="8A969E"/>
                </a:solidFill>
                <a:latin typeface="Arial"/>
              </a:rPr>
              <a:t>, </a:t>
            </a:r>
            <a:r>
              <a:rPr sz="980" b="0" i="1">
                <a:solidFill>
                  <a:srgbClr val="8063A6"/>
                </a:solidFill>
                <a:latin typeface="Arial"/>
              </a:rPr>
              <a:t>R:Snx7</a:t>
            </a:r>
          </a:p>
        </p:txBody>
      </p:sp>
      <p:sp>
        <p:nvSpPr>
          <p:cNvPr id="22" name="TextBox 21"/>
          <p:cNvSpPr txBox="1"/>
          <p:nvPr/>
        </p:nvSpPr>
        <p:spPr>
          <a:xfrm>
            <a:off x="1645920" y="2414016"/>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3" name="TextBox 22"/>
          <p:cNvSpPr txBox="1"/>
          <p:nvPr/>
        </p:nvSpPr>
        <p:spPr>
          <a:xfrm>
            <a:off x="2331720" y="2414016"/>
            <a:ext cx="3611880" cy="914399"/>
          </a:xfrm>
          <a:prstGeom prst="rect">
            <a:avLst/>
          </a:prstGeom>
          <a:noFill/>
        </p:spPr>
        <p:txBody>
          <a:bodyPr wrap="square" lIns="0" rIns="0" tIns="0" bIns="0" anchor="t">
            <a:spAutoFit/>
          </a:bodyPr>
          <a:lstStyle/>
          <a:p>
            <a:pPr>
              <a:spcAft>
                <a:spcPts val="0"/>
              </a:spcAft>
            </a:pPr>
            <a:r>
              <a:rPr sz="980" b="1" i="1">
                <a:solidFill>
                  <a:srgbClr val="478A64"/>
                </a:solidFill>
                <a:latin typeface="Arial"/>
              </a:rPr>
              <a:t>P:Nusap1</a:t>
            </a:r>
            <a:r>
              <a:rPr sz="980" b="0" i="0">
                <a:solidFill>
                  <a:srgbClr val="8A969E"/>
                </a:solidFill>
                <a:latin typeface="Arial"/>
              </a:rPr>
              <a:t>, </a:t>
            </a:r>
            <a:r>
              <a:rPr sz="980" b="1" i="1">
                <a:solidFill>
                  <a:srgbClr val="478A64"/>
                </a:solidFill>
                <a:latin typeface="Arial"/>
              </a:rPr>
              <a:t>P:Stmn1</a:t>
            </a:r>
            <a:r>
              <a:rPr sz="980" b="0" i="0">
                <a:solidFill>
                  <a:srgbClr val="8A969E"/>
                </a:solidFill>
                <a:latin typeface="Arial"/>
              </a:rPr>
              <a:t>, </a:t>
            </a:r>
            <a:r>
              <a:rPr sz="980" b="1" i="1">
                <a:solidFill>
                  <a:srgbClr val="D37B00"/>
                </a:solidFill>
                <a:latin typeface="Arial"/>
              </a:rPr>
              <a:t>P:Birc5</a:t>
            </a:r>
            <a:r>
              <a:rPr sz="980" b="0" i="0">
                <a:solidFill>
                  <a:srgbClr val="8A969E"/>
                </a:solidFill>
                <a:latin typeface="Arial"/>
              </a:rPr>
              <a:t>, </a:t>
            </a:r>
            <a:r>
              <a:rPr sz="980" b="1" i="1">
                <a:solidFill>
                  <a:srgbClr val="478A64"/>
                </a:solidFill>
                <a:latin typeface="Arial"/>
              </a:rPr>
              <a:t>P:Cdk1</a:t>
            </a:r>
            <a:r>
              <a:rPr sz="980" b="0" i="0">
                <a:solidFill>
                  <a:srgbClr val="8A969E"/>
                </a:solidFill>
                <a:latin typeface="Arial"/>
              </a:rPr>
              <a:t>, </a:t>
            </a:r>
            <a:r>
              <a:rPr sz="980" b="1" i="1">
                <a:solidFill>
                  <a:srgbClr val="478A64"/>
                </a:solidFill>
                <a:latin typeface="Arial"/>
              </a:rPr>
              <a:t>P:Top2a</a:t>
            </a:r>
            <a:r>
              <a:rPr sz="980" b="0" i="0">
                <a:solidFill>
                  <a:srgbClr val="8A969E"/>
                </a:solidFill>
                <a:latin typeface="Arial"/>
              </a:rPr>
              <a:t>, </a:t>
            </a:r>
            <a:r>
              <a:rPr sz="980" b="1" i="1">
                <a:solidFill>
                  <a:srgbClr val="478A64"/>
                </a:solidFill>
                <a:latin typeface="Arial"/>
              </a:rPr>
              <a:t>P:Ccnb2</a:t>
            </a:r>
            <a:r>
              <a:rPr sz="980" b="0" i="0">
                <a:solidFill>
                  <a:srgbClr val="8A969E"/>
                </a:solidFill>
                <a:latin typeface="Arial"/>
              </a:rPr>
              <a:t>, </a:t>
            </a:r>
            <a:r>
              <a:rPr sz="980" b="1" i="1">
                <a:solidFill>
                  <a:srgbClr val="478A64"/>
                </a:solidFill>
                <a:latin typeface="Arial"/>
              </a:rPr>
              <a:t>P:Aurka</a:t>
            </a:r>
            <a:r>
              <a:rPr sz="980" b="0" i="0">
                <a:solidFill>
                  <a:srgbClr val="8A969E"/>
                </a:solidFill>
                <a:latin typeface="Arial"/>
              </a:rPr>
              <a:t>, </a:t>
            </a:r>
            <a:r>
              <a:rPr sz="980" b="1" i="1">
                <a:solidFill>
                  <a:srgbClr val="478A64"/>
                </a:solidFill>
                <a:latin typeface="Arial"/>
              </a:rPr>
              <a:t>P:Ccne2</a:t>
            </a:r>
            <a:r>
              <a:rPr sz="980" b="0" i="0">
                <a:solidFill>
                  <a:srgbClr val="8A969E"/>
                </a:solidFill>
                <a:latin typeface="Arial"/>
              </a:rPr>
              <a:t>, </a:t>
            </a:r>
            <a:r>
              <a:rPr sz="980" b="1" i="1">
                <a:solidFill>
                  <a:srgbClr val="478A64"/>
                </a:solidFill>
                <a:latin typeface="Arial"/>
              </a:rPr>
              <a:t>P:Kif20a</a:t>
            </a:r>
            <a:r>
              <a:rPr sz="980" b="0" i="0">
                <a:solidFill>
                  <a:srgbClr val="8A969E"/>
                </a:solidFill>
                <a:latin typeface="Arial"/>
              </a:rPr>
              <a:t>, </a:t>
            </a:r>
            <a:r>
              <a:rPr sz="980" b="1" i="1">
                <a:solidFill>
                  <a:srgbClr val="478A64"/>
                </a:solidFill>
                <a:latin typeface="Arial"/>
              </a:rPr>
              <a:t>P:Pcna</a:t>
            </a:r>
            <a:r>
              <a:rPr sz="980" b="0" i="0">
                <a:solidFill>
                  <a:srgbClr val="8A969E"/>
                </a:solidFill>
                <a:latin typeface="Arial"/>
              </a:rPr>
              <a:t>, </a:t>
            </a:r>
            <a:r>
              <a:rPr sz="980" b="1" i="1">
                <a:solidFill>
                  <a:srgbClr val="478A64"/>
                </a:solidFill>
                <a:latin typeface="Arial"/>
              </a:rPr>
              <a:t>P:Ccnf</a:t>
            </a:r>
            <a:r>
              <a:rPr sz="980" b="0" i="0">
                <a:solidFill>
                  <a:srgbClr val="8A969E"/>
                </a:solidFill>
                <a:latin typeface="Arial"/>
              </a:rPr>
              <a:t>, </a:t>
            </a:r>
            <a:r>
              <a:rPr sz="980" b="0" i="1">
                <a:solidFill>
                  <a:srgbClr val="478A64"/>
                </a:solidFill>
                <a:latin typeface="Arial"/>
              </a:rPr>
              <a:t>R:Ube2c</a:t>
            </a:r>
            <a:r>
              <a:rPr sz="980" b="0" i="0">
                <a:solidFill>
                  <a:srgbClr val="8A969E"/>
                </a:solidFill>
                <a:latin typeface="Arial"/>
              </a:rPr>
              <a:t>, </a:t>
            </a:r>
            <a:r>
              <a:rPr sz="980" b="0" i="1">
                <a:solidFill>
                  <a:srgbClr val="478A64"/>
                </a:solidFill>
                <a:latin typeface="Arial"/>
              </a:rPr>
              <a:t>R:Gmnn</a:t>
            </a:r>
          </a:p>
        </p:txBody>
      </p:sp>
      <p:sp>
        <p:nvSpPr>
          <p:cNvPr id="24" name="Rectangle 2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056" y="3520439"/>
            <a:ext cx="1170432"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26" name="TextBox 25"/>
          <p:cNvSpPr txBox="1"/>
          <p:nvPr/>
        </p:nvSpPr>
        <p:spPr>
          <a:xfrm>
            <a:off x="1645920" y="351129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27" name="TextBox 26"/>
          <p:cNvSpPr txBox="1"/>
          <p:nvPr/>
        </p:nvSpPr>
        <p:spPr>
          <a:xfrm>
            <a:off x="2331720" y="3511296"/>
            <a:ext cx="3611880" cy="274320"/>
          </a:xfrm>
          <a:prstGeom prst="rect">
            <a:avLst/>
          </a:prstGeom>
          <a:noFill/>
        </p:spPr>
        <p:txBody>
          <a:bodyPr wrap="square" lIns="0" rIns="0" tIns="0" bIns="0" anchor="t">
            <a:spAutoFit/>
          </a:bodyPr>
          <a:lstStyle/>
          <a:p>
            <a:pPr>
              <a:spcAft>
                <a:spcPts val="0"/>
              </a:spcAft>
            </a:pPr>
            <a:r>
              <a:rPr sz="980" b="1" i="1">
                <a:solidFill>
                  <a:srgbClr val="2D6496"/>
                </a:solidFill>
                <a:latin typeface="Arial"/>
              </a:rPr>
              <a:t>P:Rai14</a:t>
            </a:r>
            <a:r>
              <a:rPr sz="980" b="0" i="0">
                <a:solidFill>
                  <a:srgbClr val="8A969E"/>
                </a:solidFill>
                <a:latin typeface="Arial"/>
              </a:rPr>
              <a:t>, </a:t>
            </a:r>
            <a:r>
              <a:rPr sz="980" b="1" i="1">
                <a:solidFill>
                  <a:srgbClr val="2D6496"/>
                </a:solidFill>
                <a:latin typeface="Arial"/>
              </a:rPr>
              <a:t>P:Myl9</a:t>
            </a:r>
            <a:r>
              <a:rPr sz="980" b="0" i="0">
                <a:solidFill>
                  <a:srgbClr val="8A969E"/>
                </a:solidFill>
                <a:latin typeface="Arial"/>
              </a:rPr>
              <a:t>, </a:t>
            </a:r>
            <a:r>
              <a:rPr sz="980" b="1" i="1">
                <a:solidFill>
                  <a:srgbClr val="2D6496"/>
                </a:solidFill>
                <a:latin typeface="Arial"/>
              </a:rPr>
              <a:t>P:Ptprk</a:t>
            </a:r>
            <a:r>
              <a:rPr sz="980" b="0" i="0">
                <a:solidFill>
                  <a:srgbClr val="8A969E"/>
                </a:solidFill>
                <a:latin typeface="Arial"/>
              </a:rPr>
              <a:t>, </a:t>
            </a:r>
            <a:r>
              <a:rPr sz="980" b="0" i="1">
                <a:solidFill>
                  <a:srgbClr val="2D6496"/>
                </a:solidFill>
                <a:latin typeface="Arial"/>
              </a:rPr>
              <a:t>R:Loxl1</a:t>
            </a:r>
          </a:p>
        </p:txBody>
      </p:sp>
      <p:sp>
        <p:nvSpPr>
          <p:cNvPr id="28" name="TextBox 27"/>
          <p:cNvSpPr txBox="1"/>
          <p:nvPr/>
        </p:nvSpPr>
        <p:spPr>
          <a:xfrm>
            <a:off x="1645920" y="3785615"/>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29" name="TextBox 28"/>
          <p:cNvSpPr txBox="1"/>
          <p:nvPr/>
        </p:nvSpPr>
        <p:spPr>
          <a:xfrm>
            <a:off x="2331720" y="3785615"/>
            <a:ext cx="3611880" cy="237744"/>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0" name="Rectangle 29"/>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 y="421538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32" name="TextBox 31"/>
          <p:cNvSpPr txBox="1"/>
          <p:nvPr/>
        </p:nvSpPr>
        <p:spPr>
          <a:xfrm>
            <a:off x="1645920" y="420624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3" name="TextBox 32"/>
          <p:cNvSpPr txBox="1"/>
          <p:nvPr/>
        </p:nvSpPr>
        <p:spPr>
          <a:xfrm>
            <a:off x="2331720" y="4206240"/>
            <a:ext cx="3611880" cy="274320"/>
          </a:xfrm>
          <a:prstGeom prst="rect">
            <a:avLst/>
          </a:prstGeom>
          <a:noFill/>
        </p:spPr>
        <p:txBody>
          <a:bodyPr wrap="square" lIns="0" rIns="0" tIns="0" bIns="0" anchor="t">
            <a:spAutoFit/>
          </a:bodyPr>
          <a:lstStyle/>
          <a:p>
            <a:pPr>
              <a:spcAft>
                <a:spcPts val="0"/>
              </a:spcAft>
            </a:pPr>
            <a:r>
              <a:rPr sz="980" b="1" i="1">
                <a:solidFill>
                  <a:srgbClr val="2D6496"/>
                </a:solidFill>
                <a:latin typeface="Arial"/>
              </a:rPr>
              <a:t>P:Inpp4b</a:t>
            </a:r>
            <a:r>
              <a:rPr sz="980" b="0" i="0">
                <a:solidFill>
                  <a:srgbClr val="8A969E"/>
                </a:solidFill>
                <a:latin typeface="Arial"/>
              </a:rPr>
              <a:t>, </a:t>
            </a:r>
            <a:r>
              <a:rPr sz="980" b="0" i="1">
                <a:solidFill>
                  <a:srgbClr val="2D6496"/>
                </a:solidFill>
                <a:latin typeface="Arial"/>
              </a:rPr>
              <a:t>R:Slc37a4</a:t>
            </a:r>
          </a:p>
        </p:txBody>
      </p:sp>
      <p:sp>
        <p:nvSpPr>
          <p:cNvPr id="34" name="TextBox 33"/>
          <p:cNvSpPr txBox="1"/>
          <p:nvPr/>
        </p:nvSpPr>
        <p:spPr>
          <a:xfrm>
            <a:off x="1645920" y="4480559"/>
            <a:ext cx="621792" cy="18288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35" name="TextBox 34"/>
          <p:cNvSpPr txBox="1"/>
          <p:nvPr/>
        </p:nvSpPr>
        <p:spPr>
          <a:xfrm>
            <a:off x="2331720" y="4480559"/>
            <a:ext cx="3611880" cy="18288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36" name="Rectangle 35"/>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 y="4855464"/>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Gastrocnemius
</a:t>
            </a:r>
            <a:r>
              <a:rPr sz="900" b="0" i="0">
                <a:solidFill>
                  <a:srgbClr val="8A969E"/>
                </a:solidFill>
                <a:latin typeface="Arial"/>
              </a:rPr>
              <a:t>2 genes</a:t>
            </a:r>
          </a:p>
        </p:txBody>
      </p:sp>
      <p:sp>
        <p:nvSpPr>
          <p:cNvPr id="38" name="TextBox 37"/>
          <p:cNvSpPr txBox="1"/>
          <p:nvPr/>
        </p:nvSpPr>
        <p:spPr>
          <a:xfrm>
            <a:off x="1645920" y="48463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39" name="TextBox 38"/>
          <p:cNvSpPr txBox="1"/>
          <p:nvPr/>
        </p:nvSpPr>
        <p:spPr>
          <a:xfrm>
            <a:off x="2331720" y="4846320"/>
            <a:ext cx="3611880" cy="246888"/>
          </a:xfrm>
          <a:prstGeom prst="rect">
            <a:avLst/>
          </a:prstGeom>
          <a:noFill/>
        </p:spPr>
        <p:txBody>
          <a:bodyPr wrap="square" lIns="0" rIns="0" tIns="0" bIns="0" anchor="t">
            <a:spAutoFit/>
          </a:bodyPr>
          <a:lstStyle/>
          <a:p>
            <a:pPr>
              <a:spcAft>
                <a:spcPts val="0"/>
              </a:spcAft>
            </a:pPr>
            <a:r>
              <a:rPr sz="980" b="1" i="1">
                <a:solidFill>
                  <a:srgbClr val="478A64"/>
                </a:solidFill>
                <a:latin typeface="Arial"/>
              </a:rPr>
              <a:t>P:Nfkbia</a:t>
            </a:r>
          </a:p>
        </p:txBody>
      </p:sp>
      <p:sp>
        <p:nvSpPr>
          <p:cNvPr id="40" name="TextBox 39"/>
          <p:cNvSpPr txBox="1"/>
          <p:nvPr/>
        </p:nvSpPr>
        <p:spPr>
          <a:xfrm>
            <a:off x="1645920" y="5093208"/>
            <a:ext cx="621792" cy="210311"/>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1" name="TextBox 40"/>
          <p:cNvSpPr txBox="1"/>
          <p:nvPr/>
        </p:nvSpPr>
        <p:spPr>
          <a:xfrm>
            <a:off x="2331720" y="5093208"/>
            <a:ext cx="3611880" cy="210311"/>
          </a:xfrm>
          <a:prstGeom prst="rect">
            <a:avLst/>
          </a:prstGeom>
          <a:noFill/>
        </p:spPr>
        <p:txBody>
          <a:bodyPr wrap="square" lIns="0" rIns="0" tIns="0" bIns="0" anchor="t">
            <a:spAutoFit/>
          </a:bodyPr>
          <a:lstStyle/>
          <a:p>
            <a:pPr>
              <a:spcAft>
                <a:spcPts val="0"/>
              </a:spcAft>
            </a:pPr>
            <a:r>
              <a:rPr sz="980" b="1" i="1">
                <a:solidFill>
                  <a:srgbClr val="2D6496"/>
                </a:solidFill>
                <a:latin typeface="Arial"/>
              </a:rPr>
              <a:t>P:Fhl2</a:t>
            </a:r>
          </a:p>
        </p:txBody>
      </p:sp>
      <p:sp>
        <p:nvSpPr>
          <p:cNvPr id="42" name="Rectangle 41"/>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8056" y="5495544"/>
            <a:ext cx="1170432"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44" name="TextBox 43"/>
          <p:cNvSpPr txBox="1"/>
          <p:nvPr/>
        </p:nvSpPr>
        <p:spPr>
          <a:xfrm>
            <a:off x="1645920" y="5486400"/>
            <a:ext cx="621792" cy="17373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45" name="TextBox 44"/>
          <p:cNvSpPr txBox="1"/>
          <p:nvPr/>
        </p:nvSpPr>
        <p:spPr>
          <a:xfrm>
            <a:off x="2331720" y="5486400"/>
            <a:ext cx="3611880" cy="173736"/>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46" name="TextBox 45"/>
          <p:cNvSpPr txBox="1"/>
          <p:nvPr/>
        </p:nvSpPr>
        <p:spPr>
          <a:xfrm>
            <a:off x="1645920" y="5660136"/>
            <a:ext cx="621792" cy="192024"/>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47" name="TextBox 46"/>
          <p:cNvSpPr txBox="1"/>
          <p:nvPr/>
        </p:nvSpPr>
        <p:spPr>
          <a:xfrm>
            <a:off x="2331720" y="5660136"/>
            <a:ext cx="3611880" cy="192024"/>
          </a:xfrm>
          <a:prstGeom prst="rect">
            <a:avLst/>
          </a:prstGeom>
          <a:noFill/>
        </p:spPr>
        <p:txBody>
          <a:bodyPr wrap="square" lIns="0" rIns="0" tIns="0" bIns="0" anchor="t">
            <a:spAutoFit/>
          </a:bodyPr>
          <a:lstStyle/>
          <a:p>
            <a:pPr>
              <a:spcAft>
                <a:spcPts val="0"/>
              </a:spcAft>
            </a:pPr>
            <a:r>
              <a:rPr sz="980" b="0" i="1">
                <a:solidFill>
                  <a:srgbClr val="478A64"/>
                </a:solidFill>
                <a:latin typeface="Arial"/>
              </a:rPr>
              <a:t>R:Klhl21</a:t>
            </a:r>
          </a:p>
        </p:txBody>
      </p:sp>
      <p:sp>
        <p:nvSpPr>
          <p:cNvPr id="48" name="Rectangle 47"/>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7" y="2112264"/>
            <a:ext cx="1170432" cy="105156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Skeletal muscle
(pooled)
</a:t>
            </a:r>
            <a:r>
              <a:rPr sz="900" b="0" i="0">
                <a:solidFill>
                  <a:srgbClr val="8A969E"/>
                </a:solidFill>
                <a:latin typeface="Arial"/>
              </a:rPr>
              <a:t>12 genes</a:t>
            </a:r>
          </a:p>
        </p:txBody>
      </p:sp>
      <p:sp>
        <p:nvSpPr>
          <p:cNvPr id="50" name="TextBox 49"/>
          <p:cNvSpPr txBox="1"/>
          <p:nvPr/>
        </p:nvSpPr>
        <p:spPr>
          <a:xfrm>
            <a:off x="7434071" y="2103120"/>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1" name="TextBox 50"/>
          <p:cNvSpPr txBox="1"/>
          <p:nvPr/>
        </p:nvSpPr>
        <p:spPr>
          <a:xfrm>
            <a:off x="8119871" y="2103120"/>
            <a:ext cx="3611880" cy="512064"/>
          </a:xfrm>
          <a:prstGeom prst="rect">
            <a:avLst/>
          </a:prstGeom>
          <a:noFill/>
        </p:spPr>
        <p:txBody>
          <a:bodyPr wrap="square" lIns="0" rIns="0" tIns="0" bIns="0" anchor="t">
            <a:spAutoFit/>
          </a:bodyPr>
          <a:lstStyle/>
          <a:p>
            <a:pPr>
              <a:spcAft>
                <a:spcPts val="0"/>
              </a:spcAft>
            </a:pPr>
            <a:r>
              <a:rPr sz="980" b="0" i="1">
                <a:solidFill>
                  <a:srgbClr val="478A64"/>
                </a:solidFill>
                <a:latin typeface="Arial"/>
              </a:rPr>
              <a:t>R:Sox4</a:t>
            </a:r>
            <a:r>
              <a:rPr sz="980" b="0" i="0">
                <a:solidFill>
                  <a:srgbClr val="8A969E"/>
                </a:solidFill>
                <a:latin typeface="Arial"/>
              </a:rPr>
              <a:t>, </a:t>
            </a:r>
            <a:r>
              <a:rPr sz="980" b="0" i="1">
                <a:solidFill>
                  <a:srgbClr val="478A64"/>
                </a:solidFill>
                <a:latin typeface="Arial"/>
              </a:rPr>
              <a:t>R:Cebpd</a:t>
            </a:r>
            <a:r>
              <a:rPr sz="980" b="0" i="0">
                <a:solidFill>
                  <a:srgbClr val="8A969E"/>
                </a:solidFill>
                <a:latin typeface="Arial"/>
              </a:rPr>
              <a:t>, </a:t>
            </a:r>
            <a:r>
              <a:rPr sz="980" b="0" i="1">
                <a:solidFill>
                  <a:srgbClr val="2D6496"/>
                </a:solidFill>
                <a:latin typeface="Arial"/>
              </a:rPr>
              <a:t>R:Sh3bp5</a:t>
            </a:r>
            <a:r>
              <a:rPr sz="980" b="0" i="0">
                <a:solidFill>
                  <a:srgbClr val="8A969E"/>
                </a:solidFill>
                <a:latin typeface="Arial"/>
              </a:rPr>
              <a:t>, </a:t>
            </a:r>
            <a:r>
              <a:rPr sz="980" b="0" i="1">
                <a:solidFill>
                  <a:srgbClr val="478A64"/>
                </a:solidFill>
                <a:latin typeface="Arial"/>
              </a:rPr>
              <a:t>R:Prkcd</a:t>
            </a:r>
            <a:r>
              <a:rPr sz="980" b="0" i="0">
                <a:solidFill>
                  <a:srgbClr val="8A969E"/>
                </a:solidFill>
                <a:latin typeface="Arial"/>
              </a:rPr>
              <a:t>, </a:t>
            </a:r>
            <a:r>
              <a:rPr sz="980" b="0" i="1">
                <a:solidFill>
                  <a:srgbClr val="478A64"/>
                </a:solidFill>
                <a:latin typeface="Arial"/>
              </a:rPr>
              <a:t>R:Arid5b</a:t>
            </a:r>
            <a:r>
              <a:rPr sz="980" b="0" i="0">
                <a:solidFill>
                  <a:srgbClr val="8A969E"/>
                </a:solidFill>
                <a:latin typeface="Arial"/>
              </a:rPr>
              <a:t>, </a:t>
            </a:r>
            <a:r>
              <a:rPr sz="980" b="0" i="1">
                <a:solidFill>
                  <a:srgbClr val="478A64"/>
                </a:solidFill>
                <a:latin typeface="Arial"/>
              </a:rPr>
              <a:t>R:Sesn1</a:t>
            </a:r>
            <a:r>
              <a:rPr sz="980" b="0" i="0">
                <a:solidFill>
                  <a:srgbClr val="8A969E"/>
                </a:solidFill>
                <a:latin typeface="Arial"/>
              </a:rPr>
              <a:t>, </a:t>
            </a:r>
            <a:r>
              <a:rPr sz="980" b="0" i="1">
                <a:solidFill>
                  <a:srgbClr val="2D6496"/>
                </a:solidFill>
                <a:latin typeface="Arial"/>
              </a:rPr>
              <a:t>R:Tle1</a:t>
            </a:r>
          </a:p>
        </p:txBody>
      </p:sp>
      <p:sp>
        <p:nvSpPr>
          <p:cNvPr id="52" name="TextBox 51"/>
          <p:cNvSpPr txBox="1"/>
          <p:nvPr/>
        </p:nvSpPr>
        <p:spPr>
          <a:xfrm>
            <a:off x="7434071" y="261518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3" name="TextBox 52"/>
          <p:cNvSpPr txBox="1"/>
          <p:nvPr/>
        </p:nvSpPr>
        <p:spPr>
          <a:xfrm>
            <a:off x="8119871" y="2615184"/>
            <a:ext cx="3611880" cy="530352"/>
          </a:xfrm>
          <a:prstGeom prst="rect">
            <a:avLst/>
          </a:prstGeom>
          <a:noFill/>
        </p:spPr>
        <p:txBody>
          <a:bodyPr wrap="square" lIns="0" rIns="0" tIns="0" bIns="0" anchor="t">
            <a:spAutoFit/>
          </a:bodyPr>
          <a:lstStyle/>
          <a:p>
            <a:pPr>
              <a:spcAft>
                <a:spcPts val="0"/>
              </a:spcAft>
            </a:pPr>
            <a:r>
              <a:rPr sz="980" b="1" i="1">
                <a:solidFill>
                  <a:srgbClr val="2D6496"/>
                </a:solidFill>
                <a:latin typeface="Arial"/>
              </a:rPr>
              <a:t>P:Klhl21</a:t>
            </a:r>
            <a:r>
              <a:rPr sz="980" b="0" i="0">
                <a:solidFill>
                  <a:srgbClr val="8A969E"/>
                </a:solidFill>
                <a:latin typeface="Arial"/>
              </a:rPr>
              <a:t>, </a:t>
            </a:r>
            <a:r>
              <a:rPr sz="980" b="1" i="1">
                <a:solidFill>
                  <a:srgbClr val="2D6496"/>
                </a:solidFill>
                <a:latin typeface="Arial"/>
              </a:rPr>
              <a:t>P:Mapkapk5</a:t>
            </a:r>
            <a:r>
              <a:rPr sz="980" b="0" i="0">
                <a:solidFill>
                  <a:srgbClr val="8A969E"/>
                </a:solidFill>
                <a:latin typeface="Arial"/>
              </a:rPr>
              <a:t>, </a:t>
            </a:r>
            <a:r>
              <a:rPr sz="980" b="1" i="1">
                <a:solidFill>
                  <a:srgbClr val="2D6496"/>
                </a:solidFill>
                <a:latin typeface="Arial"/>
              </a:rPr>
              <a:t>P:Reep5</a:t>
            </a:r>
            <a:r>
              <a:rPr sz="980" b="0" i="0">
                <a:solidFill>
                  <a:srgbClr val="8A969E"/>
                </a:solidFill>
                <a:latin typeface="Arial"/>
              </a:rPr>
              <a:t>, </a:t>
            </a:r>
            <a:r>
              <a:rPr sz="980" b="1" i="1">
                <a:solidFill>
                  <a:srgbClr val="2D6496"/>
                </a:solidFill>
                <a:latin typeface="Arial"/>
              </a:rPr>
              <a:t>P:Itgb5</a:t>
            </a:r>
            <a:r>
              <a:rPr sz="980" b="0" i="0">
                <a:solidFill>
                  <a:srgbClr val="8A969E"/>
                </a:solidFill>
                <a:latin typeface="Arial"/>
              </a:rPr>
              <a:t>, </a:t>
            </a:r>
            <a:r>
              <a:rPr sz="980" b="0" i="1">
                <a:solidFill>
                  <a:srgbClr val="8063A6"/>
                </a:solidFill>
                <a:latin typeface="Arial"/>
              </a:rPr>
              <a:t>R:Bphl</a:t>
            </a:r>
          </a:p>
        </p:txBody>
      </p:sp>
      <p:sp>
        <p:nvSpPr>
          <p:cNvPr id="54" name="Rectangle 53"/>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236207" y="3337560"/>
            <a:ext cx="1170432"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56" name="TextBox 55"/>
          <p:cNvSpPr txBox="1"/>
          <p:nvPr/>
        </p:nvSpPr>
        <p:spPr>
          <a:xfrm>
            <a:off x="7434071" y="33284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57" name="TextBox 56"/>
          <p:cNvSpPr txBox="1"/>
          <p:nvPr/>
        </p:nvSpPr>
        <p:spPr>
          <a:xfrm>
            <a:off x="8119871" y="3328416"/>
            <a:ext cx="3611880" cy="246888"/>
          </a:xfrm>
          <a:prstGeom prst="rect">
            <a:avLst/>
          </a:prstGeom>
          <a:noFill/>
        </p:spPr>
        <p:txBody>
          <a:bodyPr wrap="square" lIns="0" rIns="0" tIns="0" bIns="0" anchor="t">
            <a:spAutoFit/>
          </a:bodyPr>
          <a:lstStyle/>
          <a:p>
            <a:pPr>
              <a:spcAft>
                <a:spcPts val="0"/>
              </a:spcAft>
            </a:pPr>
            <a:r>
              <a:rPr sz="980" b="0" i="1">
                <a:solidFill>
                  <a:srgbClr val="D37B00"/>
                </a:solidFill>
                <a:latin typeface="Arial"/>
              </a:rPr>
              <a:t>R:Tpm1</a:t>
            </a:r>
          </a:p>
        </p:txBody>
      </p:sp>
      <p:sp>
        <p:nvSpPr>
          <p:cNvPr id="58" name="TextBox 57"/>
          <p:cNvSpPr txBox="1"/>
          <p:nvPr/>
        </p:nvSpPr>
        <p:spPr>
          <a:xfrm>
            <a:off x="7434071" y="3575304"/>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59" name="TextBox 58"/>
          <p:cNvSpPr txBox="1"/>
          <p:nvPr/>
        </p:nvSpPr>
        <p:spPr>
          <a:xfrm>
            <a:off x="8119871" y="3575304"/>
            <a:ext cx="3611880" cy="274320"/>
          </a:xfrm>
          <a:prstGeom prst="rect">
            <a:avLst/>
          </a:prstGeom>
          <a:noFill/>
        </p:spPr>
        <p:txBody>
          <a:bodyPr wrap="square" lIns="0" rIns="0" tIns="0" bIns="0" anchor="t">
            <a:spAutoFit/>
          </a:bodyPr>
          <a:lstStyle/>
          <a:p>
            <a:pPr>
              <a:spcAft>
                <a:spcPts val="0"/>
              </a:spcAft>
            </a:pPr>
            <a:r>
              <a:rPr sz="980" b="0" i="1">
                <a:solidFill>
                  <a:srgbClr val="478A64"/>
                </a:solidFill>
                <a:latin typeface="Arial"/>
              </a:rPr>
              <a:t>R:Bdh1</a:t>
            </a:r>
            <a:r>
              <a:rPr sz="980" b="0" i="0">
                <a:solidFill>
                  <a:srgbClr val="8A969E"/>
                </a:solidFill>
                <a:latin typeface="Arial"/>
              </a:rPr>
              <a:t>, </a:t>
            </a:r>
            <a:r>
              <a:rPr sz="980" b="0" i="1">
                <a:solidFill>
                  <a:srgbClr val="478A64"/>
                </a:solidFill>
                <a:latin typeface="Arial"/>
              </a:rPr>
              <a:t>R:Ech1</a:t>
            </a:r>
            <a:r>
              <a:rPr sz="980" b="0" i="0">
                <a:solidFill>
                  <a:srgbClr val="8A969E"/>
                </a:solidFill>
                <a:latin typeface="Arial"/>
              </a:rPr>
              <a:t>, </a:t>
            </a:r>
            <a:r>
              <a:rPr sz="980" b="0" i="1">
                <a:solidFill>
                  <a:srgbClr val="D37B00"/>
                </a:solidFill>
                <a:latin typeface="Arial"/>
              </a:rPr>
              <a:t>R:Bnip3</a:t>
            </a:r>
            <a:r>
              <a:rPr sz="980" b="0" i="0">
                <a:solidFill>
                  <a:srgbClr val="8A969E"/>
                </a:solidFill>
                <a:latin typeface="Arial"/>
              </a:rPr>
              <a:t>, </a:t>
            </a:r>
            <a:r>
              <a:rPr sz="980" b="0" i="1">
                <a:solidFill>
                  <a:srgbClr val="478A64"/>
                </a:solidFill>
                <a:latin typeface="Arial"/>
              </a:rPr>
              <a:t>R:Decr1</a:t>
            </a:r>
          </a:p>
        </p:txBody>
      </p:sp>
      <p:sp>
        <p:nvSpPr>
          <p:cNvPr id="60" name="Rectangle 59"/>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36207" y="4041648"/>
            <a:ext cx="1170432" cy="539496"/>
          </a:xfrm>
          <a:prstGeom prst="rect">
            <a:avLst/>
          </a:prstGeom>
          <a:noFill/>
        </p:spPr>
        <p:txBody>
          <a:bodyPr wrap="square" lIns="0" rIns="0" tIns="0" bIns="0" anchor="t">
            <a:spAutoFit/>
          </a:bodyPr>
          <a:lstStyle/>
          <a:p>
            <a:pPr>
              <a:spcAft>
                <a:spcPts val="0"/>
              </a:spcAft>
            </a:pPr>
            <a:r>
              <a:rPr sz="1180" b="1" i="0">
                <a:solidFill>
                  <a:srgbClr val="082B55"/>
                </a:solidFill>
                <a:latin typeface="Arial"/>
              </a:rPr>
              <a:t>Tibialis anterior
</a:t>
            </a:r>
            <a:r>
              <a:rPr sz="900" b="0" i="0">
                <a:solidFill>
                  <a:srgbClr val="8A969E"/>
                </a:solidFill>
                <a:latin typeface="Arial"/>
              </a:rPr>
              <a:t>4 genes</a:t>
            </a:r>
          </a:p>
        </p:txBody>
      </p:sp>
      <p:sp>
        <p:nvSpPr>
          <p:cNvPr id="62" name="TextBox 61"/>
          <p:cNvSpPr txBox="1"/>
          <p:nvPr/>
        </p:nvSpPr>
        <p:spPr>
          <a:xfrm>
            <a:off x="7434071" y="4032503"/>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3" name="TextBox 62"/>
          <p:cNvSpPr txBox="1"/>
          <p:nvPr/>
        </p:nvSpPr>
        <p:spPr>
          <a:xfrm>
            <a:off x="8119871" y="4032503"/>
            <a:ext cx="3611880" cy="356616"/>
          </a:xfrm>
          <a:prstGeom prst="rect">
            <a:avLst/>
          </a:prstGeom>
          <a:noFill/>
        </p:spPr>
        <p:txBody>
          <a:bodyPr wrap="square" lIns="0" rIns="0" tIns="0" bIns="0" anchor="t">
            <a:spAutoFit/>
          </a:bodyPr>
          <a:lstStyle/>
          <a:p>
            <a:pPr>
              <a:spcAft>
                <a:spcPts val="0"/>
              </a:spcAft>
            </a:pPr>
            <a:r>
              <a:rPr sz="980" b="1" i="1">
                <a:solidFill>
                  <a:srgbClr val="2D6496"/>
                </a:solidFill>
                <a:latin typeface="Arial"/>
              </a:rPr>
              <a:t>P:Cebpd</a:t>
            </a:r>
            <a:r>
              <a:rPr sz="980" b="0" i="0">
                <a:solidFill>
                  <a:srgbClr val="8A969E"/>
                </a:solidFill>
                <a:latin typeface="Arial"/>
              </a:rPr>
              <a:t>, </a:t>
            </a:r>
            <a:r>
              <a:rPr sz="980" b="0" i="1">
                <a:solidFill>
                  <a:srgbClr val="D37B00"/>
                </a:solidFill>
                <a:latin typeface="Arial"/>
              </a:rPr>
              <a:t>R:Cdkn1a</a:t>
            </a:r>
            <a:r>
              <a:rPr sz="980" b="0" i="0">
                <a:solidFill>
                  <a:srgbClr val="8A969E"/>
                </a:solidFill>
                <a:latin typeface="Arial"/>
              </a:rPr>
              <a:t>, </a:t>
            </a:r>
            <a:r>
              <a:rPr sz="980" b="0" i="1">
                <a:solidFill>
                  <a:srgbClr val="2D6496"/>
                </a:solidFill>
                <a:latin typeface="Arial"/>
              </a:rPr>
              <a:t>R:St3gal5</a:t>
            </a:r>
            <a:r>
              <a:rPr sz="980" b="0" i="0">
                <a:solidFill>
                  <a:srgbClr val="8A969E"/>
                </a:solidFill>
                <a:latin typeface="Arial"/>
              </a:rPr>
              <a:t>, </a:t>
            </a:r>
            <a:r>
              <a:rPr sz="980" b="0" i="1">
                <a:solidFill>
                  <a:srgbClr val="2D6496"/>
                </a:solidFill>
                <a:latin typeface="Arial"/>
              </a:rPr>
              <a:t>R:Bnip3</a:t>
            </a:r>
          </a:p>
        </p:txBody>
      </p:sp>
      <p:sp>
        <p:nvSpPr>
          <p:cNvPr id="64" name="TextBox 63"/>
          <p:cNvSpPr txBox="1"/>
          <p:nvPr/>
        </p:nvSpPr>
        <p:spPr>
          <a:xfrm>
            <a:off x="7434071" y="4389119"/>
            <a:ext cx="621792" cy="173735"/>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65" name="TextBox 64"/>
          <p:cNvSpPr txBox="1"/>
          <p:nvPr/>
        </p:nvSpPr>
        <p:spPr>
          <a:xfrm>
            <a:off x="8119871" y="4389119"/>
            <a:ext cx="3611880" cy="173735"/>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66" name="Rectangle 65"/>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4754880"/>
            <a:ext cx="1170432"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Adrenal gland
</a:t>
            </a:r>
            <a:r>
              <a:rPr sz="900" b="0" i="0">
                <a:solidFill>
                  <a:srgbClr val="8A969E"/>
                </a:solidFill>
                <a:latin typeface="Arial"/>
              </a:rPr>
              <a:t>2 genes</a:t>
            </a:r>
          </a:p>
        </p:txBody>
      </p:sp>
      <p:sp>
        <p:nvSpPr>
          <p:cNvPr id="68" name="TextBox 67"/>
          <p:cNvSpPr txBox="1"/>
          <p:nvPr/>
        </p:nvSpPr>
        <p:spPr>
          <a:xfrm>
            <a:off x="7434071" y="4745736"/>
            <a:ext cx="621792" cy="164592"/>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69" name="TextBox 68"/>
          <p:cNvSpPr txBox="1"/>
          <p:nvPr/>
        </p:nvSpPr>
        <p:spPr>
          <a:xfrm>
            <a:off x="8119871" y="4745736"/>
            <a:ext cx="3611880" cy="164592"/>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0" name="TextBox 69"/>
          <p:cNvSpPr txBox="1"/>
          <p:nvPr/>
        </p:nvSpPr>
        <p:spPr>
          <a:xfrm>
            <a:off x="7434071" y="4910327"/>
            <a:ext cx="621792" cy="219456"/>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1" name="TextBox 70"/>
          <p:cNvSpPr txBox="1"/>
          <p:nvPr/>
        </p:nvSpPr>
        <p:spPr>
          <a:xfrm>
            <a:off x="8119871" y="4910327"/>
            <a:ext cx="3611880" cy="292608"/>
          </a:xfrm>
          <a:prstGeom prst="rect">
            <a:avLst/>
          </a:prstGeom>
          <a:noFill/>
        </p:spPr>
        <p:txBody>
          <a:bodyPr wrap="square" lIns="0" rIns="0" tIns="0" bIns="0" anchor="t">
            <a:spAutoFit/>
          </a:bodyPr>
          <a:lstStyle/>
          <a:p>
            <a:pPr>
              <a:spcAft>
                <a:spcPts val="0"/>
              </a:spcAft>
            </a:pPr>
            <a:r>
              <a:rPr sz="980" b="1" i="1">
                <a:solidFill>
                  <a:srgbClr val="8063A6"/>
                </a:solidFill>
                <a:latin typeface="Arial"/>
              </a:rPr>
              <a:t>P:Psmb8</a:t>
            </a:r>
            <a:r>
              <a:rPr sz="980" b="0" i="0">
                <a:solidFill>
                  <a:srgbClr val="8A969E"/>
                </a:solidFill>
                <a:latin typeface="Arial"/>
              </a:rPr>
              <a:t>, </a:t>
            </a:r>
            <a:r>
              <a:rPr sz="980" b="0" i="1">
                <a:solidFill>
                  <a:srgbClr val="8063A6"/>
                </a:solidFill>
                <a:latin typeface="Arial"/>
              </a:rPr>
              <a:t>R:Tspan4</a:t>
            </a:r>
          </a:p>
        </p:txBody>
      </p:sp>
      <p:sp>
        <p:nvSpPr>
          <p:cNvPr id="72" name="Rectangle 71"/>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36207" y="5394960"/>
            <a:ext cx="1170432"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74" name="TextBox 73"/>
          <p:cNvSpPr txBox="1"/>
          <p:nvPr/>
        </p:nvSpPr>
        <p:spPr>
          <a:xfrm>
            <a:off x="7434071" y="5385816"/>
            <a:ext cx="621792" cy="219456"/>
          </a:xfrm>
          <a:prstGeom prst="rect">
            <a:avLst/>
          </a:prstGeom>
          <a:noFill/>
        </p:spPr>
        <p:txBody>
          <a:bodyPr wrap="square" lIns="0" rIns="0" tIns="0" bIns="0" anchor="t">
            <a:spAutoFit/>
          </a:bodyPr>
          <a:lstStyle/>
          <a:p>
            <a:pPr algn="l">
              <a:spcAft>
                <a:spcPts val="0"/>
              </a:spcAft>
            </a:pPr>
            <a:r>
              <a:rPr sz="900" b="1" i="0">
                <a:solidFill>
                  <a:srgbClr val="D96552"/>
                </a:solidFill>
                <a:latin typeface="Arial"/>
              </a:rPr>
              <a:t>FLT higher</a:t>
            </a:r>
          </a:p>
        </p:txBody>
      </p:sp>
      <p:sp>
        <p:nvSpPr>
          <p:cNvPr id="75" name="TextBox 74"/>
          <p:cNvSpPr txBox="1"/>
          <p:nvPr/>
        </p:nvSpPr>
        <p:spPr>
          <a:xfrm>
            <a:off x="8119871" y="5385816"/>
            <a:ext cx="3611880" cy="265176"/>
          </a:xfrm>
          <a:prstGeom prst="rect">
            <a:avLst/>
          </a:prstGeom>
          <a:noFill/>
        </p:spPr>
        <p:txBody>
          <a:bodyPr wrap="square" lIns="0" rIns="0" tIns="0" bIns="0" anchor="t">
            <a:spAutoFit/>
          </a:bodyPr>
          <a:lstStyle/>
          <a:p>
            <a:pPr>
              <a:spcAft>
                <a:spcPts val="0"/>
              </a:spcAft>
            </a:pPr>
            <a:r>
              <a:rPr sz="980" b="1" i="1">
                <a:solidFill>
                  <a:srgbClr val="2D6496"/>
                </a:solidFill>
                <a:latin typeface="Arial"/>
              </a:rPr>
              <a:t>P:Plscr1</a:t>
            </a:r>
          </a:p>
        </p:txBody>
      </p:sp>
      <p:sp>
        <p:nvSpPr>
          <p:cNvPr id="76" name="TextBox 75"/>
          <p:cNvSpPr txBox="1"/>
          <p:nvPr/>
        </p:nvSpPr>
        <p:spPr>
          <a:xfrm>
            <a:off x="7434071" y="5650992"/>
            <a:ext cx="621792" cy="137160"/>
          </a:xfrm>
          <a:prstGeom prst="rect">
            <a:avLst/>
          </a:prstGeom>
          <a:noFill/>
        </p:spPr>
        <p:txBody>
          <a:bodyPr wrap="square" lIns="0" rIns="0" tIns="0" bIns="0" anchor="t">
            <a:spAutoFit/>
          </a:bodyPr>
          <a:lstStyle/>
          <a:p>
            <a:pPr algn="l">
              <a:spcAft>
                <a:spcPts val="0"/>
              </a:spcAft>
            </a:pPr>
            <a:r>
              <a:rPr sz="900" b="1" i="0">
                <a:solidFill>
                  <a:srgbClr val="178681"/>
                </a:solidFill>
                <a:latin typeface="Arial"/>
              </a:rPr>
              <a:t>FLT lower</a:t>
            </a:r>
          </a:p>
        </p:txBody>
      </p:sp>
      <p:sp>
        <p:nvSpPr>
          <p:cNvPr id="77" name="TextBox 76"/>
          <p:cNvSpPr txBox="1"/>
          <p:nvPr/>
        </p:nvSpPr>
        <p:spPr>
          <a:xfrm>
            <a:off x="8119871" y="5650992"/>
            <a:ext cx="3611880" cy="137160"/>
          </a:xfrm>
          <a:prstGeom prst="rect">
            <a:avLst/>
          </a:prstGeom>
          <a:noFill/>
        </p:spPr>
        <p:txBody>
          <a:bodyPr wrap="square" lIns="0" rIns="0" tIns="0" bIns="0" anchor="t">
            <a:spAutoFit/>
          </a:bodyPr>
          <a:lstStyle/>
          <a:p>
            <a:pPr>
              <a:spcAft>
                <a:spcPts val="0"/>
              </a:spcAft>
            </a:pPr>
            <a:r>
              <a:rPr sz="980" b="0" i="1">
                <a:solidFill>
                  <a:srgbClr val="8A969E"/>
                </a:solidFill>
                <a:latin typeface="Arial"/>
              </a:rPr>
              <a:t>none</a:t>
            </a:r>
          </a:p>
        </p:txBody>
      </p:sp>
      <p:sp>
        <p:nvSpPr>
          <p:cNvPr id="78" name="TextBox 77"/>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 reflects repeated feature selection;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narrower gene-level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Thymus and soleus remained the strongest coherent programs, but they were not the only synthetic-informed results.</a:t>
            </a:r>
          </a:p>
        </p:txBody>
      </p:sp>
      <p:sp>
        <p:nvSpPr>
          <p:cNvPr id="7" name="Rectangle 6"/>
          <p:cNvSpPr/>
          <p:nvPr/>
        </p:nvSpPr>
        <p:spPr>
          <a:xfrm>
            <a:off x="393192" y="1847088"/>
            <a:ext cx="11375136" cy="66751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3192" y="1847088"/>
            <a:ext cx="73152"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002536"/>
            <a:ext cx="1938528" cy="310896"/>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Pooled muscle</a:t>
            </a:r>
          </a:p>
        </p:txBody>
      </p:sp>
      <p:sp>
        <p:nvSpPr>
          <p:cNvPr id="10" name="TextBox 9"/>
          <p:cNvSpPr txBox="1"/>
          <p:nvPr/>
        </p:nvSpPr>
        <p:spPr>
          <a:xfrm>
            <a:off x="2551176" y="1975104"/>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12 genes: stress, differentiation, mitochondrial and signaling candidates</a:t>
            </a:r>
          </a:p>
        </p:txBody>
      </p:sp>
      <p:sp>
        <p:nvSpPr>
          <p:cNvPr id="11" name="TextBox 10"/>
          <p:cNvSpPr txBox="1"/>
          <p:nvPr/>
        </p:nvSpPr>
        <p:spPr>
          <a:xfrm>
            <a:off x="9756648" y="1993392"/>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2D6496"/>
                </a:solidFill>
                <a:latin typeface="Arial"/>
              </a:rPr>
              <a:t>Mixed panel</a:t>
            </a:r>
          </a:p>
        </p:txBody>
      </p:sp>
      <p:sp>
        <p:nvSpPr>
          <p:cNvPr id="12" name="Rectangle 11"/>
          <p:cNvSpPr/>
          <p:nvPr/>
        </p:nvSpPr>
        <p:spPr>
          <a:xfrm>
            <a:off x="393192" y="2660904"/>
            <a:ext cx="11375136" cy="66751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93192" y="2660904"/>
            <a:ext cx="73152" cy="6675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16352"/>
            <a:ext cx="1938528" cy="310896"/>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Kidney + spleen</a:t>
            </a:r>
          </a:p>
        </p:txBody>
      </p:sp>
      <p:sp>
        <p:nvSpPr>
          <p:cNvPr id="15" name="TextBox 14"/>
          <p:cNvSpPr txBox="1"/>
          <p:nvPr/>
        </p:nvSpPr>
        <p:spPr>
          <a:xfrm>
            <a:off x="2551176" y="2788920"/>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2 renal genes and 4 splenic adhesion/ECM candidates</a:t>
            </a:r>
          </a:p>
        </p:txBody>
      </p:sp>
      <p:sp>
        <p:nvSpPr>
          <p:cNvPr id="16" name="TextBox 15"/>
          <p:cNvSpPr txBox="1"/>
          <p:nvPr/>
        </p:nvSpPr>
        <p:spPr>
          <a:xfrm>
            <a:off x="9756648" y="2807208"/>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063A6"/>
                </a:solidFill>
                <a:latin typeface="Arial"/>
              </a:rPr>
              <a:t>Gene-level</a:t>
            </a:r>
          </a:p>
        </p:txBody>
      </p:sp>
      <p:sp>
        <p:nvSpPr>
          <p:cNvPr id="17" name="Rectangle 16"/>
          <p:cNvSpPr/>
          <p:nvPr/>
        </p:nvSpPr>
        <p:spPr>
          <a:xfrm>
            <a:off x="393192" y="3474720"/>
            <a:ext cx="11375136" cy="66751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3192" y="3474720"/>
            <a:ext cx="73152" cy="6675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630168"/>
            <a:ext cx="1938528" cy="310896"/>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Skin + eye</a:t>
            </a:r>
          </a:p>
        </p:txBody>
      </p:sp>
      <p:sp>
        <p:nvSpPr>
          <p:cNvPr id="20" name="TextBox 19"/>
          <p:cNvSpPr txBox="1"/>
          <p:nvPr/>
        </p:nvSpPr>
        <p:spPr>
          <a:xfrm>
            <a:off x="2551176" y="3602736"/>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Plscr1 higher in skin; Klhl21 lower in eye</a:t>
            </a:r>
          </a:p>
        </p:txBody>
      </p:sp>
      <p:sp>
        <p:nvSpPr>
          <p:cNvPr id="21" name="TextBox 20"/>
          <p:cNvSpPr txBox="1"/>
          <p:nvPr/>
        </p:nvSpPr>
        <p:spPr>
          <a:xfrm>
            <a:off x="9756648" y="3621024"/>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D37B00"/>
                </a:solidFill>
                <a:latin typeface="Arial"/>
              </a:rPr>
              <a:t>Gene-level</a:t>
            </a:r>
          </a:p>
        </p:txBody>
      </p:sp>
      <p:sp>
        <p:nvSpPr>
          <p:cNvPr id="22" name="Rectangle 21"/>
          <p:cNvSpPr/>
          <p:nvPr/>
        </p:nvSpPr>
        <p:spPr>
          <a:xfrm>
            <a:off x="393192" y="4288536"/>
            <a:ext cx="11375136" cy="66751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 y="4288536"/>
            <a:ext cx="73152" cy="6675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43983"/>
            <a:ext cx="1938528" cy="310896"/>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Other muscle groups</a:t>
            </a:r>
          </a:p>
        </p:txBody>
      </p:sp>
      <p:sp>
        <p:nvSpPr>
          <p:cNvPr id="25" name="TextBox 24"/>
          <p:cNvSpPr txBox="1"/>
          <p:nvPr/>
        </p:nvSpPr>
        <p:spPr>
          <a:xfrm>
            <a:off x="2551176" y="4416551"/>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Gastrocnemius 2 genes; tibialis anterior 4 genes</a:t>
            </a:r>
          </a:p>
        </p:txBody>
      </p:sp>
      <p:sp>
        <p:nvSpPr>
          <p:cNvPr id="26" name="TextBox 25"/>
          <p:cNvSpPr txBox="1"/>
          <p:nvPr/>
        </p:nvSpPr>
        <p:spPr>
          <a:xfrm>
            <a:off x="9756648" y="4434840"/>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178681"/>
                </a:solidFill>
                <a:latin typeface="Arial"/>
              </a:rPr>
              <a:t>Gene-level</a:t>
            </a:r>
          </a:p>
        </p:txBody>
      </p:sp>
      <p:sp>
        <p:nvSpPr>
          <p:cNvPr id="27" name="Rectangle 26"/>
          <p:cNvSpPr/>
          <p:nvPr/>
        </p:nvSpPr>
        <p:spPr>
          <a:xfrm>
            <a:off x="393192" y="5102352"/>
            <a:ext cx="11375136" cy="66751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3192" y="5102352"/>
            <a:ext cx="73152" cy="66751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257800"/>
            <a:ext cx="1938528" cy="310896"/>
          </a:xfrm>
          <a:prstGeom prst="rect">
            <a:avLst/>
          </a:prstGeom>
          <a:noFill/>
        </p:spPr>
        <p:txBody>
          <a:bodyPr wrap="square" lIns="18288" rIns="18288" tIns="18288" bIns="18288" anchor="t">
            <a:spAutoFit/>
          </a:bodyPr>
          <a:lstStyle/>
          <a:p>
            <a:pPr algn="l">
              <a:spcAft>
                <a:spcPts val="0"/>
              </a:spcAft>
            </a:pPr>
            <a:r>
              <a:rPr sz="1600" b="1" i="0">
                <a:solidFill>
                  <a:srgbClr val="8A969E"/>
                </a:solidFill>
                <a:latin typeface="Arial"/>
              </a:rPr>
              <a:t>Adrenal gland</a:t>
            </a:r>
          </a:p>
        </p:txBody>
      </p:sp>
      <p:sp>
        <p:nvSpPr>
          <p:cNvPr id="30" name="TextBox 29"/>
          <p:cNvSpPr txBox="1"/>
          <p:nvPr/>
        </p:nvSpPr>
        <p:spPr>
          <a:xfrm>
            <a:off x="2551176" y="5230368"/>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Psmb8 and Tspan4 were lower in flight and literature unmatched</a:t>
            </a:r>
          </a:p>
        </p:txBody>
      </p:sp>
      <p:sp>
        <p:nvSpPr>
          <p:cNvPr id="31" name="TextBox 30"/>
          <p:cNvSpPr txBox="1"/>
          <p:nvPr/>
        </p:nvSpPr>
        <p:spPr>
          <a:xfrm>
            <a:off x="9756648" y="5248656"/>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A969E"/>
                </a:solidFill>
                <a:latin typeface="Arial"/>
              </a:rPr>
              <a:t>Unmatched</a:t>
            </a:r>
          </a:p>
        </p:txBody>
      </p:sp>
      <p:sp>
        <p:nvSpPr>
          <p:cNvPr id="32" name="TextBox 31"/>
          <p:cNvSpPr txBox="1"/>
          <p:nvPr/>
        </p:nvSpPr>
        <p:spPr>
          <a:xfrm>
            <a:off x="685800" y="6035040"/>
            <a:ext cx="10789920" cy="301752"/>
          </a:xfrm>
          <a:prstGeom prst="rect">
            <a:avLst/>
          </a:prstGeom>
          <a:noFill/>
        </p:spPr>
        <p:txBody>
          <a:bodyPr wrap="square" lIns="18288" rIns="18288" tIns="18288" bIns="18288" anchor="t">
            <a:spAutoFit/>
          </a:bodyPr>
          <a:lstStyle/>
          <a:p>
            <a:pPr algn="ctr">
              <a:spcAft>
                <a:spcPts val="0"/>
              </a:spcAft>
            </a:pPr>
            <a:r>
              <a:rPr sz="1400" b="0" i="1">
                <a:solidFill>
                  <a:srgbClr val="59697A"/>
                </a:solidFill>
                <a:latin typeface="Arial"/>
              </a:rPr>
              <a:t>These findings remain available for follow-up without displacing the stronger thymus and soleus programs.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and prioritized candidates from additional tissues.</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