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59" r:id="rId4"/>
  </p:sldMasterIdLst>
  <p:notesMasterIdLst>
    <p:notesMasterId r:id="rId7"/>
  </p:notesMasterIdLst>
  <p:handoutMasterIdLst>
    <p:handoutMasterId r:id="rId8"/>
  </p:handoutMasterIdLst>
  <p:sldIdLst>
    <p:sldId id="287" r:id="rId5"/>
    <p:sldId id="289" r:id="rId6"/>
    <p:sldId id="290" r:id="rId14"/>
    <p:sldId id="291" r:id="rId15"/>
    <p:sldId id="292" r:id="rId16"/>
    <p:sldId id="293" r:id="rId17"/>
    <p:sldId id="294" r:id="rId18"/>
    <p:sldId id="295" r:id="rId19"/>
    <p:sldId id="296" r:id="rId20"/>
    <p:sldId id="297" r:id="rId21"/>
    <p:sldId id="298" r:id="rId22"/>
    <p:sldId id="299" r:id="rId23"/>
    <p:sldId id="300" r:id="rId24"/>
    <p:sldId id="301" r:id="rId25"/>
    <p:sldId id="302"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4EBFE0"/>
    <a:srgbClr val="03110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E7E6095-EDCC-4DCB-AAC0-188518B1781D}" v="1" dt="2026-06-23T20:42:39.6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892"/>
    <p:restoredTop sz="96327"/>
  </p:normalViewPr>
  <p:slideViewPr>
    <p:cSldViewPr snapToGrid="0">
      <p:cViewPr varScale="1">
        <p:scale>
          <a:sx n="81" d="100"/>
          <a:sy n="81" d="100"/>
        </p:scale>
        <p:origin x="946" y="72"/>
      </p:cViewPr>
      <p:guideLst/>
    </p:cSldViewPr>
  </p:slideViewPr>
  <p:notesTextViewPr>
    <p:cViewPr>
      <p:scale>
        <a:sx n="1" d="1"/>
        <a:sy n="1" d="1"/>
      </p:scale>
      <p:origin x="0" y="0"/>
    </p:cViewPr>
  </p:notesTextViewPr>
  <p:notesViewPr>
    <p:cSldViewPr snapToGrid="0">
      <p:cViewPr varScale="1">
        <p:scale>
          <a:sx n="97" d="100"/>
          <a:sy n="97" d="100"/>
        </p:scale>
        <p:origin x="3120" y="20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notesMaster" Target="notesMasters/notesMaster1.xml"/><Relationship Id="rId8" Type="http://schemas.openxmlformats.org/officeDocument/2006/relationships/handoutMaster" Target="handoutMasters/handout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microsoft.com/office/2015/10/relationships/revisionInfo" Target="revisionInfo.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3" Type="http://schemas.openxmlformats.org/officeDocument/2006/relationships/slide" Target="slides/slide12.xml"/><Relationship Id="rId24" Type="http://schemas.openxmlformats.org/officeDocument/2006/relationships/slide" Target="slides/slide13.xml"/><Relationship Id="rId25" Type="http://schemas.openxmlformats.org/officeDocument/2006/relationships/slide" Target="slides/slide14.xml"/><Relationship Id="rId26" Type="http://schemas.openxmlformats.org/officeDocument/2006/relationships/slide" Target="slides/slide1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B92CBF8-18C8-31DD-F46C-61CCFF09E5D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A39C4E16-CF32-DCE9-CFBA-3D18F258B50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00638C3-A19C-B94C-9B49-D7DD60AEF655}" type="datetimeFigureOut">
              <a:rPr lang="en-US" smtClean="0"/>
              <a:t>6/29/2026</a:t>
            </a:fld>
            <a:endParaRPr lang="en-US"/>
          </a:p>
        </p:txBody>
      </p:sp>
      <p:sp>
        <p:nvSpPr>
          <p:cNvPr id="4" name="Footer Placeholder 3">
            <a:extLst>
              <a:ext uri="{FF2B5EF4-FFF2-40B4-BE49-F238E27FC236}">
                <a16:creationId xmlns:a16="http://schemas.microsoft.com/office/drawing/2014/main" id="{B9986E82-0F97-5470-C173-872D3CB07D9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5DAEED87-86EF-9F01-82BC-41E73378964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1865568-2AD1-0C41-AA57-6C66A988080E}" type="slidenum">
              <a:rPr lang="en-US" smtClean="0"/>
              <a:t>‹#›</a:t>
            </a:fld>
            <a:endParaRPr lang="en-US"/>
          </a:p>
        </p:txBody>
      </p:sp>
    </p:spTree>
    <p:extLst>
      <p:ext uri="{BB962C8B-B14F-4D97-AF65-F5344CB8AC3E}">
        <p14:creationId xmlns:p14="http://schemas.microsoft.com/office/powerpoint/2010/main" val="5365602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7D0CC5D-FA5D-CB42-BCB4-643101262201}" type="datetimeFigureOut">
              <a:rPr lang="en-US" smtClean="0"/>
              <a:t>6/29/2026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91039A1-DE79-214A-A305-FD85593430B7}" type="slidenum">
              <a:rPr lang="en-US" smtClean="0"/>
              <a:t>‹#›</a:t>
            </a:fld>
            <a:endParaRPr lang="en-US"/>
          </a:p>
        </p:txBody>
      </p:sp>
    </p:spTree>
    <p:extLst>
      <p:ext uri="{BB962C8B-B14F-4D97-AF65-F5344CB8AC3E}">
        <p14:creationId xmlns:p14="http://schemas.microsoft.com/office/powerpoint/2010/main" val="4016504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0:25</a:t>
            </a:r>
          </a:p>
          <a:p/>
          <a:p>
            <a:r>
              <a:t>Introduce the question. This talk asks whether generated expression can help analyze tissue-specific FLT versus GC biology without counting synthetic profiles as additional animals.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OSDR gives broad tissue coverage, but the data are spread across 75 accessions with different mission and assay contexts. ARCHS4 supplies a much larger mouse reference. The challenge is to use that reference without letting study structure masquerade as spaceflight biology.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1:15</a:t>
            </a:r>
          </a:p>
          <a:p/>
          <a:p>
            <a:r>
              <a:t>We built one pipeline that can change data source, transformation, feature set, harmonization, model, training scope and conditions without changing the evaluation contract. It supports OSDR-only, ARCHS4-only and ARCHS4-pretrained plus OSDR-adapted runs, with pooled or per-tissue cohorts. We completed WGAN-GP and DDIM generator branches. The selected path used TPM, 974 mouse landmarks, no global correction and a DDIM conditioned on tissue, FLT/GC, accession and material.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Both WGAN-GP and DDIM had high correlation and F1. DDIM had adversarial accuracy near 0.5 and a lower Frechet-distance ratio, so it was harder to separate from real profiles and closer in distribution. The metrics use each model's stated evaluation split, so this is a model-choice summary rather than a paired significance test. These results are why the remaining analyses use DDIM.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Having selected DDIM, read the panels from left to right. The same generated profiles begin as noise, develop structure by timestep 200 and approach tissue-conditioned regions at timestep zero. The axes are shared, so the visual change is not caused by rescaling each panel.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This is PCA, not UMAP. Circles are locked real OSDR profiles and crosses are matched DDIM profiles in the same PCA space. On the left, generated samples track the tissue-defined branches. On the right, FLT and GC remain interspersed because condition effects are smaller than tissue effects. Visual overlap is descriptive and complements the quantitative validation shown earlier.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Synthetic data can be used for direct training, mixed training or feature guidance. Each tissue could choose among five arms. The eligibility check used held-out real profiles. Once features were nominated, FLT/GC effects and BH FDR were computed from observed OSDR samples only.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1:00</a:t>
            </a:r>
          </a:p>
          <a:p/>
          <a:p>
            <a:r>
              <a:t>The simplest pooled augmentation test was negative: balanced accuracy fell from 0.754 to 0.737 with real plus synthetic training. Tissue-specific analysis changed the result. Different tissues benefited from different synthetic uses, which argues against one global augmentation policy.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Reinforced genes were selected with and without synthetic guidance. Promoted genes crossed the stable-selection rule only with synthetic guidance. Promoted does not mean biologically novel. All 49 synthetic-informed tissue-gene associations also had a supporting effect and BH FDR below 0.05 in real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1:05</a:t>
            </a:r>
          </a:p>
          <a:p/>
          <a:p>
            <a:r>
              <a:t>This slide separates four questions. Promoted tells us that synthetic guidance changed stable feature ranking. BH FDR tells us the association is present in real OSDR profiles. The literature label describes whether prior work is exact, related, mixed or unmatched. The biological interpretation remains a hypothesis. Eleven associations aligned, 13 were complementary, one was ambiguous and one was literature unmatched. Only Ccnb2, Ccne2 and Nfkbia were exact gene-tissue-direction matches. Psmb8 was unmatched in adrenal spaceflight literature but remains mechanistically plausible.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1:15</a:t>
            </a:r>
          </a:p>
          <a:p/>
          <a:p>
            <a:r>
              <a:t>Thymus produced the clearest promoted panel. The lower mitotic and DNA-replication genes agree with prior reports of thymic involution and altered cell-cycle expression after flight. Higher Hsd17b11 and Etv1 add lipid-handling and T-cell-state hypotheses, but neither is a direct prior flight replication or an established driver. Because this is bulk RNA-seq, the pattern may reflect transcription, cell composition or both.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1:05</a:t>
            </a:r>
          </a:p>
          <a:p/>
          <a:p>
            <a:r>
              <a:t>Soleus improved with real plus generated training. The selected genes were already stable in real-only analysis, so synthetic data reinforced rather than introduced the panel. Lower Bdh1, Ech1, Bnip3 and Decr1, with higher Tpm1, support altered oxidative metabolism and contractile remodeling.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0:55</a:t>
            </a:r>
          </a:p>
          <a:p/>
          <a:p>
            <a:r>
              <a:t>Kidney supplied the strongest secondary pair: promoted Inpp4b and reinforced Slc37a4. Spleen and skin results are narrower. Adrenal Psmb8 has plausible immunoproteasome biology but no prior adrenal flight match. Lung and retina improved predictively without a synthetic-informed BH-FDR gene, while liver, EDL and quadriceps retained real-only models.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0:45</a:t>
            </a:r>
          </a:p>
          <a:p/>
          <a:p>
            <a:r>
              <a:t>The useful role was tissue-specific feature ranking or limited regularization, not increasing biological sample size. Literature annotation then separated exact recovery, process-level agreement and complementary hypotheses. Independent samples and cell-resolved experiments are the next tests.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Target time: 0:10</a:t>
            </a:r>
          </a:p>
          <a:p/>
          <a:p>
            <a:r>
              <a:t>Acknowledge the mentor, SLSTP, NASA OSDR, ARCHS4, Reactome and NASA Ames compute.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9.png"/><Relationship Id="rId12" Type="http://schemas.openxmlformats.org/officeDocument/2006/relationships/image" Target="../media/image20.png"/><Relationship Id="rId13" Type="http://schemas.openxmlformats.org/officeDocument/2006/relationships/image" Target="../media/image21.png"/><Relationship Id="rId14" Type="http://schemas.openxmlformats.org/officeDocument/2006/relationships/image" Target="../media/image22.png"/><Relationship Id="rId15" Type="http://schemas.openxmlformats.org/officeDocument/2006/relationships/image" Target="../media/image23.png"/><Relationship Id="rId16" Type="http://schemas.openxmlformats.org/officeDocument/2006/relationships/image" Target="../media/image24.png"/><Relationship Id="rId17" Type="http://schemas.openxmlformats.org/officeDocument/2006/relationships/image" Target="../media/image25.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image" Target="../media/image38.png"/><Relationship Id="rId15" Type="http://schemas.openxmlformats.org/officeDocument/2006/relationships/image" Target="../media/image39.png"/><Relationship Id="rId16" Type="http://schemas.openxmlformats.org/officeDocument/2006/relationships/image" Target="../media/image40.png"/><Relationship Id="rId17" Type="http://schemas.openxmlformats.org/officeDocument/2006/relationships/image" Target="../media/image4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50.png"/><Relationship Id="rId11" Type="http://schemas.openxmlformats.org/officeDocument/2006/relationships/image" Target="../media/image51.png"/><Relationship Id="rId12" Type="http://schemas.openxmlformats.org/officeDocument/2006/relationships/image" Target="../media/image52.png"/><Relationship Id="rId13" Type="http://schemas.openxmlformats.org/officeDocument/2006/relationships/image" Target="../media/image53.png"/><Relationship Id="rId14" Type="http://schemas.openxmlformats.org/officeDocument/2006/relationships/image" Target="../media/image54.png"/><Relationship Id="rId15" Type="http://schemas.openxmlformats.org/officeDocument/2006/relationships/image" Target="../media/image55.png"/><Relationship Id="rId16" Type="http://schemas.openxmlformats.org/officeDocument/2006/relationships/image" Target="../media/image56.png"/><Relationship Id="rId17" Type="http://schemas.openxmlformats.org/officeDocument/2006/relationships/image" Target="../media/image5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 Id="rId11" Type="http://schemas.openxmlformats.org/officeDocument/2006/relationships/image" Target="../media/image67.png"/><Relationship Id="rId12" Type="http://schemas.openxmlformats.org/officeDocument/2006/relationships/image" Target="../media/image68.png"/><Relationship Id="rId13" Type="http://schemas.openxmlformats.org/officeDocument/2006/relationships/image" Target="../media/image69.png"/><Relationship Id="rId14" Type="http://schemas.openxmlformats.org/officeDocument/2006/relationships/image" Target="../media/image70.png"/><Relationship Id="rId15" Type="http://schemas.openxmlformats.org/officeDocument/2006/relationships/image" Target="../media/image71.png"/><Relationship Id="rId16" Type="http://schemas.openxmlformats.org/officeDocument/2006/relationships/image" Target="../media/image72.png"/><Relationship Id="rId17" Type="http://schemas.openxmlformats.org/officeDocument/2006/relationships/image" Target="../media/image7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3_Title Slide">
    <p:bg>
      <p:bgPr>
        <a:solidFill>
          <a:srgbClr val="000000"/>
        </a:solid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C1403792-C452-45B8-A50E-5D7E7B3AF110}"/>
              </a:ext>
            </a:extLst>
          </p:cNvPr>
          <p:cNvPicPr>
            <a:picLocks noChangeAspect="1"/>
          </p:cNvPicPr>
          <p:nvPr userDrawn="1"/>
        </p:nvPicPr>
        <p:blipFill rotWithShape="1">
          <a:blip r:embed="rId2" cstate="print">
            <a:extLst>
              <a:ext uri="{28A0092B-C50C-407E-A947-70E740481C1C}">
                <a14:useLocalDpi xmlns:a14="http://schemas.microsoft.com/office/drawing/2010/main"/>
              </a:ext>
            </a:extLst>
          </a:blip>
          <a:srcRect l="-4277"/>
          <a:stretch/>
        </p:blipFill>
        <p:spPr>
          <a:xfrm>
            <a:off x="0" y="0"/>
            <a:ext cx="12192000" cy="6858000"/>
          </a:xfrm>
          <a:prstGeom prst="rect">
            <a:avLst/>
          </a:prstGeom>
        </p:spPr>
      </p:pic>
      <p:sp>
        <p:nvSpPr>
          <p:cNvPr id="3" name="Subtitle 2">
            <a:extLst>
              <a:ext uri="{FF2B5EF4-FFF2-40B4-BE49-F238E27FC236}">
                <a16:creationId xmlns:a16="http://schemas.microsoft.com/office/drawing/2014/main" id="{AE77D0F7-4A6B-4045-B534-3DB6A60EA85B}"/>
              </a:ext>
            </a:extLst>
          </p:cNvPr>
          <p:cNvSpPr>
            <a:spLocks noGrp="1"/>
          </p:cNvSpPr>
          <p:nvPr userDrawn="1">
            <p:ph type="subTitle" idx="1"/>
          </p:nvPr>
        </p:nvSpPr>
        <p:spPr>
          <a:xfrm>
            <a:off x="500101" y="3895025"/>
            <a:ext cx="4774425" cy="365125"/>
          </a:xfrm>
        </p:spPr>
        <p:txBody>
          <a:bodyPr wrap="square">
            <a:spAutoFit/>
          </a:bodyPr>
          <a:lstStyle>
            <a:lvl1pPr marL="0" indent="0" algn="l">
              <a:buNone/>
              <a:defRPr sz="1800" b="1">
                <a:solidFill>
                  <a:schemeClr val="bg1"/>
                </a:solidFill>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8" name="Text Placeholder 27">
            <a:extLst>
              <a:ext uri="{FF2B5EF4-FFF2-40B4-BE49-F238E27FC236}">
                <a16:creationId xmlns:a16="http://schemas.microsoft.com/office/drawing/2014/main" id="{9EB2794A-5528-E000-6303-F23EDF3D2A62}"/>
              </a:ext>
            </a:extLst>
          </p:cNvPr>
          <p:cNvSpPr>
            <a:spLocks noGrp="1"/>
          </p:cNvSpPr>
          <p:nvPr>
            <p:ph type="body" sz="quarter" idx="14" hasCustomPrompt="1"/>
          </p:nvPr>
        </p:nvSpPr>
        <p:spPr>
          <a:xfrm>
            <a:off x="500102" y="1297175"/>
            <a:ext cx="4774425" cy="2374669"/>
          </a:xfrm>
        </p:spPr>
        <p:txBody>
          <a:bodyPr anchor="b"/>
          <a:lstStyle>
            <a:lvl1pPr marL="0" indent="0" algn="l">
              <a:buNone/>
              <a:defRPr sz="3600" b="1">
                <a:solidFill>
                  <a:schemeClr val="bg1"/>
                </a:solidFill>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en-US" dirty="0"/>
              <a:t>Title goes here</a:t>
            </a:r>
          </a:p>
        </p:txBody>
      </p:sp>
      <p:pic>
        <p:nvPicPr>
          <p:cNvPr id="4" name="Picture 3">
            <a:extLst>
              <a:ext uri="{FF2B5EF4-FFF2-40B4-BE49-F238E27FC236}">
                <a16:creationId xmlns:a16="http://schemas.microsoft.com/office/drawing/2014/main" id="{616713B4-5E0C-24BD-8049-E50B082A507C}"/>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10951262" y="398340"/>
            <a:ext cx="888827" cy="740690"/>
          </a:xfrm>
          <a:prstGeom prst="rect">
            <a:avLst/>
          </a:prstGeom>
        </p:spPr>
      </p:pic>
      <p:sp>
        <p:nvSpPr>
          <p:cNvPr id="5" name="TextBox 4">
            <a:extLst>
              <a:ext uri="{FF2B5EF4-FFF2-40B4-BE49-F238E27FC236}">
                <a16:creationId xmlns:a16="http://schemas.microsoft.com/office/drawing/2014/main" id="{B8688442-0230-1582-A41F-57E75101CEF7}"/>
              </a:ext>
            </a:extLst>
          </p:cNvPr>
          <p:cNvSpPr txBox="1"/>
          <p:nvPr userDrawn="1"/>
        </p:nvSpPr>
        <p:spPr>
          <a:xfrm>
            <a:off x="8654144" y="537854"/>
            <a:ext cx="1922620" cy="461665"/>
          </a:xfrm>
          <a:prstGeom prst="rect">
            <a:avLst/>
          </a:prstGeom>
          <a:noFill/>
        </p:spPr>
        <p:txBody>
          <a:bodyPr wrap="square" rtlCol="0">
            <a:spAutoFit/>
          </a:bodyPr>
          <a:lstStyle/>
          <a:p>
            <a:pPr algn="r"/>
            <a:r>
              <a:rPr lang="en-US" sz="1200" b="0" dirty="0">
                <a:solidFill>
                  <a:schemeClr val="bg1"/>
                </a:solidFill>
                <a:effectLst>
                  <a:outerShdw blurRad="159992" dist="49945" dir="2700000" algn="tl" rotWithShape="0">
                    <a:srgbClr val="000000"/>
                  </a:outerShdw>
                </a:effectLst>
                <a:latin typeface="Arial" panose="020B0604020202020204" pitchFamily="34" charset="0"/>
                <a:cs typeface="Arial" panose="020B0604020202020204" pitchFamily="34" charset="0"/>
              </a:rPr>
              <a:t>National Aeronautics and Space Administration</a:t>
            </a:r>
          </a:p>
        </p:txBody>
      </p:sp>
      <p:cxnSp>
        <p:nvCxnSpPr>
          <p:cNvPr id="6" name="Straight Connector 5">
            <a:extLst>
              <a:ext uri="{FF2B5EF4-FFF2-40B4-BE49-F238E27FC236}">
                <a16:creationId xmlns:a16="http://schemas.microsoft.com/office/drawing/2014/main" id="{B3B95B80-9B88-7F4C-049E-8C0069365EA9}"/>
              </a:ext>
            </a:extLst>
          </p:cNvPr>
          <p:cNvCxnSpPr/>
          <p:nvPr userDrawn="1"/>
        </p:nvCxnSpPr>
        <p:spPr>
          <a:xfrm>
            <a:off x="10764013" y="537853"/>
            <a:ext cx="0" cy="461665"/>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Picture 13" descr="A black background with grey letters&#10;&#10;Description automatically generated">
            <a:extLst>
              <a:ext uri="{FF2B5EF4-FFF2-40B4-BE49-F238E27FC236}">
                <a16:creationId xmlns:a16="http://schemas.microsoft.com/office/drawing/2014/main" id="{9BA426D5-CE2B-D46C-E493-D02FFAA865B9}"/>
              </a:ext>
            </a:extLst>
          </p:cNvPr>
          <p:cNvPicPr>
            <a:picLocks noChangeAspect="1"/>
          </p:cNvPicPr>
          <p:nvPr userDrawn="1"/>
        </p:nvPicPr>
        <p:blipFill rotWithShape="1">
          <a:blip r:embed="rId4" cstate="screen">
            <a:alphaModFix amt="23000"/>
            <a:extLst>
              <a:ext uri="{28A0092B-C50C-407E-A947-70E740481C1C}">
                <a14:useLocalDpi xmlns:a14="http://schemas.microsoft.com/office/drawing/2010/main"/>
              </a:ext>
            </a:extLst>
          </a:blip>
          <a:srcRect/>
          <a:stretch/>
        </p:blipFill>
        <p:spPr>
          <a:xfrm>
            <a:off x="0" y="5168811"/>
            <a:ext cx="3884861" cy="1719470"/>
          </a:xfrm>
          <a:prstGeom prst="rect">
            <a:avLst/>
          </a:prstGeom>
        </p:spPr>
      </p:pic>
      <p:sp>
        <p:nvSpPr>
          <p:cNvPr id="7" name="TextBox 6">
            <a:extLst>
              <a:ext uri="{FF2B5EF4-FFF2-40B4-BE49-F238E27FC236}">
                <a16:creationId xmlns:a16="http://schemas.microsoft.com/office/drawing/2014/main" id="{B02A5107-22C8-EFF2-D258-3F67CDB1A001}"/>
              </a:ext>
            </a:extLst>
          </p:cNvPr>
          <p:cNvSpPr txBox="1"/>
          <p:nvPr userDrawn="1"/>
        </p:nvSpPr>
        <p:spPr>
          <a:xfrm>
            <a:off x="500101" y="6296266"/>
            <a:ext cx="3657600" cy="338554"/>
          </a:xfrm>
          <a:prstGeom prst="rect">
            <a:avLst/>
          </a:prstGeom>
          <a:noFill/>
        </p:spPr>
        <p:txBody>
          <a:bodyPr wrap="square" rtlCol="0">
            <a:spAutoFit/>
          </a:bodyPr>
          <a:lstStyle/>
          <a:p>
            <a:pPr algn="l"/>
            <a:r>
              <a:rPr lang="en-US" sz="1600" b="1" dirty="0">
                <a:solidFill>
                  <a:schemeClr val="bg2">
                    <a:lumMod val="75000"/>
                  </a:schemeClr>
                </a:solidFill>
                <a:latin typeface="Arial" panose="020B0604020202020204" pitchFamily="34" charset="0"/>
                <a:cs typeface="Arial" panose="020B0604020202020204" pitchFamily="34" charset="0"/>
              </a:rPr>
              <a:t>B</a:t>
            </a:r>
            <a:r>
              <a:rPr lang="en-US" sz="1600" b="0" dirty="0">
                <a:solidFill>
                  <a:schemeClr val="bg2">
                    <a:lumMod val="75000"/>
                  </a:schemeClr>
                </a:solidFill>
                <a:latin typeface="Arial" panose="020B0604020202020204" pitchFamily="34" charset="0"/>
                <a:cs typeface="Arial" panose="020B0604020202020204" pitchFamily="34" charset="0"/>
              </a:rPr>
              <a:t>iological &amp; </a:t>
            </a:r>
            <a:r>
              <a:rPr lang="en-US" sz="1600" b="1" dirty="0">
                <a:solidFill>
                  <a:schemeClr val="bg2">
                    <a:lumMod val="75000"/>
                  </a:schemeClr>
                </a:solidFill>
                <a:latin typeface="Arial" panose="020B0604020202020204" pitchFamily="34" charset="0"/>
                <a:cs typeface="Arial" panose="020B0604020202020204" pitchFamily="34" charset="0"/>
              </a:rPr>
              <a:t>P</a:t>
            </a:r>
            <a:r>
              <a:rPr lang="en-US" sz="1600" b="0" dirty="0">
                <a:solidFill>
                  <a:schemeClr val="bg2">
                    <a:lumMod val="75000"/>
                  </a:schemeClr>
                </a:solidFill>
                <a:latin typeface="Arial" panose="020B0604020202020204" pitchFamily="34" charset="0"/>
                <a:cs typeface="Arial" panose="020B0604020202020204" pitchFamily="34" charset="0"/>
              </a:rPr>
              <a:t>hysical </a:t>
            </a:r>
            <a:r>
              <a:rPr lang="en-US" sz="1600" b="1" dirty="0">
                <a:solidFill>
                  <a:schemeClr val="bg2">
                    <a:lumMod val="75000"/>
                  </a:schemeClr>
                </a:solidFill>
                <a:latin typeface="Arial" panose="020B0604020202020204" pitchFamily="34" charset="0"/>
                <a:cs typeface="Arial" panose="020B0604020202020204" pitchFamily="34" charset="0"/>
              </a:rPr>
              <a:t>S</a:t>
            </a:r>
            <a:r>
              <a:rPr lang="en-US" sz="1600" b="0" dirty="0">
                <a:solidFill>
                  <a:schemeClr val="bg2">
                    <a:lumMod val="75000"/>
                  </a:schemeClr>
                </a:solidFill>
                <a:latin typeface="Arial" panose="020B0604020202020204" pitchFamily="34" charset="0"/>
                <a:cs typeface="Arial" panose="020B0604020202020204" pitchFamily="34" charset="0"/>
              </a:rPr>
              <a:t>ciences</a:t>
            </a:r>
          </a:p>
        </p:txBody>
      </p:sp>
    </p:spTree>
    <p:extLst>
      <p:ext uri="{BB962C8B-B14F-4D97-AF65-F5344CB8AC3E}">
        <p14:creationId xmlns:p14="http://schemas.microsoft.com/office/powerpoint/2010/main" val="3390964837"/>
      </p:ext>
    </p:extLst>
  </p:cSld>
  <p:clrMapOvr>
    <a:masterClrMapping/>
  </p:clrMapOvr>
  <p:extLst>
    <p:ext uri="{DCECCB84-F9BA-43D5-87BE-67443E8EF086}">
      <p15:sldGuideLst xmlns:p15="http://schemas.microsoft.com/office/powerpoint/2012/main">
        <p15:guide id="1" orient="horz" pos="2160">
          <p15:clr>
            <a:srgbClr val="FBAE40"/>
          </p15:clr>
        </p15:guide>
        <p15:guide id="2" pos="456">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9E8CFB-2DE8-BA24-FFBC-66F77875D5EE}"/>
              </a:ext>
            </a:extLst>
          </p:cNvPr>
          <p:cNvSpPr>
            <a:spLocks noGrp="1"/>
          </p:cNvSpPr>
          <p:nvPr>
            <p:ph type="title" hasCustomPrompt="1"/>
          </p:nvPr>
        </p:nvSpPr>
        <p:spPr>
          <a:xfrm>
            <a:off x="914400" y="755930"/>
            <a:ext cx="10325100" cy="1325563"/>
          </a:xfrm>
        </p:spPr>
        <p:txBody>
          <a:bodyPr/>
          <a:lstStyle/>
          <a:p>
            <a:r>
              <a:rPr lang="en-US" dirty="0"/>
              <a:t>Agenda Title</a:t>
            </a:r>
          </a:p>
        </p:txBody>
      </p:sp>
      <p:sp>
        <p:nvSpPr>
          <p:cNvPr id="4" name="Footer Placeholder 3">
            <a:extLst>
              <a:ext uri="{FF2B5EF4-FFF2-40B4-BE49-F238E27FC236}">
                <a16:creationId xmlns:a16="http://schemas.microsoft.com/office/drawing/2014/main" id="{7E3B3E43-6742-FF22-D2F2-033E1364C113}"/>
              </a:ext>
            </a:extLst>
          </p:cNvPr>
          <p:cNvSpPr>
            <a:spLocks noGrp="1"/>
          </p:cNvSpPr>
          <p:nvPr>
            <p:ph type="ftr" sz="quarter" idx="11"/>
          </p:nvPr>
        </p:nvSpPr>
        <p:spPr/>
        <p:txBody>
          <a:bodyPr/>
          <a:lstStyle/>
          <a:p>
            <a:r>
              <a:rPr lang="en-US" dirty="0"/>
              <a:t>Biological &amp; Physical Sciences </a:t>
            </a:r>
          </a:p>
        </p:txBody>
      </p:sp>
      <p:sp>
        <p:nvSpPr>
          <p:cNvPr id="5" name="Slide Number Placeholder 4">
            <a:extLst>
              <a:ext uri="{FF2B5EF4-FFF2-40B4-BE49-F238E27FC236}">
                <a16:creationId xmlns:a16="http://schemas.microsoft.com/office/drawing/2014/main" id="{8E26FCE7-3724-2CFD-0646-F383DB2F0F58}"/>
              </a:ext>
            </a:extLst>
          </p:cNvPr>
          <p:cNvSpPr>
            <a:spLocks noGrp="1"/>
          </p:cNvSpPr>
          <p:nvPr>
            <p:ph type="sldNum" sz="quarter" idx="12"/>
          </p:nvPr>
        </p:nvSpPr>
        <p:spPr>
          <a:xfrm>
            <a:off x="11662148" y="100584"/>
            <a:ext cx="1059704" cy="261258"/>
          </a:xfrm>
        </p:spPr>
        <p:txBody>
          <a:bodyPr/>
          <a:lstStyle/>
          <a:p>
            <a:fld id="{E8618032-BA8D-3D4D-8253-A70208A85976}" type="slidenum">
              <a:rPr lang="en-US" smtClean="0"/>
              <a:pPr/>
              <a:t>‹#›</a:t>
            </a:fld>
            <a:endParaRPr lang="en-US" dirty="0"/>
          </a:p>
        </p:txBody>
      </p:sp>
      <p:sp>
        <p:nvSpPr>
          <p:cNvPr id="22" name="Text Placeholder 21">
            <a:extLst>
              <a:ext uri="{FF2B5EF4-FFF2-40B4-BE49-F238E27FC236}">
                <a16:creationId xmlns:a16="http://schemas.microsoft.com/office/drawing/2014/main" id="{B466CDE3-4631-5FA9-337A-DF847EAAD5B5}"/>
              </a:ext>
            </a:extLst>
          </p:cNvPr>
          <p:cNvSpPr>
            <a:spLocks noGrp="1"/>
          </p:cNvSpPr>
          <p:nvPr>
            <p:ph type="body" sz="quarter" idx="13" hasCustomPrompt="1"/>
          </p:nvPr>
        </p:nvSpPr>
        <p:spPr>
          <a:xfrm>
            <a:off x="1824652" y="2247900"/>
            <a:ext cx="3974845" cy="609600"/>
          </a:xfrm>
        </p:spPr>
        <p:txBody>
          <a:bodyPr anchor="ctr">
            <a:normAutofit/>
          </a:bodyPr>
          <a:lstStyle>
            <a:lvl1pPr marL="0" indent="0">
              <a:buNone/>
              <a:defRPr sz="2000"/>
            </a:lvl1pPr>
          </a:lstStyle>
          <a:p>
            <a:pPr lvl="0"/>
            <a:r>
              <a:rPr lang="en-US" dirty="0"/>
              <a:t>Click to add addenda item</a:t>
            </a:r>
          </a:p>
        </p:txBody>
      </p:sp>
      <p:sp>
        <p:nvSpPr>
          <p:cNvPr id="25" name="Text Placeholder 21">
            <a:extLst>
              <a:ext uri="{FF2B5EF4-FFF2-40B4-BE49-F238E27FC236}">
                <a16:creationId xmlns:a16="http://schemas.microsoft.com/office/drawing/2014/main" id="{2A51E4DB-9ABE-A139-7B46-5FC55133039B}"/>
              </a:ext>
            </a:extLst>
          </p:cNvPr>
          <p:cNvSpPr>
            <a:spLocks noGrp="1"/>
          </p:cNvSpPr>
          <p:nvPr>
            <p:ph type="body" sz="quarter" idx="16" hasCustomPrompt="1"/>
          </p:nvPr>
        </p:nvSpPr>
        <p:spPr>
          <a:xfrm>
            <a:off x="6934200" y="2247900"/>
            <a:ext cx="4343400" cy="609600"/>
          </a:xfrm>
        </p:spPr>
        <p:txBody>
          <a:bodyPr anchor="ctr">
            <a:normAutofit/>
          </a:bodyPr>
          <a:lstStyle>
            <a:lvl1pPr marL="0" indent="0">
              <a:buNone/>
              <a:defRPr sz="2000"/>
            </a:lvl1pPr>
          </a:lstStyle>
          <a:p>
            <a:pPr lvl="0"/>
            <a:r>
              <a:rPr lang="en-US" dirty="0"/>
              <a:t>Click to add addenda item</a:t>
            </a:r>
          </a:p>
        </p:txBody>
      </p:sp>
      <p:sp>
        <p:nvSpPr>
          <p:cNvPr id="29" name="Text Placeholder 28">
            <a:extLst>
              <a:ext uri="{FF2B5EF4-FFF2-40B4-BE49-F238E27FC236}">
                <a16:creationId xmlns:a16="http://schemas.microsoft.com/office/drawing/2014/main" id="{7B35BDAA-D931-DC03-6B00-6EDF027908BB}"/>
              </a:ext>
            </a:extLst>
          </p:cNvPr>
          <p:cNvSpPr>
            <a:spLocks noGrp="1"/>
          </p:cNvSpPr>
          <p:nvPr>
            <p:ph type="body" sz="quarter" idx="19" hasCustomPrompt="1"/>
          </p:nvPr>
        </p:nvSpPr>
        <p:spPr>
          <a:xfrm>
            <a:off x="914400" y="2209800"/>
            <a:ext cx="685800" cy="685800"/>
          </a:xfrm>
          <a:noFill/>
        </p:spPr>
        <p:txBody>
          <a:bodyPr anchor="ctr">
            <a:normAutofit/>
          </a:bodyPr>
          <a:lstStyle>
            <a:lvl1pPr marL="0" indent="0" algn="ctr">
              <a:buNone/>
              <a:defRPr sz="4000">
                <a:gradFill>
                  <a:gsLst>
                    <a:gs pos="86000">
                      <a:schemeClr val="accent3"/>
                    </a:gs>
                    <a:gs pos="47000">
                      <a:schemeClr val="accent2"/>
                    </a:gs>
                    <a:gs pos="0">
                      <a:schemeClr val="tx1"/>
                    </a:gs>
                  </a:gsLst>
                  <a:lin ang="3600000" scaled="0"/>
                </a:gradFill>
                <a:latin typeface="+mj-lt"/>
              </a:defRPr>
            </a:lvl1pPr>
          </a:lstStyle>
          <a:p>
            <a:pPr lvl="0"/>
            <a:r>
              <a:rPr lang="en-US" dirty="0"/>
              <a:t>#</a:t>
            </a:r>
          </a:p>
        </p:txBody>
      </p:sp>
      <p:sp>
        <p:nvSpPr>
          <p:cNvPr id="32" name="Text Placeholder 28">
            <a:extLst>
              <a:ext uri="{FF2B5EF4-FFF2-40B4-BE49-F238E27FC236}">
                <a16:creationId xmlns:a16="http://schemas.microsoft.com/office/drawing/2014/main" id="{EF503090-B911-7788-8B94-3F88CA4797F9}"/>
              </a:ext>
            </a:extLst>
          </p:cNvPr>
          <p:cNvSpPr>
            <a:spLocks noGrp="1"/>
          </p:cNvSpPr>
          <p:nvPr>
            <p:ph type="body" sz="quarter" idx="22" hasCustomPrompt="1"/>
          </p:nvPr>
        </p:nvSpPr>
        <p:spPr>
          <a:xfrm>
            <a:off x="6023949" y="2209800"/>
            <a:ext cx="685800" cy="685800"/>
          </a:xfrm>
          <a:noFill/>
        </p:spPr>
        <p:txBody>
          <a:bodyPr vert="horz" lIns="91440" tIns="45720" rIns="91440" bIns="45720" rtlCol="0" anchor="ctr">
            <a:normAutofit/>
          </a:bodyPr>
          <a:lstStyle>
            <a:lvl1pPr marL="0" indent="0" algn="r">
              <a:buNone/>
              <a:defRPr lang="en-US" sz="4000" dirty="0">
                <a:gradFill>
                  <a:gsLst>
                    <a:gs pos="82000">
                      <a:schemeClr val="accent3"/>
                    </a:gs>
                    <a:gs pos="45000">
                      <a:schemeClr val="accent2"/>
                    </a:gs>
                  </a:gsLst>
                  <a:lin ang="3600000" scaled="0"/>
                </a:gradFill>
                <a:latin typeface="+mj-lt"/>
              </a:defRPr>
            </a:lvl1pPr>
          </a:lstStyle>
          <a:p>
            <a:pPr marL="228600" lvl="0" indent="-228600" algn="ctr"/>
            <a:r>
              <a:rPr lang="en-US" dirty="0"/>
              <a:t>#</a:t>
            </a:r>
          </a:p>
        </p:txBody>
      </p:sp>
      <p:sp>
        <p:nvSpPr>
          <p:cNvPr id="35" name="Text Placeholder 21">
            <a:extLst>
              <a:ext uri="{FF2B5EF4-FFF2-40B4-BE49-F238E27FC236}">
                <a16:creationId xmlns:a16="http://schemas.microsoft.com/office/drawing/2014/main" id="{65D9DAC4-C562-9524-30AD-991D271FE6EF}"/>
              </a:ext>
            </a:extLst>
          </p:cNvPr>
          <p:cNvSpPr>
            <a:spLocks noGrp="1"/>
          </p:cNvSpPr>
          <p:nvPr>
            <p:ph type="body" sz="quarter" idx="23" hasCustomPrompt="1"/>
          </p:nvPr>
        </p:nvSpPr>
        <p:spPr>
          <a:xfrm>
            <a:off x="1824652" y="3627249"/>
            <a:ext cx="3974845" cy="609600"/>
          </a:xfrm>
        </p:spPr>
        <p:txBody>
          <a:bodyPr anchor="ctr">
            <a:normAutofit/>
          </a:bodyPr>
          <a:lstStyle>
            <a:lvl1pPr marL="0" indent="0">
              <a:buNone/>
              <a:defRPr sz="2000"/>
            </a:lvl1pPr>
          </a:lstStyle>
          <a:p>
            <a:pPr lvl="0"/>
            <a:r>
              <a:rPr lang="en-US" dirty="0"/>
              <a:t>Click to add addenda item</a:t>
            </a:r>
          </a:p>
        </p:txBody>
      </p:sp>
      <p:sp>
        <p:nvSpPr>
          <p:cNvPr id="36" name="Text Placeholder 21">
            <a:extLst>
              <a:ext uri="{FF2B5EF4-FFF2-40B4-BE49-F238E27FC236}">
                <a16:creationId xmlns:a16="http://schemas.microsoft.com/office/drawing/2014/main" id="{7E647AC1-0BB7-0678-1B8A-177F4146A75E}"/>
              </a:ext>
            </a:extLst>
          </p:cNvPr>
          <p:cNvSpPr>
            <a:spLocks noGrp="1"/>
          </p:cNvSpPr>
          <p:nvPr>
            <p:ph type="body" sz="quarter" idx="24" hasCustomPrompt="1"/>
          </p:nvPr>
        </p:nvSpPr>
        <p:spPr>
          <a:xfrm>
            <a:off x="6934200" y="3627249"/>
            <a:ext cx="4343400" cy="609600"/>
          </a:xfrm>
        </p:spPr>
        <p:txBody>
          <a:bodyPr anchor="ctr">
            <a:normAutofit/>
          </a:bodyPr>
          <a:lstStyle>
            <a:lvl1pPr marL="0" indent="0">
              <a:buNone/>
              <a:defRPr sz="2000"/>
            </a:lvl1pPr>
          </a:lstStyle>
          <a:p>
            <a:pPr lvl="0"/>
            <a:r>
              <a:rPr lang="en-US" dirty="0"/>
              <a:t>Click to add addenda item</a:t>
            </a:r>
          </a:p>
        </p:txBody>
      </p:sp>
      <p:sp>
        <p:nvSpPr>
          <p:cNvPr id="37" name="Text Placeholder 28">
            <a:extLst>
              <a:ext uri="{FF2B5EF4-FFF2-40B4-BE49-F238E27FC236}">
                <a16:creationId xmlns:a16="http://schemas.microsoft.com/office/drawing/2014/main" id="{B55453C0-7B23-AC50-10FE-E961216AD9CE}"/>
              </a:ext>
            </a:extLst>
          </p:cNvPr>
          <p:cNvSpPr>
            <a:spLocks noGrp="1"/>
          </p:cNvSpPr>
          <p:nvPr>
            <p:ph type="body" sz="quarter" idx="25" hasCustomPrompt="1"/>
          </p:nvPr>
        </p:nvSpPr>
        <p:spPr>
          <a:xfrm>
            <a:off x="914400" y="3589149"/>
            <a:ext cx="685800" cy="685800"/>
          </a:xfrm>
          <a:noFill/>
        </p:spPr>
        <p:txBody>
          <a:bodyPr vert="horz" lIns="91440" tIns="45720" rIns="91440" bIns="45720" rtlCol="0" anchor="ctr">
            <a:normAutofit/>
          </a:bodyPr>
          <a:lstStyle>
            <a:lvl1pPr marL="0" indent="0" algn="r">
              <a:buNone/>
              <a:defRPr lang="en-US" sz="4000" dirty="0">
                <a:gradFill>
                  <a:gsLst>
                    <a:gs pos="78000">
                      <a:schemeClr val="accent3"/>
                    </a:gs>
                    <a:gs pos="39000">
                      <a:schemeClr val="accent2"/>
                    </a:gs>
                    <a:gs pos="0">
                      <a:schemeClr val="tx1"/>
                    </a:gs>
                  </a:gsLst>
                  <a:lin ang="3600000" scaled="0"/>
                </a:gradFill>
                <a:latin typeface="+mj-lt"/>
              </a:defRPr>
            </a:lvl1pPr>
          </a:lstStyle>
          <a:p>
            <a:pPr marL="228600" lvl="0" indent="-228600" algn="ctr"/>
            <a:r>
              <a:rPr lang="en-US" dirty="0"/>
              <a:t>#</a:t>
            </a:r>
          </a:p>
        </p:txBody>
      </p:sp>
      <p:sp>
        <p:nvSpPr>
          <p:cNvPr id="38" name="Text Placeholder 28">
            <a:extLst>
              <a:ext uri="{FF2B5EF4-FFF2-40B4-BE49-F238E27FC236}">
                <a16:creationId xmlns:a16="http://schemas.microsoft.com/office/drawing/2014/main" id="{1A5B7077-E4C0-3DD2-DCA8-E8A197F1C95C}"/>
              </a:ext>
            </a:extLst>
          </p:cNvPr>
          <p:cNvSpPr>
            <a:spLocks noGrp="1"/>
          </p:cNvSpPr>
          <p:nvPr>
            <p:ph type="body" sz="quarter" idx="26" hasCustomPrompt="1"/>
          </p:nvPr>
        </p:nvSpPr>
        <p:spPr>
          <a:xfrm>
            <a:off x="6023949" y="3589149"/>
            <a:ext cx="685800" cy="685800"/>
          </a:xfrm>
          <a:noFill/>
        </p:spPr>
        <p:txBody>
          <a:bodyPr vert="horz" lIns="91440" tIns="45720" rIns="91440" bIns="45720" rtlCol="0" anchor="ctr">
            <a:normAutofit/>
          </a:bodyPr>
          <a:lstStyle>
            <a:lvl1pPr marL="0" indent="0" algn="r">
              <a:buNone/>
              <a:defRPr lang="en-US" sz="4000" dirty="0">
                <a:gradFill>
                  <a:gsLst>
                    <a:gs pos="7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39" name="Text Placeholder 21">
            <a:extLst>
              <a:ext uri="{FF2B5EF4-FFF2-40B4-BE49-F238E27FC236}">
                <a16:creationId xmlns:a16="http://schemas.microsoft.com/office/drawing/2014/main" id="{B32EE1BF-44FE-201B-EF31-3ED8FF5BA7BC}"/>
              </a:ext>
            </a:extLst>
          </p:cNvPr>
          <p:cNvSpPr>
            <a:spLocks noGrp="1"/>
          </p:cNvSpPr>
          <p:nvPr>
            <p:ph type="body" sz="quarter" idx="27" hasCustomPrompt="1"/>
          </p:nvPr>
        </p:nvSpPr>
        <p:spPr>
          <a:xfrm>
            <a:off x="1824652" y="4913609"/>
            <a:ext cx="3974845" cy="609600"/>
          </a:xfrm>
        </p:spPr>
        <p:txBody>
          <a:bodyPr anchor="ctr">
            <a:normAutofit/>
          </a:bodyPr>
          <a:lstStyle>
            <a:lvl1pPr marL="0" indent="0">
              <a:buNone/>
              <a:defRPr sz="2000"/>
            </a:lvl1pPr>
          </a:lstStyle>
          <a:p>
            <a:pPr lvl="0"/>
            <a:r>
              <a:rPr lang="en-US" dirty="0"/>
              <a:t>Click to add addenda item</a:t>
            </a:r>
          </a:p>
        </p:txBody>
      </p:sp>
      <p:sp>
        <p:nvSpPr>
          <p:cNvPr id="40" name="Text Placeholder 21">
            <a:extLst>
              <a:ext uri="{FF2B5EF4-FFF2-40B4-BE49-F238E27FC236}">
                <a16:creationId xmlns:a16="http://schemas.microsoft.com/office/drawing/2014/main" id="{2F676D19-8F83-696C-ACFF-7F910A6C8105}"/>
              </a:ext>
            </a:extLst>
          </p:cNvPr>
          <p:cNvSpPr>
            <a:spLocks noGrp="1"/>
          </p:cNvSpPr>
          <p:nvPr>
            <p:ph type="body" sz="quarter" idx="28" hasCustomPrompt="1"/>
          </p:nvPr>
        </p:nvSpPr>
        <p:spPr>
          <a:xfrm>
            <a:off x="6934200" y="4913609"/>
            <a:ext cx="4343400" cy="609600"/>
          </a:xfrm>
        </p:spPr>
        <p:txBody>
          <a:bodyPr anchor="ctr">
            <a:normAutofit/>
          </a:bodyPr>
          <a:lstStyle>
            <a:lvl1pPr marL="0" indent="0">
              <a:buNone/>
              <a:defRPr sz="2000"/>
            </a:lvl1pPr>
          </a:lstStyle>
          <a:p>
            <a:pPr lvl="0"/>
            <a:r>
              <a:rPr lang="en-US" dirty="0"/>
              <a:t>Click to add addenda item</a:t>
            </a:r>
          </a:p>
        </p:txBody>
      </p:sp>
      <p:sp>
        <p:nvSpPr>
          <p:cNvPr id="41" name="Text Placeholder 28">
            <a:extLst>
              <a:ext uri="{FF2B5EF4-FFF2-40B4-BE49-F238E27FC236}">
                <a16:creationId xmlns:a16="http://schemas.microsoft.com/office/drawing/2014/main" id="{4936C6BE-C8B8-20C6-9C05-FD330B16C055}"/>
              </a:ext>
            </a:extLst>
          </p:cNvPr>
          <p:cNvSpPr>
            <a:spLocks noGrp="1"/>
          </p:cNvSpPr>
          <p:nvPr>
            <p:ph type="body" sz="quarter" idx="29" hasCustomPrompt="1"/>
          </p:nvPr>
        </p:nvSpPr>
        <p:spPr>
          <a:xfrm>
            <a:off x="914400" y="4875509"/>
            <a:ext cx="685800" cy="685800"/>
          </a:xfrm>
          <a:noFill/>
        </p:spPr>
        <p:txBody>
          <a:bodyPr vert="horz" lIns="91440" tIns="45720" rIns="91440" bIns="45720" rtlCol="0" anchor="ctr">
            <a:normAutofit/>
          </a:bodyPr>
          <a:lstStyle>
            <a:lvl1pPr marL="0" indent="0" algn="r">
              <a:buNone/>
              <a:defRPr lang="en-US" sz="4000" dirty="0">
                <a:gradFill>
                  <a:gsLst>
                    <a:gs pos="87000">
                      <a:schemeClr val="accent3"/>
                    </a:gs>
                    <a:gs pos="45000">
                      <a:schemeClr val="accent2"/>
                    </a:gs>
                    <a:gs pos="0">
                      <a:schemeClr val="tx1"/>
                    </a:gs>
                  </a:gsLst>
                  <a:lin ang="3600000" scaled="0"/>
                </a:gradFill>
                <a:latin typeface="+mj-lt"/>
              </a:defRPr>
            </a:lvl1pPr>
          </a:lstStyle>
          <a:p>
            <a:pPr marL="228600" lvl="0" indent="-228600" algn="ctr"/>
            <a:r>
              <a:rPr lang="en-US" dirty="0"/>
              <a:t>#</a:t>
            </a:r>
          </a:p>
        </p:txBody>
      </p:sp>
      <p:sp>
        <p:nvSpPr>
          <p:cNvPr id="42" name="Text Placeholder 28">
            <a:extLst>
              <a:ext uri="{FF2B5EF4-FFF2-40B4-BE49-F238E27FC236}">
                <a16:creationId xmlns:a16="http://schemas.microsoft.com/office/drawing/2014/main" id="{9DBD5D19-811F-095E-D5BA-1EE3AC8F9767}"/>
              </a:ext>
            </a:extLst>
          </p:cNvPr>
          <p:cNvSpPr>
            <a:spLocks noGrp="1"/>
          </p:cNvSpPr>
          <p:nvPr>
            <p:ph type="body" sz="quarter" idx="30" hasCustomPrompt="1"/>
          </p:nvPr>
        </p:nvSpPr>
        <p:spPr>
          <a:xfrm>
            <a:off x="6023949" y="4875509"/>
            <a:ext cx="685800" cy="685800"/>
          </a:xfrm>
          <a:noFill/>
        </p:spPr>
        <p:txBody>
          <a:bodyPr vert="horz" lIns="91440" tIns="45720" rIns="91440" bIns="45720" rtlCol="0" anchor="ctr">
            <a:normAutofit/>
          </a:bodyPr>
          <a:lstStyle>
            <a:lvl1pPr marL="0" indent="0" algn="r">
              <a:buNone/>
              <a:defRPr lang="en-US" sz="4000" dirty="0">
                <a:gradFill>
                  <a:gsLst>
                    <a:gs pos="72000">
                      <a:schemeClr val="accent3"/>
                    </a:gs>
                    <a:gs pos="45000">
                      <a:schemeClr val="accent2"/>
                    </a:gs>
                    <a:gs pos="4000">
                      <a:schemeClr val="tx1"/>
                    </a:gs>
                  </a:gsLst>
                  <a:lin ang="3600000" scaled="0"/>
                </a:gradFill>
                <a:latin typeface="+mj-lt"/>
              </a:defRPr>
            </a:lvl1pPr>
          </a:lstStyle>
          <a:p>
            <a:pPr marL="228600" lvl="0" indent="-228600" algn="ctr"/>
            <a:r>
              <a:rPr lang="en-US" dirty="0"/>
              <a:t>#</a:t>
            </a:r>
          </a:p>
        </p:txBody>
      </p:sp>
      <p:cxnSp>
        <p:nvCxnSpPr>
          <p:cNvPr id="44" name="Straight Connector 43">
            <a:extLst>
              <a:ext uri="{FF2B5EF4-FFF2-40B4-BE49-F238E27FC236}">
                <a16:creationId xmlns:a16="http://schemas.microsoft.com/office/drawing/2014/main" id="{42FAC8BE-D606-2853-844A-E2C15955DC7D}"/>
              </a:ext>
            </a:extLst>
          </p:cNvPr>
          <p:cNvCxnSpPr/>
          <p:nvPr userDrawn="1"/>
        </p:nvCxnSpPr>
        <p:spPr>
          <a:xfrm>
            <a:off x="8382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F8BB1695-58EE-644B-7EE8-11F922C6661D}"/>
              </a:ext>
            </a:extLst>
          </p:cNvPr>
          <p:cNvCxnSpPr>
            <a:cxnSpLocks/>
          </p:cNvCxnSpPr>
          <p:nvPr userDrawn="1"/>
        </p:nvCxnSpPr>
        <p:spPr>
          <a:xfrm>
            <a:off x="16002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D52F9823-AA54-9873-16F2-263321455B45}"/>
              </a:ext>
            </a:extLst>
          </p:cNvPr>
          <p:cNvCxnSpPr/>
          <p:nvPr userDrawn="1"/>
        </p:nvCxnSpPr>
        <p:spPr>
          <a:xfrm>
            <a:off x="8382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FF1A9CBD-3464-B5A2-6E8D-EE3FD067EE09}"/>
              </a:ext>
            </a:extLst>
          </p:cNvPr>
          <p:cNvCxnSpPr>
            <a:cxnSpLocks/>
          </p:cNvCxnSpPr>
          <p:nvPr userDrawn="1"/>
        </p:nvCxnSpPr>
        <p:spPr>
          <a:xfrm>
            <a:off x="16002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DEED8E47-E2B6-E0EF-495A-1545B3213F3D}"/>
              </a:ext>
            </a:extLst>
          </p:cNvPr>
          <p:cNvCxnSpPr/>
          <p:nvPr userDrawn="1"/>
        </p:nvCxnSpPr>
        <p:spPr>
          <a:xfrm>
            <a:off x="8382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31607ECD-AA81-BC83-3C78-B9336CCDEEF0}"/>
              </a:ext>
            </a:extLst>
          </p:cNvPr>
          <p:cNvCxnSpPr>
            <a:cxnSpLocks/>
          </p:cNvCxnSpPr>
          <p:nvPr userDrawn="1"/>
        </p:nvCxnSpPr>
        <p:spPr>
          <a:xfrm>
            <a:off x="16002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45E098EB-268C-67D8-9802-3DFD2843FEB8}"/>
              </a:ext>
            </a:extLst>
          </p:cNvPr>
          <p:cNvCxnSpPr/>
          <p:nvPr userDrawn="1"/>
        </p:nvCxnSpPr>
        <p:spPr>
          <a:xfrm>
            <a:off x="5943600" y="219075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CC41966B-39B9-FA80-34EE-34DB2BBC90AA}"/>
              </a:ext>
            </a:extLst>
          </p:cNvPr>
          <p:cNvCxnSpPr>
            <a:cxnSpLocks/>
          </p:cNvCxnSpPr>
          <p:nvPr userDrawn="1"/>
        </p:nvCxnSpPr>
        <p:spPr>
          <a:xfrm>
            <a:off x="6705600" y="2114550"/>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567F3916-0A34-3DFE-C40C-9CE5F118C59D}"/>
              </a:ext>
            </a:extLst>
          </p:cNvPr>
          <p:cNvCxnSpPr/>
          <p:nvPr userDrawn="1"/>
        </p:nvCxnSpPr>
        <p:spPr>
          <a:xfrm>
            <a:off x="5943600" y="3590925"/>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90580B0B-C3BC-E6B2-4F7A-A8BC4CBEC5D4}"/>
              </a:ext>
            </a:extLst>
          </p:cNvPr>
          <p:cNvCxnSpPr>
            <a:cxnSpLocks/>
          </p:cNvCxnSpPr>
          <p:nvPr userDrawn="1"/>
        </p:nvCxnSpPr>
        <p:spPr>
          <a:xfrm>
            <a:off x="6705600" y="3514725"/>
            <a:ext cx="0" cy="914400"/>
          </a:xfrm>
          <a:prstGeom prst="line">
            <a:avLst/>
          </a:prstGeom>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204EA6A-A0F1-4A1F-D752-01EC9413BD08}"/>
              </a:ext>
            </a:extLst>
          </p:cNvPr>
          <p:cNvCxnSpPr/>
          <p:nvPr userDrawn="1"/>
        </p:nvCxnSpPr>
        <p:spPr>
          <a:xfrm>
            <a:off x="5943600" y="4876800"/>
            <a:ext cx="83820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2332F554-64FA-44EB-F6C0-65BB814F9D34}"/>
              </a:ext>
            </a:extLst>
          </p:cNvPr>
          <p:cNvCxnSpPr>
            <a:cxnSpLocks/>
          </p:cNvCxnSpPr>
          <p:nvPr userDrawn="1"/>
        </p:nvCxnSpPr>
        <p:spPr>
          <a:xfrm>
            <a:off x="6705600" y="4800600"/>
            <a:ext cx="0" cy="91440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38533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8952"/>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7" name="Slide Number Placeholder 5">
            <a:extLst>
              <a:ext uri="{FF2B5EF4-FFF2-40B4-BE49-F238E27FC236}">
                <a16:creationId xmlns:a16="http://schemas.microsoft.com/office/drawing/2014/main" id="{55FC8917-4CA3-53EC-49EA-1322608A3F2A}"/>
              </a:ext>
            </a:extLst>
          </p:cNvPr>
          <p:cNvSpPr>
            <a:spLocks noGrp="1"/>
          </p:cNvSpPr>
          <p:nvPr>
            <p:ph type="sldNum" sz="quarter" idx="4"/>
          </p:nvPr>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6925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Dense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2B1A6FEB-A7E9-41A9-BE32-02FF741C9A2A}"/>
              </a:ext>
            </a:extLst>
          </p:cNvPr>
          <p:cNvSpPr>
            <a:spLocks noGrp="1"/>
          </p:cNvSpPr>
          <p:nvPr>
            <p:ph idx="1"/>
          </p:nvPr>
        </p:nvSpPr>
        <p:spPr>
          <a:xfrm>
            <a:off x="914400" y="2216430"/>
            <a:ext cx="10325100" cy="435133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99422C68-F3F1-F728-F8AB-7545FFD238E1}"/>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6A5A23E4-0FD3-1AC3-FD06-43716C74AFB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spTree>
    <p:extLst>
      <p:ext uri="{BB962C8B-B14F-4D97-AF65-F5344CB8AC3E}">
        <p14:creationId xmlns:p14="http://schemas.microsoft.com/office/powerpoint/2010/main" val="5700776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1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454562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51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4288518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secHead" preserve="1">
  <p:cSld name="2_Section Header - Biolog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93F2C-644C-9402-B8E1-8E0A86BA6087}"/>
              </a:ext>
            </a:extLst>
          </p:cNvPr>
          <p:cNvSpPr>
            <a:spLocks noGrp="1"/>
          </p:cNvSpPr>
          <p:nvPr>
            <p:ph type="title"/>
          </p:nvPr>
        </p:nvSpPr>
        <p:spPr>
          <a:xfrm>
            <a:off x="3847172" y="1672824"/>
            <a:ext cx="7616282" cy="2196649"/>
          </a:xfrm>
        </p:spPr>
        <p:txBody>
          <a:bodyPr vert="horz" lIns="91440" tIns="45720" rIns="91440" bIns="45720" rtlCol="0" anchor="b">
            <a:normAutofit/>
          </a:bodyPr>
          <a:lstStyle>
            <a:lvl1pPr algn="l">
              <a:defRPr lang="en-US" dirty="0">
                <a:solidFill>
                  <a:schemeClr val="bg1"/>
                </a:solidFill>
              </a:defRPr>
            </a:lvl1pPr>
          </a:lstStyle>
          <a:p>
            <a:pPr lvl="0"/>
            <a:r>
              <a:rPr lang="en-US"/>
              <a:t>Click to edit Master title style</a:t>
            </a:r>
            <a:endParaRPr lang="en-US" dirty="0"/>
          </a:p>
        </p:txBody>
      </p:sp>
      <p:sp>
        <p:nvSpPr>
          <p:cNvPr id="3" name="Text Placeholder 2">
            <a:extLst>
              <a:ext uri="{FF2B5EF4-FFF2-40B4-BE49-F238E27FC236}">
                <a16:creationId xmlns:a16="http://schemas.microsoft.com/office/drawing/2014/main" id="{3AD101CB-2432-9C1F-28C9-0741354D3BA1}"/>
              </a:ext>
            </a:extLst>
          </p:cNvPr>
          <p:cNvSpPr>
            <a:spLocks noGrp="1"/>
          </p:cNvSpPr>
          <p:nvPr>
            <p:ph type="body" idx="1"/>
          </p:nvPr>
        </p:nvSpPr>
        <p:spPr>
          <a:xfrm>
            <a:off x="3847171" y="4039593"/>
            <a:ext cx="7616283" cy="1500187"/>
          </a:xfrm>
        </p:spPr>
        <p:txBody>
          <a:bodyPr vert="horz" lIns="91440" tIns="45720" rIns="91440" bIns="45720" rtlCol="0" anchor="t">
            <a:normAutofit/>
          </a:bodyPr>
          <a:lstStyle>
            <a:lvl1pPr algn="l">
              <a:defRPr lang="en-US" sz="2400" b="0">
                <a:solidFill>
                  <a:schemeClr val="bg1"/>
                </a:solidFill>
              </a:defRPr>
            </a:lvl1pPr>
          </a:lstStyle>
          <a:p>
            <a:pPr marL="0" lvl="0" indent="0">
              <a:buNone/>
            </a:pPr>
            <a:r>
              <a:rPr lang="en-US"/>
              <a:t>Click to edit Master text styles</a:t>
            </a:r>
          </a:p>
        </p:txBody>
      </p:sp>
      <p:sp>
        <p:nvSpPr>
          <p:cNvPr id="4" name="Slide Number Placeholder 5">
            <a:extLst>
              <a:ext uri="{FF2B5EF4-FFF2-40B4-BE49-F238E27FC236}">
                <a16:creationId xmlns:a16="http://schemas.microsoft.com/office/drawing/2014/main" id="{F6E6D588-E497-F70E-167F-4EDACDAF3709}"/>
              </a:ext>
            </a:extLst>
          </p:cNvPr>
          <p:cNvSpPr txBox="1">
            <a:spLocks/>
          </p:cNvSpPr>
          <p:nvPr userDrawn="1"/>
        </p:nvSpPr>
        <p:spPr>
          <a:xfrm>
            <a:off x="11662148" y="100584"/>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dirty="0"/>
          </a:p>
        </p:txBody>
      </p:sp>
      <p:pic>
        <p:nvPicPr>
          <p:cNvPr id="8" name="Picture 7" descr="A black background with grey letters&#10;&#10;Description automatically generated">
            <a:extLst>
              <a:ext uri="{FF2B5EF4-FFF2-40B4-BE49-F238E27FC236}">
                <a16:creationId xmlns:a16="http://schemas.microsoft.com/office/drawing/2014/main" id="{0383140C-6BE5-F602-5CA0-3D03E6996396}"/>
              </a:ext>
            </a:extLst>
          </p:cNvPr>
          <p:cNvPicPr>
            <a:picLocks noChangeAspect="1"/>
          </p:cNvPicPr>
          <p:nvPr userDrawn="1"/>
        </p:nvPicPr>
        <p:blipFill rotWithShape="1">
          <a:blip r:embed="rId3" cstate="screen">
            <a:alphaModFix amt="37000"/>
            <a:extLst>
              <a:ext uri="{28A0092B-C50C-407E-A947-70E740481C1C}">
                <a14:useLocalDpi xmlns:a14="http://schemas.microsoft.com/office/drawing/2010/main"/>
              </a:ext>
            </a:extLst>
          </a:blip>
          <a:srcRect/>
          <a:stretch/>
        </p:blipFill>
        <p:spPr>
          <a:xfrm>
            <a:off x="0" y="5168811"/>
            <a:ext cx="3884861" cy="1719470"/>
          </a:xfrm>
          <a:prstGeom prst="rect">
            <a:avLst/>
          </a:prstGeom>
        </p:spPr>
      </p:pic>
    </p:spTree>
    <p:extLst>
      <p:ext uri="{BB962C8B-B14F-4D97-AF65-F5344CB8AC3E}">
        <p14:creationId xmlns:p14="http://schemas.microsoft.com/office/powerpoint/2010/main" val="13966390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216AC8C6-C4E6-E1A4-9BB3-02E2E29D455B}"/>
              </a:ext>
            </a:extLst>
          </p:cNvPr>
          <p:cNvSpPr>
            <a:spLocks noGrp="1"/>
          </p:cNvSpPr>
          <p:nvPr>
            <p:ph sz="half" idx="1"/>
          </p:nvPr>
        </p:nvSpPr>
        <p:spPr>
          <a:xfrm>
            <a:off x="914400" y="2270760"/>
            <a:ext cx="49149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605E9D-2162-ED5F-D5C4-2810CEA1639F}"/>
              </a:ext>
            </a:extLst>
          </p:cNvPr>
          <p:cNvSpPr>
            <a:spLocks noGrp="1"/>
          </p:cNvSpPr>
          <p:nvPr>
            <p:ph sz="half" idx="2"/>
          </p:nvPr>
        </p:nvSpPr>
        <p:spPr>
          <a:xfrm>
            <a:off x="6096000" y="226758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503818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ext_Picture Dark">
    <p:spTree>
      <p:nvGrpSpPr>
        <p:cNvPr id="1" name=""/>
        <p:cNvGrpSpPr/>
        <p:nvPr/>
      </p:nvGrpSpPr>
      <p:grpSpPr>
        <a:xfrm>
          <a:off x="0" y="0"/>
          <a:ext cx="0" cy="0"/>
          <a:chOff x="0" y="0"/>
          <a:chExt cx="0" cy="0"/>
        </a:xfrm>
      </p:grpSpPr>
      <p:sp>
        <p:nvSpPr>
          <p:cNvPr id="4" name="Freeform 3">
            <a:extLst>
              <a:ext uri="{FF2B5EF4-FFF2-40B4-BE49-F238E27FC236}">
                <a16:creationId xmlns:a16="http://schemas.microsoft.com/office/drawing/2014/main" id="{BC8566AA-00D7-499C-0F3E-2067A61875E1}"/>
              </a:ext>
            </a:extLst>
          </p:cNvPr>
          <p:cNvSpPr/>
          <p:nvPr userDrawn="1"/>
        </p:nvSpPr>
        <p:spPr>
          <a:xfrm>
            <a:off x="-22302" y="468351"/>
            <a:ext cx="7304048" cy="6400800"/>
          </a:xfrm>
          <a:custGeom>
            <a:avLst/>
            <a:gdLst>
              <a:gd name="connsiteX0" fmla="*/ 0 w 7304048"/>
              <a:gd name="connsiteY0" fmla="*/ 0 h 6400800"/>
              <a:gd name="connsiteX1" fmla="*/ 5832087 w 7304048"/>
              <a:gd name="connsiteY1" fmla="*/ 0 h 6400800"/>
              <a:gd name="connsiteX2" fmla="*/ 7304048 w 7304048"/>
              <a:gd name="connsiteY2" fmla="*/ 6400800 h 6400800"/>
              <a:gd name="connsiteX3" fmla="*/ 11151 w 7304048"/>
              <a:gd name="connsiteY3" fmla="*/ 6400800 h 6400800"/>
              <a:gd name="connsiteX4" fmla="*/ 11151 w 7304048"/>
              <a:gd name="connsiteY4" fmla="*/ 6300439 h 6400800"/>
              <a:gd name="connsiteX5" fmla="*/ 0 w 7304048"/>
              <a:gd name="connsiteY5" fmla="*/ 0 h 640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304048" h="6400800">
                <a:moveTo>
                  <a:pt x="0" y="0"/>
                </a:moveTo>
                <a:lnTo>
                  <a:pt x="5832087" y="0"/>
                </a:lnTo>
                <a:lnTo>
                  <a:pt x="7304048" y="6400800"/>
                </a:lnTo>
                <a:lnTo>
                  <a:pt x="11151" y="6400800"/>
                </a:lnTo>
                <a:lnTo>
                  <a:pt x="11151" y="6300439"/>
                </a:lnTo>
                <a:lnTo>
                  <a:pt x="0" y="0"/>
                </a:lnTo>
                <a:close/>
              </a:path>
            </a:pathLst>
          </a:cu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817279" y="484554"/>
            <a:ext cx="6369555" cy="6373446"/>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bg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8252"/>
            <a:ext cx="5181600" cy="3962400"/>
          </a:xfrm>
        </p:spPr>
        <p:txBody>
          <a:bodyPr>
            <a:normAutofit/>
          </a:bodyPr>
          <a:lstStyle>
            <a:lvl1pPr>
              <a:defRPr sz="2400">
                <a:solidFill>
                  <a:schemeClr val="bg1"/>
                </a:solidFill>
              </a:defRPr>
            </a:lvl1pPr>
            <a:lvl2pPr>
              <a:defRPr sz="2000">
                <a:solidFill>
                  <a:schemeClr val="bg1"/>
                </a:solidFill>
              </a:defRPr>
            </a:lvl2pPr>
            <a:lvl3pPr>
              <a:defRPr sz="1800">
                <a:solidFill>
                  <a:schemeClr val="bg1"/>
                </a:solidFill>
              </a:defRPr>
            </a:lvl3pPr>
            <a:lvl4pPr>
              <a:defRPr sz="1600">
                <a:solidFill>
                  <a:schemeClr val="bg1"/>
                </a:solidFill>
              </a:defRPr>
            </a:lvl4pPr>
            <a:lvl5pPr>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09553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ext_Picture Light">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B1EF21C4-1197-17A3-5E0D-4F7593E8A95F}"/>
              </a:ext>
            </a:extLst>
          </p:cNvPr>
          <p:cNvSpPr>
            <a:spLocks noGrp="1"/>
          </p:cNvSpPr>
          <p:nvPr>
            <p:ph type="pic" sz="quarter" idx="13"/>
          </p:nvPr>
        </p:nvSpPr>
        <p:spPr>
          <a:xfrm>
            <a:off x="5573487" y="482551"/>
            <a:ext cx="6613348" cy="6375449"/>
          </a:xfrm>
          <a:custGeom>
            <a:avLst/>
            <a:gdLst>
              <a:gd name="connsiteX0" fmla="*/ 0 w 6400800"/>
              <a:gd name="connsiteY0" fmla="*/ 6200317 h 6200317"/>
              <a:gd name="connsiteX1" fmla="*/ 1550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0 w 6400800"/>
              <a:gd name="connsiteY0" fmla="*/ 6200317 h 6200317"/>
              <a:gd name="connsiteX1" fmla="*/ 26079 w 6400800"/>
              <a:gd name="connsiteY1" fmla="*/ 0 h 6200317"/>
              <a:gd name="connsiteX2" fmla="*/ 6400800 w 6400800"/>
              <a:gd name="connsiteY2" fmla="*/ 0 h 6200317"/>
              <a:gd name="connsiteX3" fmla="*/ 4850721 w 6400800"/>
              <a:gd name="connsiteY3" fmla="*/ 6200317 h 6200317"/>
              <a:gd name="connsiteX4" fmla="*/ 0 w 6400800"/>
              <a:gd name="connsiteY4" fmla="*/ 6200317 h 6200317"/>
              <a:gd name="connsiteX0" fmla="*/ 1470212 w 6374721"/>
              <a:gd name="connsiteY0" fmla="*/ 6228026 h 6228026"/>
              <a:gd name="connsiteX1" fmla="*/ 0 w 6374721"/>
              <a:gd name="connsiteY1" fmla="*/ 0 h 6228026"/>
              <a:gd name="connsiteX2" fmla="*/ 6374721 w 6374721"/>
              <a:gd name="connsiteY2" fmla="*/ 0 h 6228026"/>
              <a:gd name="connsiteX3" fmla="*/ 4824642 w 6374721"/>
              <a:gd name="connsiteY3" fmla="*/ 6200317 h 6228026"/>
              <a:gd name="connsiteX4" fmla="*/ 1470212 w 6374721"/>
              <a:gd name="connsiteY4" fmla="*/ 6228026 h 6228026"/>
              <a:gd name="connsiteX0" fmla="*/ 1470212 w 6374721"/>
              <a:gd name="connsiteY0" fmla="*/ 6228026 h 6255735"/>
              <a:gd name="connsiteX1" fmla="*/ 0 w 6374721"/>
              <a:gd name="connsiteY1" fmla="*/ 0 h 6255735"/>
              <a:gd name="connsiteX2" fmla="*/ 6374721 w 6374721"/>
              <a:gd name="connsiteY2" fmla="*/ 0 h 6255735"/>
              <a:gd name="connsiteX3" fmla="*/ 6362496 w 6374721"/>
              <a:gd name="connsiteY3" fmla="*/ 6255735 h 6255735"/>
              <a:gd name="connsiteX4" fmla="*/ 1470212 w 6374721"/>
              <a:gd name="connsiteY4" fmla="*/ 6228026 h 6255735"/>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70212 w 6374721"/>
              <a:gd name="connsiteY0" fmla="*/ 6228026 h 6228026"/>
              <a:gd name="connsiteX1" fmla="*/ 0 w 6374721"/>
              <a:gd name="connsiteY1" fmla="*/ 0 h 6228026"/>
              <a:gd name="connsiteX2" fmla="*/ 6374721 w 6374721"/>
              <a:gd name="connsiteY2" fmla="*/ 0 h 6228026"/>
              <a:gd name="connsiteX3" fmla="*/ 6362496 w 6374721"/>
              <a:gd name="connsiteY3" fmla="*/ 6228026 h 6228026"/>
              <a:gd name="connsiteX4" fmla="*/ 1470212 w 6374721"/>
              <a:gd name="connsiteY4" fmla="*/ 6228026 h 6228026"/>
              <a:gd name="connsiteX0" fmla="*/ 1465046 w 6374721"/>
              <a:gd name="connsiteY0" fmla="*/ 6207361 h 6228026"/>
              <a:gd name="connsiteX1" fmla="*/ 0 w 6374721"/>
              <a:gd name="connsiteY1" fmla="*/ 0 h 6228026"/>
              <a:gd name="connsiteX2" fmla="*/ 6374721 w 6374721"/>
              <a:gd name="connsiteY2" fmla="*/ 0 h 6228026"/>
              <a:gd name="connsiteX3" fmla="*/ 6362496 w 6374721"/>
              <a:gd name="connsiteY3" fmla="*/ 6228026 h 6228026"/>
              <a:gd name="connsiteX4" fmla="*/ 1465046 w 6374721"/>
              <a:gd name="connsiteY4" fmla="*/ 6207361 h 6228026"/>
              <a:gd name="connsiteX0" fmla="*/ 1465046 w 6374721"/>
              <a:gd name="connsiteY0" fmla="*/ 6207361 h 6207361"/>
              <a:gd name="connsiteX1" fmla="*/ 0 w 6374721"/>
              <a:gd name="connsiteY1" fmla="*/ 0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74721"/>
              <a:gd name="connsiteY0" fmla="*/ 6207361 h 6207361"/>
              <a:gd name="connsiteX1" fmla="*/ 0 w 6374721"/>
              <a:gd name="connsiteY1" fmla="*/ 5166 h 6207361"/>
              <a:gd name="connsiteX2" fmla="*/ 6374721 w 6374721"/>
              <a:gd name="connsiteY2" fmla="*/ 0 h 6207361"/>
              <a:gd name="connsiteX3" fmla="*/ 6367662 w 6374721"/>
              <a:gd name="connsiteY3" fmla="*/ 6207361 h 6207361"/>
              <a:gd name="connsiteX4" fmla="*/ 1465046 w 6374721"/>
              <a:gd name="connsiteY4" fmla="*/ 6207361 h 6207361"/>
              <a:gd name="connsiteX0" fmla="*/ 1465046 w 6369555"/>
              <a:gd name="connsiteY0" fmla="*/ 6202195 h 6202195"/>
              <a:gd name="connsiteX1" fmla="*/ 0 w 6369555"/>
              <a:gd name="connsiteY1" fmla="*/ 0 h 6202195"/>
              <a:gd name="connsiteX2" fmla="*/ 6369555 w 6369555"/>
              <a:gd name="connsiteY2" fmla="*/ 0 h 6202195"/>
              <a:gd name="connsiteX3" fmla="*/ 6367662 w 6369555"/>
              <a:gd name="connsiteY3" fmla="*/ 6202195 h 6202195"/>
              <a:gd name="connsiteX4" fmla="*/ 1465046 w 6369555"/>
              <a:gd name="connsiteY4" fmla="*/ 6202195 h 62021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369555" h="6202195">
                <a:moveTo>
                  <a:pt x="1465046" y="6202195"/>
                </a:moveTo>
                <a:lnTo>
                  <a:pt x="0" y="0"/>
                </a:lnTo>
                <a:lnTo>
                  <a:pt x="6369555" y="0"/>
                </a:lnTo>
                <a:lnTo>
                  <a:pt x="6367662" y="6202195"/>
                </a:lnTo>
                <a:lnTo>
                  <a:pt x="1465046" y="6202195"/>
                </a:lnTo>
                <a:close/>
              </a:path>
            </a:pathLst>
          </a:custGeom>
        </p:spPr>
        <p:txBody>
          <a:bodyPr/>
          <a:lstStyle/>
          <a:p>
            <a:r>
              <a:rPr lang="en-US"/>
              <a:t>Click icon to add picture</a:t>
            </a:r>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79964891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ext _Picture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324600" y="750848"/>
            <a:ext cx="5562600" cy="5715000"/>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162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477000" y="903248"/>
            <a:ext cx="5257800" cy="5410200"/>
          </a:xfrm>
          <a:prstGeom prst="roundRect">
            <a:avLst>
              <a:gd name="adj" fmla="val 6063"/>
            </a:avLst>
          </a:prstGeom>
        </p:spPr>
        <p:txBody>
          <a:bodyPr/>
          <a:lstStyle>
            <a:lvl1pPr>
              <a:defRPr>
                <a:solidFill>
                  <a:schemeClr val="bg1"/>
                </a:solidFill>
              </a:defRPr>
            </a:lvl1pPr>
          </a:lstStyle>
          <a:p>
            <a:r>
              <a:rPr lang="en-US"/>
              <a:t>Click icon to add picture</a:t>
            </a:r>
          </a:p>
        </p:txBody>
      </p:sp>
    </p:spTree>
    <p:extLst>
      <p:ext uri="{BB962C8B-B14F-4D97-AF65-F5344CB8AC3E}">
        <p14:creationId xmlns:p14="http://schemas.microsoft.com/office/powerpoint/2010/main" val="155291952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Text _2 Pictures w/Frame">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D04EC17A-0229-9D9E-4F3E-BBAF3C9EC60A}"/>
              </a:ext>
            </a:extLst>
          </p:cNvPr>
          <p:cNvSpPr/>
          <p:nvPr userDrawn="1"/>
        </p:nvSpPr>
        <p:spPr>
          <a:xfrm>
            <a:off x="6781800" y="731195"/>
            <a:ext cx="5029200" cy="2873829"/>
          </a:xfrm>
          <a:prstGeom prst="roundRect">
            <a:avLst>
              <a:gd name="adj" fmla="val 6243"/>
            </a:avLst>
          </a:prstGeom>
          <a:gradFill>
            <a:gsLst>
              <a:gs pos="0">
                <a:schemeClr val="tx1"/>
              </a:gs>
              <a:gs pos="97000">
                <a:schemeClr val="accent3"/>
              </a:gs>
              <a:gs pos="46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959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12848"/>
            <a:ext cx="5562600" cy="3962400"/>
          </a:xfrm>
        </p:spPr>
        <p:txBody>
          <a:bodyPr>
            <a:normAutofit/>
          </a:bodyPr>
          <a:lstStyle>
            <a:lvl1pPr>
              <a:defRPr sz="2400">
                <a:solidFill>
                  <a:schemeClr val="tx1"/>
                </a:solidFill>
              </a:defRPr>
            </a:lvl1pPr>
            <a:lvl2pPr>
              <a:defRPr sz="2000">
                <a:solidFill>
                  <a:schemeClr val="tx1"/>
                </a:solidFill>
              </a:defRPr>
            </a:lvl2pPr>
            <a:lvl3pPr>
              <a:defRPr sz="1800">
                <a:solidFill>
                  <a:schemeClr val="tx1"/>
                </a:solidFill>
              </a:defRPr>
            </a:lvl3pPr>
            <a:lvl4pPr>
              <a:defRPr sz="1600">
                <a:solidFill>
                  <a:schemeClr val="tx1"/>
                </a:solidFill>
              </a:defRPr>
            </a:lvl4pPr>
            <a:lvl5pPr>
              <a:defRPr sz="16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6093D01D-E4EE-57C8-4839-A436BF0AE87B}"/>
              </a:ext>
            </a:extLst>
          </p:cNvPr>
          <p:cNvSpPr>
            <a:spLocks noGrp="1"/>
          </p:cNvSpPr>
          <p:nvPr>
            <p:ph type="pic" sz="quarter" idx="15"/>
          </p:nvPr>
        </p:nvSpPr>
        <p:spPr>
          <a:xfrm>
            <a:off x="6934200" y="8835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
        <p:nvSpPr>
          <p:cNvPr id="10" name="Rounded Rectangle 9">
            <a:extLst>
              <a:ext uri="{FF2B5EF4-FFF2-40B4-BE49-F238E27FC236}">
                <a16:creationId xmlns:a16="http://schemas.microsoft.com/office/drawing/2014/main" id="{932B8DAB-353A-63A7-57E3-BC8771DAFC86}"/>
              </a:ext>
            </a:extLst>
          </p:cNvPr>
          <p:cNvSpPr/>
          <p:nvPr userDrawn="1"/>
        </p:nvSpPr>
        <p:spPr>
          <a:xfrm>
            <a:off x="6781800" y="3702995"/>
            <a:ext cx="5029200" cy="2873829"/>
          </a:xfrm>
          <a:prstGeom prst="roundRect">
            <a:avLst>
              <a:gd name="adj" fmla="val 6243"/>
            </a:avLst>
          </a:prstGeom>
          <a:gradFill>
            <a:gsLst>
              <a:gs pos="0">
                <a:schemeClr val="tx1"/>
              </a:gs>
              <a:gs pos="97000">
                <a:schemeClr val="accent3"/>
              </a:gs>
              <a:gs pos="47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Picture Placeholder 3">
            <a:extLst>
              <a:ext uri="{FF2B5EF4-FFF2-40B4-BE49-F238E27FC236}">
                <a16:creationId xmlns:a16="http://schemas.microsoft.com/office/drawing/2014/main" id="{7FD29A79-FC30-5176-80E7-A66A49211302}"/>
              </a:ext>
            </a:extLst>
          </p:cNvPr>
          <p:cNvSpPr>
            <a:spLocks noGrp="1"/>
          </p:cNvSpPr>
          <p:nvPr>
            <p:ph type="pic" sz="quarter" idx="16"/>
          </p:nvPr>
        </p:nvSpPr>
        <p:spPr>
          <a:xfrm>
            <a:off x="6934200" y="3855395"/>
            <a:ext cx="4741817" cy="2586446"/>
          </a:xfrm>
          <a:prstGeom prst="roundRect">
            <a:avLst>
              <a:gd name="adj" fmla="val 2938"/>
            </a:avLst>
          </a:prstGeom>
        </p:spPr>
        <p:txBody>
          <a:bodyPr/>
          <a:lstStyle>
            <a:lvl1pPr>
              <a:defRPr>
                <a:solidFill>
                  <a:schemeClr val="bg1"/>
                </a:solidFill>
              </a:defRPr>
            </a:lvl1pPr>
          </a:lstStyle>
          <a:p>
            <a:r>
              <a:rPr lang="en-US"/>
              <a:t>Click icon to add picture</a:t>
            </a:r>
            <a:endParaRPr lang="en-US" dirty="0"/>
          </a:p>
        </p:txBody>
      </p:sp>
    </p:spTree>
    <p:extLst>
      <p:ext uri="{BB962C8B-B14F-4D97-AF65-F5344CB8AC3E}">
        <p14:creationId xmlns:p14="http://schemas.microsoft.com/office/powerpoint/2010/main" val="42811763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56197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2" name="Text Placeholder 11">
            <a:extLst>
              <a:ext uri="{FF2B5EF4-FFF2-40B4-BE49-F238E27FC236}">
                <a16:creationId xmlns:a16="http://schemas.microsoft.com/office/drawing/2014/main" id="{4074B9DF-7720-D18B-E48B-4C9CA784C7A3}"/>
              </a:ext>
            </a:extLst>
          </p:cNvPr>
          <p:cNvSpPr>
            <a:spLocks noGrp="1"/>
          </p:cNvSpPr>
          <p:nvPr>
            <p:ph type="body" sz="quarter" idx="14"/>
          </p:nvPr>
        </p:nvSpPr>
        <p:spPr>
          <a:xfrm>
            <a:off x="914400" y="2203704"/>
            <a:ext cx="5181600" cy="396240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324600" y="758952"/>
            <a:ext cx="5486400" cy="5486400"/>
          </a:xfrm>
        </p:spPr>
        <p:txBody>
          <a:bodyPr/>
          <a:lstStyle>
            <a:lvl1pPr>
              <a:defRPr>
                <a:solidFill>
                  <a:schemeClr val="tx1"/>
                </a:solidFill>
              </a:defRPr>
            </a:lvl1pPr>
          </a:lstStyle>
          <a:p>
            <a:r>
              <a:rPr lang="en-US"/>
              <a:t>Click icon to add chart</a:t>
            </a:r>
            <a:endParaRPr lang="en-US" dirty="0"/>
          </a:p>
        </p:txBody>
      </p:sp>
    </p:spTree>
    <p:extLst>
      <p:ext uri="{BB962C8B-B14F-4D97-AF65-F5344CB8AC3E}">
        <p14:creationId xmlns:p14="http://schemas.microsoft.com/office/powerpoint/2010/main" val="357816123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by side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9" name="Chart Placeholder 8">
            <a:extLst>
              <a:ext uri="{FF2B5EF4-FFF2-40B4-BE49-F238E27FC236}">
                <a16:creationId xmlns:a16="http://schemas.microsoft.com/office/drawing/2014/main" id="{61C1296F-E730-081D-E6F9-31BBE4D43254}"/>
              </a:ext>
            </a:extLst>
          </p:cNvPr>
          <p:cNvSpPr>
            <a:spLocks noGrp="1"/>
          </p:cNvSpPr>
          <p:nvPr>
            <p:ph type="chart" sz="quarter" idx="15"/>
          </p:nvPr>
        </p:nvSpPr>
        <p:spPr>
          <a:xfrm>
            <a:off x="6400800" y="2924869"/>
            <a:ext cx="5334000" cy="3505200"/>
          </a:xfrm>
        </p:spPr>
        <p:txBody>
          <a:bodyPr/>
          <a:lstStyle>
            <a:lvl1pPr>
              <a:defRPr>
                <a:solidFill>
                  <a:schemeClr val="tx1"/>
                </a:solidFill>
              </a:defRPr>
            </a:lvl1pPr>
          </a:lstStyle>
          <a:p>
            <a:r>
              <a:rPr lang="en-US"/>
              <a:t>Click icon to add chart</a:t>
            </a:r>
            <a:endParaRPr lang="en-US" dirty="0"/>
          </a:p>
        </p:txBody>
      </p:sp>
      <p:sp>
        <p:nvSpPr>
          <p:cNvPr id="3" name="Chart Placeholder 8">
            <a:extLst>
              <a:ext uri="{FF2B5EF4-FFF2-40B4-BE49-F238E27FC236}">
                <a16:creationId xmlns:a16="http://schemas.microsoft.com/office/drawing/2014/main" id="{47C9A64A-95DE-326D-AD27-2A9C89FC288F}"/>
              </a:ext>
            </a:extLst>
          </p:cNvPr>
          <p:cNvSpPr>
            <a:spLocks noGrp="1"/>
          </p:cNvSpPr>
          <p:nvPr>
            <p:ph type="chart" sz="quarter" idx="16"/>
          </p:nvPr>
        </p:nvSpPr>
        <p:spPr>
          <a:xfrm>
            <a:off x="914400" y="2924869"/>
            <a:ext cx="5334000" cy="3505200"/>
          </a:xfrm>
        </p:spPr>
        <p:txBody>
          <a:bodyPr/>
          <a:lstStyle>
            <a:lvl1pPr>
              <a:defRPr>
                <a:solidFill>
                  <a:schemeClr val="tx1"/>
                </a:solidFill>
              </a:defRPr>
            </a:lvl1pPr>
          </a:lstStyle>
          <a:p>
            <a:r>
              <a:rPr lang="en-US"/>
              <a:t>Click icon to add chart</a:t>
            </a:r>
            <a:endParaRPr lang="en-US" dirty="0"/>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b"/>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Tree>
    <p:extLst>
      <p:ext uri="{BB962C8B-B14F-4D97-AF65-F5344CB8AC3E}">
        <p14:creationId xmlns:p14="http://schemas.microsoft.com/office/powerpoint/2010/main" val="94578090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_Side by side pictur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077BF-0101-859C-6217-36F8D6AEFEBE}"/>
              </a:ext>
            </a:extLst>
          </p:cNvPr>
          <p:cNvSpPr>
            <a:spLocks noGrp="1"/>
          </p:cNvSpPr>
          <p:nvPr>
            <p:ph type="title"/>
          </p:nvPr>
        </p:nvSpPr>
        <p:spPr>
          <a:xfrm>
            <a:off x="914400" y="758952"/>
            <a:ext cx="10877550" cy="1325563"/>
          </a:xfrm>
        </p:spPr>
        <p:txBody>
          <a:bodyPr/>
          <a:lstStyle>
            <a:lvl1pPr>
              <a:defRPr>
                <a:solidFill>
                  <a:schemeClr val="tx1"/>
                </a:solidFill>
              </a:defRPr>
            </a:lvl1pPr>
          </a:lstStyle>
          <a:p>
            <a:r>
              <a:rPr lang="en-US"/>
              <a:t>Click to edit Master title style</a:t>
            </a:r>
            <a:endParaRPr lang="en-US" dirty="0"/>
          </a:p>
        </p:txBody>
      </p:sp>
      <p:sp>
        <p:nvSpPr>
          <p:cNvPr id="6" name="Footer Placeholder 5">
            <a:extLst>
              <a:ext uri="{FF2B5EF4-FFF2-40B4-BE49-F238E27FC236}">
                <a16:creationId xmlns:a16="http://schemas.microsoft.com/office/drawing/2014/main" id="{6ECE6673-C7A0-C2BA-8CF4-61A98DC28D5B}"/>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FA0287EE-B1C0-D41F-430F-AE7AA63CDCCC}"/>
              </a:ext>
            </a:extLst>
          </p:cNvPr>
          <p:cNvSpPr>
            <a:spLocks noGrp="1"/>
          </p:cNvSpPr>
          <p:nvPr>
            <p:ph type="sldNum" sz="quarter" idx="12"/>
          </p:nvPr>
        </p:nvSpPr>
        <p:spPr/>
        <p:txBody>
          <a:bodyPr/>
          <a:lstStyle/>
          <a:p>
            <a:fld id="{E8618032-BA8D-3D4D-8253-A70208A85976}" type="slidenum">
              <a:rPr lang="en-US" smtClean="0"/>
              <a:t>‹#›</a:t>
            </a:fld>
            <a:endParaRPr lang="en-US"/>
          </a:p>
        </p:txBody>
      </p:sp>
      <p:sp>
        <p:nvSpPr>
          <p:cNvPr id="10" name="Text Placeholder 2">
            <a:extLst>
              <a:ext uri="{FF2B5EF4-FFF2-40B4-BE49-F238E27FC236}">
                <a16:creationId xmlns:a16="http://schemas.microsoft.com/office/drawing/2014/main" id="{BFD2497A-A32F-79B8-FD8B-B8AB6127058F}"/>
              </a:ext>
            </a:extLst>
          </p:cNvPr>
          <p:cNvSpPr>
            <a:spLocks noGrp="1"/>
          </p:cNvSpPr>
          <p:nvPr>
            <p:ph type="body" idx="1"/>
          </p:nvPr>
        </p:nvSpPr>
        <p:spPr>
          <a:xfrm>
            <a:off x="914400" y="2203704"/>
            <a:ext cx="10972800" cy="595312"/>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Picture Placeholder 7">
            <a:extLst>
              <a:ext uri="{FF2B5EF4-FFF2-40B4-BE49-F238E27FC236}">
                <a16:creationId xmlns:a16="http://schemas.microsoft.com/office/drawing/2014/main" id="{A5E00329-735F-25A4-8DAC-E98E4105FA19}"/>
              </a:ext>
            </a:extLst>
          </p:cNvPr>
          <p:cNvSpPr>
            <a:spLocks noGrp="1"/>
          </p:cNvSpPr>
          <p:nvPr>
            <p:ph type="pic" sz="quarter" idx="17"/>
          </p:nvPr>
        </p:nvSpPr>
        <p:spPr>
          <a:xfrm>
            <a:off x="914400" y="2912640"/>
            <a:ext cx="5334000" cy="3505200"/>
          </a:xfrm>
        </p:spPr>
        <p:txBody>
          <a:bodyPr/>
          <a:lstStyle/>
          <a:p>
            <a:r>
              <a:rPr lang="en-US"/>
              <a:t>Click icon to add picture</a:t>
            </a:r>
          </a:p>
        </p:txBody>
      </p:sp>
      <p:sp>
        <p:nvSpPr>
          <p:cNvPr id="11" name="Picture Placeholder 7">
            <a:extLst>
              <a:ext uri="{FF2B5EF4-FFF2-40B4-BE49-F238E27FC236}">
                <a16:creationId xmlns:a16="http://schemas.microsoft.com/office/drawing/2014/main" id="{5D11F4B7-132E-FFAB-C5E1-A1A1DA78032E}"/>
              </a:ext>
            </a:extLst>
          </p:cNvPr>
          <p:cNvSpPr>
            <a:spLocks noGrp="1"/>
          </p:cNvSpPr>
          <p:nvPr>
            <p:ph type="pic" sz="quarter" idx="18"/>
          </p:nvPr>
        </p:nvSpPr>
        <p:spPr>
          <a:xfrm>
            <a:off x="6400800" y="2912640"/>
            <a:ext cx="5334000" cy="3505200"/>
          </a:xfrm>
        </p:spPr>
        <p:txBody>
          <a:bodyPr/>
          <a:lstStyle/>
          <a:p>
            <a:r>
              <a:rPr lang="en-US"/>
              <a:t>Click icon to add picture</a:t>
            </a:r>
          </a:p>
        </p:txBody>
      </p:sp>
    </p:spTree>
    <p:extLst>
      <p:ext uri="{BB962C8B-B14F-4D97-AF65-F5344CB8AC3E}">
        <p14:creationId xmlns:p14="http://schemas.microsoft.com/office/powerpoint/2010/main" val="35244866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Icon call outs">
    <p:bg>
      <p:bgRef idx="1001">
        <a:schemeClr val="bg1"/>
      </p:bgRef>
    </p:bg>
    <p:spTree>
      <p:nvGrpSpPr>
        <p:cNvPr id="1" name=""/>
        <p:cNvGrpSpPr/>
        <p:nvPr/>
      </p:nvGrpSpPr>
      <p:grpSpPr>
        <a:xfrm>
          <a:off x="0" y="0"/>
          <a:ext cx="0" cy="0"/>
          <a:chOff x="0" y="0"/>
          <a:chExt cx="0" cy="0"/>
        </a:xfrm>
      </p:grpSpPr>
      <p:sp>
        <p:nvSpPr>
          <p:cNvPr id="15" name="Text Placeholder 11">
            <a:extLst>
              <a:ext uri="{FF2B5EF4-FFF2-40B4-BE49-F238E27FC236}">
                <a16:creationId xmlns:a16="http://schemas.microsoft.com/office/drawing/2014/main" id="{3465C986-E3D2-97E7-9111-0299F9C3B1D2}"/>
              </a:ext>
            </a:extLst>
          </p:cNvPr>
          <p:cNvSpPr>
            <a:spLocks noGrp="1"/>
          </p:cNvSpPr>
          <p:nvPr>
            <p:ph type="body" sz="quarter" idx="15" hasCustomPrompt="1"/>
          </p:nvPr>
        </p:nvSpPr>
        <p:spPr>
          <a:xfrm>
            <a:off x="951767"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40" name="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28190"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948564" y="4248614"/>
            <a:ext cx="233306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5" name="Straight Arrow Connector 44">
            <a:extLst>
              <a:ext uri="{FF2B5EF4-FFF2-40B4-BE49-F238E27FC236}">
                <a16:creationId xmlns:a16="http://schemas.microsoft.com/office/drawing/2014/main" id="{9CFE922A-6A5A-4DA8-1E44-D80852772091}"/>
              </a:ext>
              <a:ext uri="{C183D7F6-B498-43B3-948B-1728B52AA6E4}">
                <adec:decorative xmlns:adec="http://schemas.microsoft.com/office/drawing/2017/decorative" val="1"/>
              </a:ext>
            </a:extLst>
          </p:cNvPr>
          <p:cNvCxnSpPr>
            <a:cxnSpLocks/>
          </p:cNvCxnSpPr>
          <p:nvPr userDrawn="1"/>
        </p:nvCxnSpPr>
        <p:spPr>
          <a:xfrm>
            <a:off x="1201554" y="6203726"/>
            <a:ext cx="1827083"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6" name="Text Placeholder 11">
            <a:extLst>
              <a:ext uri="{FF2B5EF4-FFF2-40B4-BE49-F238E27FC236}">
                <a16:creationId xmlns:a16="http://schemas.microsoft.com/office/drawing/2014/main" id="{3D56C31D-5FDB-2235-FFF8-2AB6E04C9B1C}"/>
              </a:ext>
            </a:extLst>
          </p:cNvPr>
          <p:cNvSpPr>
            <a:spLocks noGrp="1"/>
          </p:cNvSpPr>
          <p:nvPr>
            <p:ph type="body" sz="quarter" idx="16" hasCustomPrompt="1"/>
          </p:nvPr>
        </p:nvSpPr>
        <p:spPr>
          <a:xfrm>
            <a:off x="3657600"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1" name="Text Placeholder 11">
            <a:extLst>
              <a:ext uri="{FF2B5EF4-FFF2-40B4-BE49-F238E27FC236}">
                <a16:creationId xmlns:a16="http://schemas.microsoft.com/office/drawing/2014/main" id="{B16A2860-4464-B092-801E-255A6B7DF3E4}"/>
              </a:ext>
            </a:extLst>
          </p:cNvPr>
          <p:cNvSpPr>
            <a:spLocks noGrp="1"/>
          </p:cNvSpPr>
          <p:nvPr>
            <p:ph type="body" sz="quarter" idx="21" hasCustomPrompt="1"/>
          </p:nvPr>
        </p:nvSpPr>
        <p:spPr>
          <a:xfrm>
            <a:off x="3640500" y="4248614"/>
            <a:ext cx="2360857"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6" name="Straight Arrow Connector 45">
            <a:extLst>
              <a:ext uri="{FF2B5EF4-FFF2-40B4-BE49-F238E27FC236}">
                <a16:creationId xmlns:a16="http://schemas.microsoft.com/office/drawing/2014/main" id="{76330766-86D4-F436-F65D-07EF389BF5F5}"/>
              </a:ext>
              <a:ext uri="{C183D7F6-B498-43B3-948B-1728B52AA6E4}">
                <adec:decorative xmlns:adec="http://schemas.microsoft.com/office/drawing/2017/decorative" val="1"/>
              </a:ext>
            </a:extLst>
          </p:cNvPr>
          <p:cNvCxnSpPr>
            <a:cxnSpLocks/>
          </p:cNvCxnSpPr>
          <p:nvPr userDrawn="1"/>
        </p:nvCxnSpPr>
        <p:spPr>
          <a:xfrm>
            <a:off x="3902735" y="6203726"/>
            <a:ext cx="1836387"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7" name="Text Placeholder 11">
            <a:extLst>
              <a:ext uri="{FF2B5EF4-FFF2-40B4-BE49-F238E27FC236}">
                <a16:creationId xmlns:a16="http://schemas.microsoft.com/office/drawing/2014/main" id="{A540E06E-3F2B-A3DC-320A-8C968AC4350E}"/>
              </a:ext>
            </a:extLst>
          </p:cNvPr>
          <p:cNvSpPr>
            <a:spLocks noGrp="1"/>
          </p:cNvSpPr>
          <p:nvPr>
            <p:ph type="body" sz="quarter" idx="17" hasCustomPrompt="1"/>
          </p:nvPr>
        </p:nvSpPr>
        <p:spPr>
          <a:xfrm>
            <a:off x="6435141"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2" name="Text Placeholder 11">
            <a:extLst>
              <a:ext uri="{FF2B5EF4-FFF2-40B4-BE49-F238E27FC236}">
                <a16:creationId xmlns:a16="http://schemas.microsoft.com/office/drawing/2014/main" id="{51307C43-6072-93E9-BF1D-64D42AE2A524}"/>
              </a:ext>
            </a:extLst>
          </p:cNvPr>
          <p:cNvSpPr>
            <a:spLocks noGrp="1"/>
          </p:cNvSpPr>
          <p:nvPr>
            <p:ph type="body" sz="quarter" idx="22" hasCustomPrompt="1"/>
          </p:nvPr>
        </p:nvSpPr>
        <p:spPr>
          <a:xfrm>
            <a:off x="6419643" y="4248614"/>
            <a:ext cx="2357653"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7" name="Straight Arrow Connector 46">
            <a:extLst>
              <a:ext uri="{FF2B5EF4-FFF2-40B4-BE49-F238E27FC236}">
                <a16:creationId xmlns:a16="http://schemas.microsoft.com/office/drawing/2014/main" id="{EF51B736-1CC5-842A-AFEB-68B18931713C}"/>
              </a:ext>
              <a:ext uri="{C183D7F6-B498-43B3-948B-1728B52AA6E4}">
                <adec:decorative xmlns:adec="http://schemas.microsoft.com/office/drawing/2017/decorative" val="1"/>
              </a:ext>
            </a:extLst>
          </p:cNvPr>
          <p:cNvCxnSpPr>
            <a:cxnSpLocks/>
          </p:cNvCxnSpPr>
          <p:nvPr userDrawn="1"/>
        </p:nvCxnSpPr>
        <p:spPr>
          <a:xfrm>
            <a:off x="6684650" y="6203726"/>
            <a:ext cx="1827639"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8" name="Text Placeholder 11">
            <a:extLst>
              <a:ext uri="{FF2B5EF4-FFF2-40B4-BE49-F238E27FC236}">
                <a16:creationId xmlns:a16="http://schemas.microsoft.com/office/drawing/2014/main" id="{716EA8F4-B9C4-991F-0EBC-D79877AD4680}"/>
              </a:ext>
            </a:extLst>
          </p:cNvPr>
          <p:cNvSpPr>
            <a:spLocks noGrp="1"/>
          </p:cNvSpPr>
          <p:nvPr>
            <p:ph type="body" sz="quarter" idx="18" hasCustomPrompt="1"/>
          </p:nvPr>
        </p:nvSpPr>
        <p:spPr>
          <a:xfrm>
            <a:off x="9161699" y="3135104"/>
            <a:ext cx="2326657" cy="768223"/>
          </a:xfrm>
        </p:spPr>
        <p:txBody>
          <a:bodyPr lIns="91440" tIns="0" anchor="b">
            <a:noAutofit/>
          </a:bodyPr>
          <a:lstStyle>
            <a:lvl1pPr marL="0" indent="0" algn="ctr">
              <a:buNone/>
              <a:defRPr sz="2000" b="0" cap="all" spc="0"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Subtitle</a:t>
            </a:r>
          </a:p>
        </p:txBody>
      </p:sp>
      <p:sp>
        <p:nvSpPr>
          <p:cNvPr id="23" name="Text Placeholder 11">
            <a:extLst>
              <a:ext uri="{FF2B5EF4-FFF2-40B4-BE49-F238E27FC236}">
                <a16:creationId xmlns:a16="http://schemas.microsoft.com/office/drawing/2014/main" id="{5A57C80F-4C30-26E1-B38B-3D7238EC9A49}"/>
              </a:ext>
            </a:extLst>
          </p:cNvPr>
          <p:cNvSpPr>
            <a:spLocks noGrp="1"/>
          </p:cNvSpPr>
          <p:nvPr>
            <p:ph type="body" sz="quarter" idx="23" hasCustomPrompt="1"/>
          </p:nvPr>
        </p:nvSpPr>
        <p:spPr>
          <a:xfrm>
            <a:off x="9140053" y="4248614"/>
            <a:ext cx="2369948" cy="1676185"/>
          </a:xfrm>
        </p:spPr>
        <p:txBody>
          <a:bodyPr lIns="91440" tIns="0">
            <a:noAutofit/>
          </a:bodyPr>
          <a:lstStyle>
            <a:lvl1pPr marL="0" indent="0">
              <a:buNone/>
              <a:defRPr sz="1200" cap="none" baseline="0">
                <a:solidFill>
                  <a:schemeClr val="tx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cxnSp>
        <p:nvCxnSpPr>
          <p:cNvPr id="48" name="Straight Arrow Connector 47">
            <a:extLst>
              <a:ext uri="{FF2B5EF4-FFF2-40B4-BE49-F238E27FC236}">
                <a16:creationId xmlns:a16="http://schemas.microsoft.com/office/drawing/2014/main" id="{A771B152-C165-EE9A-CF25-69B01D93984C}"/>
              </a:ext>
              <a:ext uri="{C183D7F6-B498-43B3-948B-1728B52AA6E4}">
                <adec:decorative xmlns:adec="http://schemas.microsoft.com/office/drawing/2017/decorative" val="1"/>
              </a:ext>
            </a:extLst>
          </p:cNvPr>
          <p:cNvCxnSpPr>
            <a:cxnSpLocks/>
          </p:cNvCxnSpPr>
          <p:nvPr userDrawn="1"/>
        </p:nvCxnSpPr>
        <p:spPr>
          <a:xfrm>
            <a:off x="9410840" y="6203726"/>
            <a:ext cx="1828375" cy="0"/>
          </a:xfrm>
          <a:prstGeom prst="straightConnector1">
            <a:avLst/>
          </a:prstGeom>
          <a:ln w="1905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8" name="Rectangle 7">
            <a:extLst>
              <a:ext uri="{FF2B5EF4-FFF2-40B4-BE49-F238E27FC236}">
                <a16:creationId xmlns:a16="http://schemas.microsoft.com/office/drawing/2014/main" id="{3A788A64-F282-9CE1-4232-9EE355589DE3}"/>
              </a:ext>
              <a:ext uri="{C183D7F6-B498-43B3-948B-1728B52AA6E4}">
                <adec:decorative xmlns:adec="http://schemas.microsoft.com/office/drawing/2017/decorative" val="1"/>
              </a:ext>
            </a:extLst>
          </p:cNvPr>
          <p:cNvSpPr/>
          <p:nvPr userDrawn="1"/>
        </p:nvSpPr>
        <p:spPr>
          <a:xfrm>
            <a:off x="3634023"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9" name="Rectangle 8">
            <a:extLst>
              <a:ext uri="{FF2B5EF4-FFF2-40B4-BE49-F238E27FC236}">
                <a16:creationId xmlns:a16="http://schemas.microsoft.com/office/drawing/2014/main" id="{10782DED-E3BA-FB36-43E4-81DBB440C37C}"/>
              </a:ext>
              <a:ext uri="{C183D7F6-B498-43B3-948B-1728B52AA6E4}">
                <adec:decorative xmlns:adec="http://schemas.microsoft.com/office/drawing/2017/decorative" val="1"/>
              </a:ext>
            </a:extLst>
          </p:cNvPr>
          <p:cNvSpPr/>
          <p:nvPr userDrawn="1"/>
        </p:nvSpPr>
        <p:spPr>
          <a:xfrm>
            <a:off x="6411564"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10" name="Rectangle 9">
            <a:extLst>
              <a:ext uri="{FF2B5EF4-FFF2-40B4-BE49-F238E27FC236}">
                <a16:creationId xmlns:a16="http://schemas.microsoft.com/office/drawing/2014/main" id="{00D478D9-E1B0-6465-A4AE-A5FCFD483B88}"/>
              </a:ext>
              <a:ext uri="{C183D7F6-B498-43B3-948B-1728B52AA6E4}">
                <adec:decorative xmlns:adec="http://schemas.microsoft.com/office/drawing/2017/decorative" val="1"/>
              </a:ext>
            </a:extLst>
          </p:cNvPr>
          <p:cNvSpPr/>
          <p:nvPr userDrawn="1"/>
        </p:nvSpPr>
        <p:spPr>
          <a:xfrm>
            <a:off x="9138122" y="4011416"/>
            <a:ext cx="2373810" cy="110198"/>
          </a:xfrm>
          <a:prstGeom prst="rect">
            <a:avLst/>
          </a:prstGeom>
          <a:gradFill>
            <a:gsLst>
              <a:gs pos="0">
                <a:schemeClr val="tx1"/>
              </a:gs>
              <a:gs pos="97000">
                <a:schemeClr val="accent3"/>
              </a:gs>
              <a:gs pos="48000">
                <a:schemeClr val="accent2"/>
              </a:gs>
            </a:gsLst>
            <a:lin ang="216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dirty="0">
              <a:solidFill>
                <a:schemeClr val="bg1">
                  <a:lumMod val="95000"/>
                </a:schemeClr>
              </a:solidFill>
            </a:endParaRP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6" name="Footer Placeholder 5">
            <a:extLst>
              <a:ext uri="{FF2B5EF4-FFF2-40B4-BE49-F238E27FC236}">
                <a16:creationId xmlns:a16="http://schemas.microsoft.com/office/drawing/2014/main" id="{44EA6892-F10F-164E-5109-ED84CE738A8B}"/>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828D13AE-FD08-9C1F-6E91-5682E73EC069}"/>
              </a:ext>
            </a:extLst>
          </p:cNvPr>
          <p:cNvSpPr>
            <a:spLocks noGrp="1"/>
          </p:cNvSpPr>
          <p:nvPr>
            <p:ph type="sldNum" sz="quarter" idx="12"/>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193158889"/>
      </p:ext>
    </p:extLst>
  </p:cSld>
  <p:clrMapOvr>
    <a:overrideClrMapping bg1="lt1" tx1="dk1" bg2="lt2" tx2="dk2" accent1="accent1" accent2="accent2" accent3="accent3" accent4="accent4" accent5="accent5" accent6="accent6" hlink="hlink" folHlink="folHlink"/>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6 circle callou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89F04-8166-A3DC-744C-551C5EB8708A}"/>
              </a:ext>
            </a:extLst>
          </p:cNvPr>
          <p:cNvSpPr>
            <a:spLocks noGrp="1"/>
          </p:cNvSpPr>
          <p:nvPr>
            <p:ph type="title"/>
          </p:nvPr>
        </p:nvSpPr>
        <p:spPr>
          <a:xfrm>
            <a:off x="914400" y="755930"/>
            <a:ext cx="10325100" cy="1325563"/>
          </a:xfrm>
        </p:spPr>
        <p:txBody>
          <a:bodyPr/>
          <a:lstStyle/>
          <a:p>
            <a:r>
              <a:rPr lang="en-US"/>
              <a:t>Click to edit Master title style</a:t>
            </a:r>
          </a:p>
        </p:txBody>
      </p:sp>
      <p:grpSp>
        <p:nvGrpSpPr>
          <p:cNvPr id="6" name="그룹 1281">
            <a:extLst>
              <a:ext uri="{FF2B5EF4-FFF2-40B4-BE49-F238E27FC236}">
                <a16:creationId xmlns:a16="http://schemas.microsoft.com/office/drawing/2014/main" id="{65B4D3AB-B0EE-820C-F332-86B9B4FF4D7D}"/>
              </a:ext>
            </a:extLst>
          </p:cNvPr>
          <p:cNvGrpSpPr/>
          <p:nvPr userDrawn="1"/>
        </p:nvGrpSpPr>
        <p:grpSpPr>
          <a:xfrm>
            <a:off x="1143000" y="2505297"/>
            <a:ext cx="10056459" cy="2238357"/>
            <a:chOff x="1073086" y="2710034"/>
            <a:chExt cx="10056459" cy="2238357"/>
          </a:xfrm>
        </p:grpSpPr>
        <p:sp>
          <p:nvSpPr>
            <p:cNvPr id="8" name="Oval 6">
              <a:extLst>
                <a:ext uri="{FF2B5EF4-FFF2-40B4-BE49-F238E27FC236}">
                  <a16:creationId xmlns:a16="http://schemas.microsoft.com/office/drawing/2014/main" id="{1F23A632-C958-B035-7D29-4E36C3A8D927}"/>
                </a:ext>
              </a:extLst>
            </p:cNvPr>
            <p:cNvSpPr/>
            <p:nvPr/>
          </p:nvSpPr>
          <p:spPr>
            <a:xfrm rot="7200000" flipH="1">
              <a:off x="3914385"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9" name="Oval 6">
              <a:extLst>
                <a:ext uri="{FF2B5EF4-FFF2-40B4-BE49-F238E27FC236}">
                  <a16:creationId xmlns:a16="http://schemas.microsoft.com/office/drawing/2014/main" id="{918FE6A1-233A-7F39-8799-6BFEF9149E32}"/>
                </a:ext>
              </a:extLst>
            </p:cNvPr>
            <p:cNvSpPr/>
            <p:nvPr/>
          </p:nvSpPr>
          <p:spPr>
            <a:xfrm rot="7200000" flipH="1">
              <a:off x="7460429"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0" name="Oval 6">
              <a:extLst>
                <a:ext uri="{FF2B5EF4-FFF2-40B4-BE49-F238E27FC236}">
                  <a16:creationId xmlns:a16="http://schemas.microsoft.com/office/drawing/2014/main" id="{7E0B8266-3454-DEDE-28C4-30473AD029FF}"/>
                </a:ext>
              </a:extLst>
            </p:cNvPr>
            <p:cNvSpPr/>
            <p:nvPr/>
          </p:nvSpPr>
          <p:spPr>
            <a:xfrm rot="14400000">
              <a:off x="2141363"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1" name="Oval 5">
              <a:extLst>
                <a:ext uri="{FF2B5EF4-FFF2-40B4-BE49-F238E27FC236}">
                  <a16:creationId xmlns:a16="http://schemas.microsoft.com/office/drawing/2014/main" id="{3229B04E-61C5-C43D-3D60-E218AEF16C01}"/>
                </a:ext>
              </a:extLst>
            </p:cNvPr>
            <p:cNvSpPr/>
            <p:nvPr/>
          </p:nvSpPr>
          <p:spPr>
            <a:xfrm>
              <a:off x="1073086" y="3714353"/>
              <a:ext cx="1234037" cy="1234038"/>
            </a:xfrm>
            <a:prstGeom prst="ellipse">
              <a:avLst/>
            </a:prstGeom>
            <a:solidFill>
              <a:schemeClr val="accent6"/>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2" name="타원 1286">
              <a:extLst>
                <a:ext uri="{FF2B5EF4-FFF2-40B4-BE49-F238E27FC236}">
                  <a16:creationId xmlns:a16="http://schemas.microsoft.com/office/drawing/2014/main" id="{2EA6EF24-8749-8BEF-326C-C125ACB2C20A}"/>
                </a:ext>
              </a:extLst>
            </p:cNvPr>
            <p:cNvSpPr/>
            <p:nvPr/>
          </p:nvSpPr>
          <p:spPr>
            <a:xfrm>
              <a:off x="1137335"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13" name="Oval 15">
              <a:extLst>
                <a:ext uri="{FF2B5EF4-FFF2-40B4-BE49-F238E27FC236}">
                  <a16:creationId xmlns:a16="http://schemas.microsoft.com/office/drawing/2014/main" id="{454E25E1-F59A-FADC-CD3F-CA7A84CCA1E2}"/>
                </a:ext>
              </a:extLst>
            </p:cNvPr>
            <p:cNvSpPr/>
            <p:nvPr/>
          </p:nvSpPr>
          <p:spPr>
            <a:xfrm>
              <a:off x="2837570" y="2710034"/>
              <a:ext cx="1234037" cy="1234038"/>
            </a:xfrm>
            <a:prstGeom prst="ellipse">
              <a:avLst/>
            </a:prstGeom>
            <a:solidFill>
              <a:schemeClr val="accent5"/>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4" name="Oval 6">
              <a:extLst>
                <a:ext uri="{FF2B5EF4-FFF2-40B4-BE49-F238E27FC236}">
                  <a16:creationId xmlns:a16="http://schemas.microsoft.com/office/drawing/2014/main" id="{FDA8283F-32E9-CA15-A705-995234E96ECB}"/>
                </a:ext>
              </a:extLst>
            </p:cNvPr>
            <p:cNvSpPr/>
            <p:nvPr/>
          </p:nvSpPr>
          <p:spPr>
            <a:xfrm rot="14400000">
              <a:off x="9209572" y="3041001"/>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5" name="Oval 6">
              <a:extLst>
                <a:ext uri="{FF2B5EF4-FFF2-40B4-BE49-F238E27FC236}">
                  <a16:creationId xmlns:a16="http://schemas.microsoft.com/office/drawing/2014/main" id="{6613845B-FD2D-2942-2DAB-3AB4C444161F}"/>
                </a:ext>
              </a:extLst>
            </p:cNvPr>
            <p:cNvSpPr/>
            <p:nvPr/>
          </p:nvSpPr>
          <p:spPr>
            <a:xfrm rot="14400000">
              <a:off x="5687407" y="3078946"/>
              <a:ext cx="864000" cy="1564691"/>
            </a:xfrm>
            <a:custGeom>
              <a:avLst/>
              <a:gdLst/>
              <a:ahLst/>
              <a:cxnLst/>
              <a:rect l="l" t="t" r="r" b="b"/>
              <a:pathLst>
                <a:path w="890376" h="1440160">
                  <a:moveTo>
                    <a:pt x="445188" y="0"/>
                  </a:moveTo>
                  <a:cubicBezTo>
                    <a:pt x="614149" y="0"/>
                    <a:pt x="769519" y="58193"/>
                    <a:pt x="890376" y="158114"/>
                  </a:cubicBezTo>
                  <a:cubicBezTo>
                    <a:pt x="722128" y="287532"/>
                    <a:pt x="615484" y="491352"/>
                    <a:pt x="615484" y="720080"/>
                  </a:cubicBezTo>
                  <a:cubicBezTo>
                    <a:pt x="615484" y="948808"/>
                    <a:pt x="722128" y="1152628"/>
                    <a:pt x="890376" y="1282046"/>
                  </a:cubicBezTo>
                  <a:cubicBezTo>
                    <a:pt x="769519" y="1381967"/>
                    <a:pt x="614149" y="1440160"/>
                    <a:pt x="445188" y="1440160"/>
                  </a:cubicBezTo>
                  <a:cubicBezTo>
                    <a:pt x="276227" y="1440160"/>
                    <a:pt x="120857" y="1381967"/>
                    <a:pt x="0" y="1282046"/>
                  </a:cubicBezTo>
                  <a:cubicBezTo>
                    <a:pt x="168248" y="1152628"/>
                    <a:pt x="274891" y="948808"/>
                    <a:pt x="274891" y="720080"/>
                  </a:cubicBezTo>
                  <a:cubicBezTo>
                    <a:pt x="274891" y="491352"/>
                    <a:pt x="168248" y="287532"/>
                    <a:pt x="0" y="158114"/>
                  </a:cubicBezTo>
                  <a:cubicBezTo>
                    <a:pt x="120857" y="58193"/>
                    <a:pt x="276227" y="0"/>
                    <a:pt x="445188" y="0"/>
                  </a:cubicBezTo>
                  <a:close/>
                </a:path>
              </a:pathLst>
            </a:cu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6" name="Oval 5">
              <a:extLst>
                <a:ext uri="{FF2B5EF4-FFF2-40B4-BE49-F238E27FC236}">
                  <a16:creationId xmlns:a16="http://schemas.microsoft.com/office/drawing/2014/main" id="{D2062A16-1962-16F4-8023-92D9AE84B52E}"/>
                </a:ext>
              </a:extLst>
            </p:cNvPr>
            <p:cNvSpPr/>
            <p:nvPr/>
          </p:nvSpPr>
          <p:spPr>
            <a:xfrm>
              <a:off x="4602054" y="3714353"/>
              <a:ext cx="1234037" cy="1234038"/>
            </a:xfrm>
            <a:prstGeom prst="ellipse">
              <a:avLst/>
            </a:prstGeom>
            <a:solidFill>
              <a:schemeClr val="accent4"/>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17" name="Oval 15">
              <a:extLst>
                <a:ext uri="{FF2B5EF4-FFF2-40B4-BE49-F238E27FC236}">
                  <a16:creationId xmlns:a16="http://schemas.microsoft.com/office/drawing/2014/main" id="{0ABE85E6-8EEE-628D-159D-8DE52BB344E7}"/>
                </a:ext>
              </a:extLst>
            </p:cNvPr>
            <p:cNvSpPr/>
            <p:nvPr/>
          </p:nvSpPr>
          <p:spPr>
            <a:xfrm>
              <a:off x="6366538" y="2710034"/>
              <a:ext cx="1234037" cy="1234038"/>
            </a:xfrm>
            <a:prstGeom prst="ellipse">
              <a:avLst/>
            </a:prstGeom>
            <a:solidFill>
              <a:schemeClr val="accent3"/>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8" name="Oval 18">
              <a:extLst>
                <a:ext uri="{FF2B5EF4-FFF2-40B4-BE49-F238E27FC236}">
                  <a16:creationId xmlns:a16="http://schemas.microsoft.com/office/drawing/2014/main" id="{8B1831B6-1987-F685-D305-1DFA4F6D16E4}"/>
                </a:ext>
              </a:extLst>
            </p:cNvPr>
            <p:cNvSpPr/>
            <p:nvPr/>
          </p:nvSpPr>
          <p:spPr>
            <a:xfrm>
              <a:off x="8131022" y="3714353"/>
              <a:ext cx="1234037" cy="1234038"/>
            </a:xfrm>
            <a:prstGeom prst="ellipse">
              <a:avLst/>
            </a:prstGeom>
            <a:solidFill>
              <a:schemeClr val="accent2"/>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dirty="0"/>
            </a:p>
          </p:txBody>
        </p:sp>
        <p:sp>
          <p:nvSpPr>
            <p:cNvPr id="19" name="Oval 21">
              <a:extLst>
                <a:ext uri="{FF2B5EF4-FFF2-40B4-BE49-F238E27FC236}">
                  <a16:creationId xmlns:a16="http://schemas.microsoft.com/office/drawing/2014/main" id="{753C5383-B157-55FB-8CE2-7456440E869D}"/>
                </a:ext>
              </a:extLst>
            </p:cNvPr>
            <p:cNvSpPr/>
            <p:nvPr/>
          </p:nvSpPr>
          <p:spPr>
            <a:xfrm>
              <a:off x="9895508" y="2710034"/>
              <a:ext cx="1234037" cy="1234038"/>
            </a:xfrm>
            <a:prstGeom prst="ellipse">
              <a:avLst/>
            </a:prstGeom>
            <a:solidFill>
              <a:schemeClr val="accent1"/>
            </a:solidFill>
            <a:ln>
              <a:no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21" name="타원 1295">
              <a:extLst>
                <a:ext uri="{FF2B5EF4-FFF2-40B4-BE49-F238E27FC236}">
                  <a16:creationId xmlns:a16="http://schemas.microsoft.com/office/drawing/2014/main" id="{BB2B1159-F287-F4D0-972D-AEB57CCA3AC0}"/>
                </a:ext>
              </a:extLst>
            </p:cNvPr>
            <p:cNvSpPr/>
            <p:nvPr/>
          </p:nvSpPr>
          <p:spPr>
            <a:xfrm>
              <a:off x="2901819"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accent5"/>
                </a:solidFill>
              </a:endParaRPr>
            </a:p>
          </p:txBody>
        </p:sp>
        <p:sp>
          <p:nvSpPr>
            <p:cNvPr id="22" name="타원 1296">
              <a:extLst>
                <a:ext uri="{FF2B5EF4-FFF2-40B4-BE49-F238E27FC236}">
                  <a16:creationId xmlns:a16="http://schemas.microsoft.com/office/drawing/2014/main" id="{3D44CC5B-C0AF-D2C2-BE76-D065ED9D3A38}"/>
                </a:ext>
              </a:extLst>
            </p:cNvPr>
            <p:cNvSpPr/>
            <p:nvPr/>
          </p:nvSpPr>
          <p:spPr>
            <a:xfrm>
              <a:off x="643078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3" name="타원 1297">
              <a:extLst>
                <a:ext uri="{FF2B5EF4-FFF2-40B4-BE49-F238E27FC236}">
                  <a16:creationId xmlns:a16="http://schemas.microsoft.com/office/drawing/2014/main" id="{8E47600E-B996-E6EC-B833-93E90D5A2297}"/>
                </a:ext>
              </a:extLst>
            </p:cNvPr>
            <p:cNvSpPr/>
            <p:nvPr/>
          </p:nvSpPr>
          <p:spPr>
            <a:xfrm>
              <a:off x="9955227" y="2800818"/>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4" name="타원 1298">
              <a:extLst>
                <a:ext uri="{FF2B5EF4-FFF2-40B4-BE49-F238E27FC236}">
                  <a16:creationId xmlns:a16="http://schemas.microsoft.com/office/drawing/2014/main" id="{047F897C-36C1-5E05-CC89-EBDFB90F4035}"/>
                </a:ext>
              </a:extLst>
            </p:cNvPr>
            <p:cNvSpPr/>
            <p:nvPr/>
          </p:nvSpPr>
          <p:spPr>
            <a:xfrm>
              <a:off x="8195271"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sp>
          <p:nvSpPr>
            <p:cNvPr id="25" name="타원 1299">
              <a:extLst>
                <a:ext uri="{FF2B5EF4-FFF2-40B4-BE49-F238E27FC236}">
                  <a16:creationId xmlns:a16="http://schemas.microsoft.com/office/drawing/2014/main" id="{54EBFDB8-3C81-B0D3-B25E-E3CC580BDD36}"/>
                </a:ext>
              </a:extLst>
            </p:cNvPr>
            <p:cNvSpPr/>
            <p:nvPr/>
          </p:nvSpPr>
          <p:spPr>
            <a:xfrm>
              <a:off x="4666303" y="3805137"/>
              <a:ext cx="1105538" cy="1052470"/>
            </a:xfrm>
            <a:prstGeom prst="ellipse">
              <a:avLst/>
            </a:prstGeom>
            <a:gradFill flip="none" rotWithShape="1">
              <a:gsLst>
                <a:gs pos="0">
                  <a:schemeClr val="bg1">
                    <a:lumMod val="87000"/>
                  </a:schemeClr>
                </a:gs>
                <a:gs pos="100000">
                  <a:schemeClr val="bg1"/>
                </a:gs>
              </a:gsLst>
              <a:lin ang="8100000" scaled="1"/>
              <a:tileRect/>
            </a:gradFill>
            <a:ln w="6350">
              <a:solidFill>
                <a:schemeClr val="bg1"/>
              </a:solidFill>
            </a:ln>
            <a:effectLst>
              <a:outerShdw blurRad="63500" sx="102000" sy="102000" algn="c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2800">
                <a:solidFill>
                  <a:schemeClr val="tx1">
                    <a:lumMod val="65000"/>
                    <a:lumOff val="35000"/>
                  </a:schemeClr>
                </a:solidFill>
              </a:endParaRPr>
            </a:p>
          </p:txBody>
        </p:sp>
      </p:grpSp>
      <p:sp>
        <p:nvSpPr>
          <p:cNvPr id="32" name="Text Placeholder 31">
            <a:extLst>
              <a:ext uri="{FF2B5EF4-FFF2-40B4-BE49-F238E27FC236}">
                <a16:creationId xmlns:a16="http://schemas.microsoft.com/office/drawing/2014/main" id="{17B16F72-40BA-E998-2257-D54EE6CEBAEE}"/>
              </a:ext>
            </a:extLst>
          </p:cNvPr>
          <p:cNvSpPr>
            <a:spLocks noGrp="1"/>
          </p:cNvSpPr>
          <p:nvPr>
            <p:ph type="body" sz="quarter" idx="12" hasCustomPrompt="1"/>
          </p:nvPr>
        </p:nvSpPr>
        <p:spPr>
          <a:xfrm>
            <a:off x="1143000" y="36482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3" name="Text Placeholder 31">
            <a:extLst>
              <a:ext uri="{FF2B5EF4-FFF2-40B4-BE49-F238E27FC236}">
                <a16:creationId xmlns:a16="http://schemas.microsoft.com/office/drawing/2014/main" id="{AAB8F30F-2FFC-20DD-A8F6-71024DC03C1C}"/>
              </a:ext>
            </a:extLst>
          </p:cNvPr>
          <p:cNvSpPr>
            <a:spLocks noGrp="1"/>
          </p:cNvSpPr>
          <p:nvPr>
            <p:ph type="body" sz="quarter" idx="13" hasCustomPrompt="1"/>
          </p:nvPr>
        </p:nvSpPr>
        <p:spPr>
          <a:xfrm>
            <a:off x="2971800" y="2657697"/>
            <a:ext cx="1143000" cy="990600"/>
          </a:xfrm>
        </p:spPr>
        <p:txBody>
          <a:bodyPr anchor="ctr">
            <a:normAutofit/>
          </a:bodyPr>
          <a:lstStyle>
            <a:lvl1pPr marL="0" indent="0" algn="ctr">
              <a:lnSpc>
                <a:spcPct val="85000"/>
              </a:lnSpc>
              <a:spcBef>
                <a:spcPts val="0"/>
              </a:spcBef>
              <a:buNone/>
              <a:defRPr sz="1600" b="1"/>
            </a:lvl1pPr>
          </a:lstStyle>
          <a:p>
            <a:pPr lvl="0"/>
            <a:r>
              <a:rPr lang="en-US" dirty="0"/>
              <a:t>Text</a:t>
            </a:r>
          </a:p>
        </p:txBody>
      </p:sp>
      <p:sp>
        <p:nvSpPr>
          <p:cNvPr id="34" name="Text Placeholder 31">
            <a:extLst>
              <a:ext uri="{FF2B5EF4-FFF2-40B4-BE49-F238E27FC236}">
                <a16:creationId xmlns:a16="http://schemas.microsoft.com/office/drawing/2014/main" id="{9BFAAFBE-22E7-798D-C75E-C8E828921180}"/>
              </a:ext>
            </a:extLst>
          </p:cNvPr>
          <p:cNvSpPr>
            <a:spLocks noGrp="1"/>
          </p:cNvSpPr>
          <p:nvPr>
            <p:ph type="body" sz="quarter" idx="14" hasCustomPrompt="1"/>
          </p:nvPr>
        </p:nvSpPr>
        <p:spPr>
          <a:xfrm>
            <a:off x="4724400" y="3648297"/>
            <a:ext cx="1143000" cy="990600"/>
          </a:xfrm>
        </p:spPr>
        <p:txBody>
          <a:bodyPr anchor="ctr">
            <a:normAutofit/>
          </a:bodyPr>
          <a:lstStyle>
            <a:lvl1pPr marL="0" indent="0" algn="ctr">
              <a:lnSpc>
                <a:spcPct val="85000"/>
              </a:lnSpc>
              <a:spcBef>
                <a:spcPts val="0"/>
              </a:spcBef>
              <a:buNone/>
              <a:defRPr sz="1600" b="1">
                <a:solidFill>
                  <a:schemeClr val="bg2">
                    <a:lumMod val="50000"/>
                  </a:schemeClr>
                </a:solidFill>
              </a:defRPr>
            </a:lvl1pPr>
          </a:lstStyle>
          <a:p>
            <a:pPr lvl="0"/>
            <a:r>
              <a:rPr lang="en-US" dirty="0"/>
              <a:t>Text</a:t>
            </a:r>
          </a:p>
        </p:txBody>
      </p:sp>
      <p:sp>
        <p:nvSpPr>
          <p:cNvPr id="35" name="Text Placeholder 31">
            <a:extLst>
              <a:ext uri="{FF2B5EF4-FFF2-40B4-BE49-F238E27FC236}">
                <a16:creationId xmlns:a16="http://schemas.microsoft.com/office/drawing/2014/main" id="{AB5386A6-EBCF-BE3F-9C99-5AC05501DAA9}"/>
              </a:ext>
            </a:extLst>
          </p:cNvPr>
          <p:cNvSpPr>
            <a:spLocks noGrp="1"/>
          </p:cNvSpPr>
          <p:nvPr>
            <p:ph type="body" sz="quarter" idx="15" hasCustomPrompt="1"/>
          </p:nvPr>
        </p:nvSpPr>
        <p:spPr>
          <a:xfrm>
            <a:off x="6477000" y="2657697"/>
            <a:ext cx="1143000" cy="990600"/>
          </a:xfrm>
        </p:spPr>
        <p:txBody>
          <a:bodyPr anchor="ctr">
            <a:normAutofit/>
          </a:bodyPr>
          <a:lstStyle>
            <a:lvl1pPr marL="0" indent="0" algn="ctr">
              <a:lnSpc>
                <a:spcPct val="85000"/>
              </a:lnSpc>
              <a:spcBef>
                <a:spcPts val="0"/>
              </a:spcBef>
              <a:buNone/>
              <a:defRPr sz="1600" b="1">
                <a:solidFill>
                  <a:schemeClr val="accent3">
                    <a:lumMod val="75000"/>
                  </a:schemeClr>
                </a:solidFill>
              </a:defRPr>
            </a:lvl1pPr>
          </a:lstStyle>
          <a:p>
            <a:pPr lvl="0"/>
            <a:r>
              <a:rPr lang="en-US" dirty="0"/>
              <a:t>Text</a:t>
            </a:r>
          </a:p>
        </p:txBody>
      </p:sp>
      <p:sp>
        <p:nvSpPr>
          <p:cNvPr id="36" name="Text Placeholder 31">
            <a:extLst>
              <a:ext uri="{FF2B5EF4-FFF2-40B4-BE49-F238E27FC236}">
                <a16:creationId xmlns:a16="http://schemas.microsoft.com/office/drawing/2014/main" id="{8FF922E3-5C68-F6E3-0485-A0E67CC88D80}"/>
              </a:ext>
            </a:extLst>
          </p:cNvPr>
          <p:cNvSpPr>
            <a:spLocks noGrp="1"/>
          </p:cNvSpPr>
          <p:nvPr>
            <p:ph type="body" sz="quarter" idx="16" hasCustomPrompt="1"/>
          </p:nvPr>
        </p:nvSpPr>
        <p:spPr>
          <a:xfrm>
            <a:off x="8229600" y="3648297"/>
            <a:ext cx="1143000" cy="990600"/>
          </a:xfrm>
        </p:spPr>
        <p:txBody>
          <a:bodyPr anchor="ctr">
            <a:normAutofit/>
          </a:bodyPr>
          <a:lstStyle>
            <a:lvl1pPr marL="0" indent="0" algn="ctr">
              <a:lnSpc>
                <a:spcPct val="85000"/>
              </a:lnSpc>
              <a:spcBef>
                <a:spcPts val="0"/>
              </a:spcBef>
              <a:buNone/>
              <a:defRPr sz="1600" b="1">
                <a:solidFill>
                  <a:schemeClr val="accent5"/>
                </a:solidFill>
              </a:defRPr>
            </a:lvl1pPr>
          </a:lstStyle>
          <a:p>
            <a:pPr lvl="0"/>
            <a:r>
              <a:rPr lang="en-US" dirty="0"/>
              <a:t>Text</a:t>
            </a:r>
          </a:p>
        </p:txBody>
      </p:sp>
      <p:sp>
        <p:nvSpPr>
          <p:cNvPr id="37" name="Text Placeholder 31">
            <a:extLst>
              <a:ext uri="{FF2B5EF4-FFF2-40B4-BE49-F238E27FC236}">
                <a16:creationId xmlns:a16="http://schemas.microsoft.com/office/drawing/2014/main" id="{C910256D-A8C2-E46B-A929-3267D33AA46D}"/>
              </a:ext>
            </a:extLst>
          </p:cNvPr>
          <p:cNvSpPr>
            <a:spLocks noGrp="1"/>
          </p:cNvSpPr>
          <p:nvPr>
            <p:ph type="body" sz="quarter" idx="17" hasCustomPrompt="1"/>
          </p:nvPr>
        </p:nvSpPr>
        <p:spPr>
          <a:xfrm>
            <a:off x="9982200" y="2657697"/>
            <a:ext cx="1143000" cy="990600"/>
          </a:xfrm>
        </p:spPr>
        <p:txBody>
          <a:bodyPr anchor="ctr">
            <a:normAutofit/>
          </a:bodyPr>
          <a:lstStyle>
            <a:lvl1pPr marL="0" indent="0" algn="ctr">
              <a:lnSpc>
                <a:spcPct val="85000"/>
              </a:lnSpc>
              <a:spcBef>
                <a:spcPts val="0"/>
              </a:spcBef>
              <a:buNone/>
              <a:defRPr sz="1600" b="1">
                <a:solidFill>
                  <a:schemeClr val="tx1"/>
                </a:solidFill>
              </a:defRPr>
            </a:lvl1pPr>
          </a:lstStyle>
          <a:p>
            <a:pPr lvl="0"/>
            <a:r>
              <a:rPr lang="en-US" dirty="0"/>
              <a:t>Text</a:t>
            </a:r>
          </a:p>
        </p:txBody>
      </p:sp>
      <p:sp>
        <p:nvSpPr>
          <p:cNvPr id="39" name="Text Placeholder 38">
            <a:extLst>
              <a:ext uri="{FF2B5EF4-FFF2-40B4-BE49-F238E27FC236}">
                <a16:creationId xmlns:a16="http://schemas.microsoft.com/office/drawing/2014/main" id="{0C26EF43-A591-ACB9-95D5-D2A6C44F70EB}"/>
              </a:ext>
            </a:extLst>
          </p:cNvPr>
          <p:cNvSpPr>
            <a:spLocks noGrp="1"/>
          </p:cNvSpPr>
          <p:nvPr>
            <p:ph type="body" sz="quarter" idx="18" hasCustomPrompt="1"/>
          </p:nvPr>
        </p:nvSpPr>
        <p:spPr>
          <a:xfrm>
            <a:off x="9144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2" name="Text Placeholder 38">
            <a:extLst>
              <a:ext uri="{FF2B5EF4-FFF2-40B4-BE49-F238E27FC236}">
                <a16:creationId xmlns:a16="http://schemas.microsoft.com/office/drawing/2014/main" id="{F2B1CEAB-5243-EF63-89D5-ADA49AA64D68}"/>
              </a:ext>
            </a:extLst>
          </p:cNvPr>
          <p:cNvSpPr>
            <a:spLocks noGrp="1"/>
          </p:cNvSpPr>
          <p:nvPr>
            <p:ph type="body" sz="quarter" idx="19" hasCustomPrompt="1"/>
          </p:nvPr>
        </p:nvSpPr>
        <p:spPr>
          <a:xfrm>
            <a:off x="25908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3" name="Text Placeholder 38">
            <a:extLst>
              <a:ext uri="{FF2B5EF4-FFF2-40B4-BE49-F238E27FC236}">
                <a16:creationId xmlns:a16="http://schemas.microsoft.com/office/drawing/2014/main" id="{CDEDCD72-ECA0-F2D7-EC03-81843D0246E4}"/>
              </a:ext>
            </a:extLst>
          </p:cNvPr>
          <p:cNvSpPr>
            <a:spLocks noGrp="1"/>
          </p:cNvSpPr>
          <p:nvPr>
            <p:ph type="body" sz="quarter" idx="20" hasCustomPrompt="1"/>
          </p:nvPr>
        </p:nvSpPr>
        <p:spPr>
          <a:xfrm>
            <a:off x="44958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bg2">
                    <a:lumMod val="50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4" name="Text Placeholder 38">
            <a:extLst>
              <a:ext uri="{FF2B5EF4-FFF2-40B4-BE49-F238E27FC236}">
                <a16:creationId xmlns:a16="http://schemas.microsoft.com/office/drawing/2014/main" id="{2E0ED554-E380-3678-D783-DD39A1074860}"/>
              </a:ext>
            </a:extLst>
          </p:cNvPr>
          <p:cNvSpPr>
            <a:spLocks noGrp="1"/>
          </p:cNvSpPr>
          <p:nvPr>
            <p:ph type="body" sz="quarter" idx="21" hasCustomPrompt="1"/>
          </p:nvPr>
        </p:nvSpPr>
        <p:spPr>
          <a:xfrm>
            <a:off x="61722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3">
                    <a:lumMod val="75000"/>
                  </a:schemeClr>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5" name="Text Placeholder 38">
            <a:extLst>
              <a:ext uri="{FF2B5EF4-FFF2-40B4-BE49-F238E27FC236}">
                <a16:creationId xmlns:a16="http://schemas.microsoft.com/office/drawing/2014/main" id="{2DF7B12C-4A5F-2508-FCE7-35F125B54AD1}"/>
              </a:ext>
            </a:extLst>
          </p:cNvPr>
          <p:cNvSpPr>
            <a:spLocks noGrp="1"/>
          </p:cNvSpPr>
          <p:nvPr>
            <p:ph type="body" sz="quarter" idx="22" hasCustomPrompt="1"/>
          </p:nvPr>
        </p:nvSpPr>
        <p:spPr>
          <a:xfrm>
            <a:off x="9677400" y="3876897"/>
            <a:ext cx="1828800" cy="18288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tx1"/>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46" name="Text Placeholder 38">
            <a:extLst>
              <a:ext uri="{FF2B5EF4-FFF2-40B4-BE49-F238E27FC236}">
                <a16:creationId xmlns:a16="http://schemas.microsoft.com/office/drawing/2014/main" id="{93AFFB44-33B2-D0D0-24B9-36F37009010E}"/>
              </a:ext>
            </a:extLst>
          </p:cNvPr>
          <p:cNvSpPr>
            <a:spLocks noGrp="1"/>
          </p:cNvSpPr>
          <p:nvPr>
            <p:ph type="body" sz="quarter" idx="23" hasCustomPrompt="1"/>
          </p:nvPr>
        </p:nvSpPr>
        <p:spPr>
          <a:xfrm>
            <a:off x="8077200" y="4867497"/>
            <a:ext cx="1524000" cy="1676400"/>
          </a:xfrm>
        </p:spPr>
        <p:txBody>
          <a:bodyPr>
            <a:noAutofit/>
          </a:bodyPr>
          <a:lstStyle>
            <a:lvl1pPr marL="0" indent="-91440" algn="ctr">
              <a:lnSpc>
                <a:spcPct val="85000"/>
              </a:lnSpc>
              <a:spcBef>
                <a:spcPts val="0"/>
              </a:spcBef>
              <a:spcAft>
                <a:spcPts val="600"/>
              </a:spcAft>
              <a:buFont typeface="Arial" panose="020B0604020202020204" pitchFamily="34" charset="0"/>
              <a:buChar char="•"/>
              <a:defRPr sz="1400">
                <a:solidFill>
                  <a:schemeClr val="accent5"/>
                </a:solidFill>
              </a:defRPr>
            </a:lvl1pPr>
            <a:lvl2pPr marL="457200" indent="0">
              <a:buNone/>
              <a:defRPr sz="1400"/>
            </a:lvl2pPr>
            <a:lvl3pPr marL="914400" indent="0">
              <a:buNone/>
              <a:defRPr sz="1400"/>
            </a:lvl3pPr>
            <a:lvl4pPr marL="1371600" indent="0">
              <a:buNone/>
              <a:defRPr sz="1400"/>
            </a:lvl4pPr>
            <a:lvl5pPr marL="1828800" indent="0">
              <a:buNone/>
              <a:defRPr sz="1400"/>
            </a:lvl5pPr>
          </a:lstStyle>
          <a:p>
            <a:pPr lvl="0"/>
            <a:r>
              <a:rPr lang="en-US" dirty="0"/>
              <a:t>Click here to add text </a:t>
            </a:r>
          </a:p>
        </p:txBody>
      </p:sp>
      <p:sp>
        <p:nvSpPr>
          <p:cNvPr id="20" name="Footer Placeholder 5">
            <a:extLst>
              <a:ext uri="{FF2B5EF4-FFF2-40B4-BE49-F238E27FC236}">
                <a16:creationId xmlns:a16="http://schemas.microsoft.com/office/drawing/2014/main" id="{BE884C74-6A18-2B76-2CF5-D95B28456242}"/>
              </a:ext>
            </a:extLst>
          </p:cNvPr>
          <p:cNvSpPr>
            <a:spLocks noGrp="1"/>
          </p:cNvSpPr>
          <p:nvPr>
            <p:ph type="ftr" sz="quarter" idx="11"/>
          </p:nvPr>
        </p:nvSpPr>
        <p:spPr>
          <a:xfrm>
            <a:off x="343963" y="121602"/>
            <a:ext cx="4114800" cy="217173"/>
          </a:xfrm>
        </p:spPr>
        <p:txBody>
          <a:bodyPr/>
          <a:lstStyle/>
          <a:p>
            <a:r>
              <a:rPr lang="en-US" dirty="0"/>
              <a:t>Biological &amp; Physical Sciences</a:t>
            </a:r>
          </a:p>
        </p:txBody>
      </p:sp>
      <p:sp>
        <p:nvSpPr>
          <p:cNvPr id="26" name="Slide Number Placeholder 6">
            <a:extLst>
              <a:ext uri="{FF2B5EF4-FFF2-40B4-BE49-F238E27FC236}">
                <a16:creationId xmlns:a16="http://schemas.microsoft.com/office/drawing/2014/main" id="{229FCC9D-96AD-BA9E-BD6E-2A25D0A52792}"/>
              </a:ext>
            </a:extLst>
          </p:cNvPr>
          <p:cNvSpPr>
            <a:spLocks noGrp="1"/>
          </p:cNvSpPr>
          <p:nvPr>
            <p:ph type="sldNum" sz="quarter" idx="24"/>
          </p:nvPr>
        </p:nvSpPr>
        <p:spPr>
          <a:xfrm>
            <a:off x="11662148" y="99559"/>
            <a:ext cx="1059704" cy="261258"/>
          </a:xfrm>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82701918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876300" y="2990688"/>
            <a:ext cx="2992166" cy="335280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522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4743450"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49384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8610600" y="2990688"/>
            <a:ext cx="2992166" cy="335280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8786577"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668835841"/>
      </p:ext>
    </p:extLst>
  </p:cSld>
  <p:clrMapOvr>
    <a:overrideClrMapping bg1="lt1" tx1="dk1" bg2="lt2" tx2="dk2" accent1="accent1" accent2="accent2" accent3="accent3" accent4="accent4" accent5="accent5" accent6="accent6" hlink="hlink" folHlink="folHlink"/>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937827"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1076578"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3056593" y="2990688"/>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319155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14" name="Rounded Rectangle 13">
            <a:extLst>
              <a:ext uri="{FF2B5EF4-FFF2-40B4-BE49-F238E27FC236}">
                <a16:creationId xmlns:a16="http://schemas.microsoft.com/office/drawing/2014/main" id="{E32725BC-06A4-BA3F-329D-CCFE76B565FA}"/>
              </a:ext>
              <a:ext uri="{C183D7F6-B498-43B3-948B-1728B52AA6E4}">
                <adec:decorative xmlns:adec="http://schemas.microsoft.com/office/drawing/2017/decorative" val="1"/>
              </a:ext>
            </a:extLst>
          </p:cNvPr>
          <p:cNvSpPr/>
          <p:nvPr userDrawn="1"/>
        </p:nvSpPr>
        <p:spPr>
          <a:xfrm>
            <a:off x="5173465" y="2990688"/>
            <a:ext cx="2040528" cy="3201390"/>
          </a:xfrm>
          <a:prstGeom prst="roundRect">
            <a:avLst>
              <a:gd name="adj" fmla="val 7754"/>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19" name="Text Placeholder 11">
            <a:extLst>
              <a:ext uri="{FF2B5EF4-FFF2-40B4-BE49-F238E27FC236}">
                <a16:creationId xmlns:a16="http://schemas.microsoft.com/office/drawing/2014/main" id="{455977AF-C60A-DDAC-F6C7-12C2309ECC7A}"/>
              </a:ext>
            </a:extLst>
          </p:cNvPr>
          <p:cNvSpPr>
            <a:spLocks noGrp="1"/>
          </p:cNvSpPr>
          <p:nvPr>
            <p:ph type="body" sz="quarter" idx="40" hasCustomPrompt="1"/>
          </p:nvPr>
        </p:nvSpPr>
        <p:spPr>
          <a:xfrm>
            <a:off x="5310322"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 </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
        <p:nvSpPr>
          <p:cNvPr id="3" name="Rounded Rectangle 2">
            <a:extLst>
              <a:ext uri="{FF2B5EF4-FFF2-40B4-BE49-F238E27FC236}">
                <a16:creationId xmlns:a16="http://schemas.microsoft.com/office/drawing/2014/main" id="{0432080B-6328-C238-809D-F9FE08C793E4}"/>
              </a:ext>
              <a:ext uri="{C183D7F6-B498-43B3-948B-1728B52AA6E4}">
                <adec:decorative xmlns:adec="http://schemas.microsoft.com/office/drawing/2017/decorative" val="1"/>
              </a:ext>
            </a:extLst>
          </p:cNvPr>
          <p:cNvSpPr/>
          <p:nvPr userDrawn="1"/>
        </p:nvSpPr>
        <p:spPr>
          <a:xfrm>
            <a:off x="7290337" y="3026141"/>
            <a:ext cx="2040528" cy="320139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4" name="Text Placeholder 11">
            <a:extLst>
              <a:ext uri="{FF2B5EF4-FFF2-40B4-BE49-F238E27FC236}">
                <a16:creationId xmlns:a16="http://schemas.microsoft.com/office/drawing/2014/main" id="{A3BA1372-7071-371E-C28F-CBE6820DA6FE}"/>
              </a:ext>
            </a:extLst>
          </p:cNvPr>
          <p:cNvSpPr>
            <a:spLocks noGrp="1"/>
          </p:cNvSpPr>
          <p:nvPr>
            <p:ph type="body" sz="quarter" idx="41" hasCustomPrompt="1"/>
          </p:nvPr>
        </p:nvSpPr>
        <p:spPr>
          <a:xfrm>
            <a:off x="7427194" y="3330941"/>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8" name="Rounded Rectangle 7">
            <a:extLst>
              <a:ext uri="{FF2B5EF4-FFF2-40B4-BE49-F238E27FC236}">
                <a16:creationId xmlns:a16="http://schemas.microsoft.com/office/drawing/2014/main" id="{8711E0B1-10A5-78B2-3136-3CD932F231FC}"/>
              </a:ext>
              <a:ext uri="{C183D7F6-B498-43B3-948B-1728B52AA6E4}">
                <adec:decorative xmlns:adec="http://schemas.microsoft.com/office/drawing/2017/decorative" val="1"/>
              </a:ext>
            </a:extLst>
          </p:cNvPr>
          <p:cNvSpPr/>
          <p:nvPr userDrawn="1"/>
        </p:nvSpPr>
        <p:spPr>
          <a:xfrm>
            <a:off x="9407209" y="2990688"/>
            <a:ext cx="2040528" cy="3201390"/>
          </a:xfrm>
          <a:prstGeom prst="roundRect">
            <a:avLst>
              <a:gd name="adj" fmla="val 7754"/>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9" name="Text Placeholder 11">
            <a:extLst>
              <a:ext uri="{FF2B5EF4-FFF2-40B4-BE49-F238E27FC236}">
                <a16:creationId xmlns:a16="http://schemas.microsoft.com/office/drawing/2014/main" id="{9ACE081D-D73A-A411-BCD4-2DCBE78B8CE8}"/>
              </a:ext>
            </a:extLst>
          </p:cNvPr>
          <p:cNvSpPr>
            <a:spLocks noGrp="1"/>
          </p:cNvSpPr>
          <p:nvPr>
            <p:ph type="body" sz="quarter" idx="42" hasCustomPrompt="1"/>
          </p:nvPr>
        </p:nvSpPr>
        <p:spPr>
          <a:xfrm>
            <a:off x="9544066" y="3295488"/>
            <a:ext cx="1766814" cy="2692078"/>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Tree>
    <p:extLst>
      <p:ext uri="{BB962C8B-B14F-4D97-AF65-F5344CB8AC3E}">
        <p14:creationId xmlns:p14="http://schemas.microsoft.com/office/powerpoint/2010/main" val="1284666090"/>
      </p:ext>
    </p:extLst>
  </p:cSld>
  <p:clrMapOvr>
    <a:overrideClrMapping bg1="lt1" tx1="dk1" bg2="lt2" tx2="dk2" accent1="accent1" accent2="accent2" accent3="accent3" accent4="accent4" accent5="accent5" accent6="accent6" hlink="hlink" folHlink="folHlink"/>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_3 colored callouts">
    <p:bg>
      <p:bgRef idx="1001">
        <a:schemeClr val="bg1"/>
      </p:bgRef>
    </p:bg>
    <p:spTree>
      <p:nvGrpSpPr>
        <p:cNvPr id="1" name=""/>
        <p:cNvGrpSpPr/>
        <p:nvPr/>
      </p:nvGrpSpPr>
      <p:grpSpPr>
        <a:xfrm>
          <a:off x="0" y="0"/>
          <a:ext cx="0" cy="0"/>
          <a:chOff x="0" y="0"/>
          <a:chExt cx="0" cy="0"/>
        </a:xfrm>
      </p:grpSpPr>
      <p:sp>
        <p:nvSpPr>
          <p:cNvPr id="40" name="Rounded Rectangle 39">
            <a:extLst>
              <a:ext uri="{FF2B5EF4-FFF2-40B4-BE49-F238E27FC236}">
                <a16:creationId xmlns:a16="http://schemas.microsoft.com/office/drawing/2014/main" id="{4CD86E3A-6D68-1F05-DE18-246FA7A4406A}"/>
              </a:ext>
              <a:ext uri="{C183D7F6-B498-43B3-948B-1728B52AA6E4}">
                <adec:decorative xmlns:adec="http://schemas.microsoft.com/office/drawing/2017/decorative" val="1"/>
              </a:ext>
            </a:extLst>
          </p:cNvPr>
          <p:cNvSpPr/>
          <p:nvPr userDrawn="1"/>
        </p:nvSpPr>
        <p:spPr>
          <a:xfrm>
            <a:off x="2695161" y="2990688"/>
            <a:ext cx="2992166" cy="3352800"/>
          </a:xfrm>
          <a:prstGeom prst="roundRect">
            <a:avLst>
              <a:gd name="adj" fmla="val 7754"/>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lumMod val="95000"/>
                </a:schemeClr>
              </a:solidFill>
            </a:endParaRPr>
          </a:p>
        </p:txBody>
      </p:sp>
      <p:sp>
        <p:nvSpPr>
          <p:cNvPr id="20" name="Text Placeholder 11">
            <a:extLst>
              <a:ext uri="{FF2B5EF4-FFF2-40B4-BE49-F238E27FC236}">
                <a16:creationId xmlns:a16="http://schemas.microsoft.com/office/drawing/2014/main" id="{6C169315-0602-4C85-86EE-5C3554AAA92A}"/>
              </a:ext>
            </a:extLst>
          </p:cNvPr>
          <p:cNvSpPr>
            <a:spLocks noGrp="1"/>
          </p:cNvSpPr>
          <p:nvPr>
            <p:ph type="body" sz="quarter" idx="20" hasCustomPrompt="1"/>
          </p:nvPr>
        </p:nvSpPr>
        <p:spPr>
          <a:xfrm>
            <a:off x="28711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36" name="Text Placeholder 2">
            <a:extLst>
              <a:ext uri="{FF2B5EF4-FFF2-40B4-BE49-F238E27FC236}">
                <a16:creationId xmlns:a16="http://schemas.microsoft.com/office/drawing/2014/main" id="{9ADD9A5C-AE9A-C65B-4505-483DE9A243E7}"/>
              </a:ext>
            </a:extLst>
          </p:cNvPr>
          <p:cNvSpPr>
            <a:spLocks noGrp="1"/>
          </p:cNvSpPr>
          <p:nvPr>
            <p:ph type="body" idx="1"/>
          </p:nvPr>
        </p:nvSpPr>
        <p:spPr>
          <a:xfrm>
            <a:off x="914400" y="2203704"/>
            <a:ext cx="10543151" cy="550647"/>
          </a:xfrm>
        </p:spPr>
        <p:txBody>
          <a:bodyPr anchor="t"/>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7" name="Title 1">
            <a:extLst>
              <a:ext uri="{FF2B5EF4-FFF2-40B4-BE49-F238E27FC236}">
                <a16:creationId xmlns:a16="http://schemas.microsoft.com/office/drawing/2014/main" id="{B7E68036-CDBD-FEF5-260D-DF24C6FF3906}"/>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11" name="Rounded Rectangle 10">
            <a:extLst>
              <a:ext uri="{FF2B5EF4-FFF2-40B4-BE49-F238E27FC236}">
                <a16:creationId xmlns:a16="http://schemas.microsoft.com/office/drawing/2014/main" id="{0EAAA4E6-9CD8-0530-BD07-8498A1C997DF}"/>
              </a:ext>
              <a:ext uri="{C183D7F6-B498-43B3-948B-1728B52AA6E4}">
                <adec:decorative xmlns:adec="http://schemas.microsoft.com/office/drawing/2017/decorative" val="1"/>
              </a:ext>
            </a:extLst>
          </p:cNvPr>
          <p:cNvSpPr/>
          <p:nvPr userDrawn="1"/>
        </p:nvSpPr>
        <p:spPr>
          <a:xfrm>
            <a:off x="6562311" y="2990688"/>
            <a:ext cx="2992166" cy="3352800"/>
          </a:xfrm>
          <a:prstGeom prst="roundRect">
            <a:avLst>
              <a:gd name="adj" fmla="val 7754"/>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2" name="Text Placeholder 11">
            <a:extLst>
              <a:ext uri="{FF2B5EF4-FFF2-40B4-BE49-F238E27FC236}">
                <a16:creationId xmlns:a16="http://schemas.microsoft.com/office/drawing/2014/main" id="{37A0B597-CF95-913E-7A66-71D440047E4D}"/>
              </a:ext>
            </a:extLst>
          </p:cNvPr>
          <p:cNvSpPr>
            <a:spLocks noGrp="1"/>
          </p:cNvSpPr>
          <p:nvPr>
            <p:ph type="body" sz="quarter" idx="39" hasCustomPrompt="1"/>
          </p:nvPr>
        </p:nvSpPr>
        <p:spPr>
          <a:xfrm>
            <a:off x="6757338" y="3295488"/>
            <a:ext cx="2590800" cy="2819400"/>
          </a:xfrm>
        </p:spPr>
        <p:txBody>
          <a:bodyPr lIns="91440" tIns="0" anchor="ctr">
            <a:noAutofit/>
          </a:bodyPr>
          <a:lstStyle>
            <a:lvl1pPr marL="0" indent="0" algn="ctr">
              <a:buNone/>
              <a:defRPr sz="1800" cap="none" baseline="0">
                <a:solidFill>
                  <a:schemeClr val="bg1"/>
                </a:solidFill>
                <a:latin typeface="+mn-lt"/>
              </a:defRPr>
            </a:lvl1pPr>
            <a:lvl2pPr marL="457200" indent="0">
              <a:buNone/>
              <a:defRPr sz="1800">
                <a:solidFill>
                  <a:schemeClr val="bg1"/>
                </a:solidFill>
              </a:defRPr>
            </a:lvl2pPr>
            <a:lvl3pPr marL="914400" indent="0">
              <a:buNone/>
              <a:defRPr sz="1800">
                <a:solidFill>
                  <a:schemeClr val="bg1"/>
                </a:solidFill>
              </a:defRPr>
            </a:lvl3pPr>
            <a:lvl4pPr marL="1371600" indent="0">
              <a:buNone/>
              <a:defRPr sz="1800">
                <a:solidFill>
                  <a:schemeClr val="bg1"/>
                </a:solidFill>
              </a:defRPr>
            </a:lvl4pPr>
            <a:lvl5pPr marL="1828800" indent="0">
              <a:buNone/>
              <a:defRPr sz="1800">
                <a:solidFill>
                  <a:schemeClr val="bg1"/>
                </a:solidFill>
              </a:defRPr>
            </a:lvl5pPr>
          </a:lstStyle>
          <a:p>
            <a:pPr lvl="0"/>
            <a:r>
              <a:rPr lang="en-US" dirty="0"/>
              <a:t>Click to add text</a:t>
            </a:r>
          </a:p>
        </p:txBody>
      </p:sp>
      <p:sp>
        <p:nvSpPr>
          <p:cNvPr id="6" name="Footer Placeholder 5">
            <a:extLst>
              <a:ext uri="{FF2B5EF4-FFF2-40B4-BE49-F238E27FC236}">
                <a16:creationId xmlns:a16="http://schemas.microsoft.com/office/drawing/2014/main" id="{1AC09864-2A01-120D-B0A0-3D47650A2281}"/>
              </a:ext>
            </a:extLst>
          </p:cNvPr>
          <p:cNvSpPr txBox="1">
            <a:spLocks/>
          </p:cNvSpPr>
          <p:nvPr userDrawn="1"/>
        </p:nvSpPr>
        <p:spPr>
          <a:xfrm>
            <a:off x="343963" y="121602"/>
            <a:ext cx="4114800" cy="217173"/>
          </a:xfrm>
          <a:prstGeom prst="rect">
            <a:avLst/>
          </a:prstGeom>
        </p:spPr>
        <p:txBody>
          <a:bodyPr vert="horz" lIns="91440" tIns="45720" rIns="91440" bIns="45720" rtlCol="0" anchor="ctr"/>
          <a:lstStyle>
            <a:defPPr>
              <a:defRPr lang="en-US"/>
            </a:defPPr>
            <a:lvl1pPr marL="0" algn="l" defTabSz="914400" rtl="0" eaLnBrk="1" latinLnBrk="0" hangingPunct="1">
              <a:defRPr sz="900" kern="1200">
                <a:solidFill>
                  <a:schemeClr val="bg1">
                    <a:alpha val="75167"/>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dirty="0"/>
              <a:t>Biological &amp; Physical Sciences</a:t>
            </a:r>
          </a:p>
        </p:txBody>
      </p:sp>
      <p:sp>
        <p:nvSpPr>
          <p:cNvPr id="7" name="Slide Number Placeholder 6">
            <a:extLst>
              <a:ext uri="{FF2B5EF4-FFF2-40B4-BE49-F238E27FC236}">
                <a16:creationId xmlns:a16="http://schemas.microsoft.com/office/drawing/2014/main" id="{63F24C74-96B8-1AEE-DED0-3FD6D128AAF5}"/>
              </a:ext>
            </a:extLst>
          </p:cNvPr>
          <p:cNvSpPr txBox="1">
            <a:spLocks/>
          </p:cNvSpPr>
          <p:nvPr userDrawn="1"/>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defPPr>
              <a:defRPr lang="en-US"/>
            </a:defPPr>
            <a:lvl1pPr marL="0" algn="l" defTabSz="914400" rtl="0" eaLnBrk="1" latinLnBrk="0" hangingPunct="1">
              <a:defRPr sz="1100" b="1"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8618032-BA8D-3D4D-8253-A70208A85976}" type="slidenum">
              <a:rPr lang="en-US" smtClean="0"/>
              <a:pPr/>
              <a:t>‹#›</a:t>
            </a:fld>
            <a:endParaRPr lang="en-US"/>
          </a:p>
        </p:txBody>
      </p:sp>
    </p:spTree>
    <p:extLst>
      <p:ext uri="{BB962C8B-B14F-4D97-AF65-F5344CB8AC3E}">
        <p14:creationId xmlns:p14="http://schemas.microsoft.com/office/powerpoint/2010/main" val="3468811975"/>
      </p:ext>
    </p:extLst>
  </p:cSld>
  <p:clrMapOvr>
    <a:overrideClrMapping bg1="lt1" tx1="dk1" bg2="lt2" tx2="dk2" accent1="accent1" accent2="accent2" accent3="accent3" accent4="accent4" accent5="accent5" accent6="accent6" hlink="hlink" folHlink="folHlink"/>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09C14A-6496-6376-2B3E-AD74A612CDF4}"/>
              </a:ext>
            </a:extLst>
          </p:cNvPr>
          <p:cNvSpPr>
            <a:spLocks noGrp="1"/>
          </p:cNvSpPr>
          <p:nvPr>
            <p:ph type="title"/>
          </p:nvPr>
        </p:nvSpPr>
        <p:spPr>
          <a:xfrm>
            <a:off x="914400" y="758952"/>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F21821F-FB3A-F9EE-D0DE-E887A37D654C}"/>
              </a:ext>
            </a:extLst>
          </p:cNvPr>
          <p:cNvSpPr>
            <a:spLocks noGrp="1"/>
          </p:cNvSpPr>
          <p:nvPr>
            <p:ph type="body" idx="1"/>
          </p:nvPr>
        </p:nvSpPr>
        <p:spPr>
          <a:xfrm>
            <a:off x="914400" y="2203704"/>
            <a:ext cx="4983162"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07C9A69-852A-95D0-640F-0A9AD66D09FE}"/>
              </a:ext>
            </a:extLst>
          </p:cNvPr>
          <p:cNvSpPr>
            <a:spLocks noGrp="1"/>
          </p:cNvSpPr>
          <p:nvPr>
            <p:ph sz="half" idx="2"/>
          </p:nvPr>
        </p:nvSpPr>
        <p:spPr>
          <a:xfrm>
            <a:off x="914400" y="3173412"/>
            <a:ext cx="4983162"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25212BA-716C-43F7-C564-5796945A1860}"/>
              </a:ext>
            </a:extLst>
          </p:cNvPr>
          <p:cNvSpPr>
            <a:spLocks noGrp="1"/>
          </p:cNvSpPr>
          <p:nvPr>
            <p:ph type="body" sz="quarter" idx="3"/>
          </p:nvPr>
        </p:nvSpPr>
        <p:spPr>
          <a:xfrm>
            <a:off x="6273105" y="2203704"/>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7DF0997-D7AA-3B69-46B5-3C52DC86C8DE}"/>
              </a:ext>
            </a:extLst>
          </p:cNvPr>
          <p:cNvSpPr>
            <a:spLocks noGrp="1"/>
          </p:cNvSpPr>
          <p:nvPr>
            <p:ph sz="quarter" idx="4"/>
          </p:nvPr>
        </p:nvSpPr>
        <p:spPr>
          <a:xfrm>
            <a:off x="6273105" y="3173412"/>
            <a:ext cx="5183188" cy="349501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D455EE4-619A-8EFD-2C75-330D157D9EDB}"/>
              </a:ext>
            </a:extLst>
          </p:cNvPr>
          <p:cNvSpPr>
            <a:spLocks noGrp="1"/>
          </p:cNvSpPr>
          <p:nvPr>
            <p:ph type="ftr" sz="quarter" idx="11"/>
          </p:nvPr>
        </p:nvSpPr>
        <p:spPr/>
        <p:txBody>
          <a:bodyPr/>
          <a:lstStyle/>
          <a:p>
            <a:r>
              <a:rPr lang="en-US" dirty="0"/>
              <a:t>Biological &amp; Physical Sciences</a:t>
            </a:r>
          </a:p>
        </p:txBody>
      </p:sp>
      <p:sp>
        <p:nvSpPr>
          <p:cNvPr id="9" name="Slide Number Placeholder 8">
            <a:extLst>
              <a:ext uri="{FF2B5EF4-FFF2-40B4-BE49-F238E27FC236}">
                <a16:creationId xmlns:a16="http://schemas.microsoft.com/office/drawing/2014/main" id="{C218C5AC-C080-2EB1-1F82-F057A282D7E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54035756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p:nvPr>
        </p:nvSpPr>
        <p:spPr>
          <a:xfrm>
            <a:off x="914400" y="755930"/>
            <a:ext cx="10325100" cy="1325563"/>
          </a:xfrm>
        </p:spPr>
        <p:txBody>
          <a:bodyPr/>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6495091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1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descr="A white symbol on a brown circle&#10;&#10;Description automatically generated">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24130681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2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188852176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3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3830605519"/>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itleOnly" preserve="1">
  <p:cSld name="4_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CE7BEB-3F95-F7BD-8C6B-C9CDE17AD06E}"/>
              </a:ext>
            </a:extLst>
          </p:cNvPr>
          <p:cNvSpPr>
            <a:spLocks noGrp="1"/>
          </p:cNvSpPr>
          <p:nvPr>
            <p:ph type="title" hasCustomPrompt="1"/>
          </p:nvPr>
        </p:nvSpPr>
        <p:spPr>
          <a:xfrm>
            <a:off x="914400" y="755930"/>
            <a:ext cx="10325100" cy="1325563"/>
          </a:xfrm>
        </p:spPr>
        <p:txBody>
          <a:bodyPr/>
          <a:lstStyle/>
          <a:p>
            <a:r>
              <a:rPr lang="en-US" dirty="0"/>
              <a:t>Icon Sets</a:t>
            </a:r>
          </a:p>
        </p:txBody>
      </p:sp>
      <p:sp>
        <p:nvSpPr>
          <p:cNvPr id="4" name="Footer Placeholder 3">
            <a:extLst>
              <a:ext uri="{FF2B5EF4-FFF2-40B4-BE49-F238E27FC236}">
                <a16:creationId xmlns:a16="http://schemas.microsoft.com/office/drawing/2014/main" id="{27D41258-C225-30B8-4068-2B71A0ED381A}"/>
              </a:ext>
            </a:extLst>
          </p:cNvPr>
          <p:cNvSpPr>
            <a:spLocks noGrp="1"/>
          </p:cNvSpPr>
          <p:nvPr>
            <p:ph type="ftr" sz="quarter" idx="11"/>
          </p:nvPr>
        </p:nvSpPr>
        <p:spPr/>
        <p:txBody>
          <a:bodyPr/>
          <a:lstStyle/>
          <a:p>
            <a:r>
              <a:rPr lang="en-US" dirty="0"/>
              <a:t>Biological &amp; Physical Sciences</a:t>
            </a:r>
          </a:p>
        </p:txBody>
      </p:sp>
      <p:sp>
        <p:nvSpPr>
          <p:cNvPr id="5" name="Slide Number Placeholder 4">
            <a:extLst>
              <a:ext uri="{FF2B5EF4-FFF2-40B4-BE49-F238E27FC236}">
                <a16:creationId xmlns:a16="http://schemas.microsoft.com/office/drawing/2014/main" id="{C1FA1CED-BEE1-ACF5-8AEE-094C9B16F7D7}"/>
              </a:ext>
            </a:extLst>
          </p:cNvPr>
          <p:cNvSpPr>
            <a:spLocks noGrp="1"/>
          </p:cNvSpPr>
          <p:nvPr>
            <p:ph type="sldNum" sz="quarter" idx="12"/>
          </p:nvPr>
        </p:nvSpPr>
        <p:spPr/>
        <p:txBody>
          <a:bodyPr/>
          <a:lstStyle/>
          <a:p>
            <a:fld id="{E8618032-BA8D-3D4D-8253-A70208A85976}" type="slidenum">
              <a:rPr lang="en-US" smtClean="0"/>
              <a:t>‹#›</a:t>
            </a:fld>
            <a:endParaRPr lang="en-US"/>
          </a:p>
        </p:txBody>
      </p:sp>
      <p:grpSp>
        <p:nvGrpSpPr>
          <p:cNvPr id="16" name="Group 15">
            <a:extLst>
              <a:ext uri="{FF2B5EF4-FFF2-40B4-BE49-F238E27FC236}">
                <a16:creationId xmlns:a16="http://schemas.microsoft.com/office/drawing/2014/main" id="{DF2DBF73-78F1-5E34-BB47-F8D4315E883F}"/>
              </a:ext>
            </a:extLst>
          </p:cNvPr>
          <p:cNvGrpSpPr/>
          <p:nvPr userDrawn="1"/>
        </p:nvGrpSpPr>
        <p:grpSpPr>
          <a:xfrm>
            <a:off x="620138" y="1752600"/>
            <a:ext cx="1149675" cy="1160621"/>
            <a:chOff x="620138" y="1752600"/>
            <a:chExt cx="1149675" cy="1160621"/>
          </a:xfrm>
        </p:grpSpPr>
        <p:pic>
          <p:nvPicPr>
            <p:cNvPr id="21" name="Picture 20">
              <a:extLst>
                <a:ext uri="{FF2B5EF4-FFF2-40B4-BE49-F238E27FC236}">
                  <a16:creationId xmlns:a16="http://schemas.microsoft.com/office/drawing/2014/main" id="{084DCB50-DA15-0746-CC36-3D6CE4CCBCE1}"/>
                </a:ext>
              </a:extLst>
            </p:cNvPr>
            <p:cNvPicPr>
              <a:picLocks noChangeAspect="1"/>
            </p:cNvPicPr>
            <p:nvPr userDrawn="1"/>
          </p:nvPicPr>
          <p:blipFill>
            <a:blip r:embed="rId2"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6" name="TextBox 5">
              <a:extLst>
                <a:ext uri="{FF2B5EF4-FFF2-40B4-BE49-F238E27FC236}">
                  <a16:creationId xmlns:a16="http://schemas.microsoft.com/office/drawing/2014/main" id="{4C756196-4ADF-DF0C-EBDC-F9F2C81AC2F4}"/>
                </a:ext>
              </a:extLst>
            </p:cNvPr>
            <p:cNvSpPr txBox="1"/>
            <p:nvPr userDrawn="1"/>
          </p:nvSpPr>
          <p:spPr>
            <a:xfrm>
              <a:off x="620138" y="2667000"/>
              <a:ext cx="1149675" cy="246221"/>
            </a:xfrm>
            <a:prstGeom prst="rect">
              <a:avLst/>
            </a:prstGeom>
            <a:noFill/>
          </p:spPr>
          <p:txBody>
            <a:bodyPr wrap="none" rtlCol="0">
              <a:spAutoFit/>
            </a:bodyPr>
            <a:lstStyle/>
            <a:p>
              <a:pPr algn="ctr"/>
              <a:r>
                <a:rPr lang="en-US" sz="1000" dirty="0"/>
                <a:t>Physical Science</a:t>
              </a:r>
            </a:p>
          </p:txBody>
        </p:sp>
      </p:grpSp>
      <p:grpSp>
        <p:nvGrpSpPr>
          <p:cNvPr id="18" name="Group 17">
            <a:extLst>
              <a:ext uri="{FF2B5EF4-FFF2-40B4-BE49-F238E27FC236}">
                <a16:creationId xmlns:a16="http://schemas.microsoft.com/office/drawing/2014/main" id="{511910B8-EFDC-F4BD-D871-01250E169D33}"/>
              </a:ext>
            </a:extLst>
          </p:cNvPr>
          <p:cNvGrpSpPr/>
          <p:nvPr userDrawn="1"/>
        </p:nvGrpSpPr>
        <p:grpSpPr>
          <a:xfrm>
            <a:off x="2119913" y="1752600"/>
            <a:ext cx="937550" cy="1160621"/>
            <a:chOff x="2276156" y="1752600"/>
            <a:chExt cx="937550" cy="1160621"/>
          </a:xfrm>
        </p:grpSpPr>
        <p:pic>
          <p:nvPicPr>
            <p:cNvPr id="19" name="Picture 18">
              <a:extLst>
                <a:ext uri="{FF2B5EF4-FFF2-40B4-BE49-F238E27FC236}">
                  <a16:creationId xmlns:a16="http://schemas.microsoft.com/office/drawing/2014/main" id="{FE1E2990-A33D-309A-9F68-08D9A1E0E4DF}"/>
                </a:ext>
              </a:extLst>
            </p:cNvPr>
            <p:cNvPicPr>
              <a:picLocks noChangeAspect="1"/>
            </p:cNvPicPr>
            <p:nvPr userDrawn="1"/>
          </p:nvPicPr>
          <p:blipFill>
            <a:blip r:embed="rId3"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8" name="TextBox 7">
              <a:extLst>
                <a:ext uri="{FF2B5EF4-FFF2-40B4-BE49-F238E27FC236}">
                  <a16:creationId xmlns:a16="http://schemas.microsoft.com/office/drawing/2014/main" id="{D490AC53-46B8-9208-4DAB-7EBDD1243E80}"/>
                </a:ext>
              </a:extLst>
            </p:cNvPr>
            <p:cNvSpPr txBox="1"/>
            <p:nvPr userDrawn="1"/>
          </p:nvSpPr>
          <p:spPr>
            <a:xfrm>
              <a:off x="2390507" y="2667000"/>
              <a:ext cx="708848" cy="246221"/>
            </a:xfrm>
            <a:prstGeom prst="rect">
              <a:avLst/>
            </a:prstGeom>
            <a:noFill/>
          </p:spPr>
          <p:txBody>
            <a:bodyPr wrap="none" rtlCol="0">
              <a:spAutoFit/>
            </a:bodyPr>
            <a:lstStyle/>
            <a:p>
              <a:pPr algn="ctr"/>
              <a:r>
                <a:rPr lang="en-US" sz="1000" dirty="0"/>
                <a:t>Quantum</a:t>
              </a:r>
            </a:p>
          </p:txBody>
        </p:sp>
      </p:grpSp>
      <p:grpSp>
        <p:nvGrpSpPr>
          <p:cNvPr id="20" name="Group 19">
            <a:extLst>
              <a:ext uri="{FF2B5EF4-FFF2-40B4-BE49-F238E27FC236}">
                <a16:creationId xmlns:a16="http://schemas.microsoft.com/office/drawing/2014/main" id="{63D160AB-747D-0C84-DB2C-12A72938449E}"/>
              </a:ext>
            </a:extLst>
          </p:cNvPr>
          <p:cNvGrpSpPr/>
          <p:nvPr userDrawn="1"/>
        </p:nvGrpSpPr>
        <p:grpSpPr>
          <a:xfrm>
            <a:off x="3500407" y="1752600"/>
            <a:ext cx="937550" cy="1160621"/>
            <a:chOff x="3328048" y="1752600"/>
            <a:chExt cx="937550" cy="1160621"/>
          </a:xfrm>
        </p:grpSpPr>
        <p:pic>
          <p:nvPicPr>
            <p:cNvPr id="35" name="Picture 34">
              <a:extLst>
                <a:ext uri="{FF2B5EF4-FFF2-40B4-BE49-F238E27FC236}">
                  <a16:creationId xmlns:a16="http://schemas.microsoft.com/office/drawing/2014/main" id="{9F58E307-692E-76E5-915A-6BE8C8A6C342}"/>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10" name="TextBox 9">
              <a:extLst>
                <a:ext uri="{FF2B5EF4-FFF2-40B4-BE49-F238E27FC236}">
                  <a16:creationId xmlns:a16="http://schemas.microsoft.com/office/drawing/2014/main" id="{9F976D59-973C-B3ED-21A7-6E1BF17E1F28}"/>
                </a:ext>
              </a:extLst>
            </p:cNvPr>
            <p:cNvSpPr txBox="1"/>
            <p:nvPr userDrawn="1"/>
          </p:nvSpPr>
          <p:spPr>
            <a:xfrm>
              <a:off x="3565830" y="2667000"/>
              <a:ext cx="461986" cy="246221"/>
            </a:xfrm>
            <a:prstGeom prst="rect">
              <a:avLst/>
            </a:prstGeom>
            <a:noFill/>
          </p:spPr>
          <p:txBody>
            <a:bodyPr wrap="none" rtlCol="0">
              <a:spAutoFit/>
            </a:bodyPr>
            <a:lstStyle/>
            <a:p>
              <a:pPr algn="ctr"/>
              <a:r>
                <a:rPr lang="en-US" sz="1000" dirty="0"/>
                <a:t>Fluid</a:t>
              </a:r>
            </a:p>
          </p:txBody>
        </p:sp>
      </p:grpSp>
      <p:grpSp>
        <p:nvGrpSpPr>
          <p:cNvPr id="22" name="Group 21">
            <a:extLst>
              <a:ext uri="{FF2B5EF4-FFF2-40B4-BE49-F238E27FC236}">
                <a16:creationId xmlns:a16="http://schemas.microsoft.com/office/drawing/2014/main" id="{DFEA1BB1-12A4-2E2E-1955-F3A8B5472743}"/>
              </a:ext>
            </a:extLst>
          </p:cNvPr>
          <p:cNvGrpSpPr/>
          <p:nvPr userDrawn="1"/>
        </p:nvGrpSpPr>
        <p:grpSpPr>
          <a:xfrm>
            <a:off x="4889029" y="1752600"/>
            <a:ext cx="937550" cy="1160621"/>
            <a:chOff x="4379940" y="1752600"/>
            <a:chExt cx="937550" cy="1160621"/>
          </a:xfrm>
        </p:grpSpPr>
        <p:pic>
          <p:nvPicPr>
            <p:cNvPr id="34" name="Picture 33">
              <a:extLst>
                <a:ext uri="{FF2B5EF4-FFF2-40B4-BE49-F238E27FC236}">
                  <a16:creationId xmlns:a16="http://schemas.microsoft.com/office/drawing/2014/main" id="{0E9DBB58-6406-2088-AE7D-CD856A1E7ACD}"/>
                </a:ext>
              </a:extLst>
            </p:cNvPr>
            <p:cNvPicPr>
              <a:picLocks noChangeAspect="1"/>
            </p:cNvPicPr>
            <p:nvPr userDrawn="1"/>
          </p:nvPicPr>
          <p:blipFill>
            <a:blip r:embed="rId5"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12" name="TextBox 11">
              <a:extLst>
                <a:ext uri="{FF2B5EF4-FFF2-40B4-BE49-F238E27FC236}">
                  <a16:creationId xmlns:a16="http://schemas.microsoft.com/office/drawing/2014/main" id="{8D472200-79FE-9C5A-93BA-31F52D3EE86F}"/>
                </a:ext>
              </a:extLst>
            </p:cNvPr>
            <p:cNvSpPr txBox="1"/>
            <p:nvPr userDrawn="1"/>
          </p:nvSpPr>
          <p:spPr>
            <a:xfrm>
              <a:off x="4483070" y="2667000"/>
              <a:ext cx="731290" cy="246221"/>
            </a:xfrm>
            <a:prstGeom prst="rect">
              <a:avLst/>
            </a:prstGeom>
            <a:noFill/>
          </p:spPr>
          <p:txBody>
            <a:bodyPr wrap="none" rtlCol="0">
              <a:spAutoFit/>
            </a:bodyPr>
            <a:lstStyle/>
            <a:p>
              <a:pPr algn="ctr"/>
              <a:r>
                <a:rPr lang="en-US" sz="1000" dirty="0"/>
                <a:t>Complete</a:t>
              </a:r>
            </a:p>
          </p:txBody>
        </p:sp>
      </p:grpSp>
      <p:grpSp>
        <p:nvGrpSpPr>
          <p:cNvPr id="23" name="Group 22">
            <a:extLst>
              <a:ext uri="{FF2B5EF4-FFF2-40B4-BE49-F238E27FC236}">
                <a16:creationId xmlns:a16="http://schemas.microsoft.com/office/drawing/2014/main" id="{2BC30226-E85A-EAB4-EA3A-2F8AF418AC7A}"/>
              </a:ext>
            </a:extLst>
          </p:cNvPr>
          <p:cNvGrpSpPr/>
          <p:nvPr userDrawn="1"/>
        </p:nvGrpSpPr>
        <p:grpSpPr>
          <a:xfrm>
            <a:off x="6247355" y="1752600"/>
            <a:ext cx="937550" cy="1160621"/>
            <a:chOff x="5431831" y="1752600"/>
            <a:chExt cx="937550" cy="1160621"/>
          </a:xfrm>
        </p:grpSpPr>
        <p:pic>
          <p:nvPicPr>
            <p:cNvPr id="39" name="Picture 38">
              <a:extLst>
                <a:ext uri="{FF2B5EF4-FFF2-40B4-BE49-F238E27FC236}">
                  <a16:creationId xmlns:a16="http://schemas.microsoft.com/office/drawing/2014/main" id="{829FB4C8-0924-DD30-1DEA-0B2E407C2C96}"/>
                </a:ext>
              </a:extLst>
            </p:cNvPr>
            <p:cNvPicPr>
              <a:picLocks noChangeAspect="1"/>
            </p:cNvPicPr>
            <p:nvPr userDrawn="1"/>
          </p:nvPicPr>
          <p:blipFill>
            <a:blip r:embed="rId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14" name="TextBox 13">
              <a:extLst>
                <a:ext uri="{FF2B5EF4-FFF2-40B4-BE49-F238E27FC236}">
                  <a16:creationId xmlns:a16="http://schemas.microsoft.com/office/drawing/2014/main" id="{2E9D3CBF-9626-9176-B486-F34F15BE4A9E}"/>
                </a:ext>
              </a:extLst>
            </p:cNvPr>
            <p:cNvSpPr txBox="1"/>
            <p:nvPr userDrawn="1"/>
          </p:nvSpPr>
          <p:spPr>
            <a:xfrm>
              <a:off x="5530953" y="2667000"/>
              <a:ext cx="739306" cy="246221"/>
            </a:xfrm>
            <a:prstGeom prst="rect">
              <a:avLst/>
            </a:prstGeom>
            <a:noFill/>
          </p:spPr>
          <p:txBody>
            <a:bodyPr wrap="none" rtlCol="0">
              <a:spAutoFit/>
            </a:bodyPr>
            <a:lstStyle/>
            <a:p>
              <a:pPr algn="ctr"/>
              <a:r>
                <a:rPr lang="en-US" sz="1000" dirty="0"/>
                <a:t>Molecular</a:t>
              </a:r>
            </a:p>
          </p:txBody>
        </p:sp>
      </p:grpSp>
      <p:grpSp>
        <p:nvGrpSpPr>
          <p:cNvPr id="24" name="Group 23">
            <a:extLst>
              <a:ext uri="{FF2B5EF4-FFF2-40B4-BE49-F238E27FC236}">
                <a16:creationId xmlns:a16="http://schemas.microsoft.com/office/drawing/2014/main" id="{F5EC613B-9512-31BF-730B-49C7B41C44C6}"/>
              </a:ext>
            </a:extLst>
          </p:cNvPr>
          <p:cNvGrpSpPr/>
          <p:nvPr userDrawn="1"/>
        </p:nvGrpSpPr>
        <p:grpSpPr>
          <a:xfrm>
            <a:off x="7661269" y="1752600"/>
            <a:ext cx="937550" cy="1160621"/>
            <a:chOff x="5431831" y="1752600"/>
            <a:chExt cx="937550" cy="1160621"/>
          </a:xfrm>
        </p:grpSpPr>
        <p:pic>
          <p:nvPicPr>
            <p:cNvPr id="25" name="Picture 24">
              <a:extLst>
                <a:ext uri="{FF2B5EF4-FFF2-40B4-BE49-F238E27FC236}">
                  <a16:creationId xmlns:a16="http://schemas.microsoft.com/office/drawing/2014/main" id="{3EA005A4-9DA7-B0C3-08EE-98CB0CE9BA4A}"/>
                </a:ext>
              </a:extLst>
            </p:cNvPr>
            <p:cNvPicPr>
              <a:picLocks noChangeAspect="1"/>
            </p:cNvPicPr>
            <p:nvPr userDrawn="1"/>
          </p:nvPicPr>
          <p:blipFill>
            <a:blip r:embed="rId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26" name="TextBox 25">
              <a:extLst>
                <a:ext uri="{FF2B5EF4-FFF2-40B4-BE49-F238E27FC236}">
                  <a16:creationId xmlns:a16="http://schemas.microsoft.com/office/drawing/2014/main" id="{B5FE336D-FA97-22C9-55DC-079F3A53A069}"/>
                </a:ext>
              </a:extLst>
            </p:cNvPr>
            <p:cNvSpPr txBox="1"/>
            <p:nvPr userDrawn="1"/>
          </p:nvSpPr>
          <p:spPr>
            <a:xfrm>
              <a:off x="5607097" y="2667000"/>
              <a:ext cx="587020" cy="246221"/>
            </a:xfrm>
            <a:prstGeom prst="rect">
              <a:avLst/>
            </a:prstGeom>
            <a:noFill/>
          </p:spPr>
          <p:txBody>
            <a:bodyPr wrap="none" rtlCol="0">
              <a:spAutoFit/>
            </a:bodyPr>
            <a:lstStyle/>
            <a:p>
              <a:pPr algn="ctr"/>
              <a:r>
                <a:rPr lang="en-US" sz="1000" dirty="0"/>
                <a:t>Budget</a:t>
              </a:r>
            </a:p>
          </p:txBody>
        </p:sp>
      </p:grpSp>
      <p:grpSp>
        <p:nvGrpSpPr>
          <p:cNvPr id="27" name="Group 26">
            <a:extLst>
              <a:ext uri="{FF2B5EF4-FFF2-40B4-BE49-F238E27FC236}">
                <a16:creationId xmlns:a16="http://schemas.microsoft.com/office/drawing/2014/main" id="{56DF185E-4874-C556-B523-55B66CA67CA6}"/>
              </a:ext>
            </a:extLst>
          </p:cNvPr>
          <p:cNvGrpSpPr/>
          <p:nvPr userDrawn="1"/>
        </p:nvGrpSpPr>
        <p:grpSpPr>
          <a:xfrm>
            <a:off x="9037083" y="1752600"/>
            <a:ext cx="937550" cy="1160621"/>
            <a:chOff x="5431831" y="1752600"/>
            <a:chExt cx="937550" cy="1160621"/>
          </a:xfrm>
        </p:grpSpPr>
        <p:pic>
          <p:nvPicPr>
            <p:cNvPr id="40" name="Picture 39">
              <a:extLst>
                <a:ext uri="{FF2B5EF4-FFF2-40B4-BE49-F238E27FC236}">
                  <a16:creationId xmlns:a16="http://schemas.microsoft.com/office/drawing/2014/main" id="{63CE37AC-3781-BB31-177C-5CE7E2287CED}"/>
                </a:ext>
              </a:extLst>
            </p:cNvPr>
            <p:cNvPicPr>
              <a:picLocks noChangeAspect="1"/>
            </p:cNvPicPr>
            <p:nvPr userDrawn="1"/>
          </p:nvPicPr>
          <p:blipFill>
            <a:blip r:embed="rId8"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1" name="TextBox 40">
              <a:extLst>
                <a:ext uri="{FF2B5EF4-FFF2-40B4-BE49-F238E27FC236}">
                  <a16:creationId xmlns:a16="http://schemas.microsoft.com/office/drawing/2014/main" id="{C38C9462-D61D-BDFC-9D8E-41D0C89DE06F}"/>
                </a:ext>
              </a:extLst>
            </p:cNvPr>
            <p:cNvSpPr txBox="1"/>
            <p:nvPr userDrawn="1"/>
          </p:nvSpPr>
          <p:spPr>
            <a:xfrm>
              <a:off x="5684843" y="2667000"/>
              <a:ext cx="431529" cy="246221"/>
            </a:xfrm>
            <a:prstGeom prst="rect">
              <a:avLst/>
            </a:prstGeom>
            <a:noFill/>
          </p:spPr>
          <p:txBody>
            <a:bodyPr wrap="none" rtlCol="0">
              <a:spAutoFit/>
            </a:bodyPr>
            <a:lstStyle/>
            <a:p>
              <a:pPr algn="ctr"/>
              <a:r>
                <a:rPr lang="en-US" sz="1000" dirty="0"/>
                <a:t>Idea</a:t>
              </a:r>
            </a:p>
          </p:txBody>
        </p:sp>
      </p:grpSp>
      <p:grpSp>
        <p:nvGrpSpPr>
          <p:cNvPr id="42" name="Group 41">
            <a:extLst>
              <a:ext uri="{FF2B5EF4-FFF2-40B4-BE49-F238E27FC236}">
                <a16:creationId xmlns:a16="http://schemas.microsoft.com/office/drawing/2014/main" id="{5CD12664-0486-A848-58F4-C28C560C54DC}"/>
              </a:ext>
            </a:extLst>
          </p:cNvPr>
          <p:cNvGrpSpPr/>
          <p:nvPr userDrawn="1"/>
        </p:nvGrpSpPr>
        <p:grpSpPr>
          <a:xfrm>
            <a:off x="10412895" y="1752600"/>
            <a:ext cx="937550" cy="1160621"/>
            <a:chOff x="5431831" y="1752600"/>
            <a:chExt cx="937550" cy="1160621"/>
          </a:xfrm>
        </p:grpSpPr>
        <p:pic>
          <p:nvPicPr>
            <p:cNvPr id="43" name="Picture 42">
              <a:extLst>
                <a:ext uri="{FF2B5EF4-FFF2-40B4-BE49-F238E27FC236}">
                  <a16:creationId xmlns:a16="http://schemas.microsoft.com/office/drawing/2014/main" id="{C49D6AE0-9F7E-5646-BBF2-3EB286B932C3}"/>
                </a:ext>
              </a:extLst>
            </p:cNvPr>
            <p:cNvPicPr>
              <a:picLocks noChangeAspect="1"/>
            </p:cNvPicPr>
            <p:nvPr userDrawn="1"/>
          </p:nvPicPr>
          <p:blipFill>
            <a:blip r:embed="rId9"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44" name="TextBox 43">
              <a:extLst>
                <a:ext uri="{FF2B5EF4-FFF2-40B4-BE49-F238E27FC236}">
                  <a16:creationId xmlns:a16="http://schemas.microsoft.com/office/drawing/2014/main" id="{91436932-7489-215B-A927-D94234ABE44F}"/>
                </a:ext>
              </a:extLst>
            </p:cNvPr>
            <p:cNvSpPr txBox="1"/>
            <p:nvPr userDrawn="1"/>
          </p:nvSpPr>
          <p:spPr>
            <a:xfrm>
              <a:off x="5485271" y="2667000"/>
              <a:ext cx="830677" cy="246221"/>
            </a:xfrm>
            <a:prstGeom prst="rect">
              <a:avLst/>
            </a:prstGeom>
            <a:noFill/>
          </p:spPr>
          <p:txBody>
            <a:bodyPr wrap="none" rtlCol="0">
              <a:spAutoFit/>
            </a:bodyPr>
            <a:lstStyle/>
            <a:p>
              <a:pPr algn="ctr"/>
              <a:r>
                <a:rPr lang="en-US" sz="1000" dirty="0"/>
                <a:t>Experiment</a:t>
              </a:r>
            </a:p>
          </p:txBody>
        </p:sp>
      </p:grpSp>
      <p:grpSp>
        <p:nvGrpSpPr>
          <p:cNvPr id="45" name="Group 44">
            <a:extLst>
              <a:ext uri="{FF2B5EF4-FFF2-40B4-BE49-F238E27FC236}">
                <a16:creationId xmlns:a16="http://schemas.microsoft.com/office/drawing/2014/main" id="{2B0F299A-3739-E2C2-ADAB-FEB8CB19AA01}"/>
              </a:ext>
            </a:extLst>
          </p:cNvPr>
          <p:cNvGrpSpPr/>
          <p:nvPr userDrawn="1"/>
        </p:nvGrpSpPr>
        <p:grpSpPr>
          <a:xfrm>
            <a:off x="709105" y="3246863"/>
            <a:ext cx="971741" cy="1160621"/>
            <a:chOff x="709103" y="1752600"/>
            <a:chExt cx="971741" cy="1160621"/>
          </a:xfrm>
        </p:grpSpPr>
        <p:pic>
          <p:nvPicPr>
            <p:cNvPr id="46" name="Picture 45">
              <a:extLst>
                <a:ext uri="{FF2B5EF4-FFF2-40B4-BE49-F238E27FC236}">
                  <a16:creationId xmlns:a16="http://schemas.microsoft.com/office/drawing/2014/main" id="{D7CD17CB-B72B-50B2-32D5-1580EF583820}"/>
                </a:ext>
              </a:extLst>
            </p:cNvPr>
            <p:cNvPicPr>
              <a:picLocks noChangeAspect="1"/>
            </p:cNvPicPr>
            <p:nvPr userDrawn="1"/>
          </p:nvPicPr>
          <p:blipFill>
            <a:blip r:embed="rId10" cstate="screen">
              <a:extLst>
                <a:ext uri="{28A0092B-C50C-407E-A947-70E740481C1C}">
                  <a14:useLocalDpi xmlns:a14="http://schemas.microsoft.com/office/drawing/2010/main"/>
                </a:ext>
              </a:extLst>
            </a:blip>
            <a:srcRect/>
            <a:stretch/>
          </p:blipFill>
          <p:spPr>
            <a:xfrm>
              <a:off x="726198" y="1752600"/>
              <a:ext cx="937550" cy="937550"/>
            </a:xfrm>
            <a:prstGeom prst="rect">
              <a:avLst/>
            </a:prstGeom>
          </p:spPr>
        </p:pic>
        <p:sp>
          <p:nvSpPr>
            <p:cNvPr id="47" name="TextBox 46">
              <a:extLst>
                <a:ext uri="{FF2B5EF4-FFF2-40B4-BE49-F238E27FC236}">
                  <a16:creationId xmlns:a16="http://schemas.microsoft.com/office/drawing/2014/main" id="{ABBBB447-9DD9-51D6-7E1F-53FCEA69C8AE}"/>
                </a:ext>
              </a:extLst>
            </p:cNvPr>
            <p:cNvSpPr txBox="1"/>
            <p:nvPr userDrawn="1"/>
          </p:nvSpPr>
          <p:spPr>
            <a:xfrm>
              <a:off x="709103" y="2667000"/>
              <a:ext cx="971741" cy="246221"/>
            </a:xfrm>
            <a:prstGeom prst="rect">
              <a:avLst/>
            </a:prstGeom>
            <a:noFill/>
          </p:spPr>
          <p:txBody>
            <a:bodyPr wrap="none" rtlCol="0">
              <a:spAutoFit/>
            </a:bodyPr>
            <a:lstStyle/>
            <a:p>
              <a:pPr algn="ctr"/>
              <a:r>
                <a:rPr lang="en-US" sz="1000" dirty="0"/>
                <a:t>Attention/Risk</a:t>
              </a:r>
            </a:p>
          </p:txBody>
        </p:sp>
      </p:grpSp>
      <p:grpSp>
        <p:nvGrpSpPr>
          <p:cNvPr id="48" name="Group 47">
            <a:extLst>
              <a:ext uri="{FF2B5EF4-FFF2-40B4-BE49-F238E27FC236}">
                <a16:creationId xmlns:a16="http://schemas.microsoft.com/office/drawing/2014/main" id="{145483EF-BC35-2B72-DF14-F98491F5A878}"/>
              </a:ext>
            </a:extLst>
          </p:cNvPr>
          <p:cNvGrpSpPr/>
          <p:nvPr userDrawn="1"/>
        </p:nvGrpSpPr>
        <p:grpSpPr>
          <a:xfrm>
            <a:off x="2119913" y="3246863"/>
            <a:ext cx="937550" cy="1160621"/>
            <a:chOff x="2276156" y="1752600"/>
            <a:chExt cx="937550" cy="1160621"/>
          </a:xfrm>
        </p:grpSpPr>
        <p:pic>
          <p:nvPicPr>
            <p:cNvPr id="49" name="Picture 48">
              <a:extLst>
                <a:ext uri="{FF2B5EF4-FFF2-40B4-BE49-F238E27FC236}">
                  <a16:creationId xmlns:a16="http://schemas.microsoft.com/office/drawing/2014/main" id="{DC1CB1A3-CB6A-3F6F-D4C8-D0A375257F59}"/>
                </a:ext>
              </a:extLst>
            </p:cNvPr>
            <p:cNvPicPr>
              <a:picLocks noChangeAspect="1"/>
            </p:cNvPicPr>
            <p:nvPr userDrawn="1"/>
          </p:nvPicPr>
          <p:blipFill>
            <a:blip r:embed="rId11" cstate="screen">
              <a:extLst>
                <a:ext uri="{28A0092B-C50C-407E-A947-70E740481C1C}">
                  <a14:useLocalDpi xmlns:a14="http://schemas.microsoft.com/office/drawing/2010/main"/>
                </a:ext>
              </a:extLst>
            </a:blip>
            <a:srcRect/>
            <a:stretch/>
          </p:blipFill>
          <p:spPr>
            <a:xfrm>
              <a:off x="2276156" y="1752600"/>
              <a:ext cx="937550" cy="937550"/>
            </a:xfrm>
            <a:prstGeom prst="rect">
              <a:avLst/>
            </a:prstGeom>
          </p:spPr>
        </p:pic>
        <p:sp>
          <p:nvSpPr>
            <p:cNvPr id="50" name="TextBox 49">
              <a:extLst>
                <a:ext uri="{FF2B5EF4-FFF2-40B4-BE49-F238E27FC236}">
                  <a16:creationId xmlns:a16="http://schemas.microsoft.com/office/drawing/2014/main" id="{864AB0F9-D4AB-42DC-85C6-261EF3905EB7}"/>
                </a:ext>
              </a:extLst>
            </p:cNvPr>
            <p:cNvSpPr txBox="1"/>
            <p:nvPr userDrawn="1"/>
          </p:nvSpPr>
          <p:spPr>
            <a:xfrm>
              <a:off x="2368868" y="2667000"/>
              <a:ext cx="752129" cy="246221"/>
            </a:xfrm>
            <a:prstGeom prst="rect">
              <a:avLst/>
            </a:prstGeom>
            <a:noFill/>
          </p:spPr>
          <p:txBody>
            <a:bodyPr wrap="none" rtlCol="0">
              <a:spAutoFit/>
            </a:bodyPr>
            <a:lstStyle/>
            <a:p>
              <a:pPr algn="ctr"/>
              <a:r>
                <a:rPr lang="en-US" sz="1000" dirty="0"/>
                <a:t>List/To-do</a:t>
              </a:r>
            </a:p>
          </p:txBody>
        </p:sp>
      </p:grpSp>
      <p:grpSp>
        <p:nvGrpSpPr>
          <p:cNvPr id="51" name="Group 50">
            <a:extLst>
              <a:ext uri="{FF2B5EF4-FFF2-40B4-BE49-F238E27FC236}">
                <a16:creationId xmlns:a16="http://schemas.microsoft.com/office/drawing/2014/main" id="{91D7BD37-7B62-B0BE-B34B-FE7378F9CBAE}"/>
              </a:ext>
            </a:extLst>
          </p:cNvPr>
          <p:cNvGrpSpPr/>
          <p:nvPr userDrawn="1"/>
        </p:nvGrpSpPr>
        <p:grpSpPr>
          <a:xfrm>
            <a:off x="3376712" y="3246863"/>
            <a:ext cx="1184941" cy="1160621"/>
            <a:chOff x="3204355" y="1752600"/>
            <a:chExt cx="1184941" cy="1160621"/>
          </a:xfrm>
        </p:grpSpPr>
        <p:pic>
          <p:nvPicPr>
            <p:cNvPr id="52" name="Picture 51">
              <a:extLst>
                <a:ext uri="{FF2B5EF4-FFF2-40B4-BE49-F238E27FC236}">
                  <a16:creationId xmlns:a16="http://schemas.microsoft.com/office/drawing/2014/main" id="{E016F2B6-B7E8-1132-2642-EA957F1761C7}"/>
                </a:ext>
              </a:extLst>
            </p:cNvPr>
            <p:cNvPicPr>
              <a:picLocks noChangeAspect="1"/>
            </p:cNvPicPr>
            <p:nvPr userDrawn="1"/>
          </p:nvPicPr>
          <p:blipFill>
            <a:blip r:embed="rId12" cstate="print">
              <a:extLst>
                <a:ext uri="{28A0092B-C50C-407E-A947-70E740481C1C}">
                  <a14:useLocalDpi xmlns:a14="http://schemas.microsoft.com/office/drawing/2010/main"/>
                </a:ext>
              </a:extLst>
            </a:blip>
            <a:srcRect/>
            <a:stretch/>
          </p:blipFill>
          <p:spPr>
            <a:xfrm>
              <a:off x="3328048" y="1752600"/>
              <a:ext cx="937550" cy="937550"/>
            </a:xfrm>
            <a:prstGeom prst="rect">
              <a:avLst/>
            </a:prstGeom>
          </p:spPr>
        </p:pic>
        <p:sp>
          <p:nvSpPr>
            <p:cNvPr id="53" name="TextBox 52">
              <a:extLst>
                <a:ext uri="{FF2B5EF4-FFF2-40B4-BE49-F238E27FC236}">
                  <a16:creationId xmlns:a16="http://schemas.microsoft.com/office/drawing/2014/main" id="{FE880E60-8A4E-251D-C573-98A48CAF06AC}"/>
                </a:ext>
              </a:extLst>
            </p:cNvPr>
            <p:cNvSpPr txBox="1"/>
            <p:nvPr userDrawn="1"/>
          </p:nvSpPr>
          <p:spPr>
            <a:xfrm>
              <a:off x="3204355" y="2667000"/>
              <a:ext cx="1184941" cy="246221"/>
            </a:xfrm>
            <a:prstGeom prst="rect">
              <a:avLst/>
            </a:prstGeom>
            <a:noFill/>
          </p:spPr>
          <p:txBody>
            <a:bodyPr wrap="none" rtlCol="0">
              <a:spAutoFit/>
            </a:bodyPr>
            <a:lstStyle/>
            <a:p>
              <a:pPr algn="ctr"/>
              <a:r>
                <a:rPr lang="en-US" sz="1000" dirty="0"/>
                <a:t>Report/Document</a:t>
              </a:r>
            </a:p>
          </p:txBody>
        </p:sp>
      </p:grpSp>
      <p:grpSp>
        <p:nvGrpSpPr>
          <p:cNvPr id="54" name="Group 53">
            <a:extLst>
              <a:ext uri="{FF2B5EF4-FFF2-40B4-BE49-F238E27FC236}">
                <a16:creationId xmlns:a16="http://schemas.microsoft.com/office/drawing/2014/main" id="{A6033F2C-0684-B356-46F6-D9BF89D9EBB8}"/>
              </a:ext>
            </a:extLst>
          </p:cNvPr>
          <p:cNvGrpSpPr/>
          <p:nvPr userDrawn="1"/>
        </p:nvGrpSpPr>
        <p:grpSpPr>
          <a:xfrm>
            <a:off x="6247355" y="3246863"/>
            <a:ext cx="937550" cy="1160621"/>
            <a:chOff x="4379940" y="1752600"/>
            <a:chExt cx="937550" cy="1160621"/>
          </a:xfrm>
        </p:grpSpPr>
        <p:pic>
          <p:nvPicPr>
            <p:cNvPr id="55" name="Picture 54">
              <a:extLst>
                <a:ext uri="{FF2B5EF4-FFF2-40B4-BE49-F238E27FC236}">
                  <a16:creationId xmlns:a16="http://schemas.microsoft.com/office/drawing/2014/main" id="{39BAD218-B5C9-34D3-5AF3-0CBB52EE323D}"/>
                </a:ext>
              </a:extLst>
            </p:cNvPr>
            <p:cNvPicPr>
              <a:picLocks noChangeAspect="1"/>
            </p:cNvPicPr>
            <p:nvPr userDrawn="1"/>
          </p:nvPicPr>
          <p:blipFill>
            <a:blip r:embed="rId13" cstate="screen">
              <a:extLst>
                <a:ext uri="{28A0092B-C50C-407E-A947-70E740481C1C}">
                  <a14:useLocalDpi xmlns:a14="http://schemas.microsoft.com/office/drawing/2010/main"/>
                </a:ext>
              </a:extLst>
            </a:blip>
            <a:srcRect/>
            <a:stretch/>
          </p:blipFill>
          <p:spPr>
            <a:xfrm>
              <a:off x="4379940" y="1752600"/>
              <a:ext cx="937550" cy="937550"/>
            </a:xfrm>
            <a:prstGeom prst="rect">
              <a:avLst/>
            </a:prstGeom>
          </p:spPr>
        </p:pic>
        <p:sp>
          <p:nvSpPr>
            <p:cNvPr id="56" name="TextBox 55">
              <a:extLst>
                <a:ext uri="{FF2B5EF4-FFF2-40B4-BE49-F238E27FC236}">
                  <a16:creationId xmlns:a16="http://schemas.microsoft.com/office/drawing/2014/main" id="{9E81308E-5F10-C3B2-DBCC-5B1B946E1E11}"/>
                </a:ext>
              </a:extLst>
            </p:cNvPr>
            <p:cNvSpPr txBox="1"/>
            <p:nvPr userDrawn="1"/>
          </p:nvSpPr>
          <p:spPr>
            <a:xfrm>
              <a:off x="4429371" y="2667000"/>
              <a:ext cx="838691" cy="246221"/>
            </a:xfrm>
            <a:prstGeom prst="rect">
              <a:avLst/>
            </a:prstGeom>
            <a:noFill/>
          </p:spPr>
          <p:txBody>
            <a:bodyPr wrap="none" rtlCol="0">
              <a:spAutoFit/>
            </a:bodyPr>
            <a:lstStyle/>
            <a:p>
              <a:pPr algn="ctr"/>
              <a:r>
                <a:rPr lang="en-US" sz="1000" dirty="0"/>
                <a:t>Microscope</a:t>
              </a:r>
            </a:p>
          </p:txBody>
        </p:sp>
      </p:grpSp>
      <p:grpSp>
        <p:nvGrpSpPr>
          <p:cNvPr id="57" name="Group 56">
            <a:extLst>
              <a:ext uri="{FF2B5EF4-FFF2-40B4-BE49-F238E27FC236}">
                <a16:creationId xmlns:a16="http://schemas.microsoft.com/office/drawing/2014/main" id="{BCB13DA3-C4EA-FA14-E54A-64A7393C4797}"/>
              </a:ext>
            </a:extLst>
          </p:cNvPr>
          <p:cNvGrpSpPr/>
          <p:nvPr userDrawn="1"/>
        </p:nvGrpSpPr>
        <p:grpSpPr>
          <a:xfrm>
            <a:off x="10412895" y="3246863"/>
            <a:ext cx="937550" cy="1160621"/>
            <a:chOff x="5431831" y="1752600"/>
            <a:chExt cx="937550" cy="1160621"/>
          </a:xfrm>
        </p:grpSpPr>
        <p:pic>
          <p:nvPicPr>
            <p:cNvPr id="58" name="Picture 57">
              <a:extLst>
                <a:ext uri="{FF2B5EF4-FFF2-40B4-BE49-F238E27FC236}">
                  <a16:creationId xmlns:a16="http://schemas.microsoft.com/office/drawing/2014/main" id="{2E0CFCFC-C544-673F-AC06-758A8EEB54E3}"/>
                </a:ext>
              </a:extLst>
            </p:cNvPr>
            <p:cNvPicPr>
              <a:picLocks noChangeAspect="1"/>
            </p:cNvPicPr>
            <p:nvPr userDrawn="1"/>
          </p:nvPicPr>
          <p:blipFill>
            <a:blip r:embed="rId14"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59" name="TextBox 58">
              <a:extLst>
                <a:ext uri="{FF2B5EF4-FFF2-40B4-BE49-F238E27FC236}">
                  <a16:creationId xmlns:a16="http://schemas.microsoft.com/office/drawing/2014/main" id="{761C5F85-20F7-D144-95A9-0CE5C5D9B15C}"/>
                </a:ext>
              </a:extLst>
            </p:cNvPr>
            <p:cNvSpPr txBox="1"/>
            <p:nvPr userDrawn="1"/>
          </p:nvSpPr>
          <p:spPr>
            <a:xfrm>
              <a:off x="5485270" y="2667000"/>
              <a:ext cx="830676" cy="246221"/>
            </a:xfrm>
            <a:prstGeom prst="rect">
              <a:avLst/>
            </a:prstGeom>
            <a:noFill/>
          </p:spPr>
          <p:txBody>
            <a:bodyPr wrap="none" rtlCol="0">
              <a:spAutoFit/>
            </a:bodyPr>
            <a:lstStyle/>
            <a:p>
              <a:pPr algn="ctr"/>
              <a:r>
                <a:rPr lang="en-US" sz="1000" dirty="0"/>
                <a:t>Experiment</a:t>
              </a:r>
            </a:p>
          </p:txBody>
        </p:sp>
      </p:grpSp>
      <p:grpSp>
        <p:nvGrpSpPr>
          <p:cNvPr id="60" name="Group 59">
            <a:extLst>
              <a:ext uri="{FF2B5EF4-FFF2-40B4-BE49-F238E27FC236}">
                <a16:creationId xmlns:a16="http://schemas.microsoft.com/office/drawing/2014/main" id="{6B523C45-1411-FFA2-CDD6-030F8673413B}"/>
              </a:ext>
            </a:extLst>
          </p:cNvPr>
          <p:cNvGrpSpPr/>
          <p:nvPr userDrawn="1"/>
        </p:nvGrpSpPr>
        <p:grpSpPr>
          <a:xfrm>
            <a:off x="7661269" y="3246863"/>
            <a:ext cx="937550" cy="1160621"/>
            <a:chOff x="5431831" y="1752600"/>
            <a:chExt cx="937550" cy="1160621"/>
          </a:xfrm>
        </p:grpSpPr>
        <p:pic>
          <p:nvPicPr>
            <p:cNvPr id="61" name="Picture 60">
              <a:extLst>
                <a:ext uri="{FF2B5EF4-FFF2-40B4-BE49-F238E27FC236}">
                  <a16:creationId xmlns:a16="http://schemas.microsoft.com/office/drawing/2014/main" id="{CBAEB1D6-A0DB-C3DE-CEFD-60B96E056668}"/>
                </a:ext>
              </a:extLst>
            </p:cNvPr>
            <p:cNvPicPr>
              <a:picLocks noChangeAspect="1"/>
            </p:cNvPicPr>
            <p:nvPr userDrawn="1"/>
          </p:nvPicPr>
          <p:blipFill>
            <a:blip r:embed="rId15"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2" name="TextBox 61">
              <a:extLst>
                <a:ext uri="{FF2B5EF4-FFF2-40B4-BE49-F238E27FC236}">
                  <a16:creationId xmlns:a16="http://schemas.microsoft.com/office/drawing/2014/main" id="{1DB68FE0-405B-2CB1-9B49-0529846D28AF}"/>
                </a:ext>
              </a:extLst>
            </p:cNvPr>
            <p:cNvSpPr txBox="1"/>
            <p:nvPr userDrawn="1"/>
          </p:nvSpPr>
          <p:spPr>
            <a:xfrm>
              <a:off x="5627937" y="2667000"/>
              <a:ext cx="545342" cy="246221"/>
            </a:xfrm>
            <a:prstGeom prst="rect">
              <a:avLst/>
            </a:prstGeom>
            <a:noFill/>
          </p:spPr>
          <p:txBody>
            <a:bodyPr wrap="none" rtlCol="0">
              <a:spAutoFit/>
            </a:bodyPr>
            <a:lstStyle/>
            <a:p>
              <a:pPr algn="ctr"/>
              <a:r>
                <a:rPr lang="en-US" sz="1000" dirty="0"/>
                <a:t>Space</a:t>
              </a:r>
            </a:p>
          </p:txBody>
        </p:sp>
      </p:grpSp>
      <p:grpSp>
        <p:nvGrpSpPr>
          <p:cNvPr id="66" name="Group 65">
            <a:extLst>
              <a:ext uri="{FF2B5EF4-FFF2-40B4-BE49-F238E27FC236}">
                <a16:creationId xmlns:a16="http://schemas.microsoft.com/office/drawing/2014/main" id="{9C8573B0-C3E9-BD4A-12C6-2C05FEB654FB}"/>
              </a:ext>
            </a:extLst>
          </p:cNvPr>
          <p:cNvGrpSpPr/>
          <p:nvPr userDrawn="1"/>
        </p:nvGrpSpPr>
        <p:grpSpPr>
          <a:xfrm>
            <a:off x="4800600" y="3246863"/>
            <a:ext cx="1114409" cy="1160621"/>
            <a:chOff x="5343407" y="1752600"/>
            <a:chExt cx="1114409" cy="1160621"/>
          </a:xfrm>
        </p:grpSpPr>
        <p:pic>
          <p:nvPicPr>
            <p:cNvPr id="67" name="Picture 66">
              <a:extLst>
                <a:ext uri="{FF2B5EF4-FFF2-40B4-BE49-F238E27FC236}">
                  <a16:creationId xmlns:a16="http://schemas.microsoft.com/office/drawing/2014/main" id="{E7FB7A2A-2D14-1105-B15D-4F4C04A6FF74}"/>
                </a:ext>
              </a:extLst>
            </p:cNvPr>
            <p:cNvPicPr>
              <a:picLocks noChangeAspect="1"/>
            </p:cNvPicPr>
            <p:nvPr userDrawn="1"/>
          </p:nvPicPr>
          <p:blipFill>
            <a:blip r:embed="rId16"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68" name="TextBox 67">
              <a:extLst>
                <a:ext uri="{FF2B5EF4-FFF2-40B4-BE49-F238E27FC236}">
                  <a16:creationId xmlns:a16="http://schemas.microsoft.com/office/drawing/2014/main" id="{4CA22A94-509E-32C8-87A6-C41E8B1B2DEA}"/>
                </a:ext>
              </a:extLst>
            </p:cNvPr>
            <p:cNvSpPr txBox="1"/>
            <p:nvPr userDrawn="1"/>
          </p:nvSpPr>
          <p:spPr>
            <a:xfrm>
              <a:off x="5343407" y="2667000"/>
              <a:ext cx="1114409" cy="246221"/>
            </a:xfrm>
            <a:prstGeom prst="rect">
              <a:avLst/>
            </a:prstGeom>
            <a:noFill/>
          </p:spPr>
          <p:txBody>
            <a:bodyPr wrap="none" rtlCol="0">
              <a:spAutoFit/>
            </a:bodyPr>
            <a:lstStyle/>
            <a:p>
              <a:pPr algn="ctr"/>
              <a:r>
                <a:rPr lang="en-US" sz="1000" dirty="0"/>
                <a:t>Report/Analytics</a:t>
              </a:r>
            </a:p>
          </p:txBody>
        </p:sp>
      </p:grpSp>
      <p:grpSp>
        <p:nvGrpSpPr>
          <p:cNvPr id="69" name="Group 68">
            <a:extLst>
              <a:ext uri="{FF2B5EF4-FFF2-40B4-BE49-F238E27FC236}">
                <a16:creationId xmlns:a16="http://schemas.microsoft.com/office/drawing/2014/main" id="{846D9EA6-D0B5-18CC-6C05-63F3908918A0}"/>
              </a:ext>
            </a:extLst>
          </p:cNvPr>
          <p:cNvGrpSpPr/>
          <p:nvPr userDrawn="1"/>
        </p:nvGrpSpPr>
        <p:grpSpPr>
          <a:xfrm>
            <a:off x="9037083" y="3246863"/>
            <a:ext cx="937550" cy="1160621"/>
            <a:chOff x="5431831" y="1752600"/>
            <a:chExt cx="937550" cy="1160621"/>
          </a:xfrm>
        </p:grpSpPr>
        <p:pic>
          <p:nvPicPr>
            <p:cNvPr id="70" name="Picture 69">
              <a:extLst>
                <a:ext uri="{FF2B5EF4-FFF2-40B4-BE49-F238E27FC236}">
                  <a16:creationId xmlns:a16="http://schemas.microsoft.com/office/drawing/2014/main" id="{56CADE8A-6EC7-51D0-0CFE-1124AA9C6C51}"/>
                </a:ext>
              </a:extLst>
            </p:cNvPr>
            <p:cNvPicPr>
              <a:picLocks noChangeAspect="1"/>
            </p:cNvPicPr>
            <p:nvPr userDrawn="1"/>
          </p:nvPicPr>
          <p:blipFill>
            <a:blip r:embed="rId17" cstate="screen">
              <a:extLst>
                <a:ext uri="{28A0092B-C50C-407E-A947-70E740481C1C}">
                  <a14:useLocalDpi xmlns:a14="http://schemas.microsoft.com/office/drawing/2010/main"/>
                </a:ext>
              </a:extLst>
            </a:blip>
            <a:srcRect/>
            <a:stretch/>
          </p:blipFill>
          <p:spPr>
            <a:xfrm>
              <a:off x="5431831" y="1752600"/>
              <a:ext cx="937550" cy="937550"/>
            </a:xfrm>
            <a:prstGeom prst="rect">
              <a:avLst/>
            </a:prstGeom>
          </p:spPr>
        </p:pic>
        <p:sp>
          <p:nvSpPr>
            <p:cNvPr id="71" name="TextBox 70">
              <a:extLst>
                <a:ext uri="{FF2B5EF4-FFF2-40B4-BE49-F238E27FC236}">
                  <a16:creationId xmlns:a16="http://schemas.microsoft.com/office/drawing/2014/main" id="{9702BEAC-3F80-2061-C091-2E2DE37438D1}"/>
                </a:ext>
              </a:extLst>
            </p:cNvPr>
            <p:cNvSpPr txBox="1"/>
            <p:nvPr userDrawn="1"/>
          </p:nvSpPr>
          <p:spPr>
            <a:xfrm>
              <a:off x="5599081" y="2667000"/>
              <a:ext cx="603050" cy="246221"/>
            </a:xfrm>
            <a:prstGeom prst="rect">
              <a:avLst/>
            </a:prstGeom>
            <a:noFill/>
          </p:spPr>
          <p:txBody>
            <a:bodyPr wrap="none" rtlCol="0">
              <a:spAutoFit/>
            </a:bodyPr>
            <a:lstStyle/>
            <a:p>
              <a:pPr algn="ctr"/>
              <a:r>
                <a:rPr lang="en-US" sz="1000" dirty="0"/>
                <a:t>Biology</a:t>
              </a:r>
            </a:p>
          </p:txBody>
        </p:sp>
      </p:grpSp>
    </p:spTree>
    <p:extLst>
      <p:ext uri="{BB962C8B-B14F-4D97-AF65-F5344CB8AC3E}">
        <p14:creationId xmlns:p14="http://schemas.microsoft.com/office/powerpoint/2010/main" val="27975668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58259536-D612-272A-D0AD-1D0145988D36}"/>
              </a:ext>
            </a:extLst>
          </p:cNvPr>
          <p:cNvSpPr>
            <a:spLocks noGrp="1"/>
          </p:cNvSpPr>
          <p:nvPr>
            <p:ph type="ftr" sz="quarter" idx="11"/>
          </p:nvPr>
        </p:nvSpPr>
        <p:spPr/>
        <p:txBody>
          <a:bodyPr/>
          <a:lstStyle/>
          <a:p>
            <a:r>
              <a:rPr lang="en-US" dirty="0"/>
              <a:t>Biological &amp; Physical Sciences</a:t>
            </a:r>
          </a:p>
        </p:txBody>
      </p:sp>
      <p:sp>
        <p:nvSpPr>
          <p:cNvPr id="4" name="Slide Number Placeholder 3">
            <a:extLst>
              <a:ext uri="{FF2B5EF4-FFF2-40B4-BE49-F238E27FC236}">
                <a16:creationId xmlns:a16="http://schemas.microsoft.com/office/drawing/2014/main" id="{571A510F-03EC-A6BB-D8AE-182AFD52C8B2}"/>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605779802"/>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E54A3-AB3C-35BD-6098-13B595E84A94}"/>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71C3EF45-FFD0-8EC1-3E51-7B4572F3A59A}"/>
              </a:ext>
            </a:extLst>
          </p:cNvPr>
          <p:cNvSpPr>
            <a:spLocks noGrp="1"/>
          </p:cNvSpPr>
          <p:nvPr>
            <p:ph idx="1"/>
          </p:nvPr>
        </p:nvSpPr>
        <p:spPr>
          <a:xfrm>
            <a:off x="5105400" y="1103971"/>
            <a:ext cx="6556748" cy="5211066"/>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4A3246F-34BC-6307-9619-06751D531DA2}"/>
              </a:ext>
            </a:extLst>
          </p:cNvPr>
          <p:cNvSpPr>
            <a:spLocks noGrp="1"/>
          </p:cNvSpPr>
          <p:nvPr>
            <p:ph type="body" sz="half" idx="2"/>
          </p:nvPr>
        </p:nvSpPr>
        <p:spPr>
          <a:xfrm>
            <a:off x="914399" y="2503449"/>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8FDF21F7-6214-7E6B-A5E6-69AAAA30330A}"/>
              </a:ext>
            </a:extLst>
          </p:cNvPr>
          <p:cNvSpPr>
            <a:spLocks noGrp="1"/>
          </p:cNvSpPr>
          <p:nvPr>
            <p:ph type="ftr" sz="quarter" idx="11"/>
          </p:nvPr>
        </p:nvSpPr>
        <p:spPr/>
        <p:txBody>
          <a:bodyPr/>
          <a:lstStyle/>
          <a:p>
            <a:r>
              <a:rPr lang="en-US" dirty="0"/>
              <a:t>Biological &amp; Physical Sciences</a:t>
            </a:r>
          </a:p>
        </p:txBody>
      </p:sp>
      <p:sp>
        <p:nvSpPr>
          <p:cNvPr id="7" name="Slide Number Placeholder 6">
            <a:extLst>
              <a:ext uri="{FF2B5EF4-FFF2-40B4-BE49-F238E27FC236}">
                <a16:creationId xmlns:a16="http://schemas.microsoft.com/office/drawing/2014/main" id="{B5A02BA3-BB8A-AC85-A750-93E59432E3A8}"/>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91550471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59C9C3-CF27-8B06-2E66-2BB1FCAD726F}"/>
              </a:ext>
            </a:extLst>
          </p:cNvPr>
          <p:cNvSpPr>
            <a:spLocks noGrp="1"/>
          </p:cNvSpPr>
          <p:nvPr>
            <p:ph type="title"/>
          </p:nvPr>
        </p:nvSpPr>
        <p:spPr>
          <a:xfrm>
            <a:off x="914400" y="758952"/>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38B7967-4936-AE6D-0BBD-BCE482FF4262}"/>
              </a:ext>
            </a:extLst>
          </p:cNvPr>
          <p:cNvSpPr>
            <a:spLocks noGrp="1"/>
          </p:cNvSpPr>
          <p:nvPr>
            <p:ph type="pic" idx="1"/>
          </p:nvPr>
        </p:nvSpPr>
        <p:spPr>
          <a:xfrm>
            <a:off x="5102352" y="1106424"/>
            <a:ext cx="6518834" cy="523537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a:extLst>
              <a:ext uri="{FF2B5EF4-FFF2-40B4-BE49-F238E27FC236}">
                <a16:creationId xmlns:a16="http://schemas.microsoft.com/office/drawing/2014/main" id="{A391E6CC-1128-78C6-3309-EDCFE3E4C724}"/>
              </a:ext>
            </a:extLst>
          </p:cNvPr>
          <p:cNvSpPr>
            <a:spLocks noGrp="1"/>
          </p:cNvSpPr>
          <p:nvPr>
            <p:ph type="body" sz="half" idx="2"/>
          </p:nvPr>
        </p:nvSpPr>
        <p:spPr>
          <a:xfrm>
            <a:off x="914400" y="2505456"/>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6" name="Footer Placeholder 5">
            <a:extLst>
              <a:ext uri="{FF2B5EF4-FFF2-40B4-BE49-F238E27FC236}">
                <a16:creationId xmlns:a16="http://schemas.microsoft.com/office/drawing/2014/main" id="{B6FB39B1-5B40-FE1F-3045-DD90E2A822AB}"/>
              </a:ext>
            </a:extLst>
          </p:cNvPr>
          <p:cNvSpPr>
            <a:spLocks noGrp="1"/>
          </p:cNvSpPr>
          <p:nvPr>
            <p:ph type="ftr" sz="quarter" idx="11"/>
          </p:nvPr>
        </p:nvSpPr>
        <p:spPr/>
        <p:txBody>
          <a:bodyPr/>
          <a:lstStyle/>
          <a:p>
            <a:r>
              <a:rPr lang="en-US" dirty="0"/>
              <a:t>Biological &amp; Physical Sciences </a:t>
            </a:r>
          </a:p>
        </p:txBody>
      </p:sp>
      <p:sp>
        <p:nvSpPr>
          <p:cNvPr id="7" name="Slide Number Placeholder 6">
            <a:extLst>
              <a:ext uri="{FF2B5EF4-FFF2-40B4-BE49-F238E27FC236}">
                <a16:creationId xmlns:a16="http://schemas.microsoft.com/office/drawing/2014/main" id="{6177EE0B-14D8-097A-37A8-4FBF55301754}"/>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39127374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148911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_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F5B7E2-6845-38D7-8C84-05645DB92747}"/>
              </a:ext>
            </a:extLst>
          </p:cNvPr>
          <p:cNvSpPr>
            <a:spLocks noGrp="1"/>
          </p:cNvSpPr>
          <p:nvPr>
            <p:ph type="title"/>
          </p:nvPr>
        </p:nvSpPr>
        <p:spPr>
          <a:xfrm>
            <a:off x="914400" y="755930"/>
            <a:ext cx="10325100" cy="1325563"/>
          </a:xfrm>
        </p:spPr>
        <p:txBody>
          <a:bodyPr/>
          <a:lstStyle/>
          <a:p>
            <a:r>
              <a:rPr lang="en-US"/>
              <a:t>Click to edit Master title style</a:t>
            </a:r>
          </a:p>
        </p:txBody>
      </p:sp>
      <p:sp>
        <p:nvSpPr>
          <p:cNvPr id="5" name="Footer Placeholder 4">
            <a:extLst>
              <a:ext uri="{FF2B5EF4-FFF2-40B4-BE49-F238E27FC236}">
                <a16:creationId xmlns:a16="http://schemas.microsoft.com/office/drawing/2014/main" id="{A47FDE4B-421A-55A0-7AEA-42BC2BDCD38C}"/>
              </a:ext>
            </a:extLst>
          </p:cNvPr>
          <p:cNvSpPr>
            <a:spLocks noGrp="1"/>
          </p:cNvSpPr>
          <p:nvPr>
            <p:ph type="ftr" sz="quarter" idx="11"/>
          </p:nvPr>
        </p:nvSpPr>
        <p:spPr/>
        <p:txBody>
          <a:bodyPr/>
          <a:lstStyle/>
          <a:p>
            <a:r>
              <a:rPr lang="en-US" dirty="0"/>
              <a:t>Biological &amp; Physical Sciences</a:t>
            </a:r>
          </a:p>
        </p:txBody>
      </p:sp>
      <p:sp>
        <p:nvSpPr>
          <p:cNvPr id="6" name="Slide Number Placeholder 5">
            <a:extLst>
              <a:ext uri="{FF2B5EF4-FFF2-40B4-BE49-F238E27FC236}">
                <a16:creationId xmlns:a16="http://schemas.microsoft.com/office/drawing/2014/main" id="{CBB340CA-3171-FB84-4A04-1522D74B5D1F}"/>
              </a:ext>
            </a:extLst>
          </p:cNvPr>
          <p:cNvSpPr>
            <a:spLocks noGrp="1"/>
          </p:cNvSpPr>
          <p:nvPr>
            <p:ph type="sldNum" sz="quarter" idx="12"/>
          </p:nvPr>
        </p:nvSpPr>
        <p:spPr/>
        <p:txBody>
          <a:bodyPr/>
          <a:lstStyle/>
          <a:p>
            <a:fld id="{E8618032-BA8D-3D4D-8253-A70208A85976}" type="slidenum">
              <a:rPr lang="en-US" smtClean="0"/>
              <a:t>‹#›</a:t>
            </a:fld>
            <a:endParaRPr lang="en-US"/>
          </a:p>
        </p:txBody>
      </p:sp>
    </p:spTree>
    <p:extLst>
      <p:ext uri="{BB962C8B-B14F-4D97-AF65-F5344CB8AC3E}">
        <p14:creationId xmlns:p14="http://schemas.microsoft.com/office/powerpoint/2010/main" val="224307171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theme" Target="../theme/theme1.xml"/><Relationship Id="rId33" Type="http://schemas.openxmlformats.org/officeDocument/2006/relationships/image" Target="../media/image1.jpeg"/><Relationship Id="rId3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a:gsLst>
            <a:gs pos="0">
              <a:srgbClr val="D4BF88">
                <a:alpha val="75162"/>
              </a:srgbClr>
            </a:gs>
            <a:gs pos="39000">
              <a:schemeClr val="bg1"/>
            </a:gs>
          </a:gsLst>
          <a:lin ang="81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F53D41-B3D9-0856-DEBB-57C725BD4CCF}"/>
              </a:ext>
            </a:extLst>
          </p:cNvPr>
          <p:cNvSpPr>
            <a:spLocks noGrp="1"/>
          </p:cNvSpPr>
          <p:nvPr>
            <p:ph type="title"/>
          </p:nvPr>
        </p:nvSpPr>
        <p:spPr>
          <a:xfrm>
            <a:off x="933450" y="755930"/>
            <a:ext cx="103251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2B7F6990-E15B-701E-55A2-00590A07CB4F}"/>
              </a:ext>
            </a:extLst>
          </p:cNvPr>
          <p:cNvSpPr>
            <a:spLocks noGrp="1"/>
          </p:cNvSpPr>
          <p:nvPr>
            <p:ph type="body" idx="1"/>
          </p:nvPr>
        </p:nvSpPr>
        <p:spPr>
          <a:xfrm>
            <a:off x="933450" y="2216430"/>
            <a:ext cx="103251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7" name="Picture 6">
            <a:extLst>
              <a:ext uri="{FF2B5EF4-FFF2-40B4-BE49-F238E27FC236}">
                <a16:creationId xmlns:a16="http://schemas.microsoft.com/office/drawing/2014/main" id="{3C0E2C12-EE6A-20CB-09F3-55836BC3394C}"/>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0" y="-47324"/>
            <a:ext cx="12192000" cy="529216"/>
          </a:xfrm>
          <a:prstGeom prst="rect">
            <a:avLst/>
          </a:prstGeom>
        </p:spPr>
      </p:pic>
      <p:pic>
        <p:nvPicPr>
          <p:cNvPr id="8" name="Picture 7" descr="A black background with grey letters&#10;&#10;Description automatically generated">
            <a:extLst>
              <a:ext uri="{FF2B5EF4-FFF2-40B4-BE49-F238E27FC236}">
                <a16:creationId xmlns:a16="http://schemas.microsoft.com/office/drawing/2014/main" id="{119BBE9E-4D69-14CD-9511-13BB4AA55DFA}"/>
              </a:ext>
            </a:extLst>
          </p:cNvPr>
          <p:cNvPicPr>
            <a:picLocks noChangeAspect="1"/>
          </p:cNvPicPr>
          <p:nvPr userDrawn="1"/>
        </p:nvPicPr>
        <p:blipFill rotWithShape="1">
          <a:blip r:embed="rId34" cstate="screen">
            <a:alphaModFix amt="23000"/>
            <a:extLst>
              <a:ext uri="{28A0092B-C50C-407E-A947-70E740481C1C}">
                <a14:useLocalDpi xmlns:a14="http://schemas.microsoft.com/office/drawing/2010/main"/>
              </a:ext>
            </a:extLst>
          </a:blip>
          <a:srcRect/>
          <a:stretch/>
        </p:blipFill>
        <p:spPr>
          <a:xfrm>
            <a:off x="0" y="-50077"/>
            <a:ext cx="1201897" cy="531969"/>
          </a:xfrm>
          <a:prstGeom prst="rect">
            <a:avLst/>
          </a:prstGeom>
        </p:spPr>
      </p:pic>
      <p:sp>
        <p:nvSpPr>
          <p:cNvPr id="6" name="Slide Number Placeholder 5">
            <a:extLst>
              <a:ext uri="{FF2B5EF4-FFF2-40B4-BE49-F238E27FC236}">
                <a16:creationId xmlns:a16="http://schemas.microsoft.com/office/drawing/2014/main" id="{37322777-339B-9F56-577C-65AD89F9C7A5}"/>
              </a:ext>
            </a:extLst>
          </p:cNvPr>
          <p:cNvSpPr>
            <a:spLocks noGrp="1"/>
          </p:cNvSpPr>
          <p:nvPr>
            <p:ph type="sldNum" sz="quarter" idx="4"/>
          </p:nvPr>
        </p:nvSpPr>
        <p:spPr>
          <a:xfrm>
            <a:off x="11662148" y="99559"/>
            <a:ext cx="1059704" cy="261258"/>
          </a:xfrm>
          <a:prstGeom prst="roundRect">
            <a:avLst>
              <a:gd name="adj" fmla="val 50000"/>
            </a:avLst>
          </a:prstGeom>
          <a:solidFill>
            <a:srgbClr val="002060"/>
          </a:solidFill>
        </p:spPr>
        <p:txBody>
          <a:bodyPr vert="horz" lIns="91440" tIns="45720" rIns="91440" bIns="45720" rtlCol="0" anchor="ctr"/>
          <a:lstStyle>
            <a:lvl1pPr algn="l">
              <a:defRPr sz="1100" b="1">
                <a:solidFill>
                  <a:schemeClr val="bg1"/>
                </a:solidFill>
              </a:defRPr>
            </a:lvl1pPr>
          </a:lstStyle>
          <a:p>
            <a:fld id="{E8618032-BA8D-3D4D-8253-A70208A85976}" type="slidenum">
              <a:rPr lang="en-US" smtClean="0"/>
              <a:pPr/>
              <a:t>‹#›</a:t>
            </a:fld>
            <a:endParaRPr lang="en-US" dirty="0"/>
          </a:p>
        </p:txBody>
      </p:sp>
      <p:sp>
        <p:nvSpPr>
          <p:cNvPr id="5" name="Footer Placeholder 4">
            <a:extLst>
              <a:ext uri="{FF2B5EF4-FFF2-40B4-BE49-F238E27FC236}">
                <a16:creationId xmlns:a16="http://schemas.microsoft.com/office/drawing/2014/main" id="{D5538D45-6410-BA73-9765-65C75CDC4742}"/>
              </a:ext>
            </a:extLst>
          </p:cNvPr>
          <p:cNvSpPr>
            <a:spLocks noGrp="1"/>
          </p:cNvSpPr>
          <p:nvPr>
            <p:ph type="ftr" sz="quarter" idx="3"/>
          </p:nvPr>
        </p:nvSpPr>
        <p:spPr>
          <a:xfrm>
            <a:off x="343963" y="121602"/>
            <a:ext cx="4114800" cy="217173"/>
          </a:xfrm>
          <a:prstGeom prst="rect">
            <a:avLst/>
          </a:prstGeom>
        </p:spPr>
        <p:txBody>
          <a:bodyPr vert="horz" lIns="91440" tIns="45720" rIns="91440" bIns="45720" rtlCol="0" anchor="ctr"/>
          <a:lstStyle>
            <a:lvl1pPr algn="l">
              <a:defRPr sz="900">
                <a:solidFill>
                  <a:schemeClr val="bg1">
                    <a:alpha val="75167"/>
                  </a:schemeClr>
                </a:solidFill>
              </a:defRPr>
            </a:lvl1pPr>
          </a:lstStyle>
          <a:p>
            <a:r>
              <a:rPr lang="en-US" dirty="0"/>
              <a:t>Biological &amp; Physical Sciences</a:t>
            </a:r>
          </a:p>
        </p:txBody>
      </p:sp>
    </p:spTree>
    <p:extLst>
      <p:ext uri="{BB962C8B-B14F-4D97-AF65-F5344CB8AC3E}">
        <p14:creationId xmlns:p14="http://schemas.microsoft.com/office/powerpoint/2010/main" val="889173761"/>
      </p:ext>
    </p:extLst>
  </p:cSld>
  <p:clrMap bg1="lt1" tx1="dk1" bg2="lt2" tx2="dk2" accent1="accent1" accent2="accent2" accent3="accent3" accent4="accent4" accent5="accent5" accent6="accent6" hlink="hlink" folHlink="folHlink"/>
  <p:sldLayoutIdLst>
    <p:sldLayoutId id="2147483688" r:id="rId1"/>
    <p:sldLayoutId id="2147483680" r:id="rId2"/>
    <p:sldLayoutId id="2147483661" r:id="rId3"/>
    <p:sldLayoutId id="2147483682" r:id="rId4"/>
    <p:sldLayoutId id="2147483691" r:id="rId5"/>
    <p:sldLayoutId id="2147483662" r:id="rId6"/>
    <p:sldLayoutId id="2147483692" r:id="rId7"/>
    <p:sldLayoutId id="2147483663" r:id="rId8"/>
    <p:sldLayoutId id="2147483674" r:id="rId9"/>
    <p:sldLayoutId id="2147483675" r:id="rId10"/>
    <p:sldLayoutId id="2147483676" r:id="rId11"/>
    <p:sldLayoutId id="2147483681" r:id="rId12"/>
    <p:sldLayoutId id="2147483677" r:id="rId13"/>
    <p:sldLayoutId id="2147483678" r:id="rId14"/>
    <p:sldLayoutId id="2147483683" r:id="rId15"/>
    <p:sldLayoutId id="2147483672" r:id="rId16"/>
    <p:sldLayoutId id="2147483679" r:id="rId17"/>
    <p:sldLayoutId id="2147483673" r:id="rId18"/>
    <p:sldLayoutId id="2147483690" r:id="rId19"/>
    <p:sldLayoutId id="2147483689" r:id="rId20"/>
    <p:sldLayoutId id="2147483664" r:id="rId21"/>
    <p:sldLayoutId id="2147483665" r:id="rId22"/>
    <p:sldLayoutId id="2147483684" r:id="rId23"/>
    <p:sldLayoutId id="2147483685" r:id="rId24"/>
    <p:sldLayoutId id="2147483686" r:id="rId25"/>
    <p:sldLayoutId id="2147483687" r:id="rId26"/>
    <p:sldLayoutId id="2147483666" r:id="rId27"/>
    <p:sldLayoutId id="2147483667" r:id="rId28"/>
    <p:sldLayoutId id="2147483668" r:id="rId29"/>
    <p:sldLayoutId id="2147483669" r:id="rId30"/>
    <p:sldLayoutId id="2147483658" r:id="rId31"/>
  </p:sldLayoutIdLst>
  <p:hf hdr="0"/>
  <p:txStyles>
    <p:titleStyle>
      <a:lvl1pPr algn="l" defTabSz="914400" rtl="0" eaLnBrk="1" latinLnBrk="0" hangingPunct="1">
        <a:lnSpc>
          <a:spcPct val="90000"/>
        </a:lnSpc>
        <a:spcBef>
          <a:spcPct val="0"/>
        </a:spcBef>
        <a:buNone/>
        <a:defRPr sz="44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4.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background artifact mask"/>
          <p:cNvSpPr/>
          <p:nvPr/>
        </p:nvSpPr>
        <p:spPr>
          <a:xfrm>
            <a:off x="0" y="4956048"/>
            <a:ext cx="3931920" cy="1901952"/>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Subtitle 1">
            <a:extLst>
              <a:ext uri="{FF2B5EF4-FFF2-40B4-BE49-F238E27FC236}">
                <a16:creationId xmlns:a16="http://schemas.microsoft.com/office/drawing/2014/main" id="{E5D3E717-6970-91B9-68BB-B9CE473EC22E}"/>
              </a:ext>
            </a:extLst>
          </p:cNvPr>
          <p:cNvSpPr>
            <a:spLocks noGrp="1"/>
          </p:cNvSpPr>
          <p:nvPr>
            <p:ph type="subTitle" idx="1"/>
          </p:nvPr>
        </p:nvSpPr>
        <p:spPr>
          <a:xfrm>
            <a:off x="500101" y="3895025"/>
            <a:ext cx="4774425" cy="1429109"/>
          </a:xfrm>
        </p:spPr>
        <p:txBody>
          <a:bodyPr vert="horz" wrap="square" lIns="91440" tIns="45720" rIns="91440" bIns="45720" rtlCol="0" anchor="t">
            <a:spAutoFit/>
          </a:bodyPr>
          <a:lstStyle/>
          <a:p>
            <a:pPr>
              <a:spcAft>
                <a:spcPts val="200"/>
              </a:spcAft>
            </a:pPr>
            <a:r>
              <a:rPr sz="1700" b="0">
                <a:solidFill>
                  <a:srgbClr val="D8E1EB"/>
                </a:solidFill>
                <a:latin typeface="Arial"/>
              </a:rPr>
              <a:t>Can generated RNA-seq improve FLT vs GC analysis within each tissue?</a:t>
            </a:r>
          </a:p>
          <a:p>
            <a:pPr>
              <a:spcAft>
                <a:spcPts val="200"/>
              </a:spcAft>
            </a:pPr>
            <a:r>
              <a:rPr sz="500" b="0">
                <a:solidFill>
                  <a:srgbClr val="FFFFFF"/>
                </a:solidFill>
                <a:latin typeface="Arial"/>
              </a:rPr>
              <a:t/>
            </a:r>
          </a:p>
          <a:p>
            <a:pPr>
              <a:spcAft>
                <a:spcPts val="200"/>
              </a:spcAft>
            </a:pPr>
            <a:r>
              <a:rPr sz="1800" b="1">
                <a:solidFill>
                  <a:srgbClr val="FFFFFF"/>
                </a:solidFill>
                <a:latin typeface="Arial"/>
              </a:rPr>
              <a:t>Jason Trinh</a:t>
            </a:r>
          </a:p>
          <a:p>
            <a:pPr>
              <a:spcAft>
                <a:spcPts val="200"/>
              </a:spcAft>
            </a:pPr>
            <a:r>
              <a:rPr sz="1200" b="0">
                <a:solidFill>
                  <a:srgbClr val="B9C7D5"/>
                </a:solidFill>
                <a:latin typeface="Arial"/>
              </a:rPr>
              <a:t>EECS | UC Berkeley</a:t>
            </a:r>
          </a:p>
          <a:p>
            <a:pPr>
              <a:spcAft>
                <a:spcPts val="200"/>
              </a:spcAft>
            </a:pPr>
            <a:r>
              <a:rPr sz="1200" b="0">
                <a:solidFill>
                  <a:srgbClr val="B9C7D5"/>
                </a:solidFill>
                <a:latin typeface="Arial"/>
              </a:rPr>
              <a:t>Mentor: James Casaletto | August 2026</a:t>
            </a:r>
          </a:p>
        </p:txBody>
      </p:sp>
      <p:sp>
        <p:nvSpPr>
          <p:cNvPr id="3" name="Text Placeholder 2">
            <a:extLst>
              <a:ext uri="{FF2B5EF4-FFF2-40B4-BE49-F238E27FC236}">
                <a16:creationId xmlns:a16="http://schemas.microsoft.com/office/drawing/2014/main" id="{35AAB492-0D30-3AB0-9C9C-3B7725AA34C8}"/>
              </a:ext>
            </a:extLst>
          </p:cNvPr>
          <p:cNvSpPr>
            <a:spLocks noGrp="1"/>
          </p:cNvSpPr>
          <p:nvPr>
            <p:ph type="body" sz="quarter" idx="14"/>
          </p:nvPr>
        </p:nvSpPr>
        <p:spPr>
          <a:xfrm>
            <a:off x="566928" y="2157984"/>
            <a:ext cx="4297680" cy="1417320"/>
          </a:xfrm>
        </p:spPr>
        <p:txBody>
          <a:bodyPr wrap="square" lIns="0" rIns="0" tIns="0" bIns="0" anchor="t"/>
          <a:lstStyle/>
          <a:p>
            <a:pPr>
              <a:lnSpc>
                <a:spcPct val="100000"/>
              </a:lnSpc>
              <a:spcBef>
                <a:spcPts val="0"/>
              </a:spcBef>
              <a:spcAft>
                <a:spcPts val="0"/>
              </a:spcAft>
            </a:pPr>
            <a:r>
              <a:rPr sz="3000" b="1">
                <a:solidFill>
                  <a:srgbClr val="FFFFFF"/>
                </a:solidFill>
                <a:latin typeface="Arial"/>
              </a:rPr>
              <a:t>Synthetic transcriptomics for mouse spaceflight</a:t>
            </a:r>
          </a:p>
        </p:txBody>
      </p:sp>
      <p:sp>
        <p:nvSpPr>
          <p:cNvPr id="5" name="TextBox 4"/>
          <p:cNvSpPr txBox="1"/>
          <p:nvPr/>
        </p:nvSpPr>
        <p:spPr>
          <a:xfrm>
            <a:off x="566928" y="6510528"/>
            <a:ext cx="3017520" cy="201168"/>
          </a:xfrm>
          <a:prstGeom prst="rect">
            <a:avLst/>
          </a:prstGeom>
          <a:noFill/>
        </p:spPr>
        <p:txBody>
          <a:bodyPr wrap="square" lIns="18288" rIns="18288" tIns="18288" bIns="18288" anchor="t">
            <a:spAutoFit/>
          </a:bodyPr>
          <a:lstStyle/>
          <a:p>
            <a:pPr algn="l">
              <a:spcAft>
                <a:spcPts val="0"/>
              </a:spcAft>
            </a:pPr>
            <a:r>
              <a:rPr sz="1050" b="0" i="0">
                <a:solidFill>
                  <a:srgbClr val="B9C7D5"/>
                </a:solidFill>
                <a:latin typeface="Arial"/>
              </a:rPr>
              <a:t>Biological &amp; Physical Sciences</a:t>
            </a:r>
          </a:p>
        </p:txBody>
      </p:sp>
    </p:spTree>
    <p:extLst>
      <p:ext uri="{BB962C8B-B14F-4D97-AF65-F5344CB8AC3E}">
        <p14:creationId xmlns:p14="http://schemas.microsoft.com/office/powerpoint/2010/main" val="4068975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itle 16">
            <a:extLst>
              <a:ext uri="{FF2B5EF4-FFF2-40B4-BE49-F238E27FC236}">
                <a16:creationId xmlns:a16="http://schemas.microsoft.com/office/drawing/2014/main" id="{15CCDA23-9C9B-2E3C-0808-97FA24C09308}"/>
              </a:ext>
            </a:extLst>
          </p:cNvPr>
          <p:cNvSpPr>
            <a:spLocks noGrp="1"/>
          </p:cNvSpPr>
          <p:nvPr>
            <p:ph type="title"/>
          </p:nvPr>
        </p:nvSpPr>
        <p:spPr/>
        <p:txBody>
          <a:bodyPr/>
          <a:lstStyle/>
          <a:p/>
        </p:txBody>
      </p:sp>
      <p:sp>
        <p:nvSpPr>
          <p:cNvPr id="18" name="Content Placeholder 17">
            <a:extLst>
              <a:ext uri="{FF2B5EF4-FFF2-40B4-BE49-F238E27FC236}">
                <a16:creationId xmlns:a16="http://schemas.microsoft.com/office/drawing/2014/main" id="{EDF69EC4-28BB-B6B3-FB3D-0B6A7B68EADE}"/>
              </a:ext>
            </a:extLst>
          </p:cNvPr>
          <p:cNvSpPr>
            <a:spLocks noGrp="1"/>
          </p:cNvSpPr>
          <p:nvPr>
            <p:ph idx="1"/>
          </p:nvPr>
        </p:nvSpPr>
        <p:spPr/>
        <p:txBody>
          <a:bodyPr/>
          <a:lstStyle/>
          <a:p/>
        </p:txBody>
      </p:sp>
      <p:sp>
        <p:nvSpPr>
          <p:cNvPr id="3" name="Footer Placeholder 2">
            <a:extLst>
              <a:ext uri="{FF2B5EF4-FFF2-40B4-BE49-F238E27FC236}">
                <a16:creationId xmlns:a16="http://schemas.microsoft.com/office/drawing/2014/main" id="{CA6AED0D-F1B8-689C-34E4-C8599A320EAC}"/>
              </a:ext>
            </a:extLst>
          </p:cNvPr>
          <p:cNvSpPr>
            <a:spLocks noGrp="1"/>
          </p:cNvSpPr>
          <p:nvPr>
            <p:ph type="ftr" sz="quarter" idx="11"/>
          </p:nvPr>
        </p:nvSpPr>
        <p:spPr/>
        <p:txBody>
          <a:bodyPr/>
          <a:lstStyle/>
          <a:p>
            <a:r>
              <a:t>Biological &amp; Physical Sciences</a:t>
            </a:r>
          </a:p>
        </p:txBody>
      </p:sp>
      <p:sp>
        <p:nvSpPr>
          <p:cNvPr id="4" name="Slide Number Placeholder 3">
            <a:extLst>
              <a:ext uri="{FF2B5EF4-FFF2-40B4-BE49-F238E27FC236}">
                <a16:creationId xmlns:a16="http://schemas.microsoft.com/office/drawing/2014/main" id="{3BCE25FE-C8CB-2ADC-D1BB-2BE7BB0DB777}"/>
              </a:ext>
            </a:extLst>
          </p:cNvPr>
          <p:cNvSpPr>
            <a:spLocks noGrp="1"/>
          </p:cNvSpPr>
          <p:nvPr>
            <p:ph type="sldNum" sz="quarter" idx="4294967295"/>
          </p:nvPr>
        </p:nvSpPr>
        <p:spPr>
          <a:xfrm>
            <a:off x="11131550" y="100013"/>
            <a:ext cx="1060450" cy="261937"/>
          </a:xfrm>
        </p:spPr>
        <p:txBody>
          <a:bodyPr/>
          <a:lstStyle/>
          <a:p>
            <a:r>
              <a:t>2</a:t>
            </a:r>
          </a:p>
        </p:txBody>
      </p:sp>
      <p:sp>
        <p:nvSpPr>
          <p:cNvPr id="19" name="TextBox 18"/>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QUESTION</a:t>
            </a:r>
          </a:p>
        </p:txBody>
      </p:sp>
      <p:sp>
        <p:nvSpPr>
          <p:cNvPr id="20" name="TextBox 19"/>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Small studies and study effects complicate tissue comparisons</a:t>
            </a:r>
          </a:p>
        </p:txBody>
      </p:sp>
      <p:sp>
        <p:nvSpPr>
          <p:cNvPr id="21" name="TextBox 20"/>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Can a generator help rank spaceflight signal without pretending it creates new animals?</a:t>
            </a:r>
          </a:p>
        </p:txBody>
      </p:sp>
      <p:sp>
        <p:nvSpPr>
          <p:cNvPr id="22" name="Rounded Rectangle 21"/>
          <p:cNvSpPr/>
          <p:nvPr/>
        </p:nvSpPr>
        <p:spPr>
          <a:xfrm>
            <a:off x="320040" y="1847088"/>
            <a:ext cx="5532120" cy="2148840"/>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20040" y="1847088"/>
            <a:ext cx="5532120" cy="3657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2112264"/>
            <a:ext cx="2011680" cy="292608"/>
          </a:xfrm>
          <a:prstGeom prst="rect">
            <a:avLst/>
          </a:prstGeom>
          <a:noFill/>
        </p:spPr>
        <p:txBody>
          <a:bodyPr wrap="square" lIns="18288" rIns="18288" tIns="18288" bIns="18288" anchor="t">
            <a:spAutoFit/>
          </a:bodyPr>
          <a:lstStyle/>
          <a:p>
            <a:pPr algn="l">
              <a:spcAft>
                <a:spcPts val="0"/>
              </a:spcAft>
            </a:pPr>
            <a:r>
              <a:rPr sz="1800" b="1" i="0">
                <a:solidFill>
                  <a:srgbClr val="2D6496"/>
                </a:solidFill>
                <a:latin typeface="Arial"/>
              </a:rPr>
              <a:t>NASA OSDR</a:t>
            </a:r>
          </a:p>
        </p:txBody>
      </p:sp>
      <p:sp>
        <p:nvSpPr>
          <p:cNvPr id="25" name="TextBox 24"/>
          <p:cNvSpPr txBox="1"/>
          <p:nvPr/>
        </p:nvSpPr>
        <p:spPr>
          <a:xfrm>
            <a:off x="566928" y="2450592"/>
            <a:ext cx="2057400" cy="658368"/>
          </a:xfrm>
          <a:prstGeom prst="rect">
            <a:avLst/>
          </a:prstGeom>
          <a:noFill/>
        </p:spPr>
        <p:txBody>
          <a:bodyPr wrap="square" lIns="18288" rIns="18288" tIns="18288" bIns="18288" anchor="t">
            <a:spAutoFit/>
          </a:bodyPr>
          <a:lstStyle/>
          <a:p>
            <a:pPr algn="l">
              <a:spcAft>
                <a:spcPts val="0"/>
              </a:spcAft>
            </a:pPr>
            <a:r>
              <a:rPr sz="3600" b="1" i="0">
                <a:solidFill>
                  <a:srgbClr val="082B55"/>
                </a:solidFill>
                <a:latin typeface="Arial"/>
              </a:rPr>
              <a:t>1,610</a:t>
            </a:r>
          </a:p>
        </p:txBody>
      </p:sp>
      <p:sp>
        <p:nvSpPr>
          <p:cNvPr id="26" name="TextBox 25"/>
          <p:cNvSpPr txBox="1"/>
          <p:nvPr/>
        </p:nvSpPr>
        <p:spPr>
          <a:xfrm>
            <a:off x="603504" y="3035808"/>
            <a:ext cx="2103120" cy="256032"/>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biological profiles</a:t>
            </a:r>
          </a:p>
        </p:txBody>
      </p:sp>
      <p:sp>
        <p:nvSpPr>
          <p:cNvPr id="27" name="TextBox 26"/>
          <p:cNvSpPr txBox="1"/>
          <p:nvPr/>
        </p:nvSpPr>
        <p:spPr>
          <a:xfrm>
            <a:off x="2816352" y="2468880"/>
            <a:ext cx="1188720" cy="502920"/>
          </a:xfrm>
          <a:prstGeom prst="rect">
            <a:avLst/>
          </a:prstGeom>
          <a:noFill/>
        </p:spPr>
        <p:txBody>
          <a:bodyPr wrap="square" lIns="18288" rIns="18288" tIns="18288" bIns="18288" anchor="t">
            <a:spAutoFit/>
          </a:bodyPr>
          <a:lstStyle/>
          <a:p>
            <a:pPr algn="l">
              <a:spcAft>
                <a:spcPts val="0"/>
              </a:spcAft>
            </a:pPr>
            <a:r>
              <a:rPr sz="3000" b="1" i="0">
                <a:solidFill>
                  <a:srgbClr val="082B55"/>
                </a:solidFill>
                <a:latin typeface="Arial"/>
              </a:rPr>
              <a:t>75</a:t>
            </a:r>
          </a:p>
        </p:txBody>
      </p:sp>
      <p:sp>
        <p:nvSpPr>
          <p:cNvPr id="28" name="TextBox 27"/>
          <p:cNvSpPr txBox="1"/>
          <p:nvPr/>
        </p:nvSpPr>
        <p:spPr>
          <a:xfrm>
            <a:off x="2834640" y="2980944"/>
            <a:ext cx="1371600" cy="246888"/>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accessions</a:t>
            </a:r>
          </a:p>
        </p:txBody>
      </p:sp>
      <p:sp>
        <p:nvSpPr>
          <p:cNvPr id="29" name="TextBox 28"/>
          <p:cNvSpPr txBox="1"/>
          <p:nvPr/>
        </p:nvSpPr>
        <p:spPr>
          <a:xfrm>
            <a:off x="4224528" y="2496312"/>
            <a:ext cx="1234440" cy="347472"/>
          </a:xfrm>
          <a:prstGeom prst="rect">
            <a:avLst/>
          </a:prstGeom>
          <a:noFill/>
        </p:spPr>
        <p:txBody>
          <a:bodyPr wrap="square" lIns="18288" rIns="18288" tIns="18288" bIns="18288" anchor="t">
            <a:spAutoFit/>
          </a:bodyPr>
          <a:lstStyle/>
          <a:p>
            <a:pPr algn="l">
              <a:spcAft>
                <a:spcPts val="0"/>
              </a:spcAft>
            </a:pPr>
            <a:r>
              <a:rPr sz="2000" b="1" i="0">
                <a:solidFill>
                  <a:srgbClr val="D96552"/>
                </a:solidFill>
                <a:latin typeface="Arial"/>
              </a:rPr>
              <a:t>835 FLT</a:t>
            </a:r>
          </a:p>
        </p:txBody>
      </p:sp>
      <p:sp>
        <p:nvSpPr>
          <p:cNvPr id="30" name="TextBox 29"/>
          <p:cNvSpPr txBox="1"/>
          <p:nvPr/>
        </p:nvSpPr>
        <p:spPr>
          <a:xfrm>
            <a:off x="4224528" y="2944368"/>
            <a:ext cx="1234440" cy="347472"/>
          </a:xfrm>
          <a:prstGeom prst="rect">
            <a:avLst/>
          </a:prstGeom>
          <a:noFill/>
        </p:spPr>
        <p:txBody>
          <a:bodyPr wrap="square" lIns="18288" rIns="18288" tIns="18288" bIns="18288" anchor="t">
            <a:spAutoFit/>
          </a:bodyPr>
          <a:lstStyle/>
          <a:p>
            <a:pPr algn="l">
              <a:spcAft>
                <a:spcPts val="0"/>
              </a:spcAft>
            </a:pPr>
            <a:r>
              <a:rPr sz="2000" b="1" i="0">
                <a:solidFill>
                  <a:srgbClr val="2D6496"/>
                </a:solidFill>
                <a:latin typeface="Arial"/>
              </a:rPr>
              <a:t>775 GC</a:t>
            </a:r>
          </a:p>
        </p:txBody>
      </p:sp>
      <p:sp>
        <p:nvSpPr>
          <p:cNvPr id="31" name="Rounded Rectangle 30"/>
          <p:cNvSpPr/>
          <p:nvPr/>
        </p:nvSpPr>
        <p:spPr>
          <a:xfrm>
            <a:off x="6144768" y="1847088"/>
            <a:ext cx="5715000" cy="2148840"/>
          </a:xfrm>
          <a:prstGeom prst="round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144768" y="1847088"/>
            <a:ext cx="5715000" cy="3657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19088" y="2112264"/>
            <a:ext cx="2286000" cy="292608"/>
          </a:xfrm>
          <a:prstGeom prst="rect">
            <a:avLst/>
          </a:prstGeom>
          <a:noFill/>
        </p:spPr>
        <p:txBody>
          <a:bodyPr wrap="square" lIns="18288" rIns="18288" tIns="18288" bIns="18288" anchor="t">
            <a:spAutoFit/>
          </a:bodyPr>
          <a:lstStyle/>
          <a:p>
            <a:pPr algn="l">
              <a:spcAft>
                <a:spcPts val="0"/>
              </a:spcAft>
            </a:pPr>
            <a:r>
              <a:rPr sz="1800" b="1" i="0">
                <a:solidFill>
                  <a:srgbClr val="178681"/>
                </a:solidFill>
                <a:latin typeface="Arial"/>
              </a:rPr>
              <a:t>ARCHS4 mouse</a:t>
            </a:r>
          </a:p>
        </p:txBody>
      </p:sp>
      <p:sp>
        <p:nvSpPr>
          <p:cNvPr id="34" name="TextBox 33"/>
          <p:cNvSpPr txBox="1"/>
          <p:nvPr/>
        </p:nvSpPr>
        <p:spPr>
          <a:xfrm>
            <a:off x="6400800" y="2450592"/>
            <a:ext cx="2240280" cy="658368"/>
          </a:xfrm>
          <a:prstGeom prst="rect">
            <a:avLst/>
          </a:prstGeom>
          <a:noFill/>
        </p:spPr>
        <p:txBody>
          <a:bodyPr wrap="square" lIns="18288" rIns="18288" tIns="18288" bIns="18288" anchor="t">
            <a:spAutoFit/>
          </a:bodyPr>
          <a:lstStyle/>
          <a:p>
            <a:pPr algn="l">
              <a:spcAft>
                <a:spcPts val="0"/>
              </a:spcAft>
            </a:pPr>
            <a:r>
              <a:rPr sz="3400" b="1" i="0">
                <a:solidFill>
                  <a:srgbClr val="082B55"/>
                </a:solidFill>
                <a:latin typeface="Arial"/>
              </a:rPr>
              <a:t>997,515</a:t>
            </a:r>
          </a:p>
        </p:txBody>
      </p:sp>
      <p:sp>
        <p:nvSpPr>
          <p:cNvPr id="35" name="TextBox 34"/>
          <p:cNvSpPr txBox="1"/>
          <p:nvPr/>
        </p:nvSpPr>
        <p:spPr>
          <a:xfrm>
            <a:off x="6428232" y="3035808"/>
            <a:ext cx="2011680" cy="256032"/>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profiles audited</a:t>
            </a:r>
          </a:p>
        </p:txBody>
      </p:sp>
      <p:sp>
        <p:nvSpPr>
          <p:cNvPr id="36" name="TextBox 35"/>
          <p:cNvSpPr txBox="1"/>
          <p:nvPr/>
        </p:nvSpPr>
        <p:spPr>
          <a:xfrm>
            <a:off x="8686800" y="2468880"/>
            <a:ext cx="1783080" cy="502920"/>
          </a:xfrm>
          <a:prstGeom prst="rect">
            <a:avLst/>
          </a:prstGeom>
          <a:noFill/>
        </p:spPr>
        <p:txBody>
          <a:bodyPr wrap="square" lIns="18288" rIns="18288" tIns="18288" bIns="18288" anchor="t">
            <a:spAutoFit/>
          </a:bodyPr>
          <a:lstStyle/>
          <a:p>
            <a:pPr algn="l">
              <a:spcAft>
                <a:spcPts val="0"/>
              </a:spcAft>
            </a:pPr>
            <a:r>
              <a:rPr sz="2900" b="1" i="0">
                <a:solidFill>
                  <a:srgbClr val="082B55"/>
                </a:solidFill>
                <a:latin typeface="Arial"/>
              </a:rPr>
              <a:t>17,244</a:t>
            </a:r>
          </a:p>
        </p:txBody>
      </p:sp>
      <p:sp>
        <p:nvSpPr>
          <p:cNvPr id="37" name="TextBox 36"/>
          <p:cNvSpPr txBox="1"/>
          <p:nvPr/>
        </p:nvSpPr>
        <p:spPr>
          <a:xfrm>
            <a:off x="8714232" y="2980944"/>
            <a:ext cx="1143000" cy="246888"/>
          </a:xfrm>
          <a:prstGeom prst="rect">
            <a:avLst/>
          </a:prstGeom>
          <a:noFill/>
        </p:spPr>
        <p:txBody>
          <a:bodyPr wrap="square" lIns="18288" rIns="18288" tIns="18288" bIns="18288" anchor="t">
            <a:spAutoFit/>
          </a:bodyPr>
          <a:lstStyle/>
          <a:p>
            <a:pPr algn="l">
              <a:spcAft>
                <a:spcPts val="0"/>
              </a:spcAft>
            </a:pPr>
            <a:r>
              <a:rPr sz="1300" b="0" i="0">
                <a:solidFill>
                  <a:srgbClr val="59697A"/>
                </a:solidFill>
                <a:latin typeface="Arial"/>
              </a:rPr>
              <a:t>selected</a:t>
            </a:r>
          </a:p>
        </p:txBody>
      </p:sp>
      <p:sp>
        <p:nvSpPr>
          <p:cNvPr id="38" name="TextBox 37"/>
          <p:cNvSpPr txBox="1"/>
          <p:nvPr/>
        </p:nvSpPr>
        <p:spPr>
          <a:xfrm>
            <a:off x="10287000" y="2514600"/>
            <a:ext cx="1325880" cy="347472"/>
          </a:xfrm>
          <a:prstGeom prst="rect">
            <a:avLst/>
          </a:prstGeom>
          <a:noFill/>
        </p:spPr>
        <p:txBody>
          <a:bodyPr wrap="square" lIns="18288" rIns="18288" tIns="18288" bIns="18288" anchor="t">
            <a:spAutoFit/>
          </a:bodyPr>
          <a:lstStyle/>
          <a:p>
            <a:pPr algn="l">
              <a:spcAft>
                <a:spcPts val="0"/>
              </a:spcAft>
            </a:pPr>
            <a:r>
              <a:rPr sz="1900" b="1" i="0">
                <a:solidFill>
                  <a:srgbClr val="178681"/>
                </a:solidFill>
                <a:latin typeface="Arial"/>
              </a:rPr>
              <a:t>20 tissues</a:t>
            </a:r>
          </a:p>
        </p:txBody>
      </p:sp>
      <p:sp>
        <p:nvSpPr>
          <p:cNvPr id="39" name="Rounded Rectangle 38"/>
          <p:cNvSpPr/>
          <p:nvPr/>
        </p:nvSpPr>
        <p:spPr>
          <a:xfrm>
            <a:off x="320040" y="4270248"/>
            <a:ext cx="11539728" cy="1600200"/>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685800" y="462686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0392" y="451713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Mission, strain, material and assay differences can resemble a flight effect.</a:t>
            </a:r>
          </a:p>
        </p:txBody>
      </p:sp>
      <p:sp>
        <p:nvSpPr>
          <p:cNvPr id="42" name="Oval 41"/>
          <p:cNvSpPr/>
          <p:nvPr/>
        </p:nvSpPr>
        <p:spPr>
          <a:xfrm>
            <a:off x="685800" y="503834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50392" y="492861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The generator must preserve tissue and FLT/GC structure without memorizing samples.</a:t>
            </a:r>
          </a:p>
        </p:txBody>
      </p:sp>
      <p:sp>
        <p:nvSpPr>
          <p:cNvPr id="44" name="Oval 43"/>
          <p:cNvSpPr/>
          <p:nvPr/>
        </p:nvSpPr>
        <p:spPr>
          <a:xfrm>
            <a:off x="685800" y="5449824"/>
            <a:ext cx="91440" cy="91440"/>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0392" y="5340096"/>
            <a:ext cx="10625328" cy="411480"/>
          </a:xfrm>
          <a:prstGeom prst="rect">
            <a:avLst/>
          </a:prstGeom>
          <a:noFill/>
        </p:spPr>
        <p:txBody>
          <a:bodyPr wrap="square" lIns="18288" rIns="18288" tIns="18288" bIns="18288" anchor="ctr">
            <a:spAutoFit/>
          </a:bodyPr>
          <a:lstStyle/>
          <a:p>
            <a:pPr algn="l">
              <a:spcAft>
                <a:spcPts val="0"/>
              </a:spcAft>
            </a:pPr>
            <a:r>
              <a:rPr sz="1600" b="0" i="0">
                <a:solidFill>
                  <a:srgbClr val="263746"/>
                </a:solidFill>
                <a:latin typeface="Arial"/>
              </a:rPr>
              <a:t>Statistical evidence must still come from observed OSDR profiles.</a:t>
            </a:r>
          </a:p>
        </p:txBody>
      </p:sp>
      <p:sp>
        <p:nvSpPr>
          <p:cNvPr id="46" name="TextBox 45"/>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Sources: NASA OSDR Biological Data API; ARCHS4 mouse v2.5.</a:t>
            </a:r>
          </a:p>
        </p:txBody>
      </p:sp>
    </p:spTree>
    <p:extLst>
      <p:ext uri="{BB962C8B-B14F-4D97-AF65-F5344CB8AC3E}">
        <p14:creationId xmlns:p14="http://schemas.microsoft.com/office/powerpoint/2010/main" val="2938554529"/>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METHOD</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We built a configurable bulk RNA-seq generation pipeline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Data scope, transforms, harmonization, training and conditioning can change without changing the evaluation contract.</a:t>
            </a:r>
          </a:p>
        </p:txBody>
      </p:sp>
      <p:sp>
        <p:nvSpPr>
          <p:cNvPr id="7" name="Rounded Rectangle 6"/>
          <p:cNvSpPr/>
          <p:nvPr/>
        </p:nvSpPr>
        <p:spPr>
          <a:xfrm>
            <a:off x="320040" y="1901952"/>
            <a:ext cx="2148840" cy="2359152"/>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20040" y="1901952"/>
            <a:ext cx="2148840" cy="36576"/>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463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2D6496"/>
                </a:solidFill>
                <a:latin typeface="Arial"/>
              </a:rPr>
              <a:t>Data + scope</a:t>
            </a:r>
          </a:p>
        </p:txBody>
      </p:sp>
      <p:sp>
        <p:nvSpPr>
          <p:cNvPr id="10" name="TextBox 9"/>
          <p:cNvSpPr txBox="1"/>
          <p:nvPr/>
        </p:nvSpPr>
        <p:spPr>
          <a:xfrm>
            <a:off x="48463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OSDR API or ARCHS4
one or many studies
pooled or per tissue</a:t>
            </a:r>
          </a:p>
        </p:txBody>
      </p:sp>
      <p:sp>
        <p:nvSpPr>
          <p:cNvPr id="11" name="Rounded Rectangle 10"/>
          <p:cNvSpPr/>
          <p:nvPr/>
        </p:nvSpPr>
        <p:spPr>
          <a:xfrm>
            <a:off x="2651760" y="1901952"/>
            <a:ext cx="2148840" cy="2359152"/>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651760" y="1901952"/>
            <a:ext cx="2148840" cy="3657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1635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178681"/>
                </a:solidFill>
                <a:latin typeface="Arial"/>
              </a:rPr>
              <a:t>Transform</a:t>
            </a:r>
          </a:p>
        </p:txBody>
      </p:sp>
      <p:sp>
        <p:nvSpPr>
          <p:cNvPr id="14" name="TextBox 13"/>
          <p:cNvSpPr txBox="1"/>
          <p:nvPr/>
        </p:nvSpPr>
        <p:spPr>
          <a:xfrm>
            <a:off x="281635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raw / CPM / TPM
log + scaling
all genes / HVG / L1000</a:t>
            </a:r>
          </a:p>
        </p:txBody>
      </p:sp>
      <p:sp>
        <p:nvSpPr>
          <p:cNvPr id="15" name="Rounded Rectangle 14"/>
          <p:cNvSpPr/>
          <p:nvPr/>
        </p:nvSpPr>
        <p:spPr>
          <a:xfrm>
            <a:off x="4983480" y="1901952"/>
            <a:ext cx="2148840" cy="2359152"/>
          </a:xfrm>
          <a:prstGeom prst="roundRect">
            <a:avLst/>
          </a:prstGeom>
          <a:solidFill>
            <a:srgbClr val="F0ECF6"/>
          </a:solidFill>
          <a:ln w="1016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983480" y="1901952"/>
            <a:ext cx="2148840" cy="36576"/>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4807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8063A6"/>
                </a:solidFill>
                <a:latin typeface="Arial"/>
              </a:rPr>
              <a:t>Harmonize</a:t>
            </a:r>
          </a:p>
        </p:txBody>
      </p:sp>
      <p:sp>
        <p:nvSpPr>
          <p:cNvPr id="18" name="TextBox 17"/>
          <p:cNvSpPr txBox="1"/>
          <p:nvPr/>
        </p:nvSpPr>
        <p:spPr>
          <a:xfrm>
            <a:off x="514807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none or study z
ComBat / MBatch
MOBER adapter</a:t>
            </a:r>
          </a:p>
        </p:txBody>
      </p:sp>
      <p:sp>
        <p:nvSpPr>
          <p:cNvPr id="19" name="Rounded Rectangle 18"/>
          <p:cNvSpPr/>
          <p:nvPr/>
        </p:nvSpPr>
        <p:spPr>
          <a:xfrm>
            <a:off x="7315200" y="1901952"/>
            <a:ext cx="2148840" cy="2359152"/>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315200" y="1901952"/>
            <a:ext cx="2148840" cy="36576"/>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7979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D37B00"/>
                </a:solidFill>
                <a:latin typeface="Arial"/>
              </a:rPr>
              <a:t>Model + train</a:t>
            </a:r>
          </a:p>
        </p:txBody>
      </p:sp>
      <p:sp>
        <p:nvSpPr>
          <p:cNvPr id="22" name="TextBox 21"/>
          <p:cNvSpPr txBox="1"/>
          <p:nvPr/>
        </p:nvSpPr>
        <p:spPr>
          <a:xfrm>
            <a:off x="747979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WGAN-GP or DDIM
OSDR or ARCHS4
pretrain + adapt</a:t>
            </a:r>
          </a:p>
        </p:txBody>
      </p:sp>
      <p:sp>
        <p:nvSpPr>
          <p:cNvPr id="23" name="Rounded Rectangle 22"/>
          <p:cNvSpPr/>
          <p:nvPr/>
        </p:nvSpPr>
        <p:spPr>
          <a:xfrm>
            <a:off x="9646920" y="1901952"/>
            <a:ext cx="2148840" cy="2359152"/>
          </a:xfrm>
          <a:prstGeom prst="roundRect">
            <a:avLst/>
          </a:prstGeom>
          <a:solidFill>
            <a:srgbClr val="ECF4ED"/>
          </a:solidFill>
          <a:ln w="1016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646920" y="1901952"/>
            <a:ext cx="2148840" cy="36576"/>
          </a:xfrm>
          <a:prstGeom prst="rect">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811512" y="2167128"/>
            <a:ext cx="1819656" cy="347472"/>
          </a:xfrm>
          <a:prstGeom prst="rect">
            <a:avLst/>
          </a:prstGeom>
          <a:noFill/>
        </p:spPr>
        <p:txBody>
          <a:bodyPr wrap="square" lIns="18288" rIns="18288" tIns="18288" bIns="18288" anchor="t">
            <a:spAutoFit/>
          </a:bodyPr>
          <a:lstStyle/>
          <a:p>
            <a:pPr algn="l">
              <a:spcAft>
                <a:spcPts val="0"/>
              </a:spcAft>
            </a:pPr>
            <a:r>
              <a:rPr sz="1600" b="1" i="0">
                <a:solidFill>
                  <a:srgbClr val="478A64"/>
                </a:solidFill>
                <a:latin typeface="Arial"/>
              </a:rPr>
              <a:t>Condition</a:t>
            </a:r>
          </a:p>
        </p:txBody>
      </p:sp>
      <p:sp>
        <p:nvSpPr>
          <p:cNvPr id="26" name="TextBox 25"/>
          <p:cNvSpPr txBox="1"/>
          <p:nvPr/>
        </p:nvSpPr>
        <p:spPr>
          <a:xfrm>
            <a:off x="9811512" y="2660904"/>
            <a:ext cx="1819656" cy="1280160"/>
          </a:xfrm>
          <a:prstGeom prst="rect">
            <a:avLst/>
          </a:prstGeom>
          <a:noFill/>
        </p:spPr>
        <p:txBody>
          <a:bodyPr wrap="square" lIns="18288" rIns="18288" tIns="18288" bIns="18288" anchor="t">
            <a:spAutoFit/>
          </a:bodyPr>
          <a:lstStyle/>
          <a:p>
            <a:pPr algn="l">
              <a:spcAft>
                <a:spcPts val="0"/>
              </a:spcAft>
            </a:pPr>
            <a:r>
              <a:rPr sz="1320" b="0" i="0">
                <a:solidFill>
                  <a:srgbClr val="263746"/>
                </a:solidFill>
                <a:latin typeface="Arial"/>
              </a:rPr>
              <a:t>FLT/GC + tissue
study + material
available covariates</a:t>
            </a:r>
          </a:p>
        </p:txBody>
      </p:sp>
      <p:sp>
        <p:nvSpPr>
          <p:cNvPr id="27" name="Rounded Rectangle 26"/>
          <p:cNvSpPr/>
          <p:nvPr/>
        </p:nvSpPr>
        <p:spPr>
          <a:xfrm>
            <a:off x="320040" y="4526280"/>
            <a:ext cx="11475720" cy="1170432"/>
          </a:xfrm>
          <a:prstGeom prst="roundRect">
            <a:avLst/>
          </a:prstGeom>
          <a:solidFill>
            <a:srgbClr val="F7F9FA"/>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03504" y="4736592"/>
            <a:ext cx="1508760" cy="256032"/>
          </a:xfrm>
          <a:prstGeom prst="rect">
            <a:avLst/>
          </a:prstGeom>
          <a:noFill/>
        </p:spPr>
        <p:txBody>
          <a:bodyPr wrap="square" lIns="18288" rIns="18288" tIns="18288" bIns="18288" anchor="t">
            <a:spAutoFit/>
          </a:bodyPr>
          <a:lstStyle/>
          <a:p>
            <a:pPr algn="l">
              <a:spcAft>
                <a:spcPts val="0"/>
              </a:spcAft>
            </a:pPr>
            <a:r>
              <a:rPr sz="1300" b="1" i="0">
                <a:solidFill>
                  <a:srgbClr val="9A6B20"/>
                </a:solidFill>
                <a:latin typeface="Arial"/>
              </a:rPr>
              <a:t>Selected branch</a:t>
            </a:r>
          </a:p>
        </p:txBody>
      </p:sp>
      <p:sp>
        <p:nvSpPr>
          <p:cNvPr id="29" name="TextBox 28"/>
          <p:cNvSpPr txBox="1"/>
          <p:nvPr/>
        </p:nvSpPr>
        <p:spPr>
          <a:xfrm>
            <a:off x="2057400" y="4681728"/>
            <a:ext cx="9281160" cy="502920"/>
          </a:xfrm>
          <a:prstGeom prst="rect">
            <a:avLst/>
          </a:prstGeom>
          <a:noFill/>
        </p:spPr>
        <p:txBody>
          <a:bodyPr wrap="square" lIns="18288" rIns="18288" tIns="18288" bIns="18288" anchor="t">
            <a:spAutoFit/>
          </a:bodyPr>
          <a:lstStyle/>
          <a:p>
            <a:pPr>
              <a:spcAft>
                <a:spcPts val="0"/>
              </a:spcAft>
            </a:pPr>
            <a:r>
              <a:rPr sz="1460" b="1" i="0">
                <a:solidFill>
                  <a:srgbClr val="082B55"/>
                </a:solidFill>
                <a:latin typeface="Arial"/>
              </a:rPr>
              <a:t>TPM / MaxAbs -&gt; ARCHS4 DDIM -&gt; OSDR adaptation. </a:t>
            </a:r>
            <a:r>
              <a:rPr sz="1460" b="0" i="0">
                <a:solidFill>
                  <a:srgbClr val="263746"/>
                </a:solidFill>
                <a:latin typeface="Arial"/>
              </a:rPr>
              <a:t>Conditions: tissue, FLT/GC, accession and material; no global batch correction.</a:t>
            </a:r>
          </a:p>
        </p:txBody>
      </p:sp>
      <p:sp>
        <p:nvSpPr>
          <p:cNvPr id="30" name="TextBox 29"/>
          <p:cNvSpPr txBox="1"/>
          <p:nvPr/>
        </p:nvSpPr>
        <p:spPr>
          <a:xfrm>
            <a:off x="2057400" y="5212080"/>
            <a:ext cx="9281160" cy="301752"/>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A 463-row experiment plan and nine matched liver harmonization arms were screened before full training.</a:t>
            </a:r>
          </a:p>
        </p:txBody>
      </p:sp>
      <p:sp>
        <p:nvSpPr>
          <p:cNvPr id="31" name="TextBox 3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Generator sources: Vinas et al., Bioinformatics (2022); Lacan et al., BMC Bioinformatics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VALIDATION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DDIM matched expression and reduced separability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AA closer to 0.5 means a classifier has less success separating real and generated profiles; lower FD is better.</a:t>
            </a:r>
          </a:p>
        </p:txBody>
      </p:sp>
      <p:sp>
        <p:nvSpPr>
          <p:cNvPr id="7" name="Rounded Rectangle 6"/>
          <p:cNvSpPr/>
          <p:nvPr/>
        </p:nvSpPr>
        <p:spPr>
          <a:xfrm>
            <a:off x="347472" y="1847088"/>
            <a:ext cx="3703320" cy="3401568"/>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103120"/>
            <a:ext cx="3154680" cy="320040"/>
          </a:xfrm>
          <a:prstGeom prst="rect">
            <a:avLst/>
          </a:prstGeom>
          <a:noFill/>
        </p:spPr>
        <p:txBody>
          <a:bodyPr wrap="square" lIns="18288" rIns="18288" tIns="18288" bIns="18288" anchor="t">
            <a:spAutoFit/>
          </a:bodyPr>
          <a:lstStyle/>
          <a:p>
            <a:pPr algn="l">
              <a:spcAft>
                <a:spcPts val="0"/>
              </a:spcAft>
            </a:pPr>
            <a:r>
              <a:rPr sz="1700" b="1" i="0">
                <a:solidFill>
                  <a:srgbClr val="2D6496"/>
                </a:solidFill>
                <a:latin typeface="Arial"/>
              </a:rPr>
              <a:t>ARCHS4 tissue probe</a:t>
            </a:r>
          </a:p>
        </p:txBody>
      </p:sp>
      <p:sp>
        <p:nvSpPr>
          <p:cNvPr id="9" name="TextBox 8"/>
          <p:cNvSpPr txBox="1"/>
          <p:nvPr/>
        </p:nvSpPr>
        <p:spPr>
          <a:xfrm>
            <a:off x="621792" y="2487168"/>
            <a:ext cx="3063240" cy="27432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Balanced accuracy on held-out real profiles</a:t>
            </a:r>
          </a:p>
        </p:txBody>
      </p:sp>
      <p:sp>
        <p:nvSpPr>
          <p:cNvPr id="10" name="Rectangle 9"/>
          <p:cNvSpPr/>
          <p:nvPr/>
        </p:nvSpPr>
        <p:spPr>
          <a:xfrm>
            <a:off x="950976" y="3436845"/>
            <a:ext cx="786384" cy="1299746"/>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3544" y="3107661"/>
            <a:ext cx="868680" cy="274320"/>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0.781</a:t>
            </a:r>
          </a:p>
        </p:txBody>
      </p:sp>
      <p:sp>
        <p:nvSpPr>
          <p:cNvPr id="12" name="TextBox 11"/>
          <p:cNvSpPr txBox="1"/>
          <p:nvPr/>
        </p:nvSpPr>
        <p:spPr>
          <a:xfrm>
            <a:off x="676656" y="4809744"/>
            <a:ext cx="1325880" cy="365760"/>
          </a:xfrm>
          <a:prstGeom prst="rect">
            <a:avLst/>
          </a:prstGeom>
          <a:noFill/>
        </p:spPr>
        <p:txBody>
          <a:bodyPr wrap="square" lIns="18288" rIns="18288" tIns="18288" bIns="18288" anchor="t">
            <a:spAutoFit/>
          </a:bodyPr>
          <a:lstStyle/>
          <a:p>
            <a:pPr algn="ctr">
              <a:spcAft>
                <a:spcPts val="0"/>
              </a:spcAft>
            </a:pPr>
            <a:r>
              <a:rPr sz="1250" b="0" i="0">
                <a:solidFill>
                  <a:srgbClr val="263746"/>
                </a:solidFill>
                <a:latin typeface="Arial"/>
              </a:rPr>
              <a:t>Real-trained</a:t>
            </a:r>
          </a:p>
        </p:txBody>
      </p:sp>
      <p:sp>
        <p:nvSpPr>
          <p:cNvPr id="13" name="Rectangle 12"/>
          <p:cNvSpPr/>
          <p:nvPr/>
        </p:nvSpPr>
        <p:spPr>
          <a:xfrm>
            <a:off x="2523744" y="3436845"/>
            <a:ext cx="786384" cy="1299746"/>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96312" y="3107661"/>
            <a:ext cx="868680" cy="274320"/>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0.781</a:t>
            </a:r>
          </a:p>
        </p:txBody>
      </p:sp>
      <p:sp>
        <p:nvSpPr>
          <p:cNvPr id="15" name="TextBox 14"/>
          <p:cNvSpPr txBox="1"/>
          <p:nvPr/>
        </p:nvSpPr>
        <p:spPr>
          <a:xfrm>
            <a:off x="2249424" y="4809744"/>
            <a:ext cx="1325880" cy="365760"/>
          </a:xfrm>
          <a:prstGeom prst="rect">
            <a:avLst/>
          </a:prstGeom>
          <a:noFill/>
        </p:spPr>
        <p:txBody>
          <a:bodyPr wrap="square" lIns="18288" rIns="18288" tIns="18288" bIns="18288" anchor="t">
            <a:spAutoFit/>
          </a:bodyPr>
          <a:lstStyle/>
          <a:p>
            <a:pPr algn="ctr">
              <a:spcAft>
                <a:spcPts val="0"/>
              </a:spcAft>
            </a:pPr>
            <a:r>
              <a:rPr sz="1250" b="0" i="0">
                <a:solidFill>
                  <a:srgbClr val="263746"/>
                </a:solidFill>
                <a:latin typeface="Arial"/>
              </a:rPr>
              <a:t>Synthetic-trained</a:t>
            </a:r>
          </a:p>
        </p:txBody>
      </p:sp>
      <p:sp>
        <p:nvSpPr>
          <p:cNvPr id="16" name="Rectangle 15"/>
          <p:cNvSpPr/>
          <p:nvPr/>
        </p:nvSpPr>
        <p:spPr>
          <a:xfrm>
            <a:off x="749808" y="4736592"/>
            <a:ext cx="2880360" cy="13716"/>
          </a:xfrm>
          <a:prstGeom prst="rect">
            <a:avLst/>
          </a:prstGeom>
          <a:solidFill>
            <a:srgbClr val="A9B5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315968" y="1847088"/>
            <a:ext cx="7525512" cy="3401568"/>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99432" y="2075688"/>
            <a:ext cx="1417320" cy="256032"/>
          </a:xfrm>
          <a:prstGeom prst="rect">
            <a:avLst/>
          </a:prstGeom>
          <a:noFill/>
        </p:spPr>
        <p:txBody>
          <a:bodyPr wrap="square" lIns="18288" rIns="18288" tIns="18288" bIns="18288" anchor="t">
            <a:spAutoFit/>
          </a:bodyPr>
          <a:lstStyle/>
          <a:p>
            <a:pPr algn="l">
              <a:spcAft>
                <a:spcPts val="0"/>
              </a:spcAft>
            </a:pPr>
            <a:r>
              <a:rPr sz="1250" b="1" i="0">
                <a:solidFill>
                  <a:srgbClr val="59697A"/>
                </a:solidFill>
                <a:latin typeface="Arial"/>
              </a:rPr>
              <a:t>Metric</a:t>
            </a:r>
          </a:p>
        </p:txBody>
      </p:sp>
      <p:sp>
        <p:nvSpPr>
          <p:cNvPr id="19" name="TextBox 18"/>
          <p:cNvSpPr txBox="1"/>
          <p:nvPr/>
        </p:nvSpPr>
        <p:spPr>
          <a:xfrm>
            <a:off x="6537960" y="2075688"/>
            <a:ext cx="1234440" cy="256032"/>
          </a:xfrm>
          <a:prstGeom prst="rect">
            <a:avLst/>
          </a:prstGeom>
          <a:noFill/>
        </p:spPr>
        <p:txBody>
          <a:bodyPr wrap="square" lIns="18288" rIns="18288" tIns="18288" bIns="18288" anchor="t">
            <a:spAutoFit/>
          </a:bodyPr>
          <a:lstStyle/>
          <a:p>
            <a:pPr algn="ctr">
              <a:spcAft>
                <a:spcPts val="0"/>
              </a:spcAft>
            </a:pPr>
            <a:r>
              <a:rPr sz="1250" b="1" i="0">
                <a:solidFill>
                  <a:srgbClr val="D96552"/>
                </a:solidFill>
                <a:latin typeface="Arial"/>
              </a:rPr>
              <a:t>WGAN-GP</a:t>
            </a:r>
          </a:p>
        </p:txBody>
      </p:sp>
      <p:sp>
        <p:nvSpPr>
          <p:cNvPr id="20" name="TextBox 19"/>
          <p:cNvSpPr txBox="1"/>
          <p:nvPr/>
        </p:nvSpPr>
        <p:spPr>
          <a:xfrm>
            <a:off x="8257031" y="2075688"/>
            <a:ext cx="1234440" cy="256032"/>
          </a:xfrm>
          <a:prstGeom prst="rect">
            <a:avLst/>
          </a:prstGeom>
          <a:noFill/>
        </p:spPr>
        <p:txBody>
          <a:bodyPr wrap="square" lIns="18288" rIns="18288" tIns="18288" bIns="18288" anchor="t">
            <a:spAutoFit/>
          </a:bodyPr>
          <a:lstStyle/>
          <a:p>
            <a:pPr algn="ctr">
              <a:spcAft>
                <a:spcPts val="0"/>
              </a:spcAft>
            </a:pPr>
            <a:r>
              <a:rPr sz="1250" b="1" i="0">
                <a:solidFill>
                  <a:srgbClr val="178681"/>
                </a:solidFill>
                <a:latin typeface="Arial"/>
              </a:rPr>
              <a:t>DDIM</a:t>
            </a:r>
          </a:p>
        </p:txBody>
      </p:sp>
      <p:sp>
        <p:nvSpPr>
          <p:cNvPr id="21" name="TextBox 20"/>
          <p:cNvSpPr txBox="1"/>
          <p:nvPr/>
        </p:nvSpPr>
        <p:spPr>
          <a:xfrm>
            <a:off x="9802368" y="2075688"/>
            <a:ext cx="1627632" cy="256032"/>
          </a:xfrm>
          <a:prstGeom prst="rect">
            <a:avLst/>
          </a:prstGeom>
          <a:noFill/>
        </p:spPr>
        <p:txBody>
          <a:bodyPr wrap="square" lIns="18288" rIns="18288" tIns="18288" bIns="18288" anchor="t">
            <a:spAutoFit/>
          </a:bodyPr>
          <a:lstStyle/>
          <a:p>
            <a:pPr algn="l">
              <a:spcAft>
                <a:spcPts val="0"/>
              </a:spcAft>
            </a:pPr>
            <a:r>
              <a:rPr sz="1250" b="1" i="0">
                <a:solidFill>
                  <a:srgbClr val="59697A"/>
                </a:solidFill>
                <a:latin typeface="Arial"/>
              </a:rPr>
              <a:t>Reading</a:t>
            </a:r>
          </a:p>
        </p:txBody>
      </p:sp>
      <p:sp>
        <p:nvSpPr>
          <p:cNvPr id="22" name="Rectangle 21"/>
          <p:cNvSpPr/>
          <p:nvPr/>
        </p:nvSpPr>
        <p:spPr>
          <a:xfrm>
            <a:off x="4517136" y="2478024"/>
            <a:ext cx="7059168" cy="48463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99432" y="2542032"/>
            <a:ext cx="1783080" cy="310896"/>
          </a:xfrm>
          <a:prstGeom prst="rect">
            <a:avLst/>
          </a:prstGeom>
          <a:noFill/>
        </p:spPr>
        <p:txBody>
          <a:bodyPr wrap="square" lIns="18288" rIns="18288" tIns="18288" bIns="18288" anchor="t">
            <a:spAutoFit/>
          </a:bodyPr>
          <a:lstStyle/>
          <a:p>
            <a:pPr algn="l">
              <a:spcAft>
                <a:spcPts val="0"/>
              </a:spcAft>
            </a:pPr>
            <a:r>
              <a:rPr sz="1400" b="0" i="0">
                <a:solidFill>
                  <a:srgbClr val="263746"/>
                </a:solidFill>
                <a:latin typeface="Arial"/>
              </a:rPr>
              <a:t>Correlation</a:t>
            </a:r>
          </a:p>
        </p:txBody>
      </p:sp>
      <p:sp>
        <p:nvSpPr>
          <p:cNvPr id="24" name="TextBox 23"/>
          <p:cNvSpPr txBox="1"/>
          <p:nvPr/>
        </p:nvSpPr>
        <p:spPr>
          <a:xfrm>
            <a:off x="6519672" y="2542032"/>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0.976</a:t>
            </a:r>
          </a:p>
        </p:txBody>
      </p:sp>
      <p:sp>
        <p:nvSpPr>
          <p:cNvPr id="25" name="TextBox 24"/>
          <p:cNvSpPr txBox="1"/>
          <p:nvPr/>
        </p:nvSpPr>
        <p:spPr>
          <a:xfrm>
            <a:off x="8238744" y="2542032"/>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0.974</a:t>
            </a:r>
          </a:p>
        </p:txBody>
      </p:sp>
      <p:sp>
        <p:nvSpPr>
          <p:cNvPr id="26" name="TextBox 25"/>
          <p:cNvSpPr txBox="1"/>
          <p:nvPr/>
        </p:nvSpPr>
        <p:spPr>
          <a:xfrm>
            <a:off x="9820656" y="2542032"/>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similar</a:t>
            </a:r>
          </a:p>
        </p:txBody>
      </p:sp>
      <p:sp>
        <p:nvSpPr>
          <p:cNvPr id="27" name="TextBox 26"/>
          <p:cNvSpPr txBox="1"/>
          <p:nvPr/>
        </p:nvSpPr>
        <p:spPr>
          <a:xfrm>
            <a:off x="4599432" y="3118103"/>
            <a:ext cx="1783080" cy="310896"/>
          </a:xfrm>
          <a:prstGeom prst="rect">
            <a:avLst/>
          </a:prstGeom>
          <a:noFill/>
        </p:spPr>
        <p:txBody>
          <a:bodyPr wrap="square" lIns="18288" rIns="18288" tIns="18288" bIns="18288" anchor="t">
            <a:spAutoFit/>
          </a:bodyPr>
          <a:lstStyle/>
          <a:p>
            <a:pPr algn="l">
              <a:spcAft>
                <a:spcPts val="0"/>
              </a:spcAft>
            </a:pPr>
            <a:r>
              <a:rPr sz="1400" b="0" i="0">
                <a:solidFill>
                  <a:srgbClr val="263746"/>
                </a:solidFill>
                <a:latin typeface="Arial"/>
              </a:rPr>
              <a:t>F1</a:t>
            </a:r>
          </a:p>
        </p:txBody>
      </p:sp>
      <p:sp>
        <p:nvSpPr>
          <p:cNvPr id="28" name="TextBox 27"/>
          <p:cNvSpPr txBox="1"/>
          <p:nvPr/>
        </p:nvSpPr>
        <p:spPr>
          <a:xfrm>
            <a:off x="6519672" y="3118103"/>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0.985</a:t>
            </a:r>
          </a:p>
        </p:txBody>
      </p:sp>
      <p:sp>
        <p:nvSpPr>
          <p:cNvPr id="29" name="TextBox 28"/>
          <p:cNvSpPr txBox="1"/>
          <p:nvPr/>
        </p:nvSpPr>
        <p:spPr>
          <a:xfrm>
            <a:off x="8238744" y="3118103"/>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0.997</a:t>
            </a:r>
          </a:p>
        </p:txBody>
      </p:sp>
      <p:sp>
        <p:nvSpPr>
          <p:cNvPr id="30" name="TextBox 29"/>
          <p:cNvSpPr txBox="1"/>
          <p:nvPr/>
        </p:nvSpPr>
        <p:spPr>
          <a:xfrm>
            <a:off x="9820656" y="3118103"/>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higher</a:t>
            </a:r>
          </a:p>
        </p:txBody>
      </p:sp>
      <p:sp>
        <p:nvSpPr>
          <p:cNvPr id="31" name="Rectangle 30"/>
          <p:cNvSpPr/>
          <p:nvPr/>
        </p:nvSpPr>
        <p:spPr>
          <a:xfrm>
            <a:off x="4517136" y="3630168"/>
            <a:ext cx="7059168" cy="48463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99432" y="3694176"/>
            <a:ext cx="1783080" cy="310896"/>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Adversarial accuracy</a:t>
            </a:r>
          </a:p>
        </p:txBody>
      </p:sp>
      <p:sp>
        <p:nvSpPr>
          <p:cNvPr id="33" name="TextBox 32"/>
          <p:cNvSpPr txBox="1"/>
          <p:nvPr/>
        </p:nvSpPr>
        <p:spPr>
          <a:xfrm>
            <a:off x="6519672" y="3694176"/>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0.636</a:t>
            </a:r>
          </a:p>
        </p:txBody>
      </p:sp>
      <p:sp>
        <p:nvSpPr>
          <p:cNvPr id="34" name="TextBox 33"/>
          <p:cNvSpPr txBox="1"/>
          <p:nvPr/>
        </p:nvSpPr>
        <p:spPr>
          <a:xfrm>
            <a:off x="8238744" y="3694176"/>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0.475</a:t>
            </a:r>
          </a:p>
        </p:txBody>
      </p:sp>
      <p:sp>
        <p:nvSpPr>
          <p:cNvPr id="35" name="TextBox 34"/>
          <p:cNvSpPr txBox="1"/>
          <p:nvPr/>
        </p:nvSpPr>
        <p:spPr>
          <a:xfrm>
            <a:off x="9820656" y="3694176"/>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closer to 0.5</a:t>
            </a:r>
          </a:p>
        </p:txBody>
      </p:sp>
      <p:sp>
        <p:nvSpPr>
          <p:cNvPr id="36" name="TextBox 35"/>
          <p:cNvSpPr txBox="1"/>
          <p:nvPr/>
        </p:nvSpPr>
        <p:spPr>
          <a:xfrm>
            <a:off x="4599432" y="4270248"/>
            <a:ext cx="1783080" cy="310896"/>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FD / real P95</a:t>
            </a:r>
          </a:p>
        </p:txBody>
      </p:sp>
      <p:sp>
        <p:nvSpPr>
          <p:cNvPr id="37" name="TextBox 36"/>
          <p:cNvSpPr txBox="1"/>
          <p:nvPr/>
        </p:nvSpPr>
        <p:spPr>
          <a:xfrm>
            <a:off x="6519672" y="4270248"/>
            <a:ext cx="1261872" cy="310896"/>
          </a:xfrm>
          <a:prstGeom prst="rect">
            <a:avLst/>
          </a:prstGeom>
          <a:noFill/>
        </p:spPr>
        <p:txBody>
          <a:bodyPr wrap="square" lIns="18288" rIns="18288" tIns="18288" bIns="18288" anchor="t">
            <a:spAutoFit/>
          </a:bodyPr>
          <a:lstStyle/>
          <a:p>
            <a:pPr algn="ctr">
              <a:spcAft>
                <a:spcPts val="0"/>
              </a:spcAft>
            </a:pPr>
            <a:r>
              <a:rPr sz="1600" b="1" i="0">
                <a:solidFill>
                  <a:srgbClr val="D96552"/>
                </a:solidFill>
                <a:latin typeface="Arial"/>
              </a:rPr>
              <a:t>0.144</a:t>
            </a:r>
          </a:p>
        </p:txBody>
      </p:sp>
      <p:sp>
        <p:nvSpPr>
          <p:cNvPr id="38" name="TextBox 37"/>
          <p:cNvSpPr txBox="1"/>
          <p:nvPr/>
        </p:nvSpPr>
        <p:spPr>
          <a:xfrm>
            <a:off x="8238744" y="4270248"/>
            <a:ext cx="1261872" cy="310896"/>
          </a:xfrm>
          <a:prstGeom prst="rect">
            <a:avLst/>
          </a:prstGeom>
          <a:noFill/>
        </p:spPr>
        <p:txBody>
          <a:bodyPr wrap="square" lIns="18288" rIns="18288" tIns="18288" bIns="18288" anchor="t">
            <a:spAutoFit/>
          </a:bodyPr>
          <a:lstStyle/>
          <a:p>
            <a:pPr algn="ctr">
              <a:spcAft>
                <a:spcPts val="0"/>
              </a:spcAft>
            </a:pPr>
            <a:r>
              <a:rPr sz="1600" b="1" i="0">
                <a:solidFill>
                  <a:srgbClr val="178681"/>
                </a:solidFill>
                <a:latin typeface="Arial"/>
              </a:rPr>
              <a:t>0.074</a:t>
            </a:r>
          </a:p>
        </p:txBody>
      </p:sp>
      <p:sp>
        <p:nvSpPr>
          <p:cNvPr id="39" name="TextBox 38"/>
          <p:cNvSpPr txBox="1"/>
          <p:nvPr/>
        </p:nvSpPr>
        <p:spPr>
          <a:xfrm>
            <a:off x="9820656" y="4270248"/>
            <a:ext cx="1481328" cy="310896"/>
          </a:xfrm>
          <a:prstGeom prst="rect">
            <a:avLst/>
          </a:prstGeom>
          <a:noFill/>
        </p:spPr>
        <p:txBody>
          <a:bodyPr wrap="square" lIns="18288" rIns="18288" tIns="18288" bIns="18288" anchor="t">
            <a:spAutoFit/>
          </a:bodyPr>
          <a:lstStyle/>
          <a:p>
            <a:pPr algn="l">
              <a:spcAft>
                <a:spcPts val="0"/>
              </a:spcAft>
            </a:pPr>
            <a:r>
              <a:rPr sz="1350" b="0" i="0">
                <a:solidFill>
                  <a:srgbClr val="59697A"/>
                </a:solidFill>
                <a:latin typeface="Arial"/>
              </a:rPr>
              <a:t>lower</a:t>
            </a:r>
          </a:p>
        </p:txBody>
      </p:sp>
      <p:sp>
        <p:nvSpPr>
          <p:cNvPr id="40" name="Rounded Rectangle 39"/>
          <p:cNvSpPr/>
          <p:nvPr/>
        </p:nvSpPr>
        <p:spPr>
          <a:xfrm>
            <a:off x="347472" y="5522976"/>
            <a:ext cx="11494008" cy="667512"/>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5660136"/>
            <a:ext cx="2331720" cy="310896"/>
          </a:xfrm>
          <a:prstGeom prst="rect">
            <a:avLst/>
          </a:prstGeom>
          <a:noFill/>
        </p:spPr>
        <p:txBody>
          <a:bodyPr wrap="square" lIns="18288" rIns="18288" tIns="18288" bIns="18288" anchor="ctr">
            <a:spAutoFit/>
          </a:bodyPr>
          <a:lstStyle/>
          <a:p>
            <a:pPr algn="l">
              <a:spcAft>
                <a:spcPts val="0"/>
              </a:spcAft>
            </a:pPr>
            <a:r>
              <a:rPr sz="1800" b="1" i="0">
                <a:solidFill>
                  <a:srgbClr val="FFFFFF"/>
                </a:solidFill>
                <a:latin typeface="Arial"/>
              </a:rPr>
              <a:t>Use DDIM downstream</a:t>
            </a:r>
          </a:p>
        </p:txBody>
      </p:sp>
      <p:sp>
        <p:nvSpPr>
          <p:cNvPr id="42" name="TextBox 41"/>
          <p:cNvSpPr txBox="1"/>
          <p:nvPr/>
        </p:nvSpPr>
        <p:spPr>
          <a:xfrm>
            <a:off x="2852928" y="5669280"/>
            <a:ext cx="8394192" cy="292608"/>
          </a:xfrm>
          <a:prstGeom prst="rect">
            <a:avLst/>
          </a:prstGeom>
          <a:noFill/>
        </p:spPr>
        <p:txBody>
          <a:bodyPr wrap="square" lIns="18288" rIns="18288" tIns="18288" bIns="18288" anchor="ctr">
            <a:spAutoFit/>
          </a:bodyPr>
          <a:lstStyle/>
          <a:p>
            <a:pPr algn="l">
              <a:spcAft>
                <a:spcPts val="0"/>
              </a:spcAft>
            </a:pPr>
            <a:r>
              <a:rPr sz="1500" b="0" i="0">
                <a:solidFill>
                  <a:srgbClr val="DCE7F2"/>
                </a:solidFill>
                <a:latin typeface="Arial"/>
              </a:rPr>
              <a:t>Lower separability and distributional distance, with comparable correlation and higher F1.</a:t>
            </a:r>
          </a:p>
        </p:txBody>
      </p:sp>
      <p:sp>
        <p:nvSpPr>
          <p:cNvPr id="43" name="TextBox 42"/>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WGAN values use validation data and DDIM values use the stated OSDR test; they are not paired on one common split.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Diffusion learns tissue structure from noise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same PCA axes follow 1,024 generated profiles through reverse diffusion.</a:t>
            </a:r>
          </a:p>
        </p:txBody>
      </p:sp>
      <p:pic>
        <p:nvPicPr>
          <p:cNvPr id="7" name="DDIM reverse trajectory at timesteps 1000, 200 and 0" descr="DDIM reverse trajectory at timesteps 1000, 200 and 0"/>
          <p:cNvPicPr>
            <a:picLocks noChangeAspect="1"/>
          </p:cNvPicPr>
          <p:nvPr/>
        </p:nvPicPr>
        <p:blipFill>
          <a:blip r:embed="rId2"/>
          <a:stretch>
            <a:fillRect/>
          </a:stretch>
        </p:blipFill>
        <p:spPr>
          <a:xfrm>
            <a:off x="310896" y="1735579"/>
            <a:ext cx="11558016" cy="4100072"/>
          </a:xfrm>
          <a:prstGeom prst="rect">
            <a:avLst/>
          </a:prstGeom>
        </p:spPr>
      </p:pic>
      <p:sp>
        <p:nvSpPr>
          <p:cNvPr id="8" name="TextBox 7"/>
          <p:cNvSpPr txBox="1"/>
          <p:nvPr/>
        </p:nvSpPr>
        <p:spPr>
          <a:xfrm>
            <a:off x="713232" y="5943600"/>
            <a:ext cx="228600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1000: noise</a:t>
            </a:r>
          </a:p>
        </p:txBody>
      </p:sp>
      <p:sp>
        <p:nvSpPr>
          <p:cNvPr id="9" name="TextBox 8"/>
          <p:cNvSpPr txBox="1"/>
          <p:nvPr/>
        </p:nvSpPr>
        <p:spPr>
          <a:xfrm>
            <a:off x="4782312" y="5943600"/>
            <a:ext cx="2651760" cy="256032"/>
          </a:xfrm>
          <a:prstGeom prst="rect">
            <a:avLst/>
          </a:prstGeom>
          <a:noFill/>
        </p:spPr>
        <p:txBody>
          <a:bodyPr wrap="square" lIns="18288" rIns="18288" tIns="18288" bIns="18288" anchor="t">
            <a:spAutoFit/>
          </a:bodyPr>
          <a:lstStyle/>
          <a:p>
            <a:pPr algn="ctr">
              <a:spcAft>
                <a:spcPts val="0"/>
              </a:spcAft>
            </a:pPr>
            <a:r>
              <a:rPr sz="1300" b="1" i="0">
                <a:solidFill>
                  <a:srgbClr val="59697A"/>
                </a:solidFill>
                <a:latin typeface="Arial"/>
              </a:rPr>
              <a:t>t = 200: partial structure</a:t>
            </a:r>
          </a:p>
        </p:txBody>
      </p:sp>
      <p:sp>
        <p:nvSpPr>
          <p:cNvPr id="10" name="TextBox 9"/>
          <p:cNvSpPr txBox="1"/>
          <p:nvPr/>
        </p:nvSpPr>
        <p:spPr>
          <a:xfrm>
            <a:off x="8366760" y="5943600"/>
            <a:ext cx="3108960" cy="256032"/>
          </a:xfrm>
          <a:prstGeom prst="rect">
            <a:avLst/>
          </a:prstGeom>
          <a:noFill/>
        </p:spPr>
        <p:txBody>
          <a:bodyPr wrap="square" lIns="18288" rIns="18288" tIns="18288" bIns="18288" anchor="t">
            <a:spAutoFit/>
          </a:bodyPr>
          <a:lstStyle/>
          <a:p>
            <a:pPr algn="ctr">
              <a:spcAft>
                <a:spcPts val="0"/>
              </a:spcAft>
            </a:pPr>
            <a:r>
              <a:rPr sz="1300" b="1" i="0">
                <a:solidFill>
                  <a:srgbClr val="178681"/>
                </a:solidFill>
                <a:latin typeface="Arial"/>
              </a:rPr>
              <a:t>t = 0: tissue-conditioned profiles</a:t>
            </a:r>
          </a:p>
        </p:txBody>
      </p:sp>
      <p:sp>
        <p:nvSpPr>
          <p:cNvPr id="11" name="TextBox 10"/>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Gray points are real ARCHS4 profiles; colors identify generated tissue conditions. PC1 and PC2 limits are shared across panels.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DIFFUSION OUTPUT</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Generated profiles track the real OSDR PCA manifold</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Circles are locked real OSDR profiles; crosses are matched DDIM profiles from generation seed 5020.</a:t>
            </a:r>
          </a:p>
        </p:txBody>
      </p:sp>
      <p:pic>
        <p:nvPicPr>
          <p:cNvPr id="7" name="PCA of locked real and matched DDIM OSDR profiles by tissue and condition" descr="PCA of locked real and matched DDIM OSDR profiles by tissue and condition"/>
          <p:cNvPicPr>
            <a:picLocks noChangeAspect="1"/>
          </p:cNvPicPr>
          <p:nvPr/>
        </p:nvPicPr>
        <p:blipFill>
          <a:blip r:embed="rId2"/>
          <a:stretch>
            <a:fillRect/>
          </a:stretch>
        </p:blipFill>
        <p:spPr>
          <a:xfrm>
            <a:off x="1009356" y="1700784"/>
            <a:ext cx="10161095" cy="4169663"/>
          </a:xfrm>
          <a:prstGeom prst="rect">
            <a:avLst/>
          </a:prstGeom>
        </p:spPr>
      </p:pic>
      <p:sp>
        <p:nvSpPr>
          <p:cNvPr id="8" name="Rounded Rectangle 7"/>
          <p:cNvSpPr/>
          <p:nvPr/>
        </p:nvSpPr>
        <p:spPr>
          <a:xfrm>
            <a:off x="438912" y="5907024"/>
            <a:ext cx="11311128" cy="438912"/>
          </a:xfrm>
          <a:prstGeom prst="roundRect">
            <a:avLst/>
          </a:prstGeom>
          <a:solidFill>
            <a:srgbClr val="E9F1F7"/>
          </a:solidFill>
          <a:ln w="10160">
            <a:solidFill>
              <a:srgbClr val="C9D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5989320"/>
            <a:ext cx="10844784" cy="246888"/>
          </a:xfrm>
          <a:prstGeom prst="rect">
            <a:avLst/>
          </a:prstGeom>
          <a:noFill/>
        </p:spPr>
        <p:txBody>
          <a:bodyPr wrap="square" lIns="18288" rIns="18288" tIns="18288" bIns="18288" anchor="t">
            <a:spAutoFit/>
          </a:bodyPr>
          <a:lstStyle/>
          <a:p>
            <a:pPr algn="ctr">
              <a:spcAft>
                <a:spcPts val="0"/>
              </a:spcAft>
            </a:pPr>
            <a:r>
              <a:rPr sz="1330" b="1" i="0">
                <a:solidFill>
                  <a:srgbClr val="082B55"/>
                </a:solidFill>
                <a:latin typeface="Arial"/>
              </a:rPr>
              <a:t>Interpretation: tissue structure dominates; FLT and GC are subtler. PCA is descriptive, so quantitative metrics determine validation.</a:t>
            </a:r>
          </a:p>
        </p:txBody>
      </p:sp>
      <p:sp>
        <p:nvSpPr>
          <p:cNvPr id="10" name="TextBox 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PCA was fitted in the common locked OSDR expression space. This is PCA, not UMAP.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profiles entered the analysis in five different ways</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Every arm was judged on held-out real profiles before synthetic attribution was allowed.</a:t>
            </a:r>
          </a:p>
        </p:txBody>
      </p:sp>
      <p:sp>
        <p:nvSpPr>
          <p:cNvPr id="7" name="Rounded Rectangle 6"/>
          <p:cNvSpPr/>
          <p:nvPr/>
        </p:nvSpPr>
        <p:spPr>
          <a:xfrm>
            <a:off x="347472" y="1874519"/>
            <a:ext cx="2212848" cy="1170432"/>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 y="2103120"/>
            <a:ext cx="1719072" cy="274320"/>
          </a:xfrm>
          <a:prstGeom prst="rect">
            <a:avLst/>
          </a:prstGeom>
          <a:noFill/>
        </p:spPr>
        <p:txBody>
          <a:bodyPr wrap="square" lIns="18288" rIns="18288" tIns="18288" bIns="18288" anchor="t">
            <a:spAutoFit/>
          </a:bodyPr>
          <a:lstStyle/>
          <a:p>
            <a:pPr algn="ctr">
              <a:spcAft>
                <a:spcPts val="0"/>
              </a:spcAft>
            </a:pPr>
            <a:r>
              <a:rPr sz="1700" b="1" i="0">
                <a:solidFill>
                  <a:srgbClr val="2D6496"/>
                </a:solidFill>
                <a:latin typeface="Arial"/>
              </a:rPr>
              <a:t>Real OSDR</a:t>
            </a:r>
          </a:p>
        </p:txBody>
      </p:sp>
      <p:sp>
        <p:nvSpPr>
          <p:cNvPr id="9" name="TextBox 8"/>
          <p:cNvSpPr txBox="1"/>
          <p:nvPr/>
        </p:nvSpPr>
        <p:spPr>
          <a:xfrm>
            <a:off x="585216" y="2505456"/>
            <a:ext cx="1719072" cy="2286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observed FLT / GC</a:t>
            </a:r>
          </a:p>
        </p:txBody>
      </p:sp>
      <p:sp>
        <p:nvSpPr>
          <p:cNvPr id="10" name="Rounded Rectangle 9"/>
          <p:cNvSpPr/>
          <p:nvPr/>
        </p:nvSpPr>
        <p:spPr>
          <a:xfrm>
            <a:off x="347472" y="3319272"/>
            <a:ext cx="2212848" cy="1170432"/>
          </a:xfrm>
          <a:prstGeom prst="round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7" y="3547872"/>
            <a:ext cx="1874519" cy="274320"/>
          </a:xfrm>
          <a:prstGeom prst="rect">
            <a:avLst/>
          </a:prstGeom>
          <a:noFill/>
        </p:spPr>
        <p:txBody>
          <a:bodyPr wrap="square" lIns="18288" rIns="18288" tIns="18288" bIns="18288" anchor="t">
            <a:spAutoFit/>
          </a:bodyPr>
          <a:lstStyle/>
          <a:p>
            <a:pPr algn="ctr">
              <a:spcAft>
                <a:spcPts val="0"/>
              </a:spcAft>
            </a:pPr>
            <a:r>
              <a:rPr sz="1700" b="1" i="0">
                <a:solidFill>
                  <a:srgbClr val="D96552"/>
                </a:solidFill>
                <a:latin typeface="Arial"/>
              </a:rPr>
              <a:t>DDIM generated</a:t>
            </a:r>
          </a:p>
        </p:txBody>
      </p:sp>
      <p:sp>
        <p:nvSpPr>
          <p:cNvPr id="12" name="TextBox 11"/>
          <p:cNvSpPr txBox="1"/>
          <p:nvPr/>
        </p:nvSpPr>
        <p:spPr>
          <a:xfrm>
            <a:off x="585216" y="3941063"/>
            <a:ext cx="1719072" cy="2286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matched conditions</a:t>
            </a:r>
          </a:p>
        </p:txBody>
      </p:sp>
      <p:sp>
        <p:nvSpPr>
          <p:cNvPr id="13" name="Right Arrow 12"/>
          <p:cNvSpPr/>
          <p:nvPr/>
        </p:nvSpPr>
        <p:spPr>
          <a:xfrm>
            <a:off x="2679192" y="2852928"/>
            <a:ext cx="475488" cy="34747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310128" y="1920240"/>
            <a:ext cx="1508760" cy="1170432"/>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01568" y="2084832"/>
            <a:ext cx="1325880" cy="320040"/>
          </a:xfrm>
          <a:prstGeom prst="rect">
            <a:avLst/>
          </a:prstGeom>
          <a:noFill/>
        </p:spPr>
        <p:txBody>
          <a:bodyPr wrap="square" lIns="18288" rIns="18288" tIns="18288" bIns="18288" anchor="t">
            <a:spAutoFit/>
          </a:bodyPr>
          <a:lstStyle/>
          <a:p>
            <a:pPr algn="ctr">
              <a:spcAft>
                <a:spcPts val="0"/>
              </a:spcAft>
            </a:pPr>
            <a:r>
              <a:rPr sz="1350" b="1" i="0">
                <a:solidFill>
                  <a:srgbClr val="2D6496"/>
                </a:solidFill>
                <a:latin typeface="Arial"/>
              </a:rPr>
              <a:t>Real only</a:t>
            </a:r>
          </a:p>
        </p:txBody>
      </p:sp>
      <p:sp>
        <p:nvSpPr>
          <p:cNvPr id="16" name="TextBox 15"/>
          <p:cNvSpPr txBox="1"/>
          <p:nvPr/>
        </p:nvSpPr>
        <p:spPr>
          <a:xfrm>
            <a:off x="3429000" y="2523744"/>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real
fit: real</a:t>
            </a:r>
          </a:p>
        </p:txBody>
      </p:sp>
      <p:sp>
        <p:nvSpPr>
          <p:cNvPr id="17" name="Rounded Rectangle 16"/>
          <p:cNvSpPr/>
          <p:nvPr/>
        </p:nvSpPr>
        <p:spPr>
          <a:xfrm>
            <a:off x="5001768" y="1920240"/>
            <a:ext cx="1508760" cy="1170432"/>
          </a:xfrm>
          <a:prstGeom prst="roundRect">
            <a:avLst/>
          </a:prstGeom>
          <a:solidFill>
            <a:srgbClr val="F8ECE9"/>
          </a:solidFill>
          <a:ln w="10160">
            <a:solidFill>
              <a:srgbClr val="D965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93207" y="2084832"/>
            <a:ext cx="1325880" cy="320040"/>
          </a:xfrm>
          <a:prstGeom prst="rect">
            <a:avLst/>
          </a:prstGeom>
          <a:noFill/>
        </p:spPr>
        <p:txBody>
          <a:bodyPr wrap="square" lIns="18288" rIns="18288" tIns="18288" bIns="18288" anchor="t">
            <a:spAutoFit/>
          </a:bodyPr>
          <a:lstStyle/>
          <a:p>
            <a:pPr algn="ctr">
              <a:spcAft>
                <a:spcPts val="0"/>
              </a:spcAft>
            </a:pPr>
            <a:r>
              <a:rPr sz="1350" b="1" i="0">
                <a:solidFill>
                  <a:srgbClr val="D96552"/>
                </a:solidFill>
                <a:latin typeface="Arial"/>
              </a:rPr>
              <a:t>Generated only</a:t>
            </a:r>
          </a:p>
        </p:txBody>
      </p:sp>
      <p:sp>
        <p:nvSpPr>
          <p:cNvPr id="19" name="TextBox 18"/>
          <p:cNvSpPr txBox="1"/>
          <p:nvPr/>
        </p:nvSpPr>
        <p:spPr>
          <a:xfrm>
            <a:off x="5120640" y="2523744"/>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generated
fit: generated</a:t>
            </a:r>
          </a:p>
        </p:txBody>
      </p:sp>
      <p:sp>
        <p:nvSpPr>
          <p:cNvPr id="20" name="Rounded Rectangle 19"/>
          <p:cNvSpPr/>
          <p:nvPr/>
        </p:nvSpPr>
        <p:spPr>
          <a:xfrm>
            <a:off x="6693408" y="1920240"/>
            <a:ext cx="1508760" cy="1170432"/>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84848" y="2084832"/>
            <a:ext cx="1325880" cy="320040"/>
          </a:xfrm>
          <a:prstGeom prst="rect">
            <a:avLst/>
          </a:prstGeom>
          <a:noFill/>
        </p:spPr>
        <p:txBody>
          <a:bodyPr wrap="square" lIns="18288" rIns="18288" tIns="18288" bIns="18288" anchor="t">
            <a:spAutoFit/>
          </a:bodyPr>
          <a:lstStyle/>
          <a:p>
            <a:pPr algn="ctr">
              <a:spcAft>
                <a:spcPts val="0"/>
              </a:spcAft>
            </a:pPr>
            <a:r>
              <a:rPr sz="1350" b="1" i="0">
                <a:solidFill>
                  <a:srgbClr val="178681"/>
                </a:solidFill>
                <a:latin typeface="Arial"/>
              </a:rPr>
              <a:t>Real + generated</a:t>
            </a:r>
          </a:p>
        </p:txBody>
      </p:sp>
      <p:sp>
        <p:nvSpPr>
          <p:cNvPr id="22" name="TextBox 21"/>
          <p:cNvSpPr txBox="1"/>
          <p:nvPr/>
        </p:nvSpPr>
        <p:spPr>
          <a:xfrm>
            <a:off x="6812280" y="2523744"/>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consensus
fit: equal weight</a:t>
            </a:r>
          </a:p>
        </p:txBody>
      </p:sp>
      <p:sp>
        <p:nvSpPr>
          <p:cNvPr id="23" name="Rounded Rectangle 22"/>
          <p:cNvSpPr/>
          <p:nvPr/>
        </p:nvSpPr>
        <p:spPr>
          <a:xfrm>
            <a:off x="4160520" y="3410712"/>
            <a:ext cx="1508760" cy="1170432"/>
          </a:xfrm>
          <a:prstGeom prst="roundRect">
            <a:avLst/>
          </a:prstGeom>
          <a:solidFill>
            <a:srgbClr val="F0ECF6"/>
          </a:solidFill>
          <a:ln w="1016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251959" y="3575304"/>
            <a:ext cx="1325880" cy="320040"/>
          </a:xfrm>
          <a:prstGeom prst="rect">
            <a:avLst/>
          </a:prstGeom>
          <a:noFill/>
        </p:spPr>
        <p:txBody>
          <a:bodyPr wrap="square" lIns="18288" rIns="18288" tIns="18288" bIns="18288" anchor="t">
            <a:spAutoFit/>
          </a:bodyPr>
          <a:lstStyle/>
          <a:p>
            <a:pPr algn="ctr">
              <a:spcAft>
                <a:spcPts val="0"/>
              </a:spcAft>
            </a:pPr>
            <a:r>
              <a:rPr sz="1350" b="1" i="0">
                <a:solidFill>
                  <a:srgbClr val="8063A6"/>
                </a:solidFill>
                <a:latin typeface="Arial"/>
              </a:rPr>
              <a:t>Guided, real fit</a:t>
            </a:r>
          </a:p>
        </p:txBody>
      </p:sp>
      <p:sp>
        <p:nvSpPr>
          <p:cNvPr id="25" name="TextBox 24"/>
          <p:cNvSpPr txBox="1"/>
          <p:nvPr/>
        </p:nvSpPr>
        <p:spPr>
          <a:xfrm>
            <a:off x="4279392" y="4014215"/>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consensus
fit: real</a:t>
            </a:r>
          </a:p>
        </p:txBody>
      </p:sp>
      <p:sp>
        <p:nvSpPr>
          <p:cNvPr id="26" name="Rounded Rectangle 25"/>
          <p:cNvSpPr/>
          <p:nvPr/>
        </p:nvSpPr>
        <p:spPr>
          <a:xfrm>
            <a:off x="5852160" y="3410712"/>
            <a:ext cx="1508760" cy="1170432"/>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0" y="3575304"/>
            <a:ext cx="1325880" cy="320040"/>
          </a:xfrm>
          <a:prstGeom prst="rect">
            <a:avLst/>
          </a:prstGeom>
          <a:noFill/>
        </p:spPr>
        <p:txBody>
          <a:bodyPr wrap="square" lIns="18288" rIns="18288" tIns="18288" bIns="18288" anchor="t">
            <a:spAutoFit/>
          </a:bodyPr>
          <a:lstStyle/>
          <a:p>
            <a:pPr algn="ctr">
              <a:spcAft>
                <a:spcPts val="0"/>
              </a:spcAft>
            </a:pPr>
            <a:r>
              <a:rPr sz="1350" b="1" i="0">
                <a:solidFill>
                  <a:srgbClr val="D37B00"/>
                </a:solidFill>
                <a:latin typeface="Arial"/>
              </a:rPr>
              <a:t>Guided, 5% synth.</a:t>
            </a:r>
          </a:p>
        </p:txBody>
      </p:sp>
      <p:sp>
        <p:nvSpPr>
          <p:cNvPr id="28" name="TextBox 27"/>
          <p:cNvSpPr txBox="1"/>
          <p:nvPr/>
        </p:nvSpPr>
        <p:spPr>
          <a:xfrm>
            <a:off x="5971032" y="4014215"/>
            <a:ext cx="1271016" cy="457200"/>
          </a:xfrm>
          <a:prstGeom prst="rect">
            <a:avLst/>
          </a:prstGeom>
          <a:noFill/>
        </p:spPr>
        <p:txBody>
          <a:bodyPr wrap="square" lIns="18288" rIns="18288" tIns="18288" bIns="18288" anchor="t">
            <a:spAutoFit/>
          </a:bodyPr>
          <a:lstStyle/>
          <a:p>
            <a:pPr algn="ctr">
              <a:spcAft>
                <a:spcPts val="0"/>
              </a:spcAft>
            </a:pPr>
            <a:r>
              <a:rPr sz="1150" b="0" i="0">
                <a:solidFill>
                  <a:srgbClr val="263746"/>
                </a:solidFill>
                <a:latin typeface="Arial"/>
              </a:rPr>
              <a:t>rank: consensus
fit: real + 5%</a:t>
            </a:r>
          </a:p>
        </p:txBody>
      </p:sp>
      <p:sp>
        <p:nvSpPr>
          <p:cNvPr id="29" name="Right Arrow 28"/>
          <p:cNvSpPr/>
          <p:nvPr/>
        </p:nvSpPr>
        <p:spPr>
          <a:xfrm>
            <a:off x="8522208" y="2852928"/>
            <a:ext cx="475488" cy="34747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144000" y="2176272"/>
            <a:ext cx="2633472" cy="2057400"/>
          </a:xfrm>
          <a:prstGeom prst="roundRect">
            <a:avLst/>
          </a:prstGeom>
          <a:solidFill>
            <a:srgbClr val="ECF4ED"/>
          </a:solidFill>
          <a:ln w="10160">
            <a:solidFill>
              <a:srgbClr val="478A6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354312" y="2459736"/>
            <a:ext cx="2212848" cy="457200"/>
          </a:xfrm>
          <a:prstGeom prst="rect">
            <a:avLst/>
          </a:prstGeom>
          <a:noFill/>
        </p:spPr>
        <p:txBody>
          <a:bodyPr wrap="square" lIns="18288" rIns="18288" tIns="18288" bIns="18288" anchor="t">
            <a:spAutoFit/>
          </a:bodyPr>
          <a:lstStyle/>
          <a:p>
            <a:pPr algn="ctr">
              <a:spcAft>
                <a:spcPts val="0"/>
              </a:spcAft>
            </a:pPr>
            <a:r>
              <a:rPr sz="1700" b="1" i="0">
                <a:solidFill>
                  <a:srgbClr val="478A64"/>
                </a:solidFill>
                <a:latin typeface="Arial"/>
              </a:rPr>
              <a:t>Held-out real profiles</a:t>
            </a:r>
          </a:p>
        </p:txBody>
      </p:sp>
      <p:sp>
        <p:nvSpPr>
          <p:cNvPr id="32" name="TextBox 31"/>
          <p:cNvSpPr txBox="1"/>
          <p:nvPr/>
        </p:nvSpPr>
        <p:spPr>
          <a:xfrm>
            <a:off x="9400032" y="3063240"/>
            <a:ext cx="2103120" cy="329184"/>
          </a:xfrm>
          <a:prstGeom prst="rect">
            <a:avLst/>
          </a:prstGeom>
          <a:noFill/>
        </p:spPr>
        <p:txBody>
          <a:bodyPr wrap="square" lIns="18288" rIns="18288" tIns="18288" bIns="18288" anchor="t">
            <a:spAutoFit/>
          </a:bodyPr>
          <a:lstStyle/>
          <a:p>
            <a:pPr algn="ctr">
              <a:spcAft>
                <a:spcPts val="0"/>
              </a:spcAft>
            </a:pPr>
            <a:r>
              <a:rPr sz="1600" b="1" i="0">
                <a:solidFill>
                  <a:srgbClr val="082B55"/>
                </a:solidFill>
                <a:latin typeface="Arial"/>
              </a:rPr>
              <a:t>BA | AUROC | AP</a:t>
            </a:r>
          </a:p>
        </p:txBody>
      </p:sp>
      <p:sp>
        <p:nvSpPr>
          <p:cNvPr id="33" name="TextBox 32"/>
          <p:cNvSpPr txBox="1"/>
          <p:nvPr/>
        </p:nvSpPr>
        <p:spPr>
          <a:xfrm>
            <a:off x="9400032" y="3502152"/>
            <a:ext cx="2103120" cy="457200"/>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select one eligible arm
for each tissue</a:t>
            </a:r>
          </a:p>
        </p:txBody>
      </p:sp>
      <p:sp>
        <p:nvSpPr>
          <p:cNvPr id="34" name="Rounded Rectangle 33"/>
          <p:cNvSpPr/>
          <p:nvPr/>
        </p:nvSpPr>
        <p:spPr>
          <a:xfrm>
            <a:off x="347472" y="4919472"/>
            <a:ext cx="11430000" cy="1051560"/>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5166360"/>
            <a:ext cx="160020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Biology check</a:t>
            </a:r>
          </a:p>
        </p:txBody>
      </p:sp>
      <p:sp>
        <p:nvSpPr>
          <p:cNvPr id="36" name="TextBox 35"/>
          <p:cNvSpPr txBox="1"/>
          <p:nvPr/>
        </p:nvSpPr>
        <p:spPr>
          <a:xfrm>
            <a:off x="2304288" y="5175504"/>
            <a:ext cx="6766560" cy="292608"/>
          </a:xfrm>
          <a:prstGeom prst="rect">
            <a:avLst/>
          </a:prstGeom>
          <a:noFill/>
        </p:spPr>
        <p:txBody>
          <a:bodyPr wrap="square" lIns="18288" rIns="18288" tIns="18288" bIns="18288" anchor="t">
            <a:spAutoFit/>
          </a:bodyPr>
          <a:lstStyle/>
          <a:p>
            <a:pPr algn="l">
              <a:spcAft>
                <a:spcPts val="0"/>
              </a:spcAft>
            </a:pPr>
            <a:r>
              <a:rPr sz="1550" b="0" i="0">
                <a:solidFill>
                  <a:srgbClr val="DCE7F2"/>
                </a:solidFill>
                <a:latin typeface="Arial"/>
              </a:rPr>
              <a:t>FLT vs GC effects, random-effects meta-analysis and BH FDR use real OSDR profiles only.</a:t>
            </a:r>
          </a:p>
        </p:txBody>
      </p:sp>
      <p:sp>
        <p:nvSpPr>
          <p:cNvPr id="37" name="TextBox 36"/>
          <p:cNvSpPr txBox="1"/>
          <p:nvPr/>
        </p:nvSpPr>
        <p:spPr>
          <a:xfrm>
            <a:off x="9189720" y="5065776"/>
            <a:ext cx="2249424" cy="512064"/>
          </a:xfrm>
          <a:prstGeom prst="rect">
            <a:avLst/>
          </a:prstGeom>
          <a:noFill/>
        </p:spPr>
        <p:txBody>
          <a:bodyPr wrap="square" lIns="18288" rIns="18288" tIns="18288" bIns="18288" anchor="ctr">
            <a:spAutoFit/>
          </a:bodyPr>
          <a:lstStyle/>
          <a:p>
            <a:pPr algn="ctr">
              <a:spcAft>
                <a:spcPts val="0"/>
              </a:spcAft>
            </a:pPr>
            <a:r>
              <a:rPr sz="1400" b="1" i="0">
                <a:solidFill>
                  <a:srgbClr val="FFD69A"/>
                </a:solidFill>
                <a:latin typeface="Arial"/>
              </a:rPr>
              <a:t>Synthetic profiles never increase animal 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UTILITY</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Pooling tissues hid useful signal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A single FLT/GC classifier did not improve, but tissue-specific synthetic use often did.</a:t>
            </a:r>
          </a:p>
        </p:txBody>
      </p:sp>
      <p:sp>
        <p:nvSpPr>
          <p:cNvPr id="7" name="Rounded Rectangle 6"/>
          <p:cNvSpPr/>
          <p:nvPr/>
        </p:nvSpPr>
        <p:spPr>
          <a:xfrm>
            <a:off x="347472" y="1847088"/>
            <a:ext cx="3200400" cy="4224528"/>
          </a:xfrm>
          <a:prstGeom prst="roundRect">
            <a:avLst/>
          </a:prstGeom>
          <a:solidFill>
            <a:srgbClr val="F8F1E2"/>
          </a:solidFill>
          <a:ln w="10160">
            <a:solidFill>
              <a:srgbClr val="E8D6A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2103120"/>
            <a:ext cx="2651760" cy="320040"/>
          </a:xfrm>
          <a:prstGeom prst="rect">
            <a:avLst/>
          </a:prstGeom>
          <a:noFill/>
        </p:spPr>
        <p:txBody>
          <a:bodyPr wrap="square" lIns="18288" rIns="18288" tIns="18288" bIns="18288" anchor="t">
            <a:spAutoFit/>
          </a:bodyPr>
          <a:lstStyle/>
          <a:p>
            <a:pPr algn="l">
              <a:spcAft>
                <a:spcPts val="0"/>
              </a:spcAft>
            </a:pPr>
            <a:r>
              <a:rPr sz="1700" b="1" i="0">
                <a:solidFill>
                  <a:srgbClr val="9A6B20"/>
                </a:solidFill>
                <a:latin typeface="Arial"/>
              </a:rPr>
              <a:t>Pooled across tissues</a:t>
            </a:r>
          </a:p>
        </p:txBody>
      </p:sp>
      <p:sp>
        <p:nvSpPr>
          <p:cNvPr id="9" name="Rectangle 8"/>
          <p:cNvSpPr/>
          <p:nvPr/>
        </p:nvSpPr>
        <p:spPr>
          <a:xfrm>
            <a:off x="713232" y="5126766"/>
            <a:ext cx="566928" cy="359633"/>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80672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0.754</a:t>
            </a:r>
          </a:p>
        </p:txBody>
      </p:sp>
      <p:sp>
        <p:nvSpPr>
          <p:cNvPr id="11" name="TextBox 10"/>
          <p:cNvSpPr txBox="1"/>
          <p:nvPr/>
        </p:nvSpPr>
        <p:spPr>
          <a:xfrm>
            <a:off x="530352"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Real only</a:t>
            </a:r>
          </a:p>
        </p:txBody>
      </p:sp>
      <p:sp>
        <p:nvSpPr>
          <p:cNvPr id="12" name="Rectangle 11"/>
          <p:cNvSpPr/>
          <p:nvPr/>
        </p:nvSpPr>
        <p:spPr>
          <a:xfrm>
            <a:off x="1591056" y="5312892"/>
            <a:ext cx="566928" cy="173507"/>
          </a:xfrm>
          <a:prstGeom prst="rect">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17904" y="4992852"/>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0.695</a:t>
            </a:r>
          </a:p>
        </p:txBody>
      </p:sp>
      <p:sp>
        <p:nvSpPr>
          <p:cNvPr id="14" name="TextBox 13"/>
          <p:cNvSpPr txBox="1"/>
          <p:nvPr/>
        </p:nvSpPr>
        <p:spPr>
          <a:xfrm>
            <a:off x="1408176"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Generated only</a:t>
            </a:r>
          </a:p>
        </p:txBody>
      </p:sp>
      <p:sp>
        <p:nvSpPr>
          <p:cNvPr id="15" name="Rectangle 14"/>
          <p:cNvSpPr/>
          <p:nvPr/>
        </p:nvSpPr>
        <p:spPr>
          <a:xfrm>
            <a:off x="2468880" y="5180396"/>
            <a:ext cx="566928" cy="306003"/>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95728" y="4860356"/>
            <a:ext cx="713232" cy="256032"/>
          </a:xfrm>
          <a:prstGeom prst="rect">
            <a:avLst/>
          </a:prstGeom>
          <a:noFill/>
        </p:spPr>
        <p:txBody>
          <a:bodyPr wrap="square" lIns="18288" rIns="18288" tIns="18288" bIns="18288" anchor="t">
            <a:spAutoFit/>
          </a:bodyPr>
          <a:lstStyle/>
          <a:p>
            <a:pPr algn="ctr">
              <a:spcAft>
                <a:spcPts val="0"/>
              </a:spcAft>
            </a:pPr>
            <a:r>
              <a:rPr sz="1400" b="1" i="0">
                <a:solidFill>
                  <a:srgbClr val="082B55"/>
                </a:solidFill>
                <a:latin typeface="Arial"/>
              </a:rPr>
              <a:t>0.737</a:t>
            </a:r>
          </a:p>
        </p:txBody>
      </p:sp>
      <p:sp>
        <p:nvSpPr>
          <p:cNvPr id="17" name="TextBox 16"/>
          <p:cNvSpPr txBox="1"/>
          <p:nvPr/>
        </p:nvSpPr>
        <p:spPr>
          <a:xfrm>
            <a:off x="2286000" y="5559552"/>
            <a:ext cx="960120" cy="502920"/>
          </a:xfrm>
          <a:prstGeom prst="rect">
            <a:avLst/>
          </a:prstGeom>
          <a:noFill/>
        </p:spPr>
        <p:txBody>
          <a:bodyPr wrap="square" lIns="18288" rIns="18288" tIns="18288" bIns="18288" anchor="t">
            <a:spAutoFit/>
          </a:bodyPr>
          <a:lstStyle/>
          <a:p>
            <a:pPr algn="ctr">
              <a:spcAft>
                <a:spcPts val="0"/>
              </a:spcAft>
            </a:pPr>
            <a:r>
              <a:rPr sz="1050" b="0" i="0">
                <a:solidFill>
                  <a:srgbClr val="263746"/>
                </a:solidFill>
                <a:latin typeface="Arial"/>
              </a:rPr>
              <a:t>Real + synth.</a:t>
            </a:r>
          </a:p>
        </p:txBody>
      </p:sp>
      <p:sp>
        <p:nvSpPr>
          <p:cNvPr id="18" name="Rectangle 17"/>
          <p:cNvSpPr/>
          <p:nvPr/>
        </p:nvSpPr>
        <p:spPr>
          <a:xfrm>
            <a:off x="576072" y="5486400"/>
            <a:ext cx="2697480" cy="13716"/>
          </a:xfrm>
          <a:prstGeom prst="rect">
            <a:avLst/>
          </a:prstGeom>
          <a:solidFill>
            <a:srgbClr val="A9B5B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2542032"/>
            <a:ext cx="2542032" cy="228600"/>
          </a:xfrm>
          <a:prstGeom prst="rect">
            <a:avLst/>
          </a:prstGeom>
          <a:noFill/>
        </p:spPr>
        <p:txBody>
          <a:bodyPr wrap="square" lIns="18288" rIns="18288" tIns="18288" bIns="18288" anchor="t">
            <a:spAutoFit/>
          </a:bodyPr>
          <a:lstStyle/>
          <a:p>
            <a:pPr algn="l">
              <a:spcAft>
                <a:spcPts val="0"/>
              </a:spcAft>
            </a:pPr>
            <a:r>
              <a:rPr sz="1250" b="0" i="0">
                <a:solidFill>
                  <a:srgbClr val="59697A"/>
                </a:solidFill>
                <a:latin typeface="Arial"/>
              </a:rPr>
              <a:t>Balanced accuracy</a:t>
            </a:r>
          </a:p>
        </p:txBody>
      </p:sp>
      <p:sp>
        <p:nvSpPr>
          <p:cNvPr id="20" name="Rounded Rectangle 19"/>
          <p:cNvSpPr/>
          <p:nvPr/>
        </p:nvSpPr>
        <p:spPr>
          <a:xfrm>
            <a:off x="3767328" y="1847088"/>
            <a:ext cx="8083296" cy="4224528"/>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041648" y="2093976"/>
            <a:ext cx="3840480" cy="310896"/>
          </a:xfrm>
          <a:prstGeom prst="rect">
            <a:avLst/>
          </a:prstGeom>
          <a:noFill/>
        </p:spPr>
        <p:txBody>
          <a:bodyPr wrap="square" lIns="18288" rIns="18288" tIns="18288" bIns="18288" anchor="t">
            <a:spAutoFit/>
          </a:bodyPr>
          <a:lstStyle/>
          <a:p>
            <a:pPr algn="l">
              <a:spcAft>
                <a:spcPts val="0"/>
              </a:spcAft>
            </a:pPr>
            <a:r>
              <a:rPr sz="1700" b="1" i="0">
                <a:solidFill>
                  <a:srgbClr val="178681"/>
                </a:solidFill>
                <a:latin typeface="Arial"/>
              </a:rPr>
              <a:t>Selected use within each tissue</a:t>
            </a:r>
          </a:p>
        </p:txBody>
      </p:sp>
      <p:pic>
        <p:nvPicPr>
          <p:cNvPr id="22" name="Balanced accuracy before and after tissue-specific synthetic use" descr="Balanced accuracy before and after tissue-specific synthetic use"/>
          <p:cNvPicPr>
            <a:picLocks noChangeAspect="1"/>
          </p:cNvPicPr>
          <p:nvPr/>
        </p:nvPicPr>
        <p:blipFill>
          <a:blip r:embed="rId2"/>
          <a:stretch>
            <a:fillRect/>
          </a:stretch>
        </p:blipFill>
        <p:spPr>
          <a:xfrm>
            <a:off x="4743130" y="2423160"/>
            <a:ext cx="6021963" cy="3383280"/>
          </a:xfrm>
          <a:prstGeom prst="rect">
            <a:avLst/>
          </a:prstGeom>
        </p:spPr>
      </p:pic>
      <p:sp>
        <p:nvSpPr>
          <p:cNvPr id="23" name="TextBox 22"/>
          <p:cNvSpPr txBox="1"/>
          <p:nvPr/>
        </p:nvSpPr>
        <p:spPr>
          <a:xfrm>
            <a:off x="4059936" y="5715000"/>
            <a:ext cx="4114800" cy="246888"/>
          </a:xfrm>
          <a:prstGeom prst="rect">
            <a:avLst/>
          </a:prstGeom>
          <a:noFill/>
        </p:spPr>
        <p:txBody>
          <a:bodyPr wrap="square" lIns="18288" rIns="18288" tIns="18288" bIns="18288" anchor="t">
            <a:spAutoFit/>
          </a:bodyPr>
          <a:lstStyle/>
          <a:p>
            <a:pPr algn="l">
              <a:spcAft>
                <a:spcPts val="0"/>
              </a:spcAft>
            </a:pPr>
            <a:r>
              <a:rPr sz="1250" b="0" i="1">
                <a:solidFill>
                  <a:srgbClr val="59697A"/>
                </a:solidFill>
                <a:latin typeface="Arial"/>
              </a:rPr>
              <a:t>The useful arm differed by tissue.</a:t>
            </a:r>
          </a:p>
        </p:txBody>
      </p:sp>
      <p:sp>
        <p:nvSpPr>
          <p:cNvPr id="24" name="TextBox 23"/>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Development results with held-out profiles from represented accessions; they do not measure transfer to a new mission.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FEATURE ANALYSIS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guidance changed ranking, not statistical evidence</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Promoted and reinforced describe repeated feature selection; both require a supporting effect in real OSDR data.</a:t>
            </a:r>
          </a:p>
        </p:txBody>
      </p:sp>
      <p:sp>
        <p:nvSpPr>
          <p:cNvPr id="7" name="TextBox 6"/>
          <p:cNvSpPr txBox="1"/>
          <p:nvPr/>
        </p:nvSpPr>
        <p:spPr>
          <a:xfrm>
            <a:off x="566928" y="1847088"/>
            <a:ext cx="4443984" cy="310896"/>
          </a:xfrm>
          <a:prstGeom prst="rect">
            <a:avLst/>
          </a:prstGeom>
          <a:noFill/>
        </p:spPr>
        <p:txBody>
          <a:bodyPr wrap="square" lIns="18288" rIns="18288" tIns="18288" bIns="18288" anchor="t">
            <a:spAutoFit/>
          </a:bodyPr>
          <a:lstStyle/>
          <a:p>
            <a:pPr algn="ctr">
              <a:spcAft>
                <a:spcPts val="0"/>
              </a:spcAft>
            </a:pPr>
            <a:r>
              <a:rPr sz="1600" b="1" i="0">
                <a:solidFill>
                  <a:srgbClr val="59697A"/>
                </a:solidFill>
                <a:latin typeface="Arial"/>
              </a:rPr>
              <a:t>Repeated stable selection</a:t>
            </a:r>
          </a:p>
        </p:txBody>
      </p:sp>
      <p:sp>
        <p:nvSpPr>
          <p:cNvPr id="8" name="Oval 7"/>
          <p:cNvSpPr/>
          <p:nvPr/>
        </p:nvSpPr>
        <p:spPr>
          <a:xfrm>
            <a:off x="566928" y="2304288"/>
            <a:ext cx="2743200" cy="2148840"/>
          </a:xfrm>
          <a:prstGeom prst="ellipse">
            <a:avLst/>
          </a:prstGeom>
          <a:noFill/>
          <a:ln w="3048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2267712" y="2304288"/>
            <a:ext cx="2743200" cy="2148840"/>
          </a:xfrm>
          <a:prstGeom prst="ellipse">
            <a:avLst/>
          </a:prstGeom>
          <a:noFill/>
          <a:ln w="3048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224" y="2816352"/>
            <a:ext cx="1609344" cy="265176"/>
          </a:xfrm>
          <a:prstGeom prst="rect">
            <a:avLst/>
          </a:prstGeom>
          <a:noFill/>
        </p:spPr>
        <p:txBody>
          <a:bodyPr wrap="square" lIns="0" rIns="0" tIns="0" bIns="0" anchor="t">
            <a:spAutoFit/>
          </a:bodyPr>
          <a:lstStyle/>
          <a:p>
            <a:pPr algn="ctr">
              <a:spcAft>
                <a:spcPts val="0"/>
              </a:spcAft>
            </a:pPr>
            <a:r>
              <a:rPr sz="1600" b="1" i="0">
                <a:solidFill>
                  <a:srgbClr val="2D6496"/>
                </a:solidFill>
                <a:latin typeface="Arial"/>
              </a:rPr>
              <a:t>Real-only</a:t>
            </a:r>
          </a:p>
        </p:txBody>
      </p:sp>
      <p:sp>
        <p:nvSpPr>
          <p:cNvPr id="11" name="TextBox 10"/>
          <p:cNvSpPr txBox="1"/>
          <p:nvPr/>
        </p:nvSpPr>
        <p:spPr>
          <a:xfrm>
            <a:off x="649224" y="3108960"/>
            <a:ext cx="1609344" cy="265176"/>
          </a:xfrm>
          <a:prstGeom prst="rect">
            <a:avLst/>
          </a:prstGeom>
          <a:noFill/>
        </p:spPr>
        <p:txBody>
          <a:bodyPr wrap="square" lIns="0" rIns="0" tIns="0" bIns="0" anchor="t">
            <a:spAutoFit/>
          </a:bodyPr>
          <a:lstStyle/>
          <a:p>
            <a:pPr algn="ctr">
              <a:spcAft>
                <a:spcPts val="0"/>
              </a:spcAft>
            </a:pPr>
            <a:r>
              <a:rPr sz="1600" b="1" i="0">
                <a:solidFill>
                  <a:srgbClr val="2D6496"/>
                </a:solidFill>
                <a:latin typeface="Arial"/>
              </a:rPr>
              <a:t>ranking</a:t>
            </a:r>
          </a:p>
        </p:txBody>
      </p:sp>
      <p:sp>
        <p:nvSpPr>
          <p:cNvPr id="12" name="TextBox 11"/>
          <p:cNvSpPr txBox="1"/>
          <p:nvPr/>
        </p:nvSpPr>
        <p:spPr>
          <a:xfrm>
            <a:off x="3300984" y="2816352"/>
            <a:ext cx="1719072" cy="265176"/>
          </a:xfrm>
          <a:prstGeom prst="rect">
            <a:avLst/>
          </a:prstGeom>
          <a:noFill/>
        </p:spPr>
        <p:txBody>
          <a:bodyPr wrap="square" lIns="0" rIns="0" tIns="0" bIns="0" anchor="t">
            <a:spAutoFit/>
          </a:bodyPr>
          <a:lstStyle/>
          <a:p>
            <a:pPr algn="ctr">
              <a:spcAft>
                <a:spcPts val="0"/>
              </a:spcAft>
            </a:pPr>
            <a:r>
              <a:rPr sz="1350" b="1" i="0">
                <a:solidFill>
                  <a:srgbClr val="178681"/>
                </a:solidFill>
                <a:latin typeface="Arial"/>
              </a:rPr>
              <a:t>Synthetic-guided</a:t>
            </a:r>
          </a:p>
        </p:txBody>
      </p:sp>
      <p:sp>
        <p:nvSpPr>
          <p:cNvPr id="13" name="TextBox 12"/>
          <p:cNvSpPr txBox="1"/>
          <p:nvPr/>
        </p:nvSpPr>
        <p:spPr>
          <a:xfrm>
            <a:off x="3300984" y="3108960"/>
            <a:ext cx="1719072" cy="265176"/>
          </a:xfrm>
          <a:prstGeom prst="rect">
            <a:avLst/>
          </a:prstGeom>
          <a:noFill/>
        </p:spPr>
        <p:txBody>
          <a:bodyPr wrap="square" lIns="0" rIns="0" tIns="0" bIns="0" anchor="t">
            <a:spAutoFit/>
          </a:bodyPr>
          <a:lstStyle/>
          <a:p>
            <a:pPr algn="ctr">
              <a:spcAft>
                <a:spcPts val="0"/>
              </a:spcAft>
            </a:pPr>
            <a:r>
              <a:rPr sz="1600" b="1" i="0">
                <a:solidFill>
                  <a:srgbClr val="178681"/>
                </a:solidFill>
                <a:latin typeface="Arial"/>
              </a:rPr>
              <a:t>ranking</a:t>
            </a:r>
          </a:p>
        </p:txBody>
      </p:sp>
      <p:sp>
        <p:nvSpPr>
          <p:cNvPr id="14" name="TextBox 13"/>
          <p:cNvSpPr txBox="1"/>
          <p:nvPr/>
        </p:nvSpPr>
        <p:spPr>
          <a:xfrm>
            <a:off x="2304288" y="2999232"/>
            <a:ext cx="969264" cy="219456"/>
          </a:xfrm>
          <a:prstGeom prst="rect">
            <a:avLst/>
          </a:prstGeom>
          <a:noFill/>
        </p:spPr>
        <p:txBody>
          <a:bodyPr wrap="square" lIns="0" rIns="0" tIns="0" bIns="0" anchor="t">
            <a:spAutoFit/>
          </a:bodyPr>
          <a:lstStyle/>
          <a:p>
            <a:pPr algn="ctr">
              <a:spcAft>
                <a:spcPts val="0"/>
              </a:spcAft>
            </a:pPr>
            <a:r>
              <a:rPr sz="1200" b="1" i="0">
                <a:solidFill>
                  <a:srgbClr val="D37B00"/>
                </a:solidFill>
                <a:latin typeface="Arial"/>
              </a:rPr>
              <a:t>23</a:t>
            </a:r>
          </a:p>
        </p:txBody>
      </p:sp>
      <p:sp>
        <p:nvSpPr>
          <p:cNvPr id="15" name="TextBox 14"/>
          <p:cNvSpPr txBox="1"/>
          <p:nvPr/>
        </p:nvSpPr>
        <p:spPr>
          <a:xfrm>
            <a:off x="2304288" y="3236976"/>
            <a:ext cx="969264" cy="219456"/>
          </a:xfrm>
          <a:prstGeom prst="rect">
            <a:avLst/>
          </a:prstGeom>
          <a:noFill/>
        </p:spPr>
        <p:txBody>
          <a:bodyPr wrap="square" lIns="0" rIns="0" tIns="0" bIns="0" anchor="t">
            <a:spAutoFit/>
          </a:bodyPr>
          <a:lstStyle/>
          <a:p>
            <a:pPr algn="ctr">
              <a:spcAft>
                <a:spcPts val="0"/>
              </a:spcAft>
            </a:pPr>
            <a:r>
              <a:rPr sz="1200" b="1" i="0">
                <a:solidFill>
                  <a:srgbClr val="D37B00"/>
                </a:solidFill>
                <a:latin typeface="Arial"/>
              </a:rPr>
              <a:t>reinforced</a:t>
            </a:r>
          </a:p>
        </p:txBody>
      </p:sp>
      <p:sp>
        <p:nvSpPr>
          <p:cNvPr id="16" name="Rounded Rectangle 15"/>
          <p:cNvSpPr/>
          <p:nvPr/>
        </p:nvSpPr>
        <p:spPr>
          <a:xfrm>
            <a:off x="3218688" y="4535424"/>
            <a:ext cx="1700784" cy="713232"/>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46704" y="4626864"/>
            <a:ext cx="1444752" cy="219456"/>
          </a:xfrm>
          <a:prstGeom prst="rect">
            <a:avLst/>
          </a:prstGeom>
          <a:noFill/>
        </p:spPr>
        <p:txBody>
          <a:bodyPr wrap="square" lIns="18288" rIns="18288" tIns="18288" bIns="18288" anchor="t">
            <a:spAutoFit/>
          </a:bodyPr>
          <a:lstStyle/>
          <a:p>
            <a:pPr algn="ctr">
              <a:spcAft>
                <a:spcPts val="0"/>
              </a:spcAft>
            </a:pPr>
            <a:r>
              <a:rPr sz="1350" b="1" i="0">
                <a:solidFill>
                  <a:srgbClr val="178681"/>
                </a:solidFill>
                <a:latin typeface="Arial"/>
              </a:rPr>
              <a:t>26 promoted</a:t>
            </a:r>
          </a:p>
        </p:txBody>
      </p:sp>
      <p:sp>
        <p:nvSpPr>
          <p:cNvPr id="18" name="TextBox 17"/>
          <p:cNvSpPr txBox="1"/>
          <p:nvPr/>
        </p:nvSpPr>
        <p:spPr>
          <a:xfrm>
            <a:off x="3364992" y="4882896"/>
            <a:ext cx="1408176" cy="292608"/>
          </a:xfrm>
          <a:prstGeom prst="rect">
            <a:avLst/>
          </a:prstGeom>
          <a:noFill/>
        </p:spPr>
        <p:txBody>
          <a:bodyPr wrap="square" lIns="18288" rIns="18288" tIns="18288" bIns="18288" anchor="t">
            <a:spAutoFit/>
          </a:bodyPr>
          <a:lstStyle/>
          <a:p>
            <a:pPr algn="ctr">
              <a:spcAft>
                <a:spcPts val="0"/>
              </a:spcAft>
            </a:pPr>
            <a:r>
              <a:rPr sz="950" b="0" i="0">
                <a:solidFill>
                  <a:srgbClr val="59697A"/>
                </a:solidFill>
                <a:latin typeface="Arial"/>
              </a:rPr>
              <a:t>selected only with
synthetic guidance</a:t>
            </a:r>
          </a:p>
        </p:txBody>
      </p:sp>
      <p:sp>
        <p:nvSpPr>
          <p:cNvPr id="19" name="Right Arrow 18"/>
          <p:cNvSpPr/>
          <p:nvPr/>
        </p:nvSpPr>
        <p:spPr>
          <a:xfrm>
            <a:off x="5285232" y="3017520"/>
            <a:ext cx="594360" cy="438912"/>
          </a:xfrm>
          <a:prstGeom prst="rightArrow">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108192" y="2039112"/>
            <a:ext cx="5468112" cy="3355848"/>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9088" y="2304288"/>
            <a:ext cx="4846320" cy="365760"/>
          </a:xfrm>
          <a:prstGeom prst="rect">
            <a:avLst/>
          </a:prstGeom>
          <a:noFill/>
        </p:spPr>
        <p:txBody>
          <a:bodyPr wrap="square" lIns="18288" rIns="18288" tIns="18288" bIns="18288" anchor="t">
            <a:spAutoFit/>
          </a:bodyPr>
          <a:lstStyle/>
          <a:p>
            <a:pPr algn="ctr">
              <a:spcAft>
                <a:spcPts val="0"/>
              </a:spcAft>
            </a:pPr>
            <a:r>
              <a:rPr sz="2000" b="1" i="0">
                <a:solidFill>
                  <a:srgbClr val="2D6496"/>
                </a:solidFill>
                <a:latin typeface="Arial"/>
              </a:rPr>
              <a:t>Real OSDR association test</a:t>
            </a:r>
          </a:p>
        </p:txBody>
      </p:sp>
      <p:sp>
        <p:nvSpPr>
          <p:cNvPr id="22" name="Oval 21"/>
          <p:cNvSpPr/>
          <p:nvPr/>
        </p:nvSpPr>
        <p:spPr>
          <a:xfrm>
            <a:off x="6601968" y="3017520"/>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66559" y="2907792"/>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Estimate FLT vs GC inside each accession</a:t>
            </a:r>
          </a:p>
        </p:txBody>
      </p:sp>
      <p:sp>
        <p:nvSpPr>
          <p:cNvPr id="24" name="Oval 23"/>
          <p:cNvSpPr/>
          <p:nvPr/>
        </p:nvSpPr>
        <p:spPr>
          <a:xfrm>
            <a:off x="6601968" y="3547872"/>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59" y="3438144"/>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Combine accession effects with a random-effects model</a:t>
            </a:r>
          </a:p>
        </p:txBody>
      </p:sp>
      <p:sp>
        <p:nvSpPr>
          <p:cNvPr id="26" name="Oval 25"/>
          <p:cNvSpPr/>
          <p:nvPr/>
        </p:nvSpPr>
        <p:spPr>
          <a:xfrm>
            <a:off x="6601968" y="4078224"/>
            <a:ext cx="91440" cy="91440"/>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66559" y="3968496"/>
            <a:ext cx="4361688" cy="530352"/>
          </a:xfrm>
          <a:prstGeom prst="rect">
            <a:avLst/>
          </a:prstGeom>
          <a:noFill/>
        </p:spPr>
        <p:txBody>
          <a:bodyPr wrap="square" lIns="18288" rIns="18288" tIns="18288" bIns="18288" anchor="ctr">
            <a:spAutoFit/>
          </a:bodyPr>
          <a:lstStyle/>
          <a:p>
            <a:pPr algn="l">
              <a:spcAft>
                <a:spcPts val="0"/>
              </a:spcAft>
            </a:pPr>
            <a:r>
              <a:rPr sz="1500" b="0" i="0">
                <a:solidFill>
                  <a:srgbClr val="263746"/>
                </a:solidFill>
                <a:latin typeface="Arial"/>
              </a:rPr>
              <a:t>Apply BH FDR within each tissue</a:t>
            </a:r>
          </a:p>
        </p:txBody>
      </p:sp>
      <p:sp>
        <p:nvSpPr>
          <p:cNvPr id="28" name="Rounded Rectangle 27"/>
          <p:cNvSpPr/>
          <p:nvPr/>
        </p:nvSpPr>
        <p:spPr>
          <a:xfrm>
            <a:off x="6547104" y="4681728"/>
            <a:ext cx="4572000" cy="475488"/>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11696" y="4764024"/>
            <a:ext cx="4251960" cy="265176"/>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49 synthetic-informed associations</a:t>
            </a:r>
          </a:p>
        </p:txBody>
      </p:sp>
      <p:sp>
        <p:nvSpPr>
          <p:cNvPr id="30" name="Rounded Rectangle 29"/>
          <p:cNvSpPr/>
          <p:nvPr/>
        </p:nvSpPr>
        <p:spPr>
          <a:xfrm>
            <a:off x="475488" y="5650992"/>
            <a:ext cx="11109960" cy="530352"/>
          </a:xfrm>
          <a:prstGeom prst="roundRect">
            <a:avLst/>
          </a:prstGeom>
          <a:solidFill>
            <a:srgbClr val="F7F9FA"/>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 y="5769864"/>
            <a:ext cx="10744200" cy="274320"/>
          </a:xfrm>
          <a:prstGeom prst="rect">
            <a:avLst/>
          </a:prstGeom>
          <a:noFill/>
        </p:spPr>
        <p:txBody>
          <a:bodyPr wrap="square" lIns="18288" rIns="18288" tIns="18288" bIns="18288" anchor="t">
            <a:spAutoFit/>
          </a:bodyPr>
          <a:lstStyle/>
          <a:p>
            <a:pPr algn="ctr">
              <a:spcAft>
                <a:spcPts val="0"/>
              </a:spcAft>
            </a:pPr>
            <a:r>
              <a:rPr sz="1350" b="0" i="0">
                <a:solidFill>
                  <a:srgbClr val="59697A"/>
                </a:solidFill>
                <a:latin typeface="Arial"/>
              </a:rPr>
              <a:t>These are 49 tissue-gene associations among 459 BH-FDR rows. A gene can appear in more than one tissue.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LITERATURE INTERPRETATION</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Annotation separates recovery from hypothesis extension</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label describes the relationship to prior evidence, not whether a gene is biologically plausible.</a:t>
            </a:r>
          </a:p>
        </p:txBody>
      </p:sp>
      <p:sp>
        <p:nvSpPr>
          <p:cNvPr id="7" name="Rounded Rectangle 6"/>
          <p:cNvSpPr/>
          <p:nvPr/>
        </p:nvSpPr>
        <p:spPr>
          <a:xfrm>
            <a:off x="411480" y="1828800"/>
            <a:ext cx="2331720" cy="832104"/>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2D6496"/>
                </a:solidFill>
                <a:latin typeface="Arial"/>
              </a:rPr>
              <a:t>1  Candidate</a:t>
            </a:r>
          </a:p>
        </p:txBody>
      </p:sp>
      <p:sp>
        <p:nvSpPr>
          <p:cNvPr id="9" name="TextBox 8"/>
          <p:cNvSpPr txBox="1"/>
          <p:nvPr/>
        </p:nvSpPr>
        <p:spPr>
          <a:xfrm>
            <a:off x="557784"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Gene + tissue +
FLT direction</a:t>
            </a:r>
          </a:p>
        </p:txBody>
      </p:sp>
      <p:sp>
        <p:nvSpPr>
          <p:cNvPr id="10" name="Right Arrow 9"/>
          <p:cNvSpPr/>
          <p:nvPr/>
        </p:nvSpPr>
        <p:spPr>
          <a:xfrm>
            <a:off x="2852928"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264408" y="1828800"/>
            <a:ext cx="2331720" cy="832104"/>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10712"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178681"/>
                </a:solidFill>
                <a:latin typeface="Arial"/>
              </a:rPr>
              <a:t>2  Search</a:t>
            </a:r>
          </a:p>
        </p:txBody>
      </p:sp>
      <p:sp>
        <p:nvSpPr>
          <p:cNvPr id="13" name="TextBox 12"/>
          <p:cNvSpPr txBox="1"/>
          <p:nvPr/>
        </p:nvSpPr>
        <p:spPr>
          <a:xfrm>
            <a:off x="3410712"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Spaceflight +
mechanism literature</a:t>
            </a:r>
          </a:p>
        </p:txBody>
      </p:sp>
      <p:sp>
        <p:nvSpPr>
          <p:cNvPr id="14" name="Right Arrow 13"/>
          <p:cNvSpPr/>
          <p:nvPr/>
        </p:nvSpPr>
        <p:spPr>
          <a:xfrm>
            <a:off x="5705856"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117336" y="1828800"/>
            <a:ext cx="2331720" cy="832104"/>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D37B00"/>
                </a:solidFill>
                <a:latin typeface="Arial"/>
              </a:rPr>
              <a:t>3  Classify</a:t>
            </a:r>
          </a:p>
        </p:txBody>
      </p:sp>
      <p:sp>
        <p:nvSpPr>
          <p:cNvPr id="17" name="TextBox 16"/>
          <p:cNvSpPr txBox="1"/>
          <p:nvPr/>
        </p:nvSpPr>
        <p:spPr>
          <a:xfrm>
            <a:off x="6263640"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Relation to
published evidence</a:t>
            </a:r>
          </a:p>
        </p:txBody>
      </p:sp>
      <p:sp>
        <p:nvSpPr>
          <p:cNvPr id="18" name="Right Arrow 17"/>
          <p:cNvSpPr/>
          <p:nvPr/>
        </p:nvSpPr>
        <p:spPr>
          <a:xfrm>
            <a:off x="8558784" y="2112264"/>
            <a:ext cx="283464" cy="256032"/>
          </a:xfrm>
          <a:prstGeom prst="rightArrow">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970263" y="1828800"/>
            <a:ext cx="2331720" cy="832104"/>
          </a:xfrm>
          <a:prstGeom prst="roundRect">
            <a:avLst/>
          </a:prstGeom>
          <a:solidFill>
            <a:srgbClr val="F0ECF6"/>
          </a:solidFill>
          <a:ln w="10160">
            <a:solidFill>
              <a:srgbClr val="8063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16567" y="1947672"/>
            <a:ext cx="2029968" cy="228600"/>
          </a:xfrm>
          <a:prstGeom prst="rect">
            <a:avLst/>
          </a:prstGeom>
          <a:noFill/>
        </p:spPr>
        <p:txBody>
          <a:bodyPr wrap="square" lIns="18288" rIns="18288" tIns="18288" bIns="18288" anchor="t">
            <a:spAutoFit/>
          </a:bodyPr>
          <a:lstStyle/>
          <a:p>
            <a:pPr algn="l">
              <a:spcAft>
                <a:spcPts val="0"/>
              </a:spcAft>
            </a:pPr>
            <a:r>
              <a:rPr sz="1350" b="1" i="0">
                <a:solidFill>
                  <a:srgbClr val="8063A6"/>
                </a:solidFill>
                <a:latin typeface="Arial"/>
              </a:rPr>
              <a:t>4  Interpret</a:t>
            </a:r>
          </a:p>
        </p:txBody>
      </p:sp>
      <p:sp>
        <p:nvSpPr>
          <p:cNvPr id="21" name="TextBox 20"/>
          <p:cNvSpPr txBox="1"/>
          <p:nvPr/>
        </p:nvSpPr>
        <p:spPr>
          <a:xfrm>
            <a:off x="9116567" y="2185416"/>
            <a:ext cx="2029968" cy="365760"/>
          </a:xfrm>
          <a:prstGeom prst="rect">
            <a:avLst/>
          </a:prstGeom>
          <a:noFill/>
        </p:spPr>
        <p:txBody>
          <a:bodyPr wrap="square" lIns="18288" rIns="18288" tIns="18288" bIns="18288" anchor="t">
            <a:spAutoFit/>
          </a:bodyPr>
          <a:lstStyle/>
          <a:p>
            <a:pPr algn="l">
              <a:spcAft>
                <a:spcPts val="0"/>
              </a:spcAft>
            </a:pPr>
            <a:r>
              <a:rPr sz="1210" b="0" i="0">
                <a:solidFill>
                  <a:srgbClr val="263746"/>
                </a:solidFill>
                <a:latin typeface="Arial"/>
              </a:rPr>
              <a:t>Recovery, extension,
or unmatched</a:t>
            </a:r>
          </a:p>
        </p:txBody>
      </p:sp>
      <p:sp>
        <p:nvSpPr>
          <p:cNvPr id="22" name="Rounded Rectangle 21"/>
          <p:cNvSpPr/>
          <p:nvPr/>
        </p:nvSpPr>
        <p:spPr>
          <a:xfrm>
            <a:off x="411480" y="2916936"/>
            <a:ext cx="6976872" cy="2980944"/>
          </a:xfrm>
          <a:prstGeom prst="roundRect">
            <a:avLst/>
          </a:prstGeom>
          <a:solidFill>
            <a:srgbClr val="FFFFFF"/>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3136392"/>
            <a:ext cx="6382512" cy="310896"/>
          </a:xfrm>
          <a:prstGeom prst="rect">
            <a:avLst/>
          </a:prstGeom>
          <a:noFill/>
        </p:spPr>
        <p:txBody>
          <a:bodyPr wrap="square" lIns="18288" rIns="18288" tIns="18288" bIns="18288" anchor="t">
            <a:spAutoFit/>
          </a:bodyPr>
          <a:lstStyle/>
          <a:p>
            <a:pPr algn="l">
              <a:spcAft>
                <a:spcPts val="0"/>
              </a:spcAft>
            </a:pPr>
            <a:r>
              <a:rPr sz="1700" b="1" i="0">
                <a:solidFill>
                  <a:srgbClr val="082B55"/>
                </a:solidFill>
                <a:latin typeface="Arial"/>
              </a:rPr>
              <a:t>What the 26 promoted associations showed</a:t>
            </a:r>
          </a:p>
        </p:txBody>
      </p:sp>
      <p:sp>
        <p:nvSpPr>
          <p:cNvPr id="24" name="Oval 23"/>
          <p:cNvSpPr/>
          <p:nvPr/>
        </p:nvSpPr>
        <p:spPr>
          <a:xfrm>
            <a:off x="685800" y="3593592"/>
            <a:ext cx="338328" cy="338328"/>
          </a:xfrm>
          <a:prstGeom prst="ellipse">
            <a:avLst/>
          </a:prstGeom>
          <a:solidFill>
            <a:srgbClr val="478A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639312"/>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11</a:t>
            </a:r>
          </a:p>
        </p:txBody>
      </p:sp>
      <p:sp>
        <p:nvSpPr>
          <p:cNvPr id="26" name="TextBox 25"/>
          <p:cNvSpPr txBox="1"/>
          <p:nvPr/>
        </p:nvSpPr>
        <p:spPr>
          <a:xfrm>
            <a:off x="1188720" y="3575304"/>
            <a:ext cx="1755648" cy="310896"/>
          </a:xfrm>
          <a:prstGeom prst="rect">
            <a:avLst/>
          </a:prstGeom>
          <a:noFill/>
        </p:spPr>
        <p:txBody>
          <a:bodyPr wrap="square" lIns="18288" rIns="18288" tIns="18288" bIns="18288" anchor="ctr">
            <a:spAutoFit/>
          </a:bodyPr>
          <a:lstStyle/>
          <a:p>
            <a:pPr algn="l">
              <a:spcAft>
                <a:spcPts val="0"/>
              </a:spcAft>
            </a:pPr>
            <a:r>
              <a:rPr sz="1420" b="1" i="0">
                <a:solidFill>
                  <a:srgbClr val="478A64"/>
                </a:solidFill>
                <a:latin typeface="Arial"/>
              </a:rPr>
              <a:t>Aligning</a:t>
            </a:r>
          </a:p>
        </p:txBody>
      </p:sp>
      <p:sp>
        <p:nvSpPr>
          <p:cNvPr id="27" name="TextBox 26"/>
          <p:cNvSpPr txBox="1"/>
          <p:nvPr/>
        </p:nvSpPr>
        <p:spPr>
          <a:xfrm>
            <a:off x="2907792" y="3575304"/>
            <a:ext cx="4160520" cy="310896"/>
          </a:xfrm>
          <a:prstGeom prst="rect">
            <a:avLst/>
          </a:prstGeom>
          <a:noFill/>
        </p:spPr>
        <p:txBody>
          <a:bodyPr wrap="square" lIns="18288" rIns="18288" tIns="18288" bIns="18288" anchor="ctr">
            <a:spAutoFit/>
          </a:bodyPr>
          <a:lstStyle/>
          <a:p>
            <a:pPr algn="l">
              <a:spcAft>
                <a:spcPts val="0"/>
              </a:spcAft>
            </a:pPr>
            <a:r>
              <a:rPr sz="1320" b="0" i="0">
                <a:solidFill>
                  <a:srgbClr val="263746"/>
                </a:solidFill>
                <a:latin typeface="Arial"/>
              </a:rPr>
              <a:t>3 exact matches + 8 same-tissue process matches</a:t>
            </a:r>
          </a:p>
        </p:txBody>
      </p:sp>
      <p:sp>
        <p:nvSpPr>
          <p:cNvPr id="28" name="Oval 27"/>
          <p:cNvSpPr/>
          <p:nvPr/>
        </p:nvSpPr>
        <p:spPr>
          <a:xfrm>
            <a:off x="685800" y="4114800"/>
            <a:ext cx="338328" cy="33832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160520"/>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13</a:t>
            </a:r>
          </a:p>
        </p:txBody>
      </p:sp>
      <p:sp>
        <p:nvSpPr>
          <p:cNvPr id="30" name="TextBox 29"/>
          <p:cNvSpPr txBox="1"/>
          <p:nvPr/>
        </p:nvSpPr>
        <p:spPr>
          <a:xfrm>
            <a:off x="1188720" y="4096512"/>
            <a:ext cx="1755648" cy="310896"/>
          </a:xfrm>
          <a:prstGeom prst="rect">
            <a:avLst/>
          </a:prstGeom>
          <a:noFill/>
        </p:spPr>
        <p:txBody>
          <a:bodyPr wrap="square" lIns="18288" rIns="18288" tIns="18288" bIns="18288" anchor="ctr">
            <a:spAutoFit/>
          </a:bodyPr>
          <a:lstStyle/>
          <a:p>
            <a:pPr algn="l">
              <a:spcAft>
                <a:spcPts val="0"/>
              </a:spcAft>
            </a:pPr>
            <a:r>
              <a:rPr sz="1420" b="1" i="0">
                <a:solidFill>
                  <a:srgbClr val="2D6496"/>
                </a:solidFill>
                <a:latin typeface="Arial"/>
              </a:rPr>
              <a:t>Complementary</a:t>
            </a:r>
          </a:p>
        </p:txBody>
      </p:sp>
      <p:sp>
        <p:nvSpPr>
          <p:cNvPr id="31" name="TextBox 30"/>
          <p:cNvSpPr txBox="1"/>
          <p:nvPr/>
        </p:nvSpPr>
        <p:spPr>
          <a:xfrm>
            <a:off x="2907792" y="4096512"/>
            <a:ext cx="4160520" cy="310896"/>
          </a:xfrm>
          <a:prstGeom prst="rect">
            <a:avLst/>
          </a:prstGeom>
          <a:noFill/>
        </p:spPr>
        <p:txBody>
          <a:bodyPr wrap="square" lIns="18288" rIns="18288" tIns="18288" bIns="18288" anchor="ctr">
            <a:spAutoFit/>
          </a:bodyPr>
          <a:lstStyle/>
          <a:p>
            <a:pPr algn="l">
              <a:spcAft>
                <a:spcPts val="0"/>
              </a:spcAft>
            </a:pPr>
            <a:r>
              <a:rPr sz="1320" b="0" i="0">
                <a:solidFill>
                  <a:srgbClr val="263746"/>
                </a:solidFill>
                <a:latin typeface="Arial"/>
              </a:rPr>
              <a:t>Related process or mechanism; not direct replication</a:t>
            </a:r>
          </a:p>
        </p:txBody>
      </p:sp>
      <p:sp>
        <p:nvSpPr>
          <p:cNvPr id="32" name="Oval 31"/>
          <p:cNvSpPr/>
          <p:nvPr/>
        </p:nvSpPr>
        <p:spPr>
          <a:xfrm>
            <a:off x="685800" y="4636007"/>
            <a:ext cx="338328" cy="338328"/>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4681728"/>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1</a:t>
            </a:r>
          </a:p>
        </p:txBody>
      </p:sp>
      <p:sp>
        <p:nvSpPr>
          <p:cNvPr id="34" name="TextBox 33"/>
          <p:cNvSpPr txBox="1"/>
          <p:nvPr/>
        </p:nvSpPr>
        <p:spPr>
          <a:xfrm>
            <a:off x="1188720" y="4617720"/>
            <a:ext cx="1755648" cy="310896"/>
          </a:xfrm>
          <a:prstGeom prst="rect">
            <a:avLst/>
          </a:prstGeom>
          <a:noFill/>
        </p:spPr>
        <p:txBody>
          <a:bodyPr wrap="square" lIns="18288" rIns="18288" tIns="18288" bIns="18288" anchor="ctr">
            <a:spAutoFit/>
          </a:bodyPr>
          <a:lstStyle/>
          <a:p>
            <a:pPr algn="l">
              <a:spcAft>
                <a:spcPts val="0"/>
              </a:spcAft>
            </a:pPr>
            <a:r>
              <a:rPr sz="1420" b="1" i="0">
                <a:solidFill>
                  <a:srgbClr val="D37B00"/>
                </a:solidFill>
                <a:latin typeface="Arial"/>
              </a:rPr>
              <a:t>Ambiguous</a:t>
            </a:r>
          </a:p>
        </p:txBody>
      </p:sp>
      <p:sp>
        <p:nvSpPr>
          <p:cNvPr id="35" name="TextBox 34"/>
          <p:cNvSpPr txBox="1"/>
          <p:nvPr/>
        </p:nvSpPr>
        <p:spPr>
          <a:xfrm>
            <a:off x="2907792" y="4617720"/>
            <a:ext cx="4160520" cy="310896"/>
          </a:xfrm>
          <a:prstGeom prst="rect">
            <a:avLst/>
          </a:prstGeom>
          <a:noFill/>
        </p:spPr>
        <p:txBody>
          <a:bodyPr wrap="square" lIns="18288" rIns="18288" tIns="18288" bIns="18288" anchor="ctr">
            <a:spAutoFit/>
          </a:bodyPr>
          <a:lstStyle/>
          <a:p>
            <a:pPr algn="l">
              <a:spcAft>
                <a:spcPts val="0"/>
              </a:spcAft>
            </a:pPr>
            <a:r>
              <a:rPr sz="1320" b="0" i="0">
                <a:solidFill>
                  <a:srgbClr val="263746"/>
                </a:solidFill>
                <a:latin typeface="Arial"/>
              </a:rPr>
              <a:t>Birc5 differed across mission contexts</a:t>
            </a:r>
          </a:p>
        </p:txBody>
      </p:sp>
      <p:sp>
        <p:nvSpPr>
          <p:cNvPr id="36" name="Oval 35"/>
          <p:cNvSpPr/>
          <p:nvPr/>
        </p:nvSpPr>
        <p:spPr>
          <a:xfrm>
            <a:off x="685800" y="5157216"/>
            <a:ext cx="338328" cy="338328"/>
          </a:xfrm>
          <a:prstGeom prst="ellipse">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85800" y="5202936"/>
            <a:ext cx="338328" cy="201168"/>
          </a:xfrm>
          <a:prstGeom prst="rect">
            <a:avLst/>
          </a:prstGeom>
          <a:noFill/>
        </p:spPr>
        <p:txBody>
          <a:bodyPr wrap="square" lIns="18288" rIns="18288" tIns="18288" bIns="18288" anchor="t">
            <a:spAutoFit/>
          </a:bodyPr>
          <a:lstStyle/>
          <a:p>
            <a:pPr algn="ctr">
              <a:spcAft>
                <a:spcPts val="0"/>
              </a:spcAft>
            </a:pPr>
            <a:r>
              <a:rPr sz="1200" b="1" i="0">
                <a:solidFill>
                  <a:srgbClr val="FFFFFF"/>
                </a:solidFill>
                <a:latin typeface="Arial"/>
              </a:rPr>
              <a:t>1</a:t>
            </a:r>
          </a:p>
        </p:txBody>
      </p:sp>
      <p:sp>
        <p:nvSpPr>
          <p:cNvPr id="38" name="TextBox 37"/>
          <p:cNvSpPr txBox="1"/>
          <p:nvPr/>
        </p:nvSpPr>
        <p:spPr>
          <a:xfrm>
            <a:off x="1188720" y="5138928"/>
            <a:ext cx="1755648" cy="310896"/>
          </a:xfrm>
          <a:prstGeom prst="rect">
            <a:avLst/>
          </a:prstGeom>
          <a:noFill/>
        </p:spPr>
        <p:txBody>
          <a:bodyPr wrap="square" lIns="18288" rIns="18288" tIns="18288" bIns="18288" anchor="ctr">
            <a:spAutoFit/>
          </a:bodyPr>
          <a:lstStyle/>
          <a:p>
            <a:pPr algn="l">
              <a:spcAft>
                <a:spcPts val="0"/>
              </a:spcAft>
            </a:pPr>
            <a:r>
              <a:rPr sz="1420" b="1" i="0">
                <a:solidFill>
                  <a:srgbClr val="8063A6"/>
                </a:solidFill>
                <a:latin typeface="Arial"/>
              </a:rPr>
              <a:t>Literature-unmatched</a:t>
            </a:r>
          </a:p>
        </p:txBody>
      </p:sp>
      <p:sp>
        <p:nvSpPr>
          <p:cNvPr id="39" name="TextBox 38"/>
          <p:cNvSpPr txBox="1"/>
          <p:nvPr/>
        </p:nvSpPr>
        <p:spPr>
          <a:xfrm>
            <a:off x="2907792" y="5138928"/>
            <a:ext cx="4160520" cy="310896"/>
          </a:xfrm>
          <a:prstGeom prst="rect">
            <a:avLst/>
          </a:prstGeom>
          <a:noFill/>
        </p:spPr>
        <p:txBody>
          <a:bodyPr wrap="square" lIns="18288" rIns="18288" tIns="18288" bIns="18288" anchor="ctr">
            <a:spAutoFit/>
          </a:bodyPr>
          <a:lstStyle/>
          <a:p>
            <a:pPr algn="l">
              <a:spcAft>
                <a:spcPts val="0"/>
              </a:spcAft>
            </a:pPr>
            <a:r>
              <a:rPr sz="1320" b="0" i="0">
                <a:solidFill>
                  <a:srgbClr val="263746"/>
                </a:solidFill>
                <a:latin typeface="Arial"/>
              </a:rPr>
              <a:t>Psmb8 remains mechanistically plausible</a:t>
            </a:r>
          </a:p>
        </p:txBody>
      </p:sp>
      <p:sp>
        <p:nvSpPr>
          <p:cNvPr id="40" name="Rounded Rectangle 39"/>
          <p:cNvSpPr/>
          <p:nvPr/>
        </p:nvSpPr>
        <p:spPr>
          <a:xfrm>
            <a:off x="7616952" y="2916936"/>
            <a:ext cx="4151376" cy="2980944"/>
          </a:xfrm>
          <a:prstGeom prst="roundRect">
            <a:avLst/>
          </a:prstGeom>
          <a:solidFill>
            <a:srgbClr val="F8F1E2"/>
          </a:solidFill>
          <a:ln w="10160">
            <a:solidFill>
              <a:srgbClr val="E3CE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900416" y="3136392"/>
            <a:ext cx="3602736" cy="310896"/>
          </a:xfrm>
          <a:prstGeom prst="rect">
            <a:avLst/>
          </a:prstGeom>
          <a:noFill/>
        </p:spPr>
        <p:txBody>
          <a:bodyPr wrap="square" lIns="18288" rIns="18288" tIns="18288" bIns="18288" anchor="t">
            <a:spAutoFit/>
          </a:bodyPr>
          <a:lstStyle/>
          <a:p>
            <a:pPr algn="l">
              <a:spcAft>
                <a:spcPts val="0"/>
              </a:spcAft>
            </a:pPr>
            <a:r>
              <a:rPr sz="1700" b="1" i="0">
                <a:solidFill>
                  <a:srgbClr val="9A6B20"/>
                </a:solidFill>
                <a:latin typeface="Arial"/>
              </a:rPr>
              <a:t>How to read a result</a:t>
            </a:r>
          </a:p>
        </p:txBody>
      </p:sp>
      <p:sp>
        <p:nvSpPr>
          <p:cNvPr id="42" name="Oval 41"/>
          <p:cNvSpPr/>
          <p:nvPr/>
        </p:nvSpPr>
        <p:spPr>
          <a:xfrm>
            <a:off x="7909560" y="3685032"/>
            <a:ext cx="91440" cy="9144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74152" y="3575304"/>
            <a:ext cx="3383279" cy="521207"/>
          </a:xfrm>
          <a:prstGeom prst="rect">
            <a:avLst/>
          </a:prstGeom>
          <a:noFill/>
        </p:spPr>
        <p:txBody>
          <a:bodyPr wrap="square" lIns="18288" rIns="18288" tIns="18288" bIns="18288" anchor="ctr">
            <a:spAutoFit/>
          </a:bodyPr>
          <a:lstStyle/>
          <a:p>
            <a:pPr algn="l">
              <a:spcAft>
                <a:spcPts val="0"/>
              </a:spcAft>
            </a:pPr>
            <a:r>
              <a:rPr sz="1250" b="0" i="0">
                <a:solidFill>
                  <a:srgbClr val="263746"/>
                </a:solidFill>
                <a:latin typeface="Arial"/>
              </a:rPr>
              <a:t>Promoted: synthetic guidance changed stable ranking</a:t>
            </a:r>
          </a:p>
        </p:txBody>
      </p:sp>
      <p:sp>
        <p:nvSpPr>
          <p:cNvPr id="44" name="Oval 43"/>
          <p:cNvSpPr/>
          <p:nvPr/>
        </p:nvSpPr>
        <p:spPr>
          <a:xfrm>
            <a:off x="7909560" y="4206240"/>
            <a:ext cx="91440" cy="9144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74152" y="4096512"/>
            <a:ext cx="3383279" cy="521207"/>
          </a:xfrm>
          <a:prstGeom prst="rect">
            <a:avLst/>
          </a:prstGeom>
          <a:noFill/>
        </p:spPr>
        <p:txBody>
          <a:bodyPr wrap="square" lIns="18288" rIns="18288" tIns="18288" bIns="18288" anchor="ctr">
            <a:spAutoFit/>
          </a:bodyPr>
          <a:lstStyle/>
          <a:p>
            <a:pPr algn="l">
              <a:spcAft>
                <a:spcPts val="0"/>
              </a:spcAft>
            </a:pPr>
            <a:r>
              <a:rPr sz="1250" b="0" i="0">
                <a:solidFill>
                  <a:srgbClr val="263746"/>
                </a:solidFill>
                <a:latin typeface="Arial"/>
              </a:rPr>
              <a:t>BH FDR: the association is present in real OSDR data</a:t>
            </a:r>
          </a:p>
        </p:txBody>
      </p:sp>
      <p:sp>
        <p:nvSpPr>
          <p:cNvPr id="46" name="Oval 45"/>
          <p:cNvSpPr/>
          <p:nvPr/>
        </p:nvSpPr>
        <p:spPr>
          <a:xfrm>
            <a:off x="7909560" y="4727448"/>
            <a:ext cx="91440" cy="9144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74152" y="4617720"/>
            <a:ext cx="3383279" cy="521207"/>
          </a:xfrm>
          <a:prstGeom prst="rect">
            <a:avLst/>
          </a:prstGeom>
          <a:noFill/>
        </p:spPr>
        <p:txBody>
          <a:bodyPr wrap="square" lIns="18288" rIns="18288" tIns="18288" bIns="18288" anchor="ctr">
            <a:spAutoFit/>
          </a:bodyPr>
          <a:lstStyle/>
          <a:p>
            <a:pPr algn="l">
              <a:spcAft>
                <a:spcPts val="0"/>
              </a:spcAft>
            </a:pPr>
            <a:r>
              <a:rPr sz="1250" b="0" i="0">
                <a:solidFill>
                  <a:srgbClr val="263746"/>
                </a:solidFill>
                <a:latin typeface="Arial"/>
              </a:rPr>
              <a:t>Literature class: direct, related, mixed, or unmatched</a:t>
            </a:r>
          </a:p>
        </p:txBody>
      </p:sp>
      <p:sp>
        <p:nvSpPr>
          <p:cNvPr id="48" name="Oval 47"/>
          <p:cNvSpPr/>
          <p:nvPr/>
        </p:nvSpPr>
        <p:spPr>
          <a:xfrm>
            <a:off x="7909560" y="5248656"/>
            <a:ext cx="91440" cy="91440"/>
          </a:xfrm>
          <a:prstGeom prst="ellipse">
            <a:avLst/>
          </a:prstGeom>
          <a:solidFill>
            <a:srgbClr val="9A6B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074152" y="5138928"/>
            <a:ext cx="3383279" cy="521207"/>
          </a:xfrm>
          <a:prstGeom prst="rect">
            <a:avLst/>
          </a:prstGeom>
          <a:noFill/>
        </p:spPr>
        <p:txBody>
          <a:bodyPr wrap="square" lIns="18288" rIns="18288" tIns="18288" bIns="18288" anchor="ctr">
            <a:spAutoFit/>
          </a:bodyPr>
          <a:lstStyle/>
          <a:p>
            <a:pPr algn="l">
              <a:spcAft>
                <a:spcPts val="0"/>
              </a:spcAft>
            </a:pPr>
            <a:r>
              <a:rPr sz="1250" b="0" i="0">
                <a:solidFill>
                  <a:srgbClr val="263746"/>
                </a:solidFill>
                <a:latin typeface="Arial"/>
              </a:rPr>
              <a:t>Interpretation: a testable hypothesis, not independent proof</a:t>
            </a:r>
          </a:p>
        </p:txBody>
      </p:sp>
      <p:sp>
        <p:nvSpPr>
          <p:cNvPr id="50" name="Rounded Rectangle 49"/>
          <p:cNvSpPr/>
          <p:nvPr/>
        </p:nvSpPr>
        <p:spPr>
          <a:xfrm>
            <a:off x="411480" y="6007608"/>
            <a:ext cx="11356848" cy="393192"/>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9224" y="6071616"/>
            <a:ext cx="10881360" cy="228600"/>
          </a:xfrm>
          <a:prstGeom prst="rect">
            <a:avLst/>
          </a:prstGeom>
          <a:noFill/>
        </p:spPr>
        <p:txBody>
          <a:bodyPr wrap="square" lIns="18288" rIns="18288" tIns="18288" bIns="18288" anchor="t">
            <a:spAutoFit/>
          </a:bodyPr>
          <a:lstStyle/>
          <a:p>
            <a:pPr algn="ctr">
              <a:spcAft>
                <a:spcPts val="0"/>
              </a:spcAft>
            </a:pPr>
            <a:r>
              <a:rPr sz="1400" b="1" i="0">
                <a:solidFill>
                  <a:srgbClr val="FFFFFF"/>
                </a:solidFill>
                <a:latin typeface="Arial"/>
              </a:rPr>
              <a:t>11 align and 13 extend prior biology; only 3 are exact gene-tissue-direction matches.</a:t>
            </a:r>
          </a:p>
        </p:txBody>
      </p:sp>
      <p:sp>
        <p:nvSpPr>
          <p:cNvPr id="52" name="TextBox 51"/>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Targeted review completed 2026-08-03; full decisions and 19-source inventory are in Supplementary Tables S16-S17.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THYMUS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Thymus points to lower proliferative renewal</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core panel recovers cell-cycle biology; two flight-higher genes extend the hypothesis.</a:t>
            </a:r>
          </a:p>
        </p:txBody>
      </p:sp>
      <p:pic>
        <p:nvPicPr>
          <p:cNvPr id="7" name="Thymus gene effects and Reactome processes" descr="Thymus gene effects and Reactome processes"/>
          <p:cNvPicPr>
            <a:picLocks noChangeAspect="1"/>
          </p:cNvPicPr>
          <p:nvPr/>
        </p:nvPicPr>
        <p:blipFill>
          <a:blip r:embed="rId2"/>
          <a:stretch>
            <a:fillRect/>
          </a:stretch>
        </p:blipFill>
        <p:spPr>
          <a:xfrm>
            <a:off x="320040" y="1895403"/>
            <a:ext cx="7818120" cy="4109608"/>
          </a:xfrm>
          <a:prstGeom prst="rect">
            <a:avLst/>
          </a:prstGeom>
        </p:spPr>
      </p:pic>
      <p:sp>
        <p:nvSpPr>
          <p:cNvPr id="8" name="Rounded Rectangle 7"/>
          <p:cNvSpPr/>
          <p:nvPr/>
        </p:nvSpPr>
        <p:spPr>
          <a:xfrm>
            <a:off x="8321040" y="1847088"/>
            <a:ext cx="3493008" cy="4178808"/>
          </a:xfrm>
          <a:prstGeom prst="roundRect">
            <a:avLst/>
          </a:prstGeom>
          <a:solidFill>
            <a:srgbClr val="F8ECE9"/>
          </a:solidFill>
          <a:ln w="10160">
            <a:solidFill>
              <a:srgbClr val="E8C9C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22792" y="2139696"/>
            <a:ext cx="1005840" cy="594360"/>
          </a:xfrm>
          <a:prstGeom prst="rect">
            <a:avLst/>
          </a:prstGeom>
          <a:noFill/>
        </p:spPr>
        <p:txBody>
          <a:bodyPr wrap="square" lIns="18288" rIns="18288" tIns="18288" bIns="18288" anchor="t">
            <a:spAutoFit/>
          </a:bodyPr>
          <a:lstStyle/>
          <a:p>
            <a:pPr algn="l">
              <a:spcAft>
                <a:spcPts val="0"/>
              </a:spcAft>
            </a:pPr>
            <a:r>
              <a:rPr sz="3500" b="1" i="0">
                <a:solidFill>
                  <a:srgbClr val="D96552"/>
                </a:solidFill>
                <a:latin typeface="Arial"/>
              </a:rPr>
              <a:t>16</a:t>
            </a:r>
          </a:p>
        </p:txBody>
      </p:sp>
      <p:sp>
        <p:nvSpPr>
          <p:cNvPr id="10" name="TextBox 9"/>
          <p:cNvSpPr txBox="1"/>
          <p:nvPr/>
        </p:nvSpPr>
        <p:spPr>
          <a:xfrm>
            <a:off x="9491472" y="2176272"/>
            <a:ext cx="1938528" cy="566928"/>
          </a:xfrm>
          <a:prstGeom prst="rect">
            <a:avLst/>
          </a:prstGeom>
          <a:noFill/>
        </p:spPr>
        <p:txBody>
          <a:bodyPr wrap="square" lIns="18288" rIns="18288" tIns="18288" bIns="18288" anchor="t">
            <a:spAutoFit/>
          </a:bodyPr>
          <a:lstStyle/>
          <a:p>
            <a:pPr algn="l">
              <a:spcAft>
                <a:spcPts val="0"/>
              </a:spcAft>
            </a:pPr>
            <a:r>
              <a:rPr sz="1400" b="1" i="0">
                <a:solidFill>
                  <a:srgbClr val="263746"/>
                </a:solidFill>
                <a:latin typeface="Arial"/>
              </a:rPr>
              <a:t>synthetic-informed
BH-FDR associations</a:t>
            </a:r>
          </a:p>
        </p:txBody>
      </p:sp>
      <p:sp>
        <p:nvSpPr>
          <p:cNvPr id="11" name="TextBox 10"/>
          <p:cNvSpPr txBox="1"/>
          <p:nvPr/>
        </p:nvSpPr>
        <p:spPr>
          <a:xfrm>
            <a:off x="8631936" y="2862072"/>
            <a:ext cx="2788920" cy="274320"/>
          </a:xfrm>
          <a:prstGeom prst="rect">
            <a:avLst/>
          </a:prstGeom>
          <a:noFill/>
        </p:spPr>
        <p:txBody>
          <a:bodyPr wrap="square" lIns="18288" rIns="18288" tIns="18288" bIns="18288" anchor="t">
            <a:spAutoFit/>
          </a:bodyPr>
          <a:lstStyle/>
          <a:p>
            <a:pPr algn="l">
              <a:spcAft>
                <a:spcPts val="0"/>
              </a:spcAft>
            </a:pPr>
            <a:r>
              <a:rPr sz="1400" b="1" i="0">
                <a:solidFill>
                  <a:srgbClr val="178681"/>
                </a:solidFill>
                <a:latin typeface="Arial"/>
              </a:rPr>
              <a:t>13 promoted | 3 reinforced</a:t>
            </a:r>
          </a:p>
        </p:txBody>
      </p:sp>
      <p:sp>
        <p:nvSpPr>
          <p:cNvPr id="12" name="Oval 11"/>
          <p:cNvSpPr/>
          <p:nvPr/>
        </p:nvSpPr>
        <p:spPr>
          <a:xfrm>
            <a:off x="8631936" y="3337560"/>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96528" y="3227832"/>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Lower Nusap1, Stmn1, Birc5, Cdk1, Top2a and related genes</a:t>
            </a:r>
          </a:p>
        </p:txBody>
      </p:sp>
      <p:sp>
        <p:nvSpPr>
          <p:cNvPr id="14" name="Oval 13"/>
          <p:cNvSpPr/>
          <p:nvPr/>
        </p:nvSpPr>
        <p:spPr>
          <a:xfrm>
            <a:off x="8631936" y="3922776"/>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96528" y="3813048"/>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Cell cycle, DNA replication, APC/C and G2/M processes</a:t>
            </a:r>
          </a:p>
        </p:txBody>
      </p:sp>
      <p:sp>
        <p:nvSpPr>
          <p:cNvPr id="16" name="Oval 15"/>
          <p:cNvSpPr/>
          <p:nvPr/>
        </p:nvSpPr>
        <p:spPr>
          <a:xfrm>
            <a:off x="8631936" y="4507992"/>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96528" y="4398264"/>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Higher Hsd17b11 and Etv1 suggest lipid or T-cell-state shifts</a:t>
            </a:r>
          </a:p>
        </p:txBody>
      </p:sp>
      <p:sp>
        <p:nvSpPr>
          <p:cNvPr id="18" name="Oval 17"/>
          <p:cNvSpPr/>
          <p:nvPr/>
        </p:nvSpPr>
        <p:spPr>
          <a:xfrm>
            <a:off x="8631936" y="5093207"/>
            <a:ext cx="91440" cy="91440"/>
          </a:xfrm>
          <a:prstGeom prst="ellipse">
            <a:avLst/>
          </a:prstGeom>
          <a:solidFill>
            <a:srgbClr val="D965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96528" y="4983479"/>
            <a:ext cx="2606039" cy="585216"/>
          </a:xfrm>
          <a:prstGeom prst="rect">
            <a:avLst/>
          </a:prstGeom>
          <a:noFill/>
        </p:spPr>
        <p:txBody>
          <a:bodyPr wrap="square" lIns="18288" rIns="18288" tIns="18288" bIns="18288" anchor="ctr">
            <a:spAutoFit/>
          </a:bodyPr>
          <a:lstStyle/>
          <a:p>
            <a:pPr algn="l">
              <a:spcAft>
                <a:spcPts val="0"/>
              </a:spcAft>
            </a:pPr>
            <a:r>
              <a:rPr sz="1220" b="0" i="0">
                <a:solidFill>
                  <a:srgbClr val="263746"/>
                </a:solidFill>
                <a:latin typeface="Arial"/>
              </a:rPr>
              <a:t>Bulk RNA-seq cannot separate cell loss from lower transcription</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Context: Gridley et al. (2013), Horie et al. (2019), Keenan et al. (2025), and Shi et al.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SOLEUS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Soleus reinforces a mitochondrial and lipid program</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This result strengthens an existing real-data pattern rather than promoting a new soleus gene.</a:t>
            </a:r>
          </a:p>
        </p:txBody>
      </p:sp>
      <p:pic>
        <p:nvPicPr>
          <p:cNvPr id="7" name="Soleus gene effects and Reactome processes" descr="Soleus gene effects and Reactome processes"/>
          <p:cNvPicPr>
            <a:picLocks noChangeAspect="1"/>
          </p:cNvPicPr>
          <p:nvPr/>
        </p:nvPicPr>
        <p:blipFill>
          <a:blip r:embed="rId2"/>
          <a:stretch>
            <a:fillRect/>
          </a:stretch>
        </p:blipFill>
        <p:spPr>
          <a:xfrm>
            <a:off x="310896" y="1984025"/>
            <a:ext cx="8366760" cy="3914076"/>
          </a:xfrm>
          <a:prstGeom prst="rect">
            <a:avLst/>
          </a:prstGeom>
        </p:spPr>
      </p:pic>
      <p:sp>
        <p:nvSpPr>
          <p:cNvPr id="8" name="Rounded Rectangle 7"/>
          <p:cNvSpPr/>
          <p:nvPr/>
        </p:nvSpPr>
        <p:spPr>
          <a:xfrm>
            <a:off x="8805672" y="1865376"/>
            <a:ext cx="2971800" cy="4133087"/>
          </a:xfrm>
          <a:prstGeom prst="roundRect">
            <a:avLst/>
          </a:prstGeom>
          <a:solidFill>
            <a:srgbClr val="E8F3F1"/>
          </a:solidFill>
          <a:ln w="10160">
            <a:solidFill>
              <a:srgbClr val="C7DD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043416" y="2139696"/>
            <a:ext cx="2487168" cy="384048"/>
          </a:xfrm>
          <a:prstGeom prst="rect">
            <a:avLst/>
          </a:prstGeom>
          <a:noFill/>
        </p:spPr>
        <p:txBody>
          <a:bodyPr wrap="square" lIns="18288" rIns="18288" tIns="18288" bIns="18288" anchor="t">
            <a:spAutoFit/>
          </a:bodyPr>
          <a:lstStyle/>
          <a:p>
            <a:pPr algn="ctr">
              <a:spcAft>
                <a:spcPts val="0"/>
              </a:spcAft>
            </a:pPr>
            <a:r>
              <a:rPr sz="2000" b="1" i="0">
                <a:solidFill>
                  <a:srgbClr val="178681"/>
                </a:solidFill>
                <a:latin typeface="Arial"/>
              </a:rPr>
              <a:t>0.925 -&gt; 0.963</a:t>
            </a:r>
          </a:p>
        </p:txBody>
      </p:sp>
      <p:sp>
        <p:nvSpPr>
          <p:cNvPr id="10" name="TextBox 9"/>
          <p:cNvSpPr txBox="1"/>
          <p:nvPr/>
        </p:nvSpPr>
        <p:spPr>
          <a:xfrm>
            <a:off x="9125712" y="2542032"/>
            <a:ext cx="2331720" cy="256032"/>
          </a:xfrm>
          <a:prstGeom prst="rect">
            <a:avLst/>
          </a:prstGeom>
          <a:noFill/>
        </p:spPr>
        <p:txBody>
          <a:bodyPr wrap="square" lIns="18288" rIns="18288" tIns="18288" bIns="18288" anchor="t">
            <a:spAutoFit/>
          </a:bodyPr>
          <a:lstStyle/>
          <a:p>
            <a:pPr algn="ctr">
              <a:spcAft>
                <a:spcPts val="0"/>
              </a:spcAft>
            </a:pPr>
            <a:r>
              <a:rPr sz="1250" b="0" i="0">
                <a:solidFill>
                  <a:srgbClr val="59697A"/>
                </a:solidFill>
                <a:latin typeface="Arial"/>
              </a:rPr>
              <a:t>balanced accuracy</a:t>
            </a:r>
          </a:p>
        </p:txBody>
      </p:sp>
      <p:sp>
        <p:nvSpPr>
          <p:cNvPr id="11" name="TextBox 10"/>
          <p:cNvSpPr txBox="1"/>
          <p:nvPr/>
        </p:nvSpPr>
        <p:spPr>
          <a:xfrm>
            <a:off x="9025128" y="2990088"/>
            <a:ext cx="2532888" cy="310896"/>
          </a:xfrm>
          <a:prstGeom prst="rect">
            <a:avLst/>
          </a:prstGeom>
          <a:noFill/>
        </p:spPr>
        <p:txBody>
          <a:bodyPr wrap="square" lIns="18288" rIns="18288" tIns="18288" bIns="18288" anchor="t">
            <a:spAutoFit/>
          </a:bodyPr>
          <a:lstStyle/>
          <a:p>
            <a:pPr algn="ctr">
              <a:spcAft>
                <a:spcPts val="0"/>
              </a:spcAft>
            </a:pPr>
            <a:r>
              <a:rPr sz="1500" b="1" i="0">
                <a:solidFill>
                  <a:srgbClr val="082B55"/>
                </a:solidFill>
                <a:latin typeface="Arial"/>
              </a:rPr>
              <a:t>5 reinforced | 0 promoted</a:t>
            </a:r>
          </a:p>
        </p:txBody>
      </p:sp>
      <p:sp>
        <p:nvSpPr>
          <p:cNvPr id="12" name="Oval 11"/>
          <p:cNvSpPr/>
          <p:nvPr/>
        </p:nvSpPr>
        <p:spPr>
          <a:xfrm>
            <a:off x="9089136" y="3566160"/>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53728" y="3456432"/>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Lower Bdh1, Ech1, Bnip3 and Decr1</a:t>
            </a:r>
          </a:p>
        </p:txBody>
      </p:sp>
      <p:sp>
        <p:nvSpPr>
          <p:cNvPr id="14" name="Oval 13"/>
          <p:cNvSpPr/>
          <p:nvPr/>
        </p:nvSpPr>
        <p:spPr>
          <a:xfrm>
            <a:off x="9089136" y="4096511"/>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53728" y="3986783"/>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Higher Tpm1</a:t>
            </a:r>
          </a:p>
        </p:txBody>
      </p:sp>
      <p:sp>
        <p:nvSpPr>
          <p:cNvPr id="16" name="Oval 15"/>
          <p:cNvSpPr/>
          <p:nvPr/>
        </p:nvSpPr>
        <p:spPr>
          <a:xfrm>
            <a:off x="9089136" y="4626864"/>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53728" y="4517136"/>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Mitochondrial turnover and fatty-acid metabolism</a:t>
            </a:r>
          </a:p>
        </p:txBody>
      </p:sp>
      <p:sp>
        <p:nvSpPr>
          <p:cNvPr id="18" name="Oval 17"/>
          <p:cNvSpPr/>
          <p:nvPr/>
        </p:nvSpPr>
        <p:spPr>
          <a:xfrm>
            <a:off x="9089136" y="5157216"/>
            <a:ext cx="91440" cy="91440"/>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53728" y="5047488"/>
            <a:ext cx="2157984" cy="530352"/>
          </a:xfrm>
          <a:prstGeom prst="rect">
            <a:avLst/>
          </a:prstGeom>
          <a:noFill/>
        </p:spPr>
        <p:txBody>
          <a:bodyPr wrap="square" lIns="18288" rIns="18288" tIns="18288" bIns="18288" anchor="ctr">
            <a:spAutoFit/>
          </a:bodyPr>
          <a:lstStyle/>
          <a:p>
            <a:pPr algn="l">
              <a:spcAft>
                <a:spcPts val="0"/>
              </a:spcAft>
            </a:pPr>
            <a:r>
              <a:rPr sz="1280" b="0" i="0">
                <a:solidFill>
                  <a:srgbClr val="263746"/>
                </a:solidFill>
                <a:latin typeface="Arial"/>
              </a:rPr>
              <a:t>Compatible with unloading and contractile remodeling</a:t>
            </a:r>
          </a:p>
        </p:txBody>
      </p:sp>
      <p:sp>
        <p:nvSpPr>
          <p:cNvPr id="20" name="TextBox 19"/>
          <p:cNvSpPr txBox="1"/>
          <p:nvPr/>
        </p:nvSpPr>
        <p:spPr>
          <a:xfrm>
            <a:off x="329184" y="6510528"/>
            <a:ext cx="10972800" cy="173736"/>
          </a:xfrm>
          <a:prstGeom prst="rect">
            <a:avLst/>
          </a:prstGeom>
          <a:noFill/>
        </p:spPr>
        <p:txBody>
          <a:bodyPr wrap="square" lIns="18288" rIns="18288" tIns="18288" bIns="18288" anchor="ctr">
            <a:spAutoFit/>
          </a:bodyPr>
          <a:lstStyle/>
          <a:p>
            <a:pPr algn="l">
              <a:spcAft>
                <a:spcPts val="0"/>
              </a:spcAft>
            </a:pPr>
            <a:r>
              <a:rPr sz="720" b="0" i="0">
                <a:solidFill>
                  <a:srgbClr val="8A969E"/>
                </a:solidFill>
                <a:latin typeface="Arial"/>
              </a:rPr>
              <a:t>Literature context: Gambara et al. (2017) and Stein et al. (2002).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OTHER TISSUES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Kidney adds a focused signal; other tissues are exploratory</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strongest process-level stories were thymus and soleus, but several tissues produced narrower candidates.</a:t>
            </a:r>
          </a:p>
        </p:txBody>
      </p:sp>
      <p:sp>
        <p:nvSpPr>
          <p:cNvPr id="7" name="Rectangle 6"/>
          <p:cNvSpPr/>
          <p:nvPr/>
        </p:nvSpPr>
        <p:spPr>
          <a:xfrm>
            <a:off x="393192" y="1847088"/>
            <a:ext cx="11375136" cy="667512"/>
          </a:xfrm>
          <a:prstGeom prst="rect">
            <a:avLst/>
          </a:prstGeom>
          <a:solidFill>
            <a:srgbClr val="E9F1F7"/>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93192" y="1847088"/>
            <a:ext cx="73152" cy="667512"/>
          </a:xfrm>
          <a:prstGeom prst="rect">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002536"/>
            <a:ext cx="1938528" cy="310896"/>
          </a:xfrm>
          <a:prstGeom prst="rect">
            <a:avLst/>
          </a:prstGeom>
          <a:noFill/>
        </p:spPr>
        <p:txBody>
          <a:bodyPr wrap="square" lIns="18288" rIns="18288" tIns="18288" bIns="18288" anchor="t">
            <a:spAutoFit/>
          </a:bodyPr>
          <a:lstStyle/>
          <a:p>
            <a:pPr algn="l">
              <a:spcAft>
                <a:spcPts val="0"/>
              </a:spcAft>
            </a:pPr>
            <a:r>
              <a:rPr sz="1600" b="1" i="0">
                <a:solidFill>
                  <a:srgbClr val="2D6496"/>
                </a:solidFill>
                <a:latin typeface="Arial"/>
              </a:rPr>
              <a:t>Kidney</a:t>
            </a:r>
          </a:p>
        </p:txBody>
      </p:sp>
      <p:sp>
        <p:nvSpPr>
          <p:cNvPr id="10" name="TextBox 9"/>
          <p:cNvSpPr txBox="1"/>
          <p:nvPr/>
        </p:nvSpPr>
        <p:spPr>
          <a:xfrm>
            <a:off x="2551176" y="1975104"/>
            <a:ext cx="7040880" cy="365760"/>
          </a:xfrm>
          <a:prstGeom prst="rect">
            <a:avLst/>
          </a:prstGeom>
          <a:noFill/>
        </p:spPr>
        <p:txBody>
          <a:bodyPr wrap="square" lIns="18288" rIns="18288" tIns="18288" bIns="18288" anchor="ctr">
            <a:spAutoFit/>
          </a:bodyPr>
          <a:lstStyle/>
          <a:p>
            <a:pPr algn="l">
              <a:spcAft>
                <a:spcPts val="0"/>
              </a:spcAft>
            </a:pPr>
            <a:r>
              <a:rPr sz="1400" b="0" i="0">
                <a:solidFill>
                  <a:srgbClr val="263746"/>
                </a:solidFill>
                <a:latin typeface="Arial"/>
              </a:rPr>
              <a:t>Inpp4b promoted, Slc37a4 reinforced; both higher in flight</a:t>
            </a:r>
          </a:p>
        </p:txBody>
      </p:sp>
      <p:sp>
        <p:nvSpPr>
          <p:cNvPr id="11" name="TextBox 10"/>
          <p:cNvSpPr txBox="1"/>
          <p:nvPr/>
        </p:nvSpPr>
        <p:spPr>
          <a:xfrm>
            <a:off x="9756648" y="1993392"/>
            <a:ext cx="1682496" cy="310896"/>
          </a:xfrm>
          <a:prstGeom prst="rect">
            <a:avLst/>
          </a:prstGeom>
          <a:noFill/>
        </p:spPr>
        <p:txBody>
          <a:bodyPr wrap="square" lIns="18288" rIns="18288" tIns="18288" bIns="18288" anchor="ctr">
            <a:spAutoFit/>
          </a:bodyPr>
          <a:lstStyle/>
          <a:p>
            <a:pPr algn="ctr">
              <a:spcAft>
                <a:spcPts val="0"/>
              </a:spcAft>
            </a:pPr>
            <a:r>
              <a:rPr sz="1250" b="1" i="0">
                <a:solidFill>
                  <a:srgbClr val="2D6496"/>
                </a:solidFill>
                <a:latin typeface="Arial"/>
              </a:rPr>
              <a:t>Focused secondary</a:t>
            </a:r>
          </a:p>
        </p:txBody>
      </p:sp>
      <p:sp>
        <p:nvSpPr>
          <p:cNvPr id="12" name="Rectangle 11"/>
          <p:cNvSpPr/>
          <p:nvPr/>
        </p:nvSpPr>
        <p:spPr>
          <a:xfrm>
            <a:off x="393192" y="2660904"/>
            <a:ext cx="11375136" cy="667512"/>
          </a:xfrm>
          <a:prstGeom prst="rect">
            <a:avLst/>
          </a:prstGeom>
          <a:solidFill>
            <a:srgbClr val="F0ECF6"/>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93192" y="2660904"/>
            <a:ext cx="73152" cy="667512"/>
          </a:xfrm>
          <a:prstGeom prst="rect">
            <a:avLst/>
          </a:prstGeom>
          <a:solidFill>
            <a:srgbClr val="8063A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2816352"/>
            <a:ext cx="1938528" cy="310896"/>
          </a:xfrm>
          <a:prstGeom prst="rect">
            <a:avLst/>
          </a:prstGeom>
          <a:noFill/>
        </p:spPr>
        <p:txBody>
          <a:bodyPr wrap="square" lIns="18288" rIns="18288" tIns="18288" bIns="18288" anchor="t">
            <a:spAutoFit/>
          </a:bodyPr>
          <a:lstStyle/>
          <a:p>
            <a:pPr algn="l">
              <a:spcAft>
                <a:spcPts val="0"/>
              </a:spcAft>
            </a:pPr>
            <a:r>
              <a:rPr sz="1600" b="1" i="0">
                <a:solidFill>
                  <a:srgbClr val="8063A6"/>
                </a:solidFill>
                <a:latin typeface="Arial"/>
              </a:rPr>
              <a:t>Spleen</a:t>
            </a:r>
          </a:p>
        </p:txBody>
      </p:sp>
      <p:sp>
        <p:nvSpPr>
          <p:cNvPr id="15" name="TextBox 14"/>
          <p:cNvSpPr txBox="1"/>
          <p:nvPr/>
        </p:nvSpPr>
        <p:spPr>
          <a:xfrm>
            <a:off x="2551176" y="2788920"/>
            <a:ext cx="7040880" cy="365760"/>
          </a:xfrm>
          <a:prstGeom prst="rect">
            <a:avLst/>
          </a:prstGeom>
          <a:noFill/>
        </p:spPr>
        <p:txBody>
          <a:bodyPr wrap="square" lIns="18288" rIns="18288" tIns="18288" bIns="18288" anchor="ctr">
            <a:spAutoFit/>
          </a:bodyPr>
          <a:lstStyle/>
          <a:p>
            <a:pPr algn="l">
              <a:spcAft>
                <a:spcPts val="0"/>
              </a:spcAft>
            </a:pPr>
            <a:r>
              <a:rPr sz="1400" b="0" i="0">
                <a:solidFill>
                  <a:srgbClr val="263746"/>
                </a:solidFill>
                <a:latin typeface="Arial"/>
              </a:rPr>
              <a:t>Rai14, Ptprk and Myl9 promoted; Loxl1 reinforced; no Reactome enrichment</a:t>
            </a:r>
          </a:p>
        </p:txBody>
      </p:sp>
      <p:sp>
        <p:nvSpPr>
          <p:cNvPr id="16" name="TextBox 15"/>
          <p:cNvSpPr txBox="1"/>
          <p:nvPr/>
        </p:nvSpPr>
        <p:spPr>
          <a:xfrm>
            <a:off x="9756648" y="2807208"/>
            <a:ext cx="1682496" cy="310896"/>
          </a:xfrm>
          <a:prstGeom prst="rect">
            <a:avLst/>
          </a:prstGeom>
          <a:noFill/>
        </p:spPr>
        <p:txBody>
          <a:bodyPr wrap="square" lIns="18288" rIns="18288" tIns="18288" bIns="18288" anchor="ctr">
            <a:spAutoFit/>
          </a:bodyPr>
          <a:lstStyle/>
          <a:p>
            <a:pPr algn="ctr">
              <a:spcAft>
                <a:spcPts val="0"/>
              </a:spcAft>
            </a:pPr>
            <a:r>
              <a:rPr sz="1250" b="1" i="0">
                <a:solidFill>
                  <a:srgbClr val="8063A6"/>
                </a:solidFill>
                <a:latin typeface="Arial"/>
              </a:rPr>
              <a:t>Exploratory</a:t>
            </a:r>
          </a:p>
        </p:txBody>
      </p:sp>
      <p:sp>
        <p:nvSpPr>
          <p:cNvPr id="17" name="Rectangle 16"/>
          <p:cNvSpPr/>
          <p:nvPr/>
        </p:nvSpPr>
        <p:spPr>
          <a:xfrm>
            <a:off x="393192" y="3474720"/>
            <a:ext cx="11375136" cy="667512"/>
          </a:xfrm>
          <a:prstGeom prst="rect">
            <a:avLst/>
          </a:prstGeom>
          <a:solidFill>
            <a:srgbClr val="F8F1E2"/>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93192" y="3474720"/>
            <a:ext cx="73152" cy="667512"/>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3630168"/>
            <a:ext cx="1938528" cy="310896"/>
          </a:xfrm>
          <a:prstGeom prst="rect">
            <a:avLst/>
          </a:prstGeom>
          <a:noFill/>
        </p:spPr>
        <p:txBody>
          <a:bodyPr wrap="square" lIns="18288" rIns="18288" tIns="18288" bIns="18288" anchor="t">
            <a:spAutoFit/>
          </a:bodyPr>
          <a:lstStyle/>
          <a:p>
            <a:pPr algn="l">
              <a:spcAft>
                <a:spcPts val="0"/>
              </a:spcAft>
            </a:pPr>
            <a:r>
              <a:rPr sz="1600" b="1" i="0">
                <a:solidFill>
                  <a:srgbClr val="D37B00"/>
                </a:solidFill>
                <a:latin typeface="Arial"/>
              </a:rPr>
              <a:t>Skin + adrenal</a:t>
            </a:r>
          </a:p>
        </p:txBody>
      </p:sp>
      <p:sp>
        <p:nvSpPr>
          <p:cNvPr id="20" name="TextBox 19"/>
          <p:cNvSpPr txBox="1"/>
          <p:nvPr/>
        </p:nvSpPr>
        <p:spPr>
          <a:xfrm>
            <a:off x="2551176" y="3602736"/>
            <a:ext cx="7040880" cy="365760"/>
          </a:xfrm>
          <a:prstGeom prst="rect">
            <a:avLst/>
          </a:prstGeom>
          <a:noFill/>
        </p:spPr>
        <p:txBody>
          <a:bodyPr wrap="square" lIns="18288" rIns="18288" tIns="18288" bIns="18288" anchor="ctr">
            <a:spAutoFit/>
          </a:bodyPr>
          <a:lstStyle/>
          <a:p>
            <a:pPr algn="l">
              <a:spcAft>
                <a:spcPts val="0"/>
              </a:spcAft>
            </a:pPr>
            <a:r>
              <a:rPr sz="1400" b="0" i="0">
                <a:solidFill>
                  <a:srgbClr val="263746"/>
                </a:solidFill>
                <a:latin typeface="Arial"/>
              </a:rPr>
              <a:t>Plscr1 higher in skin; adrenal Psmb8 is plausible but literature-unmatched</a:t>
            </a:r>
          </a:p>
        </p:txBody>
      </p:sp>
      <p:sp>
        <p:nvSpPr>
          <p:cNvPr id="21" name="TextBox 20"/>
          <p:cNvSpPr txBox="1"/>
          <p:nvPr/>
        </p:nvSpPr>
        <p:spPr>
          <a:xfrm>
            <a:off x="9756648" y="3621024"/>
            <a:ext cx="1682496" cy="310896"/>
          </a:xfrm>
          <a:prstGeom prst="rect">
            <a:avLst/>
          </a:prstGeom>
          <a:noFill/>
        </p:spPr>
        <p:txBody>
          <a:bodyPr wrap="square" lIns="18288" rIns="18288" tIns="18288" bIns="18288" anchor="ctr">
            <a:spAutoFit/>
          </a:bodyPr>
          <a:lstStyle/>
          <a:p>
            <a:pPr algn="ctr">
              <a:spcAft>
                <a:spcPts val="0"/>
              </a:spcAft>
            </a:pPr>
            <a:r>
              <a:rPr sz="1250" b="1" i="0">
                <a:solidFill>
                  <a:srgbClr val="D37B00"/>
                </a:solidFill>
                <a:latin typeface="Arial"/>
              </a:rPr>
              <a:t>Exploratory</a:t>
            </a:r>
          </a:p>
        </p:txBody>
      </p:sp>
      <p:sp>
        <p:nvSpPr>
          <p:cNvPr id="22" name="Rectangle 21"/>
          <p:cNvSpPr/>
          <p:nvPr/>
        </p:nvSpPr>
        <p:spPr>
          <a:xfrm>
            <a:off x="393192" y="4288536"/>
            <a:ext cx="11375136" cy="667512"/>
          </a:xfrm>
          <a:prstGeom prst="rect">
            <a:avLst/>
          </a:prstGeom>
          <a:solidFill>
            <a:srgbClr val="E8F3F1"/>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93192" y="4288536"/>
            <a:ext cx="73152" cy="667512"/>
          </a:xfrm>
          <a:prstGeom prst="rect">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4443983"/>
            <a:ext cx="1938528" cy="310896"/>
          </a:xfrm>
          <a:prstGeom prst="rect">
            <a:avLst/>
          </a:prstGeom>
          <a:noFill/>
        </p:spPr>
        <p:txBody>
          <a:bodyPr wrap="square" lIns="18288" rIns="18288" tIns="18288" bIns="18288" anchor="t">
            <a:spAutoFit/>
          </a:bodyPr>
          <a:lstStyle/>
          <a:p>
            <a:pPr algn="l">
              <a:spcAft>
                <a:spcPts val="0"/>
              </a:spcAft>
            </a:pPr>
            <a:r>
              <a:rPr sz="1600" b="1" i="0">
                <a:solidFill>
                  <a:srgbClr val="178681"/>
                </a:solidFill>
                <a:latin typeface="Arial"/>
              </a:rPr>
              <a:t>Lung + retina</a:t>
            </a:r>
          </a:p>
        </p:txBody>
      </p:sp>
      <p:sp>
        <p:nvSpPr>
          <p:cNvPr id="25" name="TextBox 24"/>
          <p:cNvSpPr txBox="1"/>
          <p:nvPr/>
        </p:nvSpPr>
        <p:spPr>
          <a:xfrm>
            <a:off x="2551176" y="4416551"/>
            <a:ext cx="7040880" cy="365760"/>
          </a:xfrm>
          <a:prstGeom prst="rect">
            <a:avLst/>
          </a:prstGeom>
          <a:noFill/>
        </p:spPr>
        <p:txBody>
          <a:bodyPr wrap="square" lIns="18288" rIns="18288" tIns="18288" bIns="18288" anchor="ctr">
            <a:spAutoFit/>
          </a:bodyPr>
          <a:lstStyle/>
          <a:p>
            <a:pPr algn="l">
              <a:spcAft>
                <a:spcPts val="0"/>
              </a:spcAft>
            </a:pPr>
            <a:r>
              <a:rPr sz="1400" b="0" i="0">
                <a:solidFill>
                  <a:srgbClr val="263746"/>
                </a:solidFill>
                <a:latin typeface="Arial"/>
              </a:rPr>
              <a:t>Predictive gains without a synthetic-informed BH-FDR gene</a:t>
            </a:r>
          </a:p>
        </p:txBody>
      </p:sp>
      <p:sp>
        <p:nvSpPr>
          <p:cNvPr id="26" name="TextBox 25"/>
          <p:cNvSpPr txBox="1"/>
          <p:nvPr/>
        </p:nvSpPr>
        <p:spPr>
          <a:xfrm>
            <a:off x="9756648" y="4434840"/>
            <a:ext cx="1682496" cy="310896"/>
          </a:xfrm>
          <a:prstGeom prst="rect">
            <a:avLst/>
          </a:prstGeom>
          <a:noFill/>
        </p:spPr>
        <p:txBody>
          <a:bodyPr wrap="square" lIns="18288" rIns="18288" tIns="18288" bIns="18288" anchor="ctr">
            <a:spAutoFit/>
          </a:bodyPr>
          <a:lstStyle/>
          <a:p>
            <a:pPr algn="ctr">
              <a:spcAft>
                <a:spcPts val="0"/>
              </a:spcAft>
            </a:pPr>
            <a:r>
              <a:rPr sz="1250" b="1" i="0">
                <a:solidFill>
                  <a:srgbClr val="178681"/>
                </a:solidFill>
                <a:latin typeface="Arial"/>
              </a:rPr>
              <a:t>Prediction only</a:t>
            </a:r>
          </a:p>
        </p:txBody>
      </p:sp>
      <p:sp>
        <p:nvSpPr>
          <p:cNvPr id="27" name="Rectangle 26"/>
          <p:cNvSpPr/>
          <p:nvPr/>
        </p:nvSpPr>
        <p:spPr>
          <a:xfrm>
            <a:off x="393192" y="5102352"/>
            <a:ext cx="11375136" cy="667512"/>
          </a:xfrm>
          <a:prstGeom prst="rect">
            <a:avLst/>
          </a:prstGeom>
          <a:solidFill>
            <a:srgbClr val="F2F4F5"/>
          </a:solidFill>
          <a:ln w="10160">
            <a:solidFill>
              <a:srgbClr val="DDE4E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93192" y="5102352"/>
            <a:ext cx="73152" cy="667512"/>
          </a:xfrm>
          <a:prstGeom prst="rect">
            <a:avLst/>
          </a:prstGeom>
          <a:solidFill>
            <a:srgbClr val="8A96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5257800"/>
            <a:ext cx="1938528" cy="310896"/>
          </a:xfrm>
          <a:prstGeom prst="rect">
            <a:avLst/>
          </a:prstGeom>
          <a:noFill/>
        </p:spPr>
        <p:txBody>
          <a:bodyPr wrap="square" lIns="18288" rIns="18288" tIns="18288" bIns="18288" anchor="t">
            <a:spAutoFit/>
          </a:bodyPr>
          <a:lstStyle/>
          <a:p>
            <a:pPr algn="l">
              <a:spcAft>
                <a:spcPts val="0"/>
              </a:spcAft>
            </a:pPr>
            <a:r>
              <a:rPr sz="1600" b="1" i="0">
                <a:solidFill>
                  <a:srgbClr val="8A969E"/>
                </a:solidFill>
                <a:latin typeface="Arial"/>
              </a:rPr>
              <a:t>Liver + EDL + quadriceps</a:t>
            </a:r>
          </a:p>
        </p:txBody>
      </p:sp>
      <p:sp>
        <p:nvSpPr>
          <p:cNvPr id="30" name="TextBox 29"/>
          <p:cNvSpPr txBox="1"/>
          <p:nvPr/>
        </p:nvSpPr>
        <p:spPr>
          <a:xfrm>
            <a:off x="2551176" y="5230368"/>
            <a:ext cx="7040880" cy="365760"/>
          </a:xfrm>
          <a:prstGeom prst="rect">
            <a:avLst/>
          </a:prstGeom>
          <a:noFill/>
        </p:spPr>
        <p:txBody>
          <a:bodyPr wrap="square" lIns="18288" rIns="18288" tIns="18288" bIns="18288" anchor="ctr">
            <a:spAutoFit/>
          </a:bodyPr>
          <a:lstStyle/>
          <a:p>
            <a:pPr algn="l">
              <a:spcAft>
                <a:spcPts val="0"/>
              </a:spcAft>
            </a:pPr>
            <a:r>
              <a:rPr sz="1400" b="0" i="0">
                <a:solidFill>
                  <a:srgbClr val="263746"/>
                </a:solidFill>
                <a:latin typeface="Arial"/>
              </a:rPr>
              <a:t>Real-only arm retained</a:t>
            </a:r>
          </a:p>
        </p:txBody>
      </p:sp>
      <p:sp>
        <p:nvSpPr>
          <p:cNvPr id="31" name="TextBox 30"/>
          <p:cNvSpPr txBox="1"/>
          <p:nvPr/>
        </p:nvSpPr>
        <p:spPr>
          <a:xfrm>
            <a:off x="9756648" y="5248656"/>
            <a:ext cx="1682496" cy="310896"/>
          </a:xfrm>
          <a:prstGeom prst="rect">
            <a:avLst/>
          </a:prstGeom>
          <a:noFill/>
        </p:spPr>
        <p:txBody>
          <a:bodyPr wrap="square" lIns="18288" rIns="18288" tIns="18288" bIns="18288" anchor="ctr">
            <a:spAutoFit/>
          </a:bodyPr>
          <a:lstStyle/>
          <a:p>
            <a:pPr algn="ctr">
              <a:spcAft>
                <a:spcPts val="0"/>
              </a:spcAft>
            </a:pPr>
            <a:r>
              <a:rPr sz="1250" b="1" i="0">
                <a:solidFill>
                  <a:srgbClr val="8A969E"/>
                </a:solidFill>
                <a:latin typeface="Arial"/>
              </a:rPr>
              <a:t>No synthetic claim</a:t>
            </a:r>
          </a:p>
        </p:txBody>
      </p:sp>
      <p:sp>
        <p:nvSpPr>
          <p:cNvPr id="32" name="TextBox 31"/>
          <p:cNvSpPr txBox="1"/>
          <p:nvPr/>
        </p:nvSpPr>
        <p:spPr>
          <a:xfrm>
            <a:off x="685800" y="6035040"/>
            <a:ext cx="10789920" cy="301752"/>
          </a:xfrm>
          <a:prstGeom prst="rect">
            <a:avLst/>
          </a:prstGeom>
          <a:noFill/>
        </p:spPr>
        <p:txBody>
          <a:bodyPr wrap="square" lIns="18288" rIns="18288" tIns="18288" bIns="18288" anchor="t">
            <a:spAutoFit/>
          </a:bodyPr>
          <a:lstStyle/>
          <a:p>
            <a:pPr algn="ctr">
              <a:spcAft>
                <a:spcPts val="0"/>
              </a:spcAft>
            </a:pPr>
            <a:r>
              <a:rPr sz="1400" b="0" i="1">
                <a:solidFill>
                  <a:srgbClr val="59697A"/>
                </a:solidFill>
                <a:latin typeface="Arial"/>
              </a:rPr>
              <a:t>A plausible mechanism is not independent validation; these candidates still require targeted experiments.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TextBox 3"/>
          <p:cNvSpPr txBox="1"/>
          <p:nvPr/>
        </p:nvSpPr>
        <p:spPr>
          <a:xfrm>
            <a:off x="292608" y="530352"/>
            <a:ext cx="5029200" cy="228600"/>
          </a:xfrm>
          <a:prstGeom prst="rect">
            <a:avLst/>
          </a:prstGeom>
          <a:noFill/>
        </p:spPr>
        <p:txBody>
          <a:bodyPr wrap="square" lIns="18288" rIns="18288" tIns="18288" bIns="18288" anchor="t">
            <a:spAutoFit/>
          </a:bodyPr>
          <a:lstStyle/>
          <a:p>
            <a:pPr algn="l">
              <a:spcAft>
                <a:spcPts val="0"/>
              </a:spcAft>
            </a:pPr>
            <a:r>
              <a:rPr sz="1050" b="1" i="0">
                <a:solidFill>
                  <a:srgbClr val="9A6B20"/>
                </a:solidFill>
                <a:latin typeface="Arial"/>
              </a:rPr>
              <a:t>TAKEAWAYS</a:t>
            </a:r>
          </a:p>
        </p:txBody>
      </p:sp>
      <p:sp>
        <p:nvSpPr>
          <p:cNvPr id="5" name="TextBox 4"/>
          <p:cNvSpPr txBox="1"/>
          <p:nvPr/>
        </p:nvSpPr>
        <p:spPr>
          <a:xfrm>
            <a:off x="292608" y="786384"/>
            <a:ext cx="11430000" cy="585216"/>
          </a:xfrm>
          <a:prstGeom prst="rect">
            <a:avLst/>
          </a:prstGeom>
          <a:noFill/>
        </p:spPr>
        <p:txBody>
          <a:bodyPr wrap="square" lIns="18288" rIns="18288" tIns="18288" bIns="18288" anchor="ctr">
            <a:spAutoFit/>
          </a:bodyPr>
          <a:lstStyle/>
          <a:p>
            <a:pPr algn="l">
              <a:spcAft>
                <a:spcPts val="0"/>
              </a:spcAft>
            </a:pPr>
            <a:r>
              <a:rPr sz="2700" b="1" i="0">
                <a:solidFill>
                  <a:srgbClr val="082B55"/>
                </a:solidFill>
                <a:latin typeface="Arial"/>
              </a:rPr>
              <a:t>Synthetic data helped most as a tissue-specific prior</a:t>
            </a:r>
          </a:p>
        </p:txBody>
      </p:sp>
      <p:sp>
        <p:nvSpPr>
          <p:cNvPr id="6" name="TextBox 5"/>
          <p:cNvSpPr txBox="1"/>
          <p:nvPr/>
        </p:nvSpPr>
        <p:spPr>
          <a:xfrm>
            <a:off x="310896" y="1353312"/>
            <a:ext cx="11247120" cy="310896"/>
          </a:xfrm>
          <a:prstGeom prst="rect">
            <a:avLst/>
          </a:prstGeom>
          <a:noFill/>
        </p:spPr>
        <p:txBody>
          <a:bodyPr wrap="square" lIns="18288" rIns="18288" tIns="18288" bIns="18288" anchor="ctr">
            <a:spAutoFit/>
          </a:bodyPr>
          <a:lstStyle/>
          <a:p>
            <a:pPr algn="l">
              <a:spcAft>
                <a:spcPts val="0"/>
              </a:spcAft>
            </a:pPr>
            <a:r>
              <a:rPr sz="1450" b="0" i="0">
                <a:solidFill>
                  <a:srgbClr val="59697A"/>
                </a:solidFill>
                <a:latin typeface="Arial"/>
              </a:rPr>
              <a:t>The generator created useful structure, not new biological replication.</a:t>
            </a:r>
          </a:p>
        </p:txBody>
      </p:sp>
      <p:sp>
        <p:nvSpPr>
          <p:cNvPr id="7" name="Rounded Rectangle 6"/>
          <p:cNvSpPr/>
          <p:nvPr/>
        </p:nvSpPr>
        <p:spPr>
          <a:xfrm>
            <a:off x="384048" y="1920240"/>
            <a:ext cx="3419856" cy="2487168"/>
          </a:xfrm>
          <a:prstGeom prst="roundRect">
            <a:avLst/>
          </a:prstGeom>
          <a:solidFill>
            <a:srgbClr val="E9F1F7"/>
          </a:solidFill>
          <a:ln w="10160">
            <a:solidFill>
              <a:srgbClr val="2D649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21792" y="2167128"/>
            <a:ext cx="475488" cy="475488"/>
          </a:xfrm>
          <a:prstGeom prst="ellipse">
            <a:avLst/>
          </a:prstGeom>
          <a:solidFill>
            <a:srgbClr val="2D649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1</a:t>
            </a:r>
          </a:p>
        </p:txBody>
      </p:sp>
      <p:sp>
        <p:nvSpPr>
          <p:cNvPr id="10" name="TextBox 9"/>
          <p:cNvSpPr txBox="1"/>
          <p:nvPr/>
        </p:nvSpPr>
        <p:spPr>
          <a:xfrm>
            <a:off x="1216152"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2D6496"/>
                </a:solidFill>
                <a:latin typeface="Arial"/>
              </a:rPr>
              <a:t>Generate</a:t>
            </a:r>
          </a:p>
        </p:txBody>
      </p:sp>
      <p:sp>
        <p:nvSpPr>
          <p:cNvPr id="11" name="TextBox 10"/>
          <p:cNvSpPr txBox="1"/>
          <p:nvPr/>
        </p:nvSpPr>
        <p:spPr>
          <a:xfrm>
            <a:off x="640080"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Conditional DDIM produced high-fidelity profiles with near-chance real-versus-synthetic separation.</a:t>
            </a:r>
          </a:p>
        </p:txBody>
      </p:sp>
      <p:sp>
        <p:nvSpPr>
          <p:cNvPr id="12" name="Rounded Rectangle 11"/>
          <p:cNvSpPr/>
          <p:nvPr/>
        </p:nvSpPr>
        <p:spPr>
          <a:xfrm>
            <a:off x="4059936" y="1920240"/>
            <a:ext cx="3419856" cy="2487168"/>
          </a:xfrm>
          <a:prstGeom prst="roundRect">
            <a:avLst/>
          </a:prstGeom>
          <a:solidFill>
            <a:srgbClr val="E8F3F1"/>
          </a:solidFill>
          <a:ln w="10160">
            <a:solidFill>
              <a:srgbClr val="1786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297680" y="2167128"/>
            <a:ext cx="475488" cy="475488"/>
          </a:xfrm>
          <a:prstGeom prst="ellipse">
            <a:avLst/>
          </a:prstGeom>
          <a:solidFill>
            <a:srgbClr val="1786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2</a:t>
            </a:r>
          </a:p>
        </p:txBody>
      </p:sp>
      <p:sp>
        <p:nvSpPr>
          <p:cNvPr id="15" name="TextBox 14"/>
          <p:cNvSpPr txBox="1"/>
          <p:nvPr/>
        </p:nvSpPr>
        <p:spPr>
          <a:xfrm>
            <a:off x="4892040"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178681"/>
                </a:solidFill>
                <a:latin typeface="Arial"/>
              </a:rPr>
              <a:t>Use</a:t>
            </a:r>
          </a:p>
        </p:txBody>
      </p:sp>
      <p:sp>
        <p:nvSpPr>
          <p:cNvPr id="16" name="TextBox 15"/>
          <p:cNvSpPr txBox="1"/>
          <p:nvPr/>
        </p:nvSpPr>
        <p:spPr>
          <a:xfrm>
            <a:off x="4315968"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Pooled augmentation failed. Tissue-specific ranking and low-weight training were more useful.</a:t>
            </a:r>
          </a:p>
        </p:txBody>
      </p:sp>
      <p:sp>
        <p:nvSpPr>
          <p:cNvPr id="17" name="Rounded Rectangle 16"/>
          <p:cNvSpPr/>
          <p:nvPr/>
        </p:nvSpPr>
        <p:spPr>
          <a:xfrm>
            <a:off x="7735824" y="1920240"/>
            <a:ext cx="3419856" cy="2487168"/>
          </a:xfrm>
          <a:prstGeom prst="roundRect">
            <a:avLst/>
          </a:prstGeom>
          <a:solidFill>
            <a:srgbClr val="F8F1E2"/>
          </a:solidFill>
          <a:ln w="10160">
            <a:solidFill>
              <a:srgbClr val="D37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973568" y="2167128"/>
            <a:ext cx="475488" cy="475488"/>
          </a:xfrm>
          <a:prstGeom prst="ellipse">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73568" y="2221992"/>
            <a:ext cx="475488" cy="274320"/>
          </a:xfrm>
          <a:prstGeom prst="rect">
            <a:avLst/>
          </a:prstGeom>
          <a:noFill/>
        </p:spPr>
        <p:txBody>
          <a:bodyPr wrap="square" lIns="18288" rIns="18288" tIns="18288" bIns="18288" anchor="t">
            <a:spAutoFit/>
          </a:bodyPr>
          <a:lstStyle/>
          <a:p>
            <a:pPr algn="ctr">
              <a:spcAft>
                <a:spcPts val="0"/>
              </a:spcAft>
            </a:pPr>
            <a:r>
              <a:rPr sz="1600" b="1" i="0">
                <a:solidFill>
                  <a:srgbClr val="FFFFFF"/>
                </a:solidFill>
                <a:latin typeface="Arial"/>
              </a:rPr>
              <a:t>3</a:t>
            </a:r>
          </a:p>
        </p:txBody>
      </p:sp>
      <p:sp>
        <p:nvSpPr>
          <p:cNvPr id="20" name="TextBox 19"/>
          <p:cNvSpPr txBox="1"/>
          <p:nvPr/>
        </p:nvSpPr>
        <p:spPr>
          <a:xfrm>
            <a:off x="8567928" y="2176272"/>
            <a:ext cx="2240280" cy="329184"/>
          </a:xfrm>
          <a:prstGeom prst="rect">
            <a:avLst/>
          </a:prstGeom>
          <a:noFill/>
        </p:spPr>
        <p:txBody>
          <a:bodyPr wrap="square" lIns="18288" rIns="18288" tIns="18288" bIns="18288" anchor="t">
            <a:spAutoFit/>
          </a:bodyPr>
          <a:lstStyle/>
          <a:p>
            <a:pPr algn="l">
              <a:spcAft>
                <a:spcPts val="0"/>
              </a:spcAft>
            </a:pPr>
            <a:r>
              <a:rPr sz="1900" b="1" i="0">
                <a:solidFill>
                  <a:srgbClr val="D37B00"/>
                </a:solidFill>
                <a:latin typeface="Arial"/>
              </a:rPr>
              <a:t>Interpret</a:t>
            </a:r>
          </a:p>
        </p:txBody>
      </p:sp>
      <p:sp>
        <p:nvSpPr>
          <p:cNvPr id="21" name="TextBox 20"/>
          <p:cNvSpPr txBox="1"/>
          <p:nvPr/>
        </p:nvSpPr>
        <p:spPr>
          <a:xfrm>
            <a:off x="7991856" y="2816352"/>
            <a:ext cx="2880360" cy="1216152"/>
          </a:xfrm>
          <a:prstGeom prst="rect">
            <a:avLst/>
          </a:prstGeom>
          <a:noFill/>
        </p:spPr>
        <p:txBody>
          <a:bodyPr wrap="square" lIns="18288" rIns="18288" tIns="18288" bIns="18288" anchor="t">
            <a:spAutoFit/>
          </a:bodyPr>
          <a:lstStyle/>
          <a:p>
            <a:pPr algn="l">
              <a:spcAft>
                <a:spcPts val="0"/>
              </a:spcAft>
            </a:pPr>
            <a:r>
              <a:rPr sz="1500" b="0" i="0">
                <a:solidFill>
                  <a:srgbClr val="263746"/>
                </a:solidFill>
                <a:latin typeface="Arial"/>
              </a:rPr>
              <a:t>Thymus and soleus were clearest. Literature review separated recovery from complementary hypotheses.</a:t>
            </a:r>
          </a:p>
        </p:txBody>
      </p:sp>
      <p:sp>
        <p:nvSpPr>
          <p:cNvPr id="22" name="Rounded Rectangle 21"/>
          <p:cNvSpPr/>
          <p:nvPr/>
        </p:nvSpPr>
        <p:spPr>
          <a:xfrm>
            <a:off x="384048" y="4709160"/>
            <a:ext cx="10972800" cy="1188720"/>
          </a:xfrm>
          <a:prstGeom prst="roundRect">
            <a:avLst/>
          </a:prstGeom>
          <a:solidFill>
            <a:srgbClr val="082B55"/>
          </a:solidFill>
          <a:ln w="10160">
            <a:solidFill>
              <a:srgbClr val="082B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10912"/>
            <a:ext cx="1261872" cy="310896"/>
          </a:xfrm>
          <a:prstGeom prst="rect">
            <a:avLst/>
          </a:prstGeom>
          <a:noFill/>
        </p:spPr>
        <p:txBody>
          <a:bodyPr wrap="square" lIns="18288" rIns="18288" tIns="18288" bIns="18288" anchor="t">
            <a:spAutoFit/>
          </a:bodyPr>
          <a:lstStyle/>
          <a:p>
            <a:pPr algn="l">
              <a:spcAft>
                <a:spcPts val="0"/>
              </a:spcAft>
            </a:pPr>
            <a:r>
              <a:rPr sz="1700" b="1" i="0">
                <a:solidFill>
                  <a:srgbClr val="FFD69A"/>
                </a:solidFill>
                <a:latin typeface="Arial"/>
              </a:rPr>
              <a:t>Next test</a:t>
            </a:r>
          </a:p>
        </p:txBody>
      </p:sp>
      <p:sp>
        <p:nvSpPr>
          <p:cNvPr id="24" name="TextBox 23"/>
          <p:cNvSpPr txBox="1"/>
          <p:nvPr/>
        </p:nvSpPr>
        <p:spPr>
          <a:xfrm>
            <a:off x="1874519" y="4937760"/>
            <a:ext cx="9070848" cy="530352"/>
          </a:xfrm>
          <a:prstGeom prst="rect">
            <a:avLst/>
          </a:prstGeom>
          <a:noFill/>
        </p:spPr>
        <p:txBody>
          <a:bodyPr wrap="square" lIns="18288" rIns="18288" tIns="18288" bIns="18288" anchor="ctr">
            <a:spAutoFit/>
          </a:bodyPr>
          <a:lstStyle/>
          <a:p>
            <a:pPr algn="l">
              <a:spcAft>
                <a:spcPts val="0"/>
              </a:spcAft>
            </a:pPr>
            <a:r>
              <a:rPr sz="1600" b="0" i="0">
                <a:solidFill>
                  <a:srgbClr val="FFFFFF"/>
                </a:solidFill>
                <a:latin typeface="Arial"/>
              </a:rPr>
              <a:t>Use independent samples and cell-resolved assays to test thymus proliferation, soleus metabolism, kidney signaling and adrenal Psmb8.</a:t>
            </a:r>
          </a:p>
        </p:txBody>
      </p:sp>
      <p:sp>
        <p:nvSpPr>
          <p:cNvPr id="25" name="TextBox 24"/>
          <p:cNvSpPr txBox="1"/>
          <p:nvPr/>
        </p:nvSpPr>
        <p:spPr>
          <a:xfrm>
            <a:off x="1874519" y="5532120"/>
            <a:ext cx="9070848" cy="256032"/>
          </a:xfrm>
          <a:prstGeom prst="rect">
            <a:avLst/>
          </a:prstGeom>
          <a:noFill/>
        </p:spPr>
        <p:txBody>
          <a:bodyPr wrap="square" lIns="18288" rIns="18288" tIns="18288" bIns="18288" anchor="t">
            <a:spAutoFit/>
          </a:bodyPr>
          <a:lstStyle/>
          <a:p>
            <a:pPr algn="l">
              <a:spcAft>
                <a:spcPts val="0"/>
              </a:spcAft>
            </a:pPr>
            <a:r>
              <a:rPr sz="1250" b="0" i="0">
                <a:solidFill>
                  <a:srgbClr val="BFD0E1"/>
                </a:solidFill>
                <a:latin typeface="Arial"/>
              </a:rPr>
              <a:t>Generated profiles never enter the biological sample count or the BH-FDR test.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Content Placeholder 2"/>
          <p:cNvSpPr>
            <a:spLocks noGrp="1"/>
          </p:cNvSpPr>
          <p:nvPr>
            <p:ph idx="1"/>
          </p:nvPr>
        </p:nvSpPr>
        <p:spPr/>
        <p:txBody>
          <a:bodyPr/>
          <a:lstStyle/>
          <a:p/>
        </p:txBody>
      </p:sp>
      <p:sp>
        <p:nvSpPr>
          <p:cNvPr id="4" name="Rectangle 3"/>
          <p:cNvSpPr/>
          <p:nvPr/>
        </p:nvSpPr>
        <p:spPr>
          <a:xfrm>
            <a:off x="0" y="347472"/>
            <a:ext cx="12191999" cy="6510528"/>
          </a:xfrm>
          <a:prstGeom prst="rect">
            <a:avLst/>
          </a:prstGeom>
          <a:solidFill>
            <a:srgbClr val="08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115568"/>
            <a:ext cx="4937760" cy="731520"/>
          </a:xfrm>
          <a:prstGeom prst="rect">
            <a:avLst/>
          </a:prstGeom>
          <a:noFill/>
        </p:spPr>
        <p:txBody>
          <a:bodyPr wrap="square" lIns="18288" rIns="18288" tIns="18288" bIns="18288" anchor="t">
            <a:spAutoFit/>
          </a:bodyPr>
          <a:lstStyle/>
          <a:p>
            <a:pPr algn="l">
              <a:spcAft>
                <a:spcPts val="0"/>
              </a:spcAft>
            </a:pPr>
            <a:r>
              <a:rPr sz="3400" b="1" i="0">
                <a:solidFill>
                  <a:srgbClr val="FFFFFF"/>
                </a:solidFill>
                <a:latin typeface="Arial"/>
              </a:rPr>
              <a:t>Thank you</a:t>
            </a:r>
          </a:p>
        </p:txBody>
      </p:sp>
      <p:sp>
        <p:nvSpPr>
          <p:cNvPr id="6" name="TextBox 5"/>
          <p:cNvSpPr txBox="1"/>
          <p:nvPr/>
        </p:nvSpPr>
        <p:spPr>
          <a:xfrm>
            <a:off x="612648" y="1920240"/>
            <a:ext cx="3657600" cy="411480"/>
          </a:xfrm>
          <a:prstGeom prst="rect">
            <a:avLst/>
          </a:prstGeom>
          <a:noFill/>
        </p:spPr>
        <p:txBody>
          <a:bodyPr wrap="square" lIns="18288" rIns="18288" tIns="18288" bIns="18288" anchor="t">
            <a:spAutoFit/>
          </a:bodyPr>
          <a:lstStyle/>
          <a:p>
            <a:pPr algn="l">
              <a:spcAft>
                <a:spcPts val="0"/>
              </a:spcAft>
            </a:pPr>
            <a:r>
              <a:rPr sz="2100" b="0" i="0">
                <a:solidFill>
                  <a:srgbClr val="BFD0E1"/>
                </a:solidFill>
                <a:latin typeface="Arial"/>
              </a:rPr>
              <a:t>Questions?</a:t>
            </a:r>
          </a:p>
        </p:txBody>
      </p:sp>
      <p:sp>
        <p:nvSpPr>
          <p:cNvPr id="7" name="Rectangle 6"/>
          <p:cNvSpPr/>
          <p:nvPr/>
        </p:nvSpPr>
        <p:spPr>
          <a:xfrm>
            <a:off x="621792" y="2596896"/>
            <a:ext cx="2743200" cy="45720"/>
          </a:xfrm>
          <a:prstGeom prst="rect">
            <a:avLst/>
          </a:prstGeom>
          <a:solidFill>
            <a:srgbClr val="D37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2935224"/>
            <a:ext cx="2743200" cy="320040"/>
          </a:xfrm>
          <a:prstGeom prst="rect">
            <a:avLst/>
          </a:prstGeom>
          <a:noFill/>
        </p:spPr>
        <p:txBody>
          <a:bodyPr wrap="square" lIns="18288" rIns="18288" tIns="18288" bIns="18288" anchor="t">
            <a:spAutoFit/>
          </a:bodyPr>
          <a:lstStyle/>
          <a:p>
            <a:pPr algn="l">
              <a:spcAft>
                <a:spcPts val="0"/>
              </a:spcAft>
            </a:pPr>
            <a:r>
              <a:rPr sz="1800" b="1" i="0">
                <a:solidFill>
                  <a:srgbClr val="FFFFFF"/>
                </a:solidFill>
                <a:latin typeface="Arial"/>
              </a:rPr>
              <a:t>Jason Trinh</a:t>
            </a:r>
          </a:p>
        </p:txBody>
      </p:sp>
      <p:sp>
        <p:nvSpPr>
          <p:cNvPr id="9" name="TextBox 8"/>
          <p:cNvSpPr txBox="1"/>
          <p:nvPr/>
        </p:nvSpPr>
        <p:spPr>
          <a:xfrm>
            <a:off x="621792" y="3319272"/>
            <a:ext cx="3200400" cy="274320"/>
          </a:xfrm>
          <a:prstGeom prst="rect">
            <a:avLst/>
          </a:prstGeom>
          <a:noFill/>
        </p:spPr>
        <p:txBody>
          <a:bodyPr wrap="square" lIns="18288" rIns="18288" tIns="18288" bIns="18288" anchor="t">
            <a:spAutoFit/>
          </a:bodyPr>
          <a:lstStyle/>
          <a:p>
            <a:pPr algn="l">
              <a:spcAft>
                <a:spcPts val="0"/>
              </a:spcAft>
            </a:pPr>
            <a:r>
              <a:rPr sz="1400" b="0" i="0">
                <a:solidFill>
                  <a:srgbClr val="BFD0E1"/>
                </a:solidFill>
                <a:latin typeface="Arial"/>
              </a:rPr>
              <a:t>jasontrinh@berkeley.edu</a:t>
            </a:r>
          </a:p>
        </p:txBody>
      </p:sp>
      <p:sp>
        <p:nvSpPr>
          <p:cNvPr id="10" name="TextBox 9"/>
          <p:cNvSpPr txBox="1"/>
          <p:nvPr/>
        </p:nvSpPr>
        <p:spPr>
          <a:xfrm>
            <a:off x="5504688" y="13533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Mentor</a:t>
            </a:r>
          </a:p>
        </p:txBody>
      </p:sp>
      <p:sp>
        <p:nvSpPr>
          <p:cNvPr id="11" name="TextBox 10"/>
          <p:cNvSpPr txBox="1"/>
          <p:nvPr/>
        </p:nvSpPr>
        <p:spPr>
          <a:xfrm>
            <a:off x="6793992" y="1325880"/>
            <a:ext cx="4160520" cy="310896"/>
          </a:xfrm>
          <a:prstGeom prst="rect">
            <a:avLst/>
          </a:prstGeom>
          <a:noFill/>
        </p:spPr>
        <p:txBody>
          <a:bodyPr wrap="square" lIns="18288" rIns="18288" tIns="18288" bIns="18288" anchor="t">
            <a:spAutoFit/>
          </a:bodyPr>
          <a:lstStyle/>
          <a:p>
            <a:pPr algn="l">
              <a:spcAft>
                <a:spcPts val="0"/>
              </a:spcAft>
            </a:pPr>
            <a:r>
              <a:rPr sz="1700" b="1" i="0">
                <a:solidFill>
                  <a:srgbClr val="FFFFFF"/>
                </a:solidFill>
                <a:latin typeface="Arial"/>
              </a:rPr>
              <a:t>James Casaletto</a:t>
            </a:r>
          </a:p>
        </p:txBody>
      </p:sp>
      <p:sp>
        <p:nvSpPr>
          <p:cNvPr id="12" name="TextBox 11"/>
          <p:cNvSpPr txBox="1"/>
          <p:nvPr/>
        </p:nvSpPr>
        <p:spPr>
          <a:xfrm>
            <a:off x="5504688" y="1975104"/>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Program</a:t>
            </a:r>
          </a:p>
        </p:txBody>
      </p:sp>
      <p:sp>
        <p:nvSpPr>
          <p:cNvPr id="13" name="TextBox 12"/>
          <p:cNvSpPr txBox="1"/>
          <p:nvPr/>
        </p:nvSpPr>
        <p:spPr>
          <a:xfrm>
            <a:off x="6793992" y="1947672"/>
            <a:ext cx="4407408" cy="475488"/>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Space Life Sciences Training Program</a:t>
            </a:r>
          </a:p>
        </p:txBody>
      </p:sp>
      <p:sp>
        <p:nvSpPr>
          <p:cNvPr id="14" name="TextBox 13"/>
          <p:cNvSpPr txBox="1"/>
          <p:nvPr/>
        </p:nvSpPr>
        <p:spPr>
          <a:xfrm>
            <a:off x="5504688" y="2779776"/>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Data</a:t>
            </a:r>
          </a:p>
        </p:txBody>
      </p:sp>
      <p:sp>
        <p:nvSpPr>
          <p:cNvPr id="15" name="TextBox 14"/>
          <p:cNvSpPr txBox="1"/>
          <p:nvPr/>
        </p:nvSpPr>
        <p:spPr>
          <a:xfrm>
            <a:off x="6793992" y="2752344"/>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OSDR | ARCHS4 | Reactome</a:t>
            </a:r>
          </a:p>
        </p:txBody>
      </p:sp>
      <p:sp>
        <p:nvSpPr>
          <p:cNvPr id="16" name="TextBox 15"/>
          <p:cNvSpPr txBox="1"/>
          <p:nvPr/>
        </p:nvSpPr>
        <p:spPr>
          <a:xfrm>
            <a:off x="5504688" y="3410712"/>
            <a:ext cx="1188720" cy="246888"/>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Compute</a:t>
            </a:r>
          </a:p>
        </p:txBody>
      </p:sp>
      <p:sp>
        <p:nvSpPr>
          <p:cNvPr id="17" name="TextBox 16"/>
          <p:cNvSpPr txBox="1"/>
          <p:nvPr/>
        </p:nvSpPr>
        <p:spPr>
          <a:xfrm>
            <a:off x="6793992" y="338328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NASA Ames Research Center</a:t>
            </a:r>
          </a:p>
        </p:txBody>
      </p:sp>
      <p:sp>
        <p:nvSpPr>
          <p:cNvPr id="18" name="TextBox 17"/>
          <p:cNvSpPr txBox="1"/>
          <p:nvPr/>
        </p:nvSpPr>
        <p:spPr>
          <a:xfrm>
            <a:off x="5504688" y="4041648"/>
            <a:ext cx="1188720" cy="365760"/>
          </a:xfrm>
          <a:prstGeom prst="rect">
            <a:avLst/>
          </a:prstGeom>
          <a:noFill/>
        </p:spPr>
        <p:txBody>
          <a:bodyPr wrap="square" lIns="18288" rIns="18288" tIns="18288" bIns="18288" anchor="t">
            <a:spAutoFit/>
          </a:bodyPr>
          <a:lstStyle/>
          <a:p>
            <a:pPr algn="l">
              <a:spcAft>
                <a:spcPts val="0"/>
              </a:spcAft>
            </a:pPr>
            <a:r>
              <a:rPr sz="1100" b="1" i="0">
                <a:solidFill>
                  <a:srgbClr val="7FA0BC"/>
                </a:solidFill>
                <a:latin typeface="Arial"/>
              </a:rPr>
              <a:t>Code and manuscript</a:t>
            </a:r>
          </a:p>
        </p:txBody>
      </p:sp>
      <p:sp>
        <p:nvSpPr>
          <p:cNvPr id="19" name="TextBox 18"/>
          <p:cNvSpPr txBox="1"/>
          <p:nvPr/>
        </p:nvSpPr>
        <p:spPr>
          <a:xfrm>
            <a:off x="6793992" y="4023360"/>
            <a:ext cx="4160520" cy="310896"/>
          </a:xfrm>
          <a:prstGeom prst="rect">
            <a:avLst/>
          </a:prstGeom>
          <a:noFill/>
        </p:spPr>
        <p:txBody>
          <a:bodyPr wrap="square" lIns="18288" rIns="18288" tIns="18288" bIns="18288" anchor="t">
            <a:spAutoFit/>
          </a:bodyPr>
          <a:lstStyle/>
          <a:p>
            <a:pPr algn="l">
              <a:spcAft>
                <a:spcPts val="0"/>
              </a:spcAft>
            </a:pPr>
            <a:r>
              <a:rPr sz="1500" b="0" i="0">
                <a:solidFill>
                  <a:srgbClr val="FFFFFF"/>
                </a:solidFill>
                <a:latin typeface="Arial"/>
              </a:rPr>
              <a:t>github.com/jasont314/nasa-mouse</a:t>
            </a:r>
          </a:p>
        </p:txBody>
      </p:sp>
      <p:sp>
        <p:nvSpPr>
          <p:cNvPr id="20" name="TextBox 19"/>
          <p:cNvSpPr txBox="1"/>
          <p:nvPr/>
        </p:nvSpPr>
        <p:spPr>
          <a:xfrm>
            <a:off x="5504688" y="5029200"/>
            <a:ext cx="5486400" cy="365760"/>
          </a:xfrm>
          <a:prstGeom prst="rect">
            <a:avLst/>
          </a:prstGeom>
          <a:noFill/>
        </p:spPr>
        <p:txBody>
          <a:bodyPr wrap="square" lIns="18288" rIns="18288" tIns="18288" bIns="18288" anchor="t">
            <a:spAutoFit/>
          </a:bodyPr>
          <a:lstStyle/>
          <a:p>
            <a:pPr algn="l">
              <a:spcAft>
                <a:spcPts val="0"/>
              </a:spcAft>
            </a:pPr>
            <a:r>
              <a:rPr sz="1350" b="0" i="1">
                <a:solidFill>
                  <a:srgbClr val="BFD0E1"/>
                </a:solidFill>
                <a:latin typeface="Arial"/>
              </a:rPr>
              <a:t>All biological associations were tested in observed OSDR profiles.</a:t>
            </a:r>
          </a:p>
        </p:txBody>
      </p:sp>
    </p:spTree>
  </p:cSld>
  <p:clrMapOvr>
    <a:masterClrMapping/>
  </p:clrMapOvr>
</p:sld>
</file>

<file path=ppt/theme/theme1.xml><?xml version="1.0" encoding="utf-8"?>
<a:theme xmlns:a="http://schemas.openxmlformats.org/drawingml/2006/main" name="1_Office Theme">
  <a:themeElements>
    <a:clrScheme name="BPS_2024_gold">
      <a:dk1>
        <a:srgbClr val="061F49"/>
      </a:dk1>
      <a:lt1>
        <a:srgbClr val="FFFFFF"/>
      </a:lt1>
      <a:dk2>
        <a:srgbClr val="061F49"/>
      </a:dk2>
      <a:lt2>
        <a:srgbClr val="E7E6E6"/>
      </a:lt2>
      <a:accent1>
        <a:srgbClr val="061F48"/>
      </a:accent1>
      <a:accent2>
        <a:srgbClr val="276644"/>
      </a:accent2>
      <a:accent3>
        <a:srgbClr val="D47800"/>
      </a:accent3>
      <a:accent4>
        <a:srgbClr val="D4BF88"/>
      </a:accent4>
      <a:accent5>
        <a:srgbClr val="8F6725"/>
      </a:accent5>
      <a:accent6>
        <a:srgbClr val="205391"/>
      </a:accent6>
      <a:hlink>
        <a:srgbClr val="205391"/>
      </a:hlink>
      <a:folHlink>
        <a:srgbClr val="0B3C91"/>
      </a:folHlink>
    </a:clrScheme>
    <a:fontScheme name="Arial Black-Arial">
      <a:majorFont>
        <a:latin typeface="Arial Black" panose="020B0A04020102020204"/>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4-01-24_BPS_PPT_Template" id="{F69818ED-1EB5-154C-9646-61EECBC32C17}" vid="{337BE73D-1FC8-8444-A6A2-B6928143BD4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haredWithUsers xmlns="43f8f0fe-7515-424d-86d7-0a337e4aa03f">
      <UserInfo>
        <DisplayName>Mangan, Keara L. (HQ-DP000)[BOOZ ALLEN &amp; HAMILTON INC]</DisplayName>
        <AccountId>13</AccountId>
        <AccountType/>
      </UserInfo>
      <UserInfo>
        <DisplayName>Gilbertson, Gamble (HQ-DP000)[EAST2]</DisplayName>
        <AccountId>15</AccountId>
        <AccountType/>
      </UserInfo>
      <UserInfo>
        <DisplayName>Lee, Jemie (HQ-DP000)[BOOZ ALLEN &amp; HAMILTON INC]</DisplayName>
        <AccountId>14</AccountId>
        <AccountType/>
      </UserInfo>
      <UserInfo>
        <DisplayName>White Lyons, Melanie M. (HQ-DP000)[BOOZ ALLEN &amp; HAMILTON INC]</DisplayName>
        <AccountId>12</AccountId>
        <AccountType/>
      </UserInfo>
      <UserInfo>
        <DisplayName>Lele, Julie (HQ-DM000)[BOOZ ALLEN &amp; HAMILTON INC]</DisplayName>
        <AccountId>10</AccountId>
        <AccountType/>
      </UserInfo>
      <UserInfo>
        <DisplayName>Burg, Joseph A. (HQ-DP000)[BOOZ ALLEN &amp; HAMILTON INC]</DisplayName>
        <AccountId>119</AccountId>
        <AccountType/>
      </UserInfo>
      <UserInfo>
        <DisplayName>Carnell, Lisa (HQ-DP000)</DisplayName>
        <AccountId>21</AccountId>
        <AccountType/>
      </UserInfo>
      <UserInfo>
        <DisplayName>Hertz, Paul (HQ-DA000)</DisplayName>
        <AccountId>100</AccountId>
        <AccountType/>
      </UserInfo>
      <UserInfo>
        <DisplayName>Fauntleroy, Haley (HQ-DP000)[BOOZ ALLEN &amp; HAMILTON INC]</DisplayName>
        <AccountId>22</AccountId>
        <AccountType/>
      </UserInfo>
      <UserInfo>
        <DisplayName>Cubberley, Hannah (HQ-DP000)[BOOZ ALLEN &amp; HAMILTON INC]</DisplayName>
        <AccountId>28</AccountId>
        <AccountType/>
      </UserInfo>
      <UserInfo>
        <DisplayName>Galazka, Jonathan M. (ARC-SC)</DisplayName>
        <AccountId>182</AccountId>
        <AccountType/>
      </UserInfo>
      <UserInfo>
        <DisplayName>Massa, Gioia D. (KSC-UBA00)</DisplayName>
        <AccountId>183</AccountId>
        <AccountType/>
      </UserInfo>
      <UserInfo>
        <DisplayName>Callas, John L (JPL-7500)[JPL Employee]</DisplayName>
        <AccountId>58</AccountId>
        <AccountType/>
      </UserInfo>
    </SharedWithUsers>
    <lcf76f155ced4ddcb4097134ff3c332f xmlns="6527ccf2-24c5-4a86-be07-80241091aeab">
      <Terms xmlns="http://schemas.microsoft.com/office/infopath/2007/PartnerControls"/>
    </lcf76f155ced4ddcb4097134ff3c332f>
    <TaxCatchAll xmlns="d900e117-17a0-4b24-9e47-511ef1d02c4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19211DFDB3DA3845BD556C40032E64D0" ma:contentTypeVersion="16" ma:contentTypeDescription="Create a new document." ma:contentTypeScope="" ma:versionID="6fb8bd780a822da7d8e3d3891ea50a85">
  <xsd:schema xmlns:xsd="http://www.w3.org/2001/XMLSchema" xmlns:xs="http://www.w3.org/2001/XMLSchema" xmlns:p="http://schemas.microsoft.com/office/2006/metadata/properties" xmlns:ns2="6527ccf2-24c5-4a86-be07-80241091aeab" xmlns:ns3="43f8f0fe-7515-424d-86d7-0a337e4aa03f" xmlns:ns4="d900e117-17a0-4b24-9e47-511ef1d02c43" targetNamespace="http://schemas.microsoft.com/office/2006/metadata/properties" ma:root="true" ma:fieldsID="cb6437ea38db5bccedba4b312cc29faa" ns2:_="" ns3:_="" ns4:_="">
    <xsd:import namespace="6527ccf2-24c5-4a86-be07-80241091aeab"/>
    <xsd:import namespace="43f8f0fe-7515-424d-86d7-0a337e4aa03f"/>
    <xsd:import namespace="d900e117-17a0-4b24-9e47-511ef1d02c4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GenerationTime" minOccurs="0"/>
                <xsd:element ref="ns2:MediaServiceEventHashCode" minOccurs="0"/>
                <xsd:element ref="ns2:MediaServiceOCR" minOccurs="0"/>
                <xsd:element ref="ns2:MediaServiceLocation" minOccurs="0"/>
                <xsd:element ref="ns3:SharedWithUsers" minOccurs="0"/>
                <xsd:element ref="ns3:SharedWithDetails" minOccurs="0"/>
                <xsd:element ref="ns2:lcf76f155ced4ddcb4097134ff3c332f" minOccurs="0"/>
                <xsd:element ref="ns4:TaxCatchAll" minOccurs="0"/>
                <xsd:element ref="ns2:MediaLengthInSecond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527ccf2-24c5-4a86-be07-80241091aea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Location" ma:index="14" nillable="true" ma:displayName="Location" ma:internalName="MediaServiceLocatio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0fb68aea-d2ee-4a6c-85e6-e4b5686e96e8" ma:termSetId="09814cd3-568e-fe90-9814-8d621ff8fb84" ma:anchorId="fba54fb3-c3e1-fe81-a776-ca4b69148c4d" ma:open="true" ma:isKeyword="false">
      <xsd:complexType>
        <xsd:sequence>
          <xsd:element ref="pc:Terms" minOccurs="0" maxOccurs="1"/>
        </xsd:sequence>
      </xsd:complexType>
    </xsd:element>
    <xsd:element name="MediaLengthInSeconds" ma:index="20" nillable="true" ma:displayName="MediaLengthInSeconds" ma:hidden="true" ma:internalName="MediaLengthInSeconds" ma:readOnly="true">
      <xsd:simpleType>
        <xsd:restriction base="dms:Unknown"/>
      </xsd:simple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3f8f0fe-7515-424d-86d7-0a337e4aa03f" elementFormDefault="qualified">
    <xsd:import namespace="http://schemas.microsoft.com/office/2006/documentManagement/types"/>
    <xsd:import namespace="http://schemas.microsoft.com/office/infopath/2007/PartnerControls"/>
    <xsd:element name="SharedWithUsers" ma:index="15"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d900e117-17a0-4b24-9e47-511ef1d02c43"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dea376dd-3888-4ec2-aac9-035288c88b0b}" ma:internalName="TaxCatchAll" ma:showField="CatchAllData" ma:web="43f8f0fe-7515-424d-86d7-0a337e4aa03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462A2FE-7911-4E6A-8BD5-16877A182B2F}">
  <ds:schemaRefs>
    <ds:schemaRef ds:uri="http://schemas.openxmlformats.org/package/2006/metadata/core-properties"/>
    <ds:schemaRef ds:uri="a3f7648c-ef34-4383-9913-3e4132c38d7f"/>
    <ds:schemaRef ds:uri="http://schemas.microsoft.com/office/infopath/2007/PartnerControls"/>
    <ds:schemaRef ds:uri="http://purl.org/dc/dcmitype/"/>
    <ds:schemaRef ds:uri="http://schemas.microsoft.com/office/2006/documentManagement/types"/>
    <ds:schemaRef ds:uri="http://purl.org/dc/elements/1.1/"/>
    <ds:schemaRef ds:uri="http://schemas.microsoft.com/office/2006/metadata/properties"/>
    <ds:schemaRef ds:uri="http://www.w3.org/XML/1998/namespace"/>
    <ds:schemaRef ds:uri="http://purl.org/dc/terms/"/>
    <ds:schemaRef ds:uri="c852713b-0caa-4ac0-ba75-048f00e27b76"/>
    <ds:schemaRef ds:uri="43f8f0fe-7515-424d-86d7-0a337e4aa03f"/>
    <ds:schemaRef ds:uri="6527ccf2-24c5-4a86-be07-80241091aeab"/>
    <ds:schemaRef ds:uri="d900e117-17a0-4b24-9e47-511ef1d02c43"/>
  </ds:schemaRefs>
</ds:datastoreItem>
</file>

<file path=customXml/itemProps2.xml><?xml version="1.0" encoding="utf-8"?>
<ds:datastoreItem xmlns:ds="http://schemas.openxmlformats.org/officeDocument/2006/customXml" ds:itemID="{2FDDDE26-D355-44FB-AB9E-19995162FF7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527ccf2-24c5-4a86-be07-80241091aeab"/>
    <ds:schemaRef ds:uri="43f8f0fe-7515-424d-86d7-0a337e4aa03f"/>
    <ds:schemaRef ds:uri="d900e117-17a0-4b24-9e47-511ef1d02c4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06B03FA-AE60-4B79-AD46-B79CDABDEAE0}">
  <ds:schemaRefs>
    <ds:schemaRef ds:uri="http://schemas.microsoft.com/sharepoint/v3/contenttype/forms"/>
  </ds:schemaRefs>
</ds:datastoreItem>
</file>

<file path=docMetadata/LabelInfo.xml><?xml version="1.0" encoding="utf-8"?>
<clbl:labelList xmlns:clbl="http://schemas.microsoft.com/office/2020/mipLabelMetadata">
  <clbl:label id="{7005d458-45be-48ae-8140-d43da96dd17b}" enabled="0" method="" siteId="{7005d458-45be-48ae-8140-d43da96dd17b}" removed="1"/>
</clbl:labelList>
</file>

<file path=docProps/app.xml><?xml version="1.0" encoding="utf-8"?>
<Properties xmlns="http://schemas.openxmlformats.org/officeDocument/2006/extended-properties" xmlns:vt="http://schemas.openxmlformats.org/officeDocument/2006/docPropsVTypes">
  <Template>2024-01-29_BPS_PPT_Template</Template>
  <TotalTime>5180</TotalTime>
  <Words>15</Words>
  <Application>Microsoft Office PowerPoint</Application>
  <PresentationFormat>Widescreen</PresentationFormat>
  <Paragraphs>6</Paragraphs>
  <Slides>2</Slides>
  <Notes>0</Notes>
  <HiddenSlides>0</HiddenSlides>
  <MMClips>0</MMClips>
  <ScaleCrop>false</ScaleCrop>
  <HeadingPairs>
    <vt:vector size="4" baseType="variant">
      <vt:variant>
        <vt:lpstr>Theme</vt:lpstr>
      </vt:variant>
      <vt:variant>
        <vt:i4>1</vt:i4>
      </vt:variant>
      <vt:variant>
        <vt:lpstr>Slide Titles</vt:lpstr>
      </vt:variant>
      <vt:variant>
        <vt:i4>2</vt:i4>
      </vt:variant>
    </vt:vector>
  </HeadingPairs>
  <TitlesOfParts>
    <vt:vector size="3" baseType="lpstr">
      <vt:lpstr>1_Office Theme</vt:lpstr>
      <vt:lpstr>PowerPoint Presentation</vt:lpstr>
      <vt:lpstr>PowerPoint Presentation</vt:lpstr>
    </vt:vector>
  </TitlesOfParts>
  <Company>NASA OCIO</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Lele, Julie (HQ-DM000)[BOOZ ALLEN &amp; HAMILTON INC]</dc:creator>
  <cp:lastModifiedBy>Keller, Elizabeth E. (ARC-SC)[Amentum Services, Inc]</cp:lastModifiedBy>
  <cp:revision>178</cp:revision>
  <dcterms:created xsi:type="dcterms:W3CDTF">2024-01-29T19:52:06Z</dcterms:created>
  <dcterms:modified xsi:type="dcterms:W3CDTF">2026-06-29T22:38:13Z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0x01010019211DFDB3DA3845BD556C40032E64D0</vt:lpwstr>
  </property>
  <property fmtid="{D5CDD505-2E9C-101B-9397-08002B2CF9AE}" pid="3" name="MediaServiceImageTags">
    <vt:lpwstr/>
  </property>
</Properties>
</file>