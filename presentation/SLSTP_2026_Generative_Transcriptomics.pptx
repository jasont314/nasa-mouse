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 id="313" r:id="rId37"/>
    <p:sldId id="314" r:id="rId38"/>
    <p:sldId id="31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This project uses machine learning to study mouse bulk RNA-seq from NASA spaceflight experiments. The first model asks which pathways change. The second asks whether realistic synthetic profiles can improve a tissue-specific FLT versus GC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Both parts begin with the same OSDR flight and ground-control data. expiMap organizes expression into interpretable Reactome programs. The generative pipeline models the expression distribution and then tests whether generated profiles improve classification and gene ranking.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An autoencoder takes a high-dimensional gene-expression profile, compresses it into a small set of latent variables, and reconstructs the original profile. Nearby points in latent space have similar expression. In a standard autoencoder those axes may have no clear biological meaning. expiMap constrains them with known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These are observed OSDR examples from the expiMap analysis. Each sample receives a latent score for each Reactome program. The table shows project-centered mean scores for flight and ground control, followed by flight minus ground. The formal analysis estimates the change inside each project and then combines project effects. All four examples are lower in flight; a lower latent score does not by itself prove biochemical inhibition.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Thymus showed lower repair, cytoskeletal, and stromal-interaction programs. Skin showed lower chromatin regulation, repair, Hedgehog, sphingolipid, and cell-junction programs. Liver showed lower MHC class II and T-cell receptor scores. Spleen combined lower T-cell receptor, neutrophil-degranulation, and C-type lectin programs.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A generator learns the distribution of measured expression and samples new numeric profiles for a chosen tissue and FLT or GC context. We use those profiles to test classifiers and rank genes. They are model output, not new animals or independent biological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OSDR covers many tissues, but its 1,610 profiles are spread across 75 accessions. ARCHS4 supplies a much larger mouse reference. The model must preserve tissue and condition structure without simply learning study identity.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A WGAN-GP alternates between two updates. The generator turns noise and biological conditions into an expression profile. The critic compares measured and generated profiles. Their competition teaches the generator to match the observed distribution while retaining the requested tissue, flight or ground-control, accession, and material context.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pipeline can change data scope, transformation, harmonization, model, training source, and conditioning. The branch used here applies TPM, MaxAbs scaling, 974 landmarks, ARCHS4 pretraining, OSDR adaptation, and conditioning on tissue, FLT or GC, accession, and material 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This teaching animation starts from random points. During reverse diffusion, the model repeatedly predicts and removes noise while receiving the requested condition. In the RNA-seq model, the output is a vector of 974 gene values conditioned on tissue, flight or ground control, accession, and material type.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We compared WGAN-GP with the conditional diffusion model. Both matched expression well. DDIM had higher F1, adversarial accuracy close to chance, and lower distributional distance, so the remaining analysis uses DDIM.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generated profiles begin as noise, develop structure by timestep 200, and reach their tissue-conditioned regions at timestep zero. All three panels share PCA axes.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These panels use the same locked coordinates. The left panel colors each profile by tissue, while the right colors it by OSDR accession. Circles are observed profiles and crosses are matched DDIM profiles. Both tissue and study structure are reproduced in the generated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left panel now colors the same profiles by flight or ground-control condition, while the right repeats the accession view. FLT and GC overlap much more than the study clusters. This is why the downstream analysis estimates FLT-GC effects within accession rather than treating the pooled separation as biology.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Every matched classifier uses all 974 genes, the same real-fitted scaler, the same outer split, and one regularization value selected from real training data. Real-only, synthetic-only, and real-plus-synthetic models are evaluated on the same held-out real profiles. This isolates training source within the classifier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rank the same 974 genes. Combining those rankings can move a gene into or out of a compact top-k panel. This is useful for pathway interpretation, but it does not isolate training source as directly as the matched all-gene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Suppose several genes carry the same pathway signal. Ridge can divide weight among them. If I shuffle Gene A, Genes B and C remain, so held-out performance changes little and Gene A receives low permutation importance. Consensus ranking can still retain the group. Low individual importance means replaceable in this classifier, not biologically irrelevant.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pooled multi-tissue classifier declined with augmentation. In separate tissue models, real plus synthetic passed all pooled and accession-macro balanced-accuracy, AUROC, and average-precision checks in 18 of 27 analyses. The coral examples show why a balanced-accuracy gain alone is not enough when another metric declines.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The matched analysis retained 21 BH-FDR tissue-gene associations, and consensus ranking retained 49. Eleven appear in both. Matched results are primary evidence that synthetic training changes classifier behavior. Consensus-only results are secondary panel evidence.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For the 49 consensus associations, promoted or reinforced describes feature selection. Aligning, complementary, ambiguous, or unmatched describes the literature review. These labels answer different questions and can occur in any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Four tissues had both matched utility and retained BH-FDR genes. Fourteen more passed the utility gate without a retained gene. Nine failed at least one mean metric. Predictive improvement does not automatically produce a biological candidate.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This slide lists all 49 consensus associations. Rows separate FLT direction and selection status. Gene color gives the independent literature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matched analysis retained 15 thymus genes, seven promoted after augmentation, and 26 significant Reactome terms led by mitotic cell cycle. Nine genes overlap the 16-gene consensus panel, which adds correlated cell-cycle members. Together they support lower proliferative renewal or fewer cycling thymocytes in flight.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consensus analysis reinforces lower Bdh1, Ech1, Bnip3, and Decr1 with higher Tpm1, a coherent mitochondrial and lipid-metabolism panel. In the fixed all-gene comparison, balanced accuracy rose slightly but AUROC and average precision fell, so the matched gate did not pass.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Liver contributes four flight-lower shared-importance genes without pathway enrichment. Skin Plscr1 and spleen Loxl1 are supported by both analyses. Pooled muscle improves prediction in the matched classifier, but its individual gene interpretation remains consensus-level.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Kidney, adrenal gland, gastrocnemius, and tibialis anterior add smaller tissue-specific consensus candidates. They did not pass the matched gene gate, so they remain exploratory panel-level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Conditional DDIM produced realistic profiles. Matched classifiers show where synthetic training changes held-out-real prediction and gene importance. Consensus ranking organizes correlated biological panels. Thymus is strongest across both; all association statistics still come from observed OSDR samples.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James Casaletto, SLSTP, NASA OSDR, ARCHS4, Reactome, and NASA Ames compute,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gif"/><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gif"/><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Interpretable and generative models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PROJECT</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One dataset, two machine-learning questions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used mouse bulk RNA-seq to study how spaceflight changes genes, pathways, and tissue state.</a:t>
            </a:r>
          </a:p>
        </p:txBody>
      </p:sp>
      <p:sp>
        <p:nvSpPr>
          <p:cNvPr id="22" name="Rectangle 21"/>
          <p:cNvSpPr/>
          <p:nvPr/>
        </p:nvSpPr>
        <p:spPr>
          <a:xfrm>
            <a:off x="502920" y="1874519"/>
            <a:ext cx="11192256" cy="69494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011680"/>
            <a:ext cx="1627632" cy="283464"/>
          </a:xfrm>
          <a:prstGeom prst="rect">
            <a:avLst/>
          </a:prstGeom>
          <a:noFill/>
        </p:spPr>
        <p:txBody>
          <a:bodyPr wrap="square" lIns="0" rIns="0" tIns="0" bIns="0" anchor="t">
            <a:spAutoFit/>
          </a:bodyPr>
          <a:lstStyle/>
          <a:p>
            <a:pPr algn="l">
              <a:spcAft>
                <a:spcPts val="0"/>
              </a:spcAft>
            </a:pPr>
            <a:r>
              <a:rPr sz="1600" b="1" i="0">
                <a:solidFill>
                  <a:srgbClr val="FFFFFF"/>
                </a:solidFill>
                <a:latin typeface="Arial"/>
              </a:rPr>
              <a:t>NASA OSDR API</a:t>
            </a:r>
          </a:p>
        </p:txBody>
      </p:sp>
      <p:sp>
        <p:nvSpPr>
          <p:cNvPr id="24" name="TextBox 23"/>
          <p:cNvSpPr txBox="1"/>
          <p:nvPr/>
        </p:nvSpPr>
        <p:spPr>
          <a:xfrm>
            <a:off x="2487168" y="1993392"/>
            <a:ext cx="8759952" cy="310896"/>
          </a:xfrm>
          <a:prstGeom prst="rect">
            <a:avLst/>
          </a:prstGeom>
          <a:noFill/>
        </p:spPr>
        <p:txBody>
          <a:bodyPr wrap="square" lIns="0" rIns="0" tIns="0" bIns="0" anchor="ctr">
            <a:spAutoFit/>
          </a:bodyPr>
          <a:lstStyle/>
          <a:p>
            <a:pPr algn="l">
              <a:spcAft>
                <a:spcPts val="0"/>
              </a:spcAft>
            </a:pPr>
            <a:r>
              <a:rPr sz="1320" b="0" i="0">
                <a:solidFill>
                  <a:srgbClr val="DCE7F2"/>
                </a:solidFill>
                <a:latin typeface="Arial"/>
              </a:rPr>
              <a:t>Mus musculus bulk RNA-seq | spaceflight (FLT) and ground control (GC) | multiple missions and tissues</a:t>
            </a:r>
          </a:p>
        </p:txBody>
      </p:sp>
      <p:sp>
        <p:nvSpPr>
          <p:cNvPr id="25" name="Rectangle 24"/>
          <p:cNvSpPr/>
          <p:nvPr/>
        </p:nvSpPr>
        <p:spPr>
          <a:xfrm>
            <a:off x="502920" y="2944368"/>
            <a:ext cx="5449824" cy="2926080"/>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3182112"/>
            <a:ext cx="411480"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7" name="TextBox 26"/>
          <p:cNvSpPr txBox="1"/>
          <p:nvPr/>
        </p:nvSpPr>
        <p:spPr>
          <a:xfrm>
            <a:off x="1252728"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Which biological programs change?</a:t>
            </a:r>
          </a:p>
        </p:txBody>
      </p:sp>
      <p:sp>
        <p:nvSpPr>
          <p:cNvPr id="28" name="Rectangle 27"/>
          <p:cNvSpPr/>
          <p:nvPr/>
        </p:nvSpPr>
        <p:spPr>
          <a:xfrm>
            <a:off x="731520" y="3767328"/>
            <a:ext cx="4965192"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995928"/>
            <a:ext cx="4846320" cy="310896"/>
          </a:xfrm>
          <a:prstGeom prst="rect">
            <a:avLst/>
          </a:prstGeom>
          <a:noFill/>
        </p:spPr>
        <p:txBody>
          <a:bodyPr wrap="square" lIns="0" rIns="0" tIns="0" bIns="0" anchor="t">
            <a:spAutoFit/>
          </a:bodyPr>
          <a:lstStyle/>
          <a:p>
            <a:pPr algn="l">
              <a:spcAft>
                <a:spcPts val="0"/>
              </a:spcAft>
            </a:pPr>
            <a:r>
              <a:rPr sz="1540" b="1" i="0">
                <a:solidFill>
                  <a:srgbClr val="2D6496"/>
                </a:solidFill>
                <a:latin typeface="Arial"/>
              </a:rPr>
              <a:t>expiMap</a:t>
            </a:r>
          </a:p>
        </p:txBody>
      </p:sp>
      <p:sp>
        <p:nvSpPr>
          <p:cNvPr id="30" name="TextBox 29"/>
          <p:cNvSpPr txBox="1"/>
          <p:nvPr/>
        </p:nvSpPr>
        <p:spPr>
          <a:xfrm>
            <a:off x="731520"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Train a pathway-constrained reference on ARCHS4, then map OSDR samples into mouse Reactome programs.</a:t>
            </a:r>
          </a:p>
        </p:txBody>
      </p:sp>
      <p:sp>
        <p:nvSpPr>
          <p:cNvPr id="31" name="TextBox 30"/>
          <p:cNvSpPr txBox="1"/>
          <p:nvPr/>
        </p:nvSpPr>
        <p:spPr>
          <a:xfrm>
            <a:off x="731520"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tissue-specific pathway shifts</a:t>
            </a:r>
          </a:p>
        </p:txBody>
      </p:sp>
      <p:sp>
        <p:nvSpPr>
          <p:cNvPr id="32" name="Rectangle 31"/>
          <p:cNvSpPr/>
          <p:nvPr/>
        </p:nvSpPr>
        <p:spPr>
          <a:xfrm>
            <a:off x="6245352" y="2944368"/>
            <a:ext cx="5449824" cy="2926080"/>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8" y="3182112"/>
            <a:ext cx="411480"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02</a:t>
            </a:r>
          </a:p>
        </p:txBody>
      </p:sp>
      <p:sp>
        <p:nvSpPr>
          <p:cNvPr id="34" name="TextBox 33"/>
          <p:cNvSpPr txBox="1"/>
          <p:nvPr/>
        </p:nvSpPr>
        <p:spPr>
          <a:xfrm>
            <a:off x="6995160"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Can synthetic profiles sharpen the analysis?</a:t>
            </a:r>
          </a:p>
        </p:txBody>
      </p:sp>
      <p:sp>
        <p:nvSpPr>
          <p:cNvPr id="35" name="Rectangle 34"/>
          <p:cNvSpPr/>
          <p:nvPr/>
        </p:nvSpPr>
        <p:spPr>
          <a:xfrm>
            <a:off x="6473952" y="3767328"/>
            <a:ext cx="49651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3952" y="3995928"/>
            <a:ext cx="4846320" cy="310896"/>
          </a:xfrm>
          <a:prstGeom prst="rect">
            <a:avLst/>
          </a:prstGeom>
          <a:noFill/>
        </p:spPr>
        <p:txBody>
          <a:bodyPr wrap="square" lIns="0" rIns="0" tIns="0" bIns="0" anchor="t">
            <a:spAutoFit/>
          </a:bodyPr>
          <a:lstStyle/>
          <a:p>
            <a:pPr algn="l">
              <a:spcAft>
                <a:spcPts val="0"/>
              </a:spcAft>
            </a:pPr>
            <a:r>
              <a:rPr sz="1540" b="1" i="0">
                <a:solidFill>
                  <a:srgbClr val="178681"/>
                </a:solidFill>
                <a:latin typeface="Arial"/>
              </a:rPr>
              <a:t>Conditional generation</a:t>
            </a:r>
          </a:p>
        </p:txBody>
      </p:sp>
      <p:sp>
        <p:nvSpPr>
          <p:cNvPr id="37" name="TextBox 36"/>
          <p:cNvSpPr txBox="1"/>
          <p:nvPr/>
        </p:nvSpPr>
        <p:spPr>
          <a:xfrm>
            <a:off x="6473952"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Generate matched expression profiles by tissue, study context, and FLT or GC condition.</a:t>
            </a:r>
          </a:p>
        </p:txBody>
      </p:sp>
      <p:sp>
        <p:nvSpPr>
          <p:cNvPr id="38" name="TextBox 37"/>
          <p:cNvSpPr txBox="1"/>
          <p:nvPr/>
        </p:nvSpPr>
        <p:spPr>
          <a:xfrm>
            <a:off x="6473952"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validated profiles and gene ranking</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Data source: NASA Open Science Data Repository Biological Data API.</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NEURAL NETWORKS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Autoencoders compress expression into a latent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encoder summarizes a gene profile; the decoder learns enough structure to reconstruct it.</a:t>
            </a:r>
          </a:p>
        </p:txBody>
      </p:sp>
      <p:sp>
        <p:nvSpPr>
          <p:cNvPr id="7" name="TextBox 6"/>
          <p:cNvSpPr txBox="1"/>
          <p:nvPr/>
        </p:nvSpPr>
        <p:spPr>
          <a:xfrm>
            <a:off x="530352" y="1874519"/>
            <a:ext cx="131673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AUTOENCODER</a:t>
            </a:r>
          </a:p>
        </p:txBody>
      </p:sp>
      <p:sp>
        <p:nvSpPr>
          <p:cNvPr id="8" name="Rectangle 7"/>
          <p:cNvSpPr/>
          <p:nvPr/>
        </p:nvSpPr>
        <p:spPr>
          <a:xfrm>
            <a:off x="457200" y="2157984"/>
            <a:ext cx="6748272" cy="3547872"/>
          </a:xfrm>
          <a:prstGeom prst="rect">
            <a:avLst/>
          </a:prstGeom>
          <a:solidFill>
            <a:srgbClr val="F7F9FA"/>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rapezoid 8"/>
          <p:cNvSpPr/>
          <p:nvPr/>
        </p:nvSpPr>
        <p:spPr>
          <a:xfrm rot="16200000">
            <a:off x="2907792" y="2660904"/>
            <a:ext cx="1572768" cy="2249424"/>
          </a:xfrm>
          <a:prstGeom prst="trapezoid">
            <a:avLst/>
          </a:prstGeom>
          <a:solidFill>
            <a:srgbClr val="E9F1F7">
              <a:alpha val="82000"/>
            </a:srgbClr>
          </a:solidFill>
          <a:ln w="10160">
            <a:solidFill>
              <a:srgbClr val="D5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apezoid 9"/>
          <p:cNvSpPr/>
          <p:nvPr/>
        </p:nvSpPr>
        <p:spPr>
          <a:xfrm rot="5400000">
            <a:off x="4663440" y="2660904"/>
            <a:ext cx="1572768" cy="2249424"/>
          </a:xfrm>
          <a:prstGeom prst="trapezoid">
            <a:avLst/>
          </a:prstGeom>
          <a:solidFill>
            <a:srgbClr val="E8F3F1">
              <a:alpha val="82000"/>
            </a:srgbClr>
          </a:solidFill>
          <a:ln w="10160">
            <a:solidFill>
              <a:srgbClr val="CEE2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493008"/>
            <a:ext cx="658368" cy="475488"/>
          </a:xfrm>
          <a:prstGeom prst="rect">
            <a:avLst/>
          </a:prstGeom>
          <a:noFill/>
        </p:spPr>
        <p:txBody>
          <a:bodyPr wrap="square" lIns="0" rIns="0" tIns="0" bIns="0" anchor="t">
            <a:spAutoFit/>
          </a:bodyPr>
          <a:lstStyle/>
          <a:p>
            <a:pPr algn="ctr">
              <a:spcAft>
                <a:spcPts val="0"/>
              </a:spcAft>
            </a:pPr>
            <a:r>
              <a:rPr sz="1120" b="1" i="0">
                <a:solidFill>
                  <a:srgbClr val="59697A"/>
                </a:solidFill>
                <a:latin typeface="Arial"/>
              </a:rPr>
              <a:t>gene
profile</a:t>
            </a:r>
          </a:p>
        </p:txBody>
      </p:sp>
      <p:sp>
        <p:nvSpPr>
          <p:cNvPr id="12" name="Rectangle 11"/>
          <p:cNvSpPr/>
          <p:nvPr/>
        </p:nvSpPr>
        <p:spPr>
          <a:xfrm>
            <a:off x="1499616" y="3785615"/>
            <a:ext cx="100584" cy="53035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673351" y="3337559"/>
            <a:ext cx="100584" cy="9784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47088" y="3648456"/>
            <a:ext cx="100584"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20824" y="3108959"/>
            <a:ext cx="100584" cy="12070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194560" y="3493008"/>
            <a:ext cx="100584" cy="8229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68296" y="3895344"/>
            <a:ext cx="100584" cy="420624"/>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2615184"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3136392"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136392"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136392"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136392"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136392"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136392"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6392"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136392"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136392"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593592" y="2816352"/>
            <a:ext cx="960120"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593592" y="2816352"/>
            <a:ext cx="960120"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593592" y="2816352"/>
            <a:ext cx="960120"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593592" y="3236976"/>
            <a:ext cx="960120"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593592" y="3639312"/>
            <a:ext cx="960120"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593592" y="3739896"/>
            <a:ext cx="960120"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593592" y="3236976"/>
            <a:ext cx="960120"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593592" y="3639312"/>
            <a:ext cx="960120"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593592" y="4041648"/>
            <a:ext cx="960120"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553712" y="2816352"/>
            <a:ext cx="896112"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553712" y="3236976"/>
            <a:ext cx="896112"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553712" y="3236976"/>
            <a:ext cx="896112"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553712" y="2816352"/>
            <a:ext cx="896112"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553712" y="3639312"/>
            <a:ext cx="896112"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553712" y="3639312"/>
            <a:ext cx="896112"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553712" y="2816352"/>
            <a:ext cx="896112"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553712" y="3739896"/>
            <a:ext cx="896112"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4553712" y="4041648"/>
            <a:ext cx="896112"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49824"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449824"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449824"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5449824"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49824"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449824"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449824"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5449824"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449824"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3063240"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063240"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063240"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063240"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063240"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520440"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520440"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520440"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907792"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encoder</a:t>
            </a:r>
          </a:p>
        </p:txBody>
      </p:sp>
      <p:sp>
        <p:nvSpPr>
          <p:cNvPr id="76" name="Oval 75"/>
          <p:cNvSpPr/>
          <p:nvPr/>
        </p:nvSpPr>
        <p:spPr>
          <a:xfrm>
            <a:off x="4462272" y="3145536"/>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4462272" y="354787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4462272" y="3950208"/>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169663" y="4462272"/>
            <a:ext cx="768096" cy="438912"/>
          </a:xfrm>
          <a:prstGeom prst="rect">
            <a:avLst/>
          </a:prstGeom>
          <a:noFill/>
        </p:spPr>
        <p:txBody>
          <a:bodyPr wrap="square" lIns="0" rIns="0" tIns="0" bIns="0" anchor="t">
            <a:spAutoFit/>
          </a:bodyPr>
          <a:lstStyle/>
          <a:p>
            <a:pPr algn="ctr">
              <a:spcAft>
                <a:spcPts val="0"/>
              </a:spcAft>
            </a:pPr>
            <a:r>
              <a:rPr sz="1019" b="1" i="0">
                <a:solidFill>
                  <a:srgbClr val="D37B00"/>
                </a:solidFill>
                <a:latin typeface="Arial"/>
              </a:rPr>
              <a:t>latent
variables</a:t>
            </a:r>
          </a:p>
        </p:txBody>
      </p:sp>
      <p:sp>
        <p:nvSpPr>
          <p:cNvPr id="80" name="Oval 79"/>
          <p:cNvSpPr/>
          <p:nvPr/>
        </p:nvSpPr>
        <p:spPr>
          <a:xfrm>
            <a:off x="5376672"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5376672"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376672"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833872"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833872"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833872"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833872"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5833872"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212080"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decoder</a:t>
            </a:r>
          </a:p>
        </p:txBody>
      </p:sp>
      <p:sp>
        <p:nvSpPr>
          <p:cNvPr id="89" name="Right Arrow 88"/>
          <p:cNvSpPr/>
          <p:nvPr/>
        </p:nvSpPr>
        <p:spPr>
          <a:xfrm>
            <a:off x="6236208" y="3529584"/>
            <a:ext cx="274320"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675120" y="3401568"/>
            <a:ext cx="438912" cy="512064"/>
          </a:xfrm>
          <a:prstGeom prst="rect">
            <a:avLst/>
          </a:prstGeom>
          <a:noFill/>
        </p:spPr>
        <p:txBody>
          <a:bodyPr wrap="square" lIns="0" rIns="0" tIns="0" bIns="0" anchor="t">
            <a:spAutoFit/>
          </a:bodyPr>
          <a:lstStyle/>
          <a:p>
            <a:pPr algn="ctr">
              <a:spcAft>
                <a:spcPts val="0"/>
              </a:spcAft>
            </a:pPr>
            <a:r>
              <a:rPr sz="1000" b="1" i="0">
                <a:solidFill>
                  <a:srgbClr val="59697A"/>
                </a:solidFill>
                <a:latin typeface="Arial"/>
              </a:rPr>
              <a:t>output
profile</a:t>
            </a:r>
          </a:p>
        </p:txBody>
      </p:sp>
      <p:sp>
        <p:nvSpPr>
          <p:cNvPr id="91" name="TextBox 90"/>
          <p:cNvSpPr txBox="1"/>
          <p:nvPr/>
        </p:nvSpPr>
        <p:spPr>
          <a:xfrm>
            <a:off x="7589520" y="1874519"/>
            <a:ext cx="1225296"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LATENT SPACE</a:t>
            </a:r>
          </a:p>
        </p:txBody>
      </p:sp>
      <p:sp>
        <p:nvSpPr>
          <p:cNvPr id="92" name="Rectangle 91"/>
          <p:cNvSpPr/>
          <p:nvPr/>
        </p:nvSpPr>
        <p:spPr>
          <a:xfrm>
            <a:off x="7516368" y="2157984"/>
            <a:ext cx="4187952" cy="35478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973568" y="5074920"/>
            <a:ext cx="3136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973568" y="2615184"/>
            <a:ext cx="16459" cy="2478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357616" y="4169663"/>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8604504" y="40873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714232" y="427939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8476488" y="43982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8549640" y="4251959"/>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400032" y="32826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646920" y="320040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756648" y="339242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9518904" y="35112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592056" y="336499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323576" y="43068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570464" y="422452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10680192" y="441655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0442448" y="45354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10515600" y="438912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165592" y="5230368"/>
            <a:ext cx="2834640" cy="384048"/>
          </a:xfrm>
          <a:prstGeom prst="rect">
            <a:avLst/>
          </a:prstGeom>
          <a:noFill/>
        </p:spPr>
        <p:txBody>
          <a:bodyPr wrap="square" lIns="0" rIns="0" tIns="0" bIns="0" anchor="t">
            <a:spAutoFit/>
          </a:bodyPr>
          <a:lstStyle/>
          <a:p>
            <a:pPr algn="ctr">
              <a:spcAft>
                <a:spcPts val="0"/>
              </a:spcAft>
            </a:pPr>
            <a:r>
              <a:rPr sz="1050" b="0" i="0">
                <a:solidFill>
                  <a:srgbClr val="59697A"/>
                </a:solidFill>
                <a:latin typeface="Arial"/>
              </a:rPr>
              <a:t>profiles with similar expression
occupy nearby regions</a:t>
            </a:r>
          </a:p>
        </p:txBody>
      </p:sp>
      <p:sp>
        <p:nvSpPr>
          <p:cNvPr id="111" name="Rectangle 110"/>
          <p:cNvSpPr/>
          <p:nvPr/>
        </p:nvSpPr>
        <p:spPr>
          <a:xfrm>
            <a:off x="457200" y="5852160"/>
            <a:ext cx="1124712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749808" y="5980176"/>
            <a:ext cx="841248" cy="210312"/>
          </a:xfrm>
          <a:prstGeom prst="rect">
            <a:avLst/>
          </a:prstGeom>
          <a:noFill/>
        </p:spPr>
        <p:txBody>
          <a:bodyPr wrap="square" lIns="0" rIns="0" tIns="0" bIns="0" anchor="t">
            <a:spAutoFit/>
          </a:bodyPr>
          <a:lstStyle/>
          <a:p>
            <a:pPr algn="l">
              <a:spcAft>
                <a:spcPts val="0"/>
              </a:spcAft>
            </a:pPr>
            <a:r>
              <a:rPr sz="1220" b="1" i="0">
                <a:solidFill>
                  <a:srgbClr val="FFFFFF"/>
                </a:solidFill>
                <a:latin typeface="Arial"/>
              </a:rPr>
              <a:t>expiMap:</a:t>
            </a:r>
          </a:p>
        </p:txBody>
      </p:sp>
      <p:sp>
        <p:nvSpPr>
          <p:cNvPr id="113" name="TextBox 112"/>
          <p:cNvSpPr txBox="1"/>
          <p:nvPr/>
        </p:nvSpPr>
        <p:spPr>
          <a:xfrm>
            <a:off x="1655064" y="5980176"/>
            <a:ext cx="9509760" cy="210312"/>
          </a:xfrm>
          <a:prstGeom prst="rect">
            <a:avLst/>
          </a:prstGeom>
          <a:noFill/>
        </p:spPr>
        <p:txBody>
          <a:bodyPr wrap="square" lIns="0" rIns="0" tIns="0" bIns="0" anchor="t">
            <a:spAutoFit/>
          </a:bodyPr>
          <a:lstStyle/>
          <a:p>
            <a:pPr algn="l">
              <a:spcAft>
                <a:spcPts val="0"/>
              </a:spcAft>
            </a:pPr>
            <a:r>
              <a:rPr sz="1220" b="0" i="0">
                <a:solidFill>
                  <a:srgbClr val="DCE7F2"/>
                </a:solidFill>
                <a:latin typeface="Arial"/>
              </a:rPr>
              <a:t>each constrained latent variable corresponds to a Reactome gene program.</a:t>
            </a:r>
          </a:p>
        </p:txBody>
      </p:sp>
      <p:sp>
        <p:nvSpPr>
          <p:cNvPr id="114" name="TextBox 11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Concept adapted from the midpoint presentation. expiMap: Lotfollahi et al., Nature Cell Biology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SCORES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Program scores turn expression into pathway-level changes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Each sample receives a Reactome program score; FLT minus GC gives the direction of change.</a:t>
            </a:r>
          </a:p>
        </p:txBody>
      </p:sp>
      <p:sp>
        <p:nvSpPr>
          <p:cNvPr id="7" name="Rectangle 6"/>
          <p:cNvSpPr/>
          <p:nvPr/>
        </p:nvSpPr>
        <p:spPr>
          <a:xfrm>
            <a:off x="429768" y="1865376"/>
            <a:ext cx="8065008" cy="4160520"/>
          </a:xfrm>
          <a:prstGeom prst="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2057400"/>
            <a:ext cx="3291840" cy="210312"/>
          </a:xfrm>
          <a:prstGeom prst="rect">
            <a:avLst/>
          </a:prstGeom>
          <a:noFill/>
        </p:spPr>
        <p:txBody>
          <a:bodyPr wrap="square" lIns="0" rIns="0" tIns="0" bIns="0" anchor="t">
            <a:spAutoFit/>
          </a:bodyPr>
          <a:lstStyle/>
          <a:p>
            <a:pPr algn="l">
              <a:spcAft>
                <a:spcPts val="0"/>
              </a:spcAft>
            </a:pPr>
            <a:r>
              <a:rPr sz="930" b="1" i="0">
                <a:solidFill>
                  <a:srgbClr val="2D6496"/>
                </a:solidFill>
                <a:latin typeface="Arial"/>
              </a:rPr>
              <a:t>REPRESENTATIVE OBSERVED OSDR PROGRAMS</a:t>
            </a:r>
          </a:p>
        </p:txBody>
      </p:sp>
      <p:sp>
        <p:nvSpPr>
          <p:cNvPr id="9" name="TextBox 8"/>
          <p:cNvSpPr txBox="1"/>
          <p:nvPr/>
        </p:nvSpPr>
        <p:spPr>
          <a:xfrm>
            <a:off x="4133087" y="2258568"/>
            <a:ext cx="987552" cy="237744"/>
          </a:xfrm>
          <a:prstGeom prst="rect">
            <a:avLst/>
          </a:prstGeom>
          <a:noFill/>
        </p:spPr>
        <p:txBody>
          <a:bodyPr wrap="square" lIns="0" rIns="0" tIns="0" bIns="0" anchor="t">
            <a:spAutoFit/>
          </a:bodyPr>
          <a:lstStyle/>
          <a:p>
            <a:pPr algn="ctr">
              <a:spcAft>
                <a:spcPts val="0"/>
              </a:spcAft>
            </a:pPr>
            <a:r>
              <a:rPr sz="1050" b="1" i="0">
                <a:solidFill>
                  <a:srgbClr val="D37B00"/>
                </a:solidFill>
                <a:latin typeface="Arial"/>
              </a:rPr>
              <a:t>FLT score</a:t>
            </a:r>
          </a:p>
        </p:txBody>
      </p:sp>
      <p:sp>
        <p:nvSpPr>
          <p:cNvPr id="10" name="TextBox 9"/>
          <p:cNvSpPr txBox="1"/>
          <p:nvPr/>
        </p:nvSpPr>
        <p:spPr>
          <a:xfrm>
            <a:off x="5650992" y="2258568"/>
            <a:ext cx="987552" cy="237744"/>
          </a:xfrm>
          <a:prstGeom prst="rect">
            <a:avLst/>
          </a:prstGeom>
          <a:noFill/>
        </p:spPr>
        <p:txBody>
          <a:bodyPr wrap="square" lIns="0" rIns="0" tIns="0" bIns="0" anchor="t">
            <a:spAutoFit/>
          </a:bodyPr>
          <a:lstStyle/>
          <a:p>
            <a:pPr algn="ctr">
              <a:spcAft>
                <a:spcPts val="0"/>
              </a:spcAft>
            </a:pPr>
            <a:r>
              <a:rPr sz="1050" b="1" i="0">
                <a:solidFill>
                  <a:srgbClr val="2D6496"/>
                </a:solidFill>
                <a:latin typeface="Arial"/>
              </a:rPr>
              <a:t>GC score</a:t>
            </a:r>
          </a:p>
        </p:txBody>
      </p:sp>
      <p:sp>
        <p:nvSpPr>
          <p:cNvPr id="11" name="TextBox 10"/>
          <p:cNvSpPr txBox="1"/>
          <p:nvPr/>
        </p:nvSpPr>
        <p:spPr>
          <a:xfrm>
            <a:off x="7196328" y="2258568"/>
            <a:ext cx="987552" cy="237744"/>
          </a:xfrm>
          <a:prstGeom prst="rect">
            <a:avLst/>
          </a:prstGeom>
          <a:noFill/>
        </p:spPr>
        <p:txBody>
          <a:bodyPr wrap="square" lIns="0" rIns="0" tIns="0" bIns="0" anchor="t">
            <a:spAutoFit/>
          </a:bodyPr>
          <a:lstStyle/>
          <a:p>
            <a:pPr algn="ctr">
              <a:spcAft>
                <a:spcPts val="0"/>
              </a:spcAft>
            </a:pPr>
            <a:r>
              <a:rPr sz="1050" b="1" i="0">
                <a:solidFill>
                  <a:srgbClr val="178681"/>
                </a:solidFill>
                <a:latin typeface="Arial"/>
              </a:rPr>
              <a:t>FLT - GC</a:t>
            </a:r>
          </a:p>
        </p:txBody>
      </p:sp>
      <p:sp>
        <p:nvSpPr>
          <p:cNvPr id="12" name="TextBox 11"/>
          <p:cNvSpPr txBox="1"/>
          <p:nvPr/>
        </p:nvSpPr>
        <p:spPr>
          <a:xfrm>
            <a:off x="5303520" y="2258568"/>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13" name="TextBox 12"/>
          <p:cNvSpPr txBox="1"/>
          <p:nvPr/>
        </p:nvSpPr>
        <p:spPr>
          <a:xfrm>
            <a:off x="6821424" y="2258568"/>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14" name="Rectangle 13"/>
          <p:cNvSpPr/>
          <p:nvPr/>
        </p:nvSpPr>
        <p:spPr>
          <a:xfrm>
            <a:off x="704088" y="2715768"/>
            <a:ext cx="54864" cy="4389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660904"/>
            <a:ext cx="859536" cy="219456"/>
          </a:xfrm>
          <a:prstGeom prst="rect">
            <a:avLst/>
          </a:prstGeom>
          <a:noFill/>
        </p:spPr>
        <p:txBody>
          <a:bodyPr wrap="square" lIns="0" rIns="0" tIns="0" bIns="0" anchor="t">
            <a:spAutoFit/>
          </a:bodyPr>
          <a:lstStyle/>
          <a:p>
            <a:pPr algn="l">
              <a:spcAft>
                <a:spcPts val="0"/>
              </a:spcAft>
            </a:pPr>
            <a:r>
              <a:rPr sz="1100" b="1" i="0">
                <a:solidFill>
                  <a:srgbClr val="8063A6"/>
                </a:solidFill>
                <a:latin typeface="Arial"/>
              </a:rPr>
              <a:t>Thymus</a:t>
            </a:r>
          </a:p>
        </p:txBody>
      </p:sp>
      <p:sp>
        <p:nvSpPr>
          <p:cNvPr id="16" name="TextBox 15"/>
          <p:cNvSpPr txBox="1"/>
          <p:nvPr/>
        </p:nvSpPr>
        <p:spPr>
          <a:xfrm>
            <a:off x="1746504" y="2660904"/>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DNA repair</a:t>
            </a:r>
          </a:p>
        </p:txBody>
      </p:sp>
      <p:sp>
        <p:nvSpPr>
          <p:cNvPr id="17" name="Rectangle 16"/>
          <p:cNvSpPr/>
          <p:nvPr/>
        </p:nvSpPr>
        <p:spPr>
          <a:xfrm>
            <a:off x="4133087" y="2642616"/>
            <a:ext cx="987552" cy="438912"/>
          </a:xfrm>
          <a:prstGeom prst="rect">
            <a:avLst/>
          </a:prstGeom>
          <a:solidFill>
            <a:srgbClr val="A4BCD1"/>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3087" y="2724912"/>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-0.45</a:t>
            </a:r>
          </a:p>
        </p:txBody>
      </p:sp>
      <p:sp>
        <p:nvSpPr>
          <p:cNvPr id="19" name="Rectangle 18"/>
          <p:cNvSpPr/>
          <p:nvPr/>
        </p:nvSpPr>
        <p:spPr>
          <a:xfrm>
            <a:off x="5650992" y="2642616"/>
            <a:ext cx="987552" cy="438912"/>
          </a:xfrm>
          <a:prstGeom prst="rect">
            <a:avLst/>
          </a:prstGeom>
          <a:solidFill>
            <a:srgbClr val="E8B978"/>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724912"/>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+0.55</a:t>
            </a:r>
          </a:p>
        </p:txBody>
      </p:sp>
      <p:sp>
        <p:nvSpPr>
          <p:cNvPr id="21" name="Rectangle 20"/>
          <p:cNvSpPr/>
          <p:nvPr/>
        </p:nvSpPr>
        <p:spPr>
          <a:xfrm>
            <a:off x="7196328" y="2642616"/>
            <a:ext cx="987552" cy="438912"/>
          </a:xfrm>
          <a:prstGeom prst="rect">
            <a:avLst/>
          </a:prstGeom>
          <a:solidFill>
            <a:srgbClr val="356A9A"/>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8" y="2724912"/>
            <a:ext cx="987552" cy="219456"/>
          </a:xfrm>
          <a:prstGeom prst="rect">
            <a:avLst/>
          </a:prstGeom>
          <a:noFill/>
        </p:spPr>
        <p:txBody>
          <a:bodyPr wrap="square" lIns="0" rIns="0" tIns="0" bIns="0" anchor="t">
            <a:spAutoFit/>
          </a:bodyPr>
          <a:lstStyle/>
          <a:p>
            <a:pPr algn="ctr">
              <a:spcAft>
                <a:spcPts val="0"/>
              </a:spcAft>
            </a:pPr>
            <a:r>
              <a:rPr sz="1100" b="1" i="0">
                <a:solidFill>
                  <a:srgbClr val="FFFFFF"/>
                </a:solidFill>
                <a:latin typeface="Arial"/>
              </a:rPr>
              <a:t>-1.01</a:t>
            </a:r>
          </a:p>
        </p:txBody>
      </p:sp>
      <p:sp>
        <p:nvSpPr>
          <p:cNvPr id="23" name="TextBox 22"/>
          <p:cNvSpPr txBox="1"/>
          <p:nvPr/>
        </p:nvSpPr>
        <p:spPr>
          <a:xfrm>
            <a:off x="5303520" y="2706624"/>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24" name="TextBox 23"/>
          <p:cNvSpPr txBox="1"/>
          <p:nvPr/>
        </p:nvSpPr>
        <p:spPr>
          <a:xfrm>
            <a:off x="6821424" y="2706624"/>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25" name="Rectangle 24"/>
          <p:cNvSpPr/>
          <p:nvPr/>
        </p:nvSpPr>
        <p:spPr>
          <a:xfrm>
            <a:off x="704088" y="3255263"/>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4088" y="3410711"/>
            <a:ext cx="54864" cy="4389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355848"/>
            <a:ext cx="859536" cy="219456"/>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Skin</a:t>
            </a:r>
          </a:p>
        </p:txBody>
      </p:sp>
      <p:sp>
        <p:nvSpPr>
          <p:cNvPr id="28" name="TextBox 27"/>
          <p:cNvSpPr txBox="1"/>
          <p:nvPr/>
        </p:nvSpPr>
        <p:spPr>
          <a:xfrm>
            <a:off x="1746504" y="3355848"/>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Cell-cell junction organization</a:t>
            </a:r>
          </a:p>
        </p:txBody>
      </p:sp>
      <p:sp>
        <p:nvSpPr>
          <p:cNvPr id="29" name="Rectangle 28"/>
          <p:cNvSpPr/>
          <p:nvPr/>
        </p:nvSpPr>
        <p:spPr>
          <a:xfrm>
            <a:off x="4133087" y="3337560"/>
            <a:ext cx="987552" cy="438912"/>
          </a:xfrm>
          <a:prstGeom prst="rect">
            <a:avLst/>
          </a:prstGeom>
          <a:solidFill>
            <a:srgbClr val="ECF1F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33087"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-0.09</a:t>
            </a:r>
          </a:p>
        </p:txBody>
      </p:sp>
      <p:sp>
        <p:nvSpPr>
          <p:cNvPr id="31" name="Rectangle 30"/>
          <p:cNvSpPr/>
          <p:nvPr/>
        </p:nvSpPr>
        <p:spPr>
          <a:xfrm>
            <a:off x="5650992" y="3337560"/>
            <a:ext cx="987552" cy="438912"/>
          </a:xfrm>
          <a:prstGeom prst="rect">
            <a:avLst/>
          </a:prstGeom>
          <a:solidFill>
            <a:srgbClr val="FBF2E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50992"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+0.11</a:t>
            </a:r>
          </a:p>
        </p:txBody>
      </p:sp>
      <p:sp>
        <p:nvSpPr>
          <p:cNvPr id="33" name="Rectangle 32"/>
          <p:cNvSpPr/>
          <p:nvPr/>
        </p:nvSpPr>
        <p:spPr>
          <a:xfrm>
            <a:off x="7196328" y="3337560"/>
            <a:ext cx="987552" cy="438912"/>
          </a:xfrm>
          <a:prstGeom prst="rect">
            <a:avLst/>
          </a:prstGeom>
          <a:solidFill>
            <a:srgbClr val="D8E2EC"/>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-0.20</a:t>
            </a:r>
          </a:p>
        </p:txBody>
      </p:sp>
      <p:sp>
        <p:nvSpPr>
          <p:cNvPr id="35" name="TextBox 34"/>
          <p:cNvSpPr txBox="1"/>
          <p:nvPr/>
        </p:nvSpPr>
        <p:spPr>
          <a:xfrm>
            <a:off x="5303520" y="3401568"/>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36" name="TextBox 35"/>
          <p:cNvSpPr txBox="1"/>
          <p:nvPr/>
        </p:nvSpPr>
        <p:spPr>
          <a:xfrm>
            <a:off x="6821424" y="3401568"/>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37" name="Rectangle 36"/>
          <p:cNvSpPr/>
          <p:nvPr/>
        </p:nvSpPr>
        <p:spPr>
          <a:xfrm>
            <a:off x="704088" y="3950207"/>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4088" y="4105655"/>
            <a:ext cx="54864" cy="438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6112" y="4050791"/>
            <a:ext cx="859536" cy="219456"/>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Liver</a:t>
            </a:r>
          </a:p>
        </p:txBody>
      </p:sp>
      <p:sp>
        <p:nvSpPr>
          <p:cNvPr id="40" name="TextBox 39"/>
          <p:cNvSpPr txBox="1"/>
          <p:nvPr/>
        </p:nvSpPr>
        <p:spPr>
          <a:xfrm>
            <a:off x="1746504" y="4050791"/>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MHC class II antigen presentation</a:t>
            </a:r>
          </a:p>
        </p:txBody>
      </p:sp>
      <p:sp>
        <p:nvSpPr>
          <p:cNvPr id="41" name="Rectangle 40"/>
          <p:cNvSpPr/>
          <p:nvPr/>
        </p:nvSpPr>
        <p:spPr>
          <a:xfrm>
            <a:off x="4133087" y="4032503"/>
            <a:ext cx="987552" cy="438912"/>
          </a:xfrm>
          <a:prstGeom prst="rect">
            <a:avLst/>
          </a:prstGeom>
          <a:solidFill>
            <a:srgbClr val="EFF3F7"/>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33087"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-0.07</a:t>
            </a:r>
          </a:p>
        </p:txBody>
      </p:sp>
      <p:sp>
        <p:nvSpPr>
          <p:cNvPr id="43" name="Rectangle 42"/>
          <p:cNvSpPr/>
          <p:nvPr/>
        </p:nvSpPr>
        <p:spPr>
          <a:xfrm>
            <a:off x="5650992" y="4032503"/>
            <a:ext cx="987552" cy="438912"/>
          </a:xfrm>
          <a:prstGeom prst="rect">
            <a:avLst/>
          </a:prstGeom>
          <a:solidFill>
            <a:srgbClr val="FBF4EA"/>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50992"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+0.09</a:t>
            </a:r>
          </a:p>
        </p:txBody>
      </p:sp>
      <p:sp>
        <p:nvSpPr>
          <p:cNvPr id="45" name="Rectangle 44"/>
          <p:cNvSpPr/>
          <p:nvPr/>
        </p:nvSpPr>
        <p:spPr>
          <a:xfrm>
            <a:off x="7196328" y="4032503"/>
            <a:ext cx="987552" cy="438912"/>
          </a:xfrm>
          <a:prstGeom prst="rect">
            <a:avLst/>
          </a:prstGeom>
          <a:solidFill>
            <a:srgbClr val="DFE7EF"/>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6328"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-0.16</a:t>
            </a:r>
          </a:p>
        </p:txBody>
      </p:sp>
      <p:sp>
        <p:nvSpPr>
          <p:cNvPr id="47" name="TextBox 46"/>
          <p:cNvSpPr txBox="1"/>
          <p:nvPr/>
        </p:nvSpPr>
        <p:spPr>
          <a:xfrm>
            <a:off x="5303520" y="4096511"/>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48" name="TextBox 47"/>
          <p:cNvSpPr txBox="1"/>
          <p:nvPr/>
        </p:nvSpPr>
        <p:spPr>
          <a:xfrm>
            <a:off x="6821424" y="4096511"/>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49" name="Rectangle 48"/>
          <p:cNvSpPr/>
          <p:nvPr/>
        </p:nvSpPr>
        <p:spPr>
          <a:xfrm>
            <a:off x="704088" y="4645152"/>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04088" y="4800600"/>
            <a:ext cx="54864" cy="4389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4745736"/>
            <a:ext cx="859536" cy="219456"/>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Spleen</a:t>
            </a:r>
          </a:p>
        </p:txBody>
      </p:sp>
      <p:sp>
        <p:nvSpPr>
          <p:cNvPr id="52" name="TextBox 51"/>
          <p:cNvSpPr txBox="1"/>
          <p:nvPr/>
        </p:nvSpPr>
        <p:spPr>
          <a:xfrm>
            <a:off x="1746504" y="4745736"/>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T-cell receptor signaling</a:t>
            </a:r>
          </a:p>
        </p:txBody>
      </p:sp>
      <p:sp>
        <p:nvSpPr>
          <p:cNvPr id="53" name="Rectangle 52"/>
          <p:cNvSpPr/>
          <p:nvPr/>
        </p:nvSpPr>
        <p:spPr>
          <a:xfrm>
            <a:off x="4133087" y="4727448"/>
            <a:ext cx="987552" cy="438912"/>
          </a:xfrm>
          <a:prstGeom prst="rect">
            <a:avLst/>
          </a:prstGeom>
          <a:solidFill>
            <a:srgbClr val="E5ECF2"/>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33087"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-0.13</a:t>
            </a:r>
          </a:p>
        </p:txBody>
      </p:sp>
      <p:sp>
        <p:nvSpPr>
          <p:cNvPr id="55" name="Rectangle 54"/>
          <p:cNvSpPr/>
          <p:nvPr/>
        </p:nvSpPr>
        <p:spPr>
          <a:xfrm>
            <a:off x="5650992" y="4727448"/>
            <a:ext cx="987552" cy="438912"/>
          </a:xfrm>
          <a:prstGeom prst="rect">
            <a:avLst/>
          </a:prstGeom>
          <a:solidFill>
            <a:srgbClr val="FAEFE0"/>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650992"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+0.13</a:t>
            </a:r>
          </a:p>
        </p:txBody>
      </p:sp>
      <p:sp>
        <p:nvSpPr>
          <p:cNvPr id="57" name="Rectangle 56"/>
          <p:cNvSpPr/>
          <p:nvPr/>
        </p:nvSpPr>
        <p:spPr>
          <a:xfrm>
            <a:off x="7196328" y="4727448"/>
            <a:ext cx="987552" cy="438912"/>
          </a:xfrm>
          <a:prstGeom prst="rect">
            <a:avLst/>
          </a:prstGeom>
          <a:solidFill>
            <a:srgbClr val="CBD9E5"/>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196328"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-0.26</a:t>
            </a:r>
          </a:p>
        </p:txBody>
      </p:sp>
      <p:sp>
        <p:nvSpPr>
          <p:cNvPr id="59" name="TextBox 58"/>
          <p:cNvSpPr txBox="1"/>
          <p:nvPr/>
        </p:nvSpPr>
        <p:spPr>
          <a:xfrm>
            <a:off x="5303520" y="4791456"/>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60" name="TextBox 59"/>
          <p:cNvSpPr txBox="1"/>
          <p:nvPr/>
        </p:nvSpPr>
        <p:spPr>
          <a:xfrm>
            <a:off x="6821424" y="4791456"/>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61" name="Rectangle 60"/>
          <p:cNvSpPr/>
          <p:nvPr/>
        </p:nvSpPr>
        <p:spPr>
          <a:xfrm>
            <a:off x="3017520" y="5650992"/>
            <a:ext cx="228600" cy="164592"/>
          </a:xfrm>
          <a:prstGeom prst="rect">
            <a:avLst/>
          </a:prstGeom>
          <a:solidFill>
            <a:srgbClr val="2D649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300984"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lower</a:t>
            </a:r>
          </a:p>
        </p:txBody>
      </p:sp>
      <p:sp>
        <p:nvSpPr>
          <p:cNvPr id="63" name="Rectangle 62"/>
          <p:cNvSpPr/>
          <p:nvPr/>
        </p:nvSpPr>
        <p:spPr>
          <a:xfrm>
            <a:off x="4114800" y="5650992"/>
            <a:ext cx="228600" cy="164592"/>
          </a:xfrm>
          <a:prstGeom prst="rect">
            <a:avLst/>
          </a:prstGeom>
          <a:solidFill>
            <a:srgbClr val="FFFEFE"/>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398264"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no shift</a:t>
            </a:r>
          </a:p>
        </p:txBody>
      </p:sp>
      <p:sp>
        <p:nvSpPr>
          <p:cNvPr id="65" name="Rectangle 64"/>
          <p:cNvSpPr/>
          <p:nvPr/>
        </p:nvSpPr>
        <p:spPr>
          <a:xfrm>
            <a:off x="5212079" y="5650992"/>
            <a:ext cx="228600" cy="164592"/>
          </a:xfrm>
          <a:prstGeom prst="rect">
            <a:avLst/>
          </a:prstGeom>
          <a:solidFill>
            <a:srgbClr val="D37B00"/>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95543"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higher</a:t>
            </a:r>
          </a:p>
        </p:txBody>
      </p:sp>
      <p:sp>
        <p:nvSpPr>
          <p:cNvPr id="67" name="Rectangle 66"/>
          <p:cNvSpPr/>
          <p:nvPr/>
        </p:nvSpPr>
        <p:spPr>
          <a:xfrm>
            <a:off x="8796528" y="1938528"/>
            <a:ext cx="13716" cy="399592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70848" y="2048256"/>
            <a:ext cx="1901952"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HOW TO READ IT</a:t>
            </a:r>
          </a:p>
        </p:txBody>
      </p:sp>
      <p:sp>
        <p:nvSpPr>
          <p:cNvPr id="69" name="Oval 68"/>
          <p:cNvSpPr/>
          <p:nvPr/>
        </p:nvSpPr>
        <p:spPr>
          <a:xfrm>
            <a:off x="9079992" y="2532888"/>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079992" y="2569464"/>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1</a:t>
            </a:r>
          </a:p>
        </p:txBody>
      </p:sp>
      <p:sp>
        <p:nvSpPr>
          <p:cNvPr id="71" name="TextBox 70"/>
          <p:cNvSpPr txBox="1"/>
          <p:nvPr/>
        </p:nvSpPr>
        <p:spPr>
          <a:xfrm>
            <a:off x="9500616" y="2514600"/>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Score each sample</a:t>
            </a:r>
          </a:p>
        </p:txBody>
      </p:sp>
      <p:sp>
        <p:nvSpPr>
          <p:cNvPr id="72" name="TextBox 71"/>
          <p:cNvSpPr txBox="1"/>
          <p:nvPr/>
        </p:nvSpPr>
        <p:spPr>
          <a:xfrm>
            <a:off x="9500616" y="2825496"/>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The constrained latent value represents one Reactome program.</a:t>
            </a:r>
          </a:p>
        </p:txBody>
      </p:sp>
      <p:sp>
        <p:nvSpPr>
          <p:cNvPr id="73" name="Oval 72"/>
          <p:cNvSpPr/>
          <p:nvPr/>
        </p:nvSpPr>
        <p:spPr>
          <a:xfrm>
            <a:off x="9079992" y="3474720"/>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79992" y="3511296"/>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2</a:t>
            </a:r>
          </a:p>
        </p:txBody>
      </p:sp>
      <p:sp>
        <p:nvSpPr>
          <p:cNvPr id="75" name="TextBox 74"/>
          <p:cNvSpPr txBox="1"/>
          <p:nvPr/>
        </p:nvSpPr>
        <p:spPr>
          <a:xfrm>
            <a:off x="9500616" y="3456432"/>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Compare within project</a:t>
            </a:r>
          </a:p>
        </p:txBody>
      </p:sp>
      <p:sp>
        <p:nvSpPr>
          <p:cNvPr id="76" name="TextBox 75"/>
          <p:cNvSpPr txBox="1"/>
          <p:nvPr/>
        </p:nvSpPr>
        <p:spPr>
          <a:xfrm>
            <a:off x="9500616" y="3767328"/>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Flight samples are compared with ground controls from the same study.</a:t>
            </a:r>
          </a:p>
        </p:txBody>
      </p:sp>
      <p:sp>
        <p:nvSpPr>
          <p:cNvPr id="77" name="Oval 76"/>
          <p:cNvSpPr/>
          <p:nvPr/>
        </p:nvSpPr>
        <p:spPr>
          <a:xfrm>
            <a:off x="9079992" y="4416552"/>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079992" y="4453128"/>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3</a:t>
            </a:r>
          </a:p>
        </p:txBody>
      </p:sp>
      <p:sp>
        <p:nvSpPr>
          <p:cNvPr id="79" name="TextBox 78"/>
          <p:cNvSpPr txBox="1"/>
          <p:nvPr/>
        </p:nvSpPr>
        <p:spPr>
          <a:xfrm>
            <a:off x="9500616" y="4398264"/>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Combine project shifts</a:t>
            </a:r>
          </a:p>
        </p:txBody>
      </p:sp>
      <p:sp>
        <p:nvSpPr>
          <p:cNvPr id="80" name="TextBox 79"/>
          <p:cNvSpPr txBox="1"/>
          <p:nvPr/>
        </p:nvSpPr>
        <p:spPr>
          <a:xfrm>
            <a:off x="9500616" y="4709160"/>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Project-level changes are integrated across the available missions.</a:t>
            </a:r>
          </a:p>
        </p:txBody>
      </p:sp>
      <p:sp>
        <p:nvSpPr>
          <p:cNvPr id="81" name="Rectangle 80"/>
          <p:cNvSpPr/>
          <p:nvPr/>
        </p:nvSpPr>
        <p:spPr>
          <a:xfrm>
            <a:off x="9061704" y="5413248"/>
            <a:ext cx="2432304" cy="484632"/>
          </a:xfrm>
          <a:prstGeom prst="rect">
            <a:avLst/>
          </a:prstGeom>
          <a:solidFill>
            <a:srgbClr val="E9F1F7"/>
          </a:solidFill>
          <a:ln w="10160">
            <a:solidFill>
              <a:srgbClr val="CBDD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217152" y="5513832"/>
            <a:ext cx="2121408" cy="256032"/>
          </a:xfrm>
          <a:prstGeom prst="rect">
            <a:avLst/>
          </a:prstGeom>
          <a:noFill/>
        </p:spPr>
        <p:txBody>
          <a:bodyPr wrap="square" lIns="0" rIns="0" tIns="0" bIns="0" anchor="t">
            <a:spAutoFit/>
          </a:bodyPr>
          <a:lstStyle/>
          <a:p>
            <a:pPr algn="ctr">
              <a:spcAft>
                <a:spcPts val="0"/>
              </a:spcAft>
            </a:pPr>
            <a:r>
              <a:rPr sz="1050" b="1" i="0">
                <a:solidFill>
                  <a:srgbClr val="082B55"/>
                </a:solidFill>
                <a:latin typeface="Arial"/>
              </a:rPr>
              <a:t>Negative change = lower program score in flight</a:t>
            </a:r>
          </a:p>
        </p:txBody>
      </p:sp>
      <p:sp>
        <p:nvSpPr>
          <p:cNvPr id="83" name="TextBox 8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Observed example scores: expiMap manuscript Table S33. Formal effects are estimated within project; lower scores do not prove biochemical inhibition.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Four tissues produced the clearest pathway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Effects were estimated within each project before the project-level shifts were combined.</a:t>
            </a:r>
          </a:p>
        </p:txBody>
      </p:sp>
      <p:sp>
        <p:nvSpPr>
          <p:cNvPr id="7" name="Rectangle 6"/>
          <p:cNvSpPr/>
          <p:nvPr/>
        </p:nvSpPr>
        <p:spPr>
          <a:xfrm>
            <a:off x="438912" y="1847088"/>
            <a:ext cx="11320272" cy="896112"/>
          </a:xfrm>
          <a:prstGeom prst="rect">
            <a:avLst/>
          </a:prstGeom>
          <a:solidFill>
            <a:srgbClr val="F1EDF7"/>
          </a:solidFill>
          <a:ln w="10160">
            <a:solidFill>
              <a:srgbClr val="F1ED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47088"/>
            <a:ext cx="68580" cy="8961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011680"/>
            <a:ext cx="1298448" cy="292608"/>
          </a:xfrm>
          <a:prstGeom prst="rect">
            <a:avLst/>
          </a:prstGeom>
          <a:noFill/>
        </p:spPr>
        <p:txBody>
          <a:bodyPr wrap="square" lIns="0" rIns="0" tIns="0" bIns="0" anchor="t">
            <a:spAutoFit/>
          </a:bodyPr>
          <a:lstStyle/>
          <a:p>
            <a:pPr algn="l">
              <a:spcAft>
                <a:spcPts val="0"/>
              </a:spcAft>
            </a:pPr>
            <a:r>
              <a:rPr sz="1700" b="1" i="0">
                <a:solidFill>
                  <a:srgbClr val="8063A6"/>
                </a:solidFill>
                <a:latin typeface="Arial"/>
              </a:rPr>
              <a:t>Thymus</a:t>
            </a:r>
          </a:p>
        </p:txBody>
      </p:sp>
      <p:sp>
        <p:nvSpPr>
          <p:cNvPr id="10" name="TextBox 9"/>
          <p:cNvSpPr txBox="1"/>
          <p:nvPr/>
        </p:nvSpPr>
        <p:spPr>
          <a:xfrm>
            <a:off x="694944" y="2359152"/>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117 samples | 5 projects</a:t>
            </a:r>
          </a:p>
        </p:txBody>
      </p:sp>
      <p:sp>
        <p:nvSpPr>
          <p:cNvPr id="11" name="TextBox 10"/>
          <p:cNvSpPr txBox="1"/>
          <p:nvPr/>
        </p:nvSpPr>
        <p:spPr>
          <a:xfrm>
            <a:off x="2322576" y="1993392"/>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12" name="TextBox 11"/>
          <p:cNvSpPr txBox="1"/>
          <p:nvPr/>
        </p:nvSpPr>
        <p:spPr>
          <a:xfrm>
            <a:off x="2322576" y="2240280"/>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DNA repair; RHOA cytoskeletal cycle; lymphoid-stromal interactions</a:t>
            </a:r>
          </a:p>
        </p:txBody>
      </p:sp>
      <p:sp>
        <p:nvSpPr>
          <p:cNvPr id="13" name="Rectangle 12"/>
          <p:cNvSpPr/>
          <p:nvPr/>
        </p:nvSpPr>
        <p:spPr>
          <a:xfrm>
            <a:off x="6419088" y="1993392"/>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020824"/>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Known involution may also involve lower repair, motility, and niche coordination.</a:t>
            </a:r>
          </a:p>
        </p:txBody>
      </p:sp>
      <p:sp>
        <p:nvSpPr>
          <p:cNvPr id="15" name="Rectangle 14"/>
          <p:cNvSpPr/>
          <p:nvPr/>
        </p:nvSpPr>
        <p:spPr>
          <a:xfrm>
            <a:off x="438912" y="2916936"/>
            <a:ext cx="11320272" cy="896112"/>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916936"/>
            <a:ext cx="68580" cy="8961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081528"/>
            <a:ext cx="1298448" cy="292608"/>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Skin</a:t>
            </a:r>
          </a:p>
        </p:txBody>
      </p:sp>
      <p:sp>
        <p:nvSpPr>
          <p:cNvPr id="18" name="TextBox 17"/>
          <p:cNvSpPr txBox="1"/>
          <p:nvPr/>
        </p:nvSpPr>
        <p:spPr>
          <a:xfrm>
            <a:off x="694944" y="3429000"/>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151 samples | 4 projects</a:t>
            </a:r>
          </a:p>
        </p:txBody>
      </p:sp>
      <p:sp>
        <p:nvSpPr>
          <p:cNvPr id="19" name="TextBox 18"/>
          <p:cNvSpPr txBox="1"/>
          <p:nvPr/>
        </p:nvSpPr>
        <p:spPr>
          <a:xfrm>
            <a:off x="2322576" y="3063240"/>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0" name="TextBox 19"/>
          <p:cNvSpPr txBox="1"/>
          <p:nvPr/>
        </p:nvSpPr>
        <p:spPr>
          <a:xfrm>
            <a:off x="2322576" y="3310128"/>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Chromatin regulation; DNA repair; Hedgehog; sphingolipids; cell junctions</a:t>
            </a:r>
          </a:p>
        </p:txBody>
      </p:sp>
      <p:sp>
        <p:nvSpPr>
          <p:cNvPr id="21" name="Rectangle 20"/>
          <p:cNvSpPr/>
          <p:nvPr/>
        </p:nvSpPr>
        <p:spPr>
          <a:xfrm>
            <a:off x="6419088" y="3063240"/>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090672"/>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Barrier injury may include a broader loss of tissue maintenance and coordination.</a:t>
            </a:r>
          </a:p>
        </p:txBody>
      </p:sp>
      <p:sp>
        <p:nvSpPr>
          <p:cNvPr id="23" name="Rectangle 22"/>
          <p:cNvSpPr/>
          <p:nvPr/>
        </p:nvSpPr>
        <p:spPr>
          <a:xfrm>
            <a:off x="438912" y="3986783"/>
            <a:ext cx="11320272" cy="896112"/>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8912" y="3986783"/>
            <a:ext cx="68580" cy="8961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4151375"/>
            <a:ext cx="1298448" cy="292608"/>
          </a:xfrm>
          <a:prstGeom prst="rect">
            <a:avLst/>
          </a:prstGeom>
          <a:noFill/>
        </p:spPr>
        <p:txBody>
          <a:bodyPr wrap="square" lIns="0" rIns="0" tIns="0" bIns="0" anchor="t">
            <a:spAutoFit/>
          </a:bodyPr>
          <a:lstStyle/>
          <a:p>
            <a:pPr algn="l">
              <a:spcAft>
                <a:spcPts val="0"/>
              </a:spcAft>
            </a:pPr>
            <a:r>
              <a:rPr sz="1700" b="1" i="0">
                <a:solidFill>
                  <a:srgbClr val="178681"/>
                </a:solidFill>
                <a:latin typeface="Arial"/>
              </a:rPr>
              <a:t>Liver</a:t>
            </a:r>
          </a:p>
        </p:txBody>
      </p:sp>
      <p:sp>
        <p:nvSpPr>
          <p:cNvPr id="26" name="TextBox 25"/>
          <p:cNvSpPr txBox="1"/>
          <p:nvPr/>
        </p:nvSpPr>
        <p:spPr>
          <a:xfrm>
            <a:off x="694944" y="4498848"/>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197 samples | 9 projects</a:t>
            </a:r>
          </a:p>
        </p:txBody>
      </p:sp>
      <p:sp>
        <p:nvSpPr>
          <p:cNvPr id="27" name="TextBox 26"/>
          <p:cNvSpPr txBox="1"/>
          <p:nvPr/>
        </p:nvSpPr>
        <p:spPr>
          <a:xfrm>
            <a:off x="2322576" y="4133087"/>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8" name="TextBox 27"/>
          <p:cNvSpPr txBox="1"/>
          <p:nvPr/>
        </p:nvSpPr>
        <p:spPr>
          <a:xfrm>
            <a:off x="2322576" y="4379975"/>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MHC class II antigen presentation; T-cell receptor signaling</a:t>
            </a:r>
          </a:p>
        </p:txBody>
      </p:sp>
      <p:sp>
        <p:nvSpPr>
          <p:cNvPr id="29" name="Rectangle 28"/>
          <p:cNvSpPr/>
          <p:nvPr/>
        </p:nvSpPr>
        <p:spPr>
          <a:xfrm>
            <a:off x="6419088" y="4133087"/>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160520"/>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Metabolic heterogeneity coexisted with lower adaptive immune communication.</a:t>
            </a:r>
          </a:p>
        </p:txBody>
      </p:sp>
      <p:sp>
        <p:nvSpPr>
          <p:cNvPr id="31" name="Rectangle 30"/>
          <p:cNvSpPr/>
          <p:nvPr/>
        </p:nvSpPr>
        <p:spPr>
          <a:xfrm>
            <a:off x="438912" y="5056631"/>
            <a:ext cx="11320272" cy="896112"/>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56631"/>
            <a:ext cx="68580" cy="8961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5221223"/>
            <a:ext cx="1298448" cy="292608"/>
          </a:xfrm>
          <a:prstGeom prst="rect">
            <a:avLst/>
          </a:prstGeom>
          <a:noFill/>
        </p:spPr>
        <p:txBody>
          <a:bodyPr wrap="square" lIns="0" rIns="0" tIns="0" bIns="0" anchor="t">
            <a:spAutoFit/>
          </a:bodyPr>
          <a:lstStyle/>
          <a:p>
            <a:pPr algn="l">
              <a:spcAft>
                <a:spcPts val="0"/>
              </a:spcAft>
            </a:pPr>
            <a:r>
              <a:rPr sz="1700" b="1" i="0">
                <a:solidFill>
                  <a:srgbClr val="D96552"/>
                </a:solidFill>
                <a:latin typeface="Arial"/>
              </a:rPr>
              <a:t>Spleen</a:t>
            </a:r>
          </a:p>
        </p:txBody>
      </p:sp>
      <p:sp>
        <p:nvSpPr>
          <p:cNvPr id="34" name="TextBox 33"/>
          <p:cNvSpPr txBox="1"/>
          <p:nvPr/>
        </p:nvSpPr>
        <p:spPr>
          <a:xfrm>
            <a:off x="694944" y="5568696"/>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100 samples | 5 projects</a:t>
            </a:r>
          </a:p>
        </p:txBody>
      </p:sp>
      <p:sp>
        <p:nvSpPr>
          <p:cNvPr id="35" name="TextBox 34"/>
          <p:cNvSpPr txBox="1"/>
          <p:nvPr/>
        </p:nvSpPr>
        <p:spPr>
          <a:xfrm>
            <a:off x="2322576" y="5202936"/>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36" name="TextBox 35"/>
          <p:cNvSpPr txBox="1"/>
          <p:nvPr/>
        </p:nvSpPr>
        <p:spPr>
          <a:xfrm>
            <a:off x="2322576" y="5449823"/>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T-cell receptor signaling; neutrophil degranulation; C-type lectin signaling</a:t>
            </a:r>
          </a:p>
        </p:txBody>
      </p:sp>
      <p:sp>
        <p:nvSpPr>
          <p:cNvPr id="37" name="Rectangle 36"/>
          <p:cNvSpPr/>
          <p:nvPr/>
        </p:nvSpPr>
        <p:spPr>
          <a:xfrm>
            <a:off x="6419088" y="5202936"/>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5230368"/>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The most consistent multi-pathway result joined adaptive and innate immune changes.</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Figures 3 and 6. Lower latent scores do not by themselves prove biochemical inhibition.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7" name="TextBox 6"/>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8" name="TextBox 7"/>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9" name="Rectangle 8"/>
          <p:cNvSpPr/>
          <p:nvPr/>
        </p:nvSpPr>
        <p:spPr>
          <a:xfrm>
            <a:off x="457200" y="2359152"/>
            <a:ext cx="3273552" cy="340156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2144"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790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4942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51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1790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8366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49424"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151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63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214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17904"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8366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49424"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51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517904"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88366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4942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214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51790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83664"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151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41" name="TextBox 40"/>
          <p:cNvSpPr txBox="1"/>
          <p:nvPr/>
        </p:nvSpPr>
        <p:spPr>
          <a:xfrm>
            <a:off x="2962656"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42" name="Rectangle 41"/>
          <p:cNvSpPr/>
          <p:nvPr/>
        </p:nvSpPr>
        <p:spPr>
          <a:xfrm>
            <a:off x="713232"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Measured gene expression from real mouse tissue</a:t>
            </a:r>
          </a:p>
        </p:txBody>
      </p:sp>
      <p:sp>
        <p:nvSpPr>
          <p:cNvPr id="44" name="Right Arrow 43"/>
          <p:cNvSpPr/>
          <p:nvPr/>
        </p:nvSpPr>
        <p:spPr>
          <a:xfrm>
            <a:off x="3794760"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46" name="TextBox 45"/>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47" name="Rectangle 46"/>
          <p:cNvSpPr/>
          <p:nvPr/>
        </p:nvSpPr>
        <p:spPr>
          <a:xfrm>
            <a:off x="4224528" y="2359152"/>
            <a:ext cx="3273552" cy="340156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4626864" y="2999232"/>
            <a:ext cx="612648" cy="475488"/>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26864" y="3474720"/>
            <a:ext cx="612648" cy="512064"/>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39512" y="2999232"/>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39512" y="3493008"/>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07024" y="2999232"/>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907024" y="3493008"/>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565392" y="2999232"/>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565392" y="3493008"/>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553712" y="3401568"/>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16636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16636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833872"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49224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49224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040880"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480560"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98848"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Capture gene relationships and variation by tissue and FLT/GC condition</a:t>
            </a:r>
          </a:p>
        </p:txBody>
      </p:sp>
      <p:sp>
        <p:nvSpPr>
          <p:cNvPr id="65" name="Right Arrow 64"/>
          <p:cNvSpPr/>
          <p:nvPr/>
        </p:nvSpPr>
        <p:spPr>
          <a:xfrm>
            <a:off x="7562088"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67" name="TextBox 66"/>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68" name="Rectangle 67"/>
          <p:cNvSpPr/>
          <p:nvPr/>
        </p:nvSpPr>
        <p:spPr>
          <a:xfrm>
            <a:off x="7991856" y="2359152"/>
            <a:ext cx="3273552" cy="3401568"/>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86800"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5256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1832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84080"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98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3210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68680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052560"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784080"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1498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210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68680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52560"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1832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8408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1498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3210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68680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05256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418320"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8408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1498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3210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686800"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05256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418320"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78408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1498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321040"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100" name="TextBox 99"/>
          <p:cNvSpPr txBox="1"/>
          <p:nvPr/>
        </p:nvSpPr>
        <p:spPr>
          <a:xfrm>
            <a:off x="10497312"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101" name="Rectangle 100"/>
          <p:cNvSpPr/>
          <p:nvPr/>
        </p:nvSpPr>
        <p:spPr>
          <a:xfrm>
            <a:off x="8247888"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266176"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Sample new numeric expression vectors for a selected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WGAN-GP</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 generator learns by competing with a critic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makes conditioned expression profiles; the critic compares them with measured RNA-seq.</a:t>
            </a:r>
          </a:p>
        </p:txBody>
      </p:sp>
      <p:sp>
        <p:nvSpPr>
          <p:cNvPr id="7" name="Rectangle 6"/>
          <p:cNvSpPr/>
          <p:nvPr/>
        </p:nvSpPr>
        <p:spPr>
          <a:xfrm>
            <a:off x="438912" y="1773936"/>
            <a:ext cx="4937760" cy="4462272"/>
          </a:xfrm>
          <a:prstGeom prst="rect">
            <a:avLst/>
          </a:prstGeom>
          <a:solidFill>
            <a:srgbClr val="EEF2F6"/>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Animated teaching diagram of a WGAN generator competing with a critic" descr="Animated teaching diagram of a WGAN generator competing with a critic"/>
          <p:cNvPicPr>
            <a:picLocks noChangeAspect="1"/>
          </p:cNvPicPr>
          <p:nvPr/>
        </p:nvPicPr>
        <p:blipFill>
          <a:blip r:embed="rId2"/>
          <a:stretch>
            <a:fillRect/>
          </a:stretch>
        </p:blipFill>
        <p:spPr>
          <a:xfrm>
            <a:off x="986180" y="1856231"/>
            <a:ext cx="3843223" cy="4270248"/>
          </a:xfrm>
          <a:prstGeom prst="rect">
            <a:avLst/>
          </a:prstGeom>
        </p:spPr>
      </p:pic>
      <p:sp>
        <p:nvSpPr>
          <p:cNvPr id="9" name="TextBox 8"/>
          <p:cNvSpPr txBox="1"/>
          <p:nvPr/>
        </p:nvSpPr>
        <p:spPr>
          <a:xfrm>
            <a:off x="5760720" y="1856231"/>
            <a:ext cx="1417320"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TRAINING LOOP</a:t>
            </a:r>
          </a:p>
        </p:txBody>
      </p:sp>
      <p:sp>
        <p:nvSpPr>
          <p:cNvPr id="10" name="TextBox 9"/>
          <p:cNvSpPr txBox="1"/>
          <p:nvPr/>
        </p:nvSpPr>
        <p:spPr>
          <a:xfrm>
            <a:off x="5760720" y="2304288"/>
            <a:ext cx="365760" cy="228600"/>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11" name="Rectangle 10"/>
          <p:cNvSpPr/>
          <p:nvPr/>
        </p:nvSpPr>
        <p:spPr>
          <a:xfrm>
            <a:off x="6236208" y="2350008"/>
            <a:ext cx="50292" cy="65836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86000"/>
            <a:ext cx="1417320" cy="274320"/>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Generate</a:t>
            </a:r>
          </a:p>
        </p:txBody>
      </p:sp>
      <p:sp>
        <p:nvSpPr>
          <p:cNvPr id="13" name="TextBox 12"/>
          <p:cNvSpPr txBox="1"/>
          <p:nvPr/>
        </p:nvSpPr>
        <p:spPr>
          <a:xfrm>
            <a:off x="7918704" y="2267712"/>
            <a:ext cx="3456432" cy="621792"/>
          </a:xfrm>
          <a:prstGeom prst="rect">
            <a:avLst/>
          </a:prstGeom>
          <a:noFill/>
        </p:spPr>
        <p:txBody>
          <a:bodyPr wrap="square" lIns="0" rIns="0" tIns="0" bIns="0" anchor="ctr">
            <a:spAutoFit/>
          </a:bodyPr>
          <a:lstStyle/>
          <a:p>
            <a:pPr algn="l">
              <a:spcAft>
                <a:spcPts val="0"/>
              </a:spcAft>
            </a:pPr>
            <a:r>
              <a:rPr sz="1140" b="0" i="0">
                <a:solidFill>
                  <a:srgbClr val="263746"/>
                </a:solidFill>
                <a:latin typeface="Arial"/>
              </a:rPr>
              <a:t>Noise and a requested condition become one synthetic expression profile.</a:t>
            </a:r>
          </a:p>
        </p:txBody>
      </p:sp>
      <p:sp>
        <p:nvSpPr>
          <p:cNvPr id="14" name="Down Arrow 13"/>
          <p:cNvSpPr/>
          <p:nvPr/>
        </p:nvSpPr>
        <p:spPr>
          <a:xfrm>
            <a:off x="6894576" y="3044952"/>
            <a:ext cx="201168" cy="256032"/>
          </a:xfrm>
          <a:prstGeom prst="down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474720"/>
            <a:ext cx="365760"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02</a:t>
            </a:r>
          </a:p>
        </p:txBody>
      </p:sp>
      <p:sp>
        <p:nvSpPr>
          <p:cNvPr id="16" name="Rectangle 15"/>
          <p:cNvSpPr/>
          <p:nvPr/>
        </p:nvSpPr>
        <p:spPr>
          <a:xfrm>
            <a:off x="6236208" y="3520439"/>
            <a:ext cx="50292" cy="65836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1417320" cy="274320"/>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Score</a:t>
            </a:r>
          </a:p>
        </p:txBody>
      </p:sp>
      <p:sp>
        <p:nvSpPr>
          <p:cNvPr id="18" name="TextBox 17"/>
          <p:cNvSpPr txBox="1"/>
          <p:nvPr/>
        </p:nvSpPr>
        <p:spPr>
          <a:xfrm>
            <a:off x="7918704" y="3438144"/>
            <a:ext cx="3456432" cy="621792"/>
          </a:xfrm>
          <a:prstGeom prst="rect">
            <a:avLst/>
          </a:prstGeom>
          <a:noFill/>
        </p:spPr>
        <p:txBody>
          <a:bodyPr wrap="square" lIns="0" rIns="0" tIns="0" bIns="0" anchor="ctr">
            <a:spAutoFit/>
          </a:bodyPr>
          <a:lstStyle/>
          <a:p>
            <a:pPr algn="l">
              <a:spcAft>
                <a:spcPts val="0"/>
              </a:spcAft>
            </a:pPr>
            <a:r>
              <a:rPr sz="1140" b="0" i="0">
                <a:solidFill>
                  <a:srgbClr val="263746"/>
                </a:solidFill>
                <a:latin typeface="Arial"/>
              </a:rPr>
              <a:t>The critic scores measured and generated profiles without seeing their labels.</a:t>
            </a:r>
          </a:p>
        </p:txBody>
      </p:sp>
      <p:sp>
        <p:nvSpPr>
          <p:cNvPr id="19" name="Down Arrow 18"/>
          <p:cNvSpPr/>
          <p:nvPr/>
        </p:nvSpPr>
        <p:spPr>
          <a:xfrm>
            <a:off x="6894576" y="4215383"/>
            <a:ext cx="201168" cy="256032"/>
          </a:xfrm>
          <a:prstGeom prst="down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0720" y="4645151"/>
            <a:ext cx="365760"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03</a:t>
            </a:r>
          </a:p>
        </p:txBody>
      </p:sp>
      <p:sp>
        <p:nvSpPr>
          <p:cNvPr id="21" name="Rectangle 20"/>
          <p:cNvSpPr/>
          <p:nvPr/>
        </p:nvSpPr>
        <p:spPr>
          <a:xfrm>
            <a:off x="6236208" y="4690872"/>
            <a:ext cx="50292" cy="65836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4626864"/>
            <a:ext cx="1417320" cy="274320"/>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Update</a:t>
            </a:r>
          </a:p>
        </p:txBody>
      </p:sp>
      <p:sp>
        <p:nvSpPr>
          <p:cNvPr id="23" name="TextBox 22"/>
          <p:cNvSpPr txBox="1"/>
          <p:nvPr/>
        </p:nvSpPr>
        <p:spPr>
          <a:xfrm>
            <a:off x="7918704" y="4608576"/>
            <a:ext cx="3456432" cy="621792"/>
          </a:xfrm>
          <a:prstGeom prst="rect">
            <a:avLst/>
          </a:prstGeom>
          <a:noFill/>
        </p:spPr>
        <p:txBody>
          <a:bodyPr wrap="square" lIns="0" rIns="0" tIns="0" bIns="0" anchor="ctr">
            <a:spAutoFit/>
          </a:bodyPr>
          <a:lstStyle/>
          <a:p>
            <a:pPr algn="l">
              <a:spcAft>
                <a:spcPts val="0"/>
              </a:spcAft>
            </a:pPr>
            <a:r>
              <a:rPr sz="1140" b="0" i="0">
                <a:solidFill>
                  <a:srgbClr val="263746"/>
                </a:solidFill>
                <a:latin typeface="Arial"/>
              </a:rPr>
              <a:t>The critic sharpens the comparison; the generator learns to close the gap.</a:t>
            </a:r>
          </a:p>
        </p:txBody>
      </p:sp>
      <p:sp>
        <p:nvSpPr>
          <p:cNvPr id="24" name="Rectangle 23"/>
          <p:cNvSpPr/>
          <p:nvPr/>
        </p:nvSpPr>
        <p:spPr>
          <a:xfrm>
            <a:off x="5742432" y="5650992"/>
            <a:ext cx="5687568"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9864" y="5843016"/>
            <a:ext cx="841248" cy="164592"/>
          </a:xfrm>
          <a:prstGeom prst="rect">
            <a:avLst/>
          </a:prstGeom>
          <a:noFill/>
        </p:spPr>
        <p:txBody>
          <a:bodyPr wrap="square" lIns="0" rIns="0" tIns="0" bIns="0" anchor="t">
            <a:spAutoFit/>
          </a:bodyPr>
          <a:lstStyle/>
          <a:p>
            <a:pPr algn="l">
              <a:spcAft>
                <a:spcPts val="0"/>
              </a:spcAft>
            </a:pPr>
            <a:r>
              <a:rPr sz="850" b="1" i="0">
                <a:solidFill>
                  <a:srgbClr val="178681"/>
                </a:solidFill>
                <a:latin typeface="Arial"/>
              </a:rPr>
              <a:t>CONDITION</a:t>
            </a:r>
          </a:p>
        </p:txBody>
      </p:sp>
      <p:sp>
        <p:nvSpPr>
          <p:cNvPr id="26" name="Rectangle 25"/>
          <p:cNvSpPr/>
          <p:nvPr/>
        </p:nvSpPr>
        <p:spPr>
          <a:xfrm>
            <a:off x="6711696" y="5751576"/>
            <a:ext cx="941832" cy="3474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11696" y="5843016"/>
            <a:ext cx="941832" cy="146304"/>
          </a:xfrm>
          <a:prstGeom prst="rect">
            <a:avLst/>
          </a:prstGeom>
          <a:noFill/>
        </p:spPr>
        <p:txBody>
          <a:bodyPr wrap="square" lIns="0" rIns="0" tIns="0" bIns="0" anchor="t">
            <a:spAutoFit/>
          </a:bodyPr>
          <a:lstStyle/>
          <a:p>
            <a:pPr algn="ctr">
              <a:spcAft>
                <a:spcPts val="0"/>
              </a:spcAft>
            </a:pPr>
            <a:r>
              <a:rPr sz="850" b="1" i="0">
                <a:solidFill>
                  <a:srgbClr val="178681"/>
                </a:solidFill>
                <a:latin typeface="Arial"/>
              </a:rPr>
              <a:t>Tissue</a:t>
            </a:r>
          </a:p>
        </p:txBody>
      </p:sp>
      <p:sp>
        <p:nvSpPr>
          <p:cNvPr id="28" name="Rectangle 27"/>
          <p:cNvSpPr/>
          <p:nvPr/>
        </p:nvSpPr>
        <p:spPr>
          <a:xfrm>
            <a:off x="7754112" y="5751576"/>
            <a:ext cx="1024128" cy="3474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54112" y="5843016"/>
            <a:ext cx="1024128" cy="146304"/>
          </a:xfrm>
          <a:prstGeom prst="rect">
            <a:avLst/>
          </a:prstGeom>
          <a:noFill/>
        </p:spPr>
        <p:txBody>
          <a:bodyPr wrap="square" lIns="0" rIns="0" tIns="0" bIns="0" anchor="t">
            <a:spAutoFit/>
          </a:bodyPr>
          <a:lstStyle/>
          <a:p>
            <a:pPr algn="ctr">
              <a:spcAft>
                <a:spcPts val="0"/>
              </a:spcAft>
            </a:pPr>
            <a:r>
              <a:rPr sz="850" b="1" i="0">
                <a:solidFill>
                  <a:srgbClr val="178681"/>
                </a:solidFill>
                <a:latin typeface="Arial"/>
              </a:rPr>
              <a:t>FLT / GC</a:t>
            </a:r>
          </a:p>
        </p:txBody>
      </p:sp>
      <p:sp>
        <p:nvSpPr>
          <p:cNvPr id="30" name="Rectangle 29"/>
          <p:cNvSpPr/>
          <p:nvPr/>
        </p:nvSpPr>
        <p:spPr>
          <a:xfrm>
            <a:off x="8878824" y="5751576"/>
            <a:ext cx="1051560" cy="3474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4" y="5843016"/>
            <a:ext cx="1051560" cy="146304"/>
          </a:xfrm>
          <a:prstGeom prst="rect">
            <a:avLst/>
          </a:prstGeom>
          <a:noFill/>
        </p:spPr>
        <p:txBody>
          <a:bodyPr wrap="square" lIns="0" rIns="0" tIns="0" bIns="0" anchor="t">
            <a:spAutoFit/>
          </a:bodyPr>
          <a:lstStyle/>
          <a:p>
            <a:pPr algn="ctr">
              <a:spcAft>
                <a:spcPts val="0"/>
              </a:spcAft>
            </a:pPr>
            <a:r>
              <a:rPr sz="850" b="1" i="0">
                <a:solidFill>
                  <a:srgbClr val="178681"/>
                </a:solidFill>
                <a:latin typeface="Arial"/>
              </a:rPr>
              <a:t>Accession</a:t>
            </a:r>
          </a:p>
        </p:txBody>
      </p:sp>
      <p:sp>
        <p:nvSpPr>
          <p:cNvPr id="32" name="Rectangle 31"/>
          <p:cNvSpPr/>
          <p:nvPr/>
        </p:nvSpPr>
        <p:spPr>
          <a:xfrm>
            <a:off x="10030968" y="5751576"/>
            <a:ext cx="1298448" cy="3474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30968" y="5843016"/>
            <a:ext cx="1298448" cy="146304"/>
          </a:xfrm>
          <a:prstGeom prst="rect">
            <a:avLst/>
          </a:prstGeom>
          <a:noFill/>
        </p:spPr>
        <p:txBody>
          <a:bodyPr wrap="square" lIns="0" rIns="0" tIns="0" bIns="0" anchor="t">
            <a:spAutoFit/>
          </a:bodyPr>
          <a:lstStyle/>
          <a:p>
            <a:pPr algn="ctr">
              <a:spcAft>
                <a:spcPts val="0"/>
              </a:spcAft>
            </a:pPr>
            <a:r>
              <a:rPr sz="850" b="1" i="0">
                <a:solidFill>
                  <a:srgbClr val="178681"/>
                </a:solidFill>
                <a:latin typeface="Arial"/>
              </a:rPr>
              <a:t>Material type</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Animation reused from the project midpoint presentation. WGAN-GP follows the adversarial RNA-seq framework of Vinas et al. (2022).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turns noise into a conditioned sample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model repeatedly removes predicted noise while following the requested biological context.</a:t>
            </a:r>
          </a:p>
        </p:txBody>
      </p:sp>
      <p:sp>
        <p:nvSpPr>
          <p:cNvPr id="7" name="Rectangle 6"/>
          <p:cNvSpPr/>
          <p:nvPr/>
        </p:nvSpPr>
        <p:spPr>
          <a:xfrm>
            <a:off x="438912" y="1810512"/>
            <a:ext cx="4846320" cy="4352544"/>
          </a:xfrm>
          <a:prstGeom prst="rect">
            <a:avLst/>
          </a:prstGeom>
          <a:solidFill>
            <a:srgbClr val="EEF2F6"/>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Animated two-dimensional teaching example of FLT- and GC-conditioned reverse diffusion" descr="Animated two-dimensional teaching example of FLT- and GC-conditioned reverse diffusion"/>
          <p:cNvPicPr>
            <a:picLocks noChangeAspect="1"/>
          </p:cNvPicPr>
          <p:nvPr/>
        </p:nvPicPr>
        <p:blipFill>
          <a:blip r:embed="rId2"/>
          <a:stretch>
            <a:fillRect/>
          </a:stretch>
        </p:blipFill>
        <p:spPr>
          <a:xfrm>
            <a:off x="1023702" y="1892807"/>
            <a:ext cx="3676738" cy="4160520"/>
          </a:xfrm>
          <a:prstGeom prst="rect">
            <a:avLst/>
          </a:prstGeom>
        </p:spPr>
      </p:pic>
      <p:sp>
        <p:nvSpPr>
          <p:cNvPr id="9" name="TextBox 8"/>
          <p:cNvSpPr txBox="1"/>
          <p:nvPr/>
        </p:nvSpPr>
        <p:spPr>
          <a:xfrm>
            <a:off x="5650992" y="1883664"/>
            <a:ext cx="1389888"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FOR RNA-SEQ</a:t>
            </a:r>
          </a:p>
        </p:txBody>
      </p:sp>
      <p:sp>
        <p:nvSpPr>
          <p:cNvPr id="10" name="Rectangle 9"/>
          <p:cNvSpPr/>
          <p:nvPr/>
        </p:nvSpPr>
        <p:spPr>
          <a:xfrm>
            <a:off x="5751576" y="2386584"/>
            <a:ext cx="64008" cy="62179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16752" y="2322576"/>
            <a:ext cx="1225296" cy="182880"/>
          </a:xfrm>
          <a:prstGeom prst="rect">
            <a:avLst/>
          </a:prstGeom>
          <a:noFill/>
        </p:spPr>
        <p:txBody>
          <a:bodyPr wrap="square" lIns="0" rIns="0" tIns="0" bIns="0" anchor="t">
            <a:spAutoFit/>
          </a:bodyPr>
          <a:lstStyle/>
          <a:p>
            <a:pPr algn="l">
              <a:spcAft>
                <a:spcPts val="0"/>
              </a:spcAft>
            </a:pPr>
            <a:r>
              <a:rPr sz="850" b="1" i="0">
                <a:solidFill>
                  <a:srgbClr val="8A969E"/>
                </a:solidFill>
                <a:latin typeface="Arial"/>
              </a:rPr>
              <a:t>T = 1000</a:t>
            </a:r>
          </a:p>
        </p:txBody>
      </p:sp>
      <p:sp>
        <p:nvSpPr>
          <p:cNvPr id="12" name="TextBox 11"/>
          <p:cNvSpPr txBox="1"/>
          <p:nvPr/>
        </p:nvSpPr>
        <p:spPr>
          <a:xfrm>
            <a:off x="6016752" y="2560320"/>
            <a:ext cx="2121408" cy="274320"/>
          </a:xfrm>
          <a:prstGeom prst="rect">
            <a:avLst/>
          </a:prstGeom>
          <a:noFill/>
        </p:spPr>
        <p:txBody>
          <a:bodyPr wrap="square" lIns="0" rIns="0" tIns="0" bIns="0" anchor="t">
            <a:spAutoFit/>
          </a:bodyPr>
          <a:lstStyle/>
          <a:p>
            <a:pPr algn="l">
              <a:spcAft>
                <a:spcPts val="0"/>
              </a:spcAft>
            </a:pPr>
            <a:r>
              <a:rPr sz="1500" b="1" i="0">
                <a:solidFill>
                  <a:srgbClr val="082B55"/>
                </a:solidFill>
                <a:latin typeface="Arial"/>
              </a:rPr>
              <a:t>Random noise</a:t>
            </a:r>
          </a:p>
        </p:txBody>
      </p:sp>
      <p:sp>
        <p:nvSpPr>
          <p:cNvPr id="13" name="TextBox 12"/>
          <p:cNvSpPr txBox="1"/>
          <p:nvPr/>
        </p:nvSpPr>
        <p:spPr>
          <a:xfrm>
            <a:off x="8275320" y="2514600"/>
            <a:ext cx="1920240" cy="393192"/>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974 unconstrained gene values</a:t>
            </a:r>
          </a:p>
        </p:txBody>
      </p:sp>
      <p:sp>
        <p:nvSpPr>
          <p:cNvPr id="14" name="Oval 13"/>
          <p:cNvSpPr/>
          <p:nvPr/>
        </p:nvSpPr>
        <p:spPr>
          <a:xfrm>
            <a:off x="10315477" y="2732191"/>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626586" y="2621333"/>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05360" y="2794162"/>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99050" y="2541857"/>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826757" y="2591625"/>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165752" y="2847379"/>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808507" y="2778614"/>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678254" y="2808719"/>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6207" y="2608294"/>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422259" y="2562011"/>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89760" y="2646191"/>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837974" y="2474163"/>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605474" y="2619144"/>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51576" y="3520439"/>
            <a:ext cx="64008" cy="62179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16752" y="3456432"/>
            <a:ext cx="1225296" cy="182880"/>
          </a:xfrm>
          <a:prstGeom prst="rect">
            <a:avLst/>
          </a:prstGeom>
          <a:noFill/>
        </p:spPr>
        <p:txBody>
          <a:bodyPr wrap="square" lIns="0" rIns="0" tIns="0" bIns="0" anchor="t">
            <a:spAutoFit/>
          </a:bodyPr>
          <a:lstStyle/>
          <a:p>
            <a:pPr algn="l">
              <a:spcAft>
                <a:spcPts val="0"/>
              </a:spcAft>
            </a:pPr>
            <a:r>
              <a:rPr sz="850" b="1" i="0">
                <a:solidFill>
                  <a:srgbClr val="178681"/>
                </a:solidFill>
                <a:latin typeface="Arial"/>
              </a:rPr>
              <a:t>REVERSE STEPS</a:t>
            </a:r>
          </a:p>
        </p:txBody>
      </p:sp>
      <p:sp>
        <p:nvSpPr>
          <p:cNvPr id="29" name="TextBox 28"/>
          <p:cNvSpPr txBox="1"/>
          <p:nvPr/>
        </p:nvSpPr>
        <p:spPr>
          <a:xfrm>
            <a:off x="6016752" y="3694176"/>
            <a:ext cx="2121408" cy="274320"/>
          </a:xfrm>
          <a:prstGeom prst="rect">
            <a:avLst/>
          </a:prstGeom>
          <a:noFill/>
        </p:spPr>
        <p:txBody>
          <a:bodyPr wrap="square" lIns="0" rIns="0" tIns="0" bIns="0" anchor="t">
            <a:spAutoFit/>
          </a:bodyPr>
          <a:lstStyle/>
          <a:p>
            <a:pPr algn="l">
              <a:spcAft>
                <a:spcPts val="0"/>
              </a:spcAft>
            </a:pPr>
            <a:r>
              <a:rPr sz="1500" b="1" i="0">
                <a:solidFill>
                  <a:srgbClr val="082B55"/>
                </a:solidFill>
                <a:latin typeface="Arial"/>
              </a:rPr>
              <a:t>Conditional denoising</a:t>
            </a:r>
          </a:p>
        </p:txBody>
      </p:sp>
      <p:sp>
        <p:nvSpPr>
          <p:cNvPr id="30" name="Rectangle 29"/>
          <p:cNvSpPr/>
          <p:nvPr/>
        </p:nvSpPr>
        <p:spPr>
          <a:xfrm>
            <a:off x="8439912" y="3529584"/>
            <a:ext cx="1234440" cy="237744"/>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39912" y="3575303"/>
            <a:ext cx="1234440" cy="137160"/>
          </a:xfrm>
          <a:prstGeom prst="rect">
            <a:avLst/>
          </a:prstGeom>
          <a:noFill/>
        </p:spPr>
        <p:txBody>
          <a:bodyPr wrap="square" lIns="0" rIns="0" tIns="0" bIns="0" anchor="t">
            <a:spAutoFit/>
          </a:bodyPr>
          <a:lstStyle/>
          <a:p>
            <a:pPr algn="ctr">
              <a:spcAft>
                <a:spcPts val="0"/>
              </a:spcAft>
            </a:pPr>
            <a:r>
              <a:rPr sz="800" b="1" i="0">
                <a:solidFill>
                  <a:srgbClr val="178681"/>
                </a:solidFill>
                <a:latin typeface="Arial"/>
              </a:rPr>
              <a:t>Tissue</a:t>
            </a:r>
          </a:p>
        </p:txBody>
      </p:sp>
      <p:sp>
        <p:nvSpPr>
          <p:cNvPr id="32" name="Rectangle 31"/>
          <p:cNvSpPr/>
          <p:nvPr/>
        </p:nvSpPr>
        <p:spPr>
          <a:xfrm>
            <a:off x="9829800" y="3529584"/>
            <a:ext cx="1234440" cy="237744"/>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29800" y="3575303"/>
            <a:ext cx="1234440" cy="137160"/>
          </a:xfrm>
          <a:prstGeom prst="rect">
            <a:avLst/>
          </a:prstGeom>
          <a:noFill/>
        </p:spPr>
        <p:txBody>
          <a:bodyPr wrap="square" lIns="0" rIns="0" tIns="0" bIns="0" anchor="t">
            <a:spAutoFit/>
          </a:bodyPr>
          <a:lstStyle/>
          <a:p>
            <a:pPr algn="ctr">
              <a:spcAft>
                <a:spcPts val="0"/>
              </a:spcAft>
            </a:pPr>
            <a:r>
              <a:rPr sz="800" b="1" i="0">
                <a:solidFill>
                  <a:srgbClr val="178681"/>
                </a:solidFill>
                <a:latin typeface="Arial"/>
              </a:rPr>
              <a:t>FLT / GC</a:t>
            </a:r>
          </a:p>
        </p:txBody>
      </p:sp>
      <p:sp>
        <p:nvSpPr>
          <p:cNvPr id="34" name="Rectangle 33"/>
          <p:cNvSpPr/>
          <p:nvPr/>
        </p:nvSpPr>
        <p:spPr>
          <a:xfrm>
            <a:off x="8439912" y="3840480"/>
            <a:ext cx="1234440" cy="237744"/>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39912" y="3886200"/>
            <a:ext cx="1234440" cy="137160"/>
          </a:xfrm>
          <a:prstGeom prst="rect">
            <a:avLst/>
          </a:prstGeom>
          <a:noFill/>
        </p:spPr>
        <p:txBody>
          <a:bodyPr wrap="square" lIns="0" rIns="0" tIns="0" bIns="0" anchor="t">
            <a:spAutoFit/>
          </a:bodyPr>
          <a:lstStyle/>
          <a:p>
            <a:pPr algn="ctr">
              <a:spcAft>
                <a:spcPts val="0"/>
              </a:spcAft>
            </a:pPr>
            <a:r>
              <a:rPr sz="800" b="1" i="0">
                <a:solidFill>
                  <a:srgbClr val="178681"/>
                </a:solidFill>
                <a:latin typeface="Arial"/>
              </a:rPr>
              <a:t>Study</a:t>
            </a:r>
          </a:p>
        </p:txBody>
      </p:sp>
      <p:sp>
        <p:nvSpPr>
          <p:cNvPr id="36" name="Rectangle 35"/>
          <p:cNvSpPr/>
          <p:nvPr/>
        </p:nvSpPr>
        <p:spPr>
          <a:xfrm>
            <a:off x="9829800" y="3840480"/>
            <a:ext cx="1234440" cy="237744"/>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29800" y="3886200"/>
            <a:ext cx="1234440" cy="137160"/>
          </a:xfrm>
          <a:prstGeom prst="rect">
            <a:avLst/>
          </a:prstGeom>
          <a:noFill/>
        </p:spPr>
        <p:txBody>
          <a:bodyPr wrap="square" lIns="0" rIns="0" tIns="0" bIns="0" anchor="t">
            <a:spAutoFit/>
          </a:bodyPr>
          <a:lstStyle/>
          <a:p>
            <a:pPr algn="ctr">
              <a:spcAft>
                <a:spcPts val="0"/>
              </a:spcAft>
            </a:pPr>
            <a:r>
              <a:rPr sz="800" b="1" i="0">
                <a:solidFill>
                  <a:srgbClr val="178681"/>
                </a:solidFill>
                <a:latin typeface="Arial"/>
              </a:rPr>
              <a:t>Material</a:t>
            </a:r>
          </a:p>
        </p:txBody>
      </p:sp>
      <p:sp>
        <p:nvSpPr>
          <p:cNvPr id="38" name="Rectangle 37"/>
          <p:cNvSpPr/>
          <p:nvPr/>
        </p:nvSpPr>
        <p:spPr>
          <a:xfrm>
            <a:off x="5751576" y="4773168"/>
            <a:ext cx="64008" cy="62179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16752" y="4709160"/>
            <a:ext cx="1225296" cy="182880"/>
          </a:xfrm>
          <a:prstGeom prst="rect">
            <a:avLst/>
          </a:prstGeom>
          <a:noFill/>
        </p:spPr>
        <p:txBody>
          <a:bodyPr wrap="square" lIns="0" rIns="0" tIns="0" bIns="0" anchor="t">
            <a:spAutoFit/>
          </a:bodyPr>
          <a:lstStyle/>
          <a:p>
            <a:pPr algn="l">
              <a:spcAft>
                <a:spcPts val="0"/>
              </a:spcAft>
            </a:pPr>
            <a:r>
              <a:rPr sz="850" b="1" i="0">
                <a:solidFill>
                  <a:srgbClr val="D37B00"/>
                </a:solidFill>
                <a:latin typeface="Arial"/>
              </a:rPr>
              <a:t>T = 0</a:t>
            </a:r>
          </a:p>
        </p:txBody>
      </p:sp>
      <p:sp>
        <p:nvSpPr>
          <p:cNvPr id="40" name="TextBox 39"/>
          <p:cNvSpPr txBox="1"/>
          <p:nvPr/>
        </p:nvSpPr>
        <p:spPr>
          <a:xfrm>
            <a:off x="6016752" y="4946904"/>
            <a:ext cx="2121408" cy="274320"/>
          </a:xfrm>
          <a:prstGeom prst="rect">
            <a:avLst/>
          </a:prstGeom>
          <a:noFill/>
        </p:spPr>
        <p:txBody>
          <a:bodyPr wrap="square" lIns="0" rIns="0" tIns="0" bIns="0" anchor="t">
            <a:spAutoFit/>
          </a:bodyPr>
          <a:lstStyle/>
          <a:p>
            <a:pPr algn="l">
              <a:spcAft>
                <a:spcPts val="0"/>
              </a:spcAft>
            </a:pPr>
            <a:r>
              <a:rPr sz="1500" b="1" i="0">
                <a:solidFill>
                  <a:srgbClr val="082B55"/>
                </a:solidFill>
                <a:latin typeface="Arial"/>
              </a:rPr>
              <a:t>Synthetic expression</a:t>
            </a:r>
          </a:p>
        </p:txBody>
      </p:sp>
      <p:sp>
        <p:nvSpPr>
          <p:cNvPr id="41" name="TextBox 40"/>
          <p:cNvSpPr txBox="1"/>
          <p:nvPr/>
        </p:nvSpPr>
        <p:spPr>
          <a:xfrm>
            <a:off x="8275320" y="4901184"/>
            <a:ext cx="1920240" cy="393192"/>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One generated 974-gene profile</a:t>
            </a:r>
          </a:p>
        </p:txBody>
      </p:sp>
      <p:sp>
        <p:nvSpPr>
          <p:cNvPr id="42" name="Rectangle 41"/>
          <p:cNvSpPr/>
          <p:nvPr/>
        </p:nvSpPr>
        <p:spPr>
          <a:xfrm>
            <a:off x="10469880" y="5038344"/>
            <a:ext cx="91440" cy="25603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616184" y="4828032"/>
            <a:ext cx="91440" cy="466344"/>
          </a:xfrm>
          <a:prstGeom prst="rect">
            <a:avLst/>
          </a:prstGeom>
          <a:solidFill>
            <a:srgbClr val="E0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762488" y="4965192"/>
            <a:ext cx="91440"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908792" y="4727448"/>
            <a:ext cx="91440" cy="566928"/>
          </a:xfrm>
          <a:prstGeom prst="rect">
            <a:avLst/>
          </a:prstGeom>
          <a:solidFill>
            <a:srgbClr val="E0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1055096" y="4892040"/>
            <a:ext cx="91440" cy="40233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1201400" y="5093208"/>
            <a:ext cx="91440" cy="201168"/>
          </a:xfrm>
          <a:prstGeom prst="rect">
            <a:avLst/>
          </a:prstGeom>
          <a:solidFill>
            <a:srgbClr val="E0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1347704" y="4791456"/>
            <a:ext cx="91440" cy="5029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494008" y="5010912"/>
            <a:ext cx="91440" cy="283464"/>
          </a:xfrm>
          <a:prstGeom prst="rect">
            <a:avLst/>
          </a:prstGeom>
          <a:solidFill>
            <a:srgbClr val="E0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own Arrow 49"/>
          <p:cNvSpPr/>
          <p:nvPr/>
        </p:nvSpPr>
        <p:spPr>
          <a:xfrm>
            <a:off x="6144768" y="3081528"/>
            <a:ext cx="201168" cy="283464"/>
          </a:xfrm>
          <a:prstGeom prst="down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6144768" y="4325112"/>
            <a:ext cx="201168" cy="283464"/>
          </a:xfrm>
          <a:prstGeom prst="down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Animation reused from the project midpoint presentation. The 2-D spiral is explanatory; the trained model generates 974-gene vectors.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Tissue and study structure dominate the PCA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tissue. Right: OSDR accession. Circles are observed profiles; crosses are matched DDIM profiles.</a:t>
            </a:r>
          </a:p>
        </p:txBody>
      </p:sp>
      <p:pic>
        <p:nvPicPr>
          <p:cNvPr id="7" name="PCA of observed and matched DDIM profiles colored by tissue and OSDR accession" descr="PCA of observed and matched DDIM profiles colored by tissue and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Tissue and accession clusters are visible across both observed and generated profiles.</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Same 293 observed and 293 seed-5020 generated profiles; PCA was fitted once to the combined locked expression space.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Flight condition is subtler than study structure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FLT or GC. Right: OSDR accession. Circles are observed profiles; crosses are matched DDIM profiles.</a:t>
            </a:r>
          </a:p>
        </p:txBody>
      </p:sp>
      <p:pic>
        <p:nvPicPr>
          <p:cNvPr id="7" name="PCA of observed and matched DDIM profiles colored by condition and OSDR accession" descr="PCA of observed and matched DDIM profiles colored by condition and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Flight and ground-control profiles overlap within the larger accession-defined structure.</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The accession colors are shared across the two PCA slides; FLT-GC effects are evaluated within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PRIMARY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Change the training source; hold the classifier fixed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arms use the same 974 genes, data splits, preprocessing, and ridge regularization.</a:t>
            </a:r>
          </a:p>
        </p:txBody>
      </p:sp>
      <p:sp>
        <p:nvSpPr>
          <p:cNvPr id="7" name="Rectangle 6"/>
          <p:cNvSpPr/>
          <p:nvPr/>
        </p:nvSpPr>
        <p:spPr>
          <a:xfrm>
            <a:off x="429768" y="1810512"/>
            <a:ext cx="11137392" cy="658368"/>
          </a:xfrm>
          <a:prstGeom prst="rect">
            <a:avLst/>
          </a:prstGeom>
          <a:solidFill>
            <a:srgbClr val="F2F5F7"/>
          </a:solidFill>
          <a:ln w="10160">
            <a:solidFill>
              <a:srgbClr val="D3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974 genes</a:t>
            </a:r>
          </a:p>
        </p:txBody>
      </p:sp>
      <p:sp>
        <p:nvSpPr>
          <p:cNvPr id="9" name="Rectangle 8"/>
          <p:cNvSpPr/>
          <p:nvPr/>
        </p:nvSpPr>
        <p:spPr>
          <a:xfrm>
            <a:off x="2734056"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0088"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outer splits</a:t>
            </a:r>
          </a:p>
        </p:txBody>
      </p:sp>
      <p:sp>
        <p:nvSpPr>
          <p:cNvPr id="11" name="Rectangle 10"/>
          <p:cNvSpPr/>
          <p:nvPr/>
        </p:nvSpPr>
        <p:spPr>
          <a:xfrm>
            <a:off x="5358383"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14416"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Real-fitted scaler</a:t>
            </a:r>
          </a:p>
        </p:txBody>
      </p:sp>
      <p:sp>
        <p:nvSpPr>
          <p:cNvPr id="13" name="Rectangle 12"/>
          <p:cNvSpPr/>
          <p:nvPr/>
        </p:nvSpPr>
        <p:spPr>
          <a:xfrm>
            <a:off x="8138160"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94192"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ridge penalty</a:t>
            </a:r>
          </a:p>
        </p:txBody>
      </p:sp>
      <p:sp>
        <p:nvSpPr>
          <p:cNvPr id="15" name="Rectangle 14"/>
          <p:cNvSpPr/>
          <p:nvPr/>
        </p:nvSpPr>
        <p:spPr>
          <a:xfrm>
            <a:off x="438912" y="2679192"/>
            <a:ext cx="3328416" cy="126187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679192"/>
            <a:ext cx="3328416" cy="5029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7" y="2898648"/>
            <a:ext cx="2980944" cy="237744"/>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 ONLY</a:t>
            </a:r>
          </a:p>
        </p:txBody>
      </p:sp>
      <p:sp>
        <p:nvSpPr>
          <p:cNvPr id="18" name="Oval 17"/>
          <p:cNvSpPr/>
          <p:nvPr/>
        </p:nvSpPr>
        <p:spPr>
          <a:xfrm>
            <a:off x="1856232" y="3264408"/>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56232"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0" name="TextBox 19"/>
          <p:cNvSpPr txBox="1"/>
          <p:nvPr/>
        </p:nvSpPr>
        <p:spPr>
          <a:xfrm>
            <a:off x="621792"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Reference classifier</a:t>
            </a:r>
          </a:p>
        </p:txBody>
      </p:sp>
      <p:sp>
        <p:nvSpPr>
          <p:cNvPr id="21" name="Right Arrow 20"/>
          <p:cNvSpPr/>
          <p:nvPr/>
        </p:nvSpPr>
        <p:spPr>
          <a:xfrm>
            <a:off x="1865376"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2679192"/>
            <a:ext cx="3328416" cy="1261872"/>
          </a:xfrm>
          <a:prstGeom prst="rect">
            <a:avLst/>
          </a:prstGeom>
          <a:solidFill>
            <a:srgbClr val="FFFFFF"/>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0" y="2679192"/>
            <a:ext cx="3328416" cy="5029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88536" y="2898648"/>
            <a:ext cx="2980944" cy="237744"/>
          </a:xfrm>
          <a:prstGeom prst="rect">
            <a:avLst/>
          </a:prstGeom>
          <a:noFill/>
        </p:spPr>
        <p:txBody>
          <a:bodyPr wrap="square" lIns="0" rIns="0" tIns="0" bIns="0" anchor="t">
            <a:spAutoFit/>
          </a:bodyPr>
          <a:lstStyle/>
          <a:p>
            <a:pPr algn="ctr">
              <a:spcAft>
                <a:spcPts val="0"/>
              </a:spcAft>
            </a:pPr>
            <a:r>
              <a:rPr sz="1300" b="1" i="0">
                <a:solidFill>
                  <a:srgbClr val="D96552"/>
                </a:solidFill>
                <a:latin typeface="Arial"/>
              </a:rPr>
              <a:t>SYNTHETIC ONLY</a:t>
            </a:r>
          </a:p>
        </p:txBody>
      </p:sp>
      <p:sp>
        <p:nvSpPr>
          <p:cNvPr id="25" name="Oval 24"/>
          <p:cNvSpPr/>
          <p:nvPr/>
        </p:nvSpPr>
        <p:spPr>
          <a:xfrm>
            <a:off x="5532120" y="3264408"/>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532120"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27" name="TextBox 26"/>
          <p:cNvSpPr txBox="1"/>
          <p:nvPr/>
        </p:nvSpPr>
        <p:spPr>
          <a:xfrm>
            <a:off x="4297680"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Generator transfer test</a:t>
            </a:r>
          </a:p>
        </p:txBody>
      </p:sp>
      <p:sp>
        <p:nvSpPr>
          <p:cNvPr id="28" name="Right Arrow 27"/>
          <p:cNvSpPr/>
          <p:nvPr/>
        </p:nvSpPr>
        <p:spPr>
          <a:xfrm>
            <a:off x="5541264"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90688" y="2679192"/>
            <a:ext cx="3328416" cy="126187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90688" y="2679192"/>
            <a:ext cx="3328416" cy="5029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64423" y="2898648"/>
            <a:ext cx="2980944" cy="237744"/>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REAL + SYNTHETIC</a:t>
            </a:r>
          </a:p>
        </p:txBody>
      </p:sp>
      <p:sp>
        <p:nvSpPr>
          <p:cNvPr id="32" name="Oval 31"/>
          <p:cNvSpPr/>
          <p:nvPr/>
        </p:nvSpPr>
        <p:spPr>
          <a:xfrm>
            <a:off x="8933688" y="3264408"/>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33688"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4" name="TextBox 33"/>
          <p:cNvSpPr txBox="1"/>
          <p:nvPr/>
        </p:nvSpPr>
        <p:spPr>
          <a:xfrm>
            <a:off x="9226296" y="3273552"/>
            <a:ext cx="210312" cy="201168"/>
          </a:xfrm>
          <a:prstGeom prst="rect">
            <a:avLst/>
          </a:prstGeom>
          <a:noFill/>
        </p:spPr>
        <p:txBody>
          <a:bodyPr wrap="square" lIns="0" rIns="0" tIns="0" bIns="0" anchor="t">
            <a:spAutoFit/>
          </a:bodyPr>
          <a:lstStyle/>
          <a:p>
            <a:pPr algn="ctr">
              <a:spcAft>
                <a:spcPts val="0"/>
              </a:spcAft>
            </a:pPr>
            <a:r>
              <a:rPr sz="1100" b="1" i="0">
                <a:solidFill>
                  <a:srgbClr val="59697A"/>
                </a:solidFill>
                <a:latin typeface="Arial"/>
              </a:rPr>
              <a:t>+</a:t>
            </a:r>
          </a:p>
        </p:txBody>
      </p:sp>
      <p:sp>
        <p:nvSpPr>
          <p:cNvPr id="35" name="Oval 34"/>
          <p:cNvSpPr/>
          <p:nvPr/>
        </p:nvSpPr>
        <p:spPr>
          <a:xfrm>
            <a:off x="9473184" y="3264408"/>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73184"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7" name="TextBox 36"/>
          <p:cNvSpPr txBox="1"/>
          <p:nvPr/>
        </p:nvSpPr>
        <p:spPr>
          <a:xfrm>
            <a:off x="7973567"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Synthetic augmentation</a:t>
            </a:r>
          </a:p>
        </p:txBody>
      </p:sp>
      <p:sp>
        <p:nvSpPr>
          <p:cNvPr id="38" name="Right Arrow 37"/>
          <p:cNvSpPr/>
          <p:nvPr/>
        </p:nvSpPr>
        <p:spPr>
          <a:xfrm>
            <a:off x="9217152"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9768" y="4352544"/>
            <a:ext cx="11137392" cy="786384"/>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544568"/>
            <a:ext cx="3017520" cy="274320"/>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Same held-out real profiles</a:t>
            </a:r>
          </a:p>
        </p:txBody>
      </p:sp>
      <p:sp>
        <p:nvSpPr>
          <p:cNvPr id="41" name="Rectangle 40"/>
          <p:cNvSpPr/>
          <p:nvPr/>
        </p:nvSpPr>
        <p:spPr>
          <a:xfrm>
            <a:off x="3904487" y="4507992"/>
            <a:ext cx="10972" cy="457200"/>
          </a:xfrm>
          <a:prstGeom prst="rect">
            <a:avLst/>
          </a:prstGeom>
          <a:solidFill>
            <a:srgbClr val="AFC0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15384" y="4498848"/>
            <a:ext cx="2057400" cy="228600"/>
          </a:xfrm>
          <a:prstGeom prst="rect">
            <a:avLst/>
          </a:prstGeom>
          <a:noFill/>
        </p:spPr>
        <p:txBody>
          <a:bodyPr wrap="square" lIns="0" rIns="0" tIns="0" bIns="0" anchor="t">
            <a:spAutoFit/>
          </a:bodyPr>
          <a:lstStyle/>
          <a:p>
            <a:pPr algn="ctr">
              <a:spcAft>
                <a:spcPts val="0"/>
              </a:spcAft>
            </a:pPr>
            <a:r>
              <a:rPr sz="1260" b="1" i="0">
                <a:solidFill>
                  <a:srgbClr val="082B55"/>
                </a:solidFill>
                <a:latin typeface="Arial"/>
              </a:rPr>
              <a:t>Pooled metrics</a:t>
            </a:r>
          </a:p>
        </p:txBody>
      </p:sp>
      <p:sp>
        <p:nvSpPr>
          <p:cNvPr id="43" name="TextBox 42"/>
          <p:cNvSpPr txBox="1"/>
          <p:nvPr/>
        </p:nvSpPr>
        <p:spPr>
          <a:xfrm>
            <a:off x="4215384" y="4754880"/>
            <a:ext cx="2057400" cy="201168"/>
          </a:xfrm>
          <a:prstGeom prst="rect">
            <a:avLst/>
          </a:prstGeom>
          <a:noFill/>
        </p:spPr>
        <p:txBody>
          <a:bodyPr wrap="square" lIns="0" rIns="0" tIns="0" bIns="0" anchor="t">
            <a:spAutoFit/>
          </a:bodyPr>
          <a:lstStyle/>
          <a:p>
            <a:pPr algn="ctr">
              <a:spcAft>
                <a:spcPts val="0"/>
              </a:spcAft>
            </a:pPr>
            <a:r>
              <a:rPr sz="1040" b="0" i="0">
                <a:solidFill>
                  <a:srgbClr val="59697A"/>
                </a:solidFill>
                <a:latin typeface="Arial"/>
              </a:rPr>
              <a:t>BA  |  AUROC  |  AP</a:t>
            </a:r>
          </a:p>
        </p:txBody>
      </p:sp>
      <p:sp>
        <p:nvSpPr>
          <p:cNvPr id="44" name="Rectangle 43"/>
          <p:cNvSpPr/>
          <p:nvPr/>
        </p:nvSpPr>
        <p:spPr>
          <a:xfrm>
            <a:off x="6464808" y="4507992"/>
            <a:ext cx="10972" cy="457200"/>
          </a:xfrm>
          <a:prstGeom prst="rect">
            <a:avLst/>
          </a:prstGeom>
          <a:solidFill>
            <a:srgbClr val="AFC0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57416" y="4498848"/>
            <a:ext cx="2423160" cy="228600"/>
          </a:xfrm>
          <a:prstGeom prst="rect">
            <a:avLst/>
          </a:prstGeom>
          <a:noFill/>
        </p:spPr>
        <p:txBody>
          <a:bodyPr wrap="square" lIns="0" rIns="0" tIns="0" bIns="0" anchor="t">
            <a:spAutoFit/>
          </a:bodyPr>
          <a:lstStyle/>
          <a:p>
            <a:pPr algn="ctr">
              <a:spcAft>
                <a:spcPts val="0"/>
              </a:spcAft>
            </a:pPr>
            <a:r>
              <a:rPr sz="1260" b="1" i="0">
                <a:solidFill>
                  <a:srgbClr val="082B55"/>
                </a:solidFill>
                <a:latin typeface="Arial"/>
              </a:rPr>
              <a:t>Accession-macro metrics</a:t>
            </a:r>
          </a:p>
        </p:txBody>
      </p:sp>
      <p:sp>
        <p:nvSpPr>
          <p:cNvPr id="46" name="TextBox 45"/>
          <p:cNvSpPr txBox="1"/>
          <p:nvPr/>
        </p:nvSpPr>
        <p:spPr>
          <a:xfrm>
            <a:off x="6757416" y="4754880"/>
            <a:ext cx="2423160" cy="201168"/>
          </a:xfrm>
          <a:prstGeom prst="rect">
            <a:avLst/>
          </a:prstGeom>
          <a:noFill/>
        </p:spPr>
        <p:txBody>
          <a:bodyPr wrap="square" lIns="0" rIns="0" tIns="0" bIns="0" anchor="t">
            <a:spAutoFit/>
          </a:bodyPr>
          <a:lstStyle/>
          <a:p>
            <a:pPr algn="ctr">
              <a:spcAft>
                <a:spcPts val="0"/>
              </a:spcAft>
            </a:pPr>
            <a:r>
              <a:rPr sz="1040" b="0" i="0">
                <a:solidFill>
                  <a:srgbClr val="59697A"/>
                </a:solidFill>
                <a:latin typeface="Arial"/>
              </a:rPr>
              <a:t>BA  |  AUROC  |  AP</a:t>
            </a:r>
          </a:p>
        </p:txBody>
      </p:sp>
      <p:sp>
        <p:nvSpPr>
          <p:cNvPr id="47" name="TextBox 46"/>
          <p:cNvSpPr txBox="1"/>
          <p:nvPr/>
        </p:nvSpPr>
        <p:spPr>
          <a:xfrm>
            <a:off x="9262872" y="4498848"/>
            <a:ext cx="2029968" cy="438912"/>
          </a:xfrm>
          <a:prstGeom prst="rect">
            <a:avLst/>
          </a:prstGeom>
          <a:noFill/>
        </p:spPr>
        <p:txBody>
          <a:bodyPr wrap="square" lIns="0" rIns="0" tIns="0" bIns="0" anchor="ctr">
            <a:spAutoFit/>
          </a:bodyPr>
          <a:lstStyle/>
          <a:p>
            <a:pPr algn="ctr">
              <a:spcAft>
                <a:spcPts val="0"/>
              </a:spcAft>
            </a:pPr>
            <a:r>
              <a:rPr sz="1120" b="1" i="0">
                <a:solidFill>
                  <a:srgbClr val="178681"/>
                </a:solidFill>
                <a:latin typeface="Arial"/>
              </a:rPr>
              <a:t>Pass only if all six means are nonworse</a:t>
            </a:r>
          </a:p>
        </p:txBody>
      </p:sp>
      <p:sp>
        <p:nvSpPr>
          <p:cNvPr id="48" name="Rectangle 47"/>
          <p:cNvSpPr/>
          <p:nvPr/>
        </p:nvSpPr>
        <p:spPr>
          <a:xfrm>
            <a:off x="429768" y="5404104"/>
            <a:ext cx="11137392" cy="731520"/>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5596128"/>
            <a:ext cx="1965960" cy="256032"/>
          </a:xfrm>
          <a:prstGeom prst="rect">
            <a:avLst/>
          </a:prstGeom>
          <a:noFill/>
        </p:spPr>
        <p:txBody>
          <a:bodyPr wrap="square" lIns="0" rIns="0" tIns="0" bIns="0" anchor="t">
            <a:spAutoFit/>
          </a:bodyPr>
          <a:lstStyle/>
          <a:p>
            <a:pPr algn="l">
              <a:spcAft>
                <a:spcPts val="0"/>
              </a:spcAft>
            </a:pPr>
            <a:r>
              <a:rPr sz="1420" b="1" i="0">
                <a:solidFill>
                  <a:srgbClr val="FFFFFF"/>
                </a:solidFill>
                <a:latin typeface="Arial"/>
              </a:rPr>
              <a:t>Gene-level follow-up</a:t>
            </a:r>
          </a:p>
        </p:txBody>
      </p:sp>
      <p:sp>
        <p:nvSpPr>
          <p:cNvPr id="50" name="TextBox 49"/>
          <p:cNvSpPr txBox="1"/>
          <p:nvPr/>
        </p:nvSpPr>
        <p:spPr>
          <a:xfrm>
            <a:off x="2770632" y="5577840"/>
            <a:ext cx="4956048" cy="274320"/>
          </a:xfrm>
          <a:prstGeom prst="rect">
            <a:avLst/>
          </a:prstGeom>
          <a:noFill/>
        </p:spPr>
        <p:txBody>
          <a:bodyPr wrap="square" lIns="0" rIns="0" tIns="0" bIns="0" anchor="t">
            <a:spAutoFit/>
          </a:bodyPr>
          <a:lstStyle/>
          <a:p>
            <a:pPr algn="l">
              <a:spcAft>
                <a:spcPts val="0"/>
              </a:spcAft>
            </a:pPr>
            <a:r>
              <a:rPr sz="1240" b="0" i="0">
                <a:solidFill>
                  <a:srgbClr val="DCE7F2"/>
                </a:solidFill>
                <a:latin typeface="Arial"/>
              </a:rPr>
              <a:t>Blocked permutation + linear SHAP on held-out real profiles</a:t>
            </a:r>
          </a:p>
        </p:txBody>
      </p:sp>
      <p:sp>
        <p:nvSpPr>
          <p:cNvPr id="51" name="TextBox 50"/>
          <p:cNvSpPr txBox="1"/>
          <p:nvPr/>
        </p:nvSpPr>
        <p:spPr>
          <a:xfrm>
            <a:off x="7964424" y="5577840"/>
            <a:ext cx="3273552" cy="274320"/>
          </a:xfrm>
          <a:prstGeom prst="rect">
            <a:avLst/>
          </a:prstGeom>
          <a:noFill/>
        </p:spPr>
        <p:txBody>
          <a:bodyPr wrap="square" lIns="0" rIns="0" tIns="0" bIns="0" anchor="t">
            <a:spAutoFit/>
          </a:bodyPr>
          <a:lstStyle/>
          <a:p>
            <a:pPr algn="r">
              <a:spcAft>
                <a:spcPts val="0"/>
              </a:spcAft>
            </a:pPr>
            <a:r>
              <a:rPr sz="1240" b="1" i="0">
                <a:solidFill>
                  <a:srgbClr val="FFD69A"/>
                </a:solidFill>
                <a:latin typeface="Arial"/>
              </a:rPr>
              <a:t>BH FDR still uses real OSDR only</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Primary matched analysis: 27 tissue units, eight outer splits, 648 fitted classifiers; generated profiles do not increase animal 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CONSENSUS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are schematic examples from the 974-gene ranking. Real and generated normalized ranks are combined.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Correlated genes dilute one-at-a-time importance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pathway can matter even when no single member causes a large permutation loss.</a:t>
            </a:r>
          </a:p>
        </p:txBody>
      </p:sp>
      <p:sp>
        <p:nvSpPr>
          <p:cNvPr id="7" name="Rectangle 6"/>
          <p:cNvSpPr/>
          <p:nvPr/>
        </p:nvSpPr>
        <p:spPr>
          <a:xfrm>
            <a:off x="420624" y="1856231"/>
            <a:ext cx="3337560" cy="3529584"/>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 y="2029968"/>
            <a:ext cx="384048" cy="310896"/>
          </a:xfrm>
          <a:prstGeom prst="rect">
            <a:avLst/>
          </a:prstGeom>
          <a:noFill/>
        </p:spPr>
        <p:txBody>
          <a:bodyPr wrap="square" lIns="0" rIns="0" tIns="0" bIns="0" anchor="t">
            <a:spAutoFit/>
          </a:bodyPr>
          <a:lstStyle/>
          <a:p>
            <a:pPr algn="l">
              <a:spcAft>
                <a:spcPts val="0"/>
              </a:spcAft>
            </a:pPr>
            <a:r>
              <a:rPr sz="1800" b="1" i="0">
                <a:solidFill>
                  <a:srgbClr val="2D6496"/>
                </a:solidFill>
                <a:latin typeface="Arial"/>
              </a:rPr>
              <a:t>1</a:t>
            </a:r>
          </a:p>
        </p:txBody>
      </p:sp>
      <p:sp>
        <p:nvSpPr>
          <p:cNvPr id="9" name="TextBox 8"/>
          <p:cNvSpPr txBox="1"/>
          <p:nvPr/>
        </p:nvSpPr>
        <p:spPr>
          <a:xfrm>
            <a:off x="1051560"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CORRELATED MODULE</a:t>
            </a:r>
          </a:p>
        </p:txBody>
      </p:sp>
      <p:sp>
        <p:nvSpPr>
          <p:cNvPr id="10" name="Rectangle 9"/>
          <p:cNvSpPr/>
          <p:nvPr/>
        </p:nvSpPr>
        <p:spPr>
          <a:xfrm>
            <a:off x="4096512" y="1856231"/>
            <a:ext cx="3337560" cy="3529584"/>
          </a:xfrm>
          <a:prstGeom prst="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2029968"/>
            <a:ext cx="384048" cy="310896"/>
          </a:xfrm>
          <a:prstGeom prst="rect">
            <a:avLst/>
          </a:prstGeom>
          <a:noFill/>
        </p:spPr>
        <p:txBody>
          <a:bodyPr wrap="square" lIns="0" rIns="0" tIns="0" bIns="0" anchor="t">
            <a:spAutoFit/>
          </a:bodyPr>
          <a:lstStyle/>
          <a:p>
            <a:pPr algn="l">
              <a:spcAft>
                <a:spcPts val="0"/>
              </a:spcAft>
            </a:pPr>
            <a:r>
              <a:rPr sz="1800" b="1" i="0">
                <a:solidFill>
                  <a:srgbClr val="D96552"/>
                </a:solidFill>
                <a:latin typeface="Arial"/>
              </a:rPr>
              <a:t>2</a:t>
            </a:r>
          </a:p>
        </p:txBody>
      </p:sp>
      <p:sp>
        <p:nvSpPr>
          <p:cNvPr id="12" name="TextBox 11"/>
          <p:cNvSpPr txBox="1"/>
          <p:nvPr/>
        </p:nvSpPr>
        <p:spPr>
          <a:xfrm>
            <a:off x="4727448"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SHUFFLE ONE GENE</a:t>
            </a:r>
          </a:p>
        </p:txBody>
      </p:sp>
      <p:sp>
        <p:nvSpPr>
          <p:cNvPr id="13" name="Rectangle 12"/>
          <p:cNvSpPr/>
          <p:nvPr/>
        </p:nvSpPr>
        <p:spPr>
          <a:xfrm>
            <a:off x="7772400" y="1856231"/>
            <a:ext cx="3337560" cy="3529584"/>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029968"/>
            <a:ext cx="384048" cy="310896"/>
          </a:xfrm>
          <a:prstGeom prst="rect">
            <a:avLst/>
          </a:prstGeom>
          <a:noFill/>
        </p:spPr>
        <p:txBody>
          <a:bodyPr wrap="square" lIns="0" rIns="0" tIns="0" bIns="0" anchor="t">
            <a:spAutoFit/>
          </a:bodyPr>
          <a:lstStyle/>
          <a:p>
            <a:pPr algn="l">
              <a:spcAft>
                <a:spcPts val="0"/>
              </a:spcAft>
            </a:pPr>
            <a:r>
              <a:rPr sz="1800" b="1" i="0">
                <a:solidFill>
                  <a:srgbClr val="178681"/>
                </a:solidFill>
                <a:latin typeface="Arial"/>
              </a:rPr>
              <a:t>3</a:t>
            </a:r>
          </a:p>
        </p:txBody>
      </p:sp>
      <p:sp>
        <p:nvSpPr>
          <p:cNvPr id="15" name="TextBox 14"/>
          <p:cNvSpPr txBox="1"/>
          <p:nvPr/>
        </p:nvSpPr>
        <p:spPr>
          <a:xfrm>
            <a:off x="8403336"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CONSENSUS PANEL</a:t>
            </a:r>
          </a:p>
        </p:txBody>
      </p:sp>
      <p:sp>
        <p:nvSpPr>
          <p:cNvPr id="16" name="Rectangle 15"/>
          <p:cNvSpPr/>
          <p:nvPr/>
        </p:nvSpPr>
        <p:spPr>
          <a:xfrm>
            <a:off x="749808" y="2697480"/>
            <a:ext cx="960120" cy="39319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779776"/>
            <a:ext cx="813816" cy="201168"/>
          </a:xfrm>
          <a:prstGeom prst="rect">
            <a:avLst/>
          </a:prstGeom>
          <a:noFill/>
        </p:spPr>
        <p:txBody>
          <a:bodyPr wrap="square" lIns="0" rIns="0" tIns="0" bIns="0" anchor="t">
            <a:spAutoFit/>
          </a:bodyPr>
          <a:lstStyle/>
          <a:p>
            <a:pPr algn="ctr">
              <a:spcAft>
                <a:spcPts val="0"/>
              </a:spcAft>
            </a:pPr>
            <a:r>
              <a:rPr sz="1120" b="1" i="0">
                <a:solidFill>
                  <a:srgbClr val="2D6496"/>
                </a:solidFill>
                <a:latin typeface="Arial"/>
              </a:rPr>
              <a:t>Gene A</a:t>
            </a:r>
          </a:p>
        </p:txBody>
      </p:sp>
      <p:sp>
        <p:nvSpPr>
          <p:cNvPr id="18" name="Right Arrow 17"/>
          <p:cNvSpPr/>
          <p:nvPr/>
        </p:nvSpPr>
        <p:spPr>
          <a:xfrm>
            <a:off x="1847088" y="2788920"/>
            <a:ext cx="475488" cy="210312"/>
          </a:xfrm>
          <a:prstGeom prst="rightArrow">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3337560"/>
            <a:ext cx="960120" cy="39319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19856"/>
            <a:ext cx="813816" cy="201168"/>
          </a:xfrm>
          <a:prstGeom prst="rect">
            <a:avLst/>
          </a:prstGeom>
          <a:noFill/>
        </p:spPr>
        <p:txBody>
          <a:bodyPr wrap="square" lIns="0" rIns="0" tIns="0" bIns="0" anchor="t">
            <a:spAutoFit/>
          </a:bodyPr>
          <a:lstStyle/>
          <a:p>
            <a:pPr algn="ctr">
              <a:spcAft>
                <a:spcPts val="0"/>
              </a:spcAft>
            </a:pPr>
            <a:r>
              <a:rPr sz="1120" b="1" i="0">
                <a:solidFill>
                  <a:srgbClr val="178681"/>
                </a:solidFill>
                <a:latin typeface="Arial"/>
              </a:rPr>
              <a:t>Gene B</a:t>
            </a:r>
          </a:p>
        </p:txBody>
      </p:sp>
      <p:sp>
        <p:nvSpPr>
          <p:cNvPr id="21" name="Right Arrow 20"/>
          <p:cNvSpPr/>
          <p:nvPr/>
        </p:nvSpPr>
        <p:spPr>
          <a:xfrm>
            <a:off x="1847088" y="3429000"/>
            <a:ext cx="475488" cy="2103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9808" y="3977639"/>
            <a:ext cx="960120" cy="393192"/>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059935"/>
            <a:ext cx="813816" cy="201168"/>
          </a:xfrm>
          <a:prstGeom prst="rect">
            <a:avLst/>
          </a:prstGeom>
          <a:noFill/>
        </p:spPr>
        <p:txBody>
          <a:bodyPr wrap="square" lIns="0" rIns="0" tIns="0" bIns="0" anchor="t">
            <a:spAutoFit/>
          </a:bodyPr>
          <a:lstStyle/>
          <a:p>
            <a:pPr algn="ctr">
              <a:spcAft>
                <a:spcPts val="0"/>
              </a:spcAft>
            </a:pPr>
            <a:r>
              <a:rPr sz="1120" b="1" i="0">
                <a:solidFill>
                  <a:srgbClr val="D37B00"/>
                </a:solidFill>
                <a:latin typeface="Arial"/>
              </a:rPr>
              <a:t>Gene C</a:t>
            </a:r>
          </a:p>
        </p:txBody>
      </p:sp>
      <p:sp>
        <p:nvSpPr>
          <p:cNvPr id="24" name="Right Arrow 23"/>
          <p:cNvSpPr/>
          <p:nvPr/>
        </p:nvSpPr>
        <p:spPr>
          <a:xfrm>
            <a:off x="1847088" y="4069079"/>
            <a:ext cx="475488" cy="210312"/>
          </a:xfrm>
          <a:prstGeom prst="rightArrow">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468880" y="3154680"/>
            <a:ext cx="914400" cy="658368"/>
          </a:xfrm>
          <a:prstGeom prst="rect">
            <a:avLst/>
          </a:prstGeom>
          <a:solidFill>
            <a:srgbClr val="FFFFFF"/>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51176" y="3264408"/>
            <a:ext cx="749808" cy="411480"/>
          </a:xfrm>
          <a:prstGeom prst="rect">
            <a:avLst/>
          </a:prstGeom>
          <a:noFill/>
        </p:spPr>
        <p:txBody>
          <a:bodyPr wrap="square" lIns="0" rIns="0" tIns="0" bIns="0" anchor="t">
            <a:spAutoFit/>
          </a:bodyPr>
          <a:lstStyle/>
          <a:p>
            <a:pPr algn="ctr">
              <a:spcAft>
                <a:spcPts val="0"/>
              </a:spcAft>
            </a:pPr>
            <a:r>
              <a:rPr sz="1080" b="1" i="0">
                <a:solidFill>
                  <a:srgbClr val="082B55"/>
                </a:solidFill>
                <a:latin typeface="Arial"/>
              </a:rPr>
              <a:t>FLT/GC
classifier</a:t>
            </a:r>
          </a:p>
        </p:txBody>
      </p:sp>
      <p:sp>
        <p:nvSpPr>
          <p:cNvPr id="27" name="TextBox 26"/>
          <p:cNvSpPr txBox="1"/>
          <p:nvPr/>
        </p:nvSpPr>
        <p:spPr>
          <a:xfrm>
            <a:off x="713232" y="4709160"/>
            <a:ext cx="2816352"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Similar expression lets these genes share predictive weight.</a:t>
            </a:r>
          </a:p>
        </p:txBody>
      </p:sp>
      <p:sp>
        <p:nvSpPr>
          <p:cNvPr id="28" name="Rectangle 27"/>
          <p:cNvSpPr/>
          <p:nvPr/>
        </p:nvSpPr>
        <p:spPr>
          <a:xfrm>
            <a:off x="4425696" y="2697480"/>
            <a:ext cx="960120" cy="39319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98848" y="2779776"/>
            <a:ext cx="813816" cy="201168"/>
          </a:xfrm>
          <a:prstGeom prst="rect">
            <a:avLst/>
          </a:prstGeom>
          <a:noFill/>
        </p:spPr>
        <p:txBody>
          <a:bodyPr wrap="square" lIns="0" rIns="0" tIns="0" bIns="0" anchor="t">
            <a:spAutoFit/>
          </a:bodyPr>
          <a:lstStyle/>
          <a:p>
            <a:pPr algn="ctr">
              <a:spcAft>
                <a:spcPts val="0"/>
              </a:spcAft>
            </a:pPr>
            <a:r>
              <a:rPr sz="1120" b="1" i="0">
                <a:solidFill>
                  <a:srgbClr val="2D6496"/>
                </a:solidFill>
                <a:latin typeface="Arial"/>
              </a:rPr>
              <a:t>Gene A</a:t>
            </a:r>
          </a:p>
        </p:txBody>
      </p:sp>
      <p:sp>
        <p:nvSpPr>
          <p:cNvPr id="30" name="Rectangle 29"/>
          <p:cNvSpPr/>
          <p:nvPr/>
        </p:nvSpPr>
        <p:spPr>
          <a:xfrm>
            <a:off x="4425696" y="3337560"/>
            <a:ext cx="960120" cy="39319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98848" y="3419856"/>
            <a:ext cx="813816" cy="201168"/>
          </a:xfrm>
          <a:prstGeom prst="rect">
            <a:avLst/>
          </a:prstGeom>
          <a:noFill/>
        </p:spPr>
        <p:txBody>
          <a:bodyPr wrap="square" lIns="0" rIns="0" tIns="0" bIns="0" anchor="t">
            <a:spAutoFit/>
          </a:bodyPr>
          <a:lstStyle/>
          <a:p>
            <a:pPr algn="ctr">
              <a:spcAft>
                <a:spcPts val="0"/>
              </a:spcAft>
            </a:pPr>
            <a:r>
              <a:rPr sz="1120" b="1" i="0">
                <a:solidFill>
                  <a:srgbClr val="178681"/>
                </a:solidFill>
                <a:latin typeface="Arial"/>
              </a:rPr>
              <a:t>Gene B</a:t>
            </a:r>
          </a:p>
        </p:txBody>
      </p:sp>
      <p:sp>
        <p:nvSpPr>
          <p:cNvPr id="32" name="Right Arrow 31"/>
          <p:cNvSpPr/>
          <p:nvPr/>
        </p:nvSpPr>
        <p:spPr>
          <a:xfrm>
            <a:off x="5522976" y="3429000"/>
            <a:ext cx="475488" cy="2103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425696" y="3977639"/>
            <a:ext cx="960120" cy="393192"/>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98848" y="4059935"/>
            <a:ext cx="813816" cy="201168"/>
          </a:xfrm>
          <a:prstGeom prst="rect">
            <a:avLst/>
          </a:prstGeom>
          <a:noFill/>
        </p:spPr>
        <p:txBody>
          <a:bodyPr wrap="square" lIns="0" rIns="0" tIns="0" bIns="0" anchor="t">
            <a:spAutoFit/>
          </a:bodyPr>
          <a:lstStyle/>
          <a:p>
            <a:pPr algn="ctr">
              <a:spcAft>
                <a:spcPts val="0"/>
              </a:spcAft>
            </a:pPr>
            <a:r>
              <a:rPr sz="1120" b="1" i="0">
                <a:solidFill>
                  <a:srgbClr val="D37B00"/>
                </a:solidFill>
                <a:latin typeface="Arial"/>
              </a:rPr>
              <a:t>Gene C</a:t>
            </a:r>
          </a:p>
        </p:txBody>
      </p:sp>
      <p:sp>
        <p:nvSpPr>
          <p:cNvPr id="35" name="Right Arrow 34"/>
          <p:cNvSpPr/>
          <p:nvPr/>
        </p:nvSpPr>
        <p:spPr>
          <a:xfrm>
            <a:off x="5522976" y="4069079"/>
            <a:ext cx="475488" cy="210312"/>
          </a:xfrm>
          <a:prstGeom prst="rightArrow">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80" y="2578608"/>
            <a:ext cx="292608" cy="274320"/>
          </a:xfrm>
          <a:prstGeom prst="rect">
            <a:avLst/>
          </a:prstGeom>
          <a:noFill/>
        </p:spPr>
        <p:txBody>
          <a:bodyPr wrap="square" lIns="0" rIns="0" tIns="0" bIns="0" anchor="t">
            <a:spAutoFit/>
          </a:bodyPr>
          <a:lstStyle/>
          <a:p>
            <a:pPr algn="ctr">
              <a:spcAft>
                <a:spcPts val="0"/>
              </a:spcAft>
            </a:pPr>
            <a:r>
              <a:rPr sz="2000" b="1" i="0">
                <a:solidFill>
                  <a:srgbClr val="D96552"/>
                </a:solidFill>
                <a:latin typeface="Arial"/>
              </a:rPr>
              <a:t>x</a:t>
            </a:r>
          </a:p>
        </p:txBody>
      </p:sp>
      <p:sp>
        <p:nvSpPr>
          <p:cNvPr id="37" name="Rectangle 36"/>
          <p:cNvSpPr/>
          <p:nvPr/>
        </p:nvSpPr>
        <p:spPr>
          <a:xfrm>
            <a:off x="6144768" y="3154680"/>
            <a:ext cx="914400" cy="658368"/>
          </a:xfrm>
          <a:prstGeom prst="rect">
            <a:avLst/>
          </a:prstGeom>
          <a:solidFill>
            <a:srgbClr val="FFFFFF"/>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27064" y="3264408"/>
            <a:ext cx="749808" cy="411480"/>
          </a:xfrm>
          <a:prstGeom prst="rect">
            <a:avLst/>
          </a:prstGeom>
          <a:noFill/>
        </p:spPr>
        <p:txBody>
          <a:bodyPr wrap="square" lIns="0" rIns="0" tIns="0" bIns="0" anchor="t">
            <a:spAutoFit/>
          </a:bodyPr>
          <a:lstStyle/>
          <a:p>
            <a:pPr algn="ctr">
              <a:spcAft>
                <a:spcPts val="0"/>
              </a:spcAft>
            </a:pPr>
            <a:r>
              <a:rPr sz="1080" b="1" i="0">
                <a:solidFill>
                  <a:srgbClr val="082B55"/>
                </a:solidFill>
                <a:latin typeface="Arial"/>
              </a:rPr>
              <a:t>FLT/GC
classifier</a:t>
            </a:r>
          </a:p>
        </p:txBody>
      </p:sp>
      <p:sp>
        <p:nvSpPr>
          <p:cNvPr id="39" name="TextBox 38"/>
          <p:cNvSpPr txBox="1"/>
          <p:nvPr/>
        </p:nvSpPr>
        <p:spPr>
          <a:xfrm>
            <a:off x="4370832" y="4709160"/>
            <a:ext cx="2907792"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Genes B and C retain the shared signal, so the score changes little.</a:t>
            </a:r>
          </a:p>
        </p:txBody>
      </p:sp>
      <p:sp>
        <p:nvSpPr>
          <p:cNvPr id="40" name="TextBox 39"/>
          <p:cNvSpPr txBox="1"/>
          <p:nvPr/>
        </p:nvSpPr>
        <p:spPr>
          <a:xfrm>
            <a:off x="8101583" y="2660904"/>
            <a:ext cx="832104" cy="210312"/>
          </a:xfrm>
          <a:prstGeom prst="rect">
            <a:avLst/>
          </a:prstGeom>
          <a:noFill/>
        </p:spPr>
        <p:txBody>
          <a:bodyPr wrap="square" lIns="0" rIns="0" tIns="0" bIns="0" anchor="t">
            <a:spAutoFit/>
          </a:bodyPr>
          <a:lstStyle/>
          <a:p>
            <a:pPr algn="l">
              <a:spcAft>
                <a:spcPts val="0"/>
              </a:spcAft>
            </a:pPr>
            <a:r>
              <a:rPr sz="1030" b="1" i="0">
                <a:solidFill>
                  <a:srgbClr val="2D6496"/>
                </a:solidFill>
                <a:latin typeface="Arial"/>
              </a:rPr>
              <a:t>Real rank</a:t>
            </a:r>
          </a:p>
        </p:txBody>
      </p:sp>
      <p:sp>
        <p:nvSpPr>
          <p:cNvPr id="41" name="TextBox 40"/>
          <p:cNvSpPr txBox="1"/>
          <p:nvPr/>
        </p:nvSpPr>
        <p:spPr>
          <a:xfrm>
            <a:off x="9418320" y="2660904"/>
            <a:ext cx="1106424" cy="210312"/>
          </a:xfrm>
          <a:prstGeom prst="rect">
            <a:avLst/>
          </a:prstGeom>
          <a:noFill/>
        </p:spPr>
        <p:txBody>
          <a:bodyPr wrap="square" lIns="0" rIns="0" tIns="0" bIns="0" anchor="t">
            <a:spAutoFit/>
          </a:bodyPr>
          <a:lstStyle/>
          <a:p>
            <a:pPr algn="l">
              <a:spcAft>
                <a:spcPts val="0"/>
              </a:spcAft>
            </a:pPr>
            <a:r>
              <a:rPr sz="1030" b="1" i="0">
                <a:solidFill>
                  <a:srgbClr val="D96552"/>
                </a:solidFill>
                <a:latin typeface="Arial"/>
              </a:rPr>
              <a:t>Generated rank</a:t>
            </a:r>
          </a:p>
        </p:txBody>
      </p:sp>
      <p:sp>
        <p:nvSpPr>
          <p:cNvPr id="42" name="TextBox 41"/>
          <p:cNvSpPr txBox="1"/>
          <p:nvPr/>
        </p:nvSpPr>
        <p:spPr>
          <a:xfrm>
            <a:off x="8083296" y="3044952"/>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A</a:t>
            </a:r>
          </a:p>
        </p:txBody>
      </p:sp>
      <p:sp>
        <p:nvSpPr>
          <p:cNvPr id="43" name="Rectangle 42"/>
          <p:cNvSpPr/>
          <p:nvPr/>
        </p:nvSpPr>
        <p:spPr>
          <a:xfrm>
            <a:off x="8833104" y="3136392"/>
            <a:ext cx="740664"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021824" y="3136392"/>
            <a:ext cx="691286"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08208" y="3044952"/>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46" name="TextBox 45"/>
          <p:cNvSpPr txBox="1"/>
          <p:nvPr/>
        </p:nvSpPr>
        <p:spPr>
          <a:xfrm>
            <a:off x="8083296" y="3483864"/>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B</a:t>
            </a:r>
          </a:p>
        </p:txBody>
      </p:sp>
      <p:sp>
        <p:nvSpPr>
          <p:cNvPr id="47" name="Rectangle 46"/>
          <p:cNvSpPr/>
          <p:nvPr/>
        </p:nvSpPr>
        <p:spPr>
          <a:xfrm>
            <a:off x="8833104" y="3575304"/>
            <a:ext cx="683056"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21824" y="3575304"/>
            <a:ext cx="724204"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808208" y="3483864"/>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50" name="TextBox 49"/>
          <p:cNvSpPr txBox="1"/>
          <p:nvPr/>
        </p:nvSpPr>
        <p:spPr>
          <a:xfrm>
            <a:off x="8083296" y="3922776"/>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C</a:t>
            </a:r>
          </a:p>
        </p:txBody>
      </p:sp>
      <p:sp>
        <p:nvSpPr>
          <p:cNvPr id="51" name="Rectangle 50"/>
          <p:cNvSpPr/>
          <p:nvPr/>
        </p:nvSpPr>
        <p:spPr>
          <a:xfrm>
            <a:off x="8833104" y="4014215"/>
            <a:ext cx="641908"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021824" y="4014215"/>
            <a:ext cx="666597"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808208" y="3922776"/>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54" name="TextBox 53"/>
          <p:cNvSpPr txBox="1"/>
          <p:nvPr/>
        </p:nvSpPr>
        <p:spPr>
          <a:xfrm>
            <a:off x="8083296" y="4361688"/>
            <a:ext cx="694944" cy="219456"/>
          </a:xfrm>
          <a:prstGeom prst="rect">
            <a:avLst/>
          </a:prstGeom>
          <a:noFill/>
        </p:spPr>
        <p:txBody>
          <a:bodyPr wrap="square" lIns="0" rIns="0" tIns="0" bIns="0" anchor="t">
            <a:spAutoFit/>
          </a:bodyPr>
          <a:lstStyle/>
          <a:p>
            <a:pPr algn="l">
              <a:spcAft>
                <a:spcPts val="0"/>
              </a:spcAft>
            </a:pPr>
            <a:r>
              <a:rPr sz="1019" b="0" i="0">
                <a:solidFill>
                  <a:srgbClr val="8A969E"/>
                </a:solidFill>
                <a:latin typeface="Arial"/>
              </a:rPr>
              <a:t>Gene D</a:t>
            </a:r>
          </a:p>
        </p:txBody>
      </p:sp>
      <p:sp>
        <p:nvSpPr>
          <p:cNvPr id="55" name="Rectangle 54"/>
          <p:cNvSpPr/>
          <p:nvPr/>
        </p:nvSpPr>
        <p:spPr>
          <a:xfrm>
            <a:off x="8833104" y="4453127"/>
            <a:ext cx="329184"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021824" y="4453127"/>
            <a:ext cx="263347"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08208" y="4361688"/>
            <a:ext cx="566928" cy="219456"/>
          </a:xfrm>
          <a:prstGeom prst="rect">
            <a:avLst/>
          </a:prstGeom>
          <a:noFill/>
        </p:spPr>
        <p:txBody>
          <a:bodyPr wrap="square" lIns="0" rIns="0" tIns="0" bIns="0" anchor="t">
            <a:spAutoFit/>
          </a:bodyPr>
          <a:lstStyle/>
          <a:p>
            <a:pPr algn="r">
              <a:spcAft>
                <a:spcPts val="0"/>
              </a:spcAft>
            </a:pPr>
            <a:r>
              <a:rPr sz="819" b="0" i="0">
                <a:solidFill>
                  <a:srgbClr val="8A969E"/>
                </a:solidFill>
                <a:latin typeface="Arial"/>
              </a:rPr>
              <a:t>not selected</a:t>
            </a:r>
          </a:p>
        </p:txBody>
      </p:sp>
      <p:sp>
        <p:nvSpPr>
          <p:cNvPr id="58" name="TextBox 57"/>
          <p:cNvSpPr txBox="1"/>
          <p:nvPr/>
        </p:nvSpPr>
        <p:spPr>
          <a:xfrm>
            <a:off x="8065008" y="4892040"/>
            <a:ext cx="3145536"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Repeated support keeps the correlated genes together as one panel.</a:t>
            </a:r>
          </a:p>
        </p:txBody>
      </p:sp>
      <p:sp>
        <p:nvSpPr>
          <p:cNvPr id="59" name="Rectangle 58"/>
          <p:cNvSpPr/>
          <p:nvPr/>
        </p:nvSpPr>
        <p:spPr>
          <a:xfrm>
            <a:off x="429768" y="5605272"/>
            <a:ext cx="11137392"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4944" y="5751576"/>
            <a:ext cx="10607040" cy="246888"/>
          </a:xfrm>
          <a:prstGeom prst="rect">
            <a:avLst/>
          </a:prstGeom>
          <a:noFill/>
        </p:spPr>
        <p:txBody>
          <a:bodyPr wrap="square" lIns="0" rIns="0" tIns="0" bIns="0" anchor="t">
            <a:spAutoFit/>
          </a:bodyPr>
          <a:lstStyle/>
          <a:p>
            <a:pPr algn="ctr">
              <a:spcAft>
                <a:spcPts val="0"/>
              </a:spcAft>
            </a:pPr>
            <a:r>
              <a:rPr sz="1250" b="1" i="0">
                <a:solidFill>
                  <a:srgbClr val="FFFFFF"/>
                </a:solidFill>
                <a:latin typeface="Arial"/>
              </a:rPr>
              <a:t>Low marginal importance means a gene was replaceable in this classifier; it does not make the gene or pathway biologically irrelevant.</a:t>
            </a:r>
          </a:p>
        </p:txBody>
      </p:sp>
      <p:sp>
        <p:nvSpPr>
          <p:cNvPr id="61" name="TextBox 6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Schematic explanation of permutation importance in a correlated expression feature space.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Matched augmentation helped many tissues, but not all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One pooled classifier declined; tissue-specific real-plus-synthetic models were compared with fixed all-gene baselines.</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457200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Matched real + synthetic by tissue</a:t>
            </a:r>
          </a:p>
        </p:txBody>
      </p:sp>
      <p:pic>
        <p:nvPicPr>
          <p:cNvPr id="29" name="Balanced accuracy before and after matched real-plus-synthetic training" descr="Balanced accuracy before and after matched real-plus-synthetic training"/>
          <p:cNvPicPr>
            <a:picLocks noChangeAspect="1"/>
          </p:cNvPicPr>
          <p:nvPr/>
        </p:nvPicPr>
        <p:blipFill>
          <a:blip r:embed="rId2"/>
          <a:stretch>
            <a:fillRect/>
          </a:stretch>
        </p:blipFill>
        <p:spPr>
          <a:xfrm>
            <a:off x="4865185" y="2423160"/>
            <a:ext cx="5777853" cy="3383280"/>
          </a:xfrm>
          <a:prstGeom prst="rect">
            <a:avLst/>
          </a:prstGeom>
        </p:spPr>
      </p:pic>
      <p:sp>
        <p:nvSpPr>
          <p:cNvPr id="30" name="TextBox 29"/>
          <p:cNvSpPr txBox="1"/>
          <p:nvPr/>
        </p:nvSpPr>
        <p:spPr>
          <a:xfrm>
            <a:off x="4059936" y="5715000"/>
            <a:ext cx="6583680" cy="246888"/>
          </a:xfrm>
          <a:prstGeom prst="rect">
            <a:avLst/>
          </a:prstGeom>
          <a:noFill/>
        </p:spPr>
        <p:txBody>
          <a:bodyPr wrap="square" lIns="18288" rIns="18288" tIns="18288" bIns="18288" anchor="t">
            <a:spAutoFit/>
          </a:bodyPr>
          <a:lstStyle/>
          <a:p>
            <a:pPr algn="l">
              <a:spcAft>
                <a:spcPts val="0"/>
              </a:spcAft>
            </a:pPr>
            <a:r>
              <a:rPr sz="1170" b="0" i="1">
                <a:solidFill>
                  <a:srgbClr val="59697A"/>
                </a:solidFill>
                <a:latin typeface="Arial"/>
              </a:rPr>
              <a:t>Teal passed all pooled and accession-macro metrics; coral did not.</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Matched analysis on held-out real profiles from represented accessions; all arms use the same 974 genes and ridge setting.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Matched and consensus analyses answer different questions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importance tests synthetic contribution; consensus ranking organizes compact correlated panels.</a:t>
            </a:r>
          </a:p>
        </p:txBody>
      </p:sp>
      <p:sp>
        <p:nvSpPr>
          <p:cNvPr id="7" name="TextBox 6"/>
          <p:cNvSpPr txBox="1"/>
          <p:nvPr/>
        </p:nvSpPr>
        <p:spPr>
          <a:xfrm>
            <a:off x="576072" y="1874519"/>
            <a:ext cx="5257800" cy="283464"/>
          </a:xfrm>
          <a:prstGeom prst="rect">
            <a:avLst/>
          </a:prstGeom>
          <a:noFill/>
        </p:spPr>
        <p:txBody>
          <a:bodyPr wrap="square" lIns="0" rIns="0" tIns="0" bIns="0" anchor="t">
            <a:spAutoFit/>
          </a:bodyPr>
          <a:lstStyle/>
          <a:p>
            <a:pPr algn="ctr">
              <a:spcAft>
                <a:spcPts val="0"/>
              </a:spcAft>
            </a:pPr>
            <a:r>
              <a:rPr sz="1600" b="1" i="0">
                <a:solidFill>
                  <a:srgbClr val="082B55"/>
                </a:solidFill>
                <a:latin typeface="Arial"/>
              </a:rPr>
              <a:t>BH-FDR tissue-gene associations</a:t>
            </a:r>
          </a:p>
        </p:txBody>
      </p:sp>
      <p:sp>
        <p:nvSpPr>
          <p:cNvPr id="8" name="Oval 7"/>
          <p:cNvSpPr/>
          <p:nvPr/>
        </p:nvSpPr>
        <p:spPr>
          <a:xfrm>
            <a:off x="658368" y="2395728"/>
            <a:ext cx="3456432" cy="2468880"/>
          </a:xfrm>
          <a:prstGeom prst="ellipse">
            <a:avLst/>
          </a:prstGeom>
          <a:solidFill>
            <a:srgbClr val="D96552">
              <a:alpha val="22000"/>
            </a:srgbClr>
          </a:solidFill>
          <a:ln w="3048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679192" y="2395728"/>
            <a:ext cx="3456432" cy="2468880"/>
          </a:xfrm>
          <a:prstGeom prst="ellipse">
            <a:avLst/>
          </a:prstGeom>
          <a:solidFill>
            <a:srgbClr val="2D6496">
              <a:alpha val="20000"/>
            </a:srgbClr>
          </a:solid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76272"/>
            <a:ext cx="1965960" cy="246888"/>
          </a:xfrm>
          <a:prstGeom prst="rect">
            <a:avLst/>
          </a:prstGeom>
          <a:noFill/>
        </p:spPr>
        <p:txBody>
          <a:bodyPr wrap="square" lIns="0" rIns="0" tIns="0" bIns="0" anchor="t">
            <a:spAutoFit/>
          </a:bodyPr>
          <a:lstStyle/>
          <a:p>
            <a:pPr algn="ctr">
              <a:spcAft>
                <a:spcPts val="0"/>
              </a:spcAft>
            </a:pPr>
            <a:r>
              <a:rPr sz="1220" b="1" i="0">
                <a:solidFill>
                  <a:srgbClr val="D96552"/>
                </a:solidFill>
                <a:latin typeface="Arial"/>
              </a:rPr>
              <a:t>Matched all-gene</a:t>
            </a:r>
          </a:p>
        </p:txBody>
      </p:sp>
      <p:sp>
        <p:nvSpPr>
          <p:cNvPr id="11" name="TextBox 10"/>
          <p:cNvSpPr txBox="1"/>
          <p:nvPr/>
        </p:nvSpPr>
        <p:spPr>
          <a:xfrm>
            <a:off x="4041648" y="2176272"/>
            <a:ext cx="1965960" cy="246888"/>
          </a:xfrm>
          <a:prstGeom prst="rect">
            <a:avLst/>
          </a:prstGeom>
          <a:noFill/>
        </p:spPr>
        <p:txBody>
          <a:bodyPr wrap="square" lIns="0" rIns="0" tIns="0" bIns="0" anchor="t">
            <a:spAutoFit/>
          </a:bodyPr>
          <a:lstStyle/>
          <a:p>
            <a:pPr algn="ctr">
              <a:spcAft>
                <a:spcPts val="0"/>
              </a:spcAft>
            </a:pPr>
            <a:r>
              <a:rPr sz="1220" b="1" i="0">
                <a:solidFill>
                  <a:srgbClr val="2D6496"/>
                </a:solidFill>
                <a:latin typeface="Arial"/>
              </a:rPr>
              <a:t>Consensus panels</a:t>
            </a:r>
          </a:p>
        </p:txBody>
      </p:sp>
      <p:sp>
        <p:nvSpPr>
          <p:cNvPr id="12" name="TextBox 11"/>
          <p:cNvSpPr txBox="1"/>
          <p:nvPr/>
        </p:nvSpPr>
        <p:spPr>
          <a:xfrm>
            <a:off x="1143000" y="3172968"/>
            <a:ext cx="1097280" cy="457200"/>
          </a:xfrm>
          <a:prstGeom prst="rect">
            <a:avLst/>
          </a:prstGeom>
          <a:noFill/>
        </p:spPr>
        <p:txBody>
          <a:bodyPr wrap="square" lIns="0" rIns="0" tIns="0" bIns="0" anchor="t">
            <a:spAutoFit/>
          </a:bodyPr>
          <a:lstStyle/>
          <a:p>
            <a:pPr algn="ctr">
              <a:spcAft>
                <a:spcPts val="0"/>
              </a:spcAft>
            </a:pPr>
            <a:r>
              <a:rPr sz="2900" b="1" i="0">
                <a:solidFill>
                  <a:srgbClr val="D96552"/>
                </a:solidFill>
                <a:latin typeface="Arial"/>
              </a:rPr>
              <a:t>10</a:t>
            </a:r>
          </a:p>
        </p:txBody>
      </p:sp>
      <p:sp>
        <p:nvSpPr>
          <p:cNvPr id="13" name="TextBox 12"/>
          <p:cNvSpPr txBox="1"/>
          <p:nvPr/>
        </p:nvSpPr>
        <p:spPr>
          <a:xfrm>
            <a:off x="1051560" y="3685032"/>
            <a:ext cx="1280160"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matched only</a:t>
            </a:r>
          </a:p>
        </p:txBody>
      </p:sp>
      <p:sp>
        <p:nvSpPr>
          <p:cNvPr id="14" name="TextBox 13"/>
          <p:cNvSpPr txBox="1"/>
          <p:nvPr/>
        </p:nvSpPr>
        <p:spPr>
          <a:xfrm>
            <a:off x="2834640" y="3172968"/>
            <a:ext cx="1097280" cy="457200"/>
          </a:xfrm>
          <a:prstGeom prst="rect">
            <a:avLst/>
          </a:prstGeom>
          <a:noFill/>
        </p:spPr>
        <p:txBody>
          <a:bodyPr wrap="square" lIns="0" rIns="0" tIns="0" bIns="0" anchor="t">
            <a:spAutoFit/>
          </a:bodyPr>
          <a:lstStyle/>
          <a:p>
            <a:pPr algn="ctr">
              <a:spcAft>
                <a:spcPts val="0"/>
              </a:spcAft>
            </a:pPr>
            <a:r>
              <a:rPr sz="2900" b="1" i="0">
                <a:solidFill>
                  <a:srgbClr val="082B55"/>
                </a:solidFill>
                <a:latin typeface="Arial"/>
              </a:rPr>
              <a:t>11</a:t>
            </a:r>
          </a:p>
        </p:txBody>
      </p:sp>
      <p:sp>
        <p:nvSpPr>
          <p:cNvPr id="15" name="TextBox 14"/>
          <p:cNvSpPr txBox="1"/>
          <p:nvPr/>
        </p:nvSpPr>
        <p:spPr>
          <a:xfrm>
            <a:off x="2834640" y="3685032"/>
            <a:ext cx="1097280"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both</a:t>
            </a:r>
          </a:p>
        </p:txBody>
      </p:sp>
      <p:sp>
        <p:nvSpPr>
          <p:cNvPr id="16" name="TextBox 15"/>
          <p:cNvSpPr txBox="1"/>
          <p:nvPr/>
        </p:nvSpPr>
        <p:spPr>
          <a:xfrm>
            <a:off x="4544568" y="3172968"/>
            <a:ext cx="1097280" cy="457200"/>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38</a:t>
            </a:r>
          </a:p>
        </p:txBody>
      </p:sp>
      <p:sp>
        <p:nvSpPr>
          <p:cNvPr id="17" name="TextBox 16"/>
          <p:cNvSpPr txBox="1"/>
          <p:nvPr/>
        </p:nvSpPr>
        <p:spPr>
          <a:xfrm>
            <a:off x="4398264" y="3685032"/>
            <a:ext cx="1389888"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consensus only</a:t>
            </a:r>
          </a:p>
        </p:txBody>
      </p:sp>
      <p:sp>
        <p:nvSpPr>
          <p:cNvPr id="18" name="TextBox 17"/>
          <p:cNvSpPr txBox="1"/>
          <p:nvPr/>
        </p:nvSpPr>
        <p:spPr>
          <a:xfrm>
            <a:off x="1435608" y="4617720"/>
            <a:ext cx="1417320" cy="256032"/>
          </a:xfrm>
          <a:prstGeom prst="rect">
            <a:avLst/>
          </a:prstGeom>
          <a:noFill/>
        </p:spPr>
        <p:txBody>
          <a:bodyPr wrap="square" lIns="0" rIns="0" tIns="0" bIns="0" anchor="t">
            <a:spAutoFit/>
          </a:bodyPr>
          <a:lstStyle/>
          <a:p>
            <a:pPr algn="ctr">
              <a:spcAft>
                <a:spcPts val="0"/>
              </a:spcAft>
            </a:pPr>
            <a:r>
              <a:rPr sz="1200" b="1" i="0">
                <a:solidFill>
                  <a:srgbClr val="D96552"/>
                </a:solidFill>
                <a:latin typeface="Arial"/>
              </a:rPr>
              <a:t>21 total</a:t>
            </a:r>
          </a:p>
        </p:txBody>
      </p:sp>
      <p:sp>
        <p:nvSpPr>
          <p:cNvPr id="19" name="TextBox 18"/>
          <p:cNvSpPr txBox="1"/>
          <p:nvPr/>
        </p:nvSpPr>
        <p:spPr>
          <a:xfrm>
            <a:off x="3950208" y="4617720"/>
            <a:ext cx="1417320" cy="256032"/>
          </a:xfrm>
          <a:prstGeom prst="rect">
            <a:avLst/>
          </a:prstGeom>
          <a:noFill/>
        </p:spPr>
        <p:txBody>
          <a:bodyPr wrap="square" lIns="0" rIns="0" tIns="0" bIns="0" anchor="t">
            <a:spAutoFit/>
          </a:bodyPr>
          <a:lstStyle/>
          <a:p>
            <a:pPr algn="ctr">
              <a:spcAft>
                <a:spcPts val="0"/>
              </a:spcAft>
            </a:pPr>
            <a:r>
              <a:rPr sz="1200" b="1" i="0">
                <a:solidFill>
                  <a:srgbClr val="2D6496"/>
                </a:solidFill>
                <a:latin typeface="Arial"/>
              </a:rPr>
              <a:t>49 total</a:t>
            </a:r>
          </a:p>
        </p:txBody>
      </p:sp>
      <p:sp>
        <p:nvSpPr>
          <p:cNvPr id="20" name="Rectangle 19"/>
          <p:cNvSpPr/>
          <p:nvPr/>
        </p:nvSpPr>
        <p:spPr>
          <a:xfrm>
            <a:off x="6492240" y="1874519"/>
            <a:ext cx="13716" cy="402336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1984248"/>
            <a:ext cx="4663440" cy="969264"/>
          </a:xfrm>
          <a:prstGeom prst="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22592" y="2148840"/>
            <a:ext cx="914400" cy="210312"/>
          </a:xfrm>
          <a:prstGeom prst="rect">
            <a:avLst/>
          </a:prstGeom>
          <a:noFill/>
        </p:spPr>
        <p:txBody>
          <a:bodyPr wrap="square" lIns="0" rIns="0" tIns="0" bIns="0" anchor="t">
            <a:spAutoFit/>
          </a:bodyPr>
          <a:lstStyle/>
          <a:p>
            <a:pPr algn="l">
              <a:spcAft>
                <a:spcPts val="0"/>
              </a:spcAft>
            </a:pPr>
            <a:r>
              <a:rPr sz="919" b="1" i="0">
                <a:solidFill>
                  <a:srgbClr val="D96552"/>
                </a:solidFill>
                <a:latin typeface="Arial"/>
              </a:rPr>
              <a:t>PRIMARY</a:t>
            </a:r>
          </a:p>
        </p:txBody>
      </p:sp>
      <p:sp>
        <p:nvSpPr>
          <p:cNvPr id="23" name="TextBox 22"/>
          <p:cNvSpPr txBox="1"/>
          <p:nvPr/>
        </p:nvSpPr>
        <p:spPr>
          <a:xfrm>
            <a:off x="8074152" y="2112264"/>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Matched all-gene</a:t>
            </a:r>
          </a:p>
        </p:txBody>
      </p:sp>
      <p:sp>
        <p:nvSpPr>
          <p:cNvPr id="24" name="TextBox 23"/>
          <p:cNvSpPr txBox="1"/>
          <p:nvPr/>
        </p:nvSpPr>
        <p:spPr>
          <a:xfrm>
            <a:off x="7022592" y="2450591"/>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Same genes and classifier; asks whether training source changes held-out-real utility or importance.</a:t>
            </a:r>
          </a:p>
        </p:txBody>
      </p:sp>
      <p:sp>
        <p:nvSpPr>
          <p:cNvPr id="25" name="Rectangle 24"/>
          <p:cNvSpPr/>
          <p:nvPr/>
        </p:nvSpPr>
        <p:spPr>
          <a:xfrm>
            <a:off x="6784848" y="3200400"/>
            <a:ext cx="4663440" cy="969264"/>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22592" y="3364992"/>
            <a:ext cx="914400" cy="21031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SECONDARY</a:t>
            </a:r>
          </a:p>
        </p:txBody>
      </p:sp>
      <p:sp>
        <p:nvSpPr>
          <p:cNvPr id="27" name="TextBox 26"/>
          <p:cNvSpPr txBox="1"/>
          <p:nvPr/>
        </p:nvSpPr>
        <p:spPr>
          <a:xfrm>
            <a:off x="8074152" y="3328416"/>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Consensus panel</a:t>
            </a:r>
          </a:p>
        </p:txBody>
      </p:sp>
      <p:sp>
        <p:nvSpPr>
          <p:cNvPr id="28" name="TextBox 27"/>
          <p:cNvSpPr txBox="1"/>
          <p:nvPr/>
        </p:nvSpPr>
        <p:spPr>
          <a:xfrm>
            <a:off x="7022592" y="3666744"/>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Ranks compact top-k panels; preserves groups of correlated genes that can replace one another.</a:t>
            </a:r>
          </a:p>
        </p:txBody>
      </p:sp>
      <p:sp>
        <p:nvSpPr>
          <p:cNvPr id="29" name="Rectangle 28"/>
          <p:cNvSpPr/>
          <p:nvPr/>
        </p:nvSpPr>
        <p:spPr>
          <a:xfrm>
            <a:off x="6784848" y="4416552"/>
            <a:ext cx="4663440" cy="969264"/>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22592" y="4581144"/>
            <a:ext cx="914400" cy="210312"/>
          </a:xfrm>
          <a:prstGeom prst="rect">
            <a:avLst/>
          </a:prstGeom>
          <a:noFill/>
        </p:spPr>
        <p:txBody>
          <a:bodyPr wrap="square" lIns="0" rIns="0" tIns="0" bIns="0" anchor="t">
            <a:spAutoFit/>
          </a:bodyPr>
          <a:lstStyle/>
          <a:p>
            <a:pPr algn="l">
              <a:spcAft>
                <a:spcPts val="0"/>
              </a:spcAft>
            </a:pPr>
            <a:r>
              <a:rPr sz="919" b="1" i="0">
                <a:solidFill>
                  <a:srgbClr val="178681"/>
                </a:solidFill>
                <a:latin typeface="Arial"/>
              </a:rPr>
              <a:t>SHARED</a:t>
            </a:r>
          </a:p>
        </p:txBody>
      </p:sp>
      <p:sp>
        <p:nvSpPr>
          <p:cNvPr id="31" name="TextBox 30"/>
          <p:cNvSpPr txBox="1"/>
          <p:nvPr/>
        </p:nvSpPr>
        <p:spPr>
          <a:xfrm>
            <a:off x="8074152" y="4544568"/>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Real association gate</a:t>
            </a:r>
          </a:p>
        </p:txBody>
      </p:sp>
      <p:sp>
        <p:nvSpPr>
          <p:cNvPr id="32" name="TextBox 31"/>
          <p:cNvSpPr txBox="1"/>
          <p:nvPr/>
        </p:nvSpPr>
        <p:spPr>
          <a:xfrm>
            <a:off x="7022592" y="4882896"/>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FLT-GC effects and BH FDR are estimated from observed OSDR profiles only.</a:t>
            </a:r>
          </a:p>
        </p:txBody>
      </p:sp>
      <p:sp>
        <p:nvSpPr>
          <p:cNvPr id="33" name="Rectangle 32"/>
          <p:cNvSpPr/>
          <p:nvPr/>
        </p:nvSpPr>
        <p:spPr>
          <a:xfrm>
            <a:off x="530352" y="5367528"/>
            <a:ext cx="10991088" cy="585216"/>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532120"/>
            <a:ext cx="10497312" cy="256032"/>
          </a:xfrm>
          <a:prstGeom prst="rect">
            <a:avLst/>
          </a:prstGeom>
          <a:noFill/>
        </p:spPr>
        <p:txBody>
          <a:bodyPr wrap="square" lIns="0" rIns="0" tIns="0" bIns="0" anchor="t">
            <a:spAutoFit/>
          </a:bodyPr>
          <a:lstStyle/>
          <a:p>
            <a:pPr algn="ctr">
              <a:spcAft>
                <a:spcPts val="0"/>
              </a:spcAft>
            </a:pPr>
            <a:r>
              <a:rPr sz="1350" b="1" i="0">
                <a:solidFill>
                  <a:srgbClr val="FFFFFF"/>
                </a:solidFill>
                <a:latin typeface="Arial"/>
              </a:rPr>
              <a:t>Thymus is strongest because matched importance and the consensus cell-cycle panel converge.</a:t>
            </a:r>
          </a:p>
        </p:txBody>
      </p:sp>
      <p:sp>
        <p:nvSpPr>
          <p:cNvPr id="35" name="TextBox 34"/>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Crosswalk: 21 matched associations, 49 consensus associations, and 11 supported by both analyses.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secondary consensus associations received a selection status and an independent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PRIMARY 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matched screen covered all 27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Predictive utility and gene-level support are separate outcomes.</a:t>
            </a:r>
          </a:p>
        </p:txBody>
      </p:sp>
      <p:sp>
        <p:nvSpPr>
          <p:cNvPr id="7" name="Rectangle 6"/>
          <p:cNvSpPr/>
          <p:nvPr/>
        </p:nvSpPr>
        <p:spPr>
          <a:xfrm>
            <a:off x="393192" y="1865376"/>
            <a:ext cx="3337560" cy="3200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D96552"/>
                </a:solidFill>
                <a:latin typeface="Arial"/>
              </a:rPr>
              <a:t>4</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Matched genes</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Utility passed + BH-FDR gene importance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65041"/>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Liver</a:t>
            </a:r>
          </a:p>
        </p:txBody>
      </p:sp>
      <p:sp>
        <p:nvSpPr>
          <p:cNvPr id="15" name="Rectangle 14"/>
          <p:cNvSpPr/>
          <p:nvPr/>
        </p:nvSpPr>
        <p:spPr>
          <a:xfrm>
            <a:off x="420623" y="4094226"/>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950208"/>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Skin</a:t>
            </a:r>
          </a:p>
        </p:txBody>
      </p:sp>
      <p:sp>
        <p:nvSpPr>
          <p:cNvPr id="17" name="Rectangle 16"/>
          <p:cNvSpPr/>
          <p:nvPr/>
        </p:nvSpPr>
        <p:spPr>
          <a:xfrm>
            <a:off x="420623" y="4423409"/>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279392"/>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Spleen</a:t>
            </a:r>
          </a:p>
        </p:txBody>
      </p:sp>
      <p:sp>
        <p:nvSpPr>
          <p:cNvPr id="19" name="Rectangle 18"/>
          <p:cNvSpPr/>
          <p:nvPr/>
        </p:nvSpPr>
        <p:spPr>
          <a:xfrm>
            <a:off x="420623" y="4752594"/>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608576"/>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Thymus</a:t>
            </a:r>
          </a:p>
        </p:txBody>
      </p:sp>
      <p:sp>
        <p:nvSpPr>
          <p:cNvPr id="21" name="Rectangle 20"/>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05656"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14</a:t>
            </a:r>
          </a:p>
        </p:txBody>
      </p:sp>
      <p:sp>
        <p:nvSpPr>
          <p:cNvPr id="24" name="TextBox 23"/>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Utility only</a:t>
            </a:r>
          </a:p>
        </p:txBody>
      </p:sp>
      <p:sp>
        <p:nvSpPr>
          <p:cNvPr id="25" name="TextBox 24"/>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All six metrics passed; no retained gene</a:t>
            </a:r>
          </a:p>
        </p:txBody>
      </p:sp>
      <p:sp>
        <p:nvSpPr>
          <p:cNvPr id="26" name="Rectangle 25"/>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28" name="Rectangle 27"/>
          <p:cNvSpPr/>
          <p:nvPr/>
        </p:nvSpPr>
        <p:spPr>
          <a:xfrm>
            <a:off x="4133088" y="367948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3621024"/>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EDL</a:t>
            </a:r>
          </a:p>
        </p:txBody>
      </p:sp>
      <p:sp>
        <p:nvSpPr>
          <p:cNvPr id="30" name="Rectangle 29"/>
          <p:cNvSpPr/>
          <p:nvPr/>
        </p:nvSpPr>
        <p:spPr>
          <a:xfrm>
            <a:off x="4133088" y="383754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34256" y="3779084"/>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Adrenal Gland</a:t>
            </a:r>
          </a:p>
        </p:txBody>
      </p:sp>
      <p:sp>
        <p:nvSpPr>
          <p:cNvPr id="32" name="Rectangle 31"/>
          <p:cNvSpPr/>
          <p:nvPr/>
        </p:nvSpPr>
        <p:spPr>
          <a:xfrm>
            <a:off x="4133088" y="39956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34256" y="3937145"/>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Bone Marrow</a:t>
            </a:r>
          </a:p>
        </p:txBody>
      </p:sp>
      <p:sp>
        <p:nvSpPr>
          <p:cNvPr id="34" name="Rectangle 33"/>
          <p:cNvSpPr/>
          <p:nvPr/>
        </p:nvSpPr>
        <p:spPr>
          <a:xfrm>
            <a:off x="4133088" y="415366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34256" y="4095205"/>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Brain</a:t>
            </a:r>
          </a:p>
        </p:txBody>
      </p:sp>
      <p:sp>
        <p:nvSpPr>
          <p:cNvPr id="36" name="Rectangle 35"/>
          <p:cNvSpPr/>
          <p:nvPr/>
        </p:nvSpPr>
        <p:spPr>
          <a:xfrm>
            <a:off x="4133088" y="431172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34256" y="4253266"/>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Brown adipose tissue</a:t>
            </a:r>
          </a:p>
        </p:txBody>
      </p:sp>
      <p:sp>
        <p:nvSpPr>
          <p:cNvPr id="38" name="Rectangle 37"/>
          <p:cNvSpPr/>
          <p:nvPr/>
        </p:nvSpPr>
        <p:spPr>
          <a:xfrm>
            <a:off x="4133088" y="4469783"/>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4411326"/>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Cerebellum</a:t>
            </a:r>
          </a:p>
        </p:txBody>
      </p:sp>
      <p:sp>
        <p:nvSpPr>
          <p:cNvPr id="40" name="Rectangle 39"/>
          <p:cNvSpPr/>
          <p:nvPr/>
        </p:nvSpPr>
        <p:spPr>
          <a:xfrm>
            <a:off x="4133088" y="4627843"/>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4569387"/>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Colon</a:t>
            </a:r>
          </a:p>
        </p:txBody>
      </p:sp>
      <p:sp>
        <p:nvSpPr>
          <p:cNvPr id="42" name="Rectangle 41"/>
          <p:cNvSpPr/>
          <p:nvPr/>
        </p:nvSpPr>
        <p:spPr>
          <a:xfrm>
            <a:off x="4133088" y="4785904"/>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4727448"/>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Eye</a:t>
            </a:r>
          </a:p>
        </p:txBody>
      </p:sp>
      <p:sp>
        <p:nvSpPr>
          <p:cNvPr id="44" name="Rectangle 43"/>
          <p:cNvSpPr/>
          <p:nvPr/>
        </p:nvSpPr>
        <p:spPr>
          <a:xfrm>
            <a:off x="4133088" y="4943964"/>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885508"/>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Lung</a:t>
            </a:r>
          </a:p>
        </p:txBody>
      </p:sp>
      <p:sp>
        <p:nvSpPr>
          <p:cNvPr id="46" name="Rectangle 45"/>
          <p:cNvSpPr/>
          <p:nvPr/>
        </p:nvSpPr>
        <p:spPr>
          <a:xfrm>
            <a:off x="4133088" y="510202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5043569"/>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Mammary Gland</a:t>
            </a:r>
          </a:p>
        </p:txBody>
      </p:sp>
      <p:sp>
        <p:nvSpPr>
          <p:cNvPr id="48" name="Rectangle 47"/>
          <p:cNvSpPr/>
          <p:nvPr/>
        </p:nvSpPr>
        <p:spPr>
          <a:xfrm>
            <a:off x="4133088"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5201629"/>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Optic Nerve</a:t>
            </a:r>
          </a:p>
        </p:txBody>
      </p:sp>
      <p:sp>
        <p:nvSpPr>
          <p:cNvPr id="50" name="Rectangle 49"/>
          <p:cNvSpPr/>
          <p:nvPr/>
        </p:nvSpPr>
        <p:spPr>
          <a:xfrm>
            <a:off x="4133088" y="54181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34256" y="5359690"/>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Retina</a:t>
            </a:r>
          </a:p>
        </p:txBody>
      </p:sp>
      <p:sp>
        <p:nvSpPr>
          <p:cNvPr id="52" name="Rectangle 51"/>
          <p:cNvSpPr/>
          <p:nvPr/>
        </p:nvSpPr>
        <p:spPr>
          <a:xfrm>
            <a:off x="4133088" y="557620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34256" y="5517750"/>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Skeletal muscle (pooled)</a:t>
            </a:r>
          </a:p>
        </p:txBody>
      </p:sp>
      <p:sp>
        <p:nvSpPr>
          <p:cNvPr id="54" name="Rectangle 53"/>
          <p:cNvSpPr/>
          <p:nvPr/>
        </p:nvSpPr>
        <p:spPr>
          <a:xfrm>
            <a:off x="4133088" y="573426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334256" y="5675811"/>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White adipose tissue</a:t>
            </a:r>
          </a:p>
        </p:txBody>
      </p:sp>
      <p:sp>
        <p:nvSpPr>
          <p:cNvPr id="56" name="Rectangle 55"/>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7818120"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9</a:t>
            </a:r>
          </a:p>
        </p:txBody>
      </p:sp>
      <p:sp>
        <p:nvSpPr>
          <p:cNvPr id="59" name="TextBox 58"/>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Gate not passed</a:t>
            </a:r>
          </a:p>
        </p:txBody>
      </p:sp>
      <p:sp>
        <p:nvSpPr>
          <p:cNvPr id="60" name="TextBox 59"/>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At least one mean metric was worse</a:t>
            </a:r>
          </a:p>
        </p:txBody>
      </p:sp>
      <p:sp>
        <p:nvSpPr>
          <p:cNvPr id="61" name="Rectangle 60"/>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63" name="Rectangle 62"/>
          <p:cNvSpPr/>
          <p:nvPr/>
        </p:nvSpPr>
        <p:spPr>
          <a:xfrm>
            <a:off x="7845552" y="3723385"/>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3621024"/>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Gastrocnemius</a:t>
            </a:r>
          </a:p>
        </p:txBody>
      </p:sp>
      <p:sp>
        <p:nvSpPr>
          <p:cNvPr id="65" name="Rectangle 64"/>
          <p:cNvSpPr/>
          <p:nvPr/>
        </p:nvSpPr>
        <p:spPr>
          <a:xfrm>
            <a:off x="7845552" y="396925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3866896"/>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Quadriceps</a:t>
            </a:r>
          </a:p>
        </p:txBody>
      </p:sp>
      <p:sp>
        <p:nvSpPr>
          <p:cNvPr id="67" name="Rectangle 66"/>
          <p:cNvSpPr/>
          <p:nvPr/>
        </p:nvSpPr>
        <p:spPr>
          <a:xfrm>
            <a:off x="7845552" y="421512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112767"/>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Soleus</a:t>
            </a:r>
          </a:p>
        </p:txBody>
      </p:sp>
      <p:sp>
        <p:nvSpPr>
          <p:cNvPr id="69" name="Rectangle 68"/>
          <p:cNvSpPr/>
          <p:nvPr/>
        </p:nvSpPr>
        <p:spPr>
          <a:xfrm>
            <a:off x="7845552" y="4461002"/>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358640"/>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Tibialis Anterior</a:t>
            </a:r>
          </a:p>
        </p:txBody>
      </p:sp>
      <p:sp>
        <p:nvSpPr>
          <p:cNvPr id="71" name="Rectangle 70"/>
          <p:cNvSpPr/>
          <p:nvPr/>
        </p:nvSpPr>
        <p:spPr>
          <a:xfrm>
            <a:off x="7845552" y="470687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604512"/>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Bone</a:t>
            </a:r>
          </a:p>
        </p:txBody>
      </p:sp>
      <p:sp>
        <p:nvSpPr>
          <p:cNvPr id="73" name="Rectangle 72"/>
          <p:cNvSpPr/>
          <p:nvPr/>
        </p:nvSpPr>
        <p:spPr>
          <a:xfrm>
            <a:off x="7845552" y="4952745"/>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4850384"/>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Cecum</a:t>
            </a:r>
          </a:p>
        </p:txBody>
      </p:sp>
      <p:sp>
        <p:nvSpPr>
          <p:cNvPr id="75" name="Rectangle 74"/>
          <p:cNvSpPr/>
          <p:nvPr/>
        </p:nvSpPr>
        <p:spPr>
          <a:xfrm>
            <a:off x="7845552" y="519861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096256"/>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Heart</a:t>
            </a:r>
          </a:p>
        </p:txBody>
      </p:sp>
      <p:sp>
        <p:nvSpPr>
          <p:cNvPr id="77" name="Rectangle 76"/>
          <p:cNvSpPr/>
          <p:nvPr/>
        </p:nvSpPr>
        <p:spPr>
          <a:xfrm>
            <a:off x="7845552" y="5444490"/>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342128"/>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Hippocampus</a:t>
            </a:r>
          </a:p>
        </p:txBody>
      </p:sp>
      <p:sp>
        <p:nvSpPr>
          <p:cNvPr id="79" name="Rectangle 78"/>
          <p:cNvSpPr/>
          <p:nvPr/>
        </p:nvSpPr>
        <p:spPr>
          <a:xfrm>
            <a:off x="7845552" y="569036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588000"/>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Kidney</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Real-plus-synthetic matched arm across 22 canonical tissues and five anatomical muscle groups.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SECONDARY CONSENSUS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consensus-selected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consensus ranking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Secondary consensus set: rows report FLT direction and selection status; gene color independently reports literature interpretation.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is strongest across both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importance supports synthetic contribution; consensus ranking expands the correlated cell-cycle panel.</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075688"/>
            <a:ext cx="2697480" cy="210312"/>
          </a:xfrm>
          <a:prstGeom prst="rect">
            <a:avLst/>
          </a:prstGeom>
          <a:noFill/>
        </p:spPr>
        <p:txBody>
          <a:bodyPr wrap="square" lIns="0" rIns="0" tIns="0" bIns="0" anchor="t">
            <a:spAutoFit/>
          </a:bodyPr>
          <a:lstStyle/>
          <a:p>
            <a:pPr algn="l">
              <a:spcAft>
                <a:spcPts val="0"/>
              </a:spcAft>
            </a:pPr>
            <a:r>
              <a:rPr sz="950" b="1" i="0">
                <a:solidFill>
                  <a:srgbClr val="D96552"/>
                </a:solidFill>
                <a:latin typeface="Arial"/>
              </a:rPr>
              <a:t>MATCHED ALL-GENE</a:t>
            </a:r>
          </a:p>
        </p:txBody>
      </p:sp>
      <p:sp>
        <p:nvSpPr>
          <p:cNvPr id="10" name="TextBox 9"/>
          <p:cNvSpPr txBox="1"/>
          <p:nvPr/>
        </p:nvSpPr>
        <p:spPr>
          <a:xfrm>
            <a:off x="8622792" y="2340864"/>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15</a:t>
            </a:r>
          </a:p>
        </p:txBody>
      </p:sp>
      <p:sp>
        <p:nvSpPr>
          <p:cNvPr id="11" name="TextBox 10"/>
          <p:cNvSpPr txBox="1"/>
          <p:nvPr/>
        </p:nvSpPr>
        <p:spPr>
          <a:xfrm>
            <a:off x="9491472" y="2359152"/>
            <a:ext cx="1938528" cy="566928"/>
          </a:xfrm>
          <a:prstGeom prst="rect">
            <a:avLst/>
          </a:prstGeom>
          <a:noFill/>
        </p:spPr>
        <p:txBody>
          <a:bodyPr wrap="square" lIns="18288" rIns="18288" tIns="18288" bIns="18288" anchor="t">
            <a:spAutoFit/>
          </a:bodyPr>
          <a:lstStyle/>
          <a:p>
            <a:pPr algn="l">
              <a:spcAft>
                <a:spcPts val="0"/>
              </a:spcAft>
            </a:pPr>
            <a:r>
              <a:rPr sz="1270" b="1" i="0">
                <a:solidFill>
                  <a:srgbClr val="263746"/>
                </a:solidFill>
                <a:latin typeface="Arial"/>
              </a:rPr>
              <a:t>BH-FDR genes with
synthetic-supported importance</a:t>
            </a:r>
          </a:p>
        </p:txBody>
      </p:sp>
      <p:sp>
        <p:nvSpPr>
          <p:cNvPr id="12" name="TextBox 11"/>
          <p:cNvSpPr txBox="1"/>
          <p:nvPr/>
        </p:nvSpPr>
        <p:spPr>
          <a:xfrm>
            <a:off x="8631936" y="3054096"/>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7 promoted | 8 shared</a:t>
            </a:r>
          </a:p>
        </p:txBody>
      </p:sp>
      <p:sp>
        <p:nvSpPr>
          <p:cNvPr id="13" name="Oval 12"/>
          <p:cNvSpPr/>
          <p:nvPr/>
        </p:nvSpPr>
        <p:spPr>
          <a:xfrm>
            <a:off x="8631936" y="3538728"/>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4815" y="3447288"/>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26 significant Reactome terms; mitotic cell cycle leads</a:t>
            </a:r>
          </a:p>
        </p:txBody>
      </p:sp>
      <p:sp>
        <p:nvSpPr>
          <p:cNvPr id="15" name="Oval 14"/>
          <p:cNvSpPr/>
          <p:nvPr/>
        </p:nvSpPr>
        <p:spPr>
          <a:xfrm>
            <a:off x="8631936" y="4096511"/>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14815" y="4005072"/>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Nine genes overlap the 16-gene consensus panel</a:t>
            </a:r>
          </a:p>
        </p:txBody>
      </p:sp>
      <p:sp>
        <p:nvSpPr>
          <p:cNvPr id="17" name="Oval 16"/>
          <p:cNvSpPr/>
          <p:nvPr/>
        </p:nvSpPr>
        <p:spPr>
          <a:xfrm>
            <a:off x="8631936" y="465429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14815" y="4562856"/>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Consensus adds correlated Cdk1, Top2a, Aurka, Ccne2, Pcna and Ccnf</a:t>
            </a:r>
          </a:p>
        </p:txBody>
      </p:sp>
      <p:sp>
        <p:nvSpPr>
          <p:cNvPr id="19" name="Oval 18"/>
          <p:cNvSpPr/>
          <p:nvPr/>
        </p:nvSpPr>
        <p:spPr>
          <a:xfrm>
            <a:off x="8631936" y="521207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14815" y="5120640"/>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Lower mitotic renewal or fewer cycling thymocytes in flight</a:t>
            </a:r>
          </a:p>
        </p:txBody>
      </p:sp>
      <p:sp>
        <p:nvSpPr>
          <p:cNvPr id="21" name="TextBox 2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Figure shows the secondary consensus panel; matched genes and Reactome crosswalk are in Tables S19-S20. Context: Gridley et al. (2013); Horie et al. (2019).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is a coherent secondary consensus result</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five-gene program is biologically interpretable, but the matched all-gene gate did not pass.</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25128" y="2103120"/>
            <a:ext cx="2532888" cy="566928"/>
          </a:xfrm>
          <a:prstGeom prst="rect">
            <a:avLst/>
          </a:prstGeom>
          <a:noFill/>
        </p:spPr>
        <p:txBody>
          <a:bodyPr wrap="square" lIns="18288" rIns="18288" tIns="18288" bIns="18288" anchor="t">
            <a:spAutoFit/>
          </a:bodyPr>
          <a:lstStyle/>
          <a:p>
            <a:pPr algn="ctr">
              <a:spcAft>
                <a:spcPts val="0"/>
              </a:spcAft>
            </a:pPr>
            <a:r>
              <a:rPr sz="1700" b="1" i="0">
                <a:solidFill>
                  <a:srgbClr val="178681"/>
                </a:solidFill>
                <a:latin typeface="Arial"/>
              </a:rPr>
              <a:t>5-gene consensus panel</a:t>
            </a:r>
          </a:p>
        </p:txBody>
      </p:sp>
      <p:sp>
        <p:nvSpPr>
          <p:cNvPr id="10" name="TextBox 9"/>
          <p:cNvSpPr txBox="1"/>
          <p:nvPr/>
        </p:nvSpPr>
        <p:spPr>
          <a:xfrm>
            <a:off x="9052560" y="2706624"/>
            <a:ext cx="2468880" cy="329184"/>
          </a:xfrm>
          <a:prstGeom prst="rect">
            <a:avLst/>
          </a:prstGeom>
          <a:noFill/>
        </p:spPr>
        <p:txBody>
          <a:bodyPr wrap="square" lIns="18288" rIns="18288" tIns="18288" bIns="18288" anchor="t">
            <a:spAutoFit/>
          </a:bodyPr>
          <a:lstStyle/>
          <a:p>
            <a:pPr algn="ctr">
              <a:spcAft>
                <a:spcPts val="0"/>
              </a:spcAft>
            </a:pPr>
            <a:r>
              <a:rPr sz="1080" b="0" i="0">
                <a:solidFill>
                  <a:srgbClr val="59697A"/>
                </a:solidFill>
                <a:latin typeface="Arial"/>
              </a:rPr>
              <a:t>reinforced in real and consensus rankings</a:t>
            </a:r>
          </a:p>
        </p:txBody>
      </p:sp>
      <p:sp>
        <p:nvSpPr>
          <p:cNvPr id="11" name="Rectangle 10"/>
          <p:cNvSpPr/>
          <p:nvPr/>
        </p:nvSpPr>
        <p:spPr>
          <a:xfrm>
            <a:off x="9070848" y="3099816"/>
            <a:ext cx="2423160" cy="676656"/>
          </a:xfrm>
          <a:prstGeom prst="rect">
            <a:avLst/>
          </a:prstGeom>
          <a:solidFill>
            <a:srgbClr val="FFFFFF"/>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0" y="3200400"/>
            <a:ext cx="2103120" cy="228600"/>
          </a:xfrm>
          <a:prstGeom prst="rect">
            <a:avLst/>
          </a:prstGeom>
          <a:noFill/>
        </p:spPr>
        <p:txBody>
          <a:bodyPr wrap="square" lIns="0" rIns="0" tIns="0" bIns="0" anchor="t">
            <a:spAutoFit/>
          </a:bodyPr>
          <a:lstStyle/>
          <a:p>
            <a:pPr algn="ctr">
              <a:spcAft>
                <a:spcPts val="0"/>
              </a:spcAft>
            </a:pPr>
            <a:r>
              <a:rPr sz="1220" b="1" i="0">
                <a:solidFill>
                  <a:srgbClr val="D96552"/>
                </a:solidFill>
                <a:latin typeface="Arial"/>
              </a:rPr>
              <a:t>Matched gate not passed</a:t>
            </a:r>
          </a:p>
        </p:txBody>
      </p:sp>
      <p:sp>
        <p:nvSpPr>
          <p:cNvPr id="13" name="TextBox 12"/>
          <p:cNvSpPr txBox="1"/>
          <p:nvPr/>
        </p:nvSpPr>
        <p:spPr>
          <a:xfrm>
            <a:off x="9171432" y="3465576"/>
            <a:ext cx="2231136" cy="182880"/>
          </a:xfrm>
          <a:prstGeom prst="rect">
            <a:avLst/>
          </a:prstGeom>
          <a:noFill/>
        </p:spPr>
        <p:txBody>
          <a:bodyPr wrap="square" lIns="0" rIns="0" tIns="0" bIns="0" anchor="t">
            <a:spAutoFit/>
          </a:bodyPr>
          <a:lstStyle/>
          <a:p>
            <a:pPr algn="ctr">
              <a:spcAft>
                <a:spcPts val="0"/>
              </a:spcAft>
            </a:pPr>
            <a:r>
              <a:rPr sz="850" b="0" i="0">
                <a:solidFill>
                  <a:srgbClr val="263746"/>
                </a:solidFill>
                <a:latin typeface="Arial"/>
              </a:rPr>
              <a:t>BA +0.013 | AUROC -0.015 | AP -0.009</a:t>
            </a:r>
          </a:p>
        </p:txBody>
      </p:sp>
      <p:sp>
        <p:nvSpPr>
          <p:cNvPr id="14" name="Oval 13"/>
          <p:cNvSpPr/>
          <p:nvPr/>
        </p:nvSpPr>
        <p:spPr>
          <a:xfrm>
            <a:off x="9089136" y="403250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41063"/>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Lower Bdh1, Ech1, Bnip3 and Decr1</a:t>
            </a:r>
          </a:p>
        </p:txBody>
      </p:sp>
      <p:sp>
        <p:nvSpPr>
          <p:cNvPr id="16" name="Oval 15"/>
          <p:cNvSpPr/>
          <p:nvPr/>
        </p:nvSpPr>
        <p:spPr>
          <a:xfrm>
            <a:off x="9089136" y="450799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416552"/>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Higher Tpm1</a:t>
            </a:r>
          </a:p>
        </p:txBody>
      </p:sp>
      <p:sp>
        <p:nvSpPr>
          <p:cNvPr id="18" name="Oval 17"/>
          <p:cNvSpPr/>
          <p:nvPr/>
        </p:nvSpPr>
        <p:spPr>
          <a:xfrm>
            <a:off x="9089136" y="4983479"/>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4892040"/>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Mitochondrial turnover and fatty-acid metabolism</a:t>
            </a:r>
          </a:p>
        </p:txBody>
      </p:sp>
      <p:sp>
        <p:nvSpPr>
          <p:cNvPr id="20" name="Oval 19"/>
          <p:cNvSpPr/>
          <p:nvPr/>
        </p:nvSpPr>
        <p:spPr>
          <a:xfrm>
            <a:off x="9089136" y="545896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2015" y="5367527"/>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Panel-level hypothesis, not matched synthetic contribution</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MATCHED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Liver, skin and spleen add narrower gene-level results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Pooled muscle improves prediction, while its gene panel remains secondary consensus evidence.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Evidence</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Liver</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Grb10, Ppic, H2-DMa, Gtf2a2</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 retained panel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Four shared-importance candidates; no significant Reactome set enrichment.</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Skin</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Plscr1</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Plscr1 plus broader selected pathways</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Matched and consensus support the same gene; broader cell-cycle and DNA-repair context is panel-level.</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Loxl1</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Loxl1, Rai14, Ptprk, Myl9</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Loxl1 is the matched anchor; the four-gene adhesion and cytoskeletal panel is tentative.</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Pooled muscle</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All six metrics passed; no gene passed the full gate</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12-gene interferon and sialic-acid panel</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Predictive utility is matched; individual gene interpretation comes from the secondary consensus analysis.</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Matched genes pass real-data BH FDR and synthetic-supported marginal importance; consensus rows provide secondary panel context.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CONSENSUS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Several narrower panels did not pass the matched gene gate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These remain tissue-specific hypotheses from the secondary ranking analysis.</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Kidney</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Secondary consensus results and independent literature annotations are reported in Tables S10 and S16.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Use matched tests for contribution; consensus for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classifiers test utility; consensus ranking explains correlated programs; biological claims still use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Test</a:t>
            </a:r>
          </a:p>
        </p:txBody>
      </p:sp>
      <p:sp>
        <p:nvSpPr>
          <p:cNvPr id="15" name="TextBox 14"/>
          <p:cNvSpPr txBox="1"/>
          <p:nvPr/>
        </p:nvSpPr>
        <p:spPr>
          <a:xfrm>
            <a:off x="4087368"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Matched real-plus-synthetic classifiers passed all six metric checks in 18 of 27 tissue analyses and retained 21 BH-FDR associations.</a:t>
            </a:r>
          </a:p>
        </p:txBody>
      </p:sp>
      <p:sp>
        <p:nvSpPr>
          <p:cNvPr id="16" name="Rectangle 15"/>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Consensus ranking recovered broader correlated panels. Thymus was strongest across both analyses; soleus remained secondary.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