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Introduce the central question: can generated expression help us find tissue-specific FLT versus GC biology? Synthetic profiles support the analysis, but they do not count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Synthetic transcriptomes are numeric gene-expression vectors sampled from a model trained on measured RNA-seq data. Conditioning lets us request a tissue and FLT or GC context. These profiles can stress-test a classifier and guide gene ranking. They do not add biological replicates or independent evidence.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OSDR gives broad tissue coverage, but the profiles are spread across 75 accessions with different mission and assay contexts. ARCHS4 supplies a much larger mouse reference. The challenge is to use that reference without confusing study structure with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generator has two jobs. First, synthetic bulk RNA-seq should reproduce the tissue-defined distributions seen in real data. Second, it should preserve the smaller FLT versus GC signal within each tissue and improve prediction on held-out real samples. Gene effects and BH FDR are always calculated from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Each column shows the alternatives available at one pipeline stage; outlines identify the downstream branch. We used ARCHS4 and NASA OSDR across multiple studies and all tissues. The selected path used TPM, training-fitted MaxAbs scaling, 974 mouse landmarks, no global correction, ARCHS4 pretraining plus OSDR adaptation, and a DDIM conditioned on tissue, FLT/GC, accession and material. WGAN-GP and the other preprocessing and harmonization choices remained benchmark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left image is Figure 1C from Lacan and colleagues. Their residual dense denoiser predicts the noise added to a sample using diffusion timestep and tissue. Our implementation adds FLT/GC, accession and material context during OSDR LoRA adaptation. Both generators had high correlation and F1. DDIM had adversarial accuracy near 0.5 and a lower Frechet-distance ratio, so it was harder to separate from real profiles and closer in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Read the panels from left to right. The same generated profiles begin as noise, develop structure by timestep 200 and approach tissue-conditioned regions at timestep zero. The axes are shared, so the visual change does not come from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Circles are locked real OSDR profiles and crosses are matched DDIM profiles in the same PCA space. Generated samples follow the tissue-defined branches. FLT and GC overlap more because condition effects are smaller than tissue effects. The numerical validation on the previous slide tests fidelity directly.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Each arm makes two decisions: which profiles rank the genes and which profiles fit the classifier. In both guided arms, real and synthetic evidence jointly rank genes. Guided real fit then trains only on observed profiles. Guided 5% also uses condition-recentered synthetic profiles, but they contribute only 5% of total classifier weight. Held-out real profiles determine eligibility, and FLT/GC effects and BH FDR come from observed OSDR profiles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The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blue set contains genes selected stably by real-only ranking, and the teal set contains genes selected stably by the eligible synthetic-guided arm. Thirty-four were real-only, 23 were selected by both arms and classified as reinforced, and 26 were selected only with guidance and classified as promoted. Promoted does not mean biologically novel. All 49 synthetic-informed tissue-gene associations passed BH FDR in observed OSDR profiles.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Every association has two labels. Promoted or reinforced describes repeated feature selection. Aligning, complementary, ambiguous or unmatched describes prior literature. Across all 49 associations, 22 aligned, 19 were complementary, four were ambiguous and four were unmatched. Table S16 records the gene-level rationale and source IDs; Table S17 records the citations and evidence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This is the full analysis coverage: 22 canonical tissues and five anatomical muscle groups. Ten had a synthetic-informed BH-FDR association, five had real BH-FDR genes without synthetic-informed selection, and 12 had no BH-FDR gene in the landmark panel. Every completed tissue result remains visible here.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This is the complete 49-association inventory. Separate rows show FLT-higher or FLT-lower direction and promoted or reinforced selection status. Gene color independently shows aligning, complementary, ambiguous or unmatched literature. FLT directions come from real-data meta-analysis.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Thymus produced the clearest promoted panel. The lower mitotic and DNA-replication genes agree with prior reports of thymic involution and altered cell-cycle expression after flight. Higher Hsd17b11 and Etv1 add lipid-handling and T-cell-state hypotheses. A matched sensitivity model without material-type conditioning preserved the cell-cycle interpretation.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 In the no-material sensitivity model, the synthetic attribution disappeared. The real OSDR association remains, but the generated-profile contribution is conditioning-sensitive.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are shown on separate subrows for each tissue. Pooled muscle, kidney, spleen and skin each produced a distinct synthetic-informed result. The rows share a slide for presentation space; each remains a separate hypothesis.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Promoted and reinforced genes remain separated here as well. Eye reinforces lower cytokinesis, adrenal contributes two unmatched candidates, gastrocnemius combines an NF-kappa-B stress signal with an autophagy or myogenesis candidate, and tibialis anterior spans stress, cell-cycle, ganglioside and mitophagy hypotheses.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Synthetic data was useful for tissue-specific feature ranking and limited regularization. It did not increase biological sample size. Literature annotation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Synthetic transcriptomics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transcriptomics creates model-generated expression profiles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22" name="TextBox 21"/>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3" name="TextBox 22"/>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24" name="Rectangle 23"/>
          <p:cNvSpPr/>
          <p:nvPr/>
        </p:nvSpPr>
        <p:spPr>
          <a:xfrm>
            <a:off x="457200" y="2359152"/>
            <a:ext cx="3273552" cy="1152144"/>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3544"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188719"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453895"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19072" y="257860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8368"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23544"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188719"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453895" y="276148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719072"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58368"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3544"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188719"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453895" y="294436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19072"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23544"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88719"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1453895"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19072" y="3127248"/>
            <a:ext cx="182880"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0664"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46" name="TextBox 45"/>
          <p:cNvSpPr txBox="1"/>
          <p:nvPr/>
        </p:nvSpPr>
        <p:spPr>
          <a:xfrm>
            <a:off x="2039112"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47" name="TextBox 46"/>
          <p:cNvSpPr txBox="1"/>
          <p:nvPr/>
        </p:nvSpPr>
        <p:spPr>
          <a:xfrm>
            <a:off x="475488"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Measured gene expression from real mouse tissue</a:t>
            </a:r>
          </a:p>
        </p:txBody>
      </p:sp>
      <p:sp>
        <p:nvSpPr>
          <p:cNvPr id="48" name="Right Arrow 47"/>
          <p:cNvSpPr/>
          <p:nvPr/>
        </p:nvSpPr>
        <p:spPr>
          <a:xfrm>
            <a:off x="3794760"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50" name="TextBox 49"/>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51" name="Rectangle 50"/>
          <p:cNvSpPr/>
          <p:nvPr/>
        </p:nvSpPr>
        <p:spPr>
          <a:xfrm>
            <a:off x="4224528" y="2359152"/>
            <a:ext cx="3273552" cy="1152144"/>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2" name="Connector 51"/>
          <p:cNvCxnSpPr/>
          <p:nvPr/>
        </p:nvCxnSpPr>
        <p:spPr>
          <a:xfrm flipV="1">
            <a:off x="4645152" y="2587752"/>
            <a:ext cx="594360" cy="9144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4645152" y="2679192"/>
            <a:ext cx="594360" cy="36576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239512" y="25877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239512" y="2816352"/>
            <a:ext cx="630936"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870448" y="25877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870448" y="2816352"/>
            <a:ext cx="621792"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6492240" y="25877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6492240" y="2816352"/>
            <a:ext cx="566928" cy="228600"/>
          </a:xfrm>
          <a:prstGeom prst="line">
            <a:avLst/>
          </a:prstGeom>
          <a:ln w="13970">
            <a:solidFill>
              <a:srgbClr val="C6B07A"/>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4572000" y="260604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166360"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166360"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6419088" y="25146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419088" y="2971800"/>
            <a:ext cx="146304" cy="146304"/>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6986016" y="2743200"/>
            <a:ext cx="146304" cy="146304"/>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4242816"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Capture gene relationships and variation by tissue and FLT/GC condition</a:t>
            </a:r>
          </a:p>
        </p:txBody>
      </p:sp>
      <p:sp>
        <p:nvSpPr>
          <p:cNvPr id="68" name="Right Arrow 67"/>
          <p:cNvSpPr/>
          <p:nvPr/>
        </p:nvSpPr>
        <p:spPr>
          <a:xfrm>
            <a:off x="7562088" y="2807208"/>
            <a:ext cx="310896"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70" name="TextBox 69"/>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71" name="Rectangle 70"/>
          <p:cNvSpPr/>
          <p:nvPr/>
        </p:nvSpPr>
        <p:spPr>
          <a:xfrm>
            <a:off x="7991856" y="2359152"/>
            <a:ext cx="3273552" cy="1152144"/>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8193024"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8458200" y="257860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8723376"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988552" y="257860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9253728" y="257860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8193024"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8458200"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8723376" y="276148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8988552" y="276148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253728" y="276148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193024" y="294436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8458200"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8723376" y="294436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8988552"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9253728" y="294436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193024" y="3127248"/>
            <a:ext cx="182880" cy="109728"/>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458200"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8723376"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8988552" y="3127248"/>
            <a:ext cx="182880" cy="109728"/>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253728" y="3127248"/>
            <a:ext cx="182880" cy="10972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8275320" y="3300984"/>
            <a:ext cx="1024128" cy="146304"/>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genes</a:t>
            </a:r>
          </a:p>
        </p:txBody>
      </p:sp>
      <p:sp>
        <p:nvSpPr>
          <p:cNvPr id="93" name="TextBox 92"/>
          <p:cNvSpPr txBox="1"/>
          <p:nvPr/>
        </p:nvSpPr>
        <p:spPr>
          <a:xfrm>
            <a:off x="9573768" y="2743200"/>
            <a:ext cx="566928" cy="164592"/>
          </a:xfrm>
          <a:prstGeom prst="rect">
            <a:avLst/>
          </a:prstGeom>
          <a:noFill/>
        </p:spPr>
        <p:txBody>
          <a:bodyPr wrap="square" lIns="0" rIns="0" tIns="0" bIns="0" anchor="t">
            <a:spAutoFit/>
          </a:bodyPr>
          <a:lstStyle/>
          <a:p>
            <a:pPr algn="ctr">
              <a:spcAft>
                <a:spcPts val="0"/>
              </a:spcAft>
            </a:pPr>
            <a:r>
              <a:rPr sz="819" b="0" i="0">
                <a:solidFill>
                  <a:srgbClr val="59697A"/>
                </a:solidFill>
                <a:latin typeface="Arial"/>
              </a:rPr>
              <a:t>profiles</a:t>
            </a:r>
          </a:p>
        </p:txBody>
      </p:sp>
      <p:sp>
        <p:nvSpPr>
          <p:cNvPr id="94" name="TextBox 93"/>
          <p:cNvSpPr txBox="1"/>
          <p:nvPr/>
        </p:nvSpPr>
        <p:spPr>
          <a:xfrm>
            <a:off x="8010144" y="3685032"/>
            <a:ext cx="3200400" cy="603504"/>
          </a:xfrm>
          <a:prstGeom prst="rect">
            <a:avLst/>
          </a:prstGeom>
          <a:noFill/>
        </p:spPr>
        <p:txBody>
          <a:bodyPr wrap="square" lIns="0" rIns="0" tIns="0" bIns="0" anchor="t">
            <a:spAutoFit/>
          </a:bodyPr>
          <a:lstStyle/>
          <a:p>
            <a:pPr algn="l">
              <a:spcAft>
                <a:spcPts val="0"/>
              </a:spcAft>
            </a:pPr>
            <a:r>
              <a:rPr sz="1320" b="0" i="0">
                <a:solidFill>
                  <a:srgbClr val="263746"/>
                </a:solidFill>
                <a:latin typeface="Arial"/>
              </a:rPr>
              <a:t>Sample new numeric expression vectors for a selected context</a:t>
            </a:r>
          </a:p>
        </p:txBody>
      </p:sp>
      <p:sp>
        <p:nvSpPr>
          <p:cNvPr id="95" name="Rectangle 94"/>
          <p:cNvSpPr/>
          <p:nvPr/>
        </p:nvSpPr>
        <p:spPr>
          <a:xfrm>
            <a:off x="484632" y="4526280"/>
            <a:ext cx="1115568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502920" y="4754880"/>
            <a:ext cx="1463040" cy="274320"/>
          </a:xfrm>
          <a:prstGeom prst="rect">
            <a:avLst/>
          </a:prstGeom>
          <a:noFill/>
        </p:spPr>
        <p:txBody>
          <a:bodyPr wrap="square" lIns="0" rIns="0" tIns="0" bIns="0" anchor="t">
            <a:spAutoFit/>
          </a:bodyPr>
          <a:lstStyle/>
          <a:p>
            <a:pPr algn="l">
              <a:spcAft>
                <a:spcPts val="0"/>
              </a:spcAft>
            </a:pPr>
            <a:r>
              <a:rPr sz="1600" b="1" i="0">
                <a:solidFill>
                  <a:srgbClr val="178681"/>
                </a:solidFill>
                <a:latin typeface="Arial"/>
              </a:rPr>
              <a:t>It can help</a:t>
            </a:r>
          </a:p>
        </p:txBody>
      </p:sp>
      <p:sp>
        <p:nvSpPr>
          <p:cNvPr id="97" name="TextBox 96"/>
          <p:cNvSpPr txBox="1"/>
          <p:nvPr/>
        </p:nvSpPr>
        <p:spPr>
          <a:xfrm>
            <a:off x="1856231" y="4718304"/>
            <a:ext cx="3813048"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test classifiers, rank candidate genes and compare matched FLT and GC profiles</a:t>
            </a:r>
          </a:p>
        </p:txBody>
      </p:sp>
      <p:sp>
        <p:nvSpPr>
          <p:cNvPr id="98" name="Rectangle 97"/>
          <p:cNvSpPr/>
          <p:nvPr/>
        </p:nvSpPr>
        <p:spPr>
          <a:xfrm>
            <a:off x="5934456" y="4736592"/>
            <a:ext cx="10972" cy="640080"/>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6236208" y="4754880"/>
            <a:ext cx="1691640" cy="274320"/>
          </a:xfrm>
          <a:prstGeom prst="rect">
            <a:avLst/>
          </a:prstGeom>
          <a:noFill/>
        </p:spPr>
        <p:txBody>
          <a:bodyPr wrap="square" lIns="0" rIns="0" tIns="0" bIns="0" anchor="t">
            <a:spAutoFit/>
          </a:bodyPr>
          <a:lstStyle/>
          <a:p>
            <a:pPr algn="l">
              <a:spcAft>
                <a:spcPts val="0"/>
              </a:spcAft>
            </a:pPr>
            <a:r>
              <a:rPr sz="1600" b="1" i="0">
                <a:solidFill>
                  <a:srgbClr val="D96552"/>
                </a:solidFill>
                <a:latin typeface="Arial"/>
              </a:rPr>
              <a:t>It does not add</a:t>
            </a:r>
          </a:p>
        </p:txBody>
      </p:sp>
      <p:sp>
        <p:nvSpPr>
          <p:cNvPr id="100" name="TextBox 99"/>
          <p:cNvSpPr txBox="1"/>
          <p:nvPr/>
        </p:nvSpPr>
        <p:spPr>
          <a:xfrm>
            <a:off x="7781544" y="4718304"/>
            <a:ext cx="3593592" cy="502920"/>
          </a:xfrm>
          <a:prstGeom prst="rect">
            <a:avLst/>
          </a:prstGeom>
          <a:noFill/>
        </p:spPr>
        <p:txBody>
          <a:bodyPr wrap="square" lIns="0" rIns="0" tIns="0" bIns="0" anchor="t">
            <a:spAutoFit/>
          </a:bodyPr>
          <a:lstStyle/>
          <a:p>
            <a:pPr algn="l">
              <a:spcAft>
                <a:spcPts val="0"/>
              </a:spcAft>
            </a:pPr>
            <a:r>
              <a:rPr sz="1400" b="0" i="0">
                <a:solidFill>
                  <a:srgbClr val="263746"/>
                </a:solidFill>
                <a:latin typeface="Arial"/>
              </a:rPr>
              <a:t>new animals, new measurements or independent biological evidence</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STUDY GOALS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 tissue distributions, then test FLT versus GC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first goal validates the generator. The second asks whether synthetic data improves a real-data analysis.</a:t>
            </a:r>
          </a:p>
        </p:txBody>
      </p:sp>
      <p:sp>
        <p:nvSpPr>
          <p:cNvPr id="7" name="TextBox 6"/>
          <p:cNvSpPr txBox="1"/>
          <p:nvPr/>
        </p:nvSpPr>
        <p:spPr>
          <a:xfrm>
            <a:off x="530352" y="1901952"/>
            <a:ext cx="384048" cy="237744"/>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01</a:t>
            </a:r>
          </a:p>
        </p:txBody>
      </p:sp>
      <p:sp>
        <p:nvSpPr>
          <p:cNvPr id="8" name="TextBox 7"/>
          <p:cNvSpPr txBox="1"/>
          <p:nvPr/>
        </p:nvSpPr>
        <p:spPr>
          <a:xfrm>
            <a:off x="987552" y="1847088"/>
            <a:ext cx="4114800"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Reproduce tissue structure</a:t>
            </a:r>
          </a:p>
        </p:txBody>
      </p:sp>
      <p:sp>
        <p:nvSpPr>
          <p:cNvPr id="9" name="TextBox 8"/>
          <p:cNvSpPr txBox="1"/>
          <p:nvPr/>
        </p:nvSpPr>
        <p:spPr>
          <a:xfrm>
            <a:off x="530352" y="2276856"/>
            <a:ext cx="5102352"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Synthetic bulk RNA-seq should occupy the same tissue-defined expression space as real profiles.</a:t>
            </a:r>
          </a:p>
        </p:txBody>
      </p:sp>
      <p:sp>
        <p:nvSpPr>
          <p:cNvPr id="10" name="Rectangle 9"/>
          <p:cNvSpPr/>
          <p:nvPr/>
        </p:nvSpPr>
        <p:spPr>
          <a:xfrm>
            <a:off x="758952" y="4187952"/>
            <a:ext cx="4498848"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8952" y="2871216"/>
            <a:ext cx="16459" cy="1335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79576" y="354787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rot="27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rot="18900000">
            <a:off x="1271016" y="3575304"/>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435608" y="3465576"/>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rot="27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rot="18900000">
            <a:off x="1527048" y="359359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591056" y="365760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rot="27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rot="18900000">
            <a:off x="1682496" y="3685032"/>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16736" y="380390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rot="27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rot="18900000">
            <a:off x="1408176" y="3931920"/>
            <a:ext cx="1645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400507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Liver</a:t>
            </a:r>
          </a:p>
        </p:txBody>
      </p:sp>
      <p:sp>
        <p:nvSpPr>
          <p:cNvPr id="25" name="Oval 24"/>
          <p:cNvSpPr/>
          <p:nvPr/>
        </p:nvSpPr>
        <p:spPr>
          <a:xfrm>
            <a:off x="2642616" y="304495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rot="27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rot="18900000">
            <a:off x="2734056" y="3072384"/>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8648" y="296265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rot="27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rot="18900000">
            <a:off x="2990088" y="309067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054096" y="315468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rot="27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rot="18900000">
            <a:off x="3145536" y="3182112"/>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79776" y="330098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rot="27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rot="18900000">
            <a:off x="2871216" y="3429000"/>
            <a:ext cx="164592"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514600" y="350215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Muscle</a:t>
            </a:r>
          </a:p>
        </p:txBody>
      </p:sp>
      <p:sp>
        <p:nvSpPr>
          <p:cNvPr id="38" name="Oval 37"/>
          <p:cNvSpPr/>
          <p:nvPr/>
        </p:nvSpPr>
        <p:spPr>
          <a:xfrm>
            <a:off x="4151375" y="3593592"/>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rot="27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rot="18900000">
            <a:off x="4242815" y="3621024"/>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407407" y="3511296"/>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rot="27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rot="18900000">
            <a:off x="4498847" y="3639312"/>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562855" y="3703320"/>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rot="27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rot="18900000">
            <a:off x="4654295" y="3730751"/>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288536" y="3849624"/>
            <a:ext cx="118872" cy="118872"/>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rot="27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rot="18900000">
            <a:off x="4379975" y="3977639"/>
            <a:ext cx="164592"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23359" y="4050792"/>
            <a:ext cx="896112" cy="201168"/>
          </a:xfrm>
          <a:prstGeom prst="rect">
            <a:avLst/>
          </a:prstGeom>
          <a:noFill/>
        </p:spPr>
        <p:txBody>
          <a:bodyPr wrap="square" lIns="0" rIns="0" tIns="0" bIns="0" anchor="t">
            <a:spAutoFit/>
          </a:bodyPr>
          <a:lstStyle/>
          <a:p>
            <a:pPr algn="ctr">
              <a:spcAft>
                <a:spcPts val="0"/>
              </a:spcAft>
            </a:pPr>
            <a:r>
              <a:rPr sz="919" b="0" i="0">
                <a:solidFill>
                  <a:srgbClr val="59697A"/>
                </a:solidFill>
                <a:latin typeface="Arial"/>
              </a:rPr>
              <a:t>Thymus</a:t>
            </a:r>
          </a:p>
        </p:txBody>
      </p:sp>
      <p:sp>
        <p:nvSpPr>
          <p:cNvPr id="51" name="Oval 50"/>
          <p:cNvSpPr/>
          <p:nvPr/>
        </p:nvSpPr>
        <p:spPr>
          <a:xfrm>
            <a:off x="850392" y="2788920"/>
            <a:ext cx="109728" cy="109728"/>
          </a:xfrm>
          <a:prstGeom prst="ellipse">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05840" y="2761488"/>
            <a:ext cx="50292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Real</a:t>
            </a:r>
          </a:p>
        </p:txBody>
      </p:sp>
      <p:sp>
        <p:nvSpPr>
          <p:cNvPr id="53" name="Rectangle 52"/>
          <p:cNvSpPr/>
          <p:nvPr/>
        </p:nvSpPr>
        <p:spPr>
          <a:xfrm rot="27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rot="18900000">
            <a:off x="1554480" y="2825496"/>
            <a:ext cx="164592" cy="22860"/>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1783080" y="2761488"/>
            <a:ext cx="822960" cy="182880"/>
          </a:xfrm>
          <a:prstGeom prst="rect">
            <a:avLst/>
          </a:prstGeom>
          <a:noFill/>
        </p:spPr>
        <p:txBody>
          <a:bodyPr wrap="square" lIns="0" rIns="0" tIns="0" bIns="0" anchor="t">
            <a:spAutoFit/>
          </a:bodyPr>
          <a:lstStyle/>
          <a:p>
            <a:pPr algn="l">
              <a:spcAft>
                <a:spcPts val="0"/>
              </a:spcAft>
            </a:pPr>
            <a:r>
              <a:rPr sz="919" b="0" i="0">
                <a:solidFill>
                  <a:srgbClr val="59697A"/>
                </a:solidFill>
                <a:latin typeface="Arial"/>
              </a:rPr>
              <a:t>Generated</a:t>
            </a:r>
          </a:p>
        </p:txBody>
      </p:sp>
      <p:sp>
        <p:nvSpPr>
          <p:cNvPr id="56" name="Rectangle 55"/>
          <p:cNvSpPr/>
          <p:nvPr/>
        </p:nvSpPr>
        <p:spPr>
          <a:xfrm>
            <a:off x="5943600" y="1874519"/>
            <a:ext cx="13716" cy="2487168"/>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272784" y="1901952"/>
            <a:ext cx="384048" cy="237744"/>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02</a:t>
            </a:r>
          </a:p>
        </p:txBody>
      </p:sp>
      <p:sp>
        <p:nvSpPr>
          <p:cNvPr id="58" name="TextBox 57"/>
          <p:cNvSpPr txBox="1"/>
          <p:nvPr/>
        </p:nvSpPr>
        <p:spPr>
          <a:xfrm>
            <a:off x="6729984" y="1847088"/>
            <a:ext cx="4535424" cy="347472"/>
          </a:xfrm>
          <a:prstGeom prst="rect">
            <a:avLst/>
          </a:prstGeom>
          <a:noFill/>
        </p:spPr>
        <p:txBody>
          <a:bodyPr wrap="square" lIns="0" rIns="0" tIns="0" bIns="0" anchor="t">
            <a:spAutoFit/>
          </a:bodyPr>
          <a:lstStyle/>
          <a:p>
            <a:pPr algn="l">
              <a:spcAft>
                <a:spcPts val="0"/>
              </a:spcAft>
            </a:pPr>
            <a:r>
              <a:rPr sz="1800" b="1" i="0">
                <a:solidFill>
                  <a:srgbClr val="082B55"/>
                </a:solidFill>
                <a:latin typeface="Arial"/>
              </a:rPr>
              <a:t>Preserve the FLT/GC difference</a:t>
            </a:r>
          </a:p>
        </p:txBody>
      </p:sp>
      <p:sp>
        <p:nvSpPr>
          <p:cNvPr id="59" name="TextBox 58"/>
          <p:cNvSpPr txBox="1"/>
          <p:nvPr/>
        </p:nvSpPr>
        <p:spPr>
          <a:xfrm>
            <a:off x="6272784" y="2276856"/>
            <a:ext cx="5120640" cy="512064"/>
          </a:xfrm>
          <a:prstGeom prst="rect">
            <a:avLst/>
          </a:prstGeom>
          <a:noFill/>
        </p:spPr>
        <p:txBody>
          <a:bodyPr wrap="square" lIns="0" rIns="0" tIns="0" bIns="0" anchor="t">
            <a:spAutoFit/>
          </a:bodyPr>
          <a:lstStyle/>
          <a:p>
            <a:pPr algn="l">
              <a:spcAft>
                <a:spcPts val="0"/>
              </a:spcAft>
            </a:pPr>
            <a:r>
              <a:rPr sz="1340" b="0" i="0">
                <a:solidFill>
                  <a:srgbClr val="263746"/>
                </a:solidFill>
                <a:latin typeface="Arial"/>
              </a:rPr>
              <a:t>Within each tissue, generated profiles should retain the smaller condition signal.</a:t>
            </a:r>
          </a:p>
        </p:txBody>
      </p:sp>
      <p:sp>
        <p:nvSpPr>
          <p:cNvPr id="60" name="TextBox 59"/>
          <p:cNvSpPr txBox="1"/>
          <p:nvPr/>
        </p:nvSpPr>
        <p:spPr>
          <a:xfrm>
            <a:off x="6565392" y="2962656"/>
            <a:ext cx="658368" cy="256032"/>
          </a:xfrm>
          <a:prstGeom prst="rect">
            <a:avLst/>
          </a:prstGeom>
          <a:noFill/>
        </p:spPr>
        <p:txBody>
          <a:bodyPr wrap="square" lIns="0" rIns="0" tIns="0" bIns="0" anchor="t">
            <a:spAutoFit/>
          </a:bodyPr>
          <a:lstStyle/>
          <a:p>
            <a:pPr algn="ctr">
              <a:spcAft>
                <a:spcPts val="0"/>
              </a:spcAft>
            </a:pPr>
            <a:r>
              <a:rPr sz="1400" b="1" i="0">
                <a:solidFill>
                  <a:srgbClr val="D96552"/>
                </a:solidFill>
                <a:latin typeface="Arial"/>
              </a:rPr>
              <a:t>FLT</a:t>
            </a:r>
          </a:p>
        </p:txBody>
      </p:sp>
      <p:sp>
        <p:nvSpPr>
          <p:cNvPr id="61" name="TextBox 60"/>
          <p:cNvSpPr txBox="1"/>
          <p:nvPr/>
        </p:nvSpPr>
        <p:spPr>
          <a:xfrm>
            <a:off x="8302752" y="2962656"/>
            <a:ext cx="658368" cy="256032"/>
          </a:xfrm>
          <a:prstGeom prst="rect">
            <a:avLst/>
          </a:prstGeom>
          <a:noFill/>
        </p:spPr>
        <p:txBody>
          <a:bodyPr wrap="square" lIns="0" rIns="0" tIns="0" bIns="0" anchor="t">
            <a:spAutoFit/>
          </a:bodyPr>
          <a:lstStyle/>
          <a:p>
            <a:pPr algn="ctr">
              <a:spcAft>
                <a:spcPts val="0"/>
              </a:spcAft>
            </a:pPr>
            <a:r>
              <a:rPr sz="1400" b="1" i="0">
                <a:solidFill>
                  <a:srgbClr val="2D6496"/>
                </a:solidFill>
                <a:latin typeface="Arial"/>
              </a:rPr>
              <a:t>GC</a:t>
            </a:r>
          </a:p>
        </p:txBody>
      </p:sp>
      <p:sp>
        <p:nvSpPr>
          <p:cNvPr id="62" name="Oval 61"/>
          <p:cNvSpPr/>
          <p:nvPr/>
        </p:nvSpPr>
        <p:spPr>
          <a:xfrm>
            <a:off x="6565392" y="341071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6876288" y="3273552"/>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123176" y="3483864"/>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6739128" y="3694176"/>
            <a:ext cx="155448" cy="155448"/>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8311896" y="341071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8622792" y="3273552"/>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869680" y="3483864"/>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485632" y="3694176"/>
            <a:ext cx="155448" cy="15544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662672" y="3429000"/>
            <a:ext cx="384048" cy="219456"/>
          </a:xfrm>
          <a:prstGeom prst="rect">
            <a:avLst/>
          </a:prstGeom>
          <a:noFill/>
        </p:spPr>
        <p:txBody>
          <a:bodyPr wrap="square" lIns="0" rIns="0" tIns="0" bIns="0" anchor="t">
            <a:spAutoFit/>
          </a:bodyPr>
          <a:lstStyle/>
          <a:p>
            <a:pPr algn="ctr">
              <a:spcAft>
                <a:spcPts val="0"/>
              </a:spcAft>
            </a:pPr>
            <a:r>
              <a:rPr sz="1150" b="1" i="0">
                <a:solidFill>
                  <a:srgbClr val="8A969E"/>
                </a:solidFill>
                <a:latin typeface="Arial"/>
              </a:rPr>
              <a:t>vs</a:t>
            </a:r>
          </a:p>
        </p:txBody>
      </p:sp>
      <p:sp>
        <p:nvSpPr>
          <p:cNvPr id="71" name="Right Arrow 70"/>
          <p:cNvSpPr/>
          <p:nvPr/>
        </p:nvSpPr>
        <p:spPr>
          <a:xfrm>
            <a:off x="9290304" y="3355848"/>
            <a:ext cx="384048"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9893808" y="3063240"/>
            <a:ext cx="1060704" cy="246888"/>
          </a:xfrm>
          <a:prstGeom prst="rect">
            <a:avLst/>
          </a:prstGeom>
          <a:noFill/>
        </p:spPr>
        <p:txBody>
          <a:bodyPr wrap="square" lIns="0" rIns="0" tIns="0" bIns="0" anchor="t">
            <a:spAutoFit/>
          </a:bodyPr>
          <a:lstStyle/>
          <a:p>
            <a:pPr algn="l">
              <a:spcAft>
                <a:spcPts val="0"/>
              </a:spcAft>
            </a:pPr>
            <a:r>
              <a:rPr sz="1350" b="1" i="0">
                <a:solidFill>
                  <a:srgbClr val="082B55"/>
                </a:solidFill>
                <a:latin typeface="Arial"/>
              </a:rPr>
              <a:t>genes</a:t>
            </a:r>
          </a:p>
        </p:txBody>
      </p:sp>
      <p:sp>
        <p:nvSpPr>
          <p:cNvPr id="73" name="TextBox 72"/>
          <p:cNvSpPr txBox="1"/>
          <p:nvPr/>
        </p:nvSpPr>
        <p:spPr>
          <a:xfrm>
            <a:off x="9893808" y="3429000"/>
            <a:ext cx="1353312" cy="246888"/>
          </a:xfrm>
          <a:prstGeom prst="rect">
            <a:avLst/>
          </a:prstGeom>
          <a:noFill/>
        </p:spPr>
        <p:txBody>
          <a:bodyPr wrap="square" lIns="0" rIns="0" tIns="0" bIns="0" anchor="t">
            <a:spAutoFit/>
          </a:bodyPr>
          <a:lstStyle/>
          <a:p>
            <a:pPr algn="l">
              <a:spcAft>
                <a:spcPts val="0"/>
              </a:spcAft>
            </a:pPr>
            <a:r>
              <a:rPr sz="1350" b="1" i="0">
                <a:solidFill>
                  <a:srgbClr val="082B55"/>
                </a:solidFill>
                <a:latin typeface="Arial"/>
              </a:rPr>
              <a:t>+ pathways</a:t>
            </a:r>
          </a:p>
        </p:txBody>
      </p:sp>
      <p:sp>
        <p:nvSpPr>
          <p:cNvPr id="74" name="TextBox 73"/>
          <p:cNvSpPr txBox="1"/>
          <p:nvPr/>
        </p:nvSpPr>
        <p:spPr>
          <a:xfrm>
            <a:off x="9893808" y="3794760"/>
            <a:ext cx="1417320" cy="219456"/>
          </a:xfrm>
          <a:prstGeom prst="rect">
            <a:avLst/>
          </a:prstGeom>
          <a:noFill/>
        </p:spPr>
        <p:txBody>
          <a:bodyPr wrap="square" lIns="0" rIns="0" tIns="0" bIns="0" anchor="t">
            <a:spAutoFit/>
          </a:bodyPr>
          <a:lstStyle/>
          <a:p>
            <a:pPr algn="l">
              <a:spcAft>
                <a:spcPts val="0"/>
              </a:spcAft>
            </a:pPr>
            <a:r>
              <a:rPr sz="1100" b="0" i="0">
                <a:solidFill>
                  <a:srgbClr val="59697A"/>
                </a:solidFill>
                <a:latin typeface="Arial"/>
              </a:rPr>
              <a:t>for each tissue</a:t>
            </a:r>
          </a:p>
        </p:txBody>
      </p:sp>
      <p:sp>
        <p:nvSpPr>
          <p:cNvPr id="75" name="Rectangle 74"/>
          <p:cNvSpPr/>
          <p:nvPr/>
        </p:nvSpPr>
        <p:spPr>
          <a:xfrm>
            <a:off x="548640" y="4681728"/>
            <a:ext cx="1104595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566928" y="4965192"/>
            <a:ext cx="1417320" cy="274320"/>
          </a:xfrm>
          <a:prstGeom prst="rect">
            <a:avLst/>
          </a:prstGeom>
          <a:noFill/>
        </p:spPr>
        <p:txBody>
          <a:bodyPr wrap="square" lIns="0" rIns="0" tIns="0" bIns="0" anchor="t">
            <a:spAutoFit/>
          </a:bodyPr>
          <a:lstStyle/>
          <a:p>
            <a:pPr algn="l">
              <a:spcAft>
                <a:spcPts val="0"/>
              </a:spcAft>
            </a:pPr>
            <a:r>
              <a:rPr sz="1650" b="1" i="0">
                <a:solidFill>
                  <a:srgbClr val="178681"/>
                </a:solidFill>
                <a:latin typeface="Arial"/>
              </a:rPr>
              <a:t>Model choice</a:t>
            </a:r>
          </a:p>
        </p:txBody>
      </p:sp>
      <p:sp>
        <p:nvSpPr>
          <p:cNvPr id="77" name="TextBox 76"/>
          <p:cNvSpPr txBox="1"/>
          <p:nvPr/>
        </p:nvSpPr>
        <p:spPr>
          <a:xfrm>
            <a:off x="1993392" y="4882896"/>
            <a:ext cx="6766560" cy="530352"/>
          </a:xfrm>
          <a:prstGeom prst="rect">
            <a:avLst/>
          </a:prstGeom>
          <a:noFill/>
        </p:spPr>
        <p:txBody>
          <a:bodyPr wrap="square" lIns="0" rIns="0" tIns="0" bIns="0" anchor="ctr">
            <a:spAutoFit/>
          </a:bodyPr>
          <a:lstStyle/>
          <a:p>
            <a:pPr algn="l">
              <a:spcAft>
                <a:spcPts val="0"/>
              </a:spcAft>
            </a:pPr>
            <a:r>
              <a:rPr sz="1500" b="0" i="0">
                <a:solidFill>
                  <a:srgbClr val="082B55"/>
                </a:solidFill>
                <a:latin typeface="Arial"/>
              </a:rPr>
              <a:t>Use the pipeline that matches tissue structure and performs best on held-out real FLT/GC samples.</a:t>
            </a:r>
          </a:p>
        </p:txBody>
      </p:sp>
      <p:sp>
        <p:nvSpPr>
          <p:cNvPr id="78" name="TextBox 77"/>
          <p:cNvSpPr txBox="1"/>
          <p:nvPr/>
        </p:nvSpPr>
        <p:spPr>
          <a:xfrm>
            <a:off x="9034272" y="4956048"/>
            <a:ext cx="2350008" cy="420624"/>
          </a:xfrm>
          <a:prstGeom prst="rect">
            <a:avLst/>
          </a:prstGeom>
          <a:noFill/>
        </p:spPr>
        <p:txBody>
          <a:bodyPr wrap="square" lIns="0" rIns="0" tIns="0" bIns="0" anchor="t">
            <a:spAutoFit/>
          </a:bodyPr>
          <a:lstStyle/>
          <a:p>
            <a:pPr algn="l">
              <a:spcAft>
                <a:spcPts val="0"/>
              </a:spcAft>
            </a:pPr>
            <a:r>
              <a:rPr sz="1150" b="0" i="0">
                <a:solidFill>
                  <a:srgbClr val="59697A"/>
                </a:solidFill>
                <a:latin typeface="Arial"/>
              </a:rPr>
              <a:t>Gene effects and BH FDR use observed OSDR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ectangle 7"/>
          <p:cNvSpPr/>
          <p:nvPr/>
        </p:nvSpPr>
        <p:spPr>
          <a:xfrm>
            <a:off x="438912" y="5907024"/>
            <a:ext cx="11311128" cy="438912"/>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Tissues separate clearly here. Flight and ground-control samples overlap much more, so we test that difference statistically.</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Five arms separate gene ranking from classifier fitting</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Guided arms use synthetic profiles to help choose genes; they do not treat generated profiles as new animals.</a:t>
            </a:r>
          </a:p>
        </p:txBody>
      </p:sp>
      <p:sp>
        <p:nvSpPr>
          <p:cNvPr id="7" name="TextBox 6"/>
          <p:cNvSpPr txBox="1"/>
          <p:nvPr/>
        </p:nvSpPr>
        <p:spPr>
          <a:xfrm>
            <a:off x="429768" y="1828800"/>
            <a:ext cx="603504" cy="201168"/>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INPUTS</a:t>
            </a:r>
          </a:p>
        </p:txBody>
      </p:sp>
      <p:sp>
        <p:nvSpPr>
          <p:cNvPr id="8" name="Oval 7"/>
          <p:cNvSpPr/>
          <p:nvPr/>
        </p:nvSpPr>
        <p:spPr>
          <a:xfrm>
            <a:off x="1097280" y="1810512"/>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10" name="TextBox 9"/>
          <p:cNvSpPr txBox="1"/>
          <p:nvPr/>
        </p:nvSpPr>
        <p:spPr>
          <a:xfrm>
            <a:off x="1389888" y="1810512"/>
            <a:ext cx="1078992"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real OSDR</a:t>
            </a:r>
          </a:p>
        </p:txBody>
      </p:sp>
      <p:sp>
        <p:nvSpPr>
          <p:cNvPr id="11" name="Oval 10"/>
          <p:cNvSpPr/>
          <p:nvPr/>
        </p:nvSpPr>
        <p:spPr>
          <a:xfrm>
            <a:off x="2660904" y="1810512"/>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60904" y="1815084"/>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13" name="TextBox 12"/>
          <p:cNvSpPr txBox="1"/>
          <p:nvPr/>
        </p:nvSpPr>
        <p:spPr>
          <a:xfrm>
            <a:off x="2953512" y="1810512"/>
            <a:ext cx="1298448" cy="219456"/>
          </a:xfrm>
          <a:prstGeom prst="rect">
            <a:avLst/>
          </a:prstGeom>
          <a:noFill/>
        </p:spPr>
        <p:txBody>
          <a:bodyPr wrap="square" lIns="0" rIns="0" tIns="0" bIns="0" anchor="t">
            <a:spAutoFit/>
          </a:bodyPr>
          <a:lstStyle/>
          <a:p>
            <a:pPr algn="l">
              <a:spcAft>
                <a:spcPts val="0"/>
              </a:spcAft>
            </a:pPr>
            <a:r>
              <a:rPr sz="1080" b="1" i="0">
                <a:solidFill>
                  <a:srgbClr val="D96552"/>
                </a:solidFill>
                <a:latin typeface="Arial"/>
              </a:rPr>
              <a:t>matched DDIM</a:t>
            </a:r>
          </a:p>
        </p:txBody>
      </p:sp>
      <p:sp>
        <p:nvSpPr>
          <p:cNvPr id="14" name="TextBox 13"/>
          <p:cNvSpPr txBox="1"/>
          <p:nvPr/>
        </p:nvSpPr>
        <p:spPr>
          <a:xfrm>
            <a:off x="5577840" y="1819656"/>
            <a:ext cx="640080" cy="201168"/>
          </a:xfrm>
          <a:prstGeom prst="rect">
            <a:avLst/>
          </a:prstGeom>
          <a:noFill/>
        </p:spPr>
        <p:txBody>
          <a:bodyPr wrap="square" lIns="0" rIns="0" tIns="0" bIns="0" anchor="t">
            <a:spAutoFit/>
          </a:bodyPr>
          <a:lstStyle/>
          <a:p>
            <a:pPr algn="l">
              <a:spcAft>
                <a:spcPts val="0"/>
              </a:spcAft>
            </a:pPr>
            <a:r>
              <a:rPr sz="880" b="1" i="0">
                <a:solidFill>
                  <a:srgbClr val="178681"/>
                </a:solidFill>
                <a:latin typeface="Arial"/>
              </a:rPr>
              <a:t>GUIDED</a:t>
            </a:r>
          </a:p>
        </p:txBody>
      </p:sp>
      <p:sp>
        <p:nvSpPr>
          <p:cNvPr id="15" name="TextBox 14"/>
          <p:cNvSpPr txBox="1"/>
          <p:nvPr/>
        </p:nvSpPr>
        <p:spPr>
          <a:xfrm>
            <a:off x="6263640" y="1801368"/>
            <a:ext cx="1874519"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 + S help rank genes</a:t>
            </a:r>
          </a:p>
        </p:txBody>
      </p:sp>
      <p:sp>
        <p:nvSpPr>
          <p:cNvPr id="16" name="TextBox 15"/>
          <p:cNvSpPr txBox="1"/>
          <p:nvPr/>
        </p:nvSpPr>
        <p:spPr>
          <a:xfrm>
            <a:off x="8604504" y="1819656"/>
            <a:ext cx="347472" cy="201168"/>
          </a:xfrm>
          <a:prstGeom prst="rect">
            <a:avLst/>
          </a:prstGeom>
          <a:noFill/>
        </p:spPr>
        <p:txBody>
          <a:bodyPr wrap="square" lIns="0" rIns="0" tIns="0" bIns="0" anchor="t">
            <a:spAutoFit/>
          </a:bodyPr>
          <a:lstStyle/>
          <a:p>
            <a:pPr algn="l">
              <a:spcAft>
                <a:spcPts val="0"/>
              </a:spcAft>
            </a:pPr>
            <a:r>
              <a:rPr sz="880" b="1" i="0">
                <a:solidFill>
                  <a:srgbClr val="D37B00"/>
                </a:solidFill>
                <a:latin typeface="Arial"/>
              </a:rPr>
              <a:t>5%</a:t>
            </a:r>
          </a:p>
        </p:txBody>
      </p:sp>
      <p:sp>
        <p:nvSpPr>
          <p:cNvPr id="17" name="TextBox 16"/>
          <p:cNvSpPr txBox="1"/>
          <p:nvPr/>
        </p:nvSpPr>
        <p:spPr>
          <a:xfrm>
            <a:off x="8997696" y="1801368"/>
            <a:ext cx="2542032" cy="228600"/>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 carries 5% of total fit weight</a:t>
            </a:r>
          </a:p>
        </p:txBody>
      </p:sp>
      <p:sp>
        <p:nvSpPr>
          <p:cNvPr id="18" name="TextBox 17"/>
          <p:cNvSpPr txBox="1"/>
          <p:nvPr/>
        </p:nvSpPr>
        <p:spPr>
          <a:xfrm>
            <a:off x="603504" y="2176272"/>
            <a:ext cx="1993392"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ANALYSIS ARM</a:t>
            </a:r>
          </a:p>
        </p:txBody>
      </p:sp>
      <p:sp>
        <p:nvSpPr>
          <p:cNvPr id="19" name="TextBox 18"/>
          <p:cNvSpPr txBox="1"/>
          <p:nvPr/>
        </p:nvSpPr>
        <p:spPr>
          <a:xfrm>
            <a:off x="2807208" y="2176272"/>
            <a:ext cx="265176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GENE RANKING</a:t>
            </a:r>
          </a:p>
        </p:txBody>
      </p:sp>
      <p:sp>
        <p:nvSpPr>
          <p:cNvPr id="20" name="TextBox 19"/>
          <p:cNvSpPr txBox="1"/>
          <p:nvPr/>
        </p:nvSpPr>
        <p:spPr>
          <a:xfrm>
            <a:off x="5879592" y="2176272"/>
            <a:ext cx="2697480"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CLASSIFIER FIT</a:t>
            </a:r>
          </a:p>
        </p:txBody>
      </p:sp>
      <p:sp>
        <p:nvSpPr>
          <p:cNvPr id="21" name="TextBox 20"/>
          <p:cNvSpPr txBox="1"/>
          <p:nvPr/>
        </p:nvSpPr>
        <p:spPr>
          <a:xfrm>
            <a:off x="8979408" y="2176272"/>
            <a:ext cx="2487168" cy="201168"/>
          </a:xfrm>
          <a:prstGeom prst="rect">
            <a:avLst/>
          </a:prstGeom>
          <a:noFill/>
        </p:spPr>
        <p:txBody>
          <a:bodyPr wrap="square" lIns="0" rIns="0" tIns="0" bIns="0" anchor="t">
            <a:spAutoFit/>
          </a:bodyPr>
          <a:lstStyle/>
          <a:p>
            <a:pPr algn="l">
              <a:spcAft>
                <a:spcPts val="0"/>
              </a:spcAft>
            </a:pPr>
            <a:r>
              <a:rPr sz="900" b="1" i="0">
                <a:solidFill>
                  <a:srgbClr val="59697A"/>
                </a:solidFill>
                <a:latin typeface="Arial"/>
              </a:rPr>
              <a:t>WHAT IT TESTS</a:t>
            </a:r>
          </a:p>
        </p:txBody>
      </p:sp>
      <p:sp>
        <p:nvSpPr>
          <p:cNvPr id="22" name="Rectangle 21"/>
          <p:cNvSpPr/>
          <p:nvPr/>
        </p:nvSpPr>
        <p:spPr>
          <a:xfrm>
            <a:off x="429768" y="2414016"/>
            <a:ext cx="1113739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9768" y="2496312"/>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29768" y="2496312"/>
            <a:ext cx="50292" cy="45720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2569464"/>
            <a:ext cx="1984248" cy="301752"/>
          </a:xfrm>
          <a:prstGeom prst="rect">
            <a:avLst/>
          </a:prstGeom>
          <a:noFill/>
        </p:spPr>
        <p:txBody>
          <a:bodyPr wrap="square" lIns="0" rIns="0" tIns="0" bIns="0" anchor="ctr">
            <a:spAutoFit/>
          </a:bodyPr>
          <a:lstStyle/>
          <a:p>
            <a:pPr algn="l">
              <a:spcAft>
                <a:spcPts val="0"/>
              </a:spcAft>
            </a:pPr>
            <a:r>
              <a:rPr sz="1120" b="1" i="0">
                <a:solidFill>
                  <a:srgbClr val="2D6496"/>
                </a:solidFill>
                <a:latin typeface="Arial"/>
              </a:rPr>
              <a:t>Real only</a:t>
            </a:r>
          </a:p>
        </p:txBody>
      </p:sp>
      <p:sp>
        <p:nvSpPr>
          <p:cNvPr id="26" name="Oval 25"/>
          <p:cNvSpPr/>
          <p:nvPr/>
        </p:nvSpPr>
        <p:spPr>
          <a:xfrm>
            <a:off x="2816352"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16352"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8" name="Right Arrow 27"/>
          <p:cNvSpPr/>
          <p:nvPr/>
        </p:nvSpPr>
        <p:spPr>
          <a:xfrm>
            <a:off x="3127248"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65576" y="2569464"/>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real</a:t>
            </a:r>
          </a:p>
        </p:txBody>
      </p:sp>
      <p:sp>
        <p:nvSpPr>
          <p:cNvPr id="30" name="Oval 29"/>
          <p:cNvSpPr/>
          <p:nvPr/>
        </p:nvSpPr>
        <p:spPr>
          <a:xfrm>
            <a:off x="5897880" y="2615184"/>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897880" y="2619756"/>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2" name="Right Arrow 31"/>
          <p:cNvSpPr/>
          <p:nvPr/>
        </p:nvSpPr>
        <p:spPr>
          <a:xfrm>
            <a:off x="6208776" y="2651760"/>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47104" y="2569464"/>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a:t>
            </a:r>
          </a:p>
        </p:txBody>
      </p:sp>
      <p:sp>
        <p:nvSpPr>
          <p:cNvPr id="34" name="TextBox 33"/>
          <p:cNvSpPr txBox="1"/>
          <p:nvPr/>
        </p:nvSpPr>
        <p:spPr>
          <a:xfrm>
            <a:off x="8988552" y="2569464"/>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Baseline</a:t>
            </a:r>
          </a:p>
        </p:txBody>
      </p:sp>
      <p:sp>
        <p:nvSpPr>
          <p:cNvPr id="35" name="Rectangle 34"/>
          <p:cNvSpPr/>
          <p:nvPr/>
        </p:nvSpPr>
        <p:spPr>
          <a:xfrm>
            <a:off x="429768" y="3017520"/>
            <a:ext cx="50292" cy="45720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2648" y="3090672"/>
            <a:ext cx="1984248" cy="301752"/>
          </a:xfrm>
          <a:prstGeom prst="rect">
            <a:avLst/>
          </a:prstGeom>
          <a:noFill/>
        </p:spPr>
        <p:txBody>
          <a:bodyPr wrap="square" lIns="0" rIns="0" tIns="0" bIns="0" anchor="ctr">
            <a:spAutoFit/>
          </a:bodyPr>
          <a:lstStyle/>
          <a:p>
            <a:pPr algn="l">
              <a:spcAft>
                <a:spcPts val="0"/>
              </a:spcAft>
            </a:pPr>
            <a:r>
              <a:rPr sz="1120" b="1" i="0">
                <a:solidFill>
                  <a:srgbClr val="D96552"/>
                </a:solidFill>
                <a:latin typeface="Arial"/>
              </a:rPr>
              <a:t>Generated only</a:t>
            </a:r>
          </a:p>
        </p:txBody>
      </p:sp>
      <p:sp>
        <p:nvSpPr>
          <p:cNvPr id="37" name="Oval 36"/>
          <p:cNvSpPr/>
          <p:nvPr/>
        </p:nvSpPr>
        <p:spPr>
          <a:xfrm>
            <a:off x="2816352"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816352"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9" name="Right Arrow 38"/>
          <p:cNvSpPr/>
          <p:nvPr/>
        </p:nvSpPr>
        <p:spPr>
          <a:xfrm>
            <a:off x="3127248"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465576" y="3090672"/>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Rank from generated</a:t>
            </a:r>
          </a:p>
        </p:txBody>
      </p:sp>
      <p:sp>
        <p:nvSpPr>
          <p:cNvPr id="41" name="Oval 40"/>
          <p:cNvSpPr/>
          <p:nvPr/>
        </p:nvSpPr>
        <p:spPr>
          <a:xfrm>
            <a:off x="5897880" y="3136391"/>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897880" y="3140963"/>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43" name="Right Arrow 42"/>
          <p:cNvSpPr/>
          <p:nvPr/>
        </p:nvSpPr>
        <p:spPr>
          <a:xfrm>
            <a:off x="6208776" y="3172968"/>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47104" y="3090672"/>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generated</a:t>
            </a:r>
          </a:p>
        </p:txBody>
      </p:sp>
      <p:sp>
        <p:nvSpPr>
          <p:cNvPr id="45" name="TextBox 44"/>
          <p:cNvSpPr txBox="1"/>
          <p:nvPr/>
        </p:nvSpPr>
        <p:spPr>
          <a:xfrm>
            <a:off x="8988552" y="3090672"/>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Synthetic-only stress test</a:t>
            </a:r>
          </a:p>
        </p:txBody>
      </p:sp>
      <p:sp>
        <p:nvSpPr>
          <p:cNvPr id="46" name="Rectangle 45"/>
          <p:cNvSpPr/>
          <p:nvPr/>
        </p:nvSpPr>
        <p:spPr>
          <a:xfrm>
            <a:off x="429768" y="3538728"/>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29768" y="3538728"/>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2648" y="3611880"/>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Real + generated</a:t>
            </a:r>
          </a:p>
        </p:txBody>
      </p:sp>
      <p:sp>
        <p:nvSpPr>
          <p:cNvPr id="49" name="Oval 48"/>
          <p:cNvSpPr/>
          <p:nvPr/>
        </p:nvSpPr>
        <p:spPr>
          <a:xfrm>
            <a:off x="2816352"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816352"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1" name="TextBox 50"/>
          <p:cNvSpPr txBox="1"/>
          <p:nvPr/>
        </p:nvSpPr>
        <p:spPr>
          <a:xfrm>
            <a:off x="3063240"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2" name="Oval 51"/>
          <p:cNvSpPr/>
          <p:nvPr/>
        </p:nvSpPr>
        <p:spPr>
          <a:xfrm>
            <a:off x="3246120"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4612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54" name="Right Arrow 53"/>
          <p:cNvSpPr/>
          <p:nvPr/>
        </p:nvSpPr>
        <p:spPr>
          <a:xfrm>
            <a:off x="3566160"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904487" y="3611880"/>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56" name="Oval 55"/>
          <p:cNvSpPr/>
          <p:nvPr/>
        </p:nvSpPr>
        <p:spPr>
          <a:xfrm>
            <a:off x="5897880" y="3657600"/>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97880"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58" name="TextBox 57"/>
          <p:cNvSpPr txBox="1"/>
          <p:nvPr/>
        </p:nvSpPr>
        <p:spPr>
          <a:xfrm>
            <a:off x="6144768" y="3666744"/>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59" name="Oval 58"/>
          <p:cNvSpPr/>
          <p:nvPr/>
        </p:nvSpPr>
        <p:spPr>
          <a:xfrm>
            <a:off x="6327648" y="3657600"/>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327648" y="3662172"/>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61" name="Right Arrow 60"/>
          <p:cNvSpPr/>
          <p:nvPr/>
        </p:nvSpPr>
        <p:spPr>
          <a:xfrm>
            <a:off x="6647688" y="3694176"/>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986016" y="3611880"/>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Equal total weight</a:t>
            </a:r>
          </a:p>
        </p:txBody>
      </p:sp>
      <p:sp>
        <p:nvSpPr>
          <p:cNvPr id="63" name="TextBox 62"/>
          <p:cNvSpPr txBox="1"/>
          <p:nvPr/>
        </p:nvSpPr>
        <p:spPr>
          <a:xfrm>
            <a:off x="8988552" y="3611880"/>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Direct augmentation</a:t>
            </a:r>
          </a:p>
        </p:txBody>
      </p:sp>
      <p:sp>
        <p:nvSpPr>
          <p:cNvPr id="64" name="Rectangle 63"/>
          <p:cNvSpPr/>
          <p:nvPr/>
        </p:nvSpPr>
        <p:spPr>
          <a:xfrm>
            <a:off x="429768" y="4059935"/>
            <a:ext cx="50292" cy="45720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12648" y="4133087"/>
            <a:ext cx="1984248" cy="301752"/>
          </a:xfrm>
          <a:prstGeom prst="rect">
            <a:avLst/>
          </a:prstGeom>
          <a:noFill/>
        </p:spPr>
        <p:txBody>
          <a:bodyPr wrap="square" lIns="0" rIns="0" tIns="0" bIns="0" anchor="ctr">
            <a:spAutoFit/>
          </a:bodyPr>
          <a:lstStyle/>
          <a:p>
            <a:pPr algn="l">
              <a:spcAft>
                <a:spcPts val="0"/>
              </a:spcAft>
            </a:pPr>
            <a:r>
              <a:rPr sz="1120" b="1" i="0">
                <a:solidFill>
                  <a:srgbClr val="178681"/>
                </a:solidFill>
                <a:latin typeface="Arial"/>
              </a:rPr>
              <a:t>Guided: real fit</a:t>
            </a:r>
          </a:p>
        </p:txBody>
      </p:sp>
      <p:sp>
        <p:nvSpPr>
          <p:cNvPr id="66" name="Oval 65"/>
          <p:cNvSpPr/>
          <p:nvPr/>
        </p:nvSpPr>
        <p:spPr>
          <a:xfrm>
            <a:off x="2816352"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816352"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68" name="TextBox 67"/>
          <p:cNvSpPr txBox="1"/>
          <p:nvPr/>
        </p:nvSpPr>
        <p:spPr>
          <a:xfrm>
            <a:off x="3063240" y="4187951"/>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69" name="Oval 68"/>
          <p:cNvSpPr/>
          <p:nvPr/>
        </p:nvSpPr>
        <p:spPr>
          <a:xfrm>
            <a:off x="3246120" y="4178807"/>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4612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71" name="Right Arrow 70"/>
          <p:cNvSpPr/>
          <p:nvPr/>
        </p:nvSpPr>
        <p:spPr>
          <a:xfrm>
            <a:off x="3566160"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904487" y="4133087"/>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73" name="Oval 72"/>
          <p:cNvSpPr/>
          <p:nvPr/>
        </p:nvSpPr>
        <p:spPr>
          <a:xfrm>
            <a:off x="5897880" y="4178807"/>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897880" y="41833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75" name="Right Arrow 74"/>
          <p:cNvSpPr/>
          <p:nvPr/>
        </p:nvSpPr>
        <p:spPr>
          <a:xfrm>
            <a:off x="6208776" y="4215383"/>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547104" y="4133087"/>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Fit real only</a:t>
            </a:r>
          </a:p>
        </p:txBody>
      </p:sp>
      <p:sp>
        <p:nvSpPr>
          <p:cNvPr id="77" name="TextBox 76"/>
          <p:cNvSpPr txBox="1"/>
          <p:nvPr/>
        </p:nvSpPr>
        <p:spPr>
          <a:xfrm>
            <a:off x="8988552" y="4133087"/>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Feature guidance only</a:t>
            </a:r>
          </a:p>
        </p:txBody>
      </p:sp>
      <p:sp>
        <p:nvSpPr>
          <p:cNvPr id="78" name="Rectangle 77"/>
          <p:cNvSpPr/>
          <p:nvPr/>
        </p:nvSpPr>
        <p:spPr>
          <a:xfrm>
            <a:off x="429768" y="4581144"/>
            <a:ext cx="11137392" cy="457200"/>
          </a:xfrm>
          <a:prstGeom prst="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29768" y="4581144"/>
            <a:ext cx="50292" cy="45720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2648" y="4654296"/>
            <a:ext cx="1984248" cy="301752"/>
          </a:xfrm>
          <a:prstGeom prst="rect">
            <a:avLst/>
          </a:prstGeom>
          <a:noFill/>
        </p:spPr>
        <p:txBody>
          <a:bodyPr wrap="square" lIns="0" rIns="0" tIns="0" bIns="0" anchor="ctr">
            <a:spAutoFit/>
          </a:bodyPr>
          <a:lstStyle/>
          <a:p>
            <a:pPr algn="l">
              <a:spcAft>
                <a:spcPts val="0"/>
              </a:spcAft>
            </a:pPr>
            <a:r>
              <a:rPr sz="1120" b="1" i="0">
                <a:solidFill>
                  <a:srgbClr val="D37B00"/>
                </a:solidFill>
                <a:latin typeface="Arial"/>
              </a:rPr>
              <a:t>Guided: 5% synthetic</a:t>
            </a:r>
          </a:p>
        </p:txBody>
      </p:sp>
      <p:sp>
        <p:nvSpPr>
          <p:cNvPr id="81" name="Oval 80"/>
          <p:cNvSpPr/>
          <p:nvPr/>
        </p:nvSpPr>
        <p:spPr>
          <a:xfrm>
            <a:off x="2816352"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816352"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83" name="TextBox 82"/>
          <p:cNvSpPr txBox="1"/>
          <p:nvPr/>
        </p:nvSpPr>
        <p:spPr>
          <a:xfrm>
            <a:off x="3063240"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84" name="Oval 83"/>
          <p:cNvSpPr/>
          <p:nvPr/>
        </p:nvSpPr>
        <p:spPr>
          <a:xfrm>
            <a:off x="3246120"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324612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86" name="Right Arrow 85"/>
          <p:cNvSpPr/>
          <p:nvPr/>
        </p:nvSpPr>
        <p:spPr>
          <a:xfrm>
            <a:off x="3566160"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3904487" y="4654296"/>
            <a:ext cx="1627632"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Consensus rank</a:t>
            </a:r>
          </a:p>
        </p:txBody>
      </p:sp>
      <p:sp>
        <p:nvSpPr>
          <p:cNvPr id="88" name="Oval 87"/>
          <p:cNvSpPr/>
          <p:nvPr/>
        </p:nvSpPr>
        <p:spPr>
          <a:xfrm>
            <a:off x="5897880" y="4700016"/>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897880"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90" name="TextBox 89"/>
          <p:cNvSpPr txBox="1"/>
          <p:nvPr/>
        </p:nvSpPr>
        <p:spPr>
          <a:xfrm>
            <a:off x="6144768" y="4709159"/>
            <a:ext cx="164592" cy="182880"/>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a:t>
            </a:r>
          </a:p>
        </p:txBody>
      </p:sp>
      <p:sp>
        <p:nvSpPr>
          <p:cNvPr id="91" name="Oval 90"/>
          <p:cNvSpPr/>
          <p:nvPr/>
        </p:nvSpPr>
        <p:spPr>
          <a:xfrm>
            <a:off x="6327648" y="4700016"/>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327648" y="4704588"/>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93" name="Right Arrow 92"/>
          <p:cNvSpPr/>
          <p:nvPr/>
        </p:nvSpPr>
        <p:spPr>
          <a:xfrm>
            <a:off x="6647688" y="4736592"/>
            <a:ext cx="237744" cy="12801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986016" y="4654296"/>
            <a:ext cx="1563624" cy="301752"/>
          </a:xfrm>
          <a:prstGeom prst="rect">
            <a:avLst/>
          </a:prstGeom>
          <a:noFill/>
        </p:spPr>
        <p:txBody>
          <a:bodyPr wrap="square" lIns="0" rIns="0" tIns="0" bIns="0" anchor="ctr">
            <a:spAutoFit/>
          </a:bodyPr>
          <a:lstStyle/>
          <a:p>
            <a:pPr algn="l">
              <a:spcAft>
                <a:spcPts val="0"/>
              </a:spcAft>
            </a:pPr>
            <a:r>
              <a:rPr sz="1040" b="1" i="0">
                <a:solidFill>
                  <a:srgbClr val="263746"/>
                </a:solidFill>
                <a:latin typeface="Arial"/>
              </a:rPr>
              <a:t>S = 5% weight</a:t>
            </a:r>
          </a:p>
        </p:txBody>
      </p:sp>
      <p:sp>
        <p:nvSpPr>
          <p:cNvPr id="95" name="TextBox 94"/>
          <p:cNvSpPr txBox="1"/>
          <p:nvPr/>
        </p:nvSpPr>
        <p:spPr>
          <a:xfrm>
            <a:off x="8988552" y="4654296"/>
            <a:ext cx="2468880" cy="301752"/>
          </a:xfrm>
          <a:prstGeom prst="rect">
            <a:avLst/>
          </a:prstGeom>
          <a:noFill/>
        </p:spPr>
        <p:txBody>
          <a:bodyPr wrap="square" lIns="0" rIns="0" tIns="0" bIns="0" anchor="ctr">
            <a:spAutoFit/>
          </a:bodyPr>
          <a:lstStyle/>
          <a:p>
            <a:pPr algn="l">
              <a:spcAft>
                <a:spcPts val="0"/>
              </a:spcAft>
            </a:pPr>
            <a:r>
              <a:rPr sz="1050" b="0" i="0">
                <a:solidFill>
                  <a:srgbClr val="263746"/>
                </a:solidFill>
                <a:latin typeface="Arial"/>
              </a:rPr>
              <a:t>Guidance + light regularization</a:t>
            </a:r>
          </a:p>
        </p:txBody>
      </p:sp>
      <p:sp>
        <p:nvSpPr>
          <p:cNvPr id="96" name="Rectangle 95"/>
          <p:cNvSpPr/>
          <p:nvPr/>
        </p:nvSpPr>
        <p:spPr>
          <a:xfrm>
            <a:off x="429768" y="5157216"/>
            <a:ext cx="11137392" cy="16459"/>
          </a:xfrm>
          <a:prstGeom prst="rect">
            <a:avLst/>
          </a:prstGeom>
          <a:solidFill>
            <a:srgbClr val="CDD6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566928" y="5330952"/>
            <a:ext cx="1243584" cy="246888"/>
          </a:xfrm>
          <a:prstGeom prst="rect">
            <a:avLst/>
          </a:prstGeom>
          <a:noFill/>
        </p:spPr>
        <p:txBody>
          <a:bodyPr wrap="square" lIns="0" rIns="0" tIns="0" bIns="0" anchor="t">
            <a:spAutoFit/>
          </a:bodyPr>
          <a:lstStyle/>
          <a:p>
            <a:pPr algn="ctr">
              <a:spcAft>
                <a:spcPts val="0"/>
              </a:spcAft>
            </a:pPr>
            <a:r>
              <a:rPr sz="1250" b="1" i="0">
                <a:solidFill>
                  <a:srgbClr val="082B55"/>
                </a:solidFill>
                <a:latin typeface="Arial"/>
              </a:rPr>
              <a:t>All five arms</a:t>
            </a:r>
          </a:p>
        </p:txBody>
      </p:sp>
      <p:sp>
        <p:nvSpPr>
          <p:cNvPr id="98" name="Right Arrow 97"/>
          <p:cNvSpPr/>
          <p:nvPr/>
        </p:nvSpPr>
        <p:spPr>
          <a:xfrm>
            <a:off x="194767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432304" y="5321808"/>
            <a:ext cx="1828800" cy="274320"/>
          </a:xfrm>
          <a:prstGeom prst="rect">
            <a:avLst/>
          </a:prstGeom>
          <a:noFill/>
        </p:spPr>
        <p:txBody>
          <a:bodyPr wrap="square" lIns="0" rIns="0" tIns="0" bIns="0" anchor="t">
            <a:spAutoFit/>
          </a:bodyPr>
          <a:lstStyle/>
          <a:p>
            <a:pPr algn="ctr">
              <a:spcAft>
                <a:spcPts val="0"/>
              </a:spcAft>
            </a:pPr>
            <a:r>
              <a:rPr sz="1250" b="1" i="0">
                <a:solidFill>
                  <a:srgbClr val="2D6496"/>
                </a:solidFill>
                <a:latin typeface="Arial"/>
              </a:rPr>
              <a:t>Held-out real profiles</a:t>
            </a:r>
          </a:p>
        </p:txBody>
      </p:sp>
      <p:sp>
        <p:nvSpPr>
          <p:cNvPr id="100" name="Right Arrow 99"/>
          <p:cNvSpPr/>
          <p:nvPr/>
        </p:nvSpPr>
        <p:spPr>
          <a:xfrm>
            <a:off x="4416552"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910328" y="5330952"/>
            <a:ext cx="1719072" cy="246888"/>
          </a:xfrm>
          <a:prstGeom prst="rect">
            <a:avLst/>
          </a:prstGeom>
          <a:noFill/>
        </p:spPr>
        <p:txBody>
          <a:bodyPr wrap="square" lIns="0" rIns="0" tIns="0" bIns="0" anchor="t">
            <a:spAutoFit/>
          </a:bodyPr>
          <a:lstStyle/>
          <a:p>
            <a:pPr algn="ctr">
              <a:spcAft>
                <a:spcPts val="0"/>
              </a:spcAft>
            </a:pPr>
            <a:r>
              <a:rPr sz="1220" b="1" i="0">
                <a:solidFill>
                  <a:srgbClr val="263746"/>
                </a:solidFill>
                <a:latin typeface="Arial"/>
              </a:rPr>
              <a:t>BA  |  AUROC  |  AP</a:t>
            </a:r>
          </a:p>
        </p:txBody>
      </p:sp>
      <p:sp>
        <p:nvSpPr>
          <p:cNvPr id="102" name="Right Arrow 101"/>
          <p:cNvSpPr/>
          <p:nvPr/>
        </p:nvSpPr>
        <p:spPr>
          <a:xfrm>
            <a:off x="6775704" y="5367528"/>
            <a:ext cx="310896" cy="17373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242048" y="5303520"/>
            <a:ext cx="4023360" cy="310896"/>
          </a:xfrm>
          <a:prstGeom prst="rect">
            <a:avLst/>
          </a:prstGeom>
          <a:noFill/>
        </p:spPr>
        <p:txBody>
          <a:bodyPr wrap="square" lIns="0" rIns="0" tIns="0" bIns="0" anchor="t">
            <a:spAutoFit/>
          </a:bodyPr>
          <a:lstStyle/>
          <a:p>
            <a:pPr algn="ctr">
              <a:spcAft>
                <a:spcPts val="0"/>
              </a:spcAft>
            </a:pPr>
            <a:r>
              <a:rPr sz="1280" b="1" i="0">
                <a:solidFill>
                  <a:srgbClr val="178681"/>
                </a:solidFill>
                <a:latin typeface="Arial"/>
              </a:rPr>
              <a:t>Choose an eligible arm within each tissue</a:t>
            </a:r>
          </a:p>
        </p:txBody>
      </p:sp>
      <p:sp>
        <p:nvSpPr>
          <p:cNvPr id="104" name="Rectangle 103"/>
          <p:cNvSpPr/>
          <p:nvPr/>
        </p:nvSpPr>
        <p:spPr>
          <a:xfrm>
            <a:off x="420624" y="5715000"/>
            <a:ext cx="11173968"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76656" y="5852160"/>
            <a:ext cx="1426464" cy="228600"/>
          </a:xfrm>
          <a:prstGeom prst="rect">
            <a:avLst/>
          </a:prstGeom>
          <a:noFill/>
        </p:spPr>
        <p:txBody>
          <a:bodyPr wrap="square" lIns="0" rIns="0" tIns="0" bIns="0" anchor="t">
            <a:spAutoFit/>
          </a:bodyPr>
          <a:lstStyle/>
          <a:p>
            <a:pPr algn="l">
              <a:spcAft>
                <a:spcPts val="0"/>
              </a:spcAft>
            </a:pPr>
            <a:r>
              <a:rPr sz="1350" b="1" i="0">
                <a:solidFill>
                  <a:srgbClr val="FFFFFF"/>
                </a:solidFill>
                <a:latin typeface="Arial"/>
              </a:rPr>
              <a:t>Association test</a:t>
            </a:r>
          </a:p>
        </p:txBody>
      </p:sp>
      <p:sp>
        <p:nvSpPr>
          <p:cNvPr id="106" name="TextBox 105"/>
          <p:cNvSpPr txBox="1"/>
          <p:nvPr/>
        </p:nvSpPr>
        <p:spPr>
          <a:xfrm>
            <a:off x="2258568" y="5843016"/>
            <a:ext cx="5852160" cy="246888"/>
          </a:xfrm>
          <a:prstGeom prst="rect">
            <a:avLst/>
          </a:prstGeom>
          <a:noFill/>
        </p:spPr>
        <p:txBody>
          <a:bodyPr wrap="square" lIns="0" rIns="0" tIns="0" bIns="0" anchor="t">
            <a:spAutoFit/>
          </a:bodyPr>
          <a:lstStyle/>
          <a:p>
            <a:pPr algn="l">
              <a:spcAft>
                <a:spcPts val="0"/>
              </a:spcAft>
            </a:pPr>
            <a:r>
              <a:rPr sz="1290" b="0" i="0">
                <a:solidFill>
                  <a:srgbClr val="DCE7F2"/>
                </a:solidFill>
                <a:latin typeface="Arial"/>
              </a:rPr>
              <a:t>FLT vs GC effects and BH FDR use real OSDR profiles only.</a:t>
            </a:r>
          </a:p>
        </p:txBody>
      </p:sp>
      <p:sp>
        <p:nvSpPr>
          <p:cNvPr id="107" name="TextBox 106"/>
          <p:cNvSpPr txBox="1"/>
          <p:nvPr/>
        </p:nvSpPr>
        <p:spPr>
          <a:xfrm>
            <a:off x="8403336" y="5843016"/>
            <a:ext cx="2862072" cy="246888"/>
          </a:xfrm>
          <a:prstGeom prst="rect">
            <a:avLst/>
          </a:prstGeom>
          <a:noFill/>
        </p:spPr>
        <p:txBody>
          <a:bodyPr wrap="square" lIns="0" rIns="0" tIns="0" bIns="0" anchor="t">
            <a:spAutoFit/>
          </a:bodyPr>
          <a:lstStyle/>
          <a:p>
            <a:pPr algn="r">
              <a:spcAft>
                <a:spcPts val="0"/>
              </a:spcAft>
            </a:pPr>
            <a:r>
              <a:rPr sz="1150" b="1" i="0">
                <a:solidFill>
                  <a:srgbClr val="FFD69A"/>
                </a:solidFill>
                <a:latin typeface="Arial"/>
              </a:rPr>
              <a:t>Animal n stays unchanged.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Pooled training missed improvements seen within tissues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pooled FLT/GC classifier declined, while several tissue-specific classifiers improved.</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256032" y="3977639"/>
            <a:ext cx="1417320" cy="256032"/>
          </a:xfrm>
          <a:prstGeom prst="rect">
            <a:avLst/>
          </a:prstGeom>
          <a:noFill/>
        </p:spPr>
        <p:txBody>
          <a:bodyPr wrap="square" lIns="0" rIns="0" tIns="0" bIns="0" anchor="t">
            <a:spAutoFit/>
          </a:bodyPr>
          <a:lstStyle/>
          <a:p>
            <a:pPr algn="ctr">
              <a:spcAft>
                <a:spcPts val="0"/>
              </a:spcAft>
            </a:pPr>
            <a:r>
              <a:rPr sz="1050" b="1" i="0">
                <a:solidFill>
                  <a:srgbClr val="59697A"/>
                </a:solidFill>
                <a:latin typeface="Arial"/>
              </a:rPr>
              <a:t>Balanced accuracy</a:t>
            </a:r>
          </a:p>
        </p:txBody>
      </p:sp>
      <p:sp>
        <p:nvSpPr>
          <p:cNvPr id="10" name="Rectangle 9"/>
          <p:cNvSpPr/>
          <p:nvPr/>
        </p:nvSpPr>
        <p:spPr>
          <a:xfrm>
            <a:off x="877824" y="54864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877824" y="41148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877824" y="2743200"/>
            <a:ext cx="2432304"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905256"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786384"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719072"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19"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600200"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532888"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59736"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14016"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877824" y="5486400"/>
            <a:ext cx="2432304"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384048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Selected use within each tissue</a:t>
            </a:r>
          </a:p>
        </p:txBody>
      </p:sp>
      <p:pic>
        <p:nvPicPr>
          <p:cNvPr id="29"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30" name="TextBox 29"/>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Blue marks real-only selection; teal marks synthetic-guided selection. Every displayed association has real OSDR support.</a:t>
            </a:r>
          </a:p>
        </p:txBody>
      </p:sp>
      <p:sp>
        <p:nvSpPr>
          <p:cNvPr id="7" name="TextBox 6"/>
          <p:cNvSpPr txBox="1"/>
          <p:nvPr/>
        </p:nvSpPr>
        <p:spPr>
          <a:xfrm>
            <a:off x="566928" y="1847088"/>
            <a:ext cx="3931920" cy="274320"/>
          </a:xfrm>
          <a:prstGeom prst="rect">
            <a:avLst/>
          </a:prstGeom>
          <a:noFill/>
        </p:spPr>
        <p:txBody>
          <a:bodyPr wrap="square" lIns="0" rIns="0" tIns="0" bIns="0" anchor="t">
            <a:spAutoFit/>
          </a:bodyPr>
          <a:lstStyle/>
          <a:p>
            <a:pPr algn="l">
              <a:spcAft>
                <a:spcPts val="0"/>
              </a:spcAft>
            </a:pPr>
            <a:r>
              <a:rPr sz="1550" b="1" i="0">
                <a:solidFill>
                  <a:srgbClr val="082B55"/>
                </a:solidFill>
                <a:latin typeface="Arial"/>
              </a:rPr>
              <a:t>Stable selection after real-data support</a:t>
            </a:r>
          </a:p>
        </p:txBody>
      </p:sp>
      <p:sp>
        <p:nvSpPr>
          <p:cNvPr id="8" name="Oval 7"/>
          <p:cNvSpPr/>
          <p:nvPr/>
        </p:nvSpPr>
        <p:spPr>
          <a:xfrm>
            <a:off x="585216" y="221284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157984"/>
            <a:ext cx="2212848" cy="228600"/>
          </a:xfrm>
          <a:prstGeom prst="rect">
            <a:avLst/>
          </a:prstGeom>
          <a:noFill/>
        </p:spPr>
        <p:txBody>
          <a:bodyPr wrap="square" lIns="0" rIns="0" tIns="0" bIns="0" anchor="t">
            <a:spAutoFit/>
          </a:bodyPr>
          <a:lstStyle/>
          <a:p>
            <a:pPr algn="l">
              <a:spcAft>
                <a:spcPts val="0"/>
              </a:spcAft>
            </a:pPr>
            <a:r>
              <a:rPr sz="1050" b="1" i="0">
                <a:solidFill>
                  <a:srgbClr val="2D6496"/>
                </a:solidFill>
                <a:latin typeface="Arial"/>
              </a:rPr>
              <a:t>Blue: stable in real-only ranking</a:t>
            </a:r>
          </a:p>
        </p:txBody>
      </p:sp>
      <p:sp>
        <p:nvSpPr>
          <p:cNvPr id="10" name="Oval 9"/>
          <p:cNvSpPr/>
          <p:nvPr/>
        </p:nvSpPr>
        <p:spPr>
          <a:xfrm>
            <a:off x="3136392" y="221284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7560" y="2157984"/>
            <a:ext cx="2724912" cy="228600"/>
          </a:xfrm>
          <a:prstGeom prst="rect">
            <a:avLst/>
          </a:prstGeom>
          <a:noFill/>
        </p:spPr>
        <p:txBody>
          <a:bodyPr wrap="square" lIns="0" rIns="0" tIns="0" bIns="0" anchor="t">
            <a:spAutoFit/>
          </a:bodyPr>
          <a:lstStyle/>
          <a:p>
            <a:pPr algn="l">
              <a:spcAft>
                <a:spcPts val="0"/>
              </a:spcAft>
            </a:pPr>
            <a:r>
              <a:rPr sz="1050" b="1" i="0">
                <a:solidFill>
                  <a:srgbClr val="178681"/>
                </a:solidFill>
                <a:latin typeface="Arial"/>
              </a:rPr>
              <a:t>Teal: stable in synthetic-guided ranking</a:t>
            </a:r>
          </a:p>
        </p:txBody>
      </p:sp>
      <p:sp>
        <p:nvSpPr>
          <p:cNvPr id="12" name="Oval 11"/>
          <p:cNvSpPr/>
          <p:nvPr/>
        </p:nvSpPr>
        <p:spPr>
          <a:xfrm>
            <a:off x="566928" y="2542032"/>
            <a:ext cx="3529584" cy="2542032"/>
          </a:xfrm>
          <a:prstGeom prst="ellipse">
            <a:avLst/>
          </a:prstGeom>
          <a:solidFill>
            <a:srgbClr val="2D6496">
              <a:alpha val="18000"/>
            </a:srgbClr>
          </a:solidFill>
          <a:ln w="3302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743200" y="2542032"/>
            <a:ext cx="3529584" cy="2542032"/>
          </a:xfrm>
          <a:prstGeom prst="ellipse">
            <a:avLst/>
          </a:prstGeom>
          <a:solidFill>
            <a:srgbClr val="178681">
              <a:alpha val="20000"/>
            </a:srgbClr>
          </a:solidFill>
          <a:ln w="3302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60704" y="3127248"/>
            <a:ext cx="1298448" cy="438912"/>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34</a:t>
            </a:r>
          </a:p>
        </p:txBody>
      </p:sp>
      <p:sp>
        <p:nvSpPr>
          <p:cNvPr id="15" name="TextBox 14"/>
          <p:cNvSpPr txBox="1"/>
          <p:nvPr/>
        </p:nvSpPr>
        <p:spPr>
          <a:xfrm>
            <a:off x="1024128"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real-only</a:t>
            </a:r>
          </a:p>
        </p:txBody>
      </p:sp>
      <p:sp>
        <p:nvSpPr>
          <p:cNvPr id="16" name="TextBox 15"/>
          <p:cNvSpPr txBox="1"/>
          <p:nvPr/>
        </p:nvSpPr>
        <p:spPr>
          <a:xfrm>
            <a:off x="941832" y="3941063"/>
            <a:ext cx="1536192" cy="219456"/>
          </a:xfrm>
          <a:prstGeom prst="rect">
            <a:avLst/>
          </a:prstGeom>
          <a:noFill/>
        </p:spPr>
        <p:txBody>
          <a:bodyPr wrap="square" lIns="0" rIns="0" tIns="0" bIns="0" anchor="t">
            <a:spAutoFit/>
          </a:bodyPr>
          <a:lstStyle/>
          <a:p>
            <a:pPr algn="ctr">
              <a:spcAft>
                <a:spcPts val="0"/>
              </a:spcAft>
            </a:pPr>
            <a:r>
              <a:rPr sz="919" b="1" i="0">
                <a:solidFill>
                  <a:srgbClr val="2D6496"/>
                </a:solidFill>
                <a:latin typeface="Arial"/>
              </a:rPr>
              <a:t>WITHOUT GUIDANCE</a:t>
            </a:r>
          </a:p>
        </p:txBody>
      </p:sp>
      <p:sp>
        <p:nvSpPr>
          <p:cNvPr id="17" name="TextBox 16"/>
          <p:cNvSpPr txBox="1"/>
          <p:nvPr/>
        </p:nvSpPr>
        <p:spPr>
          <a:xfrm>
            <a:off x="2889504" y="3127248"/>
            <a:ext cx="1069848" cy="438912"/>
          </a:xfrm>
          <a:prstGeom prst="rect">
            <a:avLst/>
          </a:prstGeom>
          <a:noFill/>
        </p:spPr>
        <p:txBody>
          <a:bodyPr wrap="square" lIns="0" rIns="0" tIns="0" bIns="0" anchor="t">
            <a:spAutoFit/>
          </a:bodyPr>
          <a:lstStyle/>
          <a:p>
            <a:pPr algn="ctr">
              <a:spcAft>
                <a:spcPts val="0"/>
              </a:spcAft>
            </a:pPr>
            <a:r>
              <a:rPr sz="2900" b="1" i="0">
                <a:solidFill>
                  <a:srgbClr val="D37B00"/>
                </a:solidFill>
                <a:latin typeface="Arial"/>
              </a:rPr>
              <a:t>23</a:t>
            </a:r>
          </a:p>
        </p:txBody>
      </p:sp>
      <p:sp>
        <p:nvSpPr>
          <p:cNvPr id="18" name="TextBox 17"/>
          <p:cNvSpPr txBox="1"/>
          <p:nvPr/>
        </p:nvSpPr>
        <p:spPr>
          <a:xfrm>
            <a:off x="2834640" y="3593592"/>
            <a:ext cx="1179576" cy="274320"/>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reinforced</a:t>
            </a:r>
          </a:p>
        </p:txBody>
      </p:sp>
      <p:sp>
        <p:nvSpPr>
          <p:cNvPr id="19" name="TextBox 18"/>
          <p:cNvSpPr txBox="1"/>
          <p:nvPr/>
        </p:nvSpPr>
        <p:spPr>
          <a:xfrm>
            <a:off x="2779776" y="3941063"/>
            <a:ext cx="1280160" cy="219456"/>
          </a:xfrm>
          <a:prstGeom prst="rect">
            <a:avLst/>
          </a:prstGeom>
          <a:noFill/>
        </p:spPr>
        <p:txBody>
          <a:bodyPr wrap="square" lIns="0" rIns="0" tIns="0" bIns="0" anchor="t">
            <a:spAutoFit/>
          </a:bodyPr>
          <a:lstStyle/>
          <a:p>
            <a:pPr algn="ctr">
              <a:spcAft>
                <a:spcPts val="0"/>
              </a:spcAft>
            </a:pPr>
            <a:r>
              <a:rPr sz="919" b="1" i="0">
                <a:solidFill>
                  <a:srgbClr val="D37B00"/>
                </a:solidFill>
                <a:latin typeface="Arial"/>
              </a:rPr>
              <a:t>BOTH RANKINGS</a:t>
            </a:r>
          </a:p>
        </p:txBody>
      </p:sp>
      <p:sp>
        <p:nvSpPr>
          <p:cNvPr id="20" name="TextBox 19"/>
          <p:cNvSpPr txBox="1"/>
          <p:nvPr/>
        </p:nvSpPr>
        <p:spPr>
          <a:xfrm>
            <a:off x="4471416" y="3127248"/>
            <a:ext cx="1371600" cy="438912"/>
          </a:xfrm>
          <a:prstGeom prst="rect">
            <a:avLst/>
          </a:prstGeom>
          <a:noFill/>
        </p:spPr>
        <p:txBody>
          <a:bodyPr wrap="square" lIns="0" rIns="0" tIns="0" bIns="0" anchor="t">
            <a:spAutoFit/>
          </a:bodyPr>
          <a:lstStyle/>
          <a:p>
            <a:pPr algn="ctr">
              <a:spcAft>
                <a:spcPts val="0"/>
              </a:spcAft>
            </a:pPr>
            <a:r>
              <a:rPr sz="2900" b="1" i="0">
                <a:solidFill>
                  <a:srgbClr val="178681"/>
                </a:solidFill>
                <a:latin typeface="Arial"/>
              </a:rPr>
              <a:t>26</a:t>
            </a:r>
          </a:p>
        </p:txBody>
      </p:sp>
      <p:sp>
        <p:nvSpPr>
          <p:cNvPr id="21" name="TextBox 20"/>
          <p:cNvSpPr txBox="1"/>
          <p:nvPr/>
        </p:nvSpPr>
        <p:spPr>
          <a:xfrm>
            <a:off x="4471416" y="3593592"/>
            <a:ext cx="1371600" cy="274320"/>
          </a:xfrm>
          <a:prstGeom prst="rect">
            <a:avLst/>
          </a:prstGeom>
          <a:noFill/>
        </p:spPr>
        <p:txBody>
          <a:bodyPr wrap="square" lIns="0" rIns="0" tIns="0" bIns="0" anchor="t">
            <a:spAutoFit/>
          </a:bodyPr>
          <a:lstStyle/>
          <a:p>
            <a:pPr algn="ctr">
              <a:spcAft>
                <a:spcPts val="0"/>
              </a:spcAft>
            </a:pPr>
            <a:r>
              <a:rPr sz="1450" b="1" i="0">
                <a:solidFill>
                  <a:srgbClr val="082B55"/>
                </a:solidFill>
                <a:latin typeface="Arial"/>
              </a:rPr>
              <a:t>promoted</a:t>
            </a:r>
          </a:p>
        </p:txBody>
      </p:sp>
      <p:sp>
        <p:nvSpPr>
          <p:cNvPr id="22" name="TextBox 21"/>
          <p:cNvSpPr txBox="1"/>
          <p:nvPr/>
        </p:nvSpPr>
        <p:spPr>
          <a:xfrm>
            <a:off x="4389120" y="3941063"/>
            <a:ext cx="1536192" cy="219456"/>
          </a:xfrm>
          <a:prstGeom prst="rect">
            <a:avLst/>
          </a:prstGeom>
          <a:noFill/>
        </p:spPr>
        <p:txBody>
          <a:bodyPr wrap="square" lIns="0" rIns="0" tIns="0" bIns="0" anchor="t">
            <a:spAutoFit/>
          </a:bodyPr>
          <a:lstStyle/>
          <a:p>
            <a:pPr algn="ctr">
              <a:spcAft>
                <a:spcPts val="0"/>
              </a:spcAft>
            </a:pPr>
            <a:r>
              <a:rPr sz="919" b="1" i="0">
                <a:solidFill>
                  <a:srgbClr val="178681"/>
                </a:solidFill>
                <a:latin typeface="Arial"/>
              </a:rPr>
              <a:t>GUIDANCE ONLY</a:t>
            </a:r>
          </a:p>
        </p:txBody>
      </p:sp>
      <p:sp>
        <p:nvSpPr>
          <p:cNvPr id="23" name="Rectangle 22"/>
          <p:cNvSpPr/>
          <p:nvPr/>
        </p:nvSpPr>
        <p:spPr>
          <a:xfrm>
            <a:off x="6565392" y="1920240"/>
            <a:ext cx="16459" cy="3639312"/>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85432" y="2221992"/>
            <a:ext cx="4498848" cy="365760"/>
          </a:xfrm>
          <a:prstGeom prst="rect">
            <a:avLst/>
          </a:prstGeom>
          <a:noFill/>
        </p:spPr>
        <p:txBody>
          <a:bodyPr wrap="square" lIns="18288" rIns="18288" tIns="18288" bIns="18288" anchor="t">
            <a:spAutoFit/>
          </a:bodyPr>
          <a:lstStyle/>
          <a:p>
            <a:pPr algn="ctr">
              <a:spcAft>
                <a:spcPts val="0"/>
              </a:spcAft>
            </a:pPr>
            <a:r>
              <a:rPr sz="2000" b="1" i="0">
                <a:solidFill>
                  <a:srgbClr val="082B55"/>
                </a:solidFill>
                <a:latin typeface="Arial"/>
              </a:rPr>
              <a:t>Real OSDR evidence gate</a:t>
            </a:r>
          </a:p>
        </p:txBody>
      </p:sp>
      <p:sp>
        <p:nvSpPr>
          <p:cNvPr id="25" name="Oval 24"/>
          <p:cNvSpPr/>
          <p:nvPr/>
        </p:nvSpPr>
        <p:spPr>
          <a:xfrm>
            <a:off x="7123176" y="299923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60920" y="290779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Estimate FLT vs GC inside each accession</a:t>
            </a:r>
          </a:p>
        </p:txBody>
      </p:sp>
      <p:sp>
        <p:nvSpPr>
          <p:cNvPr id="27" name="Oval 26"/>
          <p:cNvSpPr/>
          <p:nvPr/>
        </p:nvSpPr>
        <p:spPr>
          <a:xfrm>
            <a:off x="7123176" y="3584448"/>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60920" y="3493008"/>
            <a:ext cx="3794760" cy="53035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Combine accession effects with a
random-effects model</a:t>
            </a:r>
          </a:p>
        </p:txBody>
      </p:sp>
      <p:sp>
        <p:nvSpPr>
          <p:cNvPr id="29" name="Oval 28"/>
          <p:cNvSpPr/>
          <p:nvPr/>
        </p:nvSpPr>
        <p:spPr>
          <a:xfrm>
            <a:off x="7123176" y="432511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0920" y="4233672"/>
            <a:ext cx="3794760" cy="347472"/>
          </a:xfrm>
          <a:prstGeom prst="rect">
            <a:avLst/>
          </a:prstGeom>
          <a:noFill/>
        </p:spPr>
        <p:txBody>
          <a:bodyPr wrap="square" lIns="0" rIns="0" tIns="0" bIns="0" anchor="t">
            <a:spAutoFit/>
          </a:bodyPr>
          <a:lstStyle/>
          <a:p>
            <a:pPr algn="l">
              <a:spcAft>
                <a:spcPts val="0"/>
              </a:spcAft>
            </a:pPr>
            <a:r>
              <a:rPr sz="1420" b="0" i="0">
                <a:solidFill>
                  <a:srgbClr val="263746"/>
                </a:solidFill>
                <a:latin typeface="Arial"/>
              </a:rPr>
              <a:t>Apply BH FDR within each tissue</a:t>
            </a:r>
          </a:p>
        </p:txBody>
      </p:sp>
      <p:sp>
        <p:nvSpPr>
          <p:cNvPr id="31" name="Rectangle 30"/>
          <p:cNvSpPr/>
          <p:nvPr/>
        </p:nvSpPr>
        <p:spPr>
          <a:xfrm>
            <a:off x="7022592" y="4700016"/>
            <a:ext cx="4078224" cy="71323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0" y="4809744"/>
            <a:ext cx="3675887" cy="219456"/>
          </a:xfrm>
          <a:prstGeom prst="rect">
            <a:avLst/>
          </a:prstGeom>
          <a:noFill/>
        </p:spPr>
        <p:txBody>
          <a:bodyPr wrap="square" lIns="0" rIns="0" tIns="0" bIns="0" anchor="t">
            <a:spAutoFit/>
          </a:bodyPr>
          <a:lstStyle/>
          <a:p>
            <a:pPr algn="ctr">
              <a:spcAft>
                <a:spcPts val="0"/>
              </a:spcAft>
            </a:pPr>
            <a:r>
              <a:rPr sz="1150" b="1" i="0">
                <a:solidFill>
                  <a:srgbClr val="BFD0E1"/>
                </a:solidFill>
                <a:latin typeface="Arial"/>
              </a:rPr>
              <a:t>23 reinforced + 26 promoted</a:t>
            </a:r>
          </a:p>
        </p:txBody>
      </p:sp>
      <p:sp>
        <p:nvSpPr>
          <p:cNvPr id="33" name="TextBox 32"/>
          <p:cNvSpPr txBox="1"/>
          <p:nvPr/>
        </p:nvSpPr>
        <p:spPr>
          <a:xfrm>
            <a:off x="7205472" y="5047488"/>
            <a:ext cx="3712463" cy="256032"/>
          </a:xfrm>
          <a:prstGeom prst="rect">
            <a:avLst/>
          </a:prstGeom>
          <a:noFill/>
        </p:spPr>
        <p:txBody>
          <a:bodyPr wrap="square" lIns="0" rIns="0" tIns="0" bIns="0" anchor="t">
            <a:spAutoFit/>
          </a:bodyPr>
          <a:lstStyle/>
          <a:p>
            <a:pPr algn="ctr">
              <a:spcAft>
                <a:spcPts val="0"/>
              </a:spcAft>
            </a:pPr>
            <a:r>
              <a:rPr sz="1550" b="1" i="0">
                <a:solidFill>
                  <a:srgbClr val="FFFFFF"/>
                </a:solidFill>
                <a:latin typeface="Arial"/>
              </a:rPr>
              <a:t>49 synthetic-informed associations</a:t>
            </a:r>
          </a:p>
        </p:txBody>
      </p:sp>
      <p:sp>
        <p:nvSpPr>
          <p:cNvPr id="34" name="Rectangle 33"/>
          <p:cNvSpPr/>
          <p:nvPr/>
        </p:nvSpPr>
        <p:spPr>
          <a:xfrm>
            <a:off x="475488" y="5724144"/>
            <a:ext cx="11109960"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843016"/>
            <a:ext cx="10744200" cy="237744"/>
          </a:xfrm>
          <a:prstGeom prst="rect">
            <a:avLst/>
          </a:prstGeom>
          <a:noFill/>
        </p:spPr>
        <p:txBody>
          <a:bodyPr wrap="square" lIns="18288" rIns="18288" tIns="18288" bIns="18288" anchor="t">
            <a:spAutoFit/>
          </a:bodyPr>
          <a:lstStyle/>
          <a:p>
            <a:pPr algn="ctr">
              <a:spcAft>
                <a:spcPts val="0"/>
              </a:spcAft>
            </a:pPr>
            <a:r>
              <a:rPr sz="1260" b="0" i="0">
                <a:solidFill>
                  <a:srgbClr val="59697A"/>
                </a:solidFill>
                <a:latin typeface="Arial"/>
              </a:rPr>
              <a:t>The 34 real-only associations remain real-data findings; synthetic guidance did not reinforce them.</a:t>
            </a:r>
          </a:p>
        </p:txBody>
      </p:sp>
      <p:sp>
        <p:nvSpPr>
          <p:cNvPr id="36" name="TextBox 3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Counts are tissue-gene associations after BH FDR and compatible real-effect direction; genes may recur across tissues.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synthetic-informed associations received both a selection status and a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screen covered all 27 completed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biological discussion narrows only after reporting synthetic-informed, real-only, and null outcomes.</a:t>
            </a:r>
          </a:p>
        </p:txBody>
      </p:sp>
      <p:sp>
        <p:nvSpPr>
          <p:cNvPr id="7" name="Rectangle 6"/>
          <p:cNvSpPr/>
          <p:nvPr/>
        </p:nvSpPr>
        <p:spPr>
          <a:xfrm>
            <a:off x="393192"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10</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Synthetic-informed</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Promoted or reinforced BH-FDR gene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1109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Adrenal Gland</a:t>
            </a:r>
          </a:p>
        </p:txBody>
      </p:sp>
      <p:sp>
        <p:nvSpPr>
          <p:cNvPr id="15" name="Rectangle 14"/>
          <p:cNvSpPr/>
          <p:nvPr/>
        </p:nvSpPr>
        <p:spPr>
          <a:xfrm>
            <a:off x="420623" y="393237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84230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Eye</a:t>
            </a:r>
          </a:p>
        </p:txBody>
      </p:sp>
      <p:sp>
        <p:nvSpPr>
          <p:cNvPr id="17" name="Rectangle 16"/>
          <p:cNvSpPr/>
          <p:nvPr/>
        </p:nvSpPr>
        <p:spPr>
          <a:xfrm>
            <a:off x="420623" y="415366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06359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Kidney</a:t>
            </a:r>
          </a:p>
        </p:txBody>
      </p:sp>
      <p:sp>
        <p:nvSpPr>
          <p:cNvPr id="19" name="Rectangle 18"/>
          <p:cNvSpPr/>
          <p:nvPr/>
        </p:nvSpPr>
        <p:spPr>
          <a:xfrm>
            <a:off x="420623" y="43749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28487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Skeletal muscle (pooled)</a:t>
            </a:r>
          </a:p>
        </p:txBody>
      </p:sp>
      <p:sp>
        <p:nvSpPr>
          <p:cNvPr id="21" name="Rectangle 20"/>
          <p:cNvSpPr/>
          <p:nvPr/>
        </p:nvSpPr>
        <p:spPr>
          <a:xfrm>
            <a:off x="420623" y="459623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 y="4506163"/>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Skin</a:t>
            </a:r>
          </a:p>
        </p:txBody>
      </p:sp>
      <p:sp>
        <p:nvSpPr>
          <p:cNvPr id="23" name="Rectangle 22"/>
          <p:cNvSpPr/>
          <p:nvPr/>
        </p:nvSpPr>
        <p:spPr>
          <a:xfrm>
            <a:off x="420623" y="481751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4727448"/>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Spleen</a:t>
            </a:r>
          </a:p>
        </p:txBody>
      </p:sp>
      <p:sp>
        <p:nvSpPr>
          <p:cNvPr id="25" name="Rectangle 24"/>
          <p:cNvSpPr/>
          <p:nvPr/>
        </p:nvSpPr>
        <p:spPr>
          <a:xfrm>
            <a:off x="420623" y="50388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494873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Thymus</a:t>
            </a:r>
          </a:p>
        </p:txBody>
      </p:sp>
      <p:sp>
        <p:nvSpPr>
          <p:cNvPr id="27" name="Rectangle 26"/>
          <p:cNvSpPr/>
          <p:nvPr/>
        </p:nvSpPr>
        <p:spPr>
          <a:xfrm>
            <a:off x="420623"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1792" y="517001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Gastrocnemius</a:t>
            </a:r>
          </a:p>
        </p:txBody>
      </p:sp>
      <p:sp>
        <p:nvSpPr>
          <p:cNvPr id="29" name="Rectangle 28"/>
          <p:cNvSpPr/>
          <p:nvPr/>
        </p:nvSpPr>
        <p:spPr>
          <a:xfrm>
            <a:off x="420623" y="548137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 y="5391302"/>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Soleus</a:t>
            </a:r>
          </a:p>
        </p:txBody>
      </p:sp>
      <p:sp>
        <p:nvSpPr>
          <p:cNvPr id="31" name="Rectangle 30"/>
          <p:cNvSpPr/>
          <p:nvPr/>
        </p:nvSpPr>
        <p:spPr>
          <a:xfrm>
            <a:off x="420623" y="570265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1792" y="5612587"/>
            <a:ext cx="2971800" cy="221284"/>
          </a:xfrm>
          <a:prstGeom prst="rect">
            <a:avLst/>
          </a:prstGeom>
          <a:noFill/>
        </p:spPr>
        <p:txBody>
          <a:bodyPr wrap="square" lIns="0" rIns="0" tIns="0" bIns="0" anchor="ctr">
            <a:spAutoFit/>
          </a:bodyPr>
          <a:lstStyle/>
          <a:p>
            <a:pPr algn="l">
              <a:spcAft>
                <a:spcPts val="0"/>
              </a:spcAft>
            </a:pPr>
            <a:r>
              <a:rPr sz="1040" b="0" i="0">
                <a:solidFill>
                  <a:srgbClr val="263746"/>
                </a:solidFill>
                <a:latin typeface="Arial"/>
              </a:rPr>
              <a:t>Tibialis Anterior</a:t>
            </a:r>
          </a:p>
        </p:txBody>
      </p:sp>
      <p:sp>
        <p:nvSpPr>
          <p:cNvPr id="33" name="Rectangle 32"/>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05656"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5</a:t>
            </a:r>
          </a:p>
        </p:txBody>
      </p:sp>
      <p:sp>
        <p:nvSpPr>
          <p:cNvPr id="36" name="TextBox 35"/>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Real BH-FDR only</a:t>
            </a:r>
          </a:p>
        </p:txBody>
      </p:sp>
      <p:sp>
        <p:nvSpPr>
          <p:cNvPr id="37" name="TextBox 36"/>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Real association, no synthetic-informed selection</a:t>
            </a:r>
          </a:p>
        </p:txBody>
      </p:sp>
      <p:sp>
        <p:nvSpPr>
          <p:cNvPr id="38" name="Rectangle 37"/>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40" name="Rectangle 39"/>
          <p:cNvSpPr/>
          <p:nvPr/>
        </p:nvSpPr>
        <p:spPr>
          <a:xfrm>
            <a:off x="4133088" y="376504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3621024"/>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Heart</a:t>
            </a:r>
          </a:p>
        </p:txBody>
      </p:sp>
      <p:sp>
        <p:nvSpPr>
          <p:cNvPr id="42" name="Rectangle 41"/>
          <p:cNvSpPr/>
          <p:nvPr/>
        </p:nvSpPr>
        <p:spPr>
          <a:xfrm>
            <a:off x="4133088" y="4094226"/>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3950208"/>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Liver</a:t>
            </a:r>
          </a:p>
        </p:txBody>
      </p:sp>
      <p:sp>
        <p:nvSpPr>
          <p:cNvPr id="44" name="Rectangle 43"/>
          <p:cNvSpPr/>
          <p:nvPr/>
        </p:nvSpPr>
        <p:spPr>
          <a:xfrm>
            <a:off x="4133088" y="442340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279392"/>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Retina</a:t>
            </a:r>
          </a:p>
        </p:txBody>
      </p:sp>
      <p:sp>
        <p:nvSpPr>
          <p:cNvPr id="46" name="Rectangle 45"/>
          <p:cNvSpPr/>
          <p:nvPr/>
        </p:nvSpPr>
        <p:spPr>
          <a:xfrm>
            <a:off x="4133088" y="475259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4608576"/>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EDL</a:t>
            </a:r>
          </a:p>
        </p:txBody>
      </p:sp>
      <p:sp>
        <p:nvSpPr>
          <p:cNvPr id="48" name="Rectangle 47"/>
          <p:cNvSpPr/>
          <p:nvPr/>
        </p:nvSpPr>
        <p:spPr>
          <a:xfrm>
            <a:off x="4133088" y="508177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4937760"/>
            <a:ext cx="2971800" cy="329184"/>
          </a:xfrm>
          <a:prstGeom prst="rect">
            <a:avLst/>
          </a:prstGeom>
          <a:noFill/>
        </p:spPr>
        <p:txBody>
          <a:bodyPr wrap="square" lIns="0" rIns="0" tIns="0" bIns="0" anchor="ctr">
            <a:spAutoFit/>
          </a:bodyPr>
          <a:lstStyle/>
          <a:p>
            <a:pPr algn="l">
              <a:spcAft>
                <a:spcPts val="0"/>
              </a:spcAft>
            </a:pPr>
            <a:r>
              <a:rPr sz="1120" b="0" i="0">
                <a:solidFill>
                  <a:srgbClr val="263746"/>
                </a:solidFill>
                <a:latin typeface="Arial"/>
              </a:rPr>
              <a:t>Quadriceps</a:t>
            </a:r>
          </a:p>
        </p:txBody>
      </p:sp>
      <p:sp>
        <p:nvSpPr>
          <p:cNvPr id="50" name="Rectangle 49"/>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818120" y="1865376"/>
            <a:ext cx="333756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D37B00"/>
                </a:solidFill>
                <a:latin typeface="Arial"/>
              </a:rPr>
              <a:t>12</a:t>
            </a:r>
          </a:p>
        </p:txBody>
      </p:sp>
      <p:sp>
        <p:nvSpPr>
          <p:cNvPr id="53" name="TextBox 52"/>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No BH-FDR gene</a:t>
            </a:r>
          </a:p>
        </p:txBody>
      </p:sp>
      <p:sp>
        <p:nvSpPr>
          <p:cNvPr id="54" name="TextBox 53"/>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No BH-FDR gene in the 974-gene panel</a:t>
            </a:r>
          </a:p>
        </p:txBody>
      </p:sp>
      <p:sp>
        <p:nvSpPr>
          <p:cNvPr id="55" name="Rectangle 54"/>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57" name="Rectangle 56"/>
          <p:cNvSpPr/>
          <p:nvPr/>
        </p:nvSpPr>
        <p:spPr>
          <a:xfrm>
            <a:off x="7845552" y="369265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0" y="362102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a:t>
            </a:r>
          </a:p>
        </p:txBody>
      </p:sp>
      <p:sp>
        <p:nvSpPr>
          <p:cNvPr id="59" name="Rectangle 58"/>
          <p:cNvSpPr/>
          <p:nvPr/>
        </p:nvSpPr>
        <p:spPr>
          <a:xfrm>
            <a:off x="7845552" y="387705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46720" y="380542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Bone Marrow</a:t>
            </a:r>
          </a:p>
        </p:txBody>
      </p:sp>
      <p:sp>
        <p:nvSpPr>
          <p:cNvPr id="61" name="Rectangle 60"/>
          <p:cNvSpPr/>
          <p:nvPr/>
        </p:nvSpPr>
        <p:spPr>
          <a:xfrm>
            <a:off x="7845552" y="4061460"/>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046720" y="3989832"/>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Brain</a:t>
            </a:r>
          </a:p>
        </p:txBody>
      </p:sp>
      <p:sp>
        <p:nvSpPr>
          <p:cNvPr id="63" name="Rectangle 62"/>
          <p:cNvSpPr/>
          <p:nvPr/>
        </p:nvSpPr>
        <p:spPr>
          <a:xfrm>
            <a:off x="7845552" y="4245863"/>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4174235"/>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Brown Adipose Tissue</a:t>
            </a:r>
          </a:p>
        </p:txBody>
      </p:sp>
      <p:sp>
        <p:nvSpPr>
          <p:cNvPr id="65" name="Rectangle 64"/>
          <p:cNvSpPr/>
          <p:nvPr/>
        </p:nvSpPr>
        <p:spPr>
          <a:xfrm>
            <a:off x="7845552" y="443026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435864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Cecum</a:t>
            </a:r>
          </a:p>
        </p:txBody>
      </p:sp>
      <p:sp>
        <p:nvSpPr>
          <p:cNvPr id="67" name="Rectangle 66"/>
          <p:cNvSpPr/>
          <p:nvPr/>
        </p:nvSpPr>
        <p:spPr>
          <a:xfrm>
            <a:off x="7845552" y="461467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54304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Cerebellum</a:t>
            </a:r>
          </a:p>
        </p:txBody>
      </p:sp>
      <p:sp>
        <p:nvSpPr>
          <p:cNvPr id="69" name="Rectangle 68"/>
          <p:cNvSpPr/>
          <p:nvPr/>
        </p:nvSpPr>
        <p:spPr>
          <a:xfrm>
            <a:off x="7845552" y="4799076"/>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727448"/>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Colon</a:t>
            </a:r>
          </a:p>
        </p:txBody>
      </p:sp>
      <p:sp>
        <p:nvSpPr>
          <p:cNvPr id="71" name="Rectangle 70"/>
          <p:cNvSpPr/>
          <p:nvPr/>
        </p:nvSpPr>
        <p:spPr>
          <a:xfrm>
            <a:off x="7845552" y="4983479"/>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911851"/>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Hippocampus</a:t>
            </a:r>
          </a:p>
        </p:txBody>
      </p:sp>
      <p:sp>
        <p:nvSpPr>
          <p:cNvPr id="73" name="Rectangle 72"/>
          <p:cNvSpPr/>
          <p:nvPr/>
        </p:nvSpPr>
        <p:spPr>
          <a:xfrm>
            <a:off x="7845552" y="5167884"/>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5096256"/>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Lung</a:t>
            </a:r>
          </a:p>
        </p:txBody>
      </p:sp>
      <p:sp>
        <p:nvSpPr>
          <p:cNvPr id="75" name="Rectangle 74"/>
          <p:cNvSpPr/>
          <p:nvPr/>
        </p:nvSpPr>
        <p:spPr>
          <a:xfrm>
            <a:off x="7845552" y="5352288"/>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280660"/>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Mammary Gland</a:t>
            </a:r>
          </a:p>
        </p:txBody>
      </p:sp>
      <p:sp>
        <p:nvSpPr>
          <p:cNvPr id="77" name="Rectangle 76"/>
          <p:cNvSpPr/>
          <p:nvPr/>
        </p:nvSpPr>
        <p:spPr>
          <a:xfrm>
            <a:off x="7845552" y="5536692"/>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465064"/>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Optic Nerve</a:t>
            </a:r>
          </a:p>
        </p:txBody>
      </p:sp>
      <p:sp>
        <p:nvSpPr>
          <p:cNvPr id="79" name="Rectangle 78"/>
          <p:cNvSpPr/>
          <p:nvPr/>
        </p:nvSpPr>
        <p:spPr>
          <a:xfrm>
            <a:off x="7845552" y="5721095"/>
            <a:ext cx="118872" cy="4114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649467"/>
            <a:ext cx="2971800" cy="184404"/>
          </a:xfrm>
          <a:prstGeom prst="rect">
            <a:avLst/>
          </a:prstGeom>
          <a:noFill/>
        </p:spPr>
        <p:txBody>
          <a:bodyPr wrap="square" lIns="0" rIns="0" tIns="0" bIns="0" anchor="ctr">
            <a:spAutoFit/>
          </a:bodyPr>
          <a:lstStyle/>
          <a:p>
            <a:pPr algn="l">
              <a:spcAft>
                <a:spcPts val="0"/>
              </a:spcAft>
            </a:pPr>
            <a:r>
              <a:rPr sz="980" b="0" i="0">
                <a:solidFill>
                  <a:srgbClr val="263746"/>
                </a:solidFill>
                <a:latin typeface="Arial"/>
              </a:rPr>
              <a:t>White Adipose Tissue</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Twenty-two canonical tissues plus EDL, gastrocnemius, quadriceps, soleus and tibialis anterior; complete counts in Table S12.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GENE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synthetic-informed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synthetic profiles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Separate rows report FLT direction and selection status; gene color independently reports literature interpretation for all 49 associations.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cell-cycle program persisted without material conditioning; two FLT-higher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1927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14815" y="3227832"/>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0448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14815" y="3813048"/>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489703"/>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815" y="4398264"/>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7491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814815" y="4983479"/>
            <a:ext cx="2587751" cy="585216"/>
          </a:xfrm>
          <a:prstGeom prst="rect">
            <a:avLst/>
          </a:prstGeom>
          <a:noFill/>
        </p:spPr>
        <p:txBody>
          <a:bodyPr wrap="square" lIns="0" rIns="0" tIns="0" bIns="0" anchor="t">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real-data program is coherent, but its synthetic reinforcement required explicit material conditioning.</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to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4787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72015" y="3456432"/>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7822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86783"/>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08575"/>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517136"/>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3892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5047488"/>
            <a:ext cx="2139696" cy="530352"/>
          </a:xfrm>
          <a:prstGeom prst="rect">
            <a:avLst/>
          </a:prstGeom>
          <a:noFill/>
        </p:spPr>
        <p:txBody>
          <a:bodyPr wrap="square" lIns="0" rIns="0" tIns="0" bIns="0" anchor="t">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Additional tissues produced distinct hypotheses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shown separately for each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Pooled muscle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Klhl21, Mapkapk5, Reep5, Itgb5</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Sox4, Cebpd, Sh3bp5, Prkcd, Arid5b, Sesn1, Tle1; lower: Bphl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Heterogeneous stress, differentiation, interferon and sialic-acid response; interpret with the anatomical muscle groups.</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Kidney</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Rai14, Myl9, Ptprk higher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Loxl1 higher</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Adhesion, actomyosin and extracellular-matrix or immune-organization hypothesis; no coherent pathway enrichment.</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Skin</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Plscr1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Interferon-linked skin candidate within broader cell-cycle and DNA-repair responses; a single-gene result.</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All listed effects passed BH FDR in observed OSDR profiles; 'None' means no gene in that selection category.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FINDINGS II</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Eye, adrenal and muscle-group results remain tissue-specific</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selections are separated within every tissue.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Eye</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Klhl21 lower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Process-level alignment with lower proliferation and cytokinesis in flight eye tissue; not an exact prior gene replication.</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Interpretations follow the independent literature annotations in Table S16; 'None' means no gene in that selection category.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worked best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helped prioritize observed signal. Biological claims still come from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Use</a:t>
            </a:r>
          </a:p>
        </p:txBody>
      </p:sp>
      <p:sp>
        <p:nvSpPr>
          <p:cNvPr id="15" name="TextBox 14"/>
          <p:cNvSpPr txBox="1"/>
          <p:nvPr/>
        </p:nvSpPr>
        <p:spPr>
          <a:xfrm>
            <a:off x="4087368"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6" name="Rectangle 15"/>
          <p:cNvSpPr/>
          <p:nvPr/>
        </p:nvSpPr>
        <p:spPr>
          <a:xfrm>
            <a:off x="7552944" y="1920240"/>
            <a:ext cx="10972" cy="240487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188720"/>
          </a:xfrm>
          <a:prstGeom prst="rect">
            <a:avLst/>
          </a:prstGeom>
          <a:noFill/>
        </p:spPr>
        <p:txBody>
          <a:bodyPr wrap="square" lIns="0" rIns="0" tIns="0" bIns="0" anchor="t">
            <a:spAutoFit/>
          </a:bodyPr>
          <a:lstStyle/>
          <a:p>
            <a:pPr algn="l">
              <a:spcAft>
                <a:spcPts val="0"/>
              </a:spcAft>
            </a:pPr>
            <a:r>
              <a:rPr sz="1500" b="0" i="0">
                <a:solidFill>
                  <a:srgbClr val="263746"/>
                </a:solidFill>
                <a:latin typeface="Arial"/>
              </a:rPr>
              <a:t>Thymus was robust to material ablation; soleus was conditioning-sensitive. Literature review separated recovery from extension.</a:t>
            </a:r>
          </a:p>
        </p:txBody>
      </p:sp>
      <p:sp>
        <p:nvSpPr>
          <p:cNvPr id="21" name="Rectangle 20"/>
          <p:cNvSpPr/>
          <p:nvPr/>
        </p:nvSpPr>
        <p:spPr>
          <a:xfrm>
            <a:off x="411480" y="4681728"/>
            <a:ext cx="1097280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4928616"/>
            <a:ext cx="1261872" cy="310896"/>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Next test</a:t>
            </a:r>
          </a:p>
        </p:txBody>
      </p:sp>
      <p:sp>
        <p:nvSpPr>
          <p:cNvPr id="23" name="TextBox 22"/>
          <p:cNvSpPr txBox="1"/>
          <p:nvPr/>
        </p:nvSpPr>
        <p:spPr>
          <a:xfrm>
            <a:off x="1828800" y="4837176"/>
            <a:ext cx="9253728" cy="566928"/>
          </a:xfrm>
          <a:prstGeom prst="rect">
            <a:avLst/>
          </a:prstGeom>
          <a:noFill/>
        </p:spPr>
        <p:txBody>
          <a:bodyPr wrap="square" lIns="0" rIns="0" tIns="0" bIns="0" anchor="ctr">
            <a:spAutoFit/>
          </a:bodyPr>
          <a:lstStyle/>
          <a:p>
            <a:pPr algn="l">
              <a:spcAft>
                <a:spcPts val="0"/>
              </a:spcAft>
            </a:pPr>
            <a:r>
              <a:rPr sz="1600" b="0" i="0">
                <a:solidFill>
                  <a:srgbClr val="082B55"/>
                </a:solidFill>
                <a:latin typeface="Arial"/>
              </a:rPr>
              <a:t>Use independent samples and cell-resolved assays to test thymus proliferation, soleus metabolism and prioritized candidates from additional tissues.</a:t>
            </a:r>
          </a:p>
        </p:txBody>
      </p:sp>
      <p:sp>
        <p:nvSpPr>
          <p:cNvPr id="24" name="TextBox 23"/>
          <p:cNvSpPr txBox="1"/>
          <p:nvPr/>
        </p:nvSpPr>
        <p:spPr>
          <a:xfrm>
            <a:off x="1828800" y="5486400"/>
            <a:ext cx="9253728" cy="256032"/>
          </a:xfrm>
          <a:prstGeom prst="rect">
            <a:avLst/>
          </a:prstGeom>
          <a:noFill/>
        </p:spPr>
        <p:txBody>
          <a:bodyPr wrap="square" lIns="0" rIns="0" tIns="0" bIns="0" anchor="t">
            <a:spAutoFit/>
          </a:bodyPr>
          <a:lstStyle/>
          <a:p>
            <a:pPr algn="l">
              <a:spcAft>
                <a:spcPts val="0"/>
              </a:spcAft>
            </a:pPr>
            <a:r>
              <a:rPr sz="1250" b="0" i="0">
                <a:solidFill>
                  <a:srgbClr val="59697A"/>
                </a:solidFill>
                <a:latin typeface="Arial"/>
              </a:rPr>
              <a:t>Generated profiles never enter the biological sample count or the BH-FDR test.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