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Each gene receives a real FLT/GC score and a generated score summarized across draws. We convert both to percentile ranks and take their geometric mean, so a gene ranks highly only when both sources support it. The effect-based version also rewards matching direction and stability across accessions and generated draws. The classifier sketches are schematic: changing the selected genes can move the boundary, and the low-weight arm can move it further. The thymus bars are observed results: Nusap1 and Cdk1 reached 100 percent stability with guidance, while Ube2c and Gmnn were reinforced. Real held-out profiles choose the arm, and real OSDR data supply the effect and FDR.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combines real and generated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Genes move up when both datasets support them; effect-based ranking also checks direction and stability.</a:t>
            </a:r>
          </a:p>
        </p:txBody>
      </p:sp>
      <p:sp>
        <p:nvSpPr>
          <p:cNvPr id="7" name="TextBox 6"/>
          <p:cNvSpPr txBox="1"/>
          <p:nvPr/>
        </p:nvSpPr>
        <p:spPr>
          <a:xfrm>
            <a:off x="475488" y="1847088"/>
            <a:ext cx="1920240" cy="274320"/>
          </a:xfrm>
          <a:prstGeom prst="rect">
            <a:avLst/>
          </a:prstGeom>
          <a:noFill/>
        </p:spPr>
        <p:txBody>
          <a:bodyPr wrap="square" lIns="0" rIns="0" tIns="0" bIns="0" anchor="t">
            <a:spAutoFit/>
          </a:bodyPr>
          <a:lstStyle/>
          <a:p>
            <a:pPr algn="l">
              <a:spcAft>
                <a:spcPts val="0"/>
              </a:spcAft>
            </a:pPr>
            <a:r>
              <a:rPr sz="1700" b="1" i="0">
                <a:solidFill>
                  <a:srgbClr val="082B55"/>
                </a:solidFill>
                <a:latin typeface="Arial"/>
              </a:rPr>
              <a:t>Consensus score</a:t>
            </a:r>
          </a:p>
        </p:txBody>
      </p:sp>
      <p:sp>
        <p:nvSpPr>
          <p:cNvPr id="8" name="Rectangle 7"/>
          <p:cNvSpPr/>
          <p:nvPr/>
        </p:nvSpPr>
        <p:spPr>
          <a:xfrm>
            <a:off x="493776" y="2194560"/>
            <a:ext cx="1353312" cy="5486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295144"/>
            <a:ext cx="1115568" cy="182880"/>
          </a:xfrm>
          <a:prstGeom prst="rect">
            <a:avLst/>
          </a:prstGeom>
          <a:noFill/>
        </p:spPr>
        <p:txBody>
          <a:bodyPr wrap="square" lIns="0" rIns="0" tIns="0" bIns="0" anchor="t">
            <a:spAutoFit/>
          </a:bodyPr>
          <a:lstStyle/>
          <a:p>
            <a:pPr algn="ctr">
              <a:spcAft>
                <a:spcPts val="0"/>
              </a:spcAft>
            </a:pPr>
            <a:r>
              <a:rPr sz="1050" b="1" i="0">
                <a:solidFill>
                  <a:srgbClr val="2D6496"/>
                </a:solidFill>
                <a:latin typeface="Arial"/>
              </a:rPr>
              <a:t>Real gene score</a:t>
            </a:r>
          </a:p>
        </p:txBody>
      </p:sp>
      <p:sp>
        <p:nvSpPr>
          <p:cNvPr id="10" name="TextBox 9"/>
          <p:cNvSpPr txBox="1"/>
          <p:nvPr/>
        </p:nvSpPr>
        <p:spPr>
          <a:xfrm>
            <a:off x="612648" y="2514600"/>
            <a:ext cx="1115568" cy="164592"/>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percentile rank rR</a:t>
            </a:r>
          </a:p>
        </p:txBody>
      </p:sp>
      <p:sp>
        <p:nvSpPr>
          <p:cNvPr id="11" name="TextBox 10"/>
          <p:cNvSpPr txBox="1"/>
          <p:nvPr/>
        </p:nvSpPr>
        <p:spPr>
          <a:xfrm>
            <a:off x="1901952" y="2350008"/>
            <a:ext cx="219456" cy="219456"/>
          </a:xfrm>
          <a:prstGeom prst="rect">
            <a:avLst/>
          </a:prstGeom>
          <a:noFill/>
        </p:spPr>
        <p:txBody>
          <a:bodyPr wrap="square" lIns="0" rIns="0" tIns="0" bIns="0" anchor="t">
            <a:spAutoFit/>
          </a:bodyPr>
          <a:lstStyle/>
          <a:p>
            <a:pPr algn="ctr">
              <a:spcAft>
                <a:spcPts val="0"/>
              </a:spcAft>
            </a:pPr>
            <a:r>
              <a:rPr sz="1700" b="1" i="0">
                <a:solidFill>
                  <a:srgbClr val="8A969E"/>
                </a:solidFill>
                <a:latin typeface="Arial"/>
              </a:rPr>
              <a:t>+</a:t>
            </a:r>
          </a:p>
        </p:txBody>
      </p:sp>
      <p:sp>
        <p:nvSpPr>
          <p:cNvPr id="12" name="Rectangle 11"/>
          <p:cNvSpPr/>
          <p:nvPr/>
        </p:nvSpPr>
        <p:spPr>
          <a:xfrm>
            <a:off x="2157984" y="2194560"/>
            <a:ext cx="1444752" cy="5486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76856" y="2295144"/>
            <a:ext cx="1207008" cy="182880"/>
          </a:xfrm>
          <a:prstGeom prst="rect">
            <a:avLst/>
          </a:prstGeom>
          <a:noFill/>
        </p:spPr>
        <p:txBody>
          <a:bodyPr wrap="square" lIns="0" rIns="0" tIns="0" bIns="0" anchor="t">
            <a:spAutoFit/>
          </a:bodyPr>
          <a:lstStyle/>
          <a:p>
            <a:pPr algn="ctr">
              <a:spcAft>
                <a:spcPts val="0"/>
              </a:spcAft>
            </a:pPr>
            <a:r>
              <a:rPr sz="1050" b="1" i="0">
                <a:solidFill>
                  <a:srgbClr val="D96552"/>
                </a:solidFill>
                <a:latin typeface="Arial"/>
              </a:rPr>
              <a:t>Generated score</a:t>
            </a:r>
          </a:p>
        </p:txBody>
      </p:sp>
      <p:sp>
        <p:nvSpPr>
          <p:cNvPr id="14" name="TextBox 13"/>
          <p:cNvSpPr txBox="1"/>
          <p:nvPr/>
        </p:nvSpPr>
        <p:spPr>
          <a:xfrm>
            <a:off x="2276856" y="2514600"/>
            <a:ext cx="1207008" cy="164592"/>
          </a:xfrm>
          <a:prstGeom prst="rect">
            <a:avLst/>
          </a:prstGeom>
          <a:noFill/>
        </p:spPr>
        <p:txBody>
          <a:bodyPr wrap="square" lIns="0" rIns="0" tIns="0" bIns="0" anchor="t">
            <a:spAutoFit/>
          </a:bodyPr>
          <a:lstStyle/>
          <a:p>
            <a:pPr algn="ctr">
              <a:spcAft>
                <a:spcPts val="0"/>
              </a:spcAft>
            </a:pPr>
            <a:r>
              <a:rPr sz="880" b="0" i="0">
                <a:solidFill>
                  <a:srgbClr val="59697A"/>
                </a:solidFill>
                <a:latin typeface="Arial"/>
              </a:rPr>
              <a:t>median score, rank rS</a:t>
            </a:r>
          </a:p>
        </p:txBody>
      </p:sp>
      <p:sp>
        <p:nvSpPr>
          <p:cNvPr id="15" name="Right Arrow 14"/>
          <p:cNvSpPr/>
          <p:nvPr/>
        </p:nvSpPr>
        <p:spPr>
          <a:xfrm>
            <a:off x="3685032" y="2350008"/>
            <a:ext cx="292608" cy="192024"/>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96512" y="2148840"/>
            <a:ext cx="1901952" cy="64008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9392" y="2249424"/>
            <a:ext cx="1536192" cy="210312"/>
          </a:xfrm>
          <a:prstGeom prst="rect">
            <a:avLst/>
          </a:prstGeom>
          <a:noFill/>
        </p:spPr>
        <p:txBody>
          <a:bodyPr wrap="square" lIns="0" rIns="0" tIns="0" bIns="0" anchor="t">
            <a:spAutoFit/>
          </a:bodyPr>
          <a:lstStyle/>
          <a:p>
            <a:pPr algn="ctr">
              <a:spcAft>
                <a:spcPts val="0"/>
              </a:spcAft>
            </a:pPr>
            <a:r>
              <a:rPr sz="1340" b="1" i="0">
                <a:solidFill>
                  <a:srgbClr val="178681"/>
                </a:solidFill>
                <a:latin typeface="Arial"/>
              </a:rPr>
              <a:t>sqrt(rR x rS)</a:t>
            </a:r>
          </a:p>
        </p:txBody>
      </p:sp>
      <p:sp>
        <p:nvSpPr>
          <p:cNvPr id="18" name="TextBox 17"/>
          <p:cNvSpPr txBox="1"/>
          <p:nvPr/>
        </p:nvSpPr>
        <p:spPr>
          <a:xfrm>
            <a:off x="4279392" y="2523744"/>
            <a:ext cx="1536192" cy="164592"/>
          </a:xfrm>
          <a:prstGeom prst="rect">
            <a:avLst/>
          </a:prstGeom>
          <a:noFill/>
        </p:spPr>
        <p:txBody>
          <a:bodyPr wrap="square" lIns="0" rIns="0" tIns="0" bIns="0" anchor="t">
            <a:spAutoFit/>
          </a:bodyPr>
          <a:lstStyle/>
          <a:p>
            <a:pPr algn="ctr">
              <a:spcAft>
                <a:spcPts val="0"/>
              </a:spcAft>
            </a:pPr>
            <a:r>
              <a:rPr sz="860" b="0" i="0">
                <a:solidFill>
                  <a:srgbClr val="59697A"/>
                </a:solidFill>
                <a:latin typeface="Arial"/>
              </a:rPr>
              <a:t>high only when both rank high</a:t>
            </a:r>
          </a:p>
        </p:txBody>
      </p:sp>
      <p:sp>
        <p:nvSpPr>
          <p:cNvPr id="19" name="TextBox 18"/>
          <p:cNvSpPr txBox="1"/>
          <p:nvPr/>
        </p:nvSpPr>
        <p:spPr>
          <a:xfrm>
            <a:off x="512064" y="2889504"/>
            <a:ext cx="5468112" cy="256032"/>
          </a:xfrm>
          <a:prstGeom prst="rect">
            <a:avLst/>
          </a:prstGeom>
          <a:noFill/>
        </p:spPr>
        <p:txBody>
          <a:bodyPr wrap="square" lIns="0" rIns="0" tIns="0" bIns="0" anchor="t">
            <a:spAutoFit/>
          </a:bodyPr>
          <a:lstStyle/>
          <a:p>
            <a:pPr algn="ctr">
              <a:spcAft>
                <a:spcPts val="0"/>
              </a:spcAft>
            </a:pPr>
            <a:r>
              <a:rPr sz="980" b="0" i="0">
                <a:solidFill>
                  <a:srgbClr val="263746"/>
                </a:solidFill>
                <a:latin typeface="Arial"/>
              </a:rPr>
              <a:t>Effect-based consensus also rewards matching FLT/GC direction and stability across accessions and generated draws.</a:t>
            </a:r>
          </a:p>
        </p:txBody>
      </p:sp>
      <p:sp>
        <p:nvSpPr>
          <p:cNvPr id="20" name="TextBox 19"/>
          <p:cNvSpPr txBox="1"/>
          <p:nvPr/>
        </p:nvSpPr>
        <p:spPr>
          <a:xfrm>
            <a:off x="713232" y="3182112"/>
            <a:ext cx="2103120" cy="201168"/>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REAL ONLY</a:t>
            </a:r>
          </a:p>
        </p:txBody>
      </p:sp>
      <p:sp>
        <p:nvSpPr>
          <p:cNvPr id="21" name="TextBox 20"/>
          <p:cNvSpPr txBox="1"/>
          <p:nvPr/>
        </p:nvSpPr>
        <p:spPr>
          <a:xfrm>
            <a:off x="3529584" y="3182112"/>
            <a:ext cx="2359152" cy="201168"/>
          </a:xfrm>
          <a:prstGeom prst="rect">
            <a:avLst/>
          </a:prstGeom>
          <a:noFill/>
        </p:spPr>
        <p:txBody>
          <a:bodyPr wrap="square" lIns="0" rIns="0" tIns="0" bIns="0" anchor="t">
            <a:spAutoFit/>
          </a:bodyPr>
          <a:lstStyle/>
          <a:p>
            <a:pPr algn="ctr">
              <a:spcAft>
                <a:spcPts val="0"/>
              </a:spcAft>
            </a:pPr>
            <a:r>
              <a:rPr sz="1019" b="1" i="0">
                <a:solidFill>
                  <a:srgbClr val="178681"/>
                </a:solidFill>
                <a:latin typeface="Arial"/>
              </a:rPr>
              <a:t>SYNTHETIC GUIDED</a:t>
            </a:r>
          </a:p>
        </p:txBody>
      </p:sp>
      <p:sp>
        <p:nvSpPr>
          <p:cNvPr id="22" name="Rectangle 21"/>
          <p:cNvSpPr/>
          <p:nvPr/>
        </p:nvSpPr>
        <p:spPr>
          <a:xfrm>
            <a:off x="768096" y="4462272"/>
            <a:ext cx="1993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8096" y="3456432"/>
            <a:ext cx="16459" cy="102412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2415" y="3611879"/>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07007" y="38404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08176" y="4041648"/>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563624" y="373989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709928" y="4169663"/>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773936" y="376732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002536" y="395935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212848" y="3602736"/>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432304" y="411480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11095" y="423367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rot="300000">
            <a:off x="1783080" y="3520439"/>
            <a:ext cx="23774" cy="877824"/>
          </a:xfrm>
          <a:prstGeom prst="rect">
            <a:avLst/>
          </a:prstGeom>
          <a:solidFill>
            <a:srgbClr val="B4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56231" y="3465575"/>
            <a:ext cx="566928" cy="164592"/>
          </a:xfrm>
          <a:prstGeom prst="rect">
            <a:avLst/>
          </a:prstGeom>
          <a:noFill/>
        </p:spPr>
        <p:txBody>
          <a:bodyPr wrap="square" lIns="0" rIns="0" tIns="0" bIns="0" anchor="t">
            <a:spAutoFit/>
          </a:bodyPr>
          <a:lstStyle/>
          <a:p>
            <a:pPr algn="l">
              <a:spcAft>
                <a:spcPts val="0"/>
              </a:spcAft>
            </a:pPr>
            <a:r>
              <a:rPr sz="819" b="0" i="0">
                <a:solidFill>
                  <a:srgbClr val="59697A"/>
                </a:solidFill>
                <a:latin typeface="Arial"/>
              </a:rPr>
              <a:t>boundary</a:t>
            </a:r>
          </a:p>
        </p:txBody>
      </p:sp>
      <p:sp>
        <p:nvSpPr>
          <p:cNvPr id="36" name="Right Arrow 35"/>
          <p:cNvSpPr/>
          <p:nvPr/>
        </p:nvSpPr>
        <p:spPr>
          <a:xfrm>
            <a:off x="2962656" y="3803904"/>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575304" y="4462272"/>
            <a:ext cx="1993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575304" y="3456432"/>
            <a:ext cx="16459" cy="102412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849624" y="3611879"/>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014216" y="38404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215384" y="4041648"/>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370832" y="373989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517136" y="4169663"/>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81144" y="376732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809744" y="395935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020056" y="3602736"/>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239512" y="411480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718304" y="423367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300000">
            <a:off x="4590288" y="3520439"/>
            <a:ext cx="23774" cy="877824"/>
          </a:xfrm>
          <a:prstGeom prst="rect">
            <a:avLst/>
          </a:prstGeom>
          <a:solidFill>
            <a:srgbClr val="B4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rot="2700000">
            <a:off x="3749039" y="3717035"/>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rot="18900000">
            <a:off x="3749039" y="3717035"/>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rot="2700000">
            <a:off x="3913632" y="3945635"/>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rot="18900000">
            <a:off x="3913632" y="3945635"/>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2700000">
            <a:off x="4114800" y="4146803"/>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rot="18900000">
            <a:off x="4114800" y="4146803"/>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rot="2700000">
            <a:off x="4270248" y="3845051"/>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rot="18900000">
            <a:off x="4270248" y="3845051"/>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rot="2700000">
            <a:off x="4416552" y="4274819"/>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rot="18900000">
            <a:off x="4416552" y="4274819"/>
            <a:ext cx="146304" cy="20116"/>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rot="2700000">
            <a:off x="4663440" y="3771900"/>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rot="18900000">
            <a:off x="4663440" y="3771900"/>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rot="2700000">
            <a:off x="4892040" y="396392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rot="18900000">
            <a:off x="4892040" y="396392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rot="2700000">
            <a:off x="5102352" y="3607308"/>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rot="18900000">
            <a:off x="5102352" y="3607308"/>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rot="2700000">
            <a:off x="5321808" y="4119372"/>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rot="18900000">
            <a:off x="5321808" y="4119372"/>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rot="2700000">
            <a:off x="4800600" y="423824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rot="18900000">
            <a:off x="4800600" y="4238244"/>
            <a:ext cx="146304"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rot="21420000">
            <a:off x="4700016" y="3520439"/>
            <a:ext cx="32004" cy="87782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800600" y="3465575"/>
            <a:ext cx="566928" cy="164592"/>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72" name="TextBox 71"/>
          <p:cNvSpPr txBox="1"/>
          <p:nvPr/>
        </p:nvSpPr>
        <p:spPr>
          <a:xfrm>
            <a:off x="704088" y="4590288"/>
            <a:ext cx="2121408" cy="201168"/>
          </a:xfrm>
          <a:prstGeom prst="rect">
            <a:avLst/>
          </a:prstGeom>
          <a:noFill/>
        </p:spPr>
        <p:txBody>
          <a:bodyPr wrap="square" lIns="0" rIns="0" tIns="0" bIns="0" anchor="t">
            <a:spAutoFit/>
          </a:bodyPr>
          <a:lstStyle/>
          <a:p>
            <a:pPr algn="ctr">
              <a:spcAft>
                <a:spcPts val="0"/>
              </a:spcAft>
            </a:pPr>
            <a:r>
              <a:rPr sz="980" b="1" i="0">
                <a:solidFill>
                  <a:srgbClr val="263746"/>
                </a:solidFill>
                <a:latin typeface="Arial"/>
              </a:rPr>
              <a:t>Fit selected genes on real</a:t>
            </a:r>
          </a:p>
        </p:txBody>
      </p:sp>
      <p:sp>
        <p:nvSpPr>
          <p:cNvPr id="73" name="TextBox 72"/>
          <p:cNvSpPr txBox="1"/>
          <p:nvPr/>
        </p:nvSpPr>
        <p:spPr>
          <a:xfrm>
            <a:off x="3383280" y="4590288"/>
            <a:ext cx="2404872" cy="201168"/>
          </a:xfrm>
          <a:prstGeom prst="rect">
            <a:avLst/>
          </a:prstGeom>
          <a:noFill/>
        </p:spPr>
        <p:txBody>
          <a:bodyPr wrap="square" lIns="0" rIns="0" tIns="0" bIns="0" anchor="t">
            <a:spAutoFit/>
          </a:bodyPr>
          <a:lstStyle/>
          <a:p>
            <a:pPr algn="ctr">
              <a:spcAft>
                <a:spcPts val="0"/>
              </a:spcAft>
            </a:pPr>
            <a:r>
              <a:rPr sz="960" b="1" i="0">
                <a:solidFill>
                  <a:srgbClr val="263746"/>
                </a:solidFill>
                <a:latin typeface="Arial"/>
              </a:rPr>
              <a:t>Fit on real or low-weight generated</a:t>
            </a:r>
          </a:p>
        </p:txBody>
      </p:sp>
      <p:sp>
        <p:nvSpPr>
          <p:cNvPr id="74" name="Rectangle 73"/>
          <p:cNvSpPr/>
          <p:nvPr/>
        </p:nvSpPr>
        <p:spPr>
          <a:xfrm>
            <a:off x="630936" y="4956048"/>
            <a:ext cx="5385816" cy="51206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1248" y="5074920"/>
            <a:ext cx="4965192" cy="256032"/>
          </a:xfrm>
          <a:prstGeom prst="rect">
            <a:avLst/>
          </a:prstGeom>
          <a:noFill/>
        </p:spPr>
        <p:txBody>
          <a:bodyPr wrap="square" lIns="0" rIns="0" tIns="0" bIns="0" anchor="t">
            <a:spAutoFit/>
          </a:bodyPr>
          <a:lstStyle/>
          <a:p>
            <a:pPr algn="ctr">
              <a:spcAft>
                <a:spcPts val="0"/>
              </a:spcAft>
            </a:pPr>
            <a:r>
              <a:rPr sz="1070" b="1" i="0">
                <a:solidFill>
                  <a:srgbClr val="082B55"/>
                </a:solidFill>
                <a:latin typeface="Arial"/>
              </a:rPr>
              <a:t>Changing the feature set can move the boundary; low-weight synthetic fitting can move it further.</a:t>
            </a:r>
          </a:p>
        </p:txBody>
      </p:sp>
      <p:sp>
        <p:nvSpPr>
          <p:cNvPr id="76" name="Rectangle 75"/>
          <p:cNvSpPr/>
          <p:nvPr/>
        </p:nvSpPr>
        <p:spPr>
          <a:xfrm>
            <a:off x="6245352" y="1856231"/>
            <a:ext cx="13716" cy="361188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565392" y="1847088"/>
            <a:ext cx="2788920" cy="274320"/>
          </a:xfrm>
          <a:prstGeom prst="rect">
            <a:avLst/>
          </a:prstGeom>
          <a:noFill/>
        </p:spPr>
        <p:txBody>
          <a:bodyPr wrap="square" lIns="0" rIns="0" tIns="0" bIns="0" anchor="t">
            <a:spAutoFit/>
          </a:bodyPr>
          <a:lstStyle/>
          <a:p>
            <a:pPr algn="l">
              <a:spcAft>
                <a:spcPts val="0"/>
              </a:spcAft>
            </a:pPr>
            <a:r>
              <a:rPr sz="1700" b="1" i="0">
                <a:solidFill>
                  <a:srgbClr val="082B55"/>
                </a:solidFill>
                <a:latin typeface="Arial"/>
              </a:rPr>
              <a:t>Thymus feature stability</a:t>
            </a:r>
          </a:p>
        </p:txBody>
      </p:sp>
      <p:sp>
        <p:nvSpPr>
          <p:cNvPr id="78" name="TextBox 77"/>
          <p:cNvSpPr txBox="1"/>
          <p:nvPr/>
        </p:nvSpPr>
        <p:spPr>
          <a:xfrm>
            <a:off x="6565392" y="2157984"/>
            <a:ext cx="3319272" cy="219456"/>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selection frequency across 8 repeated splits</a:t>
            </a:r>
          </a:p>
        </p:txBody>
      </p:sp>
      <p:sp>
        <p:nvSpPr>
          <p:cNvPr id="79" name="Rectangle 78"/>
          <p:cNvSpPr/>
          <p:nvPr/>
        </p:nvSpPr>
        <p:spPr>
          <a:xfrm>
            <a:off x="9747504" y="1965960"/>
            <a:ext cx="128016" cy="8229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939528" y="1911095"/>
            <a:ext cx="658368" cy="201168"/>
          </a:xfrm>
          <a:prstGeom prst="rect">
            <a:avLst/>
          </a:prstGeom>
          <a:noFill/>
        </p:spPr>
        <p:txBody>
          <a:bodyPr wrap="square" lIns="0" rIns="0" tIns="0" bIns="0" anchor="t">
            <a:spAutoFit/>
          </a:bodyPr>
          <a:lstStyle/>
          <a:p>
            <a:pPr algn="l">
              <a:spcAft>
                <a:spcPts val="0"/>
              </a:spcAft>
            </a:pPr>
            <a:r>
              <a:rPr sz="900" b="0" i="0">
                <a:solidFill>
                  <a:srgbClr val="59697A"/>
                </a:solidFill>
                <a:latin typeface="Arial"/>
              </a:rPr>
              <a:t>real only</a:t>
            </a:r>
          </a:p>
        </p:txBody>
      </p:sp>
      <p:sp>
        <p:nvSpPr>
          <p:cNvPr id="81" name="Rectangle 80"/>
          <p:cNvSpPr/>
          <p:nvPr/>
        </p:nvSpPr>
        <p:spPr>
          <a:xfrm>
            <a:off x="10661904" y="1965960"/>
            <a:ext cx="128016" cy="8229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0853928" y="1911095"/>
            <a:ext cx="530352" cy="201168"/>
          </a:xfrm>
          <a:prstGeom prst="rect">
            <a:avLst/>
          </a:prstGeom>
          <a:noFill/>
        </p:spPr>
        <p:txBody>
          <a:bodyPr wrap="square" lIns="0" rIns="0" tIns="0" bIns="0" anchor="t">
            <a:spAutoFit/>
          </a:bodyPr>
          <a:lstStyle/>
          <a:p>
            <a:pPr algn="l">
              <a:spcAft>
                <a:spcPts val="0"/>
              </a:spcAft>
            </a:pPr>
            <a:r>
              <a:rPr sz="900" b="0" i="0">
                <a:solidFill>
                  <a:srgbClr val="59697A"/>
                </a:solidFill>
                <a:latin typeface="Arial"/>
              </a:rPr>
              <a:t>guided</a:t>
            </a:r>
          </a:p>
        </p:txBody>
      </p:sp>
      <p:sp>
        <p:nvSpPr>
          <p:cNvPr id="83" name="TextBox 82"/>
          <p:cNvSpPr txBox="1"/>
          <p:nvPr/>
        </p:nvSpPr>
        <p:spPr>
          <a:xfrm>
            <a:off x="6583680" y="2651760"/>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Nusap1</a:t>
            </a:r>
          </a:p>
        </p:txBody>
      </p:sp>
      <p:sp>
        <p:nvSpPr>
          <p:cNvPr id="84" name="TextBox 83"/>
          <p:cNvSpPr txBox="1"/>
          <p:nvPr/>
        </p:nvSpPr>
        <p:spPr>
          <a:xfrm>
            <a:off x="7516368" y="2670048"/>
            <a:ext cx="1024128" cy="192024"/>
          </a:xfrm>
          <a:prstGeom prst="rect">
            <a:avLst/>
          </a:prstGeom>
          <a:noFill/>
        </p:spPr>
        <p:txBody>
          <a:bodyPr wrap="square" lIns="0" rIns="0" tIns="0" bIns="0" anchor="t">
            <a:spAutoFit/>
          </a:bodyPr>
          <a:lstStyle/>
          <a:p>
            <a:pPr algn="l">
              <a:spcAft>
                <a:spcPts val="0"/>
              </a:spcAft>
            </a:pPr>
            <a:r>
              <a:rPr sz="880" b="1" i="0">
                <a:solidFill>
                  <a:srgbClr val="D96552"/>
                </a:solidFill>
                <a:latin typeface="Arial"/>
              </a:rPr>
              <a:t>promoted</a:t>
            </a:r>
          </a:p>
        </p:txBody>
      </p:sp>
      <p:sp>
        <p:nvSpPr>
          <p:cNvPr id="85" name="Rectangle 84"/>
          <p:cNvSpPr/>
          <p:nvPr/>
        </p:nvSpPr>
        <p:spPr>
          <a:xfrm>
            <a:off x="8805672" y="2633472"/>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963656" y="2596896"/>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0%</a:t>
            </a:r>
          </a:p>
        </p:txBody>
      </p:sp>
      <p:sp>
        <p:nvSpPr>
          <p:cNvPr id="87" name="Rectangle 86"/>
          <p:cNvSpPr/>
          <p:nvPr/>
        </p:nvSpPr>
        <p:spPr>
          <a:xfrm>
            <a:off x="8805672" y="2862072"/>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805672" y="2862072"/>
            <a:ext cx="2084831"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963656" y="2825496"/>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100%</a:t>
            </a:r>
          </a:p>
        </p:txBody>
      </p:sp>
      <p:sp>
        <p:nvSpPr>
          <p:cNvPr id="90" name="TextBox 89"/>
          <p:cNvSpPr txBox="1"/>
          <p:nvPr/>
        </p:nvSpPr>
        <p:spPr>
          <a:xfrm>
            <a:off x="6583680" y="3282696"/>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Cdk1</a:t>
            </a:r>
          </a:p>
        </p:txBody>
      </p:sp>
      <p:sp>
        <p:nvSpPr>
          <p:cNvPr id="91" name="TextBox 90"/>
          <p:cNvSpPr txBox="1"/>
          <p:nvPr/>
        </p:nvSpPr>
        <p:spPr>
          <a:xfrm>
            <a:off x="7516368" y="3300984"/>
            <a:ext cx="1024128" cy="192024"/>
          </a:xfrm>
          <a:prstGeom prst="rect">
            <a:avLst/>
          </a:prstGeom>
          <a:noFill/>
        </p:spPr>
        <p:txBody>
          <a:bodyPr wrap="square" lIns="0" rIns="0" tIns="0" bIns="0" anchor="t">
            <a:spAutoFit/>
          </a:bodyPr>
          <a:lstStyle/>
          <a:p>
            <a:pPr algn="l">
              <a:spcAft>
                <a:spcPts val="0"/>
              </a:spcAft>
            </a:pPr>
            <a:r>
              <a:rPr sz="880" b="1" i="0">
                <a:solidFill>
                  <a:srgbClr val="D96552"/>
                </a:solidFill>
                <a:latin typeface="Arial"/>
              </a:rPr>
              <a:t>promoted</a:t>
            </a:r>
          </a:p>
        </p:txBody>
      </p:sp>
      <p:sp>
        <p:nvSpPr>
          <p:cNvPr id="92" name="Rectangle 91"/>
          <p:cNvSpPr/>
          <p:nvPr/>
        </p:nvSpPr>
        <p:spPr>
          <a:xfrm>
            <a:off x="8805672" y="3264408"/>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963656" y="3227832"/>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0%</a:t>
            </a:r>
          </a:p>
        </p:txBody>
      </p:sp>
      <p:sp>
        <p:nvSpPr>
          <p:cNvPr id="94" name="Rectangle 93"/>
          <p:cNvSpPr/>
          <p:nvPr/>
        </p:nvSpPr>
        <p:spPr>
          <a:xfrm>
            <a:off x="8805672" y="3493008"/>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805672" y="3493008"/>
            <a:ext cx="2084831"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963656" y="3456432"/>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100%</a:t>
            </a:r>
          </a:p>
        </p:txBody>
      </p:sp>
      <p:sp>
        <p:nvSpPr>
          <p:cNvPr id="97" name="TextBox 96"/>
          <p:cNvSpPr txBox="1"/>
          <p:nvPr/>
        </p:nvSpPr>
        <p:spPr>
          <a:xfrm>
            <a:off x="6583680" y="3913631"/>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Ube2c</a:t>
            </a:r>
          </a:p>
        </p:txBody>
      </p:sp>
      <p:sp>
        <p:nvSpPr>
          <p:cNvPr id="98" name="TextBox 97"/>
          <p:cNvSpPr txBox="1"/>
          <p:nvPr/>
        </p:nvSpPr>
        <p:spPr>
          <a:xfrm>
            <a:off x="7516368" y="3931920"/>
            <a:ext cx="1024128" cy="192024"/>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reinforced</a:t>
            </a:r>
          </a:p>
        </p:txBody>
      </p:sp>
      <p:sp>
        <p:nvSpPr>
          <p:cNvPr id="99" name="Rectangle 98"/>
          <p:cNvSpPr/>
          <p:nvPr/>
        </p:nvSpPr>
        <p:spPr>
          <a:xfrm>
            <a:off x="8805672" y="3895344"/>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805672" y="3895344"/>
            <a:ext cx="1042415" cy="9144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963656" y="3858768"/>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50%</a:t>
            </a:r>
          </a:p>
        </p:txBody>
      </p:sp>
      <p:sp>
        <p:nvSpPr>
          <p:cNvPr id="102" name="Rectangle 101"/>
          <p:cNvSpPr/>
          <p:nvPr/>
        </p:nvSpPr>
        <p:spPr>
          <a:xfrm>
            <a:off x="8805672" y="4123944"/>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805672" y="4123944"/>
            <a:ext cx="1563624"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0963656" y="4087368"/>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75%</a:t>
            </a:r>
          </a:p>
        </p:txBody>
      </p:sp>
      <p:sp>
        <p:nvSpPr>
          <p:cNvPr id="105" name="TextBox 104"/>
          <p:cNvSpPr txBox="1"/>
          <p:nvPr/>
        </p:nvSpPr>
        <p:spPr>
          <a:xfrm>
            <a:off x="6583680" y="4544567"/>
            <a:ext cx="932688"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Gmnn</a:t>
            </a:r>
          </a:p>
        </p:txBody>
      </p:sp>
      <p:sp>
        <p:nvSpPr>
          <p:cNvPr id="106" name="TextBox 105"/>
          <p:cNvSpPr txBox="1"/>
          <p:nvPr/>
        </p:nvSpPr>
        <p:spPr>
          <a:xfrm>
            <a:off x="7516368" y="4562855"/>
            <a:ext cx="1024128" cy="192024"/>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reinforced</a:t>
            </a:r>
          </a:p>
        </p:txBody>
      </p:sp>
      <p:sp>
        <p:nvSpPr>
          <p:cNvPr id="107" name="Rectangle 106"/>
          <p:cNvSpPr/>
          <p:nvPr/>
        </p:nvSpPr>
        <p:spPr>
          <a:xfrm>
            <a:off x="8805672" y="4526279"/>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805672" y="4526279"/>
            <a:ext cx="1303019" cy="9144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963656" y="4489703"/>
            <a:ext cx="438912" cy="182880"/>
          </a:xfrm>
          <a:prstGeom prst="rect">
            <a:avLst/>
          </a:prstGeom>
          <a:noFill/>
        </p:spPr>
        <p:txBody>
          <a:bodyPr wrap="square" lIns="0" rIns="0" tIns="0" bIns="0" anchor="t">
            <a:spAutoFit/>
          </a:bodyPr>
          <a:lstStyle/>
          <a:p>
            <a:pPr algn="r">
              <a:spcAft>
                <a:spcPts val="0"/>
              </a:spcAft>
            </a:pPr>
            <a:r>
              <a:rPr sz="900" b="1" i="0">
                <a:solidFill>
                  <a:srgbClr val="2D6496"/>
                </a:solidFill>
                <a:latin typeface="Arial"/>
              </a:rPr>
              <a:t>62%</a:t>
            </a:r>
          </a:p>
        </p:txBody>
      </p:sp>
      <p:sp>
        <p:nvSpPr>
          <p:cNvPr id="110" name="Rectangle 109"/>
          <p:cNvSpPr/>
          <p:nvPr/>
        </p:nvSpPr>
        <p:spPr>
          <a:xfrm>
            <a:off x="8805672" y="4754879"/>
            <a:ext cx="2084831" cy="91440"/>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8805672" y="4754879"/>
            <a:ext cx="2084831" cy="9144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963656" y="4718303"/>
            <a:ext cx="438912" cy="182880"/>
          </a:xfrm>
          <a:prstGeom prst="rect">
            <a:avLst/>
          </a:prstGeom>
          <a:noFill/>
        </p:spPr>
        <p:txBody>
          <a:bodyPr wrap="square" lIns="0" rIns="0" tIns="0" bIns="0" anchor="t">
            <a:spAutoFit/>
          </a:bodyPr>
          <a:lstStyle/>
          <a:p>
            <a:pPr algn="r">
              <a:spcAft>
                <a:spcPts val="0"/>
              </a:spcAft>
            </a:pPr>
            <a:r>
              <a:rPr sz="900" b="1" i="0">
                <a:solidFill>
                  <a:srgbClr val="178681"/>
                </a:solidFill>
                <a:latin typeface="Arial"/>
              </a:rPr>
              <a:t>100%</a:t>
            </a:r>
          </a:p>
        </p:txBody>
      </p:sp>
      <p:sp>
        <p:nvSpPr>
          <p:cNvPr id="113" name="TextBox 112"/>
          <p:cNvSpPr txBox="1"/>
          <p:nvPr/>
        </p:nvSpPr>
        <p:spPr>
          <a:xfrm>
            <a:off x="6574536" y="5175504"/>
            <a:ext cx="4754880" cy="34747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Promoted genes crossed the stability rule only with guidance; reinforced genes were stable in both selections.</a:t>
            </a:r>
          </a:p>
        </p:txBody>
      </p:sp>
      <p:sp>
        <p:nvSpPr>
          <p:cNvPr id="114" name="Rectangle 113"/>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21792" y="5779008"/>
            <a:ext cx="3072384" cy="338328"/>
          </a:xfrm>
          <a:prstGeom prst="rect">
            <a:avLst/>
          </a:prstGeom>
          <a:noFill/>
        </p:spPr>
        <p:txBody>
          <a:bodyPr wrap="square" lIns="0" rIns="0" tIns="0" bIns="0" anchor="ctr">
            <a:spAutoFit/>
          </a:bodyPr>
          <a:lstStyle/>
          <a:p>
            <a:pPr algn="ctr">
              <a:spcAft>
                <a:spcPts val="0"/>
              </a:spcAft>
            </a:pPr>
            <a:r>
              <a:rPr sz="1140" b="1" i="0">
                <a:solidFill>
                  <a:srgbClr val="FFFFFF"/>
                </a:solidFill>
                <a:latin typeface="Arial"/>
              </a:rPr>
              <a:t>Held-out real samples select the arm.</a:t>
            </a:r>
          </a:p>
        </p:txBody>
      </p:sp>
      <p:sp>
        <p:nvSpPr>
          <p:cNvPr id="116" name="TextBox 115"/>
          <p:cNvSpPr txBox="1"/>
          <p:nvPr/>
        </p:nvSpPr>
        <p:spPr>
          <a:xfrm>
            <a:off x="3767328" y="5779008"/>
            <a:ext cx="4608576" cy="338328"/>
          </a:xfrm>
          <a:prstGeom prst="rect">
            <a:avLst/>
          </a:prstGeom>
          <a:noFill/>
        </p:spPr>
        <p:txBody>
          <a:bodyPr wrap="square" lIns="0" rIns="0" tIns="0" bIns="0" anchor="ctr">
            <a:spAutoFit/>
          </a:bodyPr>
          <a:lstStyle/>
          <a:p>
            <a:pPr algn="ctr">
              <a:spcAft>
                <a:spcPts val="0"/>
              </a:spcAft>
            </a:pPr>
            <a:r>
              <a:rPr sz="1140" b="0" i="0">
                <a:solidFill>
                  <a:srgbClr val="DCE7F2"/>
                </a:solidFill>
                <a:latin typeface="Arial"/>
              </a:rPr>
              <a:t>Real OSDR supplies FLT-GC effects and BH FDR.</a:t>
            </a:r>
          </a:p>
        </p:txBody>
      </p:sp>
      <p:sp>
        <p:nvSpPr>
          <p:cNvPr id="117" name="TextBox 116"/>
          <p:cNvSpPr txBox="1"/>
          <p:nvPr/>
        </p:nvSpPr>
        <p:spPr>
          <a:xfrm>
            <a:off x="8522208" y="5779008"/>
            <a:ext cx="2788920" cy="338328"/>
          </a:xfrm>
          <a:prstGeom prst="rect">
            <a:avLst/>
          </a:prstGeom>
          <a:noFill/>
        </p:spPr>
        <p:txBody>
          <a:bodyPr wrap="square" lIns="0" rIns="0" tIns="0" bIns="0" anchor="ctr">
            <a:spAutoFit/>
          </a:bodyPr>
          <a:lstStyle/>
          <a:p>
            <a:pPr algn="ctr">
              <a:spcAft>
                <a:spcPts val="0"/>
              </a:spcAft>
            </a:pPr>
            <a:r>
              <a:rPr sz="1080" b="1" i="0">
                <a:solidFill>
                  <a:srgbClr val="FFD69A"/>
                </a:solidFill>
                <a:latin typeface="Arial"/>
              </a:rPr>
              <a:t>Synthetic data adds no animals.</a:t>
            </a:r>
          </a:p>
        </p:txBody>
      </p:sp>
      <p:sp>
        <p:nvSpPr>
          <p:cNvPr id="118" name="TextBox 11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Classifier view is schematic. Thymus frequencies are from the repeated tissue screen in Table S10.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