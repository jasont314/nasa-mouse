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Each ranking orders the same 974 genes. Real-only, generated-only and consensus ranking can therefore produce different candidate gene sets. For each ranking, we test the top 10, 25, 50 and 100 genes, and held-out validation chooses the feature count and regularization. Logistic regression is then fitted using only those selected gene-expression columns. Ranking chooses which genes are available to the classifier; classifier training separately learns their coefficients and decision boundary.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held-out real samples appear in both schematic panels, so the dots are fixed and only the boundary changes. Under the hood, consensus ranking changes which genes enter the model, and the guided arm may also use low-weight generated profiles during fitting. In thymus, Cdk1 and Nusap1 went from zero of eight real-only selections to eight of eight guided selections. Effects and BH FDR still come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21284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948939"/>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13" name="Rectangle 12"/>
          <p:cNvSpPr/>
          <p:nvPr/>
        </p:nvSpPr>
        <p:spPr>
          <a:xfrm>
            <a:off x="1481328" y="303123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676814" y="297637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323844"/>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16" name="Rectangle 15"/>
          <p:cNvSpPr/>
          <p:nvPr/>
        </p:nvSpPr>
        <p:spPr>
          <a:xfrm>
            <a:off x="1481328" y="3406140"/>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606588" y="3351276"/>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68289" y="2889504"/>
            <a:ext cx="20116" cy="7315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0592" y="3730752"/>
            <a:ext cx="960120" cy="164592"/>
          </a:xfrm>
          <a:prstGeom prst="rect">
            <a:avLst/>
          </a:prstGeom>
          <a:noFill/>
        </p:spPr>
        <p:txBody>
          <a:bodyPr wrap="square" lIns="0" rIns="0" tIns="0" bIns="0" anchor="t">
            <a:spAutoFit/>
          </a:bodyPr>
          <a:lstStyle/>
          <a:p>
            <a:pPr algn="r">
              <a:spcAft>
                <a:spcPts val="0"/>
              </a:spcAft>
            </a:pPr>
            <a:r>
              <a:rPr sz="850" b="0" i="1">
                <a:solidFill>
                  <a:srgbClr val="2D6496"/>
                </a:solidFill>
                <a:latin typeface="Arial"/>
              </a:rPr>
              <a:t>selection cutoff</a:t>
            </a:r>
          </a:p>
        </p:txBody>
      </p:sp>
      <p:sp>
        <p:nvSpPr>
          <p:cNvPr id="20" name="Right Arrow 19"/>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1874519"/>
            <a:ext cx="3300984" cy="2212848"/>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23" name="TextBox 22"/>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24" name="TextBox 23"/>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25" name="TextBox 24"/>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26" name="TextBox 25"/>
          <p:cNvSpPr txBox="1"/>
          <p:nvPr/>
        </p:nvSpPr>
        <p:spPr>
          <a:xfrm>
            <a:off x="4334256" y="2948939"/>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27" name="Rectangle 26"/>
          <p:cNvSpPr/>
          <p:nvPr/>
        </p:nvSpPr>
        <p:spPr>
          <a:xfrm>
            <a:off x="5157216" y="303123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756501" y="297637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323844"/>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30" name="Rectangle 29"/>
          <p:cNvSpPr/>
          <p:nvPr/>
        </p:nvSpPr>
        <p:spPr>
          <a:xfrm>
            <a:off x="5157216" y="3406140"/>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68719" y="3351276"/>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90688" y="1874519"/>
            <a:ext cx="3776472" cy="2212848"/>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10144" y="2075688"/>
            <a:ext cx="2039112"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SHARED RANKING</a:t>
            </a:r>
          </a:p>
        </p:txBody>
      </p:sp>
      <p:sp>
        <p:nvSpPr>
          <p:cNvPr id="35" name="TextBox 34"/>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36" name="TextBox 35"/>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7" name="TextBox 36"/>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8" name="TextBox 37"/>
          <p:cNvSpPr txBox="1"/>
          <p:nvPr/>
        </p:nvSpPr>
        <p:spPr>
          <a:xfrm>
            <a:off x="8010144" y="2921508"/>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39" name="Rectangle 38"/>
          <p:cNvSpPr/>
          <p:nvPr/>
        </p:nvSpPr>
        <p:spPr>
          <a:xfrm>
            <a:off x="8833104" y="3003804"/>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91937" y="2948940"/>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826496" y="2921508"/>
            <a:ext cx="557784" cy="192024"/>
          </a:xfrm>
          <a:prstGeom prst="rect">
            <a:avLst/>
          </a:prstGeom>
          <a:noFill/>
        </p:spPr>
        <p:txBody>
          <a:bodyPr wrap="square" lIns="0" rIns="0" tIns="0" bIns="0" anchor="t">
            <a:spAutoFit/>
          </a:bodyPr>
          <a:lstStyle/>
          <a:p>
            <a:pPr algn="r">
              <a:spcAft>
                <a:spcPts val="0"/>
              </a:spcAft>
            </a:pPr>
            <a:r>
              <a:rPr sz="840" b="1" i="0">
                <a:solidFill>
                  <a:srgbClr val="178681"/>
                </a:solidFill>
                <a:latin typeface="Arial"/>
              </a:rPr>
              <a:t>selected</a:t>
            </a:r>
          </a:p>
        </p:txBody>
      </p:sp>
      <p:sp>
        <p:nvSpPr>
          <p:cNvPr id="42" name="TextBox 41"/>
          <p:cNvSpPr txBox="1"/>
          <p:nvPr/>
        </p:nvSpPr>
        <p:spPr>
          <a:xfrm>
            <a:off x="8010144" y="3250691"/>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43" name="Rectangle 42"/>
          <p:cNvSpPr/>
          <p:nvPr/>
        </p:nvSpPr>
        <p:spPr>
          <a:xfrm>
            <a:off x="8833104" y="3332988"/>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221711" y="3278124"/>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26496" y="3250691"/>
            <a:ext cx="557784" cy="192024"/>
          </a:xfrm>
          <a:prstGeom prst="rect">
            <a:avLst/>
          </a:prstGeom>
          <a:noFill/>
        </p:spPr>
        <p:txBody>
          <a:bodyPr wrap="square" lIns="0" rIns="0" tIns="0" bIns="0" anchor="t">
            <a:spAutoFit/>
          </a:bodyPr>
          <a:lstStyle/>
          <a:p>
            <a:pPr algn="r">
              <a:spcAft>
                <a:spcPts val="0"/>
              </a:spcAft>
            </a:pPr>
            <a:r>
              <a:rPr sz="840" b="1" i="0">
                <a:solidFill>
                  <a:srgbClr val="178681"/>
                </a:solidFill>
                <a:latin typeface="Arial"/>
              </a:rPr>
              <a:t>selected</a:t>
            </a:r>
          </a:p>
        </p:txBody>
      </p:sp>
      <p:sp>
        <p:nvSpPr>
          <p:cNvPr id="46" name="TextBox 45"/>
          <p:cNvSpPr txBox="1"/>
          <p:nvPr/>
        </p:nvSpPr>
        <p:spPr>
          <a:xfrm>
            <a:off x="8010144" y="3579875"/>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one-sided</a:t>
            </a:r>
          </a:p>
        </p:txBody>
      </p:sp>
      <p:sp>
        <p:nvSpPr>
          <p:cNvPr id="47" name="Rectangle 46"/>
          <p:cNvSpPr/>
          <p:nvPr/>
        </p:nvSpPr>
        <p:spPr>
          <a:xfrm>
            <a:off x="8833104" y="3662172"/>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554565" y="3607308"/>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26496" y="3579875"/>
            <a:ext cx="557784" cy="192024"/>
          </a:xfrm>
          <a:prstGeom prst="rect">
            <a:avLst/>
          </a:prstGeom>
          <a:noFill/>
        </p:spPr>
        <p:txBody>
          <a:bodyPr wrap="square" lIns="0" rIns="0" tIns="0" bIns="0" anchor="t">
            <a:spAutoFit/>
          </a:bodyPr>
          <a:lstStyle/>
          <a:p>
            <a:pPr algn="r">
              <a:spcAft>
                <a:spcPts val="0"/>
              </a:spcAft>
            </a:pPr>
            <a:r>
              <a:rPr sz="840" b="1" i="0">
                <a:solidFill>
                  <a:srgbClr val="8A969E"/>
                </a:solidFill>
                <a:latin typeface="Arial"/>
              </a:rPr>
              <a:t>held back</a:t>
            </a:r>
          </a:p>
        </p:txBody>
      </p:sp>
      <p:sp>
        <p:nvSpPr>
          <p:cNvPr id="50" name="Rectangle 49"/>
          <p:cNvSpPr/>
          <p:nvPr/>
        </p:nvSpPr>
        <p:spPr>
          <a:xfrm>
            <a:off x="10149840" y="2880360"/>
            <a:ext cx="20116" cy="96012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195560" y="3840480"/>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52" name="TextBox 51"/>
          <p:cNvSpPr txBox="1"/>
          <p:nvPr/>
        </p:nvSpPr>
        <p:spPr>
          <a:xfrm>
            <a:off x="475488" y="4315968"/>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53" name="Rectangle 52"/>
          <p:cNvSpPr/>
          <p:nvPr/>
        </p:nvSpPr>
        <p:spPr>
          <a:xfrm>
            <a:off x="466344" y="4617720"/>
            <a:ext cx="3081528" cy="9418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4088" y="4782312"/>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55" name="TextBox 54"/>
          <p:cNvSpPr txBox="1"/>
          <p:nvPr/>
        </p:nvSpPr>
        <p:spPr>
          <a:xfrm>
            <a:off x="704088" y="5120640"/>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56" name="Right Arrow 55"/>
          <p:cNvSpPr/>
          <p:nvPr/>
        </p:nvSpPr>
        <p:spPr>
          <a:xfrm>
            <a:off x="3648456" y="4928616"/>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032504" y="4617720"/>
            <a:ext cx="3081528" cy="9418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70248" y="4782312"/>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59" name="TextBox 58"/>
          <p:cNvSpPr txBox="1"/>
          <p:nvPr/>
        </p:nvSpPr>
        <p:spPr>
          <a:xfrm>
            <a:off x="4270248" y="5074920"/>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60" name="TextBox 59"/>
          <p:cNvSpPr txBox="1"/>
          <p:nvPr/>
        </p:nvSpPr>
        <p:spPr>
          <a:xfrm>
            <a:off x="4270248" y="5294376"/>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61" name="Right Arrow 60"/>
          <p:cNvSpPr/>
          <p:nvPr/>
        </p:nvSpPr>
        <p:spPr>
          <a:xfrm>
            <a:off x="7214616" y="4928616"/>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598664" y="4617720"/>
            <a:ext cx="3968496" cy="9418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36408" y="4782312"/>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64" name="TextBox 63"/>
          <p:cNvSpPr txBox="1"/>
          <p:nvPr/>
        </p:nvSpPr>
        <p:spPr>
          <a:xfrm>
            <a:off x="7836408" y="5120640"/>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65" name="Rectangle 64"/>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 y="5797296"/>
            <a:ext cx="517550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Ranking chooses the input genes.</a:t>
            </a:r>
          </a:p>
        </p:txBody>
      </p:sp>
      <p:sp>
        <p:nvSpPr>
          <p:cNvPr id="67" name="TextBox 66"/>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Classifier training learns their weights and the boundary.</a:t>
            </a:r>
          </a:p>
        </p:txBody>
      </p:sp>
      <p:sp>
        <p:nvSpPr>
          <p:cNvPr id="68" name="TextBox 6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Rank positions are schematic. The implementation combines normalized real and generated ranks.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shifts the FLT-GC decision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held-out real samples are shown in both panels; guidance changes the selected genes and fitted boundary.</a:t>
            </a:r>
          </a:p>
        </p:txBody>
      </p:sp>
      <p:sp>
        <p:nvSpPr>
          <p:cNvPr id="7" name="Oval 6"/>
          <p:cNvSpPr/>
          <p:nvPr/>
        </p:nvSpPr>
        <p:spPr>
          <a:xfrm>
            <a:off x="9592056" y="17830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65792" y="1746504"/>
            <a:ext cx="365760"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FLT</a:t>
            </a:r>
          </a:p>
        </p:txBody>
      </p:sp>
      <p:sp>
        <p:nvSpPr>
          <p:cNvPr id="9" name="Oval 8"/>
          <p:cNvSpPr/>
          <p:nvPr/>
        </p:nvSpPr>
        <p:spPr>
          <a:xfrm>
            <a:off x="10241280" y="178308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15016" y="1746504"/>
            <a:ext cx="34747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GC</a:t>
            </a:r>
          </a:p>
        </p:txBody>
      </p:sp>
      <p:sp>
        <p:nvSpPr>
          <p:cNvPr id="11" name="TextBox 10"/>
          <p:cNvSpPr txBox="1"/>
          <p:nvPr/>
        </p:nvSpPr>
        <p:spPr>
          <a:xfrm>
            <a:off x="813816" y="2029968"/>
            <a:ext cx="3913632"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2" name="TextBox 11"/>
          <p:cNvSpPr txBox="1"/>
          <p:nvPr/>
        </p:nvSpPr>
        <p:spPr>
          <a:xfrm>
            <a:off x="6437376" y="2029968"/>
            <a:ext cx="3913632"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3" name="Rectangle 12"/>
          <p:cNvSpPr/>
          <p:nvPr/>
        </p:nvSpPr>
        <p:spPr>
          <a:xfrm>
            <a:off x="81381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020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12140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6946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99923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35584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7451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0136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9514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7977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4728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050791"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14553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0624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480000">
            <a:off x="2825496" y="2514600"/>
            <a:ext cx="32004" cy="1517904"/>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3737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1228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6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74496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19302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62279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7940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49807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42492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1870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333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07084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674352"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76909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82980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20880000">
            <a:off x="8522208" y="2514600"/>
            <a:ext cx="41148" cy="15179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5047488" y="2962656"/>
            <a:ext cx="640080" cy="3566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09744" y="3419856"/>
            <a:ext cx="1115568"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guided model</a:t>
            </a:r>
          </a:p>
        </p:txBody>
      </p:sp>
      <p:sp>
        <p:nvSpPr>
          <p:cNvPr id="49" name="TextBox 48"/>
          <p:cNvSpPr txBox="1"/>
          <p:nvPr/>
        </p:nvSpPr>
        <p:spPr>
          <a:xfrm>
            <a:off x="813816" y="4325112"/>
            <a:ext cx="9537192" cy="228600"/>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Dots are held fixed to isolate the boundary change</a:t>
            </a:r>
          </a:p>
        </p:txBody>
      </p:sp>
      <p:sp>
        <p:nvSpPr>
          <p:cNvPr id="50" name="Rectangle 49"/>
          <p:cNvSpPr/>
          <p:nvPr/>
        </p:nvSpPr>
        <p:spPr>
          <a:xfrm>
            <a:off x="521207" y="4663440"/>
            <a:ext cx="11045952" cy="914400"/>
          </a:xfrm>
          <a:prstGeom prst="rect">
            <a:avLst/>
          </a:prstGeom>
          <a:solidFill>
            <a:srgbClr val="F5F7F8"/>
          </a:solidFill>
          <a:ln w="1016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9808" y="4809744"/>
            <a:ext cx="1664208" cy="228600"/>
          </a:xfrm>
          <a:prstGeom prst="rect">
            <a:avLst/>
          </a:prstGeom>
          <a:noFill/>
        </p:spPr>
        <p:txBody>
          <a:bodyPr wrap="square" lIns="0" rIns="0" tIns="0" bIns="0" anchor="t">
            <a:spAutoFit/>
          </a:bodyPr>
          <a:lstStyle/>
          <a:p>
            <a:pPr algn="l">
              <a:spcAft>
                <a:spcPts val="0"/>
              </a:spcAft>
            </a:pPr>
            <a:r>
              <a:rPr sz="1320" b="1" i="0">
                <a:solidFill>
                  <a:srgbClr val="082B55"/>
                </a:solidFill>
                <a:latin typeface="Arial"/>
              </a:rPr>
              <a:t>Thymus result</a:t>
            </a:r>
          </a:p>
        </p:txBody>
      </p:sp>
      <p:sp>
        <p:nvSpPr>
          <p:cNvPr id="52" name="TextBox 51"/>
          <p:cNvSpPr txBox="1"/>
          <p:nvPr/>
        </p:nvSpPr>
        <p:spPr>
          <a:xfrm>
            <a:off x="749808" y="5093208"/>
            <a:ext cx="1664208"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8 repeated splits</a:t>
            </a:r>
          </a:p>
        </p:txBody>
      </p:sp>
      <p:sp>
        <p:nvSpPr>
          <p:cNvPr id="53" name="TextBox 52"/>
          <p:cNvSpPr txBox="1"/>
          <p:nvPr/>
        </p:nvSpPr>
        <p:spPr>
          <a:xfrm>
            <a:off x="2880360" y="4800600"/>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Cdk1</a:t>
            </a:r>
          </a:p>
        </p:txBody>
      </p:sp>
      <p:sp>
        <p:nvSpPr>
          <p:cNvPr id="54" name="TextBox 53"/>
          <p:cNvSpPr txBox="1"/>
          <p:nvPr/>
        </p:nvSpPr>
        <p:spPr>
          <a:xfrm>
            <a:off x="3675887" y="4800600"/>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55" name="Oval 54"/>
          <p:cNvSpPr/>
          <p:nvPr/>
        </p:nvSpPr>
        <p:spPr>
          <a:xfrm>
            <a:off x="434340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49884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65429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809744"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65192"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12064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27608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43153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14416" y="4800600"/>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64" name="Right Arrow 63"/>
          <p:cNvSpPr/>
          <p:nvPr/>
        </p:nvSpPr>
        <p:spPr>
          <a:xfrm>
            <a:off x="6062472" y="4832604"/>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00600"/>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66" name="Oval 65"/>
          <p:cNvSpPr/>
          <p:nvPr/>
        </p:nvSpPr>
        <p:spPr>
          <a:xfrm>
            <a:off x="703173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18718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4263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498080"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653528"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80897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96442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11987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02752" y="4800600"/>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75" name="TextBox 74"/>
          <p:cNvSpPr txBox="1"/>
          <p:nvPr/>
        </p:nvSpPr>
        <p:spPr>
          <a:xfrm>
            <a:off x="2880360" y="5129784"/>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Nusap1</a:t>
            </a:r>
          </a:p>
        </p:txBody>
      </p:sp>
      <p:sp>
        <p:nvSpPr>
          <p:cNvPr id="76" name="TextBox 75"/>
          <p:cNvSpPr txBox="1"/>
          <p:nvPr/>
        </p:nvSpPr>
        <p:spPr>
          <a:xfrm>
            <a:off x="3675887" y="5129784"/>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77" name="Oval 76"/>
          <p:cNvSpPr/>
          <p:nvPr/>
        </p:nvSpPr>
        <p:spPr>
          <a:xfrm>
            <a:off x="434340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49884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65429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809744"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965192"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12064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27608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43153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14416" y="5129784"/>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86" name="Right Arrow 85"/>
          <p:cNvSpPr/>
          <p:nvPr/>
        </p:nvSpPr>
        <p:spPr>
          <a:xfrm>
            <a:off x="6062472" y="5161788"/>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37376" y="5129784"/>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88" name="Oval 87"/>
          <p:cNvSpPr/>
          <p:nvPr/>
        </p:nvSpPr>
        <p:spPr>
          <a:xfrm>
            <a:off x="703173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18718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34263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498080"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653528"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80897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96442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11987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302752" y="5129784"/>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97" name="TextBox 96"/>
          <p:cNvSpPr txBox="1"/>
          <p:nvPr/>
        </p:nvSpPr>
        <p:spPr>
          <a:xfrm>
            <a:off x="8887968" y="4855464"/>
            <a:ext cx="2286000" cy="420624"/>
          </a:xfrm>
          <a:prstGeom prst="rect">
            <a:avLst/>
          </a:prstGeom>
          <a:noFill/>
        </p:spPr>
        <p:txBody>
          <a:bodyPr wrap="square" lIns="0" rIns="0" tIns="0" bIns="0" anchor="ctr">
            <a:spAutoFit/>
          </a:bodyPr>
          <a:lstStyle/>
          <a:p>
            <a:pPr algn="l">
              <a:spcAft>
                <a:spcPts val="0"/>
              </a:spcAft>
            </a:pPr>
            <a:r>
              <a:rPr sz="1019" b="1" i="0">
                <a:solidFill>
                  <a:srgbClr val="263746"/>
                </a:solidFill>
                <a:latin typeface="Arial"/>
              </a:rPr>
              <a:t>Cdk1 and Nusap1 crossed the stability rule only with guidance.</a:t>
            </a:r>
          </a:p>
        </p:txBody>
      </p:sp>
      <p:sp>
        <p:nvSpPr>
          <p:cNvPr id="98" name="Rectangle 97"/>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0080" y="5797296"/>
            <a:ext cx="526694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Synthetic profiles change feature priority, not biological sample size.</a:t>
            </a:r>
          </a:p>
        </p:txBody>
      </p:sp>
      <p:sp>
        <p:nvSpPr>
          <p:cNvPr id="100" name="TextBox 99"/>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FLT-GC effects and BH FDR still use observed OSDR profiles.</a:t>
            </a:r>
          </a:p>
        </p:txBody>
      </p:sp>
      <p:sp>
        <p:nvSpPr>
          <p:cNvPr id="101" name="TextBox 10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Common 2D classifier view is schematic; underlying models use different selected genes. Thymus counts are observed results from Table S10.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