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card shows alternatives available at one pipeline stage, and the heavy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Both WGAN-GP and DDIM had high correlation and F1. DDIM had adversarial accuracy near 0.5 and a lower Frechet-distance ratio, so it was harder to separate from real profiles and closer in distribution. The metrics use each model's stated evaluation split. These results are why the remaining analyses use DDIM.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A reinforced gene is not automatically literature aligned, and an aligning gene can still be promoted.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narrative focuses later, but no completed tissue result is hidden.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The explicit P and R tags show promoted versus reinforced selection. Gene color independently shows aligning, complementary, ambiguous or unmatched literature. FLT-higher and FLT-lower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The literature is mixed for Bnip3 and Tpm1, which is recorded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Read these as separate hypotheses, not as grouped biology.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The useful role was tissue-specific feature ranking or limited regularization, not increasing biological sample size. Literature annotation then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Each stage exposes alternatives; a strong outline marks the configuration used downstream.</a:t>
            </a:r>
          </a:p>
        </p:txBody>
      </p:sp>
      <p:sp>
        <p:nvSpPr>
          <p:cNvPr id="7" name="Rounded Rectangle 6"/>
          <p:cNvSpPr/>
          <p:nvPr/>
        </p:nvSpPr>
        <p:spPr>
          <a:xfrm>
            <a:off x="320040" y="1828800"/>
            <a:ext cx="2148840" cy="3063240"/>
          </a:xfrm>
          <a:prstGeom prst="round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66344" y="1993392"/>
            <a:ext cx="292608" cy="29260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1</a:t>
            </a:r>
          </a:p>
        </p:txBody>
      </p:sp>
      <p:sp>
        <p:nvSpPr>
          <p:cNvPr id="10" name="TextBox 9"/>
          <p:cNvSpPr txBox="1"/>
          <p:nvPr/>
        </p:nvSpPr>
        <p:spPr>
          <a:xfrm>
            <a:off x="85039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2D6496"/>
                </a:solidFill>
                <a:latin typeface="Arial"/>
              </a:rPr>
              <a:t>Data scope</a:t>
            </a:r>
          </a:p>
        </p:txBody>
      </p:sp>
      <p:sp>
        <p:nvSpPr>
          <p:cNvPr id="11" name="Rectangle 10"/>
          <p:cNvSpPr/>
          <p:nvPr/>
        </p:nvSpPr>
        <p:spPr>
          <a:xfrm>
            <a:off x="466344" y="2359152"/>
            <a:ext cx="1856231"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3" name="Rounded Rectangle 12"/>
          <p:cNvSpPr/>
          <p:nvPr/>
        </p:nvSpPr>
        <p:spPr>
          <a:xfrm>
            <a:off x="466344" y="2688336"/>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16636" y="2827324"/>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OSDR API</a:t>
            </a:r>
          </a:p>
        </p:txBody>
      </p:sp>
      <p:sp>
        <p:nvSpPr>
          <p:cNvPr id="16" name="Rounded Rectangle 15"/>
          <p:cNvSpPr/>
          <p:nvPr/>
        </p:nvSpPr>
        <p:spPr>
          <a:xfrm>
            <a:off x="1417319" y="2688336"/>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467611" y="2827324"/>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79"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ARCHS4</a:t>
            </a:r>
          </a:p>
        </p:txBody>
      </p:sp>
      <p:sp>
        <p:nvSpPr>
          <p:cNvPr id="19" name="TextBox 18"/>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0" name="Rounded Rectangle 19"/>
          <p:cNvSpPr/>
          <p:nvPr/>
        </p:nvSpPr>
        <p:spPr>
          <a:xfrm>
            <a:off x="466344" y="3383280"/>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208" y="3433572"/>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Single</a:t>
            </a:r>
          </a:p>
        </p:txBody>
      </p:sp>
      <p:sp>
        <p:nvSpPr>
          <p:cNvPr id="22" name="Rounded Rectangle 21"/>
          <p:cNvSpPr/>
          <p:nvPr/>
        </p:nvSpPr>
        <p:spPr>
          <a:xfrm>
            <a:off x="1417319" y="3383280"/>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467611" y="3522268"/>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54479" y="3433572"/>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Multiple</a:t>
            </a:r>
          </a:p>
        </p:txBody>
      </p:sp>
      <p:sp>
        <p:nvSpPr>
          <p:cNvPr id="25" name="TextBox 24"/>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6" name="Rounded Rectangle 25"/>
          <p:cNvSpPr/>
          <p:nvPr/>
        </p:nvSpPr>
        <p:spPr>
          <a:xfrm>
            <a:off x="466344" y="4078224"/>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 y="4128515"/>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Per tissue</a:t>
            </a:r>
          </a:p>
        </p:txBody>
      </p:sp>
      <p:sp>
        <p:nvSpPr>
          <p:cNvPr id="28" name="Rounded Rectangle 27"/>
          <p:cNvSpPr/>
          <p:nvPr/>
        </p:nvSpPr>
        <p:spPr>
          <a:xfrm>
            <a:off x="1417319" y="4078224"/>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467611" y="4217212"/>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54479" y="4128515"/>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All tissues</a:t>
            </a:r>
          </a:p>
        </p:txBody>
      </p:sp>
      <p:sp>
        <p:nvSpPr>
          <p:cNvPr id="31" name="Rounded Rectangle 30"/>
          <p:cNvSpPr/>
          <p:nvPr/>
        </p:nvSpPr>
        <p:spPr>
          <a:xfrm>
            <a:off x="2651760" y="1828800"/>
            <a:ext cx="2148840" cy="3063240"/>
          </a:xfrm>
          <a:prstGeom prst="round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798064" y="1993392"/>
            <a:ext cx="292608" cy="29260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9806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2</a:t>
            </a:r>
          </a:p>
        </p:txBody>
      </p:sp>
      <p:sp>
        <p:nvSpPr>
          <p:cNvPr id="34" name="TextBox 33"/>
          <p:cNvSpPr txBox="1"/>
          <p:nvPr/>
        </p:nvSpPr>
        <p:spPr>
          <a:xfrm>
            <a:off x="318211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178681"/>
                </a:solidFill>
                <a:latin typeface="Arial"/>
              </a:rPr>
              <a:t>Transform</a:t>
            </a:r>
          </a:p>
        </p:txBody>
      </p:sp>
      <p:sp>
        <p:nvSpPr>
          <p:cNvPr id="35" name="Rectangle 34"/>
          <p:cNvSpPr/>
          <p:nvPr/>
        </p:nvSpPr>
        <p:spPr>
          <a:xfrm>
            <a:off x="2798064" y="2359152"/>
            <a:ext cx="1856231"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7" name="Rounded Rectangle 36"/>
          <p:cNvSpPr/>
          <p:nvPr/>
        </p:nvSpPr>
        <p:spPr>
          <a:xfrm>
            <a:off x="2798064" y="2688336"/>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52928" y="2738628"/>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Raw</a:t>
            </a:r>
          </a:p>
        </p:txBody>
      </p:sp>
      <p:sp>
        <p:nvSpPr>
          <p:cNvPr id="39" name="Rounded Rectangle 38"/>
          <p:cNvSpPr/>
          <p:nvPr/>
        </p:nvSpPr>
        <p:spPr>
          <a:xfrm>
            <a:off x="3432048" y="2688336"/>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86912" y="2738628"/>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CPM</a:t>
            </a:r>
          </a:p>
        </p:txBody>
      </p:sp>
      <p:sp>
        <p:nvSpPr>
          <p:cNvPr id="41" name="Rounded Rectangle 40"/>
          <p:cNvSpPr/>
          <p:nvPr/>
        </p:nvSpPr>
        <p:spPr>
          <a:xfrm>
            <a:off x="4066031" y="2688336"/>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116323" y="2827324"/>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03192" y="2738628"/>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TPM</a:t>
            </a:r>
          </a:p>
        </p:txBody>
      </p:sp>
      <p:sp>
        <p:nvSpPr>
          <p:cNvPr id="44" name="TextBox 43"/>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5" name="Rounded Rectangle 44"/>
          <p:cNvSpPr/>
          <p:nvPr/>
        </p:nvSpPr>
        <p:spPr>
          <a:xfrm>
            <a:off x="2798064" y="3383280"/>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852928" y="3433572"/>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None</a:t>
            </a:r>
          </a:p>
        </p:txBody>
      </p:sp>
      <p:sp>
        <p:nvSpPr>
          <p:cNvPr id="47" name="Rounded Rectangle 46"/>
          <p:cNvSpPr/>
          <p:nvPr/>
        </p:nvSpPr>
        <p:spPr>
          <a:xfrm>
            <a:off x="3432048" y="3383280"/>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86912" y="3433572"/>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Z-score</a:t>
            </a:r>
          </a:p>
        </p:txBody>
      </p:sp>
      <p:sp>
        <p:nvSpPr>
          <p:cNvPr id="49" name="Rounded Rectangle 48"/>
          <p:cNvSpPr/>
          <p:nvPr/>
        </p:nvSpPr>
        <p:spPr>
          <a:xfrm>
            <a:off x="4066031" y="3383280"/>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116323" y="3522268"/>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3192" y="3433572"/>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MaxAbs</a:t>
            </a:r>
          </a:p>
        </p:txBody>
      </p:sp>
      <p:sp>
        <p:nvSpPr>
          <p:cNvPr id="52" name="TextBox 51"/>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53" name="Rounded Rectangle 52"/>
          <p:cNvSpPr/>
          <p:nvPr/>
        </p:nvSpPr>
        <p:spPr>
          <a:xfrm>
            <a:off x="2798064" y="4078224"/>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852928" y="4128515"/>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All</a:t>
            </a:r>
          </a:p>
        </p:txBody>
      </p:sp>
      <p:sp>
        <p:nvSpPr>
          <p:cNvPr id="55" name="Rounded Rectangle 54"/>
          <p:cNvSpPr/>
          <p:nvPr/>
        </p:nvSpPr>
        <p:spPr>
          <a:xfrm>
            <a:off x="3432048" y="4078224"/>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486912" y="4128515"/>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HVG</a:t>
            </a:r>
          </a:p>
        </p:txBody>
      </p:sp>
      <p:sp>
        <p:nvSpPr>
          <p:cNvPr id="57" name="Rounded Rectangle 56"/>
          <p:cNvSpPr/>
          <p:nvPr/>
        </p:nvSpPr>
        <p:spPr>
          <a:xfrm>
            <a:off x="4066031" y="4078224"/>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116323" y="4217212"/>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203192" y="4128515"/>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L1000</a:t>
            </a:r>
          </a:p>
        </p:txBody>
      </p:sp>
      <p:sp>
        <p:nvSpPr>
          <p:cNvPr id="60" name="Rounded Rectangle 59"/>
          <p:cNvSpPr/>
          <p:nvPr/>
        </p:nvSpPr>
        <p:spPr>
          <a:xfrm>
            <a:off x="4983480" y="1828800"/>
            <a:ext cx="2148840" cy="3063240"/>
          </a:xfrm>
          <a:prstGeom prst="round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29784" y="1993392"/>
            <a:ext cx="292608" cy="29260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2978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3</a:t>
            </a:r>
          </a:p>
        </p:txBody>
      </p:sp>
      <p:sp>
        <p:nvSpPr>
          <p:cNvPr id="63" name="TextBox 62"/>
          <p:cNvSpPr txBox="1"/>
          <p:nvPr/>
        </p:nvSpPr>
        <p:spPr>
          <a:xfrm>
            <a:off x="551383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8063A6"/>
                </a:solidFill>
                <a:latin typeface="Arial"/>
              </a:rPr>
              <a:t>Harmonization</a:t>
            </a:r>
          </a:p>
        </p:txBody>
      </p:sp>
      <p:sp>
        <p:nvSpPr>
          <p:cNvPr id="64" name="Rectangle 63"/>
          <p:cNvSpPr/>
          <p:nvPr/>
        </p:nvSpPr>
        <p:spPr>
          <a:xfrm>
            <a:off x="5129784" y="2359152"/>
            <a:ext cx="1856231"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66" name="Rounded Rectangle 65"/>
          <p:cNvSpPr/>
          <p:nvPr/>
        </p:nvSpPr>
        <p:spPr>
          <a:xfrm>
            <a:off x="5129784" y="2688336"/>
            <a:ext cx="1856231" cy="329184"/>
          </a:xfrm>
          <a:prstGeom prst="roundRect">
            <a:avLst/>
          </a:prstGeom>
          <a:solidFill>
            <a:srgbClr val="FFFFFF"/>
          </a:solidFill>
          <a:ln w="2540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5180076" y="2827324"/>
            <a:ext cx="50292" cy="5029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266944" y="2738628"/>
            <a:ext cx="1691639" cy="210312"/>
          </a:xfrm>
          <a:prstGeom prst="rect">
            <a:avLst/>
          </a:prstGeom>
          <a:noFill/>
        </p:spPr>
        <p:txBody>
          <a:bodyPr wrap="square" lIns="0" rIns="0" tIns="0" bIns="0" anchor="ctr">
            <a:spAutoFit/>
          </a:bodyPr>
          <a:lstStyle/>
          <a:p>
            <a:pPr algn="ctr">
              <a:spcAft>
                <a:spcPts val="0"/>
              </a:spcAft>
            </a:pPr>
            <a:r>
              <a:rPr sz="919" b="1" i="0">
                <a:solidFill>
                  <a:srgbClr val="263746"/>
                </a:solidFill>
                <a:latin typeface="Arial"/>
              </a:rPr>
              <a:t>None</a:t>
            </a:r>
          </a:p>
        </p:txBody>
      </p:sp>
      <p:sp>
        <p:nvSpPr>
          <p:cNvPr id="69" name="Rounded Rectangle 68"/>
          <p:cNvSpPr/>
          <p:nvPr/>
        </p:nvSpPr>
        <p:spPr>
          <a:xfrm>
            <a:off x="5129784" y="3145536"/>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184648" y="3195828"/>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Within-study z-score</a:t>
            </a:r>
          </a:p>
        </p:txBody>
      </p:sp>
      <p:sp>
        <p:nvSpPr>
          <p:cNvPr id="71" name="Rounded Rectangle 70"/>
          <p:cNvSpPr/>
          <p:nvPr/>
        </p:nvSpPr>
        <p:spPr>
          <a:xfrm>
            <a:off x="5129784" y="3602736"/>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184648" y="3653028"/>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ComBat / MBatch</a:t>
            </a:r>
          </a:p>
        </p:txBody>
      </p:sp>
      <p:sp>
        <p:nvSpPr>
          <p:cNvPr id="73" name="Rounded Rectangle 72"/>
          <p:cNvSpPr/>
          <p:nvPr/>
        </p:nvSpPr>
        <p:spPr>
          <a:xfrm>
            <a:off x="5129784" y="4059935"/>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84648" y="4110227"/>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MOBER</a:t>
            </a:r>
          </a:p>
        </p:txBody>
      </p:sp>
      <p:sp>
        <p:nvSpPr>
          <p:cNvPr id="75" name="Rounded Rectangle 74"/>
          <p:cNvSpPr/>
          <p:nvPr/>
        </p:nvSpPr>
        <p:spPr>
          <a:xfrm>
            <a:off x="7315200" y="1828800"/>
            <a:ext cx="2148840" cy="3063240"/>
          </a:xfrm>
          <a:prstGeom prst="round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461504" y="1993392"/>
            <a:ext cx="292608" cy="29260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46150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4</a:t>
            </a:r>
          </a:p>
        </p:txBody>
      </p:sp>
      <p:sp>
        <p:nvSpPr>
          <p:cNvPr id="78" name="TextBox 77"/>
          <p:cNvSpPr txBox="1"/>
          <p:nvPr/>
        </p:nvSpPr>
        <p:spPr>
          <a:xfrm>
            <a:off x="784555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D37B00"/>
                </a:solidFill>
                <a:latin typeface="Arial"/>
              </a:rPr>
              <a:t>Model training</a:t>
            </a:r>
          </a:p>
        </p:txBody>
      </p:sp>
      <p:sp>
        <p:nvSpPr>
          <p:cNvPr id="79" name="Rectangle 78"/>
          <p:cNvSpPr/>
          <p:nvPr/>
        </p:nvSpPr>
        <p:spPr>
          <a:xfrm>
            <a:off x="7461504" y="2359152"/>
            <a:ext cx="1856231"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81" name="Rounded Rectangle 80"/>
          <p:cNvSpPr/>
          <p:nvPr/>
        </p:nvSpPr>
        <p:spPr>
          <a:xfrm>
            <a:off x="7461504" y="2688336"/>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516368" y="2738628"/>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WGAN-GP</a:t>
            </a:r>
          </a:p>
        </p:txBody>
      </p:sp>
      <p:sp>
        <p:nvSpPr>
          <p:cNvPr id="83" name="Rounded Rectangle 82"/>
          <p:cNvSpPr/>
          <p:nvPr/>
        </p:nvSpPr>
        <p:spPr>
          <a:xfrm>
            <a:off x="8412480" y="2688336"/>
            <a:ext cx="905255"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462772" y="2827324"/>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549640"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DDIM</a:t>
            </a:r>
          </a:p>
        </p:txBody>
      </p:sp>
      <p:sp>
        <p:nvSpPr>
          <p:cNvPr id="86" name="TextBox 85"/>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87" name="Rounded Rectangle 86"/>
          <p:cNvSpPr/>
          <p:nvPr/>
        </p:nvSpPr>
        <p:spPr>
          <a:xfrm>
            <a:off x="7461504" y="338328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516368" y="3433572"/>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OSDR only</a:t>
            </a:r>
          </a:p>
        </p:txBody>
      </p:sp>
      <p:sp>
        <p:nvSpPr>
          <p:cNvPr id="89" name="Rounded Rectangle 88"/>
          <p:cNvSpPr/>
          <p:nvPr/>
        </p:nvSpPr>
        <p:spPr>
          <a:xfrm>
            <a:off x="7461504" y="384048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516368" y="3890772"/>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ARCHS4 only</a:t>
            </a:r>
          </a:p>
        </p:txBody>
      </p:sp>
      <p:sp>
        <p:nvSpPr>
          <p:cNvPr id="91" name="Rounded Rectangle 90"/>
          <p:cNvSpPr/>
          <p:nvPr/>
        </p:nvSpPr>
        <p:spPr>
          <a:xfrm>
            <a:off x="7461504" y="4297680"/>
            <a:ext cx="1856231"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511796" y="4436668"/>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598664" y="4347972"/>
            <a:ext cx="1691639" cy="210312"/>
          </a:xfrm>
          <a:prstGeom prst="rect">
            <a:avLst/>
          </a:prstGeom>
          <a:noFill/>
        </p:spPr>
        <p:txBody>
          <a:bodyPr wrap="square" lIns="0" rIns="0" tIns="0" bIns="0" anchor="ctr">
            <a:spAutoFit/>
          </a:bodyPr>
          <a:lstStyle/>
          <a:p>
            <a:pPr algn="ctr">
              <a:spcAft>
                <a:spcPts val="0"/>
              </a:spcAft>
            </a:pPr>
            <a:r>
              <a:rPr sz="919" b="1" i="0">
                <a:solidFill>
                  <a:srgbClr val="263746"/>
                </a:solidFill>
                <a:latin typeface="Arial"/>
              </a:rPr>
              <a:t>Pretrain + adapt</a:t>
            </a:r>
          </a:p>
        </p:txBody>
      </p:sp>
      <p:sp>
        <p:nvSpPr>
          <p:cNvPr id="94" name="Rounded Rectangle 93"/>
          <p:cNvSpPr/>
          <p:nvPr/>
        </p:nvSpPr>
        <p:spPr>
          <a:xfrm>
            <a:off x="9646920" y="1828800"/>
            <a:ext cx="2148840" cy="3063240"/>
          </a:xfrm>
          <a:prstGeom prst="round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9793224" y="1993392"/>
            <a:ext cx="292608" cy="29260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79322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5</a:t>
            </a:r>
          </a:p>
        </p:txBody>
      </p:sp>
      <p:sp>
        <p:nvSpPr>
          <p:cNvPr id="97" name="TextBox 96"/>
          <p:cNvSpPr txBox="1"/>
          <p:nvPr/>
        </p:nvSpPr>
        <p:spPr>
          <a:xfrm>
            <a:off x="1017727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478A64"/>
                </a:solidFill>
                <a:latin typeface="Arial"/>
              </a:rPr>
              <a:t>Conditioning</a:t>
            </a:r>
          </a:p>
        </p:txBody>
      </p:sp>
      <p:sp>
        <p:nvSpPr>
          <p:cNvPr id="98" name="Rectangle 97"/>
          <p:cNvSpPr/>
          <p:nvPr/>
        </p:nvSpPr>
        <p:spPr>
          <a:xfrm>
            <a:off x="9793224" y="2359152"/>
            <a:ext cx="1856231" cy="2286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100" name="Rounded Rectangle 99"/>
          <p:cNvSpPr/>
          <p:nvPr/>
        </p:nvSpPr>
        <p:spPr>
          <a:xfrm>
            <a:off x="9793224" y="2670048"/>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843516" y="2809036"/>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930384" y="2720340"/>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Tissue</a:t>
            </a:r>
          </a:p>
        </p:txBody>
      </p:sp>
      <p:sp>
        <p:nvSpPr>
          <p:cNvPr id="103" name="Rounded Rectangle 102"/>
          <p:cNvSpPr/>
          <p:nvPr/>
        </p:nvSpPr>
        <p:spPr>
          <a:xfrm>
            <a:off x="9793224" y="3054096"/>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843516" y="3193084"/>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930384" y="3104388"/>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FLT / GC</a:t>
            </a:r>
          </a:p>
        </p:txBody>
      </p:sp>
      <p:sp>
        <p:nvSpPr>
          <p:cNvPr id="106" name="Rounded Rectangle 105"/>
          <p:cNvSpPr/>
          <p:nvPr/>
        </p:nvSpPr>
        <p:spPr>
          <a:xfrm>
            <a:off x="9793224" y="3438144"/>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9843516" y="3577132"/>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930384" y="3488436"/>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Accession</a:t>
            </a:r>
          </a:p>
        </p:txBody>
      </p:sp>
      <p:sp>
        <p:nvSpPr>
          <p:cNvPr id="109" name="Rounded Rectangle 108"/>
          <p:cNvSpPr/>
          <p:nvPr/>
        </p:nvSpPr>
        <p:spPr>
          <a:xfrm>
            <a:off x="9793224" y="3822191"/>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9843516" y="3961180"/>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930384" y="3872483"/>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Material type</a:t>
            </a:r>
          </a:p>
        </p:txBody>
      </p:sp>
      <p:sp>
        <p:nvSpPr>
          <p:cNvPr id="112" name="Rounded Rectangle 111"/>
          <p:cNvSpPr/>
          <p:nvPr/>
        </p:nvSpPr>
        <p:spPr>
          <a:xfrm>
            <a:off x="9793224" y="420624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9848088" y="4256531"/>
            <a:ext cx="1746503" cy="210312"/>
          </a:xfrm>
          <a:prstGeom prst="rect">
            <a:avLst/>
          </a:prstGeom>
          <a:noFill/>
        </p:spPr>
        <p:txBody>
          <a:bodyPr wrap="square" lIns="0" rIns="0" tIns="0" bIns="0" anchor="ctr">
            <a:spAutoFit/>
          </a:bodyPr>
          <a:lstStyle/>
          <a:p>
            <a:pPr algn="ctr">
              <a:spcAft>
                <a:spcPts val="0"/>
              </a:spcAft>
            </a:pPr>
            <a:r>
              <a:rPr sz="890" b="0" i="0">
                <a:solidFill>
                  <a:srgbClr val="59697A"/>
                </a:solidFill>
                <a:latin typeface="Arial"/>
              </a:rPr>
              <a:t>Sex / age</a:t>
            </a:r>
          </a:p>
        </p:txBody>
      </p:sp>
      <p:sp>
        <p:nvSpPr>
          <p:cNvPr id="114" name="Rounded Rectangle 113"/>
          <p:cNvSpPr/>
          <p:nvPr/>
        </p:nvSpPr>
        <p:spPr>
          <a:xfrm>
            <a:off x="320040" y="5120640"/>
            <a:ext cx="11475720" cy="1097280"/>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85216" y="5321808"/>
            <a:ext cx="1298448" cy="228600"/>
          </a:xfrm>
          <a:prstGeom prst="rect">
            <a:avLst/>
          </a:prstGeom>
          <a:noFill/>
        </p:spPr>
        <p:txBody>
          <a:bodyPr wrap="square" lIns="18288" rIns="18288" tIns="18288" bIns="18288" anchor="t">
            <a:spAutoFit/>
          </a:bodyPr>
          <a:lstStyle/>
          <a:p>
            <a:pPr algn="l">
              <a:spcAft>
                <a:spcPts val="0"/>
              </a:spcAft>
            </a:pPr>
            <a:r>
              <a:rPr sz="1080" b="1" i="0">
                <a:solidFill>
                  <a:srgbClr val="9A6B20"/>
                </a:solidFill>
                <a:latin typeface="Arial"/>
              </a:rPr>
              <a:t>Selected branch</a:t>
            </a:r>
          </a:p>
        </p:txBody>
      </p:sp>
      <p:sp>
        <p:nvSpPr>
          <p:cNvPr id="116" name="TextBox 115"/>
          <p:cNvSpPr txBox="1"/>
          <p:nvPr/>
        </p:nvSpPr>
        <p:spPr>
          <a:xfrm>
            <a:off x="585216" y="5669280"/>
            <a:ext cx="1234440" cy="256032"/>
          </a:xfrm>
          <a:prstGeom prst="rect">
            <a:avLst/>
          </a:prstGeom>
          <a:noFill/>
        </p:spPr>
        <p:txBody>
          <a:bodyPr wrap="square" lIns="18288" rIns="18288" tIns="18288" bIns="18288" anchor="t">
            <a:spAutoFit/>
          </a:bodyPr>
          <a:lstStyle/>
          <a:p>
            <a:pPr algn="l">
              <a:spcAft>
                <a:spcPts val="0"/>
              </a:spcAft>
            </a:pPr>
            <a:r>
              <a:rPr sz="1050" b="0" i="0">
                <a:solidFill>
                  <a:srgbClr val="59697A"/>
                </a:solidFill>
                <a:latin typeface="Arial"/>
              </a:rPr>
              <a:t>No global correction</a:t>
            </a:r>
          </a:p>
        </p:txBody>
      </p:sp>
      <p:sp>
        <p:nvSpPr>
          <p:cNvPr id="117" name="Rounded Rectangle 116"/>
          <p:cNvSpPr/>
          <p:nvPr/>
        </p:nvSpPr>
        <p:spPr>
          <a:xfrm>
            <a:off x="1938528" y="5303520"/>
            <a:ext cx="1591056"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988820" y="5442508"/>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075688" y="5353812"/>
            <a:ext cx="1426464" cy="210312"/>
          </a:xfrm>
          <a:prstGeom prst="rect">
            <a:avLst/>
          </a:prstGeom>
          <a:noFill/>
        </p:spPr>
        <p:txBody>
          <a:bodyPr wrap="square" lIns="0" rIns="0" tIns="0" bIns="0" anchor="ctr">
            <a:spAutoFit/>
          </a:bodyPr>
          <a:lstStyle/>
          <a:p>
            <a:pPr algn="ctr">
              <a:spcAft>
                <a:spcPts val="0"/>
              </a:spcAft>
            </a:pPr>
            <a:r>
              <a:rPr sz="930" b="1" i="0">
                <a:solidFill>
                  <a:srgbClr val="263746"/>
                </a:solidFill>
                <a:latin typeface="Arial"/>
              </a:rPr>
              <a:t>ARCHS4 pretrain</a:t>
            </a:r>
          </a:p>
        </p:txBody>
      </p:sp>
      <p:sp>
        <p:nvSpPr>
          <p:cNvPr id="120" name="Right Arrow 119"/>
          <p:cNvSpPr/>
          <p:nvPr/>
        </p:nvSpPr>
        <p:spPr>
          <a:xfrm>
            <a:off x="3584448" y="5367528"/>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3858768" y="5303520"/>
            <a:ext cx="1591056"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3909059" y="5442508"/>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995928" y="5353812"/>
            <a:ext cx="1426464" cy="210312"/>
          </a:xfrm>
          <a:prstGeom prst="rect">
            <a:avLst/>
          </a:prstGeom>
          <a:noFill/>
        </p:spPr>
        <p:txBody>
          <a:bodyPr wrap="square" lIns="0" rIns="0" tIns="0" bIns="0" anchor="ctr">
            <a:spAutoFit/>
          </a:bodyPr>
          <a:lstStyle/>
          <a:p>
            <a:pPr algn="ctr">
              <a:spcAft>
                <a:spcPts val="0"/>
              </a:spcAft>
            </a:pPr>
            <a:r>
              <a:rPr sz="930" b="1" i="0">
                <a:solidFill>
                  <a:srgbClr val="263746"/>
                </a:solidFill>
                <a:latin typeface="Arial"/>
              </a:rPr>
              <a:t>OSDR adaptation</a:t>
            </a:r>
          </a:p>
        </p:txBody>
      </p:sp>
      <p:sp>
        <p:nvSpPr>
          <p:cNvPr id="124" name="Right Arrow 123"/>
          <p:cNvSpPr/>
          <p:nvPr/>
        </p:nvSpPr>
        <p:spPr>
          <a:xfrm>
            <a:off x="5504688" y="5367528"/>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5779008" y="5303520"/>
            <a:ext cx="1591056"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5829300" y="5442508"/>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916168" y="5353812"/>
            <a:ext cx="1426464" cy="210312"/>
          </a:xfrm>
          <a:prstGeom prst="rect">
            <a:avLst/>
          </a:prstGeom>
          <a:noFill/>
        </p:spPr>
        <p:txBody>
          <a:bodyPr wrap="square" lIns="0" rIns="0" tIns="0" bIns="0" anchor="ctr">
            <a:spAutoFit/>
          </a:bodyPr>
          <a:lstStyle/>
          <a:p>
            <a:pPr algn="ctr">
              <a:spcAft>
                <a:spcPts val="0"/>
              </a:spcAft>
            </a:pPr>
            <a:r>
              <a:rPr sz="930" b="1" i="0">
                <a:solidFill>
                  <a:srgbClr val="263746"/>
                </a:solidFill>
                <a:latin typeface="Arial"/>
              </a:rPr>
              <a:t>Conditional DDIM</a:t>
            </a:r>
          </a:p>
        </p:txBody>
      </p:sp>
      <p:sp>
        <p:nvSpPr>
          <p:cNvPr id="128" name="TextBox 127"/>
          <p:cNvSpPr txBox="1"/>
          <p:nvPr/>
        </p:nvSpPr>
        <p:spPr>
          <a:xfrm>
            <a:off x="7699248" y="5276088"/>
            <a:ext cx="3675887" cy="246888"/>
          </a:xfrm>
          <a:prstGeom prst="rect">
            <a:avLst/>
          </a:prstGeom>
          <a:noFill/>
        </p:spPr>
        <p:txBody>
          <a:bodyPr wrap="square" lIns="18288" rIns="18288" tIns="18288" bIns="18288" anchor="t">
            <a:spAutoFit/>
          </a:bodyPr>
          <a:lstStyle/>
          <a:p>
            <a:pPr algn="l">
              <a:spcAft>
                <a:spcPts val="0"/>
              </a:spcAft>
            </a:pPr>
            <a:r>
              <a:rPr sz="1170" b="1" i="0">
                <a:solidFill>
                  <a:srgbClr val="082B55"/>
                </a:solidFill>
                <a:latin typeface="Arial"/>
              </a:rPr>
              <a:t>TPM | MaxAbs | 974 landmarks</a:t>
            </a:r>
          </a:p>
        </p:txBody>
      </p:sp>
      <p:sp>
        <p:nvSpPr>
          <p:cNvPr id="129" name="TextBox 128"/>
          <p:cNvSpPr txBox="1"/>
          <p:nvPr/>
        </p:nvSpPr>
        <p:spPr>
          <a:xfrm>
            <a:off x="7699248" y="5614416"/>
            <a:ext cx="3675887" cy="246888"/>
          </a:xfrm>
          <a:prstGeom prst="rect">
            <a:avLst/>
          </a:prstGeom>
          <a:noFill/>
        </p:spPr>
        <p:txBody>
          <a:bodyPr wrap="square" lIns="18288" rIns="18288" tIns="18288" bIns="18288" anchor="t">
            <a:spAutoFit/>
          </a:bodyPr>
          <a:lstStyle/>
          <a:p>
            <a:pPr algn="l">
              <a:spcAft>
                <a:spcPts val="0"/>
              </a:spcAft>
            </a:pPr>
            <a:r>
              <a:rPr sz="1080" b="0" i="0">
                <a:solidFill>
                  <a:srgbClr val="263746"/>
                </a:solidFill>
                <a:latin typeface="Arial"/>
              </a:rPr>
              <a:t>Tissue | FLT / GC | Accession | Material type</a:t>
            </a:r>
          </a:p>
        </p:txBody>
      </p:sp>
      <p:sp>
        <p:nvSpPr>
          <p:cNvPr id="130" name="TextBox 1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2D6496"/>
                </a:solidFill>
                <a:latin typeface="Arial"/>
              </a:rPr>
              <a:t>Real only</a:t>
            </a:r>
          </a:p>
        </p:txBody>
      </p:sp>
      <p:sp>
        <p:nvSpPr>
          <p:cNvPr id="16" name="TextBox 15"/>
          <p:cNvSpPr txBox="1"/>
          <p:nvPr/>
        </p:nvSpPr>
        <p:spPr>
          <a:xfrm>
            <a:off x="342900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real
fit: real</a:t>
            </a:r>
          </a:p>
        </p:txBody>
      </p:sp>
      <p:sp>
        <p:nvSpPr>
          <p:cNvPr id="17" name="Rounded Rectangle 16"/>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3207"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96552"/>
                </a:solidFill>
                <a:latin typeface="Arial"/>
              </a:rPr>
              <a:t>Generated only</a:t>
            </a:r>
          </a:p>
        </p:txBody>
      </p:sp>
      <p:sp>
        <p:nvSpPr>
          <p:cNvPr id="19" name="TextBox 18"/>
          <p:cNvSpPr txBox="1"/>
          <p:nvPr/>
        </p:nvSpPr>
        <p:spPr>
          <a:xfrm>
            <a:off x="512064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generated
fit: generated</a:t>
            </a:r>
          </a:p>
        </p:txBody>
      </p:sp>
      <p:sp>
        <p:nvSpPr>
          <p:cNvPr id="20" name="Rounded Rectangle 19"/>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Real + generated</a:t>
            </a:r>
          </a:p>
        </p:txBody>
      </p:sp>
      <p:sp>
        <p:nvSpPr>
          <p:cNvPr id="22" name="TextBox 21"/>
          <p:cNvSpPr txBox="1"/>
          <p:nvPr/>
        </p:nvSpPr>
        <p:spPr>
          <a:xfrm>
            <a:off x="681228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equal weight</a:t>
            </a:r>
          </a:p>
        </p:txBody>
      </p:sp>
      <p:sp>
        <p:nvSpPr>
          <p:cNvPr id="23" name="Rounded Rectangle 22"/>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8063A6"/>
                </a:solidFill>
                <a:latin typeface="Arial"/>
              </a:rPr>
              <a:t>Guided, real fit</a:t>
            </a:r>
          </a:p>
        </p:txBody>
      </p:sp>
      <p:sp>
        <p:nvSpPr>
          <p:cNvPr id="25" name="TextBox 24"/>
          <p:cNvSpPr txBox="1"/>
          <p:nvPr/>
        </p:nvSpPr>
        <p:spPr>
          <a:xfrm>
            <a:off x="427939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a:t>
            </a:r>
          </a:p>
        </p:txBody>
      </p:sp>
      <p:sp>
        <p:nvSpPr>
          <p:cNvPr id="26" name="Rounded Rectangle 25"/>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37B00"/>
                </a:solidFill>
                <a:latin typeface="Arial"/>
              </a:rPr>
              <a:t>Guided, 5% synth.</a:t>
            </a:r>
          </a:p>
        </p:txBody>
      </p:sp>
      <p:sp>
        <p:nvSpPr>
          <p:cNvPr id="28" name="TextBox 27"/>
          <p:cNvSpPr txBox="1"/>
          <p:nvPr/>
        </p:nvSpPr>
        <p:spPr>
          <a:xfrm>
            <a:off x="597103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 + 5%</a:t>
            </a:r>
          </a:p>
        </p:txBody>
      </p:sp>
      <p:sp>
        <p:nvSpPr>
          <p:cNvPr id="29" name="Right Arrow 2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54312" y="2459736"/>
            <a:ext cx="2212848" cy="457200"/>
          </a:xfrm>
          <a:prstGeom prst="rect">
            <a:avLst/>
          </a:prstGeom>
          <a:noFill/>
        </p:spPr>
        <p:txBody>
          <a:bodyPr wrap="square" lIns="18288" rIns="18288" tIns="18288" bIns="18288" anchor="t">
            <a:spAutoFit/>
          </a:bodyPr>
          <a:lstStyle/>
          <a:p>
            <a:pPr algn="ctr">
              <a:spcAft>
                <a:spcPts val="0"/>
              </a:spcAft>
            </a:pPr>
            <a:r>
              <a:rPr sz="1700" b="1" i="0">
                <a:solidFill>
                  <a:srgbClr val="478A64"/>
                </a:solidFill>
                <a:latin typeface="Arial"/>
              </a:rPr>
              <a:t>Held-out real profiles</a:t>
            </a:r>
          </a:p>
        </p:txBody>
      </p:sp>
      <p:sp>
        <p:nvSpPr>
          <p:cNvPr id="32" name="TextBox 31"/>
          <p:cNvSpPr txBox="1"/>
          <p:nvPr/>
        </p:nvSpPr>
        <p:spPr>
          <a:xfrm>
            <a:off x="9400032" y="3063240"/>
            <a:ext cx="2103120" cy="329184"/>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BA | AUROC | AP</a:t>
            </a:r>
          </a:p>
        </p:txBody>
      </p:sp>
      <p:sp>
        <p:nvSpPr>
          <p:cNvPr id="33" name="TextBox 32"/>
          <p:cNvSpPr txBox="1"/>
          <p:nvPr/>
        </p:nvSpPr>
        <p:spPr>
          <a:xfrm>
            <a:off x="9400032" y="3502152"/>
            <a:ext cx="2103120" cy="4572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select one eligible arm
for each tissue</a:t>
            </a:r>
          </a:p>
        </p:txBody>
      </p:sp>
      <p:sp>
        <p:nvSpPr>
          <p:cNvPr id="34" name="Rounded Rectangle 33"/>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36" name="TextBox 35"/>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37" name="TextBox 36"/>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640080" y="54864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1" name="Rectangle 10"/>
          <p:cNvSpPr/>
          <p:nvPr/>
        </p:nvSpPr>
        <p:spPr>
          <a:xfrm>
            <a:off x="640080" y="41148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3" name="Rectangle 12"/>
          <p:cNvSpPr/>
          <p:nvPr/>
        </p:nvSpPr>
        <p:spPr>
          <a:xfrm>
            <a:off x="640080" y="27432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5" name="Rectangle 14"/>
          <p:cNvSpPr/>
          <p:nvPr/>
        </p:nvSpPr>
        <p:spPr>
          <a:xfrm>
            <a:off x="713232"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7" name="TextBox 16"/>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8" name="Rectangle 17"/>
          <p:cNvSpPr/>
          <p:nvPr/>
        </p:nvSpPr>
        <p:spPr>
          <a:xfrm>
            <a:off x="1591056"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0" name="TextBox 19"/>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21" name="Rectangle 20"/>
          <p:cNvSpPr/>
          <p:nvPr/>
        </p:nvSpPr>
        <p:spPr>
          <a:xfrm>
            <a:off x="2468880"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3" name="TextBox 22"/>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24" name="Rectangle 23"/>
          <p:cNvSpPr/>
          <p:nvPr/>
        </p:nvSpPr>
        <p:spPr>
          <a:xfrm>
            <a:off x="640080" y="5486400"/>
            <a:ext cx="2633472"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(0-1)</a:t>
            </a:r>
          </a:p>
        </p:txBody>
      </p:sp>
      <p:sp>
        <p:nvSpPr>
          <p:cNvPr id="26" name="Rounded Rectangle 25"/>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8"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9" name="TextBox 28"/>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0" name="TextBox 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ounded Rectangle 15"/>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ounded Rectangle 27"/>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ounded Rectangle 29"/>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Rounded Rectangle 6"/>
          <p:cNvSpPr/>
          <p:nvPr/>
        </p:nvSpPr>
        <p:spPr>
          <a:xfrm>
            <a:off x="411480" y="1828800"/>
            <a:ext cx="2331720" cy="832104"/>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2D6496"/>
                </a:solidFill>
                <a:latin typeface="Arial"/>
              </a:rPr>
              <a:t>1  Candidate</a:t>
            </a:r>
          </a:p>
        </p:txBody>
      </p:sp>
      <p:sp>
        <p:nvSpPr>
          <p:cNvPr id="9" name="TextBox 8"/>
          <p:cNvSpPr txBox="1"/>
          <p:nvPr/>
        </p:nvSpPr>
        <p:spPr>
          <a:xfrm>
            <a:off x="557784"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Gene + tissue +
FLT direction</a:t>
            </a:r>
          </a:p>
        </p:txBody>
      </p:sp>
      <p:sp>
        <p:nvSpPr>
          <p:cNvPr id="10" name="Right Arrow 9"/>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64408" y="1828800"/>
            <a:ext cx="2331720" cy="832104"/>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178681"/>
                </a:solidFill>
                <a:latin typeface="Arial"/>
              </a:rPr>
              <a:t>2  Search</a:t>
            </a:r>
          </a:p>
        </p:txBody>
      </p:sp>
      <p:sp>
        <p:nvSpPr>
          <p:cNvPr id="13" name="TextBox 12"/>
          <p:cNvSpPr txBox="1"/>
          <p:nvPr/>
        </p:nvSpPr>
        <p:spPr>
          <a:xfrm>
            <a:off x="3410712"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Spaceflight +
mechanism literature</a:t>
            </a:r>
          </a:p>
        </p:txBody>
      </p:sp>
      <p:sp>
        <p:nvSpPr>
          <p:cNvPr id="14" name="Right Arrow 13"/>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17336" y="1828800"/>
            <a:ext cx="2331720" cy="832104"/>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D37B00"/>
                </a:solidFill>
                <a:latin typeface="Arial"/>
              </a:rPr>
              <a:t>3  Classify</a:t>
            </a:r>
          </a:p>
        </p:txBody>
      </p:sp>
      <p:sp>
        <p:nvSpPr>
          <p:cNvPr id="17" name="TextBox 16"/>
          <p:cNvSpPr txBox="1"/>
          <p:nvPr/>
        </p:nvSpPr>
        <p:spPr>
          <a:xfrm>
            <a:off x="6263640"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Relation to
published evidence</a:t>
            </a:r>
          </a:p>
        </p:txBody>
      </p:sp>
      <p:sp>
        <p:nvSpPr>
          <p:cNvPr id="18" name="Right Arrow 17"/>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70263" y="1828800"/>
            <a:ext cx="2331720" cy="832104"/>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8063A6"/>
                </a:solidFill>
                <a:latin typeface="Arial"/>
              </a:rPr>
              <a:t>4  Interpret</a:t>
            </a:r>
          </a:p>
        </p:txBody>
      </p:sp>
      <p:sp>
        <p:nvSpPr>
          <p:cNvPr id="21" name="TextBox 20"/>
          <p:cNvSpPr txBox="1"/>
          <p:nvPr/>
        </p:nvSpPr>
        <p:spPr>
          <a:xfrm>
            <a:off x="9116567"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Recovery, extension,
or unmatched</a:t>
            </a:r>
          </a:p>
        </p:txBody>
      </p:sp>
      <p:sp>
        <p:nvSpPr>
          <p:cNvPr id="22" name="Rounded Rectangle 21"/>
          <p:cNvSpPr/>
          <p:nvPr/>
        </p:nvSpPr>
        <p:spPr>
          <a:xfrm>
            <a:off x="411480" y="2916936"/>
            <a:ext cx="3785615" cy="2980944"/>
          </a:xfrm>
          <a:prstGeom prst="roundRect">
            <a:avLst/>
          </a:prstGeom>
          <a:solidFill>
            <a:srgbClr val="E9F1F7"/>
          </a:solidFill>
          <a:ln w="10160">
            <a:solidFill>
              <a:srgbClr val="C9D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136392"/>
            <a:ext cx="3273552" cy="310896"/>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Selection status</a:t>
            </a:r>
          </a:p>
        </p:txBody>
      </p:sp>
      <p:sp>
        <p:nvSpPr>
          <p:cNvPr id="24" name="Oval 23"/>
          <p:cNvSpPr/>
          <p:nvPr/>
        </p:nvSpPr>
        <p:spPr>
          <a:xfrm>
            <a:off x="685800" y="3730752"/>
            <a:ext cx="457200" cy="45720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803904"/>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26</a:t>
            </a:r>
          </a:p>
        </p:txBody>
      </p:sp>
      <p:sp>
        <p:nvSpPr>
          <p:cNvPr id="26" name="TextBox 25"/>
          <p:cNvSpPr txBox="1"/>
          <p:nvPr/>
        </p:nvSpPr>
        <p:spPr>
          <a:xfrm>
            <a:off x="1325880" y="3712464"/>
            <a:ext cx="2423160" cy="274320"/>
          </a:xfrm>
          <a:prstGeom prst="rect">
            <a:avLst/>
          </a:prstGeom>
          <a:noFill/>
        </p:spPr>
        <p:txBody>
          <a:bodyPr wrap="square" lIns="18288" rIns="18288" tIns="18288" bIns="18288" anchor="t">
            <a:spAutoFit/>
          </a:bodyPr>
          <a:lstStyle/>
          <a:p>
            <a:pPr algn="l">
              <a:spcAft>
                <a:spcPts val="0"/>
              </a:spcAft>
            </a:pPr>
            <a:r>
              <a:rPr sz="1500" b="1" i="0">
                <a:solidFill>
                  <a:srgbClr val="D96552"/>
                </a:solidFill>
                <a:latin typeface="Arial"/>
              </a:rPr>
              <a:t>Promoted</a:t>
            </a:r>
          </a:p>
        </p:txBody>
      </p:sp>
      <p:sp>
        <p:nvSpPr>
          <p:cNvPr id="27" name="TextBox 26"/>
          <p:cNvSpPr txBox="1"/>
          <p:nvPr/>
        </p:nvSpPr>
        <p:spPr>
          <a:xfrm>
            <a:off x="1325880" y="4014215"/>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only with synthetic guidance</a:t>
            </a:r>
          </a:p>
        </p:txBody>
      </p:sp>
      <p:sp>
        <p:nvSpPr>
          <p:cNvPr id="28" name="Oval 27"/>
          <p:cNvSpPr/>
          <p:nvPr/>
        </p:nvSpPr>
        <p:spPr>
          <a:xfrm>
            <a:off x="685800" y="4581144"/>
            <a:ext cx="457200" cy="45720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54296"/>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23</a:t>
            </a:r>
          </a:p>
        </p:txBody>
      </p:sp>
      <p:sp>
        <p:nvSpPr>
          <p:cNvPr id="30" name="TextBox 29"/>
          <p:cNvSpPr txBox="1"/>
          <p:nvPr/>
        </p:nvSpPr>
        <p:spPr>
          <a:xfrm>
            <a:off x="1325880" y="4562856"/>
            <a:ext cx="2423160" cy="274320"/>
          </a:xfrm>
          <a:prstGeom prst="rect">
            <a:avLst/>
          </a:prstGeom>
          <a:noFill/>
        </p:spPr>
        <p:txBody>
          <a:bodyPr wrap="square" lIns="18288" rIns="18288" tIns="18288" bIns="18288" anchor="t">
            <a:spAutoFit/>
          </a:bodyPr>
          <a:lstStyle/>
          <a:p>
            <a:pPr algn="l">
              <a:spcAft>
                <a:spcPts val="0"/>
              </a:spcAft>
            </a:pPr>
            <a:r>
              <a:rPr sz="1500" b="1" i="0">
                <a:solidFill>
                  <a:srgbClr val="178681"/>
                </a:solidFill>
                <a:latin typeface="Arial"/>
              </a:rPr>
              <a:t>Reinforced</a:t>
            </a:r>
          </a:p>
        </p:txBody>
      </p:sp>
      <p:sp>
        <p:nvSpPr>
          <p:cNvPr id="31" name="TextBox 30"/>
          <p:cNvSpPr txBox="1"/>
          <p:nvPr/>
        </p:nvSpPr>
        <p:spPr>
          <a:xfrm>
            <a:off x="1325880" y="4864607"/>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with and without guidance</a:t>
            </a:r>
          </a:p>
        </p:txBody>
      </p:sp>
      <p:sp>
        <p:nvSpPr>
          <p:cNvPr id="32" name="Rounded Rectangle 31"/>
          <p:cNvSpPr/>
          <p:nvPr/>
        </p:nvSpPr>
        <p:spPr>
          <a:xfrm>
            <a:off x="4389120" y="2916936"/>
            <a:ext cx="7379208"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5152" y="3136392"/>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4" name="Oval 33"/>
          <p:cNvSpPr/>
          <p:nvPr/>
        </p:nvSpPr>
        <p:spPr>
          <a:xfrm>
            <a:off x="4654296"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54296"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22</a:t>
            </a:r>
          </a:p>
        </p:txBody>
      </p:sp>
      <p:sp>
        <p:nvSpPr>
          <p:cNvPr id="36" name="TextBox 35"/>
          <p:cNvSpPr txBox="1"/>
          <p:nvPr/>
        </p:nvSpPr>
        <p:spPr>
          <a:xfrm>
            <a:off x="5138928" y="3575304"/>
            <a:ext cx="1591056"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37" name="TextBox 36"/>
          <p:cNvSpPr txBox="1"/>
          <p:nvPr/>
        </p:nvSpPr>
        <p:spPr>
          <a:xfrm>
            <a:off x="6784848" y="3575304"/>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Direct or same-tissue process agreement</a:t>
            </a:r>
          </a:p>
        </p:txBody>
      </p:sp>
      <p:sp>
        <p:nvSpPr>
          <p:cNvPr id="38" name="Oval 37"/>
          <p:cNvSpPr/>
          <p:nvPr/>
        </p:nvSpPr>
        <p:spPr>
          <a:xfrm>
            <a:off x="4654296"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54296"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19</a:t>
            </a:r>
          </a:p>
        </p:txBody>
      </p:sp>
      <p:sp>
        <p:nvSpPr>
          <p:cNvPr id="40" name="TextBox 39"/>
          <p:cNvSpPr txBox="1"/>
          <p:nvPr/>
        </p:nvSpPr>
        <p:spPr>
          <a:xfrm>
            <a:off x="5138928" y="4096512"/>
            <a:ext cx="1591056"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41" name="TextBox 40"/>
          <p:cNvSpPr txBox="1"/>
          <p:nvPr/>
        </p:nvSpPr>
        <p:spPr>
          <a:xfrm>
            <a:off x="6784848" y="4096512"/>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Related process or mechanism</a:t>
            </a:r>
          </a:p>
        </p:txBody>
      </p:sp>
      <p:sp>
        <p:nvSpPr>
          <p:cNvPr id="42" name="Oval 41"/>
          <p:cNvSpPr/>
          <p:nvPr/>
        </p:nvSpPr>
        <p:spPr>
          <a:xfrm>
            <a:off x="4654296"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54296"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44" name="TextBox 43"/>
          <p:cNvSpPr txBox="1"/>
          <p:nvPr/>
        </p:nvSpPr>
        <p:spPr>
          <a:xfrm>
            <a:off x="5138928" y="4617720"/>
            <a:ext cx="1591056"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45" name="TextBox 44"/>
          <p:cNvSpPr txBox="1"/>
          <p:nvPr/>
        </p:nvSpPr>
        <p:spPr>
          <a:xfrm>
            <a:off x="6784848" y="4617720"/>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Mixed or context-dependent evidence</a:t>
            </a:r>
          </a:p>
        </p:txBody>
      </p:sp>
      <p:sp>
        <p:nvSpPr>
          <p:cNvPr id="46" name="Oval 45"/>
          <p:cNvSpPr/>
          <p:nvPr/>
        </p:nvSpPr>
        <p:spPr>
          <a:xfrm>
            <a:off x="4654296"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54296"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48" name="TextBox 47"/>
          <p:cNvSpPr txBox="1"/>
          <p:nvPr/>
        </p:nvSpPr>
        <p:spPr>
          <a:xfrm>
            <a:off x="5138928" y="5138928"/>
            <a:ext cx="1591056"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Unmatched</a:t>
            </a:r>
          </a:p>
        </p:txBody>
      </p:sp>
      <p:sp>
        <p:nvSpPr>
          <p:cNvPr id="49" name="TextBox 48"/>
          <p:cNvSpPr txBox="1"/>
          <p:nvPr/>
        </p:nvSpPr>
        <p:spPr>
          <a:xfrm>
            <a:off x="6784848" y="5138928"/>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No sufficiently specific match found</a:t>
            </a:r>
          </a:p>
        </p:txBody>
      </p:sp>
      <p:sp>
        <p:nvSpPr>
          <p:cNvPr id="50" name="Rounded Rectangle 49"/>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A reinforced gene can be complementary, ambiguous, or unmatched; an aligning gene can be promoted.</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Targeted review completed 2026-08-03; 5 direct transcript-level matches and a 33-source inventory are in Tables S16-S17.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All 27 completed tissue analyses were retained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narrative narrows only after reporting synthetic-informed, real-only, and null outcomes.</a:t>
            </a:r>
          </a:p>
        </p:txBody>
      </p:sp>
      <p:sp>
        <p:nvSpPr>
          <p:cNvPr id="7" name="Rounded Rectangle 6"/>
          <p:cNvSpPr/>
          <p:nvPr/>
        </p:nvSpPr>
        <p:spPr>
          <a:xfrm>
            <a:off x="393192" y="1847088"/>
            <a:ext cx="3502152" cy="4297680"/>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075688"/>
            <a:ext cx="521207" cy="521207"/>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10</a:t>
            </a:r>
          </a:p>
        </p:txBody>
      </p:sp>
      <p:sp>
        <p:nvSpPr>
          <p:cNvPr id="10" name="TextBox 9"/>
          <p:cNvSpPr txBox="1"/>
          <p:nvPr/>
        </p:nvSpPr>
        <p:spPr>
          <a:xfrm>
            <a:off x="1289304"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Synthetic-informed</a:t>
            </a:r>
          </a:p>
        </p:txBody>
      </p:sp>
      <p:sp>
        <p:nvSpPr>
          <p:cNvPr id="11" name="TextBox 10"/>
          <p:cNvSpPr txBox="1"/>
          <p:nvPr/>
        </p:nvSpPr>
        <p:spPr>
          <a:xfrm>
            <a:off x="658368"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Promoted or reinforced BH-FDR gene</a:t>
            </a:r>
          </a:p>
        </p:txBody>
      </p:sp>
      <p:sp>
        <p:nvSpPr>
          <p:cNvPr id="12" name="TextBox 11"/>
          <p:cNvSpPr txBox="1"/>
          <p:nvPr/>
        </p:nvSpPr>
        <p:spPr>
          <a:xfrm>
            <a:off x="685800"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Adrenal Gland
Eye
Kidney
Skeletal muscle (pooled)
Skin
Spleen
Thymus
Gastrocnemius
Soleus
Tibialis Anterior</a:t>
            </a:r>
          </a:p>
        </p:txBody>
      </p:sp>
      <p:sp>
        <p:nvSpPr>
          <p:cNvPr id="13" name="Rounded Rectangle 12"/>
          <p:cNvSpPr/>
          <p:nvPr/>
        </p:nvSpPr>
        <p:spPr>
          <a:xfrm>
            <a:off x="4105656" y="1847088"/>
            <a:ext cx="3502152" cy="4297680"/>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334256" y="2075688"/>
            <a:ext cx="521207" cy="521207"/>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34256"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5</a:t>
            </a:r>
          </a:p>
        </p:txBody>
      </p:sp>
      <p:sp>
        <p:nvSpPr>
          <p:cNvPr id="16" name="TextBox 15"/>
          <p:cNvSpPr txBox="1"/>
          <p:nvPr/>
        </p:nvSpPr>
        <p:spPr>
          <a:xfrm>
            <a:off x="5001768"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Real BH FDR only</a:t>
            </a:r>
          </a:p>
        </p:txBody>
      </p:sp>
      <p:sp>
        <p:nvSpPr>
          <p:cNvPr id="17" name="TextBox 16"/>
          <p:cNvSpPr txBox="1"/>
          <p:nvPr/>
        </p:nvSpPr>
        <p:spPr>
          <a:xfrm>
            <a:off x="4370832"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Real association, no synthetic-informed selection</a:t>
            </a:r>
          </a:p>
        </p:txBody>
      </p:sp>
      <p:sp>
        <p:nvSpPr>
          <p:cNvPr id="18" name="TextBox 17"/>
          <p:cNvSpPr txBox="1"/>
          <p:nvPr/>
        </p:nvSpPr>
        <p:spPr>
          <a:xfrm>
            <a:off x="4398264"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Heart
Liver
Retina
EDL
Quadriceps</a:t>
            </a:r>
          </a:p>
        </p:txBody>
      </p:sp>
      <p:sp>
        <p:nvSpPr>
          <p:cNvPr id="19" name="Rounded Rectangle 18"/>
          <p:cNvSpPr/>
          <p:nvPr/>
        </p:nvSpPr>
        <p:spPr>
          <a:xfrm>
            <a:off x="7818120" y="1847088"/>
            <a:ext cx="3502152" cy="4297680"/>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20" y="2075688"/>
            <a:ext cx="521207" cy="521207"/>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0"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12</a:t>
            </a:r>
          </a:p>
        </p:txBody>
      </p:sp>
      <p:sp>
        <p:nvSpPr>
          <p:cNvPr id="22" name="TextBox 21"/>
          <p:cNvSpPr txBox="1"/>
          <p:nvPr/>
        </p:nvSpPr>
        <p:spPr>
          <a:xfrm>
            <a:off x="8714232"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D37B00"/>
                </a:solidFill>
                <a:latin typeface="Arial"/>
              </a:rPr>
              <a:t>No panel BH-FDR gene</a:t>
            </a:r>
          </a:p>
        </p:txBody>
      </p:sp>
      <p:sp>
        <p:nvSpPr>
          <p:cNvPr id="23" name="TextBox 22"/>
          <p:cNvSpPr txBox="1"/>
          <p:nvPr/>
        </p:nvSpPr>
        <p:spPr>
          <a:xfrm>
            <a:off x="8083296"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No BH-FDR gene in the 974-gene panel</a:t>
            </a:r>
          </a:p>
        </p:txBody>
      </p:sp>
      <p:sp>
        <p:nvSpPr>
          <p:cNvPr id="24" name="TextBox 23"/>
          <p:cNvSpPr txBox="1"/>
          <p:nvPr/>
        </p:nvSpPr>
        <p:spPr>
          <a:xfrm>
            <a:off x="8110728"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Bone
Bone Marrow
Brain
Brown Adipose Tissue
Cecum
Cerebellum
Colon
Hippocampus
Lung
Mammary Gland
Optic Nerve
White Adipose Tissue</a:t>
            </a:r>
          </a:p>
        </p:txBody>
      </p:sp>
      <p:sp>
        <p:nvSpPr>
          <p:cNvPr id="25" name="TextBox 24"/>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Synthetic-informed genes spanned 10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9928"/>
            <a:ext cx="960120" cy="228600"/>
          </a:xfrm>
          <a:prstGeom prst="rect">
            <a:avLst/>
          </a:prstGeom>
          <a:noFill/>
        </p:spPr>
        <p:txBody>
          <a:bodyPr wrap="square" lIns="18288" rIns="18288" tIns="18288" bIns="18288" anchor="t">
            <a:spAutoFit/>
          </a:bodyPr>
          <a:lstStyle/>
          <a:p>
            <a:pPr algn="l">
              <a:spcAft>
                <a:spcPts val="0"/>
              </a:spcAft>
            </a:pPr>
            <a:r>
              <a:rPr sz="1019" b="1" i="0">
                <a:solidFill>
                  <a:srgbClr val="D96552"/>
                </a:solidFill>
                <a:latin typeface="Arial"/>
              </a:rPr>
              <a:t>[P] promoted</a:t>
            </a:r>
          </a:p>
        </p:txBody>
      </p:sp>
      <p:sp>
        <p:nvSpPr>
          <p:cNvPr id="8" name="TextBox 7"/>
          <p:cNvSpPr txBox="1"/>
          <p:nvPr/>
        </p:nvSpPr>
        <p:spPr>
          <a:xfrm>
            <a:off x="1417320" y="1709928"/>
            <a:ext cx="1078992" cy="228600"/>
          </a:xfrm>
          <a:prstGeom prst="rect">
            <a:avLst/>
          </a:prstGeom>
          <a:noFill/>
        </p:spPr>
        <p:txBody>
          <a:bodyPr wrap="square" lIns="18288" rIns="18288" tIns="18288" bIns="18288" anchor="t">
            <a:spAutoFit/>
          </a:bodyPr>
          <a:lstStyle/>
          <a:p>
            <a:pPr algn="l">
              <a:spcAft>
                <a:spcPts val="0"/>
              </a:spcAft>
            </a:pPr>
            <a:r>
              <a:rPr sz="1019" b="1" i="0">
                <a:solidFill>
                  <a:srgbClr val="178681"/>
                </a:solidFill>
                <a:latin typeface="Arial"/>
              </a:rPr>
              <a:t>[R] reinforced</a:t>
            </a:r>
          </a:p>
        </p:txBody>
      </p:sp>
      <p:sp>
        <p:nvSpPr>
          <p:cNvPr id="9" name="Rectangle 8"/>
          <p:cNvSpPr/>
          <p:nvPr/>
        </p:nvSpPr>
        <p:spPr>
          <a:xfrm>
            <a:off x="2660904"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34640" y="1691640"/>
            <a:ext cx="841248"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1" name="Rectangle 10"/>
          <p:cNvSpPr/>
          <p:nvPr/>
        </p:nvSpPr>
        <p:spPr>
          <a:xfrm>
            <a:off x="3575304"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0" y="1691640"/>
            <a:ext cx="1115568"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3" name="Rectangle 12"/>
          <p:cNvSpPr/>
          <p:nvPr/>
        </p:nvSpPr>
        <p:spPr>
          <a:xfrm>
            <a:off x="4791456"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5192" y="1691640"/>
            <a:ext cx="932688"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5" name="Rectangle 14"/>
          <p:cNvSpPr/>
          <p:nvPr/>
        </p:nvSpPr>
        <p:spPr>
          <a:xfrm>
            <a:off x="583387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07608" y="1691640"/>
            <a:ext cx="960120"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7" name="TextBox 16"/>
          <p:cNvSpPr txBox="1"/>
          <p:nvPr/>
        </p:nvSpPr>
        <p:spPr>
          <a:xfrm>
            <a:off x="8412480" y="1691640"/>
            <a:ext cx="3328416"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Tag = selection | Gene color = literature</a:t>
            </a:r>
          </a:p>
        </p:txBody>
      </p:sp>
      <p:sp>
        <p:nvSpPr>
          <p:cNvPr id="18" name="Rectangle 17"/>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 y="2112264"/>
            <a:ext cx="1170432"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20" name="TextBox 19"/>
          <p:cNvSpPr txBox="1"/>
          <p:nvPr/>
        </p:nvSpPr>
        <p:spPr>
          <a:xfrm>
            <a:off x="1645920"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1" name="TextBox 20"/>
          <p:cNvSpPr txBox="1"/>
          <p:nvPr/>
        </p:nvSpPr>
        <p:spPr>
          <a:xfrm>
            <a:off x="2331720" y="2103120"/>
            <a:ext cx="3611880" cy="31089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Hsd17b11</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Etv1</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Snx7</a:t>
            </a:r>
          </a:p>
        </p:txBody>
      </p:sp>
      <p:sp>
        <p:nvSpPr>
          <p:cNvPr id="22" name="TextBox 21"/>
          <p:cNvSpPr txBox="1"/>
          <p:nvPr/>
        </p:nvSpPr>
        <p:spPr>
          <a:xfrm>
            <a:off x="1645920" y="2414016"/>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3" name="TextBox 22"/>
          <p:cNvSpPr txBox="1"/>
          <p:nvPr/>
        </p:nvSpPr>
        <p:spPr>
          <a:xfrm>
            <a:off x="2331720" y="2414016"/>
            <a:ext cx="3611880" cy="914399"/>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478A64"/>
                </a:solidFill>
                <a:latin typeface="Arial"/>
              </a:rPr>
              <a:t>Nusap1</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Stmn1</a:t>
            </a:r>
            <a:r>
              <a:rPr sz="980" b="0" i="0">
                <a:solidFill>
                  <a:srgbClr val="8A969E"/>
                </a:solidFill>
                <a:latin typeface="Arial"/>
              </a:rPr>
              <a:t>, </a:t>
            </a:r>
            <a:r>
              <a:rPr sz="910" b="1" i="0">
                <a:solidFill>
                  <a:srgbClr val="D96552"/>
                </a:solidFill>
                <a:latin typeface="Arial"/>
              </a:rPr>
              <a:t>[P]</a:t>
            </a:r>
            <a:r>
              <a:rPr sz="980" b="1" i="1">
                <a:solidFill>
                  <a:srgbClr val="D37B00"/>
                </a:solidFill>
                <a:latin typeface="Arial"/>
              </a:rPr>
              <a:t>Birc5</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Cdk1</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Top2a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Ccnb2</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Aurka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Ccne2</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Kif20a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Pcna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Ccnf</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Ube2c</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Gmnn</a:t>
            </a:r>
          </a:p>
        </p:txBody>
      </p:sp>
      <p:sp>
        <p:nvSpPr>
          <p:cNvPr id="24" name="Rectangle 2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056" y="3520439"/>
            <a:ext cx="1170432"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26" name="TextBox 25"/>
          <p:cNvSpPr txBox="1"/>
          <p:nvPr/>
        </p:nvSpPr>
        <p:spPr>
          <a:xfrm>
            <a:off x="1645920" y="351129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7" name="TextBox 26"/>
          <p:cNvSpPr txBox="1"/>
          <p:nvPr/>
        </p:nvSpPr>
        <p:spPr>
          <a:xfrm>
            <a:off x="2331720" y="3511296"/>
            <a:ext cx="3611880" cy="274320"/>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Rai14</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Myl9</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Ptprk</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Loxl1</a:t>
            </a:r>
          </a:p>
        </p:txBody>
      </p:sp>
      <p:sp>
        <p:nvSpPr>
          <p:cNvPr id="28" name="TextBox 27"/>
          <p:cNvSpPr txBox="1"/>
          <p:nvPr/>
        </p:nvSpPr>
        <p:spPr>
          <a:xfrm>
            <a:off x="1645920" y="3785615"/>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9" name="TextBox 28"/>
          <p:cNvSpPr txBox="1"/>
          <p:nvPr/>
        </p:nvSpPr>
        <p:spPr>
          <a:xfrm>
            <a:off x="2331720" y="3785615"/>
            <a:ext cx="3611880" cy="237744"/>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0" name="Rectangle 29"/>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 y="421538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32" name="TextBox 31"/>
          <p:cNvSpPr txBox="1"/>
          <p:nvPr/>
        </p:nvSpPr>
        <p:spPr>
          <a:xfrm>
            <a:off x="1645920" y="420624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3" name="TextBox 32"/>
          <p:cNvSpPr txBox="1"/>
          <p:nvPr/>
        </p:nvSpPr>
        <p:spPr>
          <a:xfrm>
            <a:off x="2331720" y="4206240"/>
            <a:ext cx="3611880" cy="274320"/>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Inpp4b</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Slc37a4</a:t>
            </a:r>
          </a:p>
        </p:txBody>
      </p:sp>
      <p:sp>
        <p:nvSpPr>
          <p:cNvPr id="34" name="TextBox 33"/>
          <p:cNvSpPr txBox="1"/>
          <p:nvPr/>
        </p:nvSpPr>
        <p:spPr>
          <a:xfrm>
            <a:off x="1645920" y="4480559"/>
            <a:ext cx="621792" cy="18288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35" name="TextBox 34"/>
          <p:cNvSpPr txBox="1"/>
          <p:nvPr/>
        </p:nvSpPr>
        <p:spPr>
          <a:xfrm>
            <a:off x="2331720" y="4480559"/>
            <a:ext cx="3611880" cy="18288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6" name="Rectangle 35"/>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 y="485546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Gastrocnemius
</a:t>
            </a:r>
            <a:r>
              <a:rPr sz="900" b="0" i="0">
                <a:solidFill>
                  <a:srgbClr val="8A969E"/>
                </a:solidFill>
                <a:latin typeface="Arial"/>
              </a:rPr>
              <a:t>2 genes</a:t>
            </a:r>
          </a:p>
        </p:txBody>
      </p:sp>
      <p:sp>
        <p:nvSpPr>
          <p:cNvPr id="38" name="TextBox 37"/>
          <p:cNvSpPr txBox="1"/>
          <p:nvPr/>
        </p:nvSpPr>
        <p:spPr>
          <a:xfrm>
            <a:off x="1645920" y="48463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9" name="TextBox 38"/>
          <p:cNvSpPr txBox="1"/>
          <p:nvPr/>
        </p:nvSpPr>
        <p:spPr>
          <a:xfrm>
            <a:off x="2331720" y="4846320"/>
            <a:ext cx="3611880" cy="246888"/>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478A64"/>
                </a:solidFill>
                <a:latin typeface="Arial"/>
              </a:rPr>
              <a:t>Nfkbia</a:t>
            </a:r>
          </a:p>
        </p:txBody>
      </p:sp>
      <p:sp>
        <p:nvSpPr>
          <p:cNvPr id="40" name="TextBox 39"/>
          <p:cNvSpPr txBox="1"/>
          <p:nvPr/>
        </p:nvSpPr>
        <p:spPr>
          <a:xfrm>
            <a:off x="1645920" y="5093208"/>
            <a:ext cx="621792" cy="210311"/>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1" name="TextBox 40"/>
          <p:cNvSpPr txBox="1"/>
          <p:nvPr/>
        </p:nvSpPr>
        <p:spPr>
          <a:xfrm>
            <a:off x="2331720" y="5093208"/>
            <a:ext cx="3611880" cy="210311"/>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Fhl2</a:t>
            </a:r>
          </a:p>
        </p:txBody>
      </p:sp>
      <p:sp>
        <p:nvSpPr>
          <p:cNvPr id="42" name="Rectangle 41"/>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8056" y="5495544"/>
            <a:ext cx="1170432"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44" name="TextBox 43"/>
          <p:cNvSpPr txBox="1"/>
          <p:nvPr/>
        </p:nvSpPr>
        <p:spPr>
          <a:xfrm>
            <a:off x="1645920" y="5486400"/>
            <a:ext cx="621792" cy="17373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45" name="TextBox 44"/>
          <p:cNvSpPr txBox="1"/>
          <p:nvPr/>
        </p:nvSpPr>
        <p:spPr>
          <a:xfrm>
            <a:off x="2331720" y="5486400"/>
            <a:ext cx="3611880" cy="173736"/>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46" name="TextBox 45"/>
          <p:cNvSpPr txBox="1"/>
          <p:nvPr/>
        </p:nvSpPr>
        <p:spPr>
          <a:xfrm>
            <a:off x="1645920" y="5660136"/>
            <a:ext cx="621792" cy="192024"/>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7" name="TextBox 46"/>
          <p:cNvSpPr txBox="1"/>
          <p:nvPr/>
        </p:nvSpPr>
        <p:spPr>
          <a:xfrm>
            <a:off x="2331720" y="5660136"/>
            <a:ext cx="3611880" cy="192024"/>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Klhl21</a:t>
            </a:r>
          </a:p>
        </p:txBody>
      </p:sp>
      <p:sp>
        <p:nvSpPr>
          <p:cNvPr id="48" name="Rectangle 47"/>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7" y="2112264"/>
            <a:ext cx="1170432" cy="105156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Skeletal muscle
(pooled)
</a:t>
            </a:r>
            <a:r>
              <a:rPr sz="900" b="0" i="0">
                <a:solidFill>
                  <a:srgbClr val="8A969E"/>
                </a:solidFill>
                <a:latin typeface="Arial"/>
              </a:rPr>
              <a:t>12 genes</a:t>
            </a:r>
          </a:p>
        </p:txBody>
      </p:sp>
      <p:sp>
        <p:nvSpPr>
          <p:cNvPr id="50" name="TextBox 49"/>
          <p:cNvSpPr txBox="1"/>
          <p:nvPr/>
        </p:nvSpPr>
        <p:spPr>
          <a:xfrm>
            <a:off x="7434071"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1" name="TextBox 50"/>
          <p:cNvSpPr txBox="1"/>
          <p:nvPr/>
        </p:nvSpPr>
        <p:spPr>
          <a:xfrm>
            <a:off x="8119871" y="2103120"/>
            <a:ext cx="3611880" cy="512064"/>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Sox4</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Cebpd</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Sh3bp5</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Prkcd</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Arid5b</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Sesn1</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Tle1</a:t>
            </a:r>
          </a:p>
        </p:txBody>
      </p:sp>
      <p:sp>
        <p:nvSpPr>
          <p:cNvPr id="52" name="TextBox 51"/>
          <p:cNvSpPr txBox="1"/>
          <p:nvPr/>
        </p:nvSpPr>
        <p:spPr>
          <a:xfrm>
            <a:off x="7434071" y="261518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3" name="TextBox 52"/>
          <p:cNvSpPr txBox="1"/>
          <p:nvPr/>
        </p:nvSpPr>
        <p:spPr>
          <a:xfrm>
            <a:off x="8119871" y="2615184"/>
            <a:ext cx="3611880" cy="530352"/>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Klhl21</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Mapkapk5</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Reep5</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Itgb5</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Bphl</a:t>
            </a:r>
          </a:p>
        </p:txBody>
      </p:sp>
      <p:sp>
        <p:nvSpPr>
          <p:cNvPr id="54" name="Rectangle 53"/>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236207" y="3337560"/>
            <a:ext cx="1170432"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56" name="TextBox 55"/>
          <p:cNvSpPr txBox="1"/>
          <p:nvPr/>
        </p:nvSpPr>
        <p:spPr>
          <a:xfrm>
            <a:off x="7434071" y="33284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7" name="TextBox 56"/>
          <p:cNvSpPr txBox="1"/>
          <p:nvPr/>
        </p:nvSpPr>
        <p:spPr>
          <a:xfrm>
            <a:off x="8119871" y="3328416"/>
            <a:ext cx="3611880" cy="246888"/>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D37B00"/>
                </a:solidFill>
                <a:latin typeface="Arial"/>
              </a:rPr>
              <a:t>Tpm1</a:t>
            </a:r>
          </a:p>
        </p:txBody>
      </p:sp>
      <p:sp>
        <p:nvSpPr>
          <p:cNvPr id="58" name="TextBox 57"/>
          <p:cNvSpPr txBox="1"/>
          <p:nvPr/>
        </p:nvSpPr>
        <p:spPr>
          <a:xfrm>
            <a:off x="7434071" y="357530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9" name="TextBox 58"/>
          <p:cNvSpPr txBox="1"/>
          <p:nvPr/>
        </p:nvSpPr>
        <p:spPr>
          <a:xfrm>
            <a:off x="8119871" y="3575304"/>
            <a:ext cx="3611880" cy="274320"/>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Bdh1</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Ech1</a:t>
            </a:r>
            <a:r>
              <a:rPr sz="980" b="0" i="0">
                <a:solidFill>
                  <a:srgbClr val="8A969E"/>
                </a:solidFill>
                <a:latin typeface="Arial"/>
              </a:rPr>
              <a:t>, </a:t>
            </a:r>
            <a:r>
              <a:rPr sz="910" b="1" i="0">
                <a:solidFill>
                  <a:srgbClr val="178681"/>
                </a:solidFill>
                <a:latin typeface="Arial"/>
              </a:rPr>
              <a:t>[R]</a:t>
            </a:r>
            <a:r>
              <a:rPr sz="980" b="1" i="1">
                <a:solidFill>
                  <a:srgbClr val="D37B00"/>
                </a:solidFill>
                <a:latin typeface="Arial"/>
              </a:rPr>
              <a:t>Bnip3</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Decr1</a:t>
            </a:r>
          </a:p>
        </p:txBody>
      </p:sp>
      <p:sp>
        <p:nvSpPr>
          <p:cNvPr id="60" name="Rectangle 59"/>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36207" y="4041648"/>
            <a:ext cx="1170432" cy="539496"/>
          </a:xfrm>
          <a:prstGeom prst="rect">
            <a:avLst/>
          </a:prstGeom>
          <a:noFill/>
        </p:spPr>
        <p:txBody>
          <a:bodyPr wrap="square" lIns="0" rIns="0" tIns="0" bIns="0" anchor="t">
            <a:spAutoFit/>
          </a:bodyPr>
          <a:lstStyle/>
          <a:p>
            <a:pPr>
              <a:spcAft>
                <a:spcPts val="0"/>
              </a:spcAft>
            </a:pPr>
            <a:r>
              <a:rPr sz="1180" b="1" i="0">
                <a:solidFill>
                  <a:srgbClr val="082B55"/>
                </a:solidFill>
                <a:latin typeface="Arial"/>
              </a:rPr>
              <a:t>Tibialis anterior
</a:t>
            </a:r>
            <a:r>
              <a:rPr sz="900" b="0" i="0">
                <a:solidFill>
                  <a:srgbClr val="8A969E"/>
                </a:solidFill>
                <a:latin typeface="Arial"/>
              </a:rPr>
              <a:t>4 genes</a:t>
            </a:r>
          </a:p>
        </p:txBody>
      </p:sp>
      <p:sp>
        <p:nvSpPr>
          <p:cNvPr id="62" name="TextBox 61"/>
          <p:cNvSpPr txBox="1"/>
          <p:nvPr/>
        </p:nvSpPr>
        <p:spPr>
          <a:xfrm>
            <a:off x="7434071" y="4032503"/>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3" name="TextBox 62"/>
          <p:cNvSpPr txBox="1"/>
          <p:nvPr/>
        </p:nvSpPr>
        <p:spPr>
          <a:xfrm>
            <a:off x="8119871" y="4032503"/>
            <a:ext cx="3611880" cy="35661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Cebpd</a:t>
            </a:r>
            <a:r>
              <a:rPr sz="980" b="0" i="0">
                <a:solidFill>
                  <a:srgbClr val="8A969E"/>
                </a:solidFill>
                <a:latin typeface="Arial"/>
              </a:rPr>
              <a:t>, </a:t>
            </a:r>
            <a:r>
              <a:rPr sz="910" b="1" i="0">
                <a:solidFill>
                  <a:srgbClr val="178681"/>
                </a:solidFill>
                <a:latin typeface="Arial"/>
              </a:rPr>
              <a:t>[R]</a:t>
            </a:r>
            <a:r>
              <a:rPr sz="980" b="1" i="1">
                <a:solidFill>
                  <a:srgbClr val="D37B00"/>
                </a:solidFill>
                <a:latin typeface="Arial"/>
              </a:rPr>
              <a:t>Cdkn1a</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St3gal5</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Bnip3</a:t>
            </a:r>
          </a:p>
        </p:txBody>
      </p:sp>
      <p:sp>
        <p:nvSpPr>
          <p:cNvPr id="64" name="TextBox 63"/>
          <p:cNvSpPr txBox="1"/>
          <p:nvPr/>
        </p:nvSpPr>
        <p:spPr>
          <a:xfrm>
            <a:off x="7434071" y="4389119"/>
            <a:ext cx="621792" cy="173735"/>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65" name="TextBox 64"/>
          <p:cNvSpPr txBox="1"/>
          <p:nvPr/>
        </p:nvSpPr>
        <p:spPr>
          <a:xfrm>
            <a:off x="8119871" y="4389119"/>
            <a:ext cx="3611880" cy="173735"/>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66" name="Rectangle 65"/>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4754880"/>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Adrenal gland
</a:t>
            </a:r>
            <a:r>
              <a:rPr sz="900" b="0" i="0">
                <a:solidFill>
                  <a:srgbClr val="8A969E"/>
                </a:solidFill>
                <a:latin typeface="Arial"/>
              </a:rPr>
              <a:t>2 genes</a:t>
            </a:r>
          </a:p>
        </p:txBody>
      </p:sp>
      <p:sp>
        <p:nvSpPr>
          <p:cNvPr id="68" name="TextBox 67"/>
          <p:cNvSpPr txBox="1"/>
          <p:nvPr/>
        </p:nvSpPr>
        <p:spPr>
          <a:xfrm>
            <a:off x="7434071" y="4745736"/>
            <a:ext cx="621792" cy="164592"/>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9" name="TextBox 68"/>
          <p:cNvSpPr txBox="1"/>
          <p:nvPr/>
        </p:nvSpPr>
        <p:spPr>
          <a:xfrm>
            <a:off x="8119871" y="4745736"/>
            <a:ext cx="3611880" cy="164592"/>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0" name="TextBox 69"/>
          <p:cNvSpPr txBox="1"/>
          <p:nvPr/>
        </p:nvSpPr>
        <p:spPr>
          <a:xfrm>
            <a:off x="7434071" y="4910327"/>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1" name="TextBox 70"/>
          <p:cNvSpPr txBox="1"/>
          <p:nvPr/>
        </p:nvSpPr>
        <p:spPr>
          <a:xfrm>
            <a:off x="8119871" y="4910327"/>
            <a:ext cx="3611880" cy="292608"/>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8063A6"/>
                </a:solidFill>
                <a:latin typeface="Arial"/>
              </a:rPr>
              <a:t>Psmb8</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Tspan4</a:t>
            </a:r>
          </a:p>
        </p:txBody>
      </p:sp>
      <p:sp>
        <p:nvSpPr>
          <p:cNvPr id="72" name="Rectangle 71"/>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36207" y="5394960"/>
            <a:ext cx="1170432"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74" name="TextBox 73"/>
          <p:cNvSpPr txBox="1"/>
          <p:nvPr/>
        </p:nvSpPr>
        <p:spPr>
          <a:xfrm>
            <a:off x="7434071" y="53858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75" name="TextBox 74"/>
          <p:cNvSpPr txBox="1"/>
          <p:nvPr/>
        </p:nvSpPr>
        <p:spPr>
          <a:xfrm>
            <a:off x="8119871" y="5385816"/>
            <a:ext cx="3611880" cy="26517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Plscr1</a:t>
            </a:r>
          </a:p>
        </p:txBody>
      </p:sp>
      <p:sp>
        <p:nvSpPr>
          <p:cNvPr id="76" name="TextBox 75"/>
          <p:cNvSpPr txBox="1"/>
          <p:nvPr/>
        </p:nvSpPr>
        <p:spPr>
          <a:xfrm>
            <a:off x="7434071" y="5650992"/>
            <a:ext cx="621792" cy="13716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7" name="TextBox 76"/>
          <p:cNvSpPr txBox="1"/>
          <p:nvPr/>
        </p:nvSpPr>
        <p:spPr>
          <a:xfrm>
            <a:off x="8119871" y="5650992"/>
            <a:ext cx="3611880" cy="13716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8" name="TextBox 7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[P]/[R] tags report repeated feature selection;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Each additional tissue defines a separate hypothesis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and prioritized candidates from additional tissues.</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