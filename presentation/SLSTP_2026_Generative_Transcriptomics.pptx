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Each ranking orders the same 974 genes. Real-only, generated-only and consensus ranking can therefore produce different candidate gene sets. For each ranking, we test the top 10, 25, 50 and 100 genes, and held-out validation chooses the feature count and regularization. Logistic regression is then fitted using only those selected gene-expression columns. Ranking chooses which genes are available to the classifier; classifier training separately learns their coefficients and decision boundary.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Opaque profiles belong to the training subset. Transparent profiles are held-out real OSDR samples that never enter gene ranking, classifier fitting or top-k selection. The same held-out profiles are scored by the real-only and synthetic-guided candidates. This schematic shows the intended outcome: a guided boundary that predicts more held-out labels correctly. Balanced accuracy, AUROC and average precision determine whether a synthetic arm is eligible for that tissue; the observed tissue-specific results follow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Conditional DDIM generated realistic expression profiles. Tissue-specific consensus ranking and light synthetic regularization improved held-out prediction in selected tissues. Synthetic-informed selection prioritized promoted and reinforced genes, while literature annotation separated prior alignment from complementary hypotheses. Biological evidence and FDR remained grounded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125712" y="3355848"/>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92056" y="3017520"/>
            <a:ext cx="1828800" cy="1042415"/>
          </a:xfrm>
          <a:prstGeom prst="rect">
            <a:avLst/>
          </a:prstGeom>
          <a:solidFill>
            <a:srgbClr val="E9F1F7"/>
          </a:solidFill>
          <a:ln w="1016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65792" y="3172968"/>
            <a:ext cx="1490472" cy="16459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OUTPUT</a:t>
            </a:r>
          </a:p>
        </p:txBody>
      </p:sp>
      <p:sp>
        <p:nvSpPr>
          <p:cNvPr id="74" name="TextBox 73"/>
          <p:cNvSpPr txBox="1"/>
          <p:nvPr/>
        </p:nvSpPr>
        <p:spPr>
          <a:xfrm>
            <a:off x="9765792" y="3429000"/>
            <a:ext cx="1490472" cy="493776"/>
          </a:xfrm>
          <a:prstGeom prst="rect">
            <a:avLst/>
          </a:prstGeom>
          <a:noFill/>
        </p:spPr>
        <p:txBody>
          <a:bodyPr wrap="square" lIns="0" rIns="0" tIns="0" bIns="0" anchor="t">
            <a:spAutoFit/>
          </a:bodyPr>
          <a:lstStyle/>
          <a:p>
            <a:pPr algn="l">
              <a:spcAft>
                <a:spcPts val="0"/>
              </a:spcAft>
            </a:pPr>
            <a:r>
              <a:rPr sz="1220" b="1" i="0">
                <a:solidFill>
                  <a:srgbClr val="082B55"/>
                </a:solidFill>
                <a:latin typeface="Arial"/>
              </a:rPr>
              <a:t>Tissue-specific
genes and pathways</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CONSENSUS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are schematic examples from the 974-gene ranking. Real and generated normalized ranks are combined.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Held-out real samples decide whether guidance helps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Opaque profiles train the classifier; transparent profiles are used only to score generalization.</a:t>
            </a:r>
          </a:p>
        </p:txBody>
      </p:sp>
      <p:sp>
        <p:nvSpPr>
          <p:cNvPr id="7" name="Oval 6"/>
          <p:cNvSpPr/>
          <p:nvPr/>
        </p:nvSpPr>
        <p:spPr>
          <a:xfrm>
            <a:off x="8037575" y="1792224"/>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11312" y="1755648"/>
            <a:ext cx="329184"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FLT</a:t>
            </a:r>
          </a:p>
        </p:txBody>
      </p:sp>
      <p:sp>
        <p:nvSpPr>
          <p:cNvPr id="9" name="Oval 8"/>
          <p:cNvSpPr/>
          <p:nvPr/>
        </p:nvSpPr>
        <p:spPr>
          <a:xfrm>
            <a:off x="8686800" y="179222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0536" y="1755648"/>
            <a:ext cx="310896"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GC</a:t>
            </a:r>
          </a:p>
        </p:txBody>
      </p:sp>
      <p:sp>
        <p:nvSpPr>
          <p:cNvPr id="11" name="Oval 10"/>
          <p:cNvSpPr/>
          <p:nvPr/>
        </p:nvSpPr>
        <p:spPr>
          <a:xfrm>
            <a:off x="9418320" y="1792224"/>
            <a:ext cx="118872" cy="118872"/>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92056" y="1755648"/>
            <a:ext cx="566928"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training</a:t>
            </a:r>
          </a:p>
        </p:txBody>
      </p:sp>
      <p:sp>
        <p:nvSpPr>
          <p:cNvPr id="13" name="Oval 12"/>
          <p:cNvSpPr/>
          <p:nvPr/>
        </p:nvSpPr>
        <p:spPr>
          <a:xfrm>
            <a:off x="10314432" y="1773936"/>
            <a:ext cx="146304" cy="146304"/>
          </a:xfrm>
          <a:prstGeom prst="ellipse">
            <a:avLst/>
          </a:prstGeom>
          <a:solidFill>
            <a:srgbClr val="8A969E">
              <a:alpha val="42000"/>
            </a:srgbClr>
          </a:solidFill>
          <a:ln w="12700">
            <a:solidFill>
              <a:srgbClr val="8A96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33888" y="1755648"/>
            <a:ext cx="658368" cy="192024"/>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held-out</a:t>
            </a:r>
          </a:p>
        </p:txBody>
      </p:sp>
      <p:sp>
        <p:nvSpPr>
          <p:cNvPr id="15" name="TextBox 14"/>
          <p:cNvSpPr txBox="1"/>
          <p:nvPr/>
        </p:nvSpPr>
        <p:spPr>
          <a:xfrm>
            <a:off x="713232" y="2029968"/>
            <a:ext cx="3977639" cy="246888"/>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REAL-ONLY CLASSIFIER</a:t>
            </a:r>
          </a:p>
        </p:txBody>
      </p:sp>
      <p:sp>
        <p:nvSpPr>
          <p:cNvPr id="16" name="TextBox 15"/>
          <p:cNvSpPr txBox="1"/>
          <p:nvPr/>
        </p:nvSpPr>
        <p:spPr>
          <a:xfrm>
            <a:off x="6492240" y="2029968"/>
            <a:ext cx="3977639" cy="246888"/>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SYNTHETIC-GUIDED CANDIDATE</a:t>
            </a:r>
          </a:p>
        </p:txBody>
      </p:sp>
      <p:sp>
        <p:nvSpPr>
          <p:cNvPr id="17" name="Rectangle 16"/>
          <p:cNvSpPr/>
          <p:nvPr/>
        </p:nvSpPr>
        <p:spPr>
          <a:xfrm>
            <a:off x="713232" y="4123944"/>
            <a:ext cx="3977639"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3232" y="2340864"/>
            <a:ext cx="20116" cy="180136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97280" y="2651760"/>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399032" y="35021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691640" y="305409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965960" y="385876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157984" y="273405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072384" y="26700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46704" y="351129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630168" y="303580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959352" y="384962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261104" y="276148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395728" y="31272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569463" y="3639312"/>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2807208" y="2880360"/>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980944" y="3758184"/>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267712" y="2450592"/>
            <a:ext cx="32004" cy="1517904"/>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4206240"/>
            <a:ext cx="932688" cy="164592"/>
          </a:xfrm>
          <a:prstGeom prst="rect">
            <a:avLst/>
          </a:prstGeom>
          <a:noFill/>
        </p:spPr>
        <p:txBody>
          <a:bodyPr wrap="square" lIns="0" rIns="0" tIns="0" bIns="0" anchor="t">
            <a:spAutoFit/>
          </a:bodyPr>
          <a:lstStyle/>
          <a:p>
            <a:pPr algn="l">
              <a:spcAft>
                <a:spcPts val="0"/>
              </a:spcAft>
            </a:pPr>
            <a:r>
              <a:rPr sz="840" b="0" i="0">
                <a:solidFill>
                  <a:srgbClr val="D96552"/>
                </a:solidFill>
                <a:latin typeface="Arial"/>
              </a:rPr>
              <a:t>predicted FLT</a:t>
            </a:r>
          </a:p>
        </p:txBody>
      </p:sp>
      <p:sp>
        <p:nvSpPr>
          <p:cNvPr id="35" name="TextBox 34"/>
          <p:cNvSpPr txBox="1"/>
          <p:nvPr/>
        </p:nvSpPr>
        <p:spPr>
          <a:xfrm>
            <a:off x="3630168" y="4206240"/>
            <a:ext cx="932688" cy="164592"/>
          </a:xfrm>
          <a:prstGeom prst="rect">
            <a:avLst/>
          </a:prstGeom>
          <a:noFill/>
        </p:spPr>
        <p:txBody>
          <a:bodyPr wrap="square" lIns="0" rIns="0" tIns="0" bIns="0" anchor="t">
            <a:spAutoFit/>
          </a:bodyPr>
          <a:lstStyle/>
          <a:p>
            <a:pPr algn="r">
              <a:spcAft>
                <a:spcPts val="0"/>
              </a:spcAft>
            </a:pPr>
            <a:r>
              <a:rPr sz="840" b="0" i="0">
                <a:solidFill>
                  <a:srgbClr val="2D6496"/>
                </a:solidFill>
                <a:latin typeface="Arial"/>
              </a:rPr>
              <a:t>predicted GC</a:t>
            </a:r>
          </a:p>
        </p:txBody>
      </p:sp>
      <p:sp>
        <p:nvSpPr>
          <p:cNvPr id="36" name="Rectangle 35"/>
          <p:cNvSpPr/>
          <p:nvPr/>
        </p:nvSpPr>
        <p:spPr>
          <a:xfrm>
            <a:off x="6492240" y="4123944"/>
            <a:ext cx="3977639"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92240" y="2340864"/>
            <a:ext cx="20116" cy="180136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76288" y="2651760"/>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178040" y="35021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470648" y="305409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744967" y="385876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936992" y="273405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851392" y="267004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125712" y="351129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409176" y="303580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38359" y="384962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040112" y="2761488"/>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174736" y="3127248"/>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348471" y="3639312"/>
            <a:ext cx="182880" cy="182880"/>
          </a:xfrm>
          <a:prstGeom prst="ellipse">
            <a:avLst/>
          </a:prstGeom>
          <a:solidFill>
            <a:srgbClr val="D96552">
              <a:alpha val="42000"/>
            </a:srgbClr>
          </a:solidFill>
          <a:ln w="1524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586216" y="2880360"/>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759952" y="3758184"/>
            <a:ext cx="182880" cy="182880"/>
          </a:xfrm>
          <a:prstGeom prst="ellipse">
            <a:avLst/>
          </a:prstGeom>
          <a:solidFill>
            <a:srgbClr val="2D6496">
              <a:alpha val="42000"/>
            </a:srgbClr>
          </a:solidFill>
          <a:ln w="1524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58200" y="2450592"/>
            <a:ext cx="41148" cy="15179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79" y="4206240"/>
            <a:ext cx="932688" cy="164592"/>
          </a:xfrm>
          <a:prstGeom prst="rect">
            <a:avLst/>
          </a:prstGeom>
          <a:noFill/>
        </p:spPr>
        <p:txBody>
          <a:bodyPr wrap="square" lIns="0" rIns="0" tIns="0" bIns="0" anchor="t">
            <a:spAutoFit/>
          </a:bodyPr>
          <a:lstStyle/>
          <a:p>
            <a:pPr algn="l">
              <a:spcAft>
                <a:spcPts val="0"/>
              </a:spcAft>
            </a:pPr>
            <a:r>
              <a:rPr sz="840" b="0" i="0">
                <a:solidFill>
                  <a:srgbClr val="D96552"/>
                </a:solidFill>
                <a:latin typeface="Arial"/>
              </a:rPr>
              <a:t>predicted FLT</a:t>
            </a:r>
          </a:p>
        </p:txBody>
      </p:sp>
      <p:sp>
        <p:nvSpPr>
          <p:cNvPr id="54" name="TextBox 53"/>
          <p:cNvSpPr txBox="1"/>
          <p:nvPr/>
        </p:nvSpPr>
        <p:spPr>
          <a:xfrm>
            <a:off x="9409176" y="4206240"/>
            <a:ext cx="932688" cy="164592"/>
          </a:xfrm>
          <a:prstGeom prst="rect">
            <a:avLst/>
          </a:prstGeom>
          <a:noFill/>
        </p:spPr>
        <p:txBody>
          <a:bodyPr wrap="square" lIns="0" rIns="0" tIns="0" bIns="0" anchor="t">
            <a:spAutoFit/>
          </a:bodyPr>
          <a:lstStyle/>
          <a:p>
            <a:pPr algn="r">
              <a:spcAft>
                <a:spcPts val="0"/>
              </a:spcAft>
            </a:pPr>
            <a:r>
              <a:rPr sz="840" b="0" i="0">
                <a:solidFill>
                  <a:srgbClr val="2D6496"/>
                </a:solidFill>
                <a:latin typeface="Arial"/>
              </a:rPr>
              <a:t>predicted GC</a:t>
            </a:r>
          </a:p>
        </p:txBody>
      </p:sp>
      <p:sp>
        <p:nvSpPr>
          <p:cNvPr id="55" name="Right Arrow 54"/>
          <p:cNvSpPr/>
          <p:nvPr/>
        </p:nvSpPr>
        <p:spPr>
          <a:xfrm>
            <a:off x="5056632" y="2926080"/>
            <a:ext cx="658368" cy="36576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54880" y="3410712"/>
            <a:ext cx="1261872" cy="338328"/>
          </a:xfrm>
          <a:prstGeom prst="rect">
            <a:avLst/>
          </a:prstGeom>
          <a:noFill/>
        </p:spPr>
        <p:txBody>
          <a:bodyPr wrap="square" lIns="0" rIns="0" tIns="0" bIns="0" anchor="t">
            <a:spAutoFit/>
          </a:bodyPr>
          <a:lstStyle/>
          <a:p>
            <a:pPr algn="ctr">
              <a:spcAft>
                <a:spcPts val="0"/>
              </a:spcAft>
            </a:pPr>
            <a:r>
              <a:rPr sz="940" b="1" i="0">
                <a:solidFill>
                  <a:srgbClr val="59697A"/>
                </a:solidFill>
                <a:latin typeface="Arial"/>
              </a:rPr>
              <a:t>same held-out profiles</a:t>
            </a:r>
          </a:p>
        </p:txBody>
      </p:sp>
      <p:sp>
        <p:nvSpPr>
          <p:cNvPr id="57" name="Rectangle 56"/>
          <p:cNvSpPr/>
          <p:nvPr/>
        </p:nvSpPr>
        <p:spPr>
          <a:xfrm>
            <a:off x="521207" y="4663440"/>
            <a:ext cx="11045952" cy="1143000"/>
          </a:xfrm>
          <a:prstGeom prst="rect">
            <a:avLst/>
          </a:prstGeom>
          <a:solidFill>
            <a:srgbClr val="F5F7F8"/>
          </a:solidFill>
          <a:ln w="1016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68096" y="4855464"/>
            <a:ext cx="2212848" cy="256032"/>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Compare on held-out real profiles</a:t>
            </a:r>
          </a:p>
        </p:txBody>
      </p:sp>
      <p:sp>
        <p:nvSpPr>
          <p:cNvPr id="59" name="TextBox 58"/>
          <p:cNvSpPr txBox="1"/>
          <p:nvPr/>
        </p:nvSpPr>
        <p:spPr>
          <a:xfrm>
            <a:off x="3172968" y="4846320"/>
            <a:ext cx="1207008" cy="219456"/>
          </a:xfrm>
          <a:prstGeom prst="rect">
            <a:avLst/>
          </a:prstGeom>
          <a:noFill/>
        </p:spPr>
        <p:txBody>
          <a:bodyPr wrap="square" lIns="0" rIns="0" tIns="0" bIns="0" anchor="t">
            <a:spAutoFit/>
          </a:bodyPr>
          <a:lstStyle/>
          <a:p>
            <a:pPr algn="ctr">
              <a:spcAft>
                <a:spcPts val="0"/>
              </a:spcAft>
            </a:pPr>
            <a:r>
              <a:rPr sz="1030" b="1" i="0">
                <a:solidFill>
                  <a:srgbClr val="2D6496"/>
                </a:solidFill>
                <a:latin typeface="Arial"/>
              </a:rPr>
              <a:t>Balanced accuracy</a:t>
            </a:r>
          </a:p>
        </p:txBody>
      </p:sp>
      <p:sp>
        <p:nvSpPr>
          <p:cNvPr id="60" name="Rectangle 59"/>
          <p:cNvSpPr/>
          <p:nvPr/>
        </p:nvSpPr>
        <p:spPr>
          <a:xfrm>
            <a:off x="4489704" y="4828032"/>
            <a:ext cx="13716" cy="320040"/>
          </a:xfrm>
          <a:prstGeom prst="rect">
            <a:avLst/>
          </a:prstGeom>
          <a:solidFill>
            <a:srgbClr val="D1D9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681728" y="4846320"/>
            <a:ext cx="731520" cy="219456"/>
          </a:xfrm>
          <a:prstGeom prst="rect">
            <a:avLst/>
          </a:prstGeom>
          <a:noFill/>
        </p:spPr>
        <p:txBody>
          <a:bodyPr wrap="square" lIns="0" rIns="0" tIns="0" bIns="0" anchor="t">
            <a:spAutoFit/>
          </a:bodyPr>
          <a:lstStyle/>
          <a:p>
            <a:pPr algn="ctr">
              <a:spcAft>
                <a:spcPts val="0"/>
              </a:spcAft>
            </a:pPr>
            <a:r>
              <a:rPr sz="1030" b="1" i="0">
                <a:solidFill>
                  <a:srgbClr val="2D6496"/>
                </a:solidFill>
                <a:latin typeface="Arial"/>
              </a:rPr>
              <a:t>AUROC</a:t>
            </a:r>
          </a:p>
        </p:txBody>
      </p:sp>
      <p:sp>
        <p:nvSpPr>
          <p:cNvPr id="62" name="Rectangle 61"/>
          <p:cNvSpPr/>
          <p:nvPr/>
        </p:nvSpPr>
        <p:spPr>
          <a:xfrm>
            <a:off x="5577840" y="4828032"/>
            <a:ext cx="13716" cy="320040"/>
          </a:xfrm>
          <a:prstGeom prst="rect">
            <a:avLst/>
          </a:prstGeom>
          <a:solidFill>
            <a:srgbClr val="D1D9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769864" y="4846320"/>
            <a:ext cx="1225296" cy="219456"/>
          </a:xfrm>
          <a:prstGeom prst="rect">
            <a:avLst/>
          </a:prstGeom>
          <a:noFill/>
        </p:spPr>
        <p:txBody>
          <a:bodyPr wrap="square" lIns="0" rIns="0" tIns="0" bIns="0" anchor="t">
            <a:spAutoFit/>
          </a:bodyPr>
          <a:lstStyle/>
          <a:p>
            <a:pPr algn="ctr">
              <a:spcAft>
                <a:spcPts val="0"/>
              </a:spcAft>
            </a:pPr>
            <a:r>
              <a:rPr sz="1030" b="1" i="0">
                <a:solidFill>
                  <a:srgbClr val="2D6496"/>
                </a:solidFill>
                <a:latin typeface="Arial"/>
              </a:rPr>
              <a:t>Average precision</a:t>
            </a:r>
          </a:p>
        </p:txBody>
      </p:sp>
      <p:sp>
        <p:nvSpPr>
          <p:cNvPr id="64" name="Right Arrow 63"/>
          <p:cNvSpPr/>
          <p:nvPr/>
        </p:nvSpPr>
        <p:spPr>
          <a:xfrm>
            <a:off x="7260336" y="4864608"/>
            <a:ext cx="310896"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818120" y="4800600"/>
            <a:ext cx="3364992" cy="329184"/>
          </a:xfrm>
          <a:prstGeom prst="rect">
            <a:avLst/>
          </a:prstGeom>
          <a:noFill/>
        </p:spPr>
        <p:txBody>
          <a:bodyPr wrap="square" lIns="0" rIns="0" tIns="0" bIns="0" anchor="ctr">
            <a:spAutoFit/>
          </a:bodyPr>
          <a:lstStyle/>
          <a:p>
            <a:pPr algn="ctr">
              <a:spcAft>
                <a:spcPts val="0"/>
              </a:spcAft>
            </a:pPr>
            <a:r>
              <a:rPr sz="1200" b="1" i="0">
                <a:solidFill>
                  <a:srgbClr val="178681"/>
                </a:solidFill>
                <a:latin typeface="Arial"/>
              </a:rPr>
              <a:t>Retain the better eligible arm for that tissue</a:t>
            </a:r>
          </a:p>
        </p:txBody>
      </p:sp>
      <p:sp>
        <p:nvSpPr>
          <p:cNvPr id="66" name="Rectangle 65"/>
          <p:cNvSpPr/>
          <p:nvPr/>
        </p:nvSpPr>
        <p:spPr>
          <a:xfrm>
            <a:off x="768096" y="5276088"/>
            <a:ext cx="10405872" cy="1371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68096" y="5413248"/>
            <a:ext cx="10405872" cy="219456"/>
          </a:xfrm>
          <a:prstGeom prst="rect">
            <a:avLst/>
          </a:prstGeom>
          <a:noFill/>
        </p:spPr>
        <p:txBody>
          <a:bodyPr wrap="square" lIns="0" rIns="0" tIns="0" bIns="0" anchor="t">
            <a:spAutoFit/>
          </a:bodyPr>
          <a:lstStyle/>
          <a:p>
            <a:pPr algn="ctr">
              <a:spcAft>
                <a:spcPts val="0"/>
              </a:spcAft>
            </a:pPr>
            <a:r>
              <a:rPr sz="1030" b="1" i="0">
                <a:solidFill>
                  <a:srgbClr val="263746"/>
                </a:solidFill>
                <a:latin typeface="Arial"/>
              </a:rPr>
              <a:t>Held-out profiles never enter gene ranking, classifier fitting, or k selection.</a:t>
            </a:r>
          </a:p>
        </p:txBody>
      </p:sp>
      <p:sp>
        <p:nvSpPr>
          <p:cNvPr id="68" name="TextBox 6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Schematic nested evaluation. Observed tissue-specific held-out results follow on the next slide.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Tissue-specific consensus ranking and light synthetic regularization improved held-out prediction in selected tissues.</a:t>
            </a:r>
          </a:p>
        </p:txBody>
      </p:sp>
      <p:sp>
        <p:nvSpPr>
          <p:cNvPr id="16" name="Rectangle 15"/>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Promoted and reinforced genes supported tissue-specific hypotheses. Literature review separated prior alignment from complementary findings.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