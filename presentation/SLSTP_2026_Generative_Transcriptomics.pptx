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autoCompressPictures="0">
  <p:sldMasterIdLst>
    <p:sldMasterId id="2147483659" r:id="rId4"/>
  </p:sldMasterIdLst>
  <p:notesMasterIdLst>
    <p:notesMasterId r:id="rId7"/>
  </p:notesMasterIdLst>
  <p:handoutMasterIdLst>
    <p:handoutMasterId r:id="rId8"/>
  </p:handoutMasterIdLst>
  <p:sldIdLst>
    <p:sldId id="287" r:id="rId5"/>
    <p:sldId id="289" r:id="rId6"/>
    <p:sldId id="290" r:id="rId14"/>
    <p:sldId id="291" r:id="rId15"/>
    <p:sldId id="292" r:id="rId16"/>
    <p:sldId id="293" r:id="rId17"/>
    <p:sldId id="294" r:id="rId18"/>
    <p:sldId id="295" r:id="rId19"/>
    <p:sldId id="296" r:id="rId20"/>
    <p:sldId id="297" r:id="rId21"/>
    <p:sldId id="298" r:id="rId22"/>
    <p:sldId id="299" r:id="rId23"/>
    <p:sldId id="300" r:id="rId24"/>
    <p:sldId id="301" r:id="rId25"/>
    <p:sldId id="302" r:id="rId26"/>
    <p:sldId id="303" r:id="rId27"/>
    <p:sldId id="304" r:id="rId28"/>
    <p:sldId id="305" r:id="rId29"/>
    <p:sldId id="306" r:id="rId30"/>
    <p:sldId id="307" r:id="rId31"/>
    <p:sldId id="308" r:id="rId32"/>
    <p:sldId id="309" r:id="rId33"/>
    <p:sldId id="310" r:id="rId34"/>
    <p:sldId id="311" r:id="rId35"/>
    <p:sldId id="312" r:id="rId36"/>
    <p:sldId id="313" r:id="rId37"/>
    <p:sldId id="314" r:id="rId38"/>
    <p:sldId id="315" r:id="rId3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4EBFE0"/>
    <a:srgbClr val="03110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E7E6095-EDCC-4DCB-AAC0-188518B1781D}" v="1" dt="2026-06-23T20:42:39.61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892"/>
    <p:restoredTop sz="96327"/>
  </p:normalViewPr>
  <p:slideViewPr>
    <p:cSldViewPr snapToGrid="0">
      <p:cViewPr varScale="1">
        <p:scale>
          <a:sx n="81" d="100"/>
          <a:sy n="81" d="100"/>
        </p:scale>
        <p:origin x="946" y="72"/>
      </p:cViewPr>
      <p:guideLst/>
    </p:cSldViewPr>
  </p:slideViewPr>
  <p:notesTextViewPr>
    <p:cViewPr>
      <p:scale>
        <a:sx n="1" d="1"/>
        <a:sy n="1" d="1"/>
      </p:scale>
      <p:origin x="0" y="0"/>
    </p:cViewPr>
  </p:notesTextViewPr>
  <p:notesViewPr>
    <p:cSldViewPr snapToGrid="0">
      <p:cViewPr varScale="1">
        <p:scale>
          <a:sx n="97" d="100"/>
          <a:sy n="97" d="100"/>
        </p:scale>
        <p:origin x="3120" y="20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notesMaster" Target="notesMasters/notesMaster1.xml"/><Relationship Id="rId8" Type="http://schemas.openxmlformats.org/officeDocument/2006/relationships/handoutMaster" Target="handoutMasters/handout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microsoft.com/office/2015/10/relationships/revisionInfo" Target="revisionInfo.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4.xml"/><Relationship Id="rId26" Type="http://schemas.openxmlformats.org/officeDocument/2006/relationships/slide" Target="slides/slide15.xml"/><Relationship Id="rId27" Type="http://schemas.openxmlformats.org/officeDocument/2006/relationships/slide" Target="slides/slide16.xml"/><Relationship Id="rId28" Type="http://schemas.openxmlformats.org/officeDocument/2006/relationships/slide" Target="slides/slide17.xml"/><Relationship Id="rId29" Type="http://schemas.openxmlformats.org/officeDocument/2006/relationships/slide" Target="slides/slide18.xml"/><Relationship Id="rId30" Type="http://schemas.openxmlformats.org/officeDocument/2006/relationships/slide" Target="slides/slide19.xml"/><Relationship Id="rId31" Type="http://schemas.openxmlformats.org/officeDocument/2006/relationships/slide" Target="slides/slide20.xml"/><Relationship Id="rId32" Type="http://schemas.openxmlformats.org/officeDocument/2006/relationships/slide" Target="slides/slide21.xml"/><Relationship Id="rId33" Type="http://schemas.openxmlformats.org/officeDocument/2006/relationships/slide" Target="slides/slide22.xml"/><Relationship Id="rId34" Type="http://schemas.openxmlformats.org/officeDocument/2006/relationships/slide" Target="slides/slide23.xml"/><Relationship Id="rId35" Type="http://schemas.openxmlformats.org/officeDocument/2006/relationships/slide" Target="slides/slide24.xml"/><Relationship Id="rId36" Type="http://schemas.openxmlformats.org/officeDocument/2006/relationships/slide" Target="slides/slide25.xml"/><Relationship Id="rId37" Type="http://schemas.openxmlformats.org/officeDocument/2006/relationships/slide" Target="slides/slide26.xml"/><Relationship Id="rId38" Type="http://schemas.openxmlformats.org/officeDocument/2006/relationships/slide" Target="slides/slide27.xml"/><Relationship Id="rId39" Type="http://schemas.openxmlformats.org/officeDocument/2006/relationships/slide" Target="slides/slide2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B92CBF8-18C8-31DD-F46C-61CCFF09E5D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A39C4E16-CF32-DCE9-CFBA-3D18F258B50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00638C3-A19C-B94C-9B49-D7DD60AEF655}" type="datetimeFigureOut">
              <a:rPr lang="en-US" smtClean="0"/>
              <a:t>6/29/2026</a:t>
            </a:fld>
            <a:endParaRPr lang="en-US"/>
          </a:p>
        </p:txBody>
      </p:sp>
      <p:sp>
        <p:nvSpPr>
          <p:cNvPr id="4" name="Footer Placeholder 3">
            <a:extLst>
              <a:ext uri="{FF2B5EF4-FFF2-40B4-BE49-F238E27FC236}">
                <a16:creationId xmlns:a16="http://schemas.microsoft.com/office/drawing/2014/main" id="{B9986E82-0F97-5470-C173-872D3CB07D9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5DAEED87-86EF-9F01-82BC-41E73378964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1865568-2AD1-0C41-AA57-6C66A988080E}" type="slidenum">
              <a:rPr lang="en-US" smtClean="0"/>
              <a:t>‹#›</a:t>
            </a:fld>
            <a:endParaRPr lang="en-US"/>
          </a:p>
        </p:txBody>
      </p:sp>
    </p:spTree>
    <p:extLst>
      <p:ext uri="{BB962C8B-B14F-4D97-AF65-F5344CB8AC3E}">
        <p14:creationId xmlns:p14="http://schemas.microsoft.com/office/powerpoint/2010/main" val="5365602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7D0CC5D-FA5D-CB42-BCB4-643101262201}" type="datetimeFigureOut">
              <a:rPr lang="en-US" smtClean="0"/>
              <a:t>6/29/2026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91039A1-DE79-214A-A305-FD85593430B7}" type="slidenum">
              <a:rPr lang="en-US" smtClean="0"/>
              <a:t>‹#›</a:t>
            </a:fld>
            <a:endParaRPr lang="en-US"/>
          </a:p>
        </p:txBody>
      </p:sp>
    </p:spTree>
    <p:extLst>
      <p:ext uri="{BB962C8B-B14F-4D97-AF65-F5344CB8AC3E}">
        <p14:creationId xmlns:p14="http://schemas.microsoft.com/office/powerpoint/2010/main" val="40165045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0:15</a:t>
            </a:r>
          </a:p>
          <a:p/>
          <a:p>
            <a:r>
              <a:t>This project uses machine learning to study mouse bulk RNA-seq from NASA spaceflight experiments. The first model asks which pathways change. The second asks whether realistic synthetic profiles can improve a tissue-specific FLT versus GC analysis.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Both parts begin with the same OSDR flight and ground-control data. expiMap organizes expression into interpretable Reactome programs. The generative pipeline models the expression distribution and then tests whether generated profiles improve classification and gene ranking.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An autoencoder takes a high-dimensional gene-expression profile, compresses it into a small set of latent variables, and reconstructs the original profile. Nearby points in latent space have similar expression. In a standard autoencoder those axes may have no clear biological meaning. expiMap constrains them with known gene programs.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These are observed OSDR examples from the expiMap analysis. Each sample receives a latent score for each Reactome program. The table shows project-centered mean scores for flight and ground control, followed by flight minus ground. The formal analysis estimates the change inside each project and then combines project effects. All four examples are lower in flight; a lower latent score does not by itself prove biochemical inhibition.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0:50</a:t>
            </a:r>
          </a:p>
          <a:p/>
          <a:p>
            <a:r>
              <a:t>Thymus showed lower repair, cytoskeletal, and stromal-interaction programs. Skin showed lower chromatin regulation, repair, Hedgehog, sphingolipid, and cell-junction programs. Liver showed lower MHC class II and T-cell receptor scores. Spleen combined lower T-cell receptor, neutrophil-degranulation, and C-type lectin programs.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A generator learns the distribution of measured expression and samples new numeric profiles for a chosen tissue and FLT or GC context. We use those profiles to test classifiers and rank genes. They are model output, not new animals or independent biological measurements.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0:30</a:t>
            </a:r>
          </a:p>
          <a:p/>
          <a:p>
            <a:r>
              <a:t>OSDR covers many tissues, but its 1,610 profiles are spread across 75 accessions. ARCHS4 supplies a much larger mouse reference. The model must preserve tissue and condition structure without simply learning study identity.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0:30</a:t>
            </a:r>
          </a:p>
          <a:p/>
          <a:p>
            <a:r>
              <a:t>The left animation shows the familiar image version: begin with visual noise and repeatedly denoise until an image appears. The right animation applies the same idea to expression data. Random gene values are denoised toward the region requested by the FLT or GC condition.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0:30</a:t>
            </a:r>
          </a:p>
          <a:p/>
          <a:p>
            <a:r>
              <a:t>The face sequence on the left shows the familiar GAN idea: generated examples improve during adversarial training. On the right, our generator makes expression profiles while a critic compares them with measured OSDR profiles. Tissue, FLT or GC, accession, and material type specify which profile the generator should make.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The pipeline can change data scope, transformation, harmonization, model, training source, and conditioning. The branch used here applies TPM, MaxAbs scaling, 974 landmarks, ARCHS4 pretraining, OSDR adaptation, and conditioning on tissue, FLT or GC, accession, and material type.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We compared WGAN-GP with the conditional diffusion model. Both matched expression well. DDIM had higher F1, adversarial accuracy close to chance, and lower distributional distance, so the remaining analysis uses DDIM.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The same generated profiles begin as noise, develop structure by timestep 200, and reach their tissue-conditioned regions at timestep zero. All three panels share PCA axes.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These panels use the same locked coordinates. The left panel colors each profile by tissue, while the right colors it by OSDR accession. Circles are observed profiles and crosses are matched DDIM profiles. Both tissue and study structure are reproduced in the generated data.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The left panel now colors the same profiles by flight or ground-control condition, while the right repeats the accession view. FLT and GC overlap much more than the study clusters. This is why the downstream analysis estimates FLT-GC effects within accession rather than treating the pooled separation as biology.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0:40</a:t>
            </a:r>
          </a:p>
          <a:p/>
          <a:p>
            <a:r>
              <a:t>Every matched classifier uses all 974 genes, the same real-fitted scaler, the same outer split, and one regularization value selected from real training data. Real-only, synthetic-only, and real-plus-synthetic models are evaluated on the same held-out real profiles. This isolates training source within the classifier analysis.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Real and generated profiles rank the same 974 genes. Combining those rankings can move a gene into or out of a compact top-k panel. This is useful for pathway interpretation, but it does not isolate training source as directly as the matched all-gene comparison.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Suppose several genes carry the same pathway signal. Ridge can divide weight among them. If I shuffle Gene A, Genes B and C remain, so held-out performance changes little and Gene A receives low permutation importance. Consensus ranking can still retain the group. Low individual importance means replaceable in this classifier, not biologically irrelevant.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The pooled multi-tissue classifier declined with augmentation. In separate tissue models, real plus synthetic passed all pooled and accession-macro balanced-accuracy, AUROC, and average-precision checks in 18 of 27 analyses. The coral examples show why a balanced-accuracy gain alone is not enough when another metric declines.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0:30</a:t>
            </a:r>
          </a:p>
          <a:p/>
          <a:p>
            <a:r>
              <a:t>The matched analysis retained 21 BH-FDR tissue-gene associations, and consensus ranking retained 49. Eleven appear in both. Matched results are primary evidence that synthetic training changes classifier behavior. Consensus-only results are secondary panel evidence.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0:30</a:t>
            </a:r>
          </a:p>
          <a:p/>
          <a:p>
            <a:r>
              <a:t>For the 49 consensus associations, promoted or reinforced describes feature selection. Aligning, complementary, ambiguous, or unmatched describes the literature review. These labels answer different questions and can occur in any combination.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Four tissues had both matched utility and retained BH-FDR genes. Fourteen more passed the utility gate without a retained gene. Nine failed at least one mean metric. Predictive improvement does not automatically produce a biological candidate.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0:20</a:t>
            </a:r>
          </a:p>
          <a:p/>
          <a:p>
            <a:r>
              <a:t>This slide lists all 49 consensus associations. Rows separate FLT direction and selection status. Gene color gives the independent literature classification.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The matched analysis retained 15 thymus genes, seven promoted after augmentation, and 26 significant Reactome terms led by mitotic cell cycle. Nine genes overlap the 16-gene consensus panel, which adds correlated cell-cycle members. Together they support lower proliferative renewal or fewer cycling thymocytes in flight.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0:35</a:t>
            </a:r>
          </a:p>
          <a:p/>
          <a:p>
            <a:r>
              <a:t>The consensus analysis reinforces lower Bdh1, Ech1, Bnip3, and Decr1 with higher Tpm1, a coherent mitochondrial and lipid-metabolism panel. In the fixed all-gene comparison, balanced accuracy rose slightly but AUROC and average precision fell, so the matched gate did not pass.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Liver contributes four flight-lower shared-importance genes without pathway enrichment. Skin Plscr1 and spleen Loxl1 are supported by both analyses. Pooled muscle improves prediction in the matched classifier, but its individual gene interpretation remains consensus-level.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0:20</a:t>
            </a:r>
          </a:p>
          <a:p/>
          <a:p>
            <a:r>
              <a:t>Kidney, adrenal gland, gastrocnemius, and tibialis anterior add smaller tissue-specific consensus candidates. They did not pass the matched gene gate, so they remain exploratory panel-level hypotheses.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0:30</a:t>
            </a:r>
          </a:p>
          <a:p/>
          <a:p>
            <a:r>
              <a:t>Conditional DDIM produced realistic profiles. Matched classifiers show where synthetic training changes held-out-real prediction and gene importance. Consensus ranking organizes correlated biological panels. Thymus is strongest across both; all association statistics still come from observed OSDR samples.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0:10</a:t>
            </a:r>
          </a:p>
          <a:p/>
          <a:p>
            <a:r>
              <a:t>Acknowledge James Casaletto, SLSTP, NASA OSDR, ARCHS4, Reactome, and NASA Ames compute, then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png"/><Relationship Id="rId9" Type="http://schemas.openxmlformats.org/officeDocument/2006/relationships/image" Target="../media/image17.png"/><Relationship Id="rId10" Type="http://schemas.openxmlformats.org/officeDocument/2006/relationships/image" Target="../media/image18.png"/><Relationship Id="rId11" Type="http://schemas.openxmlformats.org/officeDocument/2006/relationships/image" Target="../media/image19.png"/><Relationship Id="rId12" Type="http://schemas.openxmlformats.org/officeDocument/2006/relationships/image" Target="../media/image20.png"/><Relationship Id="rId13" Type="http://schemas.openxmlformats.org/officeDocument/2006/relationships/image" Target="../media/image21.png"/><Relationship Id="rId14" Type="http://schemas.openxmlformats.org/officeDocument/2006/relationships/image" Target="../media/image22.png"/><Relationship Id="rId15" Type="http://schemas.openxmlformats.org/officeDocument/2006/relationships/image" Target="../media/image23.png"/><Relationship Id="rId16" Type="http://schemas.openxmlformats.org/officeDocument/2006/relationships/image" Target="../media/image24.png"/><Relationship Id="rId17" Type="http://schemas.openxmlformats.org/officeDocument/2006/relationships/image" Target="../media/image2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4.png"/><Relationship Id="rId11" Type="http://schemas.openxmlformats.org/officeDocument/2006/relationships/image" Target="../media/image35.png"/><Relationship Id="rId12" Type="http://schemas.openxmlformats.org/officeDocument/2006/relationships/image" Target="../media/image36.png"/><Relationship Id="rId13" Type="http://schemas.openxmlformats.org/officeDocument/2006/relationships/image" Target="../media/image37.png"/><Relationship Id="rId14" Type="http://schemas.openxmlformats.org/officeDocument/2006/relationships/image" Target="../media/image38.png"/><Relationship Id="rId15" Type="http://schemas.openxmlformats.org/officeDocument/2006/relationships/image" Target="../media/image39.png"/><Relationship Id="rId16" Type="http://schemas.openxmlformats.org/officeDocument/2006/relationships/image" Target="../media/image40.png"/><Relationship Id="rId17" Type="http://schemas.openxmlformats.org/officeDocument/2006/relationships/image" Target="../media/image4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50.png"/><Relationship Id="rId11" Type="http://schemas.openxmlformats.org/officeDocument/2006/relationships/image" Target="../media/image51.png"/><Relationship Id="rId12" Type="http://schemas.openxmlformats.org/officeDocument/2006/relationships/image" Target="../media/image52.png"/><Relationship Id="rId13" Type="http://schemas.openxmlformats.org/officeDocument/2006/relationships/image" Target="../media/image53.png"/><Relationship Id="rId14" Type="http://schemas.openxmlformats.org/officeDocument/2006/relationships/image" Target="../media/image54.png"/><Relationship Id="rId15" Type="http://schemas.openxmlformats.org/officeDocument/2006/relationships/image" Target="../media/image55.png"/><Relationship Id="rId16" Type="http://schemas.openxmlformats.org/officeDocument/2006/relationships/image" Target="../media/image56.png"/><Relationship Id="rId17" Type="http://schemas.openxmlformats.org/officeDocument/2006/relationships/image" Target="../media/image5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66.png"/><Relationship Id="rId11" Type="http://schemas.openxmlformats.org/officeDocument/2006/relationships/image" Target="../media/image67.png"/><Relationship Id="rId12" Type="http://schemas.openxmlformats.org/officeDocument/2006/relationships/image" Target="../media/image68.png"/><Relationship Id="rId13" Type="http://schemas.openxmlformats.org/officeDocument/2006/relationships/image" Target="../media/image69.png"/><Relationship Id="rId14" Type="http://schemas.openxmlformats.org/officeDocument/2006/relationships/image" Target="../media/image70.png"/><Relationship Id="rId15" Type="http://schemas.openxmlformats.org/officeDocument/2006/relationships/image" Target="../media/image71.png"/><Relationship Id="rId16" Type="http://schemas.openxmlformats.org/officeDocument/2006/relationships/image" Target="../media/image72.png"/><Relationship Id="rId17" Type="http://schemas.openxmlformats.org/officeDocument/2006/relationships/image" Target="../media/image7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3_Title Slide">
    <p:bg>
      <p:bgPr>
        <a:solidFill>
          <a:srgbClr val="000000"/>
        </a:solid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C1403792-C452-45B8-A50E-5D7E7B3AF110}"/>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l="-4277"/>
          <a:stretch/>
        </p:blipFill>
        <p:spPr>
          <a:xfrm>
            <a:off x="0" y="0"/>
            <a:ext cx="12192000" cy="6858000"/>
          </a:xfrm>
          <a:prstGeom prst="rect">
            <a:avLst/>
          </a:prstGeom>
        </p:spPr>
      </p:pic>
      <p:sp>
        <p:nvSpPr>
          <p:cNvPr id="3" name="Subtitle 2">
            <a:extLst>
              <a:ext uri="{FF2B5EF4-FFF2-40B4-BE49-F238E27FC236}">
                <a16:creationId xmlns:a16="http://schemas.microsoft.com/office/drawing/2014/main" id="{AE77D0F7-4A6B-4045-B534-3DB6A60EA85B}"/>
              </a:ext>
            </a:extLst>
          </p:cNvPr>
          <p:cNvSpPr>
            <a:spLocks noGrp="1"/>
          </p:cNvSpPr>
          <p:nvPr userDrawn="1">
            <p:ph type="subTitle" idx="1"/>
          </p:nvPr>
        </p:nvSpPr>
        <p:spPr>
          <a:xfrm>
            <a:off x="500101" y="3895025"/>
            <a:ext cx="4774425" cy="365125"/>
          </a:xfrm>
        </p:spPr>
        <p:txBody>
          <a:bodyPr wrap="square">
            <a:spAutoFit/>
          </a:bodyPr>
          <a:lstStyle>
            <a:lvl1pPr marL="0" indent="0" algn="l">
              <a:buNone/>
              <a:defRPr sz="1800" b="1">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8" name="Text Placeholder 27">
            <a:extLst>
              <a:ext uri="{FF2B5EF4-FFF2-40B4-BE49-F238E27FC236}">
                <a16:creationId xmlns:a16="http://schemas.microsoft.com/office/drawing/2014/main" id="{9EB2794A-5528-E000-6303-F23EDF3D2A62}"/>
              </a:ext>
            </a:extLst>
          </p:cNvPr>
          <p:cNvSpPr>
            <a:spLocks noGrp="1"/>
          </p:cNvSpPr>
          <p:nvPr>
            <p:ph type="body" sz="quarter" idx="14" hasCustomPrompt="1"/>
          </p:nvPr>
        </p:nvSpPr>
        <p:spPr>
          <a:xfrm>
            <a:off x="500102" y="1297175"/>
            <a:ext cx="4774425" cy="2374669"/>
          </a:xfrm>
        </p:spPr>
        <p:txBody>
          <a:bodyPr anchor="b"/>
          <a:lstStyle>
            <a:lvl1pPr marL="0" indent="0" algn="l">
              <a:buNone/>
              <a:defRPr sz="3600" b="1">
                <a:solidFill>
                  <a:schemeClr val="bg1"/>
                </a:solidFill>
              </a:defRPr>
            </a:lvl1pPr>
            <a:lvl2pPr algn="ctr">
              <a:defRPr>
                <a:solidFill>
                  <a:schemeClr val="bg1"/>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en-US" dirty="0"/>
              <a:t>Title goes here</a:t>
            </a:r>
          </a:p>
        </p:txBody>
      </p:sp>
      <p:pic>
        <p:nvPicPr>
          <p:cNvPr id="4" name="Picture 3">
            <a:extLst>
              <a:ext uri="{FF2B5EF4-FFF2-40B4-BE49-F238E27FC236}">
                <a16:creationId xmlns:a16="http://schemas.microsoft.com/office/drawing/2014/main" id="{616713B4-5E0C-24BD-8049-E50B082A507C}"/>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10951262" y="398340"/>
            <a:ext cx="888827" cy="740690"/>
          </a:xfrm>
          <a:prstGeom prst="rect">
            <a:avLst/>
          </a:prstGeom>
        </p:spPr>
      </p:pic>
      <p:sp>
        <p:nvSpPr>
          <p:cNvPr id="5" name="TextBox 4">
            <a:extLst>
              <a:ext uri="{FF2B5EF4-FFF2-40B4-BE49-F238E27FC236}">
                <a16:creationId xmlns:a16="http://schemas.microsoft.com/office/drawing/2014/main" id="{B8688442-0230-1582-A41F-57E75101CEF7}"/>
              </a:ext>
            </a:extLst>
          </p:cNvPr>
          <p:cNvSpPr txBox="1"/>
          <p:nvPr userDrawn="1"/>
        </p:nvSpPr>
        <p:spPr>
          <a:xfrm>
            <a:off x="8654144" y="537854"/>
            <a:ext cx="1922620" cy="461665"/>
          </a:xfrm>
          <a:prstGeom prst="rect">
            <a:avLst/>
          </a:prstGeom>
          <a:noFill/>
        </p:spPr>
        <p:txBody>
          <a:bodyPr wrap="square" rtlCol="0">
            <a:spAutoFit/>
          </a:bodyPr>
          <a:lstStyle/>
          <a:p>
            <a:pPr algn="r"/>
            <a:r>
              <a:rPr lang="en-US" sz="1200" b="0" dirty="0">
                <a:solidFill>
                  <a:schemeClr val="bg1"/>
                </a:solidFill>
                <a:effectLst>
                  <a:outerShdw blurRad="159992" dist="49945" dir="2700000" algn="tl" rotWithShape="0">
                    <a:srgbClr val="000000"/>
                  </a:outerShdw>
                </a:effectLst>
                <a:latin typeface="Arial" panose="020B0604020202020204" pitchFamily="34" charset="0"/>
                <a:cs typeface="Arial" panose="020B0604020202020204" pitchFamily="34" charset="0"/>
              </a:rPr>
              <a:t>National Aeronautics and Space Administration</a:t>
            </a:r>
          </a:p>
        </p:txBody>
      </p:sp>
      <p:cxnSp>
        <p:nvCxnSpPr>
          <p:cNvPr id="6" name="Straight Connector 5">
            <a:extLst>
              <a:ext uri="{FF2B5EF4-FFF2-40B4-BE49-F238E27FC236}">
                <a16:creationId xmlns:a16="http://schemas.microsoft.com/office/drawing/2014/main" id="{B3B95B80-9B88-7F4C-049E-8C0069365EA9}"/>
              </a:ext>
            </a:extLst>
          </p:cNvPr>
          <p:cNvCxnSpPr/>
          <p:nvPr userDrawn="1"/>
        </p:nvCxnSpPr>
        <p:spPr>
          <a:xfrm>
            <a:off x="10764013" y="537853"/>
            <a:ext cx="0" cy="461665"/>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pic>
        <p:nvPicPr>
          <p:cNvPr id="14" name="Picture 13" descr="A black background with grey letters&#10;&#10;Description automatically generated">
            <a:extLst>
              <a:ext uri="{FF2B5EF4-FFF2-40B4-BE49-F238E27FC236}">
                <a16:creationId xmlns:a16="http://schemas.microsoft.com/office/drawing/2014/main" id="{9BA426D5-CE2B-D46C-E493-D02FFAA865B9}"/>
              </a:ext>
            </a:extLst>
          </p:cNvPr>
          <p:cNvPicPr>
            <a:picLocks noChangeAspect="1"/>
          </p:cNvPicPr>
          <p:nvPr userDrawn="1"/>
        </p:nvPicPr>
        <p:blipFill rotWithShape="1">
          <a:blip r:embed="rId4" cstate="screen">
            <a:alphaModFix amt="23000"/>
            <a:extLst>
              <a:ext uri="{28A0092B-C50C-407E-A947-70E740481C1C}">
                <a14:useLocalDpi xmlns:a14="http://schemas.microsoft.com/office/drawing/2010/main"/>
              </a:ext>
            </a:extLst>
          </a:blip>
          <a:srcRect/>
          <a:stretch/>
        </p:blipFill>
        <p:spPr>
          <a:xfrm>
            <a:off x="0" y="5168811"/>
            <a:ext cx="3884861" cy="1719470"/>
          </a:xfrm>
          <a:prstGeom prst="rect">
            <a:avLst/>
          </a:prstGeom>
        </p:spPr>
      </p:pic>
      <p:sp>
        <p:nvSpPr>
          <p:cNvPr id="7" name="TextBox 6">
            <a:extLst>
              <a:ext uri="{FF2B5EF4-FFF2-40B4-BE49-F238E27FC236}">
                <a16:creationId xmlns:a16="http://schemas.microsoft.com/office/drawing/2014/main" id="{B02A5107-22C8-EFF2-D258-3F67CDB1A001}"/>
              </a:ext>
            </a:extLst>
          </p:cNvPr>
          <p:cNvSpPr txBox="1"/>
          <p:nvPr userDrawn="1"/>
        </p:nvSpPr>
        <p:spPr>
          <a:xfrm>
            <a:off x="500101" y="6296266"/>
            <a:ext cx="3657600" cy="338554"/>
          </a:xfrm>
          <a:prstGeom prst="rect">
            <a:avLst/>
          </a:prstGeom>
          <a:noFill/>
        </p:spPr>
        <p:txBody>
          <a:bodyPr wrap="square" rtlCol="0">
            <a:spAutoFit/>
          </a:bodyPr>
          <a:lstStyle/>
          <a:p>
            <a:pPr algn="l"/>
            <a:r>
              <a:rPr lang="en-US" sz="1600" b="1" dirty="0">
                <a:solidFill>
                  <a:schemeClr val="bg2">
                    <a:lumMod val="75000"/>
                  </a:schemeClr>
                </a:solidFill>
                <a:latin typeface="Arial" panose="020B0604020202020204" pitchFamily="34" charset="0"/>
                <a:cs typeface="Arial" panose="020B0604020202020204" pitchFamily="34" charset="0"/>
              </a:rPr>
              <a:t>B</a:t>
            </a:r>
            <a:r>
              <a:rPr lang="en-US" sz="1600" b="0" dirty="0">
                <a:solidFill>
                  <a:schemeClr val="bg2">
                    <a:lumMod val="75000"/>
                  </a:schemeClr>
                </a:solidFill>
                <a:latin typeface="Arial" panose="020B0604020202020204" pitchFamily="34" charset="0"/>
                <a:cs typeface="Arial" panose="020B0604020202020204" pitchFamily="34" charset="0"/>
              </a:rPr>
              <a:t>iological &amp; </a:t>
            </a:r>
            <a:r>
              <a:rPr lang="en-US" sz="1600" b="1" dirty="0">
                <a:solidFill>
                  <a:schemeClr val="bg2">
                    <a:lumMod val="75000"/>
                  </a:schemeClr>
                </a:solidFill>
                <a:latin typeface="Arial" panose="020B0604020202020204" pitchFamily="34" charset="0"/>
                <a:cs typeface="Arial" panose="020B0604020202020204" pitchFamily="34" charset="0"/>
              </a:rPr>
              <a:t>P</a:t>
            </a:r>
            <a:r>
              <a:rPr lang="en-US" sz="1600" b="0" dirty="0">
                <a:solidFill>
                  <a:schemeClr val="bg2">
                    <a:lumMod val="75000"/>
                  </a:schemeClr>
                </a:solidFill>
                <a:latin typeface="Arial" panose="020B0604020202020204" pitchFamily="34" charset="0"/>
                <a:cs typeface="Arial" panose="020B0604020202020204" pitchFamily="34" charset="0"/>
              </a:rPr>
              <a:t>hysical </a:t>
            </a:r>
            <a:r>
              <a:rPr lang="en-US" sz="1600" b="1" dirty="0">
                <a:solidFill>
                  <a:schemeClr val="bg2">
                    <a:lumMod val="75000"/>
                  </a:schemeClr>
                </a:solidFill>
                <a:latin typeface="Arial" panose="020B0604020202020204" pitchFamily="34" charset="0"/>
                <a:cs typeface="Arial" panose="020B0604020202020204" pitchFamily="34" charset="0"/>
              </a:rPr>
              <a:t>S</a:t>
            </a:r>
            <a:r>
              <a:rPr lang="en-US" sz="1600" b="0" dirty="0">
                <a:solidFill>
                  <a:schemeClr val="bg2">
                    <a:lumMod val="75000"/>
                  </a:schemeClr>
                </a:solidFill>
                <a:latin typeface="Arial" panose="020B0604020202020204" pitchFamily="34" charset="0"/>
                <a:cs typeface="Arial" panose="020B0604020202020204" pitchFamily="34" charset="0"/>
              </a:rPr>
              <a:t>ciences</a:t>
            </a:r>
          </a:p>
        </p:txBody>
      </p:sp>
    </p:spTree>
    <p:extLst>
      <p:ext uri="{BB962C8B-B14F-4D97-AF65-F5344CB8AC3E}">
        <p14:creationId xmlns:p14="http://schemas.microsoft.com/office/powerpoint/2010/main" val="3390964837"/>
      </p:ext>
    </p:extLst>
  </p:cSld>
  <p:clrMapOvr>
    <a:masterClrMapping/>
  </p:clrMapOvr>
  <p:extLst>
    <p:ext uri="{DCECCB84-F9BA-43D5-87BE-67443E8EF086}">
      <p15:sldGuideLst xmlns:p15="http://schemas.microsoft.com/office/powerpoint/2012/main">
        <p15:guide id="1" orient="horz" pos="2160">
          <p15:clr>
            <a:srgbClr val="FBAE40"/>
          </p15:clr>
        </p15:guide>
        <p15:guide id="2" pos="456">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9E8CFB-2DE8-BA24-FFBC-66F77875D5EE}"/>
              </a:ext>
            </a:extLst>
          </p:cNvPr>
          <p:cNvSpPr>
            <a:spLocks noGrp="1"/>
          </p:cNvSpPr>
          <p:nvPr>
            <p:ph type="title" hasCustomPrompt="1"/>
          </p:nvPr>
        </p:nvSpPr>
        <p:spPr>
          <a:xfrm>
            <a:off x="914400" y="755930"/>
            <a:ext cx="10325100" cy="1325563"/>
          </a:xfrm>
        </p:spPr>
        <p:txBody>
          <a:bodyPr/>
          <a:lstStyle/>
          <a:p>
            <a:r>
              <a:rPr lang="en-US" dirty="0"/>
              <a:t>Agenda Title</a:t>
            </a:r>
          </a:p>
        </p:txBody>
      </p:sp>
      <p:sp>
        <p:nvSpPr>
          <p:cNvPr id="4" name="Footer Placeholder 3">
            <a:extLst>
              <a:ext uri="{FF2B5EF4-FFF2-40B4-BE49-F238E27FC236}">
                <a16:creationId xmlns:a16="http://schemas.microsoft.com/office/drawing/2014/main" id="{7E3B3E43-6742-FF22-D2F2-033E1364C113}"/>
              </a:ext>
            </a:extLst>
          </p:cNvPr>
          <p:cNvSpPr>
            <a:spLocks noGrp="1"/>
          </p:cNvSpPr>
          <p:nvPr>
            <p:ph type="ftr" sz="quarter" idx="11"/>
          </p:nvPr>
        </p:nvSpPr>
        <p:spPr/>
        <p:txBody>
          <a:bodyPr/>
          <a:lstStyle/>
          <a:p>
            <a:r>
              <a:rPr lang="en-US" dirty="0"/>
              <a:t>Biological &amp; Physical Sciences </a:t>
            </a:r>
          </a:p>
        </p:txBody>
      </p:sp>
      <p:sp>
        <p:nvSpPr>
          <p:cNvPr id="5" name="Slide Number Placeholder 4">
            <a:extLst>
              <a:ext uri="{FF2B5EF4-FFF2-40B4-BE49-F238E27FC236}">
                <a16:creationId xmlns:a16="http://schemas.microsoft.com/office/drawing/2014/main" id="{8E26FCE7-3724-2CFD-0646-F383DB2F0F58}"/>
              </a:ext>
            </a:extLst>
          </p:cNvPr>
          <p:cNvSpPr>
            <a:spLocks noGrp="1"/>
          </p:cNvSpPr>
          <p:nvPr>
            <p:ph type="sldNum" sz="quarter" idx="12"/>
          </p:nvPr>
        </p:nvSpPr>
        <p:spPr>
          <a:xfrm>
            <a:off x="11662148" y="100584"/>
            <a:ext cx="1059704" cy="261258"/>
          </a:xfrm>
        </p:spPr>
        <p:txBody>
          <a:bodyPr/>
          <a:lstStyle/>
          <a:p>
            <a:fld id="{E8618032-BA8D-3D4D-8253-A70208A85976}" type="slidenum">
              <a:rPr lang="en-US" smtClean="0"/>
              <a:pPr/>
              <a:t>‹#›</a:t>
            </a:fld>
            <a:endParaRPr lang="en-US" dirty="0"/>
          </a:p>
        </p:txBody>
      </p:sp>
      <p:sp>
        <p:nvSpPr>
          <p:cNvPr id="22" name="Text Placeholder 21">
            <a:extLst>
              <a:ext uri="{FF2B5EF4-FFF2-40B4-BE49-F238E27FC236}">
                <a16:creationId xmlns:a16="http://schemas.microsoft.com/office/drawing/2014/main" id="{B466CDE3-4631-5FA9-337A-DF847EAAD5B5}"/>
              </a:ext>
            </a:extLst>
          </p:cNvPr>
          <p:cNvSpPr>
            <a:spLocks noGrp="1"/>
          </p:cNvSpPr>
          <p:nvPr>
            <p:ph type="body" sz="quarter" idx="13" hasCustomPrompt="1"/>
          </p:nvPr>
        </p:nvSpPr>
        <p:spPr>
          <a:xfrm>
            <a:off x="1824652" y="2247900"/>
            <a:ext cx="3974845" cy="609600"/>
          </a:xfrm>
        </p:spPr>
        <p:txBody>
          <a:bodyPr anchor="ctr">
            <a:normAutofit/>
          </a:bodyPr>
          <a:lstStyle>
            <a:lvl1pPr marL="0" indent="0">
              <a:buNone/>
              <a:defRPr sz="2000"/>
            </a:lvl1pPr>
          </a:lstStyle>
          <a:p>
            <a:pPr lvl="0"/>
            <a:r>
              <a:rPr lang="en-US" dirty="0"/>
              <a:t>Click to add addenda item</a:t>
            </a:r>
          </a:p>
        </p:txBody>
      </p:sp>
      <p:sp>
        <p:nvSpPr>
          <p:cNvPr id="25" name="Text Placeholder 21">
            <a:extLst>
              <a:ext uri="{FF2B5EF4-FFF2-40B4-BE49-F238E27FC236}">
                <a16:creationId xmlns:a16="http://schemas.microsoft.com/office/drawing/2014/main" id="{2A51E4DB-9ABE-A139-7B46-5FC55133039B}"/>
              </a:ext>
            </a:extLst>
          </p:cNvPr>
          <p:cNvSpPr>
            <a:spLocks noGrp="1"/>
          </p:cNvSpPr>
          <p:nvPr>
            <p:ph type="body" sz="quarter" idx="16" hasCustomPrompt="1"/>
          </p:nvPr>
        </p:nvSpPr>
        <p:spPr>
          <a:xfrm>
            <a:off x="6934200" y="2247900"/>
            <a:ext cx="4343400" cy="609600"/>
          </a:xfrm>
        </p:spPr>
        <p:txBody>
          <a:bodyPr anchor="ctr">
            <a:normAutofit/>
          </a:bodyPr>
          <a:lstStyle>
            <a:lvl1pPr marL="0" indent="0">
              <a:buNone/>
              <a:defRPr sz="2000"/>
            </a:lvl1pPr>
          </a:lstStyle>
          <a:p>
            <a:pPr lvl="0"/>
            <a:r>
              <a:rPr lang="en-US" dirty="0"/>
              <a:t>Click to add addenda item</a:t>
            </a:r>
          </a:p>
        </p:txBody>
      </p:sp>
      <p:sp>
        <p:nvSpPr>
          <p:cNvPr id="29" name="Text Placeholder 28">
            <a:extLst>
              <a:ext uri="{FF2B5EF4-FFF2-40B4-BE49-F238E27FC236}">
                <a16:creationId xmlns:a16="http://schemas.microsoft.com/office/drawing/2014/main" id="{7B35BDAA-D931-DC03-6B00-6EDF027908BB}"/>
              </a:ext>
            </a:extLst>
          </p:cNvPr>
          <p:cNvSpPr>
            <a:spLocks noGrp="1"/>
          </p:cNvSpPr>
          <p:nvPr>
            <p:ph type="body" sz="quarter" idx="19" hasCustomPrompt="1"/>
          </p:nvPr>
        </p:nvSpPr>
        <p:spPr>
          <a:xfrm>
            <a:off x="914400" y="2209800"/>
            <a:ext cx="685800" cy="685800"/>
          </a:xfrm>
          <a:noFill/>
        </p:spPr>
        <p:txBody>
          <a:bodyPr anchor="ctr">
            <a:normAutofit/>
          </a:bodyPr>
          <a:lstStyle>
            <a:lvl1pPr marL="0" indent="0" algn="ctr">
              <a:buNone/>
              <a:defRPr sz="4000">
                <a:gradFill>
                  <a:gsLst>
                    <a:gs pos="86000">
                      <a:schemeClr val="accent3"/>
                    </a:gs>
                    <a:gs pos="47000">
                      <a:schemeClr val="accent2"/>
                    </a:gs>
                    <a:gs pos="0">
                      <a:schemeClr val="tx1"/>
                    </a:gs>
                  </a:gsLst>
                  <a:lin ang="3600000" scaled="0"/>
                </a:gradFill>
                <a:latin typeface="+mj-lt"/>
              </a:defRPr>
            </a:lvl1pPr>
          </a:lstStyle>
          <a:p>
            <a:pPr lvl="0"/>
            <a:r>
              <a:rPr lang="en-US" dirty="0"/>
              <a:t>#</a:t>
            </a:r>
          </a:p>
        </p:txBody>
      </p:sp>
      <p:sp>
        <p:nvSpPr>
          <p:cNvPr id="32" name="Text Placeholder 28">
            <a:extLst>
              <a:ext uri="{FF2B5EF4-FFF2-40B4-BE49-F238E27FC236}">
                <a16:creationId xmlns:a16="http://schemas.microsoft.com/office/drawing/2014/main" id="{EF503090-B911-7788-8B94-3F88CA4797F9}"/>
              </a:ext>
            </a:extLst>
          </p:cNvPr>
          <p:cNvSpPr>
            <a:spLocks noGrp="1"/>
          </p:cNvSpPr>
          <p:nvPr>
            <p:ph type="body" sz="quarter" idx="22" hasCustomPrompt="1"/>
          </p:nvPr>
        </p:nvSpPr>
        <p:spPr>
          <a:xfrm>
            <a:off x="6023949" y="2209800"/>
            <a:ext cx="685800" cy="685800"/>
          </a:xfrm>
          <a:noFill/>
        </p:spPr>
        <p:txBody>
          <a:bodyPr vert="horz" lIns="91440" tIns="45720" rIns="91440" bIns="45720" rtlCol="0" anchor="ctr">
            <a:normAutofit/>
          </a:bodyPr>
          <a:lstStyle>
            <a:lvl1pPr marL="0" indent="0" algn="r">
              <a:buNone/>
              <a:defRPr lang="en-US" sz="4000" dirty="0">
                <a:gradFill>
                  <a:gsLst>
                    <a:gs pos="82000">
                      <a:schemeClr val="accent3"/>
                    </a:gs>
                    <a:gs pos="45000">
                      <a:schemeClr val="accent2"/>
                    </a:gs>
                  </a:gsLst>
                  <a:lin ang="3600000" scaled="0"/>
                </a:gradFill>
                <a:latin typeface="+mj-lt"/>
              </a:defRPr>
            </a:lvl1pPr>
          </a:lstStyle>
          <a:p>
            <a:pPr marL="228600" lvl="0" indent="-228600" algn="ctr"/>
            <a:r>
              <a:rPr lang="en-US" dirty="0"/>
              <a:t>#</a:t>
            </a:r>
          </a:p>
        </p:txBody>
      </p:sp>
      <p:sp>
        <p:nvSpPr>
          <p:cNvPr id="35" name="Text Placeholder 21">
            <a:extLst>
              <a:ext uri="{FF2B5EF4-FFF2-40B4-BE49-F238E27FC236}">
                <a16:creationId xmlns:a16="http://schemas.microsoft.com/office/drawing/2014/main" id="{65D9DAC4-C562-9524-30AD-991D271FE6EF}"/>
              </a:ext>
            </a:extLst>
          </p:cNvPr>
          <p:cNvSpPr>
            <a:spLocks noGrp="1"/>
          </p:cNvSpPr>
          <p:nvPr>
            <p:ph type="body" sz="quarter" idx="23" hasCustomPrompt="1"/>
          </p:nvPr>
        </p:nvSpPr>
        <p:spPr>
          <a:xfrm>
            <a:off x="1824652" y="3627249"/>
            <a:ext cx="3974845" cy="609600"/>
          </a:xfrm>
        </p:spPr>
        <p:txBody>
          <a:bodyPr anchor="ctr">
            <a:normAutofit/>
          </a:bodyPr>
          <a:lstStyle>
            <a:lvl1pPr marL="0" indent="0">
              <a:buNone/>
              <a:defRPr sz="2000"/>
            </a:lvl1pPr>
          </a:lstStyle>
          <a:p>
            <a:pPr lvl="0"/>
            <a:r>
              <a:rPr lang="en-US" dirty="0"/>
              <a:t>Click to add addenda item</a:t>
            </a:r>
          </a:p>
        </p:txBody>
      </p:sp>
      <p:sp>
        <p:nvSpPr>
          <p:cNvPr id="36" name="Text Placeholder 21">
            <a:extLst>
              <a:ext uri="{FF2B5EF4-FFF2-40B4-BE49-F238E27FC236}">
                <a16:creationId xmlns:a16="http://schemas.microsoft.com/office/drawing/2014/main" id="{7E647AC1-0BB7-0678-1B8A-177F4146A75E}"/>
              </a:ext>
            </a:extLst>
          </p:cNvPr>
          <p:cNvSpPr>
            <a:spLocks noGrp="1"/>
          </p:cNvSpPr>
          <p:nvPr>
            <p:ph type="body" sz="quarter" idx="24" hasCustomPrompt="1"/>
          </p:nvPr>
        </p:nvSpPr>
        <p:spPr>
          <a:xfrm>
            <a:off x="6934200" y="3627249"/>
            <a:ext cx="4343400" cy="609600"/>
          </a:xfrm>
        </p:spPr>
        <p:txBody>
          <a:bodyPr anchor="ctr">
            <a:normAutofit/>
          </a:bodyPr>
          <a:lstStyle>
            <a:lvl1pPr marL="0" indent="0">
              <a:buNone/>
              <a:defRPr sz="2000"/>
            </a:lvl1pPr>
          </a:lstStyle>
          <a:p>
            <a:pPr lvl="0"/>
            <a:r>
              <a:rPr lang="en-US" dirty="0"/>
              <a:t>Click to add addenda item</a:t>
            </a:r>
          </a:p>
        </p:txBody>
      </p:sp>
      <p:sp>
        <p:nvSpPr>
          <p:cNvPr id="37" name="Text Placeholder 28">
            <a:extLst>
              <a:ext uri="{FF2B5EF4-FFF2-40B4-BE49-F238E27FC236}">
                <a16:creationId xmlns:a16="http://schemas.microsoft.com/office/drawing/2014/main" id="{B55453C0-7B23-AC50-10FE-E961216AD9CE}"/>
              </a:ext>
            </a:extLst>
          </p:cNvPr>
          <p:cNvSpPr>
            <a:spLocks noGrp="1"/>
          </p:cNvSpPr>
          <p:nvPr>
            <p:ph type="body" sz="quarter" idx="25" hasCustomPrompt="1"/>
          </p:nvPr>
        </p:nvSpPr>
        <p:spPr>
          <a:xfrm>
            <a:off x="914400" y="3589149"/>
            <a:ext cx="685800" cy="685800"/>
          </a:xfrm>
          <a:noFill/>
        </p:spPr>
        <p:txBody>
          <a:bodyPr vert="horz" lIns="91440" tIns="45720" rIns="91440" bIns="45720" rtlCol="0" anchor="ctr">
            <a:normAutofit/>
          </a:bodyPr>
          <a:lstStyle>
            <a:lvl1pPr marL="0" indent="0" algn="r">
              <a:buNone/>
              <a:defRPr lang="en-US" sz="4000" dirty="0">
                <a:gradFill>
                  <a:gsLst>
                    <a:gs pos="78000">
                      <a:schemeClr val="accent3"/>
                    </a:gs>
                    <a:gs pos="39000">
                      <a:schemeClr val="accent2"/>
                    </a:gs>
                    <a:gs pos="0">
                      <a:schemeClr val="tx1"/>
                    </a:gs>
                  </a:gsLst>
                  <a:lin ang="3600000" scaled="0"/>
                </a:gradFill>
                <a:latin typeface="+mj-lt"/>
              </a:defRPr>
            </a:lvl1pPr>
          </a:lstStyle>
          <a:p>
            <a:pPr marL="228600" lvl="0" indent="-228600" algn="ctr"/>
            <a:r>
              <a:rPr lang="en-US" dirty="0"/>
              <a:t>#</a:t>
            </a:r>
          </a:p>
        </p:txBody>
      </p:sp>
      <p:sp>
        <p:nvSpPr>
          <p:cNvPr id="38" name="Text Placeholder 28">
            <a:extLst>
              <a:ext uri="{FF2B5EF4-FFF2-40B4-BE49-F238E27FC236}">
                <a16:creationId xmlns:a16="http://schemas.microsoft.com/office/drawing/2014/main" id="{1A5B7077-E4C0-3DD2-DCA8-E8A197F1C95C}"/>
              </a:ext>
            </a:extLst>
          </p:cNvPr>
          <p:cNvSpPr>
            <a:spLocks noGrp="1"/>
          </p:cNvSpPr>
          <p:nvPr>
            <p:ph type="body" sz="quarter" idx="26" hasCustomPrompt="1"/>
          </p:nvPr>
        </p:nvSpPr>
        <p:spPr>
          <a:xfrm>
            <a:off x="6023949" y="3589149"/>
            <a:ext cx="685800" cy="685800"/>
          </a:xfrm>
          <a:noFill/>
        </p:spPr>
        <p:txBody>
          <a:bodyPr vert="horz" lIns="91440" tIns="45720" rIns="91440" bIns="45720" rtlCol="0" anchor="ctr">
            <a:normAutofit/>
          </a:bodyPr>
          <a:lstStyle>
            <a:lvl1pPr marL="0" indent="0" algn="r">
              <a:buNone/>
              <a:defRPr lang="en-US" sz="4000" dirty="0">
                <a:gradFill>
                  <a:gsLst>
                    <a:gs pos="7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39" name="Text Placeholder 21">
            <a:extLst>
              <a:ext uri="{FF2B5EF4-FFF2-40B4-BE49-F238E27FC236}">
                <a16:creationId xmlns:a16="http://schemas.microsoft.com/office/drawing/2014/main" id="{B32EE1BF-44FE-201B-EF31-3ED8FF5BA7BC}"/>
              </a:ext>
            </a:extLst>
          </p:cNvPr>
          <p:cNvSpPr>
            <a:spLocks noGrp="1"/>
          </p:cNvSpPr>
          <p:nvPr>
            <p:ph type="body" sz="quarter" idx="27" hasCustomPrompt="1"/>
          </p:nvPr>
        </p:nvSpPr>
        <p:spPr>
          <a:xfrm>
            <a:off x="1824652" y="4913609"/>
            <a:ext cx="3974845" cy="609600"/>
          </a:xfrm>
        </p:spPr>
        <p:txBody>
          <a:bodyPr anchor="ctr">
            <a:normAutofit/>
          </a:bodyPr>
          <a:lstStyle>
            <a:lvl1pPr marL="0" indent="0">
              <a:buNone/>
              <a:defRPr sz="2000"/>
            </a:lvl1pPr>
          </a:lstStyle>
          <a:p>
            <a:pPr lvl="0"/>
            <a:r>
              <a:rPr lang="en-US" dirty="0"/>
              <a:t>Click to add addenda item</a:t>
            </a:r>
          </a:p>
        </p:txBody>
      </p:sp>
      <p:sp>
        <p:nvSpPr>
          <p:cNvPr id="40" name="Text Placeholder 21">
            <a:extLst>
              <a:ext uri="{FF2B5EF4-FFF2-40B4-BE49-F238E27FC236}">
                <a16:creationId xmlns:a16="http://schemas.microsoft.com/office/drawing/2014/main" id="{2F676D19-8F83-696C-ACFF-7F910A6C8105}"/>
              </a:ext>
            </a:extLst>
          </p:cNvPr>
          <p:cNvSpPr>
            <a:spLocks noGrp="1"/>
          </p:cNvSpPr>
          <p:nvPr>
            <p:ph type="body" sz="quarter" idx="28" hasCustomPrompt="1"/>
          </p:nvPr>
        </p:nvSpPr>
        <p:spPr>
          <a:xfrm>
            <a:off x="6934200" y="4913609"/>
            <a:ext cx="4343400" cy="609600"/>
          </a:xfrm>
        </p:spPr>
        <p:txBody>
          <a:bodyPr anchor="ctr">
            <a:normAutofit/>
          </a:bodyPr>
          <a:lstStyle>
            <a:lvl1pPr marL="0" indent="0">
              <a:buNone/>
              <a:defRPr sz="2000"/>
            </a:lvl1pPr>
          </a:lstStyle>
          <a:p>
            <a:pPr lvl="0"/>
            <a:r>
              <a:rPr lang="en-US" dirty="0"/>
              <a:t>Click to add addenda item</a:t>
            </a:r>
          </a:p>
        </p:txBody>
      </p:sp>
      <p:sp>
        <p:nvSpPr>
          <p:cNvPr id="41" name="Text Placeholder 28">
            <a:extLst>
              <a:ext uri="{FF2B5EF4-FFF2-40B4-BE49-F238E27FC236}">
                <a16:creationId xmlns:a16="http://schemas.microsoft.com/office/drawing/2014/main" id="{4936C6BE-C8B8-20C6-9C05-FD330B16C055}"/>
              </a:ext>
            </a:extLst>
          </p:cNvPr>
          <p:cNvSpPr>
            <a:spLocks noGrp="1"/>
          </p:cNvSpPr>
          <p:nvPr>
            <p:ph type="body" sz="quarter" idx="29" hasCustomPrompt="1"/>
          </p:nvPr>
        </p:nvSpPr>
        <p:spPr>
          <a:xfrm>
            <a:off x="914400" y="4875509"/>
            <a:ext cx="685800" cy="685800"/>
          </a:xfrm>
          <a:noFill/>
        </p:spPr>
        <p:txBody>
          <a:bodyPr vert="horz" lIns="91440" tIns="45720" rIns="91440" bIns="45720" rtlCol="0" anchor="ctr">
            <a:normAutofit/>
          </a:bodyPr>
          <a:lstStyle>
            <a:lvl1pPr marL="0" indent="0" algn="r">
              <a:buNone/>
              <a:defRPr lang="en-US" sz="4000" dirty="0">
                <a:gradFill>
                  <a:gsLst>
                    <a:gs pos="8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42" name="Text Placeholder 28">
            <a:extLst>
              <a:ext uri="{FF2B5EF4-FFF2-40B4-BE49-F238E27FC236}">
                <a16:creationId xmlns:a16="http://schemas.microsoft.com/office/drawing/2014/main" id="{9DBD5D19-811F-095E-D5BA-1EE3AC8F9767}"/>
              </a:ext>
            </a:extLst>
          </p:cNvPr>
          <p:cNvSpPr>
            <a:spLocks noGrp="1"/>
          </p:cNvSpPr>
          <p:nvPr>
            <p:ph type="body" sz="quarter" idx="30" hasCustomPrompt="1"/>
          </p:nvPr>
        </p:nvSpPr>
        <p:spPr>
          <a:xfrm>
            <a:off x="6023949" y="4875509"/>
            <a:ext cx="685800" cy="685800"/>
          </a:xfrm>
          <a:noFill/>
        </p:spPr>
        <p:txBody>
          <a:bodyPr vert="horz" lIns="91440" tIns="45720" rIns="91440" bIns="45720" rtlCol="0" anchor="ctr">
            <a:normAutofit/>
          </a:bodyPr>
          <a:lstStyle>
            <a:lvl1pPr marL="0" indent="0" algn="r">
              <a:buNone/>
              <a:defRPr lang="en-US" sz="4000" dirty="0">
                <a:gradFill>
                  <a:gsLst>
                    <a:gs pos="72000">
                      <a:schemeClr val="accent3"/>
                    </a:gs>
                    <a:gs pos="45000">
                      <a:schemeClr val="accent2"/>
                    </a:gs>
                    <a:gs pos="4000">
                      <a:schemeClr val="tx1"/>
                    </a:gs>
                  </a:gsLst>
                  <a:lin ang="3600000" scaled="0"/>
                </a:gradFill>
                <a:latin typeface="+mj-lt"/>
              </a:defRPr>
            </a:lvl1pPr>
          </a:lstStyle>
          <a:p>
            <a:pPr marL="228600" lvl="0" indent="-228600" algn="ctr"/>
            <a:r>
              <a:rPr lang="en-US" dirty="0"/>
              <a:t>#</a:t>
            </a:r>
          </a:p>
        </p:txBody>
      </p:sp>
      <p:cxnSp>
        <p:nvCxnSpPr>
          <p:cNvPr id="44" name="Straight Connector 43">
            <a:extLst>
              <a:ext uri="{FF2B5EF4-FFF2-40B4-BE49-F238E27FC236}">
                <a16:creationId xmlns:a16="http://schemas.microsoft.com/office/drawing/2014/main" id="{42FAC8BE-D606-2853-844A-E2C15955DC7D}"/>
              </a:ext>
            </a:extLst>
          </p:cNvPr>
          <p:cNvCxnSpPr/>
          <p:nvPr userDrawn="1"/>
        </p:nvCxnSpPr>
        <p:spPr>
          <a:xfrm>
            <a:off x="8382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F8BB1695-58EE-644B-7EE8-11F922C6661D}"/>
              </a:ext>
            </a:extLst>
          </p:cNvPr>
          <p:cNvCxnSpPr>
            <a:cxnSpLocks/>
          </p:cNvCxnSpPr>
          <p:nvPr userDrawn="1"/>
        </p:nvCxnSpPr>
        <p:spPr>
          <a:xfrm>
            <a:off x="16002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D52F9823-AA54-9873-16F2-263321455B45}"/>
              </a:ext>
            </a:extLst>
          </p:cNvPr>
          <p:cNvCxnSpPr/>
          <p:nvPr userDrawn="1"/>
        </p:nvCxnSpPr>
        <p:spPr>
          <a:xfrm>
            <a:off x="8382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FF1A9CBD-3464-B5A2-6E8D-EE3FD067EE09}"/>
              </a:ext>
            </a:extLst>
          </p:cNvPr>
          <p:cNvCxnSpPr>
            <a:cxnSpLocks/>
          </p:cNvCxnSpPr>
          <p:nvPr userDrawn="1"/>
        </p:nvCxnSpPr>
        <p:spPr>
          <a:xfrm>
            <a:off x="16002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DEED8E47-E2B6-E0EF-495A-1545B3213F3D}"/>
              </a:ext>
            </a:extLst>
          </p:cNvPr>
          <p:cNvCxnSpPr/>
          <p:nvPr userDrawn="1"/>
        </p:nvCxnSpPr>
        <p:spPr>
          <a:xfrm>
            <a:off x="8382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31607ECD-AA81-BC83-3C78-B9336CCDEEF0}"/>
              </a:ext>
            </a:extLst>
          </p:cNvPr>
          <p:cNvCxnSpPr>
            <a:cxnSpLocks/>
          </p:cNvCxnSpPr>
          <p:nvPr userDrawn="1"/>
        </p:nvCxnSpPr>
        <p:spPr>
          <a:xfrm>
            <a:off x="16002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45E098EB-268C-67D8-9802-3DFD2843FEB8}"/>
              </a:ext>
            </a:extLst>
          </p:cNvPr>
          <p:cNvCxnSpPr/>
          <p:nvPr userDrawn="1"/>
        </p:nvCxnSpPr>
        <p:spPr>
          <a:xfrm>
            <a:off x="59436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CC41966B-39B9-FA80-34EE-34DB2BBC90AA}"/>
              </a:ext>
            </a:extLst>
          </p:cNvPr>
          <p:cNvCxnSpPr>
            <a:cxnSpLocks/>
          </p:cNvCxnSpPr>
          <p:nvPr userDrawn="1"/>
        </p:nvCxnSpPr>
        <p:spPr>
          <a:xfrm>
            <a:off x="67056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567F3916-0A34-3DFE-C40C-9CE5F118C59D}"/>
              </a:ext>
            </a:extLst>
          </p:cNvPr>
          <p:cNvCxnSpPr/>
          <p:nvPr userDrawn="1"/>
        </p:nvCxnSpPr>
        <p:spPr>
          <a:xfrm>
            <a:off x="59436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90580B0B-C3BC-E6B2-4F7A-A8BC4CBEC5D4}"/>
              </a:ext>
            </a:extLst>
          </p:cNvPr>
          <p:cNvCxnSpPr>
            <a:cxnSpLocks/>
          </p:cNvCxnSpPr>
          <p:nvPr userDrawn="1"/>
        </p:nvCxnSpPr>
        <p:spPr>
          <a:xfrm>
            <a:off x="67056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F204EA6A-A0F1-4A1F-D752-01EC9413BD08}"/>
              </a:ext>
            </a:extLst>
          </p:cNvPr>
          <p:cNvCxnSpPr/>
          <p:nvPr userDrawn="1"/>
        </p:nvCxnSpPr>
        <p:spPr>
          <a:xfrm>
            <a:off x="59436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2332F554-64FA-44EB-F6C0-65BB814F9D34}"/>
              </a:ext>
            </a:extLst>
          </p:cNvPr>
          <p:cNvCxnSpPr>
            <a:cxnSpLocks/>
          </p:cNvCxnSpPr>
          <p:nvPr userDrawn="1"/>
        </p:nvCxnSpPr>
        <p:spPr>
          <a:xfrm>
            <a:off x="67056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385339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8952"/>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7" name="Slide Number Placeholder 5">
            <a:extLst>
              <a:ext uri="{FF2B5EF4-FFF2-40B4-BE49-F238E27FC236}">
                <a16:creationId xmlns:a16="http://schemas.microsoft.com/office/drawing/2014/main" id="{55FC8917-4CA3-53EC-49EA-1322608A3F2A}"/>
              </a:ext>
            </a:extLst>
          </p:cNvPr>
          <p:cNvSpPr>
            <a:spLocks noGrp="1"/>
          </p:cNvSpPr>
          <p:nvPr>
            <p:ph type="sldNum" sz="quarter" idx="4"/>
          </p:nvPr>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69252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Dense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6A5A23E4-0FD3-1AC3-FD06-43716C74AFB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00776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1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4545627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4288518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secHead" preserve="1">
  <p:cSld name="2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37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3966390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16AC8C6-C4E6-E1A4-9BB3-02E2E29D455B}"/>
              </a:ext>
            </a:extLst>
          </p:cNvPr>
          <p:cNvSpPr>
            <a:spLocks noGrp="1"/>
          </p:cNvSpPr>
          <p:nvPr>
            <p:ph sz="half" idx="1"/>
          </p:nvPr>
        </p:nvSpPr>
        <p:spPr>
          <a:xfrm>
            <a:off x="914400" y="2270760"/>
            <a:ext cx="49149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4605E9D-2162-ED5F-D5C4-2810CEA1639F}"/>
              </a:ext>
            </a:extLst>
          </p:cNvPr>
          <p:cNvSpPr>
            <a:spLocks noGrp="1"/>
          </p:cNvSpPr>
          <p:nvPr>
            <p:ph sz="half" idx="2"/>
          </p:nvPr>
        </p:nvSpPr>
        <p:spPr>
          <a:xfrm>
            <a:off x="6096000" y="226758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5038188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ext_Picture Dark">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BC8566AA-00D7-499C-0F3E-2067A61875E1}"/>
              </a:ext>
            </a:extLst>
          </p:cNvPr>
          <p:cNvSpPr/>
          <p:nvPr userDrawn="1"/>
        </p:nvSpPr>
        <p:spPr>
          <a:xfrm>
            <a:off x="-22302" y="468351"/>
            <a:ext cx="7304048" cy="6400800"/>
          </a:xfrm>
          <a:custGeom>
            <a:avLst/>
            <a:gdLst>
              <a:gd name="connsiteX0" fmla="*/ 0 w 7304048"/>
              <a:gd name="connsiteY0" fmla="*/ 0 h 6400800"/>
              <a:gd name="connsiteX1" fmla="*/ 5832087 w 7304048"/>
              <a:gd name="connsiteY1" fmla="*/ 0 h 6400800"/>
              <a:gd name="connsiteX2" fmla="*/ 7304048 w 7304048"/>
              <a:gd name="connsiteY2" fmla="*/ 6400800 h 6400800"/>
              <a:gd name="connsiteX3" fmla="*/ 11151 w 7304048"/>
              <a:gd name="connsiteY3" fmla="*/ 6400800 h 6400800"/>
              <a:gd name="connsiteX4" fmla="*/ 11151 w 7304048"/>
              <a:gd name="connsiteY4" fmla="*/ 6300439 h 6400800"/>
              <a:gd name="connsiteX5" fmla="*/ 0 w 7304048"/>
              <a:gd name="connsiteY5" fmla="*/ 0 h 640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304048" h="6400800">
                <a:moveTo>
                  <a:pt x="0" y="0"/>
                </a:moveTo>
                <a:lnTo>
                  <a:pt x="5832087" y="0"/>
                </a:lnTo>
                <a:lnTo>
                  <a:pt x="7304048" y="6400800"/>
                </a:lnTo>
                <a:lnTo>
                  <a:pt x="11151" y="6400800"/>
                </a:lnTo>
                <a:lnTo>
                  <a:pt x="11151" y="6300439"/>
                </a:lnTo>
                <a:lnTo>
                  <a:pt x="0" y="0"/>
                </a:lnTo>
                <a:close/>
              </a:path>
            </a:pathLst>
          </a:cu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817279" y="484554"/>
            <a:ext cx="6369555" cy="6373446"/>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bg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8252"/>
            <a:ext cx="5181600" cy="3962400"/>
          </a:xfrm>
        </p:spPr>
        <p:txBody>
          <a:bodyPr>
            <a:normAutofit/>
          </a:bodyPr>
          <a:lstStyle>
            <a:lvl1pPr>
              <a:defRPr sz="2400">
                <a:solidFill>
                  <a:schemeClr val="bg1"/>
                </a:solidFill>
              </a:defRPr>
            </a:lvl1pPr>
            <a:lvl2pPr>
              <a:defRPr sz="2000">
                <a:solidFill>
                  <a:schemeClr val="bg1"/>
                </a:solidFill>
              </a:defRPr>
            </a:lvl2pPr>
            <a:lvl3pPr>
              <a:defRPr sz="1800">
                <a:solidFill>
                  <a:schemeClr val="bg1"/>
                </a:solidFill>
              </a:defRPr>
            </a:lvl3pPr>
            <a:lvl4pPr>
              <a:defRPr sz="1600">
                <a:solidFill>
                  <a:schemeClr val="bg1"/>
                </a:solidFill>
              </a:defRPr>
            </a:lvl4pPr>
            <a:lvl5pPr>
              <a:defRPr sz="16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095536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ext_Picture Ligh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573487" y="482551"/>
            <a:ext cx="6613348" cy="6375449"/>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7996489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ext _Picture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324600" y="750848"/>
            <a:ext cx="5562600" cy="5715000"/>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477000" y="903248"/>
            <a:ext cx="5257800" cy="5410200"/>
          </a:xfrm>
          <a:prstGeom prst="roundRect">
            <a:avLst>
              <a:gd name="adj" fmla="val 6063"/>
            </a:avLst>
          </a:prstGeom>
        </p:spPr>
        <p:txBody>
          <a:bodyPr/>
          <a:lstStyle>
            <a:lvl1pPr>
              <a:defRPr>
                <a:solidFill>
                  <a:schemeClr val="bg1"/>
                </a:solidFill>
              </a:defRPr>
            </a:lvl1pPr>
          </a:lstStyle>
          <a:p>
            <a:r>
              <a:rPr lang="en-US"/>
              <a:t>Click icon to add picture</a:t>
            </a:r>
          </a:p>
        </p:txBody>
      </p:sp>
    </p:spTree>
    <p:extLst>
      <p:ext uri="{BB962C8B-B14F-4D97-AF65-F5344CB8AC3E}">
        <p14:creationId xmlns:p14="http://schemas.microsoft.com/office/powerpoint/2010/main" val="155291952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ext _2 Pictures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781800" y="731195"/>
            <a:ext cx="5029200" cy="2873829"/>
          </a:xfrm>
          <a:prstGeom prst="roundRect">
            <a:avLst>
              <a:gd name="adj" fmla="val 6243"/>
            </a:avLst>
          </a:prstGeom>
          <a:gradFill>
            <a:gsLst>
              <a:gs pos="0">
                <a:schemeClr val="tx1"/>
              </a:gs>
              <a:gs pos="97000">
                <a:schemeClr val="accent3"/>
              </a:gs>
              <a:gs pos="46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959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12848"/>
            <a:ext cx="5562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934200" y="8835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
        <p:nvSpPr>
          <p:cNvPr id="10" name="Rounded Rectangle 9">
            <a:extLst>
              <a:ext uri="{FF2B5EF4-FFF2-40B4-BE49-F238E27FC236}">
                <a16:creationId xmlns:a16="http://schemas.microsoft.com/office/drawing/2014/main" id="{932B8DAB-353A-63A7-57E3-BC8771DAFC86}"/>
              </a:ext>
            </a:extLst>
          </p:cNvPr>
          <p:cNvSpPr/>
          <p:nvPr userDrawn="1"/>
        </p:nvSpPr>
        <p:spPr>
          <a:xfrm>
            <a:off x="6781800" y="3702995"/>
            <a:ext cx="5029200" cy="2873829"/>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Picture Placeholder 3">
            <a:extLst>
              <a:ext uri="{FF2B5EF4-FFF2-40B4-BE49-F238E27FC236}">
                <a16:creationId xmlns:a16="http://schemas.microsoft.com/office/drawing/2014/main" id="{7FD29A79-FC30-5176-80E7-A66A49211302}"/>
              </a:ext>
            </a:extLst>
          </p:cNvPr>
          <p:cNvSpPr>
            <a:spLocks noGrp="1"/>
          </p:cNvSpPr>
          <p:nvPr>
            <p:ph type="pic" sz="quarter" idx="16"/>
          </p:nvPr>
        </p:nvSpPr>
        <p:spPr>
          <a:xfrm>
            <a:off x="6934200" y="38553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Tree>
    <p:extLst>
      <p:ext uri="{BB962C8B-B14F-4D97-AF65-F5344CB8AC3E}">
        <p14:creationId xmlns:p14="http://schemas.microsoft.com/office/powerpoint/2010/main" val="42811763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and Ch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197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324600" y="758952"/>
            <a:ext cx="5486400" cy="5486400"/>
          </a:xfrm>
        </p:spPr>
        <p:txBody>
          <a:bodyPr/>
          <a:lstStyle>
            <a:lvl1pPr>
              <a:defRPr>
                <a:solidFill>
                  <a:schemeClr val="tx1"/>
                </a:solidFill>
              </a:defRPr>
            </a:lvl1pPr>
          </a:lstStyle>
          <a:p>
            <a:r>
              <a:rPr lang="en-US"/>
              <a:t>Click icon to add chart</a:t>
            </a:r>
            <a:endParaRPr lang="en-US" dirty="0"/>
          </a:p>
        </p:txBody>
      </p:sp>
    </p:spTree>
    <p:extLst>
      <p:ext uri="{BB962C8B-B14F-4D97-AF65-F5344CB8AC3E}">
        <p14:creationId xmlns:p14="http://schemas.microsoft.com/office/powerpoint/2010/main" val="357816123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ide by side char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400800" y="2924869"/>
            <a:ext cx="5334000" cy="3505200"/>
          </a:xfrm>
        </p:spPr>
        <p:txBody>
          <a:bodyPr/>
          <a:lstStyle>
            <a:lvl1pPr>
              <a:defRPr>
                <a:solidFill>
                  <a:schemeClr val="tx1"/>
                </a:solidFill>
              </a:defRPr>
            </a:lvl1pPr>
          </a:lstStyle>
          <a:p>
            <a:r>
              <a:rPr lang="en-US"/>
              <a:t>Click icon to add chart</a:t>
            </a:r>
            <a:endParaRPr lang="en-US" dirty="0"/>
          </a:p>
        </p:txBody>
      </p:sp>
      <p:sp>
        <p:nvSpPr>
          <p:cNvPr id="3" name="Chart Placeholder 8">
            <a:extLst>
              <a:ext uri="{FF2B5EF4-FFF2-40B4-BE49-F238E27FC236}">
                <a16:creationId xmlns:a16="http://schemas.microsoft.com/office/drawing/2014/main" id="{47C9A64A-95DE-326D-AD27-2A9C89FC288F}"/>
              </a:ext>
            </a:extLst>
          </p:cNvPr>
          <p:cNvSpPr>
            <a:spLocks noGrp="1"/>
          </p:cNvSpPr>
          <p:nvPr>
            <p:ph type="chart" sz="quarter" idx="16"/>
          </p:nvPr>
        </p:nvSpPr>
        <p:spPr>
          <a:xfrm>
            <a:off x="914400" y="2924869"/>
            <a:ext cx="5334000" cy="3505200"/>
          </a:xfrm>
        </p:spPr>
        <p:txBody>
          <a:bodyPr/>
          <a:lstStyle>
            <a:lvl1pPr>
              <a:defRPr>
                <a:solidFill>
                  <a:schemeClr val="tx1"/>
                </a:solidFill>
              </a:defRPr>
            </a:lvl1pPr>
          </a:lstStyle>
          <a:p>
            <a:r>
              <a:rPr lang="en-US"/>
              <a:t>Click icon to add chart</a:t>
            </a:r>
            <a:endParaRPr lang="en-US" dirty="0"/>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b"/>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Tree>
    <p:extLst>
      <p:ext uri="{BB962C8B-B14F-4D97-AF65-F5344CB8AC3E}">
        <p14:creationId xmlns:p14="http://schemas.microsoft.com/office/powerpoint/2010/main" val="9457809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Side by side pictur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Picture Placeholder 7">
            <a:extLst>
              <a:ext uri="{FF2B5EF4-FFF2-40B4-BE49-F238E27FC236}">
                <a16:creationId xmlns:a16="http://schemas.microsoft.com/office/drawing/2014/main" id="{A5E00329-735F-25A4-8DAC-E98E4105FA19}"/>
              </a:ext>
            </a:extLst>
          </p:cNvPr>
          <p:cNvSpPr>
            <a:spLocks noGrp="1"/>
          </p:cNvSpPr>
          <p:nvPr>
            <p:ph type="pic" sz="quarter" idx="17"/>
          </p:nvPr>
        </p:nvSpPr>
        <p:spPr>
          <a:xfrm>
            <a:off x="914400" y="2912640"/>
            <a:ext cx="5334000" cy="3505200"/>
          </a:xfrm>
        </p:spPr>
        <p:txBody>
          <a:bodyPr/>
          <a:lstStyle/>
          <a:p>
            <a:r>
              <a:rPr lang="en-US"/>
              <a:t>Click icon to add picture</a:t>
            </a:r>
          </a:p>
        </p:txBody>
      </p:sp>
      <p:sp>
        <p:nvSpPr>
          <p:cNvPr id="11" name="Picture Placeholder 7">
            <a:extLst>
              <a:ext uri="{FF2B5EF4-FFF2-40B4-BE49-F238E27FC236}">
                <a16:creationId xmlns:a16="http://schemas.microsoft.com/office/drawing/2014/main" id="{5D11F4B7-132E-FFAB-C5E1-A1A1DA78032E}"/>
              </a:ext>
            </a:extLst>
          </p:cNvPr>
          <p:cNvSpPr>
            <a:spLocks noGrp="1"/>
          </p:cNvSpPr>
          <p:nvPr>
            <p:ph type="pic" sz="quarter" idx="18"/>
          </p:nvPr>
        </p:nvSpPr>
        <p:spPr>
          <a:xfrm>
            <a:off x="6400800" y="2912640"/>
            <a:ext cx="5334000" cy="3505200"/>
          </a:xfrm>
        </p:spPr>
        <p:txBody>
          <a:bodyPr/>
          <a:lstStyle/>
          <a:p>
            <a:r>
              <a:rPr lang="en-US"/>
              <a:t>Click icon to add picture</a:t>
            </a:r>
          </a:p>
        </p:txBody>
      </p:sp>
    </p:spTree>
    <p:extLst>
      <p:ext uri="{BB962C8B-B14F-4D97-AF65-F5344CB8AC3E}">
        <p14:creationId xmlns:p14="http://schemas.microsoft.com/office/powerpoint/2010/main" val="35244866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Icon call outs">
    <p:bg>
      <p:bgRef idx="1001">
        <a:schemeClr val="bg1"/>
      </p:bgRef>
    </p:bg>
    <p:spTree>
      <p:nvGrpSpPr>
        <p:cNvPr id="1" name=""/>
        <p:cNvGrpSpPr/>
        <p:nvPr/>
      </p:nvGrpSpPr>
      <p:grpSpPr>
        <a:xfrm>
          <a:off x="0" y="0"/>
          <a:ext cx="0" cy="0"/>
          <a:chOff x="0" y="0"/>
          <a:chExt cx="0" cy="0"/>
        </a:xfrm>
      </p:grpSpPr>
      <p:sp>
        <p:nvSpPr>
          <p:cNvPr id="15" name="Text Placeholder 11">
            <a:extLst>
              <a:ext uri="{FF2B5EF4-FFF2-40B4-BE49-F238E27FC236}">
                <a16:creationId xmlns:a16="http://schemas.microsoft.com/office/drawing/2014/main" id="{3465C986-E3D2-97E7-9111-0299F9C3B1D2}"/>
              </a:ext>
            </a:extLst>
          </p:cNvPr>
          <p:cNvSpPr>
            <a:spLocks noGrp="1"/>
          </p:cNvSpPr>
          <p:nvPr>
            <p:ph type="body" sz="quarter" idx="15" hasCustomPrompt="1"/>
          </p:nvPr>
        </p:nvSpPr>
        <p:spPr>
          <a:xfrm>
            <a:off x="951767"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40" name="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28190"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948564" y="4248614"/>
            <a:ext cx="233306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5" name="Straight Arrow Connector 44">
            <a:extLst>
              <a:ext uri="{FF2B5EF4-FFF2-40B4-BE49-F238E27FC236}">
                <a16:creationId xmlns:a16="http://schemas.microsoft.com/office/drawing/2014/main" id="{9CFE922A-6A5A-4DA8-1E44-D80852772091}"/>
              </a:ext>
              <a:ext uri="{C183D7F6-B498-43B3-948B-1728B52AA6E4}">
                <adec:decorative xmlns:adec="http://schemas.microsoft.com/office/drawing/2017/decorative" val="1"/>
              </a:ext>
            </a:extLst>
          </p:cNvPr>
          <p:cNvCxnSpPr>
            <a:cxnSpLocks/>
          </p:cNvCxnSpPr>
          <p:nvPr userDrawn="1"/>
        </p:nvCxnSpPr>
        <p:spPr>
          <a:xfrm>
            <a:off x="1201554" y="6203726"/>
            <a:ext cx="1827083"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6" name="Text Placeholder 11">
            <a:extLst>
              <a:ext uri="{FF2B5EF4-FFF2-40B4-BE49-F238E27FC236}">
                <a16:creationId xmlns:a16="http://schemas.microsoft.com/office/drawing/2014/main" id="{3D56C31D-5FDB-2235-FFF8-2AB6E04C9B1C}"/>
              </a:ext>
            </a:extLst>
          </p:cNvPr>
          <p:cNvSpPr>
            <a:spLocks noGrp="1"/>
          </p:cNvSpPr>
          <p:nvPr>
            <p:ph type="body" sz="quarter" idx="16" hasCustomPrompt="1"/>
          </p:nvPr>
        </p:nvSpPr>
        <p:spPr>
          <a:xfrm>
            <a:off x="3657600"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1" name="Text Placeholder 11">
            <a:extLst>
              <a:ext uri="{FF2B5EF4-FFF2-40B4-BE49-F238E27FC236}">
                <a16:creationId xmlns:a16="http://schemas.microsoft.com/office/drawing/2014/main" id="{B16A2860-4464-B092-801E-255A6B7DF3E4}"/>
              </a:ext>
            </a:extLst>
          </p:cNvPr>
          <p:cNvSpPr>
            <a:spLocks noGrp="1"/>
          </p:cNvSpPr>
          <p:nvPr>
            <p:ph type="body" sz="quarter" idx="21" hasCustomPrompt="1"/>
          </p:nvPr>
        </p:nvSpPr>
        <p:spPr>
          <a:xfrm>
            <a:off x="3640500" y="4248614"/>
            <a:ext cx="2360857"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6" name="Straight Arrow Connector 45">
            <a:extLst>
              <a:ext uri="{FF2B5EF4-FFF2-40B4-BE49-F238E27FC236}">
                <a16:creationId xmlns:a16="http://schemas.microsoft.com/office/drawing/2014/main" id="{76330766-86D4-F436-F65D-07EF389BF5F5}"/>
              </a:ext>
              <a:ext uri="{C183D7F6-B498-43B3-948B-1728B52AA6E4}">
                <adec:decorative xmlns:adec="http://schemas.microsoft.com/office/drawing/2017/decorative" val="1"/>
              </a:ext>
            </a:extLst>
          </p:cNvPr>
          <p:cNvCxnSpPr>
            <a:cxnSpLocks/>
          </p:cNvCxnSpPr>
          <p:nvPr userDrawn="1"/>
        </p:nvCxnSpPr>
        <p:spPr>
          <a:xfrm>
            <a:off x="3902735" y="6203726"/>
            <a:ext cx="1836387"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7" name="Text Placeholder 11">
            <a:extLst>
              <a:ext uri="{FF2B5EF4-FFF2-40B4-BE49-F238E27FC236}">
                <a16:creationId xmlns:a16="http://schemas.microsoft.com/office/drawing/2014/main" id="{A540E06E-3F2B-A3DC-320A-8C968AC4350E}"/>
              </a:ext>
            </a:extLst>
          </p:cNvPr>
          <p:cNvSpPr>
            <a:spLocks noGrp="1"/>
          </p:cNvSpPr>
          <p:nvPr>
            <p:ph type="body" sz="quarter" idx="17" hasCustomPrompt="1"/>
          </p:nvPr>
        </p:nvSpPr>
        <p:spPr>
          <a:xfrm>
            <a:off x="6435141"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2" name="Text Placeholder 11">
            <a:extLst>
              <a:ext uri="{FF2B5EF4-FFF2-40B4-BE49-F238E27FC236}">
                <a16:creationId xmlns:a16="http://schemas.microsoft.com/office/drawing/2014/main" id="{51307C43-6072-93E9-BF1D-64D42AE2A524}"/>
              </a:ext>
            </a:extLst>
          </p:cNvPr>
          <p:cNvSpPr>
            <a:spLocks noGrp="1"/>
          </p:cNvSpPr>
          <p:nvPr>
            <p:ph type="body" sz="quarter" idx="22" hasCustomPrompt="1"/>
          </p:nvPr>
        </p:nvSpPr>
        <p:spPr>
          <a:xfrm>
            <a:off x="6419643" y="4248614"/>
            <a:ext cx="235765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7" name="Straight Arrow Connector 46">
            <a:extLst>
              <a:ext uri="{FF2B5EF4-FFF2-40B4-BE49-F238E27FC236}">
                <a16:creationId xmlns:a16="http://schemas.microsoft.com/office/drawing/2014/main" id="{EF51B736-1CC5-842A-AFEB-68B18931713C}"/>
              </a:ext>
              <a:ext uri="{C183D7F6-B498-43B3-948B-1728B52AA6E4}">
                <adec:decorative xmlns:adec="http://schemas.microsoft.com/office/drawing/2017/decorative" val="1"/>
              </a:ext>
            </a:extLst>
          </p:cNvPr>
          <p:cNvCxnSpPr>
            <a:cxnSpLocks/>
          </p:cNvCxnSpPr>
          <p:nvPr userDrawn="1"/>
        </p:nvCxnSpPr>
        <p:spPr>
          <a:xfrm>
            <a:off x="6684650" y="6203726"/>
            <a:ext cx="1827639"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8" name="Text Placeholder 11">
            <a:extLst>
              <a:ext uri="{FF2B5EF4-FFF2-40B4-BE49-F238E27FC236}">
                <a16:creationId xmlns:a16="http://schemas.microsoft.com/office/drawing/2014/main" id="{716EA8F4-B9C4-991F-0EBC-D79877AD4680}"/>
              </a:ext>
            </a:extLst>
          </p:cNvPr>
          <p:cNvSpPr>
            <a:spLocks noGrp="1"/>
          </p:cNvSpPr>
          <p:nvPr>
            <p:ph type="body" sz="quarter" idx="18" hasCustomPrompt="1"/>
          </p:nvPr>
        </p:nvSpPr>
        <p:spPr>
          <a:xfrm>
            <a:off x="9161699"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3" name="Text Placeholder 11">
            <a:extLst>
              <a:ext uri="{FF2B5EF4-FFF2-40B4-BE49-F238E27FC236}">
                <a16:creationId xmlns:a16="http://schemas.microsoft.com/office/drawing/2014/main" id="{5A57C80F-4C30-26E1-B38B-3D7238EC9A49}"/>
              </a:ext>
            </a:extLst>
          </p:cNvPr>
          <p:cNvSpPr>
            <a:spLocks noGrp="1"/>
          </p:cNvSpPr>
          <p:nvPr>
            <p:ph type="body" sz="quarter" idx="23" hasCustomPrompt="1"/>
          </p:nvPr>
        </p:nvSpPr>
        <p:spPr>
          <a:xfrm>
            <a:off x="9140053" y="4248614"/>
            <a:ext cx="2369948"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8" name="Straight Arrow Connector 47">
            <a:extLst>
              <a:ext uri="{FF2B5EF4-FFF2-40B4-BE49-F238E27FC236}">
                <a16:creationId xmlns:a16="http://schemas.microsoft.com/office/drawing/2014/main" id="{A771B152-C165-EE9A-CF25-69B01D93984C}"/>
              </a:ext>
              <a:ext uri="{C183D7F6-B498-43B3-948B-1728B52AA6E4}">
                <adec:decorative xmlns:adec="http://schemas.microsoft.com/office/drawing/2017/decorative" val="1"/>
              </a:ext>
            </a:extLst>
          </p:cNvPr>
          <p:cNvCxnSpPr>
            <a:cxnSpLocks/>
          </p:cNvCxnSpPr>
          <p:nvPr userDrawn="1"/>
        </p:nvCxnSpPr>
        <p:spPr>
          <a:xfrm>
            <a:off x="9410840" y="6203726"/>
            <a:ext cx="1828375"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8" name="Rectangle 7">
            <a:extLst>
              <a:ext uri="{FF2B5EF4-FFF2-40B4-BE49-F238E27FC236}">
                <a16:creationId xmlns:a16="http://schemas.microsoft.com/office/drawing/2014/main" id="{3A788A64-F282-9CE1-4232-9EE355589DE3}"/>
              </a:ext>
              <a:ext uri="{C183D7F6-B498-43B3-948B-1728B52AA6E4}">
                <adec:decorative xmlns:adec="http://schemas.microsoft.com/office/drawing/2017/decorative" val="1"/>
              </a:ext>
            </a:extLst>
          </p:cNvPr>
          <p:cNvSpPr/>
          <p:nvPr userDrawn="1"/>
        </p:nvSpPr>
        <p:spPr>
          <a:xfrm>
            <a:off x="3634023"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9" name="Rectangle 8">
            <a:extLst>
              <a:ext uri="{FF2B5EF4-FFF2-40B4-BE49-F238E27FC236}">
                <a16:creationId xmlns:a16="http://schemas.microsoft.com/office/drawing/2014/main" id="{10782DED-E3BA-FB36-43E4-81DBB440C37C}"/>
              </a:ext>
              <a:ext uri="{C183D7F6-B498-43B3-948B-1728B52AA6E4}">
                <adec:decorative xmlns:adec="http://schemas.microsoft.com/office/drawing/2017/decorative" val="1"/>
              </a:ext>
            </a:extLst>
          </p:cNvPr>
          <p:cNvSpPr/>
          <p:nvPr userDrawn="1"/>
        </p:nvSpPr>
        <p:spPr>
          <a:xfrm>
            <a:off x="6411564"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10" name="Rectangle 9">
            <a:extLst>
              <a:ext uri="{FF2B5EF4-FFF2-40B4-BE49-F238E27FC236}">
                <a16:creationId xmlns:a16="http://schemas.microsoft.com/office/drawing/2014/main" id="{00D478D9-E1B0-6465-A4AE-A5FCFD483B88}"/>
              </a:ext>
              <a:ext uri="{C183D7F6-B498-43B3-948B-1728B52AA6E4}">
                <adec:decorative xmlns:adec="http://schemas.microsoft.com/office/drawing/2017/decorative" val="1"/>
              </a:ext>
            </a:extLst>
          </p:cNvPr>
          <p:cNvSpPr/>
          <p:nvPr userDrawn="1"/>
        </p:nvSpPr>
        <p:spPr>
          <a:xfrm>
            <a:off x="9138122"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6" name="Footer Placeholder 5">
            <a:extLst>
              <a:ext uri="{FF2B5EF4-FFF2-40B4-BE49-F238E27FC236}">
                <a16:creationId xmlns:a16="http://schemas.microsoft.com/office/drawing/2014/main" id="{44EA6892-F10F-164E-5109-ED84CE738A8B}"/>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828D13AE-FD08-9C1F-6E91-5682E73EC069}"/>
              </a:ext>
            </a:extLst>
          </p:cNvPr>
          <p:cNvSpPr>
            <a:spLocks noGrp="1"/>
          </p:cNvSpPr>
          <p:nvPr>
            <p:ph type="sldNum" sz="quarter" idx="12"/>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193158889"/>
      </p:ext>
    </p:extLst>
  </p:cSld>
  <p:clrMapOvr>
    <a:overrideClrMapping bg1="lt1" tx1="dk1" bg2="lt2" tx2="dk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6 circle callou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grpSp>
        <p:nvGrpSpPr>
          <p:cNvPr id="6" name="그룹 1281">
            <a:extLst>
              <a:ext uri="{FF2B5EF4-FFF2-40B4-BE49-F238E27FC236}">
                <a16:creationId xmlns:a16="http://schemas.microsoft.com/office/drawing/2014/main" id="{65B4D3AB-B0EE-820C-F332-86B9B4FF4D7D}"/>
              </a:ext>
            </a:extLst>
          </p:cNvPr>
          <p:cNvGrpSpPr/>
          <p:nvPr userDrawn="1"/>
        </p:nvGrpSpPr>
        <p:grpSpPr>
          <a:xfrm>
            <a:off x="1143000" y="2505297"/>
            <a:ext cx="10056459" cy="2238357"/>
            <a:chOff x="1073086" y="2710034"/>
            <a:chExt cx="10056459" cy="2238357"/>
          </a:xfrm>
        </p:grpSpPr>
        <p:sp>
          <p:nvSpPr>
            <p:cNvPr id="8" name="Oval 6">
              <a:extLst>
                <a:ext uri="{FF2B5EF4-FFF2-40B4-BE49-F238E27FC236}">
                  <a16:creationId xmlns:a16="http://schemas.microsoft.com/office/drawing/2014/main" id="{1F23A632-C958-B035-7D29-4E36C3A8D927}"/>
                </a:ext>
              </a:extLst>
            </p:cNvPr>
            <p:cNvSpPr/>
            <p:nvPr/>
          </p:nvSpPr>
          <p:spPr>
            <a:xfrm rot="7200000" flipH="1">
              <a:off x="3914385"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9" name="Oval 6">
              <a:extLst>
                <a:ext uri="{FF2B5EF4-FFF2-40B4-BE49-F238E27FC236}">
                  <a16:creationId xmlns:a16="http://schemas.microsoft.com/office/drawing/2014/main" id="{918FE6A1-233A-7F39-8799-6BFEF9149E32}"/>
                </a:ext>
              </a:extLst>
            </p:cNvPr>
            <p:cNvSpPr/>
            <p:nvPr/>
          </p:nvSpPr>
          <p:spPr>
            <a:xfrm rot="7200000" flipH="1">
              <a:off x="7460429"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0" name="Oval 6">
              <a:extLst>
                <a:ext uri="{FF2B5EF4-FFF2-40B4-BE49-F238E27FC236}">
                  <a16:creationId xmlns:a16="http://schemas.microsoft.com/office/drawing/2014/main" id="{7E0B8266-3454-DEDE-28C4-30473AD029FF}"/>
                </a:ext>
              </a:extLst>
            </p:cNvPr>
            <p:cNvSpPr/>
            <p:nvPr/>
          </p:nvSpPr>
          <p:spPr>
            <a:xfrm rot="14400000">
              <a:off x="2141363"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1" name="Oval 5">
              <a:extLst>
                <a:ext uri="{FF2B5EF4-FFF2-40B4-BE49-F238E27FC236}">
                  <a16:creationId xmlns:a16="http://schemas.microsoft.com/office/drawing/2014/main" id="{3229B04E-61C5-C43D-3D60-E218AEF16C01}"/>
                </a:ext>
              </a:extLst>
            </p:cNvPr>
            <p:cNvSpPr/>
            <p:nvPr/>
          </p:nvSpPr>
          <p:spPr>
            <a:xfrm>
              <a:off x="1073086" y="3714353"/>
              <a:ext cx="1234037" cy="1234038"/>
            </a:xfrm>
            <a:prstGeom prst="ellipse">
              <a:avLst/>
            </a:pr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2" name="타원 1286">
              <a:extLst>
                <a:ext uri="{FF2B5EF4-FFF2-40B4-BE49-F238E27FC236}">
                  <a16:creationId xmlns:a16="http://schemas.microsoft.com/office/drawing/2014/main" id="{2EA6EF24-8749-8BEF-326C-C125ACB2C20A}"/>
                </a:ext>
              </a:extLst>
            </p:cNvPr>
            <p:cNvSpPr/>
            <p:nvPr/>
          </p:nvSpPr>
          <p:spPr>
            <a:xfrm>
              <a:off x="1137335"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13" name="Oval 15">
              <a:extLst>
                <a:ext uri="{FF2B5EF4-FFF2-40B4-BE49-F238E27FC236}">
                  <a16:creationId xmlns:a16="http://schemas.microsoft.com/office/drawing/2014/main" id="{454E25E1-F59A-FADC-CD3F-CA7A84CCA1E2}"/>
                </a:ext>
              </a:extLst>
            </p:cNvPr>
            <p:cNvSpPr/>
            <p:nvPr/>
          </p:nvSpPr>
          <p:spPr>
            <a:xfrm>
              <a:off x="2837570" y="2710034"/>
              <a:ext cx="1234037" cy="1234038"/>
            </a:xfrm>
            <a:prstGeom prst="ellipse">
              <a:avLst/>
            </a:pr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4" name="Oval 6">
              <a:extLst>
                <a:ext uri="{FF2B5EF4-FFF2-40B4-BE49-F238E27FC236}">
                  <a16:creationId xmlns:a16="http://schemas.microsoft.com/office/drawing/2014/main" id="{FDA8283F-32E9-CA15-A705-995234E96ECB}"/>
                </a:ext>
              </a:extLst>
            </p:cNvPr>
            <p:cNvSpPr/>
            <p:nvPr/>
          </p:nvSpPr>
          <p:spPr>
            <a:xfrm rot="14400000">
              <a:off x="9209572" y="3041001"/>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5" name="Oval 6">
              <a:extLst>
                <a:ext uri="{FF2B5EF4-FFF2-40B4-BE49-F238E27FC236}">
                  <a16:creationId xmlns:a16="http://schemas.microsoft.com/office/drawing/2014/main" id="{6613845B-FD2D-2942-2DAB-3AB4C444161F}"/>
                </a:ext>
              </a:extLst>
            </p:cNvPr>
            <p:cNvSpPr/>
            <p:nvPr/>
          </p:nvSpPr>
          <p:spPr>
            <a:xfrm rot="14400000">
              <a:off x="5687407"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6" name="Oval 5">
              <a:extLst>
                <a:ext uri="{FF2B5EF4-FFF2-40B4-BE49-F238E27FC236}">
                  <a16:creationId xmlns:a16="http://schemas.microsoft.com/office/drawing/2014/main" id="{D2062A16-1962-16F4-8023-92D9AE84B52E}"/>
                </a:ext>
              </a:extLst>
            </p:cNvPr>
            <p:cNvSpPr/>
            <p:nvPr/>
          </p:nvSpPr>
          <p:spPr>
            <a:xfrm>
              <a:off x="4602054" y="3714353"/>
              <a:ext cx="1234037" cy="1234038"/>
            </a:xfrm>
            <a:prstGeom prst="ellipse">
              <a:avLst/>
            </a:pr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7" name="Oval 15">
              <a:extLst>
                <a:ext uri="{FF2B5EF4-FFF2-40B4-BE49-F238E27FC236}">
                  <a16:creationId xmlns:a16="http://schemas.microsoft.com/office/drawing/2014/main" id="{0ABE85E6-8EEE-628D-159D-8DE52BB344E7}"/>
                </a:ext>
              </a:extLst>
            </p:cNvPr>
            <p:cNvSpPr/>
            <p:nvPr/>
          </p:nvSpPr>
          <p:spPr>
            <a:xfrm>
              <a:off x="6366538" y="2710034"/>
              <a:ext cx="1234037" cy="1234038"/>
            </a:xfrm>
            <a:prstGeom prst="ellipse">
              <a:avLst/>
            </a:pr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8" name="Oval 18">
              <a:extLst>
                <a:ext uri="{FF2B5EF4-FFF2-40B4-BE49-F238E27FC236}">
                  <a16:creationId xmlns:a16="http://schemas.microsoft.com/office/drawing/2014/main" id="{8B1831B6-1987-F685-D305-1DFA4F6D16E4}"/>
                </a:ext>
              </a:extLst>
            </p:cNvPr>
            <p:cNvSpPr/>
            <p:nvPr/>
          </p:nvSpPr>
          <p:spPr>
            <a:xfrm>
              <a:off x="8131022" y="3714353"/>
              <a:ext cx="1234037" cy="1234038"/>
            </a:xfrm>
            <a:prstGeom prst="ellipse">
              <a:avLst/>
            </a:pr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9" name="Oval 21">
              <a:extLst>
                <a:ext uri="{FF2B5EF4-FFF2-40B4-BE49-F238E27FC236}">
                  <a16:creationId xmlns:a16="http://schemas.microsoft.com/office/drawing/2014/main" id="{753C5383-B157-55FB-8CE2-7456440E869D}"/>
                </a:ext>
              </a:extLst>
            </p:cNvPr>
            <p:cNvSpPr/>
            <p:nvPr/>
          </p:nvSpPr>
          <p:spPr>
            <a:xfrm>
              <a:off x="9895508" y="2710034"/>
              <a:ext cx="1234037" cy="1234038"/>
            </a:xfrm>
            <a:prstGeom prst="ellipse">
              <a:avLst/>
            </a:prstGeom>
            <a:solidFill>
              <a:schemeClr val="accent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21" name="타원 1295">
              <a:extLst>
                <a:ext uri="{FF2B5EF4-FFF2-40B4-BE49-F238E27FC236}">
                  <a16:creationId xmlns:a16="http://schemas.microsoft.com/office/drawing/2014/main" id="{BB2B1159-F287-F4D0-972D-AEB57CCA3AC0}"/>
                </a:ext>
              </a:extLst>
            </p:cNvPr>
            <p:cNvSpPr/>
            <p:nvPr/>
          </p:nvSpPr>
          <p:spPr>
            <a:xfrm>
              <a:off x="2901819"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accent5"/>
                </a:solidFill>
              </a:endParaRPr>
            </a:p>
          </p:txBody>
        </p:sp>
        <p:sp>
          <p:nvSpPr>
            <p:cNvPr id="22" name="타원 1296">
              <a:extLst>
                <a:ext uri="{FF2B5EF4-FFF2-40B4-BE49-F238E27FC236}">
                  <a16:creationId xmlns:a16="http://schemas.microsoft.com/office/drawing/2014/main" id="{3D44CC5B-C0AF-D2C2-BE76-D065ED9D3A38}"/>
                </a:ext>
              </a:extLst>
            </p:cNvPr>
            <p:cNvSpPr/>
            <p:nvPr/>
          </p:nvSpPr>
          <p:spPr>
            <a:xfrm>
              <a:off x="643078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3" name="타원 1297">
              <a:extLst>
                <a:ext uri="{FF2B5EF4-FFF2-40B4-BE49-F238E27FC236}">
                  <a16:creationId xmlns:a16="http://schemas.microsoft.com/office/drawing/2014/main" id="{8E47600E-B996-E6EC-B833-93E90D5A2297}"/>
                </a:ext>
              </a:extLst>
            </p:cNvPr>
            <p:cNvSpPr/>
            <p:nvPr/>
          </p:nvSpPr>
          <p:spPr>
            <a:xfrm>
              <a:off x="995522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4" name="타원 1298">
              <a:extLst>
                <a:ext uri="{FF2B5EF4-FFF2-40B4-BE49-F238E27FC236}">
                  <a16:creationId xmlns:a16="http://schemas.microsoft.com/office/drawing/2014/main" id="{047F897C-36C1-5E05-CC89-EBDFB90F4035}"/>
                </a:ext>
              </a:extLst>
            </p:cNvPr>
            <p:cNvSpPr/>
            <p:nvPr/>
          </p:nvSpPr>
          <p:spPr>
            <a:xfrm>
              <a:off x="8195271"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5" name="타원 1299">
              <a:extLst>
                <a:ext uri="{FF2B5EF4-FFF2-40B4-BE49-F238E27FC236}">
                  <a16:creationId xmlns:a16="http://schemas.microsoft.com/office/drawing/2014/main" id="{54EBFDB8-3C81-B0D3-B25E-E3CC580BDD36}"/>
                </a:ext>
              </a:extLst>
            </p:cNvPr>
            <p:cNvSpPr/>
            <p:nvPr/>
          </p:nvSpPr>
          <p:spPr>
            <a:xfrm>
              <a:off x="4666303"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grpSp>
      <p:sp>
        <p:nvSpPr>
          <p:cNvPr id="32" name="Text Placeholder 31">
            <a:extLst>
              <a:ext uri="{FF2B5EF4-FFF2-40B4-BE49-F238E27FC236}">
                <a16:creationId xmlns:a16="http://schemas.microsoft.com/office/drawing/2014/main" id="{17B16F72-40BA-E998-2257-D54EE6CEBAEE}"/>
              </a:ext>
            </a:extLst>
          </p:cNvPr>
          <p:cNvSpPr>
            <a:spLocks noGrp="1"/>
          </p:cNvSpPr>
          <p:nvPr>
            <p:ph type="body" sz="quarter" idx="12" hasCustomPrompt="1"/>
          </p:nvPr>
        </p:nvSpPr>
        <p:spPr>
          <a:xfrm>
            <a:off x="1143000" y="36482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3" name="Text Placeholder 31">
            <a:extLst>
              <a:ext uri="{FF2B5EF4-FFF2-40B4-BE49-F238E27FC236}">
                <a16:creationId xmlns:a16="http://schemas.microsoft.com/office/drawing/2014/main" id="{AAB8F30F-2FFC-20DD-A8F6-71024DC03C1C}"/>
              </a:ext>
            </a:extLst>
          </p:cNvPr>
          <p:cNvSpPr>
            <a:spLocks noGrp="1"/>
          </p:cNvSpPr>
          <p:nvPr>
            <p:ph type="body" sz="quarter" idx="13" hasCustomPrompt="1"/>
          </p:nvPr>
        </p:nvSpPr>
        <p:spPr>
          <a:xfrm>
            <a:off x="2971800" y="26576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4" name="Text Placeholder 31">
            <a:extLst>
              <a:ext uri="{FF2B5EF4-FFF2-40B4-BE49-F238E27FC236}">
                <a16:creationId xmlns:a16="http://schemas.microsoft.com/office/drawing/2014/main" id="{9BFAAFBE-22E7-798D-C75E-C8E828921180}"/>
              </a:ext>
            </a:extLst>
          </p:cNvPr>
          <p:cNvSpPr>
            <a:spLocks noGrp="1"/>
          </p:cNvSpPr>
          <p:nvPr>
            <p:ph type="body" sz="quarter" idx="14" hasCustomPrompt="1"/>
          </p:nvPr>
        </p:nvSpPr>
        <p:spPr>
          <a:xfrm>
            <a:off x="4724400" y="3648297"/>
            <a:ext cx="1143000" cy="990600"/>
          </a:xfrm>
        </p:spPr>
        <p:txBody>
          <a:bodyPr anchor="ctr">
            <a:normAutofit/>
          </a:bodyPr>
          <a:lstStyle>
            <a:lvl1pPr marL="0" indent="0" algn="ctr">
              <a:lnSpc>
                <a:spcPct val="85000"/>
              </a:lnSpc>
              <a:spcBef>
                <a:spcPts val="0"/>
              </a:spcBef>
              <a:buNone/>
              <a:defRPr sz="1600" b="1">
                <a:solidFill>
                  <a:schemeClr val="bg2">
                    <a:lumMod val="50000"/>
                  </a:schemeClr>
                </a:solidFill>
              </a:defRPr>
            </a:lvl1pPr>
          </a:lstStyle>
          <a:p>
            <a:pPr lvl="0"/>
            <a:r>
              <a:rPr lang="en-US" dirty="0"/>
              <a:t>Text</a:t>
            </a:r>
          </a:p>
        </p:txBody>
      </p:sp>
      <p:sp>
        <p:nvSpPr>
          <p:cNvPr id="35" name="Text Placeholder 31">
            <a:extLst>
              <a:ext uri="{FF2B5EF4-FFF2-40B4-BE49-F238E27FC236}">
                <a16:creationId xmlns:a16="http://schemas.microsoft.com/office/drawing/2014/main" id="{AB5386A6-EBCF-BE3F-9C99-5AC05501DAA9}"/>
              </a:ext>
            </a:extLst>
          </p:cNvPr>
          <p:cNvSpPr>
            <a:spLocks noGrp="1"/>
          </p:cNvSpPr>
          <p:nvPr>
            <p:ph type="body" sz="quarter" idx="15" hasCustomPrompt="1"/>
          </p:nvPr>
        </p:nvSpPr>
        <p:spPr>
          <a:xfrm>
            <a:off x="6477000" y="2657697"/>
            <a:ext cx="1143000" cy="990600"/>
          </a:xfrm>
        </p:spPr>
        <p:txBody>
          <a:bodyPr anchor="ctr">
            <a:normAutofit/>
          </a:bodyPr>
          <a:lstStyle>
            <a:lvl1pPr marL="0" indent="0" algn="ctr">
              <a:lnSpc>
                <a:spcPct val="85000"/>
              </a:lnSpc>
              <a:spcBef>
                <a:spcPts val="0"/>
              </a:spcBef>
              <a:buNone/>
              <a:defRPr sz="1600" b="1">
                <a:solidFill>
                  <a:schemeClr val="accent3">
                    <a:lumMod val="75000"/>
                  </a:schemeClr>
                </a:solidFill>
              </a:defRPr>
            </a:lvl1pPr>
          </a:lstStyle>
          <a:p>
            <a:pPr lvl="0"/>
            <a:r>
              <a:rPr lang="en-US" dirty="0"/>
              <a:t>Text</a:t>
            </a:r>
          </a:p>
        </p:txBody>
      </p:sp>
      <p:sp>
        <p:nvSpPr>
          <p:cNvPr id="36" name="Text Placeholder 31">
            <a:extLst>
              <a:ext uri="{FF2B5EF4-FFF2-40B4-BE49-F238E27FC236}">
                <a16:creationId xmlns:a16="http://schemas.microsoft.com/office/drawing/2014/main" id="{8FF922E3-5C68-F6E3-0485-A0E67CC88D80}"/>
              </a:ext>
            </a:extLst>
          </p:cNvPr>
          <p:cNvSpPr>
            <a:spLocks noGrp="1"/>
          </p:cNvSpPr>
          <p:nvPr>
            <p:ph type="body" sz="quarter" idx="16" hasCustomPrompt="1"/>
          </p:nvPr>
        </p:nvSpPr>
        <p:spPr>
          <a:xfrm>
            <a:off x="8229600" y="3648297"/>
            <a:ext cx="1143000" cy="990600"/>
          </a:xfrm>
        </p:spPr>
        <p:txBody>
          <a:bodyPr anchor="ctr">
            <a:normAutofit/>
          </a:bodyPr>
          <a:lstStyle>
            <a:lvl1pPr marL="0" indent="0" algn="ctr">
              <a:lnSpc>
                <a:spcPct val="85000"/>
              </a:lnSpc>
              <a:spcBef>
                <a:spcPts val="0"/>
              </a:spcBef>
              <a:buNone/>
              <a:defRPr sz="1600" b="1">
                <a:solidFill>
                  <a:schemeClr val="accent5"/>
                </a:solidFill>
              </a:defRPr>
            </a:lvl1pPr>
          </a:lstStyle>
          <a:p>
            <a:pPr lvl="0"/>
            <a:r>
              <a:rPr lang="en-US" dirty="0"/>
              <a:t>Text</a:t>
            </a:r>
          </a:p>
        </p:txBody>
      </p:sp>
      <p:sp>
        <p:nvSpPr>
          <p:cNvPr id="37" name="Text Placeholder 31">
            <a:extLst>
              <a:ext uri="{FF2B5EF4-FFF2-40B4-BE49-F238E27FC236}">
                <a16:creationId xmlns:a16="http://schemas.microsoft.com/office/drawing/2014/main" id="{C910256D-A8C2-E46B-A929-3267D33AA46D}"/>
              </a:ext>
            </a:extLst>
          </p:cNvPr>
          <p:cNvSpPr>
            <a:spLocks noGrp="1"/>
          </p:cNvSpPr>
          <p:nvPr>
            <p:ph type="body" sz="quarter" idx="17" hasCustomPrompt="1"/>
          </p:nvPr>
        </p:nvSpPr>
        <p:spPr>
          <a:xfrm>
            <a:off x="9982200" y="2657697"/>
            <a:ext cx="1143000" cy="990600"/>
          </a:xfrm>
        </p:spPr>
        <p:txBody>
          <a:bodyPr anchor="ctr">
            <a:normAutofit/>
          </a:bodyPr>
          <a:lstStyle>
            <a:lvl1pPr marL="0" indent="0" algn="ctr">
              <a:lnSpc>
                <a:spcPct val="85000"/>
              </a:lnSpc>
              <a:spcBef>
                <a:spcPts val="0"/>
              </a:spcBef>
              <a:buNone/>
              <a:defRPr sz="1600" b="1">
                <a:solidFill>
                  <a:schemeClr val="tx1"/>
                </a:solidFill>
              </a:defRPr>
            </a:lvl1pPr>
          </a:lstStyle>
          <a:p>
            <a:pPr lvl="0"/>
            <a:r>
              <a:rPr lang="en-US" dirty="0"/>
              <a:t>Text</a:t>
            </a:r>
          </a:p>
        </p:txBody>
      </p:sp>
      <p:sp>
        <p:nvSpPr>
          <p:cNvPr id="39" name="Text Placeholder 38">
            <a:extLst>
              <a:ext uri="{FF2B5EF4-FFF2-40B4-BE49-F238E27FC236}">
                <a16:creationId xmlns:a16="http://schemas.microsoft.com/office/drawing/2014/main" id="{0C26EF43-A591-ACB9-95D5-D2A6C44F70EB}"/>
              </a:ext>
            </a:extLst>
          </p:cNvPr>
          <p:cNvSpPr>
            <a:spLocks noGrp="1"/>
          </p:cNvSpPr>
          <p:nvPr>
            <p:ph type="body" sz="quarter" idx="18" hasCustomPrompt="1"/>
          </p:nvPr>
        </p:nvSpPr>
        <p:spPr>
          <a:xfrm>
            <a:off x="9144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2" name="Text Placeholder 38">
            <a:extLst>
              <a:ext uri="{FF2B5EF4-FFF2-40B4-BE49-F238E27FC236}">
                <a16:creationId xmlns:a16="http://schemas.microsoft.com/office/drawing/2014/main" id="{F2B1CEAB-5243-EF63-89D5-ADA49AA64D68}"/>
              </a:ext>
            </a:extLst>
          </p:cNvPr>
          <p:cNvSpPr>
            <a:spLocks noGrp="1"/>
          </p:cNvSpPr>
          <p:nvPr>
            <p:ph type="body" sz="quarter" idx="19" hasCustomPrompt="1"/>
          </p:nvPr>
        </p:nvSpPr>
        <p:spPr>
          <a:xfrm>
            <a:off x="25908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3" name="Text Placeholder 38">
            <a:extLst>
              <a:ext uri="{FF2B5EF4-FFF2-40B4-BE49-F238E27FC236}">
                <a16:creationId xmlns:a16="http://schemas.microsoft.com/office/drawing/2014/main" id="{CDEDCD72-ECA0-F2D7-EC03-81843D0246E4}"/>
              </a:ext>
            </a:extLst>
          </p:cNvPr>
          <p:cNvSpPr>
            <a:spLocks noGrp="1"/>
          </p:cNvSpPr>
          <p:nvPr>
            <p:ph type="body" sz="quarter" idx="20" hasCustomPrompt="1"/>
          </p:nvPr>
        </p:nvSpPr>
        <p:spPr>
          <a:xfrm>
            <a:off x="44958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bg2">
                    <a:lumMod val="50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4" name="Text Placeholder 38">
            <a:extLst>
              <a:ext uri="{FF2B5EF4-FFF2-40B4-BE49-F238E27FC236}">
                <a16:creationId xmlns:a16="http://schemas.microsoft.com/office/drawing/2014/main" id="{2E0ED554-E380-3678-D783-DD39A1074860}"/>
              </a:ext>
            </a:extLst>
          </p:cNvPr>
          <p:cNvSpPr>
            <a:spLocks noGrp="1"/>
          </p:cNvSpPr>
          <p:nvPr>
            <p:ph type="body" sz="quarter" idx="21" hasCustomPrompt="1"/>
          </p:nvPr>
        </p:nvSpPr>
        <p:spPr>
          <a:xfrm>
            <a:off x="61722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3">
                    <a:lumMod val="75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5" name="Text Placeholder 38">
            <a:extLst>
              <a:ext uri="{FF2B5EF4-FFF2-40B4-BE49-F238E27FC236}">
                <a16:creationId xmlns:a16="http://schemas.microsoft.com/office/drawing/2014/main" id="{2DF7B12C-4A5F-2508-FCE7-35F125B54AD1}"/>
              </a:ext>
            </a:extLst>
          </p:cNvPr>
          <p:cNvSpPr>
            <a:spLocks noGrp="1"/>
          </p:cNvSpPr>
          <p:nvPr>
            <p:ph type="body" sz="quarter" idx="22" hasCustomPrompt="1"/>
          </p:nvPr>
        </p:nvSpPr>
        <p:spPr>
          <a:xfrm>
            <a:off x="96774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tx1"/>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6" name="Text Placeholder 38">
            <a:extLst>
              <a:ext uri="{FF2B5EF4-FFF2-40B4-BE49-F238E27FC236}">
                <a16:creationId xmlns:a16="http://schemas.microsoft.com/office/drawing/2014/main" id="{93AFFB44-33B2-D0D0-24B9-36F37009010E}"/>
              </a:ext>
            </a:extLst>
          </p:cNvPr>
          <p:cNvSpPr>
            <a:spLocks noGrp="1"/>
          </p:cNvSpPr>
          <p:nvPr>
            <p:ph type="body" sz="quarter" idx="23" hasCustomPrompt="1"/>
          </p:nvPr>
        </p:nvSpPr>
        <p:spPr>
          <a:xfrm>
            <a:off x="80772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20" name="Footer Placeholder 5">
            <a:extLst>
              <a:ext uri="{FF2B5EF4-FFF2-40B4-BE49-F238E27FC236}">
                <a16:creationId xmlns:a16="http://schemas.microsoft.com/office/drawing/2014/main" id="{BE884C74-6A18-2B76-2CF5-D95B28456242}"/>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26" name="Slide Number Placeholder 6">
            <a:extLst>
              <a:ext uri="{FF2B5EF4-FFF2-40B4-BE49-F238E27FC236}">
                <a16:creationId xmlns:a16="http://schemas.microsoft.com/office/drawing/2014/main" id="{229FCC9D-96AD-BA9E-BD6E-2A25D0A52792}"/>
              </a:ext>
            </a:extLst>
          </p:cNvPr>
          <p:cNvSpPr>
            <a:spLocks noGrp="1"/>
          </p:cNvSpPr>
          <p:nvPr>
            <p:ph type="sldNum" sz="quarter" idx="24"/>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82701918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876300" y="2990688"/>
            <a:ext cx="2992166" cy="335280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522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4743450"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49384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8610600" y="2990688"/>
            <a:ext cx="2992166" cy="335280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87865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668835841"/>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2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37827"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76578"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3056593" y="2990688"/>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319155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5173465" y="2990688"/>
            <a:ext cx="2040528" cy="320139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5310322"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 </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
        <p:nvSpPr>
          <p:cNvPr id="3" name="Rounded Rectangle 2">
            <a:extLst>
              <a:ext uri="{FF2B5EF4-FFF2-40B4-BE49-F238E27FC236}">
                <a16:creationId xmlns:a16="http://schemas.microsoft.com/office/drawing/2014/main" id="{0432080B-6328-C238-809D-F9FE08C793E4}"/>
              </a:ext>
              <a:ext uri="{C183D7F6-B498-43B3-948B-1728B52AA6E4}">
                <adec:decorative xmlns:adec="http://schemas.microsoft.com/office/drawing/2017/decorative" val="1"/>
              </a:ext>
            </a:extLst>
          </p:cNvPr>
          <p:cNvSpPr/>
          <p:nvPr userDrawn="1"/>
        </p:nvSpPr>
        <p:spPr>
          <a:xfrm>
            <a:off x="7290337" y="3026141"/>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4" name="Text Placeholder 11">
            <a:extLst>
              <a:ext uri="{FF2B5EF4-FFF2-40B4-BE49-F238E27FC236}">
                <a16:creationId xmlns:a16="http://schemas.microsoft.com/office/drawing/2014/main" id="{A3BA1372-7071-371E-C28F-CBE6820DA6FE}"/>
              </a:ext>
            </a:extLst>
          </p:cNvPr>
          <p:cNvSpPr>
            <a:spLocks noGrp="1"/>
          </p:cNvSpPr>
          <p:nvPr>
            <p:ph type="body" sz="quarter" idx="41" hasCustomPrompt="1"/>
          </p:nvPr>
        </p:nvSpPr>
        <p:spPr>
          <a:xfrm>
            <a:off x="7427194" y="3330941"/>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8" name="Rounded Rectangle 7">
            <a:extLst>
              <a:ext uri="{FF2B5EF4-FFF2-40B4-BE49-F238E27FC236}">
                <a16:creationId xmlns:a16="http://schemas.microsoft.com/office/drawing/2014/main" id="{8711E0B1-10A5-78B2-3136-3CD932F231FC}"/>
              </a:ext>
              <a:ext uri="{C183D7F6-B498-43B3-948B-1728B52AA6E4}">
                <adec:decorative xmlns:adec="http://schemas.microsoft.com/office/drawing/2017/decorative" val="1"/>
              </a:ext>
            </a:extLst>
          </p:cNvPr>
          <p:cNvSpPr/>
          <p:nvPr userDrawn="1"/>
        </p:nvSpPr>
        <p:spPr>
          <a:xfrm>
            <a:off x="9407209"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9" name="Text Placeholder 11">
            <a:extLst>
              <a:ext uri="{FF2B5EF4-FFF2-40B4-BE49-F238E27FC236}">
                <a16:creationId xmlns:a16="http://schemas.microsoft.com/office/drawing/2014/main" id="{9ACE081D-D73A-A411-BCD4-2DCBE78B8CE8}"/>
              </a:ext>
            </a:extLst>
          </p:cNvPr>
          <p:cNvSpPr>
            <a:spLocks noGrp="1"/>
          </p:cNvSpPr>
          <p:nvPr>
            <p:ph type="body" sz="quarter" idx="42" hasCustomPrompt="1"/>
          </p:nvPr>
        </p:nvSpPr>
        <p:spPr>
          <a:xfrm>
            <a:off x="954406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Tree>
    <p:extLst>
      <p:ext uri="{BB962C8B-B14F-4D97-AF65-F5344CB8AC3E}">
        <p14:creationId xmlns:p14="http://schemas.microsoft.com/office/powerpoint/2010/main" val="1284666090"/>
      </p:ext>
    </p:extLst>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2695161" y="2990688"/>
            <a:ext cx="2992166" cy="3352800"/>
          </a:xfrm>
          <a:prstGeom prst="roundRect">
            <a:avLst>
              <a:gd name="adj" fmla="val 7754"/>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28711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6562311"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67573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468811975"/>
      </p:ext>
    </p:extLst>
  </p:cSld>
  <p:clrMapOvr>
    <a:overrideClrMapping bg1="lt1" tx1="dk1" bg2="lt2" tx2="dk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09C14A-6496-6376-2B3E-AD74A612CDF4}"/>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F21821F-FB3A-F9EE-D0DE-E887A37D654C}"/>
              </a:ext>
            </a:extLst>
          </p:cNvPr>
          <p:cNvSpPr>
            <a:spLocks noGrp="1"/>
          </p:cNvSpPr>
          <p:nvPr>
            <p:ph type="body" idx="1"/>
          </p:nvPr>
        </p:nvSpPr>
        <p:spPr>
          <a:xfrm>
            <a:off x="914400" y="2203704"/>
            <a:ext cx="4983162"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07C9A69-852A-95D0-640F-0A9AD66D09FE}"/>
              </a:ext>
            </a:extLst>
          </p:cNvPr>
          <p:cNvSpPr>
            <a:spLocks noGrp="1"/>
          </p:cNvSpPr>
          <p:nvPr>
            <p:ph sz="half" idx="2"/>
          </p:nvPr>
        </p:nvSpPr>
        <p:spPr>
          <a:xfrm>
            <a:off x="914400" y="3173412"/>
            <a:ext cx="4983162"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25212BA-716C-43F7-C564-5796945A1860}"/>
              </a:ext>
            </a:extLst>
          </p:cNvPr>
          <p:cNvSpPr>
            <a:spLocks noGrp="1"/>
          </p:cNvSpPr>
          <p:nvPr>
            <p:ph type="body" sz="quarter" idx="3"/>
          </p:nvPr>
        </p:nvSpPr>
        <p:spPr>
          <a:xfrm>
            <a:off x="6273105" y="2203704"/>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7DF0997-D7AA-3B69-46B5-3C52DC86C8DE}"/>
              </a:ext>
            </a:extLst>
          </p:cNvPr>
          <p:cNvSpPr>
            <a:spLocks noGrp="1"/>
          </p:cNvSpPr>
          <p:nvPr>
            <p:ph sz="quarter" idx="4"/>
          </p:nvPr>
        </p:nvSpPr>
        <p:spPr>
          <a:xfrm>
            <a:off x="6273105" y="3173412"/>
            <a:ext cx="5183188"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7">
            <a:extLst>
              <a:ext uri="{FF2B5EF4-FFF2-40B4-BE49-F238E27FC236}">
                <a16:creationId xmlns:a16="http://schemas.microsoft.com/office/drawing/2014/main" id="{9D455EE4-619A-8EFD-2C75-330D157D9EDB}"/>
              </a:ext>
            </a:extLst>
          </p:cNvPr>
          <p:cNvSpPr>
            <a:spLocks noGrp="1"/>
          </p:cNvSpPr>
          <p:nvPr>
            <p:ph type="ftr" sz="quarter" idx="11"/>
          </p:nvPr>
        </p:nvSpPr>
        <p:spPr/>
        <p:txBody>
          <a:bodyPr/>
          <a:lstStyle/>
          <a:p>
            <a:r>
              <a:rPr lang="en-US" dirty="0"/>
              <a:t>Biological &amp; Physical Sciences</a:t>
            </a:r>
          </a:p>
        </p:txBody>
      </p:sp>
      <p:sp>
        <p:nvSpPr>
          <p:cNvPr id="9" name="Slide Number Placeholder 8">
            <a:extLst>
              <a:ext uri="{FF2B5EF4-FFF2-40B4-BE49-F238E27FC236}">
                <a16:creationId xmlns:a16="http://schemas.microsoft.com/office/drawing/2014/main" id="{C218C5AC-C080-2EB1-1F82-F057A282D7E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54035756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6495091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descr="A white symbol on a brown circle&#10;&#10;Description automatically generated">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24130681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2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188852176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reserve="1">
  <p:cSld name="3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83060551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itleOnly" preserve="1">
  <p:cSld name="4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print">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279756687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58259536-D612-272A-D0AD-1D0145988D36}"/>
              </a:ext>
            </a:extLst>
          </p:cNvPr>
          <p:cNvSpPr>
            <a:spLocks noGrp="1"/>
          </p:cNvSpPr>
          <p:nvPr>
            <p:ph type="ftr" sz="quarter" idx="11"/>
          </p:nvPr>
        </p:nvSpPr>
        <p:spPr/>
        <p:txBody>
          <a:bodyPr/>
          <a:lstStyle/>
          <a:p>
            <a:r>
              <a:rPr lang="en-US" dirty="0"/>
              <a:t>Biological &amp; Physical Sciences</a:t>
            </a:r>
          </a:p>
        </p:txBody>
      </p:sp>
      <p:sp>
        <p:nvSpPr>
          <p:cNvPr id="4" name="Slide Number Placeholder 3">
            <a:extLst>
              <a:ext uri="{FF2B5EF4-FFF2-40B4-BE49-F238E27FC236}">
                <a16:creationId xmlns:a16="http://schemas.microsoft.com/office/drawing/2014/main" id="{571A510F-03EC-A6BB-D8AE-182AFD52C8B2}"/>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60577980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9E54A3-AB3C-35BD-6098-13B595E84A94}"/>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71C3EF45-FFD0-8EC1-3E51-7B4572F3A59A}"/>
              </a:ext>
            </a:extLst>
          </p:cNvPr>
          <p:cNvSpPr>
            <a:spLocks noGrp="1"/>
          </p:cNvSpPr>
          <p:nvPr>
            <p:ph idx="1"/>
          </p:nvPr>
        </p:nvSpPr>
        <p:spPr>
          <a:xfrm>
            <a:off x="5105400" y="1103971"/>
            <a:ext cx="6556748" cy="5211066"/>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4A3246F-34BC-6307-9619-06751D531DA2}"/>
              </a:ext>
            </a:extLst>
          </p:cNvPr>
          <p:cNvSpPr>
            <a:spLocks noGrp="1"/>
          </p:cNvSpPr>
          <p:nvPr>
            <p:ph type="body" sz="half" idx="2"/>
          </p:nvPr>
        </p:nvSpPr>
        <p:spPr>
          <a:xfrm>
            <a:off x="914399" y="2503449"/>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8FDF21F7-6214-7E6B-A5E6-69AAAA30330A}"/>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B5A02BA3-BB8A-AC85-A750-93E59432E3A8}"/>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91550471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59C9C3-CF27-8B06-2E66-2BB1FCAD726F}"/>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38B7967-4936-AE6D-0BBD-BCE482FF4262}"/>
              </a:ext>
            </a:extLst>
          </p:cNvPr>
          <p:cNvSpPr>
            <a:spLocks noGrp="1"/>
          </p:cNvSpPr>
          <p:nvPr>
            <p:ph type="pic" idx="1"/>
          </p:nvPr>
        </p:nvSpPr>
        <p:spPr>
          <a:xfrm>
            <a:off x="5102352" y="1106424"/>
            <a:ext cx="6518834" cy="523537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A391E6CC-1128-78C6-3309-EDCFE3E4C724}"/>
              </a:ext>
            </a:extLst>
          </p:cNvPr>
          <p:cNvSpPr>
            <a:spLocks noGrp="1"/>
          </p:cNvSpPr>
          <p:nvPr>
            <p:ph type="body" sz="half" idx="2"/>
          </p:nvPr>
        </p:nvSpPr>
        <p:spPr>
          <a:xfrm>
            <a:off x="914400" y="2505456"/>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B6FB39B1-5B40-FE1F-3045-DD90E2A822A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6177EE0B-14D8-097A-37A8-4FBF55301754}"/>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391273746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489117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_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24307171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theme" Target="../theme/theme1.xml"/><Relationship Id="rId33" Type="http://schemas.openxmlformats.org/officeDocument/2006/relationships/image" Target="../media/image1.jpeg"/><Relationship Id="rId3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a:gsLst>
            <a:gs pos="0">
              <a:srgbClr val="D4BF88">
                <a:alpha val="75162"/>
              </a:srgbClr>
            </a:gs>
            <a:gs pos="39000">
              <a:schemeClr val="bg1"/>
            </a:gs>
          </a:gsLst>
          <a:lin ang="8100000" scaled="1"/>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7F53D41-B3D9-0856-DEBB-57C725BD4CCF}"/>
              </a:ext>
            </a:extLst>
          </p:cNvPr>
          <p:cNvSpPr>
            <a:spLocks noGrp="1"/>
          </p:cNvSpPr>
          <p:nvPr>
            <p:ph type="title"/>
          </p:nvPr>
        </p:nvSpPr>
        <p:spPr>
          <a:xfrm>
            <a:off x="933450" y="755930"/>
            <a:ext cx="103251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2B7F6990-E15B-701E-55A2-00590A07CB4F}"/>
              </a:ext>
            </a:extLst>
          </p:cNvPr>
          <p:cNvSpPr>
            <a:spLocks noGrp="1"/>
          </p:cNvSpPr>
          <p:nvPr>
            <p:ph type="body" idx="1"/>
          </p:nvPr>
        </p:nvSpPr>
        <p:spPr>
          <a:xfrm>
            <a:off x="933450" y="2216430"/>
            <a:ext cx="103251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7" name="Picture 6">
            <a:extLst>
              <a:ext uri="{FF2B5EF4-FFF2-40B4-BE49-F238E27FC236}">
                <a16:creationId xmlns:a16="http://schemas.microsoft.com/office/drawing/2014/main" id="{3C0E2C12-EE6A-20CB-09F3-55836BC3394C}"/>
              </a:ext>
            </a:extLst>
          </p:cNvPr>
          <p:cNvPicPr>
            <a:picLocks noChangeAspect="1"/>
          </p:cNvPicPr>
          <p:nvPr userDrawn="1"/>
        </p:nvPicPr>
        <p:blipFill rotWithShape="1">
          <a:blip r:embed="rId33" cstate="screen">
            <a:extLst>
              <a:ext uri="{28A0092B-C50C-407E-A947-70E740481C1C}">
                <a14:useLocalDpi xmlns:a14="http://schemas.microsoft.com/office/drawing/2010/main"/>
              </a:ext>
            </a:extLst>
          </a:blip>
          <a:srcRect/>
          <a:stretch/>
        </p:blipFill>
        <p:spPr>
          <a:xfrm>
            <a:off x="0" y="-47324"/>
            <a:ext cx="12192000" cy="529216"/>
          </a:xfrm>
          <a:prstGeom prst="rect">
            <a:avLst/>
          </a:prstGeom>
        </p:spPr>
      </p:pic>
      <p:pic>
        <p:nvPicPr>
          <p:cNvPr id="8" name="Picture 7" descr="A black background with grey letters&#10;&#10;Description automatically generated">
            <a:extLst>
              <a:ext uri="{FF2B5EF4-FFF2-40B4-BE49-F238E27FC236}">
                <a16:creationId xmlns:a16="http://schemas.microsoft.com/office/drawing/2014/main" id="{119BBE9E-4D69-14CD-9511-13BB4AA55DFA}"/>
              </a:ext>
            </a:extLst>
          </p:cNvPr>
          <p:cNvPicPr>
            <a:picLocks noChangeAspect="1"/>
          </p:cNvPicPr>
          <p:nvPr userDrawn="1"/>
        </p:nvPicPr>
        <p:blipFill rotWithShape="1">
          <a:blip r:embed="rId34" cstate="screen">
            <a:alphaModFix amt="23000"/>
            <a:extLst>
              <a:ext uri="{28A0092B-C50C-407E-A947-70E740481C1C}">
                <a14:useLocalDpi xmlns:a14="http://schemas.microsoft.com/office/drawing/2010/main"/>
              </a:ext>
            </a:extLst>
          </a:blip>
          <a:srcRect/>
          <a:stretch/>
        </p:blipFill>
        <p:spPr>
          <a:xfrm>
            <a:off x="0" y="-50077"/>
            <a:ext cx="1201897" cy="531969"/>
          </a:xfrm>
          <a:prstGeom prst="rect">
            <a:avLst/>
          </a:prstGeom>
        </p:spPr>
      </p:pic>
      <p:sp>
        <p:nvSpPr>
          <p:cNvPr id="6" name="Slide Number Placeholder 5">
            <a:extLst>
              <a:ext uri="{FF2B5EF4-FFF2-40B4-BE49-F238E27FC236}">
                <a16:creationId xmlns:a16="http://schemas.microsoft.com/office/drawing/2014/main" id="{37322777-339B-9F56-577C-65AD89F9C7A5}"/>
              </a:ext>
            </a:extLst>
          </p:cNvPr>
          <p:cNvSpPr>
            <a:spLocks noGrp="1"/>
          </p:cNvSpPr>
          <p:nvPr>
            <p:ph type="sldNum" sz="quarter" idx="4"/>
          </p:nvPr>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
        <p:nvSpPr>
          <p:cNvPr id="5" name="Footer Placeholder 4">
            <a:extLst>
              <a:ext uri="{FF2B5EF4-FFF2-40B4-BE49-F238E27FC236}">
                <a16:creationId xmlns:a16="http://schemas.microsoft.com/office/drawing/2014/main" id="{D5538D45-6410-BA73-9765-65C75CDC4742}"/>
              </a:ext>
            </a:extLst>
          </p:cNvPr>
          <p:cNvSpPr>
            <a:spLocks noGrp="1"/>
          </p:cNvSpPr>
          <p:nvPr>
            <p:ph type="ftr" sz="quarter" idx="3"/>
          </p:nvPr>
        </p:nvSpPr>
        <p:spPr>
          <a:xfrm>
            <a:off x="343963" y="121602"/>
            <a:ext cx="4114800" cy="217173"/>
          </a:xfrm>
          <a:prstGeom prst="rect">
            <a:avLst/>
          </a:prstGeom>
        </p:spPr>
        <p:txBody>
          <a:bodyPr vert="horz" lIns="91440" tIns="45720" rIns="91440" bIns="45720" rtlCol="0" anchor="ctr"/>
          <a:lstStyle>
            <a:lvl1pPr algn="l">
              <a:defRPr sz="900">
                <a:solidFill>
                  <a:schemeClr val="bg1">
                    <a:alpha val="75167"/>
                  </a:schemeClr>
                </a:solidFill>
              </a:defRPr>
            </a:lvl1pPr>
          </a:lstStyle>
          <a:p>
            <a:r>
              <a:rPr lang="en-US" dirty="0"/>
              <a:t>Biological &amp; Physical Sciences</a:t>
            </a:r>
          </a:p>
        </p:txBody>
      </p:sp>
    </p:spTree>
    <p:extLst>
      <p:ext uri="{BB962C8B-B14F-4D97-AF65-F5344CB8AC3E}">
        <p14:creationId xmlns:p14="http://schemas.microsoft.com/office/powerpoint/2010/main" val="889173761"/>
      </p:ext>
    </p:extLst>
  </p:cSld>
  <p:clrMap bg1="lt1" tx1="dk1" bg2="lt2" tx2="dk2" accent1="accent1" accent2="accent2" accent3="accent3" accent4="accent4" accent5="accent5" accent6="accent6" hlink="hlink" folHlink="folHlink"/>
  <p:sldLayoutIdLst>
    <p:sldLayoutId id="2147483688" r:id="rId1"/>
    <p:sldLayoutId id="2147483680" r:id="rId2"/>
    <p:sldLayoutId id="2147483661" r:id="rId3"/>
    <p:sldLayoutId id="2147483682" r:id="rId4"/>
    <p:sldLayoutId id="2147483691" r:id="rId5"/>
    <p:sldLayoutId id="2147483662" r:id="rId6"/>
    <p:sldLayoutId id="2147483692" r:id="rId7"/>
    <p:sldLayoutId id="2147483663" r:id="rId8"/>
    <p:sldLayoutId id="2147483674" r:id="rId9"/>
    <p:sldLayoutId id="2147483675" r:id="rId10"/>
    <p:sldLayoutId id="2147483676" r:id="rId11"/>
    <p:sldLayoutId id="2147483681" r:id="rId12"/>
    <p:sldLayoutId id="2147483677" r:id="rId13"/>
    <p:sldLayoutId id="2147483678" r:id="rId14"/>
    <p:sldLayoutId id="2147483683" r:id="rId15"/>
    <p:sldLayoutId id="2147483672" r:id="rId16"/>
    <p:sldLayoutId id="2147483679" r:id="rId17"/>
    <p:sldLayoutId id="2147483673" r:id="rId18"/>
    <p:sldLayoutId id="2147483690" r:id="rId19"/>
    <p:sldLayoutId id="2147483689" r:id="rId20"/>
    <p:sldLayoutId id="2147483664" r:id="rId21"/>
    <p:sldLayoutId id="2147483665" r:id="rId22"/>
    <p:sldLayoutId id="2147483684" r:id="rId23"/>
    <p:sldLayoutId id="2147483685" r:id="rId24"/>
    <p:sldLayoutId id="2147483686" r:id="rId25"/>
    <p:sldLayoutId id="2147483687" r:id="rId26"/>
    <p:sldLayoutId id="2147483666" r:id="rId27"/>
    <p:sldLayoutId id="2147483667" r:id="rId28"/>
    <p:sldLayoutId id="2147483668" r:id="rId29"/>
    <p:sldLayoutId id="2147483669" r:id="rId30"/>
    <p:sldLayoutId id="2147483658" r:id="rId31"/>
  </p:sldLayoutIdLst>
  <p:hf hdr="0"/>
  <p:txStyles>
    <p:titleStyle>
      <a:lvl1pPr algn="l" defTabSz="914400" rtl="0" eaLnBrk="1" latinLnBrk="0" hangingPunct="1">
        <a:lnSpc>
          <a:spcPct val="90000"/>
        </a:lnSpc>
        <a:spcBef>
          <a:spcPct val="0"/>
        </a:spcBef>
        <a:buNone/>
        <a:defRPr sz="4400" b="1" kern="1200">
          <a:solidFill>
            <a:schemeClr val="tx1"/>
          </a:solidFill>
          <a:latin typeface="+mn-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4.jpg"/><Relationship Id="rId3" Type="http://schemas.openxmlformats.org/officeDocument/2006/relationships/image" Target="../media/image75.jpg"/><Relationship Id="rId4" Type="http://schemas.openxmlformats.org/officeDocument/2006/relationships/image" Target="../media/image76.jpg"/><Relationship Id="rId5" Type="http://schemas.openxmlformats.org/officeDocument/2006/relationships/image" Target="../media/image77.jpg"/><Relationship Id="rId6" Type="http://schemas.openxmlformats.org/officeDocument/2006/relationships/image" Target="../media/image78.gif"/><Relationship Id="rId7" Type="http://schemas.openxmlformats.org/officeDocument/2006/relationships/image" Target="../media/image79.gif"/><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0.jpg"/><Relationship Id="rId3" Type="http://schemas.openxmlformats.org/officeDocument/2006/relationships/image" Target="../media/image81.jpg"/><Relationship Id="rId4" Type="http://schemas.openxmlformats.org/officeDocument/2006/relationships/image" Target="../media/image82.jpg"/><Relationship Id="rId5" Type="http://schemas.openxmlformats.org/officeDocument/2006/relationships/image" Target="../media/image83.jpg"/><Relationship Id="rId6" Type="http://schemas.openxmlformats.org/officeDocument/2006/relationships/image" Target="../media/image84.gif"/><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9.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90.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91.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E5D3E717-6970-91B9-68BB-B9CE473EC22E}"/>
              </a:ext>
            </a:extLst>
          </p:cNvPr>
          <p:cNvSpPr>
            <a:spLocks noGrp="1"/>
          </p:cNvSpPr>
          <p:nvPr>
            <p:ph type="subTitle" idx="1"/>
          </p:nvPr>
        </p:nvSpPr>
        <p:spPr>
          <a:xfrm>
            <a:off x="500101" y="3895025"/>
            <a:ext cx="4774425" cy="1429109"/>
          </a:xfrm>
        </p:spPr>
        <p:txBody>
          <a:bodyPr vert="horz" wrap="square" lIns="91440" tIns="45720" rIns="91440" bIns="45720" rtlCol="0" anchor="t">
            <a:spAutoFit/>
          </a:bodyPr>
          <a:lstStyle/>
          <a:p>
            <a:pPr>
              <a:spcAft>
                <a:spcPts val="200"/>
              </a:spcAft>
            </a:pPr>
            <a:r>
              <a:rPr sz="2100" b="1">
                <a:solidFill>
                  <a:srgbClr val="FFFFFF"/>
                </a:solidFill>
                <a:latin typeface="Arial"/>
              </a:rPr>
              <a:t>Jason Trinh</a:t>
            </a:r>
          </a:p>
          <a:p>
            <a:pPr>
              <a:spcAft>
                <a:spcPts val="200"/>
              </a:spcAft>
            </a:pPr>
            <a:r>
              <a:rPr sz="1400" b="0">
                <a:solidFill>
                  <a:srgbClr val="FFFFFF"/>
                </a:solidFill>
                <a:latin typeface="Arial"/>
              </a:rPr>
              <a:t>EECS | UC Berkeley</a:t>
            </a:r>
          </a:p>
          <a:p>
            <a:pPr>
              <a:spcAft>
                <a:spcPts val="200"/>
              </a:spcAft>
            </a:pPr>
            <a:r>
              <a:rPr sz="600" b="0">
                <a:solidFill>
                  <a:srgbClr val="FFFFFF"/>
                </a:solidFill>
                <a:latin typeface="Arial"/>
              </a:rPr>
              <a:t/>
            </a:r>
          </a:p>
          <a:p>
            <a:pPr>
              <a:spcAft>
                <a:spcPts val="200"/>
              </a:spcAft>
            </a:pPr>
            <a:r>
              <a:rPr sz="1300" b="0">
                <a:solidFill>
                  <a:srgbClr val="FFFFFF"/>
                </a:solidFill>
                <a:latin typeface="Arial"/>
              </a:rPr>
              <a:t>Mentor: James Casaletto | August 2026</a:t>
            </a:r>
          </a:p>
        </p:txBody>
      </p:sp>
      <p:sp>
        <p:nvSpPr>
          <p:cNvPr id="3" name="Text Placeholder 2">
            <a:extLst>
              <a:ext uri="{FF2B5EF4-FFF2-40B4-BE49-F238E27FC236}">
                <a16:creationId xmlns:a16="http://schemas.microsoft.com/office/drawing/2014/main" id="{35AAB492-0D30-3AB0-9C9C-3B7725AA34C8}"/>
              </a:ext>
            </a:extLst>
          </p:cNvPr>
          <p:cNvSpPr>
            <a:spLocks noGrp="1"/>
          </p:cNvSpPr>
          <p:nvPr>
            <p:ph type="body" sz="quarter" idx="14"/>
          </p:nvPr>
        </p:nvSpPr>
        <p:spPr/>
        <p:txBody>
          <a:bodyPr wrap="square" anchor="b"/>
          <a:lstStyle/>
          <a:p>
            <a:pPr>
              <a:lnSpc>
                <a:spcPct val="100000"/>
              </a:lnSpc>
              <a:spcBef>
                <a:spcPts val="0"/>
              </a:spcBef>
              <a:spcAft>
                <a:spcPts val="0"/>
              </a:spcAft>
            </a:pPr>
            <a:r>
              <a:rPr sz="2900" b="1">
                <a:solidFill>
                  <a:srgbClr val="FFFFFF"/>
                </a:solidFill>
                <a:latin typeface="Arial"/>
              </a:rPr>
              <a:t>Interpretable and generative models
for mouse spaceflight</a:t>
            </a:r>
          </a:p>
        </p:txBody>
      </p:sp>
    </p:spTree>
    <p:extLst>
      <p:ext uri="{BB962C8B-B14F-4D97-AF65-F5344CB8AC3E}">
        <p14:creationId xmlns:p14="http://schemas.microsoft.com/office/powerpoint/2010/main" val="4068975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15CCDA23-9C9B-2E3C-0808-97FA24C09308}"/>
              </a:ext>
            </a:extLst>
          </p:cNvPr>
          <p:cNvSpPr>
            <a:spLocks noGrp="1"/>
          </p:cNvSpPr>
          <p:nvPr>
            <p:ph type="title"/>
          </p:nvPr>
        </p:nvSpPr>
        <p:spPr/>
        <p:txBody>
          <a:bodyPr/>
          <a:lstStyle/>
          <a:p/>
        </p:txBody>
      </p:sp>
      <p:sp>
        <p:nvSpPr>
          <p:cNvPr id="18" name="Content Placeholder 17">
            <a:extLst>
              <a:ext uri="{FF2B5EF4-FFF2-40B4-BE49-F238E27FC236}">
                <a16:creationId xmlns:a16="http://schemas.microsoft.com/office/drawing/2014/main" id="{EDF69EC4-28BB-B6B3-FB3D-0B6A7B68EADE}"/>
              </a:ext>
            </a:extLst>
          </p:cNvPr>
          <p:cNvSpPr>
            <a:spLocks noGrp="1"/>
          </p:cNvSpPr>
          <p:nvPr>
            <p:ph idx="1"/>
          </p:nvPr>
        </p:nvSpPr>
        <p:spPr/>
        <p:txBody>
          <a:bodyPr/>
          <a:lstStyle/>
          <a:p/>
        </p:txBody>
      </p:sp>
      <p:sp>
        <p:nvSpPr>
          <p:cNvPr id="3" name="Footer Placeholder 2">
            <a:extLst>
              <a:ext uri="{FF2B5EF4-FFF2-40B4-BE49-F238E27FC236}">
                <a16:creationId xmlns:a16="http://schemas.microsoft.com/office/drawing/2014/main" id="{CA6AED0D-F1B8-689C-34E4-C8599A320EAC}"/>
              </a:ext>
            </a:extLst>
          </p:cNvPr>
          <p:cNvSpPr>
            <a:spLocks noGrp="1"/>
          </p:cNvSpPr>
          <p:nvPr>
            <p:ph type="ftr" sz="quarter" idx="11"/>
          </p:nvPr>
        </p:nvSpPr>
        <p:spPr/>
        <p:txBody>
          <a:bodyPr/>
          <a:lstStyle/>
          <a:p/>
        </p:txBody>
      </p:sp>
      <p:sp>
        <p:nvSpPr>
          <p:cNvPr id="4" name="Slide Number Placeholder 3">
            <a:extLst>
              <a:ext uri="{FF2B5EF4-FFF2-40B4-BE49-F238E27FC236}">
                <a16:creationId xmlns:a16="http://schemas.microsoft.com/office/drawing/2014/main" id="{3BCE25FE-C8CB-2ADC-D1BB-2BE7BB0DB777}"/>
              </a:ext>
            </a:extLst>
          </p:cNvPr>
          <p:cNvSpPr>
            <a:spLocks noGrp="1"/>
          </p:cNvSpPr>
          <p:nvPr>
            <p:ph type="sldNum" sz="quarter" idx="4294967295"/>
          </p:nvPr>
        </p:nvSpPr>
        <p:spPr>
          <a:xfrm>
            <a:off x="11131550" y="100013"/>
            <a:ext cx="1060450" cy="261937"/>
          </a:xfrm>
        </p:spPr>
        <p:txBody>
          <a:bodyPr/>
          <a:lstStyle/>
          <a:p>
            <a:r>
              <a:rPr>
                <a:latin typeface="Arial"/>
              </a:rPr>
              <a:t>2</a:t>
            </a:r>
          </a:p>
        </p:txBody>
      </p:sp>
      <p:sp>
        <p:nvSpPr>
          <p:cNvPr id="19" name="TextBox 18"/>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PROJECT</a:t>
            </a:r>
          </a:p>
        </p:txBody>
      </p:sp>
      <p:sp>
        <p:nvSpPr>
          <p:cNvPr id="20" name="TextBox 19"/>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One dataset, two machine-learning questions</a:t>
            </a:r>
          </a:p>
        </p:txBody>
      </p:sp>
      <p:sp>
        <p:nvSpPr>
          <p:cNvPr id="21" name="TextBox 20"/>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We used mouse bulk RNA-seq to study how spaceflight changes genes, pathways, and tissue state.</a:t>
            </a:r>
          </a:p>
        </p:txBody>
      </p:sp>
      <p:sp>
        <p:nvSpPr>
          <p:cNvPr id="22" name="Rectangle 21"/>
          <p:cNvSpPr/>
          <p:nvPr/>
        </p:nvSpPr>
        <p:spPr>
          <a:xfrm>
            <a:off x="502920" y="1874519"/>
            <a:ext cx="11192256" cy="694944"/>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6384" y="2011680"/>
            <a:ext cx="1627632" cy="283464"/>
          </a:xfrm>
          <a:prstGeom prst="rect">
            <a:avLst/>
          </a:prstGeom>
          <a:noFill/>
        </p:spPr>
        <p:txBody>
          <a:bodyPr wrap="square" lIns="0" rIns="0" tIns="0" bIns="0" anchor="t">
            <a:spAutoFit/>
          </a:bodyPr>
          <a:lstStyle/>
          <a:p>
            <a:pPr algn="l">
              <a:spcAft>
                <a:spcPts val="0"/>
              </a:spcAft>
            </a:pPr>
            <a:r>
              <a:rPr sz="1600" b="1" i="0">
                <a:solidFill>
                  <a:srgbClr val="FFFFFF"/>
                </a:solidFill>
                <a:latin typeface="Arial"/>
              </a:rPr>
              <a:t>NASA OSDR API</a:t>
            </a:r>
          </a:p>
        </p:txBody>
      </p:sp>
      <p:sp>
        <p:nvSpPr>
          <p:cNvPr id="24" name="TextBox 23"/>
          <p:cNvSpPr txBox="1"/>
          <p:nvPr/>
        </p:nvSpPr>
        <p:spPr>
          <a:xfrm>
            <a:off x="2487168" y="1993392"/>
            <a:ext cx="8759952" cy="310896"/>
          </a:xfrm>
          <a:prstGeom prst="rect">
            <a:avLst/>
          </a:prstGeom>
          <a:noFill/>
        </p:spPr>
        <p:txBody>
          <a:bodyPr wrap="square" lIns="0" rIns="0" tIns="0" bIns="0" anchor="ctr">
            <a:spAutoFit/>
          </a:bodyPr>
          <a:lstStyle/>
          <a:p>
            <a:pPr algn="l">
              <a:spcAft>
                <a:spcPts val="0"/>
              </a:spcAft>
            </a:pPr>
            <a:r>
              <a:rPr sz="1320" b="0" i="0">
                <a:solidFill>
                  <a:srgbClr val="DCE7F2"/>
                </a:solidFill>
                <a:latin typeface="Arial"/>
              </a:rPr>
              <a:t>Mus musculus bulk RNA-seq | spaceflight (FLT) and ground control (GC) | multiple missions and tissues</a:t>
            </a:r>
          </a:p>
        </p:txBody>
      </p:sp>
      <p:sp>
        <p:nvSpPr>
          <p:cNvPr id="25" name="Rectangle 24"/>
          <p:cNvSpPr/>
          <p:nvPr/>
        </p:nvSpPr>
        <p:spPr>
          <a:xfrm>
            <a:off x="502920" y="2944368"/>
            <a:ext cx="5449824" cy="2926080"/>
          </a:xfrm>
          <a:prstGeom prst="rect">
            <a:avLst/>
          </a:prstGeom>
          <a:solidFill>
            <a:srgbClr val="E9F1F7"/>
          </a:solidFill>
          <a:ln w="10160">
            <a:solidFill>
              <a:srgbClr val="E9F1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3182112"/>
            <a:ext cx="411480" cy="228600"/>
          </a:xfrm>
          <a:prstGeom prst="rect">
            <a:avLst/>
          </a:prstGeom>
          <a:noFill/>
        </p:spPr>
        <p:txBody>
          <a:bodyPr wrap="square" lIns="0" rIns="0" tIns="0" bIns="0" anchor="t">
            <a:spAutoFit/>
          </a:bodyPr>
          <a:lstStyle/>
          <a:p>
            <a:pPr algn="l">
              <a:spcAft>
                <a:spcPts val="0"/>
              </a:spcAft>
            </a:pPr>
            <a:r>
              <a:rPr sz="1100" b="1" i="0">
                <a:solidFill>
                  <a:srgbClr val="2D6496"/>
                </a:solidFill>
                <a:latin typeface="Arial"/>
              </a:rPr>
              <a:t>01</a:t>
            </a:r>
          </a:p>
        </p:txBody>
      </p:sp>
      <p:sp>
        <p:nvSpPr>
          <p:cNvPr id="27" name="TextBox 26"/>
          <p:cNvSpPr txBox="1"/>
          <p:nvPr/>
        </p:nvSpPr>
        <p:spPr>
          <a:xfrm>
            <a:off x="1252728" y="3108960"/>
            <a:ext cx="4352544" cy="457200"/>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Which biological programs change?</a:t>
            </a:r>
          </a:p>
        </p:txBody>
      </p:sp>
      <p:sp>
        <p:nvSpPr>
          <p:cNvPr id="28" name="Rectangle 27"/>
          <p:cNvSpPr/>
          <p:nvPr/>
        </p:nvSpPr>
        <p:spPr>
          <a:xfrm>
            <a:off x="731520" y="3767328"/>
            <a:ext cx="4965192" cy="2286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3995928"/>
            <a:ext cx="4846320" cy="310896"/>
          </a:xfrm>
          <a:prstGeom prst="rect">
            <a:avLst/>
          </a:prstGeom>
          <a:noFill/>
        </p:spPr>
        <p:txBody>
          <a:bodyPr wrap="square" lIns="0" rIns="0" tIns="0" bIns="0" anchor="t">
            <a:spAutoFit/>
          </a:bodyPr>
          <a:lstStyle/>
          <a:p>
            <a:pPr algn="l">
              <a:spcAft>
                <a:spcPts val="0"/>
              </a:spcAft>
            </a:pPr>
            <a:r>
              <a:rPr sz="1540" b="1" i="0">
                <a:solidFill>
                  <a:srgbClr val="2D6496"/>
                </a:solidFill>
                <a:latin typeface="Arial"/>
              </a:rPr>
              <a:t>expiMap</a:t>
            </a:r>
          </a:p>
        </p:txBody>
      </p:sp>
      <p:sp>
        <p:nvSpPr>
          <p:cNvPr id="30" name="TextBox 29"/>
          <p:cNvSpPr txBox="1"/>
          <p:nvPr/>
        </p:nvSpPr>
        <p:spPr>
          <a:xfrm>
            <a:off x="731520" y="4407408"/>
            <a:ext cx="4846320" cy="603504"/>
          </a:xfrm>
          <a:prstGeom prst="rect">
            <a:avLst/>
          </a:prstGeom>
          <a:noFill/>
        </p:spPr>
        <p:txBody>
          <a:bodyPr wrap="square" lIns="0" rIns="0" tIns="0" bIns="0" anchor="t">
            <a:spAutoFit/>
          </a:bodyPr>
          <a:lstStyle/>
          <a:p>
            <a:pPr algn="l">
              <a:spcAft>
                <a:spcPts val="0"/>
              </a:spcAft>
            </a:pPr>
            <a:r>
              <a:rPr sz="1300" b="0" i="0">
                <a:solidFill>
                  <a:srgbClr val="263746"/>
                </a:solidFill>
                <a:latin typeface="Arial"/>
              </a:rPr>
              <a:t>Train a pathway-constrained reference on ARCHS4, then map OSDR samples into mouse Reactome programs.</a:t>
            </a:r>
          </a:p>
        </p:txBody>
      </p:sp>
      <p:sp>
        <p:nvSpPr>
          <p:cNvPr id="31" name="TextBox 30"/>
          <p:cNvSpPr txBox="1"/>
          <p:nvPr/>
        </p:nvSpPr>
        <p:spPr>
          <a:xfrm>
            <a:off x="731520" y="5285232"/>
            <a:ext cx="4846320" cy="283464"/>
          </a:xfrm>
          <a:prstGeom prst="rect">
            <a:avLst/>
          </a:prstGeom>
          <a:noFill/>
        </p:spPr>
        <p:txBody>
          <a:bodyPr wrap="square" lIns="0" rIns="0" tIns="0" bIns="0" anchor="t">
            <a:spAutoFit/>
          </a:bodyPr>
          <a:lstStyle/>
          <a:p>
            <a:pPr algn="l">
              <a:spcAft>
                <a:spcPts val="0"/>
              </a:spcAft>
            </a:pPr>
            <a:r>
              <a:rPr sz="1230" b="1" i="0">
                <a:solidFill>
                  <a:srgbClr val="082B55"/>
                </a:solidFill>
                <a:latin typeface="Arial"/>
              </a:rPr>
              <a:t>Output: tissue-specific pathway shifts</a:t>
            </a:r>
          </a:p>
        </p:txBody>
      </p:sp>
      <p:sp>
        <p:nvSpPr>
          <p:cNvPr id="32" name="Rectangle 31"/>
          <p:cNvSpPr/>
          <p:nvPr/>
        </p:nvSpPr>
        <p:spPr>
          <a:xfrm>
            <a:off x="6245352" y="2944368"/>
            <a:ext cx="5449824" cy="2926080"/>
          </a:xfrm>
          <a:prstGeom prst="rect">
            <a:avLst/>
          </a:prstGeom>
          <a:solidFill>
            <a:srgbClr val="E8F3F1"/>
          </a:solidFill>
          <a:ln w="10160">
            <a:solidFill>
              <a:srgbClr val="E8F3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64808" y="3182112"/>
            <a:ext cx="411480" cy="228600"/>
          </a:xfrm>
          <a:prstGeom prst="rect">
            <a:avLst/>
          </a:prstGeom>
          <a:noFill/>
        </p:spPr>
        <p:txBody>
          <a:bodyPr wrap="square" lIns="0" rIns="0" tIns="0" bIns="0" anchor="t">
            <a:spAutoFit/>
          </a:bodyPr>
          <a:lstStyle/>
          <a:p>
            <a:pPr algn="l">
              <a:spcAft>
                <a:spcPts val="0"/>
              </a:spcAft>
            </a:pPr>
            <a:r>
              <a:rPr sz="1100" b="1" i="0">
                <a:solidFill>
                  <a:srgbClr val="178681"/>
                </a:solidFill>
                <a:latin typeface="Arial"/>
              </a:rPr>
              <a:t>02</a:t>
            </a:r>
          </a:p>
        </p:txBody>
      </p:sp>
      <p:sp>
        <p:nvSpPr>
          <p:cNvPr id="34" name="TextBox 33"/>
          <p:cNvSpPr txBox="1"/>
          <p:nvPr/>
        </p:nvSpPr>
        <p:spPr>
          <a:xfrm>
            <a:off x="6995160" y="3108960"/>
            <a:ext cx="4352544" cy="457200"/>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Can synthetic profiles sharpen the analysis?</a:t>
            </a:r>
          </a:p>
        </p:txBody>
      </p:sp>
      <p:sp>
        <p:nvSpPr>
          <p:cNvPr id="35" name="Rectangle 34"/>
          <p:cNvSpPr/>
          <p:nvPr/>
        </p:nvSpPr>
        <p:spPr>
          <a:xfrm>
            <a:off x="6473952" y="3767328"/>
            <a:ext cx="4965192"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73952" y="3995928"/>
            <a:ext cx="4846320" cy="310896"/>
          </a:xfrm>
          <a:prstGeom prst="rect">
            <a:avLst/>
          </a:prstGeom>
          <a:noFill/>
        </p:spPr>
        <p:txBody>
          <a:bodyPr wrap="square" lIns="0" rIns="0" tIns="0" bIns="0" anchor="t">
            <a:spAutoFit/>
          </a:bodyPr>
          <a:lstStyle/>
          <a:p>
            <a:pPr algn="l">
              <a:spcAft>
                <a:spcPts val="0"/>
              </a:spcAft>
            </a:pPr>
            <a:r>
              <a:rPr sz="1540" b="1" i="0">
                <a:solidFill>
                  <a:srgbClr val="178681"/>
                </a:solidFill>
                <a:latin typeface="Arial"/>
              </a:rPr>
              <a:t>Conditional generation</a:t>
            </a:r>
          </a:p>
        </p:txBody>
      </p:sp>
      <p:sp>
        <p:nvSpPr>
          <p:cNvPr id="37" name="TextBox 36"/>
          <p:cNvSpPr txBox="1"/>
          <p:nvPr/>
        </p:nvSpPr>
        <p:spPr>
          <a:xfrm>
            <a:off x="6473952" y="4407408"/>
            <a:ext cx="4846320" cy="603504"/>
          </a:xfrm>
          <a:prstGeom prst="rect">
            <a:avLst/>
          </a:prstGeom>
          <a:noFill/>
        </p:spPr>
        <p:txBody>
          <a:bodyPr wrap="square" lIns="0" rIns="0" tIns="0" bIns="0" anchor="t">
            <a:spAutoFit/>
          </a:bodyPr>
          <a:lstStyle/>
          <a:p>
            <a:pPr algn="l">
              <a:spcAft>
                <a:spcPts val="0"/>
              </a:spcAft>
            </a:pPr>
            <a:r>
              <a:rPr sz="1300" b="0" i="0">
                <a:solidFill>
                  <a:srgbClr val="263746"/>
                </a:solidFill>
                <a:latin typeface="Arial"/>
              </a:rPr>
              <a:t>Generate matched expression profiles by tissue, study context, and FLT or GC condition.</a:t>
            </a:r>
          </a:p>
        </p:txBody>
      </p:sp>
      <p:sp>
        <p:nvSpPr>
          <p:cNvPr id="38" name="TextBox 37"/>
          <p:cNvSpPr txBox="1"/>
          <p:nvPr/>
        </p:nvSpPr>
        <p:spPr>
          <a:xfrm>
            <a:off x="6473952" y="5285232"/>
            <a:ext cx="4846320" cy="283464"/>
          </a:xfrm>
          <a:prstGeom prst="rect">
            <a:avLst/>
          </a:prstGeom>
          <a:noFill/>
        </p:spPr>
        <p:txBody>
          <a:bodyPr wrap="square" lIns="0" rIns="0" tIns="0" bIns="0" anchor="t">
            <a:spAutoFit/>
          </a:bodyPr>
          <a:lstStyle/>
          <a:p>
            <a:pPr algn="l">
              <a:spcAft>
                <a:spcPts val="0"/>
              </a:spcAft>
            </a:pPr>
            <a:r>
              <a:rPr sz="1230" b="1" i="0">
                <a:solidFill>
                  <a:srgbClr val="082B55"/>
                </a:solidFill>
                <a:latin typeface="Arial"/>
              </a:rPr>
              <a:t>Output: validated profiles and gene ranking</a:t>
            </a:r>
          </a:p>
        </p:txBody>
      </p:sp>
      <p:sp>
        <p:nvSpPr>
          <p:cNvPr id="39" name="TextBox 38"/>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Data source: NASA Open Science Data Repository Biological Data API.</a:t>
            </a:r>
          </a:p>
        </p:txBody>
      </p:sp>
    </p:spTree>
    <p:extLst>
      <p:ext uri="{BB962C8B-B14F-4D97-AF65-F5344CB8AC3E}">
        <p14:creationId xmlns:p14="http://schemas.microsoft.com/office/powerpoint/2010/main" val="2938554529"/>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NEURAL NETWORKS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Autoencoders compress expression into a latent space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encoder summarizes a gene profile; the decoder learns enough structure to reconstruct it.</a:t>
            </a:r>
          </a:p>
        </p:txBody>
      </p:sp>
      <p:sp>
        <p:nvSpPr>
          <p:cNvPr id="7" name="TextBox 6"/>
          <p:cNvSpPr txBox="1"/>
          <p:nvPr/>
        </p:nvSpPr>
        <p:spPr>
          <a:xfrm>
            <a:off x="530352" y="1874519"/>
            <a:ext cx="1316736" cy="219456"/>
          </a:xfrm>
          <a:prstGeom prst="rect">
            <a:avLst/>
          </a:prstGeom>
          <a:noFill/>
        </p:spPr>
        <p:txBody>
          <a:bodyPr wrap="square" lIns="0" rIns="0" tIns="0" bIns="0" anchor="t">
            <a:spAutoFit/>
          </a:bodyPr>
          <a:lstStyle/>
          <a:p>
            <a:pPr algn="l">
              <a:spcAft>
                <a:spcPts val="0"/>
              </a:spcAft>
            </a:pPr>
            <a:r>
              <a:rPr sz="1019" b="1" i="0">
                <a:solidFill>
                  <a:srgbClr val="2D6496"/>
                </a:solidFill>
                <a:latin typeface="Arial"/>
              </a:rPr>
              <a:t>AUTOENCODER</a:t>
            </a:r>
          </a:p>
        </p:txBody>
      </p:sp>
      <p:sp>
        <p:nvSpPr>
          <p:cNvPr id="8" name="Rectangle 7"/>
          <p:cNvSpPr/>
          <p:nvPr/>
        </p:nvSpPr>
        <p:spPr>
          <a:xfrm>
            <a:off x="457200" y="2157984"/>
            <a:ext cx="6748272" cy="3547872"/>
          </a:xfrm>
          <a:prstGeom prst="rect">
            <a:avLst/>
          </a:prstGeom>
          <a:solidFill>
            <a:srgbClr val="F7F9FA"/>
          </a:solidFill>
          <a:ln w="10160">
            <a:solidFill>
              <a:srgbClr val="D9E1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3493008"/>
            <a:ext cx="658368" cy="475488"/>
          </a:xfrm>
          <a:prstGeom prst="rect">
            <a:avLst/>
          </a:prstGeom>
          <a:noFill/>
        </p:spPr>
        <p:txBody>
          <a:bodyPr wrap="square" lIns="0" rIns="0" tIns="0" bIns="0" anchor="t">
            <a:spAutoFit/>
          </a:bodyPr>
          <a:lstStyle/>
          <a:p>
            <a:pPr algn="ctr">
              <a:spcAft>
                <a:spcPts val="0"/>
              </a:spcAft>
            </a:pPr>
            <a:r>
              <a:rPr sz="1120" b="1" i="0">
                <a:solidFill>
                  <a:srgbClr val="59697A"/>
                </a:solidFill>
                <a:latin typeface="Arial"/>
              </a:rPr>
              <a:t>gene
profile</a:t>
            </a:r>
          </a:p>
        </p:txBody>
      </p:sp>
      <p:sp>
        <p:nvSpPr>
          <p:cNvPr id="10" name="Rectangle 9"/>
          <p:cNvSpPr/>
          <p:nvPr/>
        </p:nvSpPr>
        <p:spPr>
          <a:xfrm>
            <a:off x="1499616" y="3785615"/>
            <a:ext cx="100584" cy="53035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673351" y="3337559"/>
            <a:ext cx="100584" cy="978408"/>
          </a:xfrm>
          <a:prstGeom prst="rect">
            <a:avLst/>
          </a:prstGeom>
          <a:solidFill>
            <a:srgbClr val="8FB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847088" y="3648456"/>
            <a:ext cx="100584" cy="66751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020824" y="3108959"/>
            <a:ext cx="100584" cy="1207008"/>
          </a:xfrm>
          <a:prstGeom prst="rect">
            <a:avLst/>
          </a:prstGeom>
          <a:solidFill>
            <a:srgbClr val="8FB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194560" y="3493008"/>
            <a:ext cx="100584" cy="82296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368296" y="3895344"/>
            <a:ext cx="100584" cy="420624"/>
          </a:xfrm>
          <a:prstGeom prst="rect">
            <a:avLst/>
          </a:prstGeom>
          <a:solidFill>
            <a:srgbClr val="8FB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ight Arrow 15"/>
          <p:cNvSpPr/>
          <p:nvPr/>
        </p:nvSpPr>
        <p:spPr>
          <a:xfrm>
            <a:off x="2615184" y="3529584"/>
            <a:ext cx="310896" cy="22860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3136392" y="2816352"/>
            <a:ext cx="457200" cy="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3136392" y="2816352"/>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136392" y="2816352"/>
            <a:ext cx="457200" cy="1847088"/>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3136392" y="2816352"/>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136392" y="3278124"/>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136392" y="3278124"/>
            <a:ext cx="457200" cy="1385316"/>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3136392" y="2816352"/>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136392" y="3739896"/>
            <a:ext cx="457200" cy="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136392" y="3739896"/>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136392" y="2816352"/>
            <a:ext cx="457200" cy="1385316"/>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3136392" y="3739896"/>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136392" y="4201668"/>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136392" y="2816352"/>
            <a:ext cx="457200" cy="1847088"/>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136392" y="3739896"/>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136392" y="4663440"/>
            <a:ext cx="457200" cy="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3593592" y="2816352"/>
            <a:ext cx="960120" cy="42062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593592" y="2816352"/>
            <a:ext cx="960120" cy="82296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593592" y="2816352"/>
            <a:ext cx="960120" cy="1225296"/>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593592" y="3236976"/>
            <a:ext cx="960120" cy="50292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3593592" y="3639312"/>
            <a:ext cx="960120" cy="10058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3593592" y="3739896"/>
            <a:ext cx="960120" cy="30175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3593592" y="3236976"/>
            <a:ext cx="960120" cy="142646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3593592" y="3639312"/>
            <a:ext cx="960120" cy="1024128"/>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3593592" y="4041648"/>
            <a:ext cx="960120" cy="62179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4553712" y="2816352"/>
            <a:ext cx="896112" cy="42062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4553712" y="3236976"/>
            <a:ext cx="896112" cy="50292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553712" y="3236976"/>
            <a:ext cx="896112" cy="142646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4553712" y="2816352"/>
            <a:ext cx="896112" cy="82296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4553712" y="3639312"/>
            <a:ext cx="896112" cy="10058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4553712" y="3639312"/>
            <a:ext cx="896112" cy="1024128"/>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4553712" y="2816352"/>
            <a:ext cx="896112" cy="1225296"/>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V="1">
            <a:off x="4553712" y="3739896"/>
            <a:ext cx="896112" cy="30175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4553712" y="4041648"/>
            <a:ext cx="896112" cy="62179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5449824" y="2816352"/>
            <a:ext cx="457200" cy="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5449824" y="2816352"/>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5449824" y="2816352"/>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5449824" y="2816352"/>
            <a:ext cx="457200" cy="1385316"/>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5449824" y="2816352"/>
            <a:ext cx="457200" cy="1847088"/>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5449824" y="2816352"/>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5449824" y="3278124"/>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5449824" y="3739896"/>
            <a:ext cx="457200" cy="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5449824" y="3739896"/>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5449824" y="3739896"/>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5449824" y="2816352"/>
            <a:ext cx="457200" cy="1847088"/>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5449824" y="3278124"/>
            <a:ext cx="457200" cy="1385316"/>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V="1">
            <a:off x="5449824" y="3739896"/>
            <a:ext cx="457200" cy="923544"/>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V="1">
            <a:off x="5449824" y="4201668"/>
            <a:ext cx="457200" cy="461772"/>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5449824" y="4663440"/>
            <a:ext cx="457200" cy="0"/>
          </a:xfrm>
          <a:prstGeom prst="line">
            <a:avLst/>
          </a:prstGeom>
          <a:ln w="8255">
            <a:solidFill>
              <a:srgbClr val="C5D1D8"/>
            </a:solidFill>
          </a:ln>
        </p:spPr>
        <p:style>
          <a:lnRef idx="2">
            <a:schemeClr val="accent1"/>
          </a:lnRef>
          <a:fillRef idx="0">
            <a:schemeClr val="accent1"/>
          </a:fillRef>
          <a:effectRef idx="1">
            <a:schemeClr val="accent1"/>
          </a:effectRef>
          <a:fontRef idx="minor">
            <a:schemeClr val="tx1"/>
          </a:fontRef>
        </p:style>
      </p:cxnSp>
      <p:sp>
        <p:nvSpPr>
          <p:cNvPr id="65" name="Oval 64"/>
          <p:cNvSpPr/>
          <p:nvPr/>
        </p:nvSpPr>
        <p:spPr>
          <a:xfrm>
            <a:off x="3063240" y="2743200"/>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3063240" y="3204972"/>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3063240" y="3666744"/>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3063240" y="4128516"/>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3063240" y="4590288"/>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3520440" y="2743200"/>
            <a:ext cx="146304" cy="14630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3520440" y="3666744"/>
            <a:ext cx="146304" cy="14630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3520440" y="4590288"/>
            <a:ext cx="146304" cy="14630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907792" y="4892040"/>
            <a:ext cx="960120" cy="219456"/>
          </a:xfrm>
          <a:prstGeom prst="rect">
            <a:avLst/>
          </a:prstGeom>
          <a:noFill/>
        </p:spPr>
        <p:txBody>
          <a:bodyPr wrap="square" lIns="0" rIns="0" tIns="0" bIns="0" anchor="t">
            <a:spAutoFit/>
          </a:bodyPr>
          <a:lstStyle/>
          <a:p>
            <a:pPr algn="ctr">
              <a:spcAft>
                <a:spcPts val="0"/>
              </a:spcAft>
            </a:pPr>
            <a:r>
              <a:rPr sz="1019" b="1" i="0">
                <a:solidFill>
                  <a:srgbClr val="2D6496"/>
                </a:solidFill>
                <a:latin typeface="Arial"/>
              </a:rPr>
              <a:t>encoder</a:t>
            </a:r>
          </a:p>
        </p:txBody>
      </p:sp>
      <p:sp>
        <p:nvSpPr>
          <p:cNvPr id="74" name="Oval 73"/>
          <p:cNvSpPr/>
          <p:nvPr/>
        </p:nvSpPr>
        <p:spPr>
          <a:xfrm>
            <a:off x="4462272" y="3145536"/>
            <a:ext cx="182880" cy="18288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4462272" y="3547872"/>
            <a:ext cx="182880" cy="18288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4462272" y="3950208"/>
            <a:ext cx="182880" cy="18288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4169663" y="4462272"/>
            <a:ext cx="768096" cy="438912"/>
          </a:xfrm>
          <a:prstGeom prst="rect">
            <a:avLst/>
          </a:prstGeom>
          <a:noFill/>
        </p:spPr>
        <p:txBody>
          <a:bodyPr wrap="square" lIns="0" rIns="0" tIns="0" bIns="0" anchor="t">
            <a:spAutoFit/>
          </a:bodyPr>
          <a:lstStyle/>
          <a:p>
            <a:pPr algn="ctr">
              <a:spcAft>
                <a:spcPts val="0"/>
              </a:spcAft>
            </a:pPr>
            <a:r>
              <a:rPr sz="1019" b="1" i="0">
                <a:solidFill>
                  <a:srgbClr val="D37B00"/>
                </a:solidFill>
                <a:latin typeface="Arial"/>
              </a:rPr>
              <a:t>latent
variables</a:t>
            </a:r>
          </a:p>
        </p:txBody>
      </p:sp>
      <p:sp>
        <p:nvSpPr>
          <p:cNvPr id="78" name="Oval 77"/>
          <p:cNvSpPr/>
          <p:nvPr/>
        </p:nvSpPr>
        <p:spPr>
          <a:xfrm>
            <a:off x="5376672" y="2743200"/>
            <a:ext cx="146304" cy="14630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5376672" y="3666744"/>
            <a:ext cx="146304" cy="14630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5376672" y="4590288"/>
            <a:ext cx="146304" cy="146304"/>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5833872" y="2743200"/>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5833872" y="3204972"/>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5833872" y="3666744"/>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5833872" y="4128516"/>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5833872" y="4590288"/>
            <a:ext cx="146304" cy="146304"/>
          </a:xfrm>
          <a:prstGeom prst="ellipse">
            <a:avLst/>
          </a:prstGeom>
          <a:solidFill>
            <a:srgbClr val="6D97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5212080" y="4892040"/>
            <a:ext cx="960120" cy="219456"/>
          </a:xfrm>
          <a:prstGeom prst="rect">
            <a:avLst/>
          </a:prstGeom>
          <a:noFill/>
        </p:spPr>
        <p:txBody>
          <a:bodyPr wrap="square" lIns="0" rIns="0" tIns="0" bIns="0" anchor="t">
            <a:spAutoFit/>
          </a:bodyPr>
          <a:lstStyle/>
          <a:p>
            <a:pPr algn="ctr">
              <a:spcAft>
                <a:spcPts val="0"/>
              </a:spcAft>
            </a:pPr>
            <a:r>
              <a:rPr sz="1019" b="1" i="0">
                <a:solidFill>
                  <a:srgbClr val="2D6496"/>
                </a:solidFill>
                <a:latin typeface="Arial"/>
              </a:rPr>
              <a:t>decoder</a:t>
            </a:r>
          </a:p>
        </p:txBody>
      </p:sp>
      <p:sp>
        <p:nvSpPr>
          <p:cNvPr id="87" name="Right Arrow 86"/>
          <p:cNvSpPr/>
          <p:nvPr/>
        </p:nvSpPr>
        <p:spPr>
          <a:xfrm>
            <a:off x="6236208" y="3529584"/>
            <a:ext cx="274320" cy="22860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6675120" y="3401568"/>
            <a:ext cx="438912" cy="512064"/>
          </a:xfrm>
          <a:prstGeom prst="rect">
            <a:avLst/>
          </a:prstGeom>
          <a:noFill/>
        </p:spPr>
        <p:txBody>
          <a:bodyPr wrap="square" lIns="0" rIns="0" tIns="0" bIns="0" anchor="t">
            <a:spAutoFit/>
          </a:bodyPr>
          <a:lstStyle/>
          <a:p>
            <a:pPr algn="ctr">
              <a:spcAft>
                <a:spcPts val="0"/>
              </a:spcAft>
            </a:pPr>
            <a:r>
              <a:rPr sz="1000" b="1" i="0">
                <a:solidFill>
                  <a:srgbClr val="59697A"/>
                </a:solidFill>
                <a:latin typeface="Arial"/>
              </a:rPr>
              <a:t>output
profile</a:t>
            </a:r>
          </a:p>
        </p:txBody>
      </p:sp>
      <p:sp>
        <p:nvSpPr>
          <p:cNvPr id="89" name="TextBox 88"/>
          <p:cNvSpPr txBox="1"/>
          <p:nvPr/>
        </p:nvSpPr>
        <p:spPr>
          <a:xfrm>
            <a:off x="7589520" y="1874519"/>
            <a:ext cx="1225296" cy="219456"/>
          </a:xfrm>
          <a:prstGeom prst="rect">
            <a:avLst/>
          </a:prstGeom>
          <a:noFill/>
        </p:spPr>
        <p:txBody>
          <a:bodyPr wrap="square" lIns="0" rIns="0" tIns="0" bIns="0" anchor="t">
            <a:spAutoFit/>
          </a:bodyPr>
          <a:lstStyle/>
          <a:p>
            <a:pPr algn="l">
              <a:spcAft>
                <a:spcPts val="0"/>
              </a:spcAft>
            </a:pPr>
            <a:r>
              <a:rPr sz="1019" b="1" i="0">
                <a:solidFill>
                  <a:srgbClr val="178681"/>
                </a:solidFill>
                <a:latin typeface="Arial"/>
              </a:rPr>
              <a:t>LATENT SPACE</a:t>
            </a:r>
          </a:p>
        </p:txBody>
      </p:sp>
      <p:sp>
        <p:nvSpPr>
          <p:cNvPr id="90" name="Rectangle 89"/>
          <p:cNvSpPr/>
          <p:nvPr/>
        </p:nvSpPr>
        <p:spPr>
          <a:xfrm>
            <a:off x="7516368" y="2157984"/>
            <a:ext cx="4187952" cy="3547872"/>
          </a:xfrm>
          <a:prstGeom prst="rect">
            <a:avLst/>
          </a:prstGeom>
          <a:solidFill>
            <a:srgbClr val="E8F3F1"/>
          </a:solidFill>
          <a:ln w="10160">
            <a:solidFill>
              <a:srgbClr val="C9DF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7973568" y="5074920"/>
            <a:ext cx="3136392" cy="16459"/>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7973568" y="2615184"/>
            <a:ext cx="16459" cy="2478024"/>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8357616" y="4169663"/>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8604504" y="4087368"/>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8714232" y="4279392"/>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8476488" y="4398264"/>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8549640" y="4251959"/>
            <a:ext cx="118872" cy="118872"/>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9400032" y="3282696"/>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9646920" y="3200400"/>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9756648" y="3392424"/>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9518904" y="3511296"/>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9592056" y="3364992"/>
            <a:ext cx="118872" cy="118872"/>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10323576" y="4306824"/>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0570464" y="4224528"/>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0680192" y="4416552"/>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10442448" y="4535424"/>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10515600" y="4389120"/>
            <a:ext cx="118872" cy="118872"/>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TextBox 107"/>
          <p:cNvSpPr txBox="1"/>
          <p:nvPr/>
        </p:nvSpPr>
        <p:spPr>
          <a:xfrm>
            <a:off x="8165592" y="5230368"/>
            <a:ext cx="2834640" cy="384048"/>
          </a:xfrm>
          <a:prstGeom prst="rect">
            <a:avLst/>
          </a:prstGeom>
          <a:noFill/>
        </p:spPr>
        <p:txBody>
          <a:bodyPr wrap="square" lIns="0" rIns="0" tIns="0" bIns="0" anchor="t">
            <a:spAutoFit/>
          </a:bodyPr>
          <a:lstStyle/>
          <a:p>
            <a:pPr algn="ctr">
              <a:spcAft>
                <a:spcPts val="0"/>
              </a:spcAft>
            </a:pPr>
            <a:r>
              <a:rPr sz="1050" b="0" i="0">
                <a:solidFill>
                  <a:srgbClr val="59697A"/>
                </a:solidFill>
                <a:latin typeface="Arial"/>
              </a:rPr>
              <a:t>profiles with similar expression
occupy nearby regions</a:t>
            </a:r>
          </a:p>
        </p:txBody>
      </p:sp>
      <p:sp>
        <p:nvSpPr>
          <p:cNvPr id="109" name="Rectangle 108"/>
          <p:cNvSpPr/>
          <p:nvPr/>
        </p:nvSpPr>
        <p:spPr>
          <a:xfrm>
            <a:off x="457200" y="5852160"/>
            <a:ext cx="11247120" cy="475488"/>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749808" y="5980176"/>
            <a:ext cx="841248" cy="210312"/>
          </a:xfrm>
          <a:prstGeom prst="rect">
            <a:avLst/>
          </a:prstGeom>
          <a:noFill/>
        </p:spPr>
        <p:txBody>
          <a:bodyPr wrap="square" lIns="0" rIns="0" tIns="0" bIns="0" anchor="t">
            <a:spAutoFit/>
          </a:bodyPr>
          <a:lstStyle/>
          <a:p>
            <a:pPr algn="l">
              <a:spcAft>
                <a:spcPts val="0"/>
              </a:spcAft>
            </a:pPr>
            <a:r>
              <a:rPr sz="1220" b="1" i="0">
                <a:solidFill>
                  <a:srgbClr val="FFFFFF"/>
                </a:solidFill>
                <a:latin typeface="Arial"/>
              </a:rPr>
              <a:t>expiMap:</a:t>
            </a:r>
          </a:p>
        </p:txBody>
      </p:sp>
      <p:sp>
        <p:nvSpPr>
          <p:cNvPr id="111" name="TextBox 110"/>
          <p:cNvSpPr txBox="1"/>
          <p:nvPr/>
        </p:nvSpPr>
        <p:spPr>
          <a:xfrm>
            <a:off x="1655064" y="5980176"/>
            <a:ext cx="9509760" cy="210312"/>
          </a:xfrm>
          <a:prstGeom prst="rect">
            <a:avLst/>
          </a:prstGeom>
          <a:noFill/>
        </p:spPr>
        <p:txBody>
          <a:bodyPr wrap="square" lIns="0" rIns="0" tIns="0" bIns="0" anchor="t">
            <a:spAutoFit/>
          </a:bodyPr>
          <a:lstStyle/>
          <a:p>
            <a:pPr algn="l">
              <a:spcAft>
                <a:spcPts val="0"/>
              </a:spcAft>
            </a:pPr>
            <a:r>
              <a:rPr sz="1220" b="0" i="0">
                <a:solidFill>
                  <a:srgbClr val="DCE7F2"/>
                </a:solidFill>
                <a:latin typeface="Arial"/>
              </a:rPr>
              <a:t>each constrained latent variable corresponds to a Reactome gene program.</a:t>
            </a:r>
          </a:p>
        </p:txBody>
      </p:sp>
      <p:sp>
        <p:nvSpPr>
          <p:cNvPr id="112" name="TextBox 111"/>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Concept adapted from the midpoint presentation. expiMap: Lotfollahi et al., Nature Cell Biology (2023).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EXPIMAP SCORES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Program scores turn expression into pathway-level changes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Each sample receives a Reactome program score; FLT minus GC gives the direction of change.</a:t>
            </a:r>
          </a:p>
        </p:txBody>
      </p:sp>
      <p:sp>
        <p:nvSpPr>
          <p:cNvPr id="7" name="Rectangle 6"/>
          <p:cNvSpPr/>
          <p:nvPr/>
        </p:nvSpPr>
        <p:spPr>
          <a:xfrm>
            <a:off x="429768" y="1865376"/>
            <a:ext cx="8065008" cy="4160520"/>
          </a:xfrm>
          <a:prstGeom prst="rect">
            <a:avLst/>
          </a:prstGeom>
          <a:solidFill>
            <a:srgbClr val="F7F9FA"/>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2057400"/>
            <a:ext cx="3291840" cy="210312"/>
          </a:xfrm>
          <a:prstGeom prst="rect">
            <a:avLst/>
          </a:prstGeom>
          <a:noFill/>
        </p:spPr>
        <p:txBody>
          <a:bodyPr wrap="square" lIns="0" rIns="0" tIns="0" bIns="0" anchor="t">
            <a:spAutoFit/>
          </a:bodyPr>
          <a:lstStyle/>
          <a:p>
            <a:pPr algn="l">
              <a:spcAft>
                <a:spcPts val="0"/>
              </a:spcAft>
            </a:pPr>
            <a:r>
              <a:rPr sz="930" b="1" i="0">
                <a:solidFill>
                  <a:srgbClr val="2D6496"/>
                </a:solidFill>
                <a:latin typeface="Arial"/>
              </a:rPr>
              <a:t>REPRESENTATIVE OBSERVED OSDR PROGRAMS</a:t>
            </a:r>
          </a:p>
        </p:txBody>
      </p:sp>
      <p:sp>
        <p:nvSpPr>
          <p:cNvPr id="9" name="TextBox 8"/>
          <p:cNvSpPr txBox="1"/>
          <p:nvPr/>
        </p:nvSpPr>
        <p:spPr>
          <a:xfrm>
            <a:off x="4133087" y="2258568"/>
            <a:ext cx="987552" cy="237744"/>
          </a:xfrm>
          <a:prstGeom prst="rect">
            <a:avLst/>
          </a:prstGeom>
          <a:noFill/>
        </p:spPr>
        <p:txBody>
          <a:bodyPr wrap="square" lIns="0" rIns="0" tIns="0" bIns="0" anchor="t">
            <a:spAutoFit/>
          </a:bodyPr>
          <a:lstStyle/>
          <a:p>
            <a:pPr algn="ctr">
              <a:spcAft>
                <a:spcPts val="0"/>
              </a:spcAft>
            </a:pPr>
            <a:r>
              <a:rPr sz="1050" b="1" i="0">
                <a:solidFill>
                  <a:srgbClr val="D37B00"/>
                </a:solidFill>
                <a:latin typeface="Arial"/>
              </a:rPr>
              <a:t>FLT score</a:t>
            </a:r>
          </a:p>
        </p:txBody>
      </p:sp>
      <p:sp>
        <p:nvSpPr>
          <p:cNvPr id="10" name="TextBox 9"/>
          <p:cNvSpPr txBox="1"/>
          <p:nvPr/>
        </p:nvSpPr>
        <p:spPr>
          <a:xfrm>
            <a:off x="5650992" y="2258568"/>
            <a:ext cx="987552" cy="237744"/>
          </a:xfrm>
          <a:prstGeom prst="rect">
            <a:avLst/>
          </a:prstGeom>
          <a:noFill/>
        </p:spPr>
        <p:txBody>
          <a:bodyPr wrap="square" lIns="0" rIns="0" tIns="0" bIns="0" anchor="t">
            <a:spAutoFit/>
          </a:bodyPr>
          <a:lstStyle/>
          <a:p>
            <a:pPr algn="ctr">
              <a:spcAft>
                <a:spcPts val="0"/>
              </a:spcAft>
            </a:pPr>
            <a:r>
              <a:rPr sz="1050" b="1" i="0">
                <a:solidFill>
                  <a:srgbClr val="2D6496"/>
                </a:solidFill>
                <a:latin typeface="Arial"/>
              </a:rPr>
              <a:t>GC score</a:t>
            </a:r>
          </a:p>
        </p:txBody>
      </p:sp>
      <p:sp>
        <p:nvSpPr>
          <p:cNvPr id="11" name="TextBox 10"/>
          <p:cNvSpPr txBox="1"/>
          <p:nvPr/>
        </p:nvSpPr>
        <p:spPr>
          <a:xfrm>
            <a:off x="7196328" y="2258568"/>
            <a:ext cx="987552" cy="237744"/>
          </a:xfrm>
          <a:prstGeom prst="rect">
            <a:avLst/>
          </a:prstGeom>
          <a:noFill/>
        </p:spPr>
        <p:txBody>
          <a:bodyPr wrap="square" lIns="0" rIns="0" tIns="0" bIns="0" anchor="t">
            <a:spAutoFit/>
          </a:bodyPr>
          <a:lstStyle/>
          <a:p>
            <a:pPr algn="ctr">
              <a:spcAft>
                <a:spcPts val="0"/>
              </a:spcAft>
            </a:pPr>
            <a:r>
              <a:rPr sz="1050" b="1" i="0">
                <a:solidFill>
                  <a:srgbClr val="178681"/>
                </a:solidFill>
                <a:latin typeface="Arial"/>
              </a:rPr>
              <a:t>FLT - GC</a:t>
            </a:r>
          </a:p>
        </p:txBody>
      </p:sp>
      <p:sp>
        <p:nvSpPr>
          <p:cNvPr id="12" name="TextBox 11"/>
          <p:cNvSpPr txBox="1"/>
          <p:nvPr/>
        </p:nvSpPr>
        <p:spPr>
          <a:xfrm>
            <a:off x="5303520" y="2258568"/>
            <a:ext cx="228600" cy="237744"/>
          </a:xfrm>
          <a:prstGeom prst="rect">
            <a:avLst/>
          </a:prstGeom>
          <a:noFill/>
        </p:spPr>
        <p:txBody>
          <a:bodyPr wrap="square" lIns="0" rIns="0" tIns="0" bIns="0" anchor="t">
            <a:spAutoFit/>
          </a:bodyPr>
          <a:lstStyle/>
          <a:p>
            <a:pPr algn="ctr">
              <a:spcAft>
                <a:spcPts val="0"/>
              </a:spcAft>
            </a:pPr>
            <a:r>
              <a:rPr sz="1400" b="1" i="0">
                <a:solidFill>
                  <a:srgbClr val="8A969E"/>
                </a:solidFill>
                <a:latin typeface="Arial"/>
              </a:rPr>
              <a:t>-</a:t>
            </a:r>
          </a:p>
        </p:txBody>
      </p:sp>
      <p:sp>
        <p:nvSpPr>
          <p:cNvPr id="13" name="TextBox 12"/>
          <p:cNvSpPr txBox="1"/>
          <p:nvPr/>
        </p:nvSpPr>
        <p:spPr>
          <a:xfrm>
            <a:off x="6821424" y="2258568"/>
            <a:ext cx="228600" cy="237744"/>
          </a:xfrm>
          <a:prstGeom prst="rect">
            <a:avLst/>
          </a:prstGeom>
          <a:noFill/>
        </p:spPr>
        <p:txBody>
          <a:bodyPr wrap="square" lIns="0" rIns="0" tIns="0" bIns="0" anchor="t">
            <a:spAutoFit/>
          </a:bodyPr>
          <a:lstStyle/>
          <a:p>
            <a:pPr algn="ctr">
              <a:spcAft>
                <a:spcPts val="0"/>
              </a:spcAft>
            </a:pPr>
            <a:r>
              <a:rPr sz="1300" b="1" i="0">
                <a:solidFill>
                  <a:srgbClr val="8A969E"/>
                </a:solidFill>
                <a:latin typeface="Arial"/>
              </a:rPr>
              <a:t>=</a:t>
            </a:r>
          </a:p>
        </p:txBody>
      </p:sp>
      <p:sp>
        <p:nvSpPr>
          <p:cNvPr id="14" name="Rectangle 13"/>
          <p:cNvSpPr/>
          <p:nvPr/>
        </p:nvSpPr>
        <p:spPr>
          <a:xfrm>
            <a:off x="704088" y="2715768"/>
            <a:ext cx="54864" cy="438912"/>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 y="2660904"/>
            <a:ext cx="859536" cy="219456"/>
          </a:xfrm>
          <a:prstGeom prst="rect">
            <a:avLst/>
          </a:prstGeom>
          <a:noFill/>
        </p:spPr>
        <p:txBody>
          <a:bodyPr wrap="square" lIns="0" rIns="0" tIns="0" bIns="0" anchor="t">
            <a:spAutoFit/>
          </a:bodyPr>
          <a:lstStyle/>
          <a:p>
            <a:pPr algn="l">
              <a:spcAft>
                <a:spcPts val="0"/>
              </a:spcAft>
            </a:pPr>
            <a:r>
              <a:rPr sz="1100" b="1" i="0">
                <a:solidFill>
                  <a:srgbClr val="8063A6"/>
                </a:solidFill>
                <a:latin typeface="Arial"/>
              </a:rPr>
              <a:t>Thymus</a:t>
            </a:r>
          </a:p>
        </p:txBody>
      </p:sp>
      <p:sp>
        <p:nvSpPr>
          <p:cNvPr id="16" name="TextBox 15"/>
          <p:cNvSpPr txBox="1"/>
          <p:nvPr/>
        </p:nvSpPr>
        <p:spPr>
          <a:xfrm>
            <a:off x="1746504" y="2660904"/>
            <a:ext cx="2148840" cy="438912"/>
          </a:xfrm>
          <a:prstGeom prst="rect">
            <a:avLst/>
          </a:prstGeom>
          <a:noFill/>
        </p:spPr>
        <p:txBody>
          <a:bodyPr wrap="square" lIns="0" rIns="0" tIns="0" bIns="0" anchor="ctr">
            <a:spAutoFit/>
          </a:bodyPr>
          <a:lstStyle/>
          <a:p>
            <a:pPr algn="l">
              <a:spcAft>
                <a:spcPts val="0"/>
              </a:spcAft>
            </a:pPr>
            <a:r>
              <a:rPr sz="1080" b="1" i="0">
                <a:solidFill>
                  <a:srgbClr val="263746"/>
                </a:solidFill>
                <a:latin typeface="Arial"/>
              </a:rPr>
              <a:t>DNA repair</a:t>
            </a:r>
          </a:p>
        </p:txBody>
      </p:sp>
      <p:sp>
        <p:nvSpPr>
          <p:cNvPr id="17" name="Rectangle 16"/>
          <p:cNvSpPr/>
          <p:nvPr/>
        </p:nvSpPr>
        <p:spPr>
          <a:xfrm>
            <a:off x="4133087" y="2642616"/>
            <a:ext cx="987552" cy="438912"/>
          </a:xfrm>
          <a:prstGeom prst="rect">
            <a:avLst/>
          </a:prstGeom>
          <a:solidFill>
            <a:srgbClr val="A4BCD1"/>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33087" y="2724912"/>
            <a:ext cx="987552" cy="219456"/>
          </a:xfrm>
          <a:prstGeom prst="rect">
            <a:avLst/>
          </a:prstGeom>
          <a:noFill/>
        </p:spPr>
        <p:txBody>
          <a:bodyPr wrap="square" lIns="0" rIns="0" tIns="0" bIns="0" anchor="t">
            <a:spAutoFit/>
          </a:bodyPr>
          <a:lstStyle/>
          <a:p>
            <a:pPr algn="ctr">
              <a:spcAft>
                <a:spcPts val="0"/>
              </a:spcAft>
            </a:pPr>
            <a:r>
              <a:rPr sz="1100" b="1" i="0">
                <a:solidFill>
                  <a:srgbClr val="263746"/>
                </a:solidFill>
                <a:latin typeface="Arial"/>
              </a:rPr>
              <a:t>-0.45</a:t>
            </a:r>
          </a:p>
        </p:txBody>
      </p:sp>
      <p:sp>
        <p:nvSpPr>
          <p:cNvPr id="19" name="Rectangle 18"/>
          <p:cNvSpPr/>
          <p:nvPr/>
        </p:nvSpPr>
        <p:spPr>
          <a:xfrm>
            <a:off x="5650992" y="2642616"/>
            <a:ext cx="987552" cy="438912"/>
          </a:xfrm>
          <a:prstGeom prst="rect">
            <a:avLst/>
          </a:prstGeom>
          <a:solidFill>
            <a:srgbClr val="E8B978"/>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50992" y="2724912"/>
            <a:ext cx="987552" cy="219456"/>
          </a:xfrm>
          <a:prstGeom prst="rect">
            <a:avLst/>
          </a:prstGeom>
          <a:noFill/>
        </p:spPr>
        <p:txBody>
          <a:bodyPr wrap="square" lIns="0" rIns="0" tIns="0" bIns="0" anchor="t">
            <a:spAutoFit/>
          </a:bodyPr>
          <a:lstStyle/>
          <a:p>
            <a:pPr algn="ctr">
              <a:spcAft>
                <a:spcPts val="0"/>
              </a:spcAft>
            </a:pPr>
            <a:r>
              <a:rPr sz="1100" b="1" i="0">
                <a:solidFill>
                  <a:srgbClr val="263746"/>
                </a:solidFill>
                <a:latin typeface="Arial"/>
              </a:rPr>
              <a:t>+0.55</a:t>
            </a:r>
          </a:p>
        </p:txBody>
      </p:sp>
      <p:sp>
        <p:nvSpPr>
          <p:cNvPr id="21" name="Rectangle 20"/>
          <p:cNvSpPr/>
          <p:nvPr/>
        </p:nvSpPr>
        <p:spPr>
          <a:xfrm>
            <a:off x="7196328" y="2642616"/>
            <a:ext cx="987552" cy="438912"/>
          </a:xfrm>
          <a:prstGeom prst="rect">
            <a:avLst/>
          </a:prstGeom>
          <a:solidFill>
            <a:srgbClr val="356A9A"/>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96328" y="2724912"/>
            <a:ext cx="987552" cy="219456"/>
          </a:xfrm>
          <a:prstGeom prst="rect">
            <a:avLst/>
          </a:prstGeom>
          <a:noFill/>
        </p:spPr>
        <p:txBody>
          <a:bodyPr wrap="square" lIns="0" rIns="0" tIns="0" bIns="0" anchor="t">
            <a:spAutoFit/>
          </a:bodyPr>
          <a:lstStyle/>
          <a:p>
            <a:pPr algn="ctr">
              <a:spcAft>
                <a:spcPts val="0"/>
              </a:spcAft>
            </a:pPr>
            <a:r>
              <a:rPr sz="1100" b="1" i="0">
                <a:solidFill>
                  <a:srgbClr val="FFFFFF"/>
                </a:solidFill>
                <a:latin typeface="Arial"/>
              </a:rPr>
              <a:t>-1.01</a:t>
            </a:r>
          </a:p>
        </p:txBody>
      </p:sp>
      <p:sp>
        <p:nvSpPr>
          <p:cNvPr id="23" name="TextBox 22"/>
          <p:cNvSpPr txBox="1"/>
          <p:nvPr/>
        </p:nvSpPr>
        <p:spPr>
          <a:xfrm>
            <a:off x="5303520" y="2706624"/>
            <a:ext cx="228600" cy="237744"/>
          </a:xfrm>
          <a:prstGeom prst="rect">
            <a:avLst/>
          </a:prstGeom>
          <a:noFill/>
        </p:spPr>
        <p:txBody>
          <a:bodyPr wrap="square" lIns="0" rIns="0" tIns="0" bIns="0" anchor="t">
            <a:spAutoFit/>
          </a:bodyPr>
          <a:lstStyle/>
          <a:p>
            <a:pPr algn="ctr">
              <a:spcAft>
                <a:spcPts val="0"/>
              </a:spcAft>
            </a:pPr>
            <a:r>
              <a:rPr sz="1400" b="1" i="0">
                <a:solidFill>
                  <a:srgbClr val="8A969E"/>
                </a:solidFill>
                <a:latin typeface="Arial"/>
              </a:rPr>
              <a:t>-</a:t>
            </a:r>
          </a:p>
        </p:txBody>
      </p:sp>
      <p:sp>
        <p:nvSpPr>
          <p:cNvPr id="24" name="TextBox 23"/>
          <p:cNvSpPr txBox="1"/>
          <p:nvPr/>
        </p:nvSpPr>
        <p:spPr>
          <a:xfrm>
            <a:off x="6821424" y="2706624"/>
            <a:ext cx="228600" cy="237744"/>
          </a:xfrm>
          <a:prstGeom prst="rect">
            <a:avLst/>
          </a:prstGeom>
          <a:noFill/>
        </p:spPr>
        <p:txBody>
          <a:bodyPr wrap="square" lIns="0" rIns="0" tIns="0" bIns="0" anchor="t">
            <a:spAutoFit/>
          </a:bodyPr>
          <a:lstStyle/>
          <a:p>
            <a:pPr algn="ctr">
              <a:spcAft>
                <a:spcPts val="0"/>
              </a:spcAft>
            </a:pPr>
            <a:r>
              <a:rPr sz="1300" b="1" i="0">
                <a:solidFill>
                  <a:srgbClr val="8A969E"/>
                </a:solidFill>
                <a:latin typeface="Arial"/>
              </a:rPr>
              <a:t>=</a:t>
            </a:r>
          </a:p>
        </p:txBody>
      </p:sp>
      <p:sp>
        <p:nvSpPr>
          <p:cNvPr id="25" name="Rectangle 24"/>
          <p:cNvSpPr/>
          <p:nvPr/>
        </p:nvSpPr>
        <p:spPr>
          <a:xfrm>
            <a:off x="704088" y="3255263"/>
            <a:ext cx="7470648" cy="10972"/>
          </a:xfrm>
          <a:prstGeom prst="rect">
            <a:avLst/>
          </a:prstGeom>
          <a:solidFill>
            <a:srgbClr val="E1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04088" y="3410711"/>
            <a:ext cx="54864" cy="438912"/>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3355848"/>
            <a:ext cx="859536" cy="219456"/>
          </a:xfrm>
          <a:prstGeom prst="rect">
            <a:avLst/>
          </a:prstGeom>
          <a:noFill/>
        </p:spPr>
        <p:txBody>
          <a:bodyPr wrap="square" lIns="0" rIns="0" tIns="0" bIns="0" anchor="t">
            <a:spAutoFit/>
          </a:bodyPr>
          <a:lstStyle/>
          <a:p>
            <a:pPr algn="l">
              <a:spcAft>
                <a:spcPts val="0"/>
              </a:spcAft>
            </a:pPr>
            <a:r>
              <a:rPr sz="1100" b="1" i="0">
                <a:solidFill>
                  <a:srgbClr val="D37B00"/>
                </a:solidFill>
                <a:latin typeface="Arial"/>
              </a:rPr>
              <a:t>Skin</a:t>
            </a:r>
          </a:p>
        </p:txBody>
      </p:sp>
      <p:sp>
        <p:nvSpPr>
          <p:cNvPr id="28" name="TextBox 27"/>
          <p:cNvSpPr txBox="1"/>
          <p:nvPr/>
        </p:nvSpPr>
        <p:spPr>
          <a:xfrm>
            <a:off x="1746504" y="3355848"/>
            <a:ext cx="2148840" cy="438912"/>
          </a:xfrm>
          <a:prstGeom prst="rect">
            <a:avLst/>
          </a:prstGeom>
          <a:noFill/>
        </p:spPr>
        <p:txBody>
          <a:bodyPr wrap="square" lIns="0" rIns="0" tIns="0" bIns="0" anchor="ctr">
            <a:spAutoFit/>
          </a:bodyPr>
          <a:lstStyle/>
          <a:p>
            <a:pPr algn="l">
              <a:spcAft>
                <a:spcPts val="0"/>
              </a:spcAft>
            </a:pPr>
            <a:r>
              <a:rPr sz="1080" b="1" i="0">
                <a:solidFill>
                  <a:srgbClr val="263746"/>
                </a:solidFill>
                <a:latin typeface="Arial"/>
              </a:rPr>
              <a:t>Cell-cell junction organization</a:t>
            </a:r>
          </a:p>
        </p:txBody>
      </p:sp>
      <p:sp>
        <p:nvSpPr>
          <p:cNvPr id="29" name="Rectangle 28"/>
          <p:cNvSpPr/>
          <p:nvPr/>
        </p:nvSpPr>
        <p:spPr>
          <a:xfrm>
            <a:off x="4133087" y="3337560"/>
            <a:ext cx="987552" cy="438912"/>
          </a:xfrm>
          <a:prstGeom prst="rect">
            <a:avLst/>
          </a:prstGeom>
          <a:solidFill>
            <a:srgbClr val="ECF1F6"/>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133087" y="3419856"/>
            <a:ext cx="987552" cy="219456"/>
          </a:xfrm>
          <a:prstGeom prst="rect">
            <a:avLst/>
          </a:prstGeom>
          <a:noFill/>
        </p:spPr>
        <p:txBody>
          <a:bodyPr wrap="square" lIns="0" rIns="0" tIns="0" bIns="0" anchor="t">
            <a:spAutoFit/>
          </a:bodyPr>
          <a:lstStyle/>
          <a:p>
            <a:pPr algn="ctr">
              <a:spcAft>
                <a:spcPts val="0"/>
              </a:spcAft>
            </a:pPr>
            <a:r>
              <a:rPr sz="1100" b="1" i="0">
                <a:solidFill>
                  <a:srgbClr val="263746"/>
                </a:solidFill>
                <a:latin typeface="Arial"/>
              </a:rPr>
              <a:t>-0.09</a:t>
            </a:r>
          </a:p>
        </p:txBody>
      </p:sp>
      <p:sp>
        <p:nvSpPr>
          <p:cNvPr id="31" name="Rectangle 30"/>
          <p:cNvSpPr/>
          <p:nvPr/>
        </p:nvSpPr>
        <p:spPr>
          <a:xfrm>
            <a:off x="5650992" y="3337560"/>
            <a:ext cx="987552" cy="438912"/>
          </a:xfrm>
          <a:prstGeom prst="rect">
            <a:avLst/>
          </a:prstGeom>
          <a:solidFill>
            <a:srgbClr val="FBF2E6"/>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50992" y="3419856"/>
            <a:ext cx="987552" cy="219456"/>
          </a:xfrm>
          <a:prstGeom prst="rect">
            <a:avLst/>
          </a:prstGeom>
          <a:noFill/>
        </p:spPr>
        <p:txBody>
          <a:bodyPr wrap="square" lIns="0" rIns="0" tIns="0" bIns="0" anchor="t">
            <a:spAutoFit/>
          </a:bodyPr>
          <a:lstStyle/>
          <a:p>
            <a:pPr algn="ctr">
              <a:spcAft>
                <a:spcPts val="0"/>
              </a:spcAft>
            </a:pPr>
            <a:r>
              <a:rPr sz="1100" b="1" i="0">
                <a:solidFill>
                  <a:srgbClr val="263746"/>
                </a:solidFill>
                <a:latin typeface="Arial"/>
              </a:rPr>
              <a:t>+0.11</a:t>
            </a:r>
          </a:p>
        </p:txBody>
      </p:sp>
      <p:sp>
        <p:nvSpPr>
          <p:cNvPr id="33" name="Rectangle 32"/>
          <p:cNvSpPr/>
          <p:nvPr/>
        </p:nvSpPr>
        <p:spPr>
          <a:xfrm>
            <a:off x="7196328" y="3337560"/>
            <a:ext cx="987552" cy="438912"/>
          </a:xfrm>
          <a:prstGeom prst="rect">
            <a:avLst/>
          </a:prstGeom>
          <a:solidFill>
            <a:srgbClr val="D8E2EC"/>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96328" y="3419856"/>
            <a:ext cx="987552" cy="219456"/>
          </a:xfrm>
          <a:prstGeom prst="rect">
            <a:avLst/>
          </a:prstGeom>
          <a:noFill/>
        </p:spPr>
        <p:txBody>
          <a:bodyPr wrap="square" lIns="0" rIns="0" tIns="0" bIns="0" anchor="t">
            <a:spAutoFit/>
          </a:bodyPr>
          <a:lstStyle/>
          <a:p>
            <a:pPr algn="ctr">
              <a:spcAft>
                <a:spcPts val="0"/>
              </a:spcAft>
            </a:pPr>
            <a:r>
              <a:rPr sz="1100" b="1" i="0">
                <a:solidFill>
                  <a:srgbClr val="263746"/>
                </a:solidFill>
                <a:latin typeface="Arial"/>
              </a:rPr>
              <a:t>-0.20</a:t>
            </a:r>
          </a:p>
        </p:txBody>
      </p:sp>
      <p:sp>
        <p:nvSpPr>
          <p:cNvPr id="35" name="TextBox 34"/>
          <p:cNvSpPr txBox="1"/>
          <p:nvPr/>
        </p:nvSpPr>
        <p:spPr>
          <a:xfrm>
            <a:off x="5303520" y="3401568"/>
            <a:ext cx="228600" cy="237744"/>
          </a:xfrm>
          <a:prstGeom prst="rect">
            <a:avLst/>
          </a:prstGeom>
          <a:noFill/>
        </p:spPr>
        <p:txBody>
          <a:bodyPr wrap="square" lIns="0" rIns="0" tIns="0" bIns="0" anchor="t">
            <a:spAutoFit/>
          </a:bodyPr>
          <a:lstStyle/>
          <a:p>
            <a:pPr algn="ctr">
              <a:spcAft>
                <a:spcPts val="0"/>
              </a:spcAft>
            </a:pPr>
            <a:r>
              <a:rPr sz="1400" b="1" i="0">
                <a:solidFill>
                  <a:srgbClr val="8A969E"/>
                </a:solidFill>
                <a:latin typeface="Arial"/>
              </a:rPr>
              <a:t>-</a:t>
            </a:r>
          </a:p>
        </p:txBody>
      </p:sp>
      <p:sp>
        <p:nvSpPr>
          <p:cNvPr id="36" name="TextBox 35"/>
          <p:cNvSpPr txBox="1"/>
          <p:nvPr/>
        </p:nvSpPr>
        <p:spPr>
          <a:xfrm>
            <a:off x="6821424" y="3401568"/>
            <a:ext cx="228600" cy="237744"/>
          </a:xfrm>
          <a:prstGeom prst="rect">
            <a:avLst/>
          </a:prstGeom>
          <a:noFill/>
        </p:spPr>
        <p:txBody>
          <a:bodyPr wrap="square" lIns="0" rIns="0" tIns="0" bIns="0" anchor="t">
            <a:spAutoFit/>
          </a:bodyPr>
          <a:lstStyle/>
          <a:p>
            <a:pPr algn="ctr">
              <a:spcAft>
                <a:spcPts val="0"/>
              </a:spcAft>
            </a:pPr>
            <a:r>
              <a:rPr sz="1300" b="1" i="0">
                <a:solidFill>
                  <a:srgbClr val="8A969E"/>
                </a:solidFill>
                <a:latin typeface="Arial"/>
              </a:rPr>
              <a:t>=</a:t>
            </a:r>
          </a:p>
        </p:txBody>
      </p:sp>
      <p:sp>
        <p:nvSpPr>
          <p:cNvPr id="37" name="Rectangle 36"/>
          <p:cNvSpPr/>
          <p:nvPr/>
        </p:nvSpPr>
        <p:spPr>
          <a:xfrm>
            <a:off x="704088" y="3950207"/>
            <a:ext cx="7470648" cy="10972"/>
          </a:xfrm>
          <a:prstGeom prst="rect">
            <a:avLst/>
          </a:prstGeom>
          <a:solidFill>
            <a:srgbClr val="E1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04088" y="4105655"/>
            <a:ext cx="54864" cy="43891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96112" y="4050791"/>
            <a:ext cx="859536" cy="219456"/>
          </a:xfrm>
          <a:prstGeom prst="rect">
            <a:avLst/>
          </a:prstGeom>
          <a:noFill/>
        </p:spPr>
        <p:txBody>
          <a:bodyPr wrap="square" lIns="0" rIns="0" tIns="0" bIns="0" anchor="t">
            <a:spAutoFit/>
          </a:bodyPr>
          <a:lstStyle/>
          <a:p>
            <a:pPr algn="l">
              <a:spcAft>
                <a:spcPts val="0"/>
              </a:spcAft>
            </a:pPr>
            <a:r>
              <a:rPr sz="1100" b="1" i="0">
                <a:solidFill>
                  <a:srgbClr val="178681"/>
                </a:solidFill>
                <a:latin typeface="Arial"/>
              </a:rPr>
              <a:t>Liver</a:t>
            </a:r>
          </a:p>
        </p:txBody>
      </p:sp>
      <p:sp>
        <p:nvSpPr>
          <p:cNvPr id="40" name="TextBox 39"/>
          <p:cNvSpPr txBox="1"/>
          <p:nvPr/>
        </p:nvSpPr>
        <p:spPr>
          <a:xfrm>
            <a:off x="1746504" y="4050791"/>
            <a:ext cx="2148840" cy="438912"/>
          </a:xfrm>
          <a:prstGeom prst="rect">
            <a:avLst/>
          </a:prstGeom>
          <a:noFill/>
        </p:spPr>
        <p:txBody>
          <a:bodyPr wrap="square" lIns="0" rIns="0" tIns="0" bIns="0" anchor="ctr">
            <a:spAutoFit/>
          </a:bodyPr>
          <a:lstStyle/>
          <a:p>
            <a:pPr algn="l">
              <a:spcAft>
                <a:spcPts val="0"/>
              </a:spcAft>
            </a:pPr>
            <a:r>
              <a:rPr sz="1080" b="1" i="0">
                <a:solidFill>
                  <a:srgbClr val="263746"/>
                </a:solidFill>
                <a:latin typeface="Arial"/>
              </a:rPr>
              <a:t>MHC class II antigen presentation</a:t>
            </a:r>
          </a:p>
        </p:txBody>
      </p:sp>
      <p:sp>
        <p:nvSpPr>
          <p:cNvPr id="41" name="Rectangle 40"/>
          <p:cNvSpPr/>
          <p:nvPr/>
        </p:nvSpPr>
        <p:spPr>
          <a:xfrm>
            <a:off x="4133087" y="4032503"/>
            <a:ext cx="987552" cy="438912"/>
          </a:xfrm>
          <a:prstGeom prst="rect">
            <a:avLst/>
          </a:prstGeom>
          <a:solidFill>
            <a:srgbClr val="EFF3F7"/>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133087" y="4114799"/>
            <a:ext cx="987552" cy="219456"/>
          </a:xfrm>
          <a:prstGeom prst="rect">
            <a:avLst/>
          </a:prstGeom>
          <a:noFill/>
        </p:spPr>
        <p:txBody>
          <a:bodyPr wrap="square" lIns="0" rIns="0" tIns="0" bIns="0" anchor="t">
            <a:spAutoFit/>
          </a:bodyPr>
          <a:lstStyle/>
          <a:p>
            <a:pPr algn="ctr">
              <a:spcAft>
                <a:spcPts val="0"/>
              </a:spcAft>
            </a:pPr>
            <a:r>
              <a:rPr sz="1100" b="1" i="0">
                <a:solidFill>
                  <a:srgbClr val="263746"/>
                </a:solidFill>
                <a:latin typeface="Arial"/>
              </a:rPr>
              <a:t>-0.07</a:t>
            </a:r>
          </a:p>
        </p:txBody>
      </p:sp>
      <p:sp>
        <p:nvSpPr>
          <p:cNvPr id="43" name="Rectangle 42"/>
          <p:cNvSpPr/>
          <p:nvPr/>
        </p:nvSpPr>
        <p:spPr>
          <a:xfrm>
            <a:off x="5650992" y="4032503"/>
            <a:ext cx="987552" cy="438912"/>
          </a:xfrm>
          <a:prstGeom prst="rect">
            <a:avLst/>
          </a:prstGeom>
          <a:solidFill>
            <a:srgbClr val="FBF4EA"/>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650992" y="4114799"/>
            <a:ext cx="987552" cy="219456"/>
          </a:xfrm>
          <a:prstGeom prst="rect">
            <a:avLst/>
          </a:prstGeom>
          <a:noFill/>
        </p:spPr>
        <p:txBody>
          <a:bodyPr wrap="square" lIns="0" rIns="0" tIns="0" bIns="0" anchor="t">
            <a:spAutoFit/>
          </a:bodyPr>
          <a:lstStyle/>
          <a:p>
            <a:pPr algn="ctr">
              <a:spcAft>
                <a:spcPts val="0"/>
              </a:spcAft>
            </a:pPr>
            <a:r>
              <a:rPr sz="1100" b="1" i="0">
                <a:solidFill>
                  <a:srgbClr val="263746"/>
                </a:solidFill>
                <a:latin typeface="Arial"/>
              </a:rPr>
              <a:t>+0.09</a:t>
            </a:r>
          </a:p>
        </p:txBody>
      </p:sp>
      <p:sp>
        <p:nvSpPr>
          <p:cNvPr id="45" name="Rectangle 44"/>
          <p:cNvSpPr/>
          <p:nvPr/>
        </p:nvSpPr>
        <p:spPr>
          <a:xfrm>
            <a:off x="7196328" y="4032503"/>
            <a:ext cx="987552" cy="438912"/>
          </a:xfrm>
          <a:prstGeom prst="rect">
            <a:avLst/>
          </a:prstGeom>
          <a:solidFill>
            <a:srgbClr val="DFE7EF"/>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196328" y="4114799"/>
            <a:ext cx="987552" cy="219456"/>
          </a:xfrm>
          <a:prstGeom prst="rect">
            <a:avLst/>
          </a:prstGeom>
          <a:noFill/>
        </p:spPr>
        <p:txBody>
          <a:bodyPr wrap="square" lIns="0" rIns="0" tIns="0" bIns="0" anchor="t">
            <a:spAutoFit/>
          </a:bodyPr>
          <a:lstStyle/>
          <a:p>
            <a:pPr algn="ctr">
              <a:spcAft>
                <a:spcPts val="0"/>
              </a:spcAft>
            </a:pPr>
            <a:r>
              <a:rPr sz="1100" b="1" i="0">
                <a:solidFill>
                  <a:srgbClr val="263746"/>
                </a:solidFill>
                <a:latin typeface="Arial"/>
              </a:rPr>
              <a:t>-0.16</a:t>
            </a:r>
          </a:p>
        </p:txBody>
      </p:sp>
      <p:sp>
        <p:nvSpPr>
          <p:cNvPr id="47" name="TextBox 46"/>
          <p:cNvSpPr txBox="1"/>
          <p:nvPr/>
        </p:nvSpPr>
        <p:spPr>
          <a:xfrm>
            <a:off x="5303520" y="4096511"/>
            <a:ext cx="228600" cy="237744"/>
          </a:xfrm>
          <a:prstGeom prst="rect">
            <a:avLst/>
          </a:prstGeom>
          <a:noFill/>
        </p:spPr>
        <p:txBody>
          <a:bodyPr wrap="square" lIns="0" rIns="0" tIns="0" bIns="0" anchor="t">
            <a:spAutoFit/>
          </a:bodyPr>
          <a:lstStyle/>
          <a:p>
            <a:pPr algn="ctr">
              <a:spcAft>
                <a:spcPts val="0"/>
              </a:spcAft>
            </a:pPr>
            <a:r>
              <a:rPr sz="1400" b="1" i="0">
                <a:solidFill>
                  <a:srgbClr val="8A969E"/>
                </a:solidFill>
                <a:latin typeface="Arial"/>
              </a:rPr>
              <a:t>-</a:t>
            </a:r>
          </a:p>
        </p:txBody>
      </p:sp>
      <p:sp>
        <p:nvSpPr>
          <p:cNvPr id="48" name="TextBox 47"/>
          <p:cNvSpPr txBox="1"/>
          <p:nvPr/>
        </p:nvSpPr>
        <p:spPr>
          <a:xfrm>
            <a:off x="6821424" y="4096511"/>
            <a:ext cx="228600" cy="237744"/>
          </a:xfrm>
          <a:prstGeom prst="rect">
            <a:avLst/>
          </a:prstGeom>
          <a:noFill/>
        </p:spPr>
        <p:txBody>
          <a:bodyPr wrap="square" lIns="0" rIns="0" tIns="0" bIns="0" anchor="t">
            <a:spAutoFit/>
          </a:bodyPr>
          <a:lstStyle/>
          <a:p>
            <a:pPr algn="ctr">
              <a:spcAft>
                <a:spcPts val="0"/>
              </a:spcAft>
            </a:pPr>
            <a:r>
              <a:rPr sz="1300" b="1" i="0">
                <a:solidFill>
                  <a:srgbClr val="8A969E"/>
                </a:solidFill>
                <a:latin typeface="Arial"/>
              </a:rPr>
              <a:t>=</a:t>
            </a:r>
          </a:p>
        </p:txBody>
      </p:sp>
      <p:sp>
        <p:nvSpPr>
          <p:cNvPr id="49" name="Rectangle 48"/>
          <p:cNvSpPr/>
          <p:nvPr/>
        </p:nvSpPr>
        <p:spPr>
          <a:xfrm>
            <a:off x="704088" y="4645152"/>
            <a:ext cx="7470648" cy="10972"/>
          </a:xfrm>
          <a:prstGeom prst="rect">
            <a:avLst/>
          </a:prstGeom>
          <a:solidFill>
            <a:srgbClr val="E1E6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04088" y="4800600"/>
            <a:ext cx="54864" cy="438912"/>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96112" y="4745736"/>
            <a:ext cx="859536" cy="219456"/>
          </a:xfrm>
          <a:prstGeom prst="rect">
            <a:avLst/>
          </a:prstGeom>
          <a:noFill/>
        </p:spPr>
        <p:txBody>
          <a:bodyPr wrap="square" lIns="0" rIns="0" tIns="0" bIns="0" anchor="t">
            <a:spAutoFit/>
          </a:bodyPr>
          <a:lstStyle/>
          <a:p>
            <a:pPr algn="l">
              <a:spcAft>
                <a:spcPts val="0"/>
              </a:spcAft>
            </a:pPr>
            <a:r>
              <a:rPr sz="1100" b="1" i="0">
                <a:solidFill>
                  <a:srgbClr val="D96552"/>
                </a:solidFill>
                <a:latin typeface="Arial"/>
              </a:rPr>
              <a:t>Spleen</a:t>
            </a:r>
          </a:p>
        </p:txBody>
      </p:sp>
      <p:sp>
        <p:nvSpPr>
          <p:cNvPr id="52" name="TextBox 51"/>
          <p:cNvSpPr txBox="1"/>
          <p:nvPr/>
        </p:nvSpPr>
        <p:spPr>
          <a:xfrm>
            <a:off x="1746504" y="4745736"/>
            <a:ext cx="2148840" cy="438912"/>
          </a:xfrm>
          <a:prstGeom prst="rect">
            <a:avLst/>
          </a:prstGeom>
          <a:noFill/>
        </p:spPr>
        <p:txBody>
          <a:bodyPr wrap="square" lIns="0" rIns="0" tIns="0" bIns="0" anchor="ctr">
            <a:spAutoFit/>
          </a:bodyPr>
          <a:lstStyle/>
          <a:p>
            <a:pPr algn="l">
              <a:spcAft>
                <a:spcPts val="0"/>
              </a:spcAft>
            </a:pPr>
            <a:r>
              <a:rPr sz="1080" b="1" i="0">
                <a:solidFill>
                  <a:srgbClr val="263746"/>
                </a:solidFill>
                <a:latin typeface="Arial"/>
              </a:rPr>
              <a:t>T-cell receptor signaling</a:t>
            </a:r>
          </a:p>
        </p:txBody>
      </p:sp>
      <p:sp>
        <p:nvSpPr>
          <p:cNvPr id="53" name="Rectangle 52"/>
          <p:cNvSpPr/>
          <p:nvPr/>
        </p:nvSpPr>
        <p:spPr>
          <a:xfrm>
            <a:off x="4133087" y="4727448"/>
            <a:ext cx="987552" cy="438912"/>
          </a:xfrm>
          <a:prstGeom prst="rect">
            <a:avLst/>
          </a:prstGeom>
          <a:solidFill>
            <a:srgbClr val="E5ECF2"/>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133087" y="4809744"/>
            <a:ext cx="987552" cy="219456"/>
          </a:xfrm>
          <a:prstGeom prst="rect">
            <a:avLst/>
          </a:prstGeom>
          <a:noFill/>
        </p:spPr>
        <p:txBody>
          <a:bodyPr wrap="square" lIns="0" rIns="0" tIns="0" bIns="0" anchor="t">
            <a:spAutoFit/>
          </a:bodyPr>
          <a:lstStyle/>
          <a:p>
            <a:pPr algn="ctr">
              <a:spcAft>
                <a:spcPts val="0"/>
              </a:spcAft>
            </a:pPr>
            <a:r>
              <a:rPr sz="1100" b="1" i="0">
                <a:solidFill>
                  <a:srgbClr val="263746"/>
                </a:solidFill>
                <a:latin typeface="Arial"/>
              </a:rPr>
              <a:t>-0.13</a:t>
            </a:r>
          </a:p>
        </p:txBody>
      </p:sp>
      <p:sp>
        <p:nvSpPr>
          <p:cNvPr id="55" name="Rectangle 54"/>
          <p:cNvSpPr/>
          <p:nvPr/>
        </p:nvSpPr>
        <p:spPr>
          <a:xfrm>
            <a:off x="5650992" y="4727448"/>
            <a:ext cx="987552" cy="438912"/>
          </a:xfrm>
          <a:prstGeom prst="rect">
            <a:avLst/>
          </a:prstGeom>
          <a:solidFill>
            <a:srgbClr val="FAEFE0"/>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650992" y="4809744"/>
            <a:ext cx="987552" cy="219456"/>
          </a:xfrm>
          <a:prstGeom prst="rect">
            <a:avLst/>
          </a:prstGeom>
          <a:noFill/>
        </p:spPr>
        <p:txBody>
          <a:bodyPr wrap="square" lIns="0" rIns="0" tIns="0" bIns="0" anchor="t">
            <a:spAutoFit/>
          </a:bodyPr>
          <a:lstStyle/>
          <a:p>
            <a:pPr algn="ctr">
              <a:spcAft>
                <a:spcPts val="0"/>
              </a:spcAft>
            </a:pPr>
            <a:r>
              <a:rPr sz="1100" b="1" i="0">
                <a:solidFill>
                  <a:srgbClr val="263746"/>
                </a:solidFill>
                <a:latin typeface="Arial"/>
              </a:rPr>
              <a:t>+0.13</a:t>
            </a:r>
          </a:p>
        </p:txBody>
      </p:sp>
      <p:sp>
        <p:nvSpPr>
          <p:cNvPr id="57" name="Rectangle 56"/>
          <p:cNvSpPr/>
          <p:nvPr/>
        </p:nvSpPr>
        <p:spPr>
          <a:xfrm>
            <a:off x="7196328" y="4727448"/>
            <a:ext cx="987552" cy="438912"/>
          </a:xfrm>
          <a:prstGeom prst="rect">
            <a:avLst/>
          </a:prstGeom>
          <a:solidFill>
            <a:srgbClr val="CBD9E5"/>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196328" y="4809744"/>
            <a:ext cx="987552" cy="219456"/>
          </a:xfrm>
          <a:prstGeom prst="rect">
            <a:avLst/>
          </a:prstGeom>
          <a:noFill/>
        </p:spPr>
        <p:txBody>
          <a:bodyPr wrap="square" lIns="0" rIns="0" tIns="0" bIns="0" anchor="t">
            <a:spAutoFit/>
          </a:bodyPr>
          <a:lstStyle/>
          <a:p>
            <a:pPr algn="ctr">
              <a:spcAft>
                <a:spcPts val="0"/>
              </a:spcAft>
            </a:pPr>
            <a:r>
              <a:rPr sz="1100" b="1" i="0">
                <a:solidFill>
                  <a:srgbClr val="263746"/>
                </a:solidFill>
                <a:latin typeface="Arial"/>
              </a:rPr>
              <a:t>-0.26</a:t>
            </a:r>
          </a:p>
        </p:txBody>
      </p:sp>
      <p:sp>
        <p:nvSpPr>
          <p:cNvPr id="59" name="TextBox 58"/>
          <p:cNvSpPr txBox="1"/>
          <p:nvPr/>
        </p:nvSpPr>
        <p:spPr>
          <a:xfrm>
            <a:off x="5303520" y="4791456"/>
            <a:ext cx="228600" cy="237744"/>
          </a:xfrm>
          <a:prstGeom prst="rect">
            <a:avLst/>
          </a:prstGeom>
          <a:noFill/>
        </p:spPr>
        <p:txBody>
          <a:bodyPr wrap="square" lIns="0" rIns="0" tIns="0" bIns="0" anchor="t">
            <a:spAutoFit/>
          </a:bodyPr>
          <a:lstStyle/>
          <a:p>
            <a:pPr algn="ctr">
              <a:spcAft>
                <a:spcPts val="0"/>
              </a:spcAft>
            </a:pPr>
            <a:r>
              <a:rPr sz="1400" b="1" i="0">
                <a:solidFill>
                  <a:srgbClr val="8A969E"/>
                </a:solidFill>
                <a:latin typeface="Arial"/>
              </a:rPr>
              <a:t>-</a:t>
            </a:r>
          </a:p>
        </p:txBody>
      </p:sp>
      <p:sp>
        <p:nvSpPr>
          <p:cNvPr id="60" name="TextBox 59"/>
          <p:cNvSpPr txBox="1"/>
          <p:nvPr/>
        </p:nvSpPr>
        <p:spPr>
          <a:xfrm>
            <a:off x="6821424" y="4791456"/>
            <a:ext cx="228600" cy="237744"/>
          </a:xfrm>
          <a:prstGeom prst="rect">
            <a:avLst/>
          </a:prstGeom>
          <a:noFill/>
        </p:spPr>
        <p:txBody>
          <a:bodyPr wrap="square" lIns="0" rIns="0" tIns="0" bIns="0" anchor="t">
            <a:spAutoFit/>
          </a:bodyPr>
          <a:lstStyle/>
          <a:p>
            <a:pPr algn="ctr">
              <a:spcAft>
                <a:spcPts val="0"/>
              </a:spcAft>
            </a:pPr>
            <a:r>
              <a:rPr sz="1300" b="1" i="0">
                <a:solidFill>
                  <a:srgbClr val="8A969E"/>
                </a:solidFill>
                <a:latin typeface="Arial"/>
              </a:rPr>
              <a:t>=</a:t>
            </a:r>
          </a:p>
        </p:txBody>
      </p:sp>
      <p:sp>
        <p:nvSpPr>
          <p:cNvPr id="61" name="Rectangle 60"/>
          <p:cNvSpPr/>
          <p:nvPr/>
        </p:nvSpPr>
        <p:spPr>
          <a:xfrm>
            <a:off x="3017520" y="5650992"/>
            <a:ext cx="228600" cy="164592"/>
          </a:xfrm>
          <a:prstGeom prst="rect">
            <a:avLst/>
          </a:prstGeom>
          <a:solidFill>
            <a:srgbClr val="2D6496"/>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3300984" y="5623560"/>
            <a:ext cx="749808" cy="210312"/>
          </a:xfrm>
          <a:prstGeom prst="rect">
            <a:avLst/>
          </a:prstGeom>
          <a:noFill/>
        </p:spPr>
        <p:txBody>
          <a:bodyPr wrap="square" lIns="0" rIns="0" tIns="0" bIns="0" anchor="t">
            <a:spAutoFit/>
          </a:bodyPr>
          <a:lstStyle/>
          <a:p>
            <a:pPr algn="l">
              <a:spcAft>
                <a:spcPts val="0"/>
              </a:spcAft>
            </a:pPr>
            <a:r>
              <a:rPr sz="880" b="0" i="0">
                <a:solidFill>
                  <a:srgbClr val="59697A"/>
                </a:solidFill>
                <a:latin typeface="Arial"/>
              </a:rPr>
              <a:t>lower</a:t>
            </a:r>
          </a:p>
        </p:txBody>
      </p:sp>
      <p:sp>
        <p:nvSpPr>
          <p:cNvPr id="63" name="Rectangle 62"/>
          <p:cNvSpPr/>
          <p:nvPr/>
        </p:nvSpPr>
        <p:spPr>
          <a:xfrm>
            <a:off x="4114800" y="5650992"/>
            <a:ext cx="228600" cy="164592"/>
          </a:xfrm>
          <a:prstGeom prst="rect">
            <a:avLst/>
          </a:prstGeom>
          <a:solidFill>
            <a:srgbClr val="FFFEFE"/>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398264" y="5623560"/>
            <a:ext cx="749808" cy="210312"/>
          </a:xfrm>
          <a:prstGeom prst="rect">
            <a:avLst/>
          </a:prstGeom>
          <a:noFill/>
        </p:spPr>
        <p:txBody>
          <a:bodyPr wrap="square" lIns="0" rIns="0" tIns="0" bIns="0" anchor="t">
            <a:spAutoFit/>
          </a:bodyPr>
          <a:lstStyle/>
          <a:p>
            <a:pPr algn="l">
              <a:spcAft>
                <a:spcPts val="0"/>
              </a:spcAft>
            </a:pPr>
            <a:r>
              <a:rPr sz="880" b="0" i="0">
                <a:solidFill>
                  <a:srgbClr val="59697A"/>
                </a:solidFill>
                <a:latin typeface="Arial"/>
              </a:rPr>
              <a:t>no shift</a:t>
            </a:r>
          </a:p>
        </p:txBody>
      </p:sp>
      <p:sp>
        <p:nvSpPr>
          <p:cNvPr id="65" name="Rectangle 64"/>
          <p:cNvSpPr/>
          <p:nvPr/>
        </p:nvSpPr>
        <p:spPr>
          <a:xfrm>
            <a:off x="5212079" y="5650992"/>
            <a:ext cx="228600" cy="164592"/>
          </a:xfrm>
          <a:prstGeom prst="rect">
            <a:avLst/>
          </a:prstGeom>
          <a:solidFill>
            <a:srgbClr val="D37B00"/>
          </a:solidFill>
          <a:ln w="7620">
            <a:solidFill>
              <a:srgbClr val="D5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495543" y="5623560"/>
            <a:ext cx="749808" cy="210312"/>
          </a:xfrm>
          <a:prstGeom prst="rect">
            <a:avLst/>
          </a:prstGeom>
          <a:noFill/>
        </p:spPr>
        <p:txBody>
          <a:bodyPr wrap="square" lIns="0" rIns="0" tIns="0" bIns="0" anchor="t">
            <a:spAutoFit/>
          </a:bodyPr>
          <a:lstStyle/>
          <a:p>
            <a:pPr algn="l">
              <a:spcAft>
                <a:spcPts val="0"/>
              </a:spcAft>
            </a:pPr>
            <a:r>
              <a:rPr sz="880" b="0" i="0">
                <a:solidFill>
                  <a:srgbClr val="59697A"/>
                </a:solidFill>
                <a:latin typeface="Arial"/>
              </a:rPr>
              <a:t>higher</a:t>
            </a:r>
          </a:p>
        </p:txBody>
      </p:sp>
      <p:sp>
        <p:nvSpPr>
          <p:cNvPr id="67" name="Rectangle 66"/>
          <p:cNvSpPr/>
          <p:nvPr/>
        </p:nvSpPr>
        <p:spPr>
          <a:xfrm>
            <a:off x="8796528" y="1938528"/>
            <a:ext cx="13716" cy="3995928"/>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9070848" y="2048256"/>
            <a:ext cx="1901952" cy="219456"/>
          </a:xfrm>
          <a:prstGeom prst="rect">
            <a:avLst/>
          </a:prstGeom>
          <a:noFill/>
        </p:spPr>
        <p:txBody>
          <a:bodyPr wrap="square" lIns="0" rIns="0" tIns="0" bIns="0" anchor="t">
            <a:spAutoFit/>
          </a:bodyPr>
          <a:lstStyle/>
          <a:p>
            <a:pPr algn="l">
              <a:spcAft>
                <a:spcPts val="0"/>
              </a:spcAft>
            </a:pPr>
            <a:r>
              <a:rPr sz="1019" b="1" i="0">
                <a:solidFill>
                  <a:srgbClr val="2D6496"/>
                </a:solidFill>
                <a:latin typeface="Arial"/>
              </a:rPr>
              <a:t>HOW TO READ IT</a:t>
            </a:r>
          </a:p>
        </p:txBody>
      </p:sp>
      <p:sp>
        <p:nvSpPr>
          <p:cNvPr id="69" name="Oval 68"/>
          <p:cNvSpPr/>
          <p:nvPr/>
        </p:nvSpPr>
        <p:spPr>
          <a:xfrm>
            <a:off x="9079992" y="2532888"/>
            <a:ext cx="274320" cy="27432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9079992" y="2569464"/>
            <a:ext cx="274320" cy="164592"/>
          </a:xfrm>
          <a:prstGeom prst="rect">
            <a:avLst/>
          </a:prstGeom>
          <a:noFill/>
        </p:spPr>
        <p:txBody>
          <a:bodyPr wrap="square" lIns="0" rIns="0" tIns="0" bIns="0" anchor="t">
            <a:spAutoFit/>
          </a:bodyPr>
          <a:lstStyle/>
          <a:p>
            <a:pPr algn="ctr">
              <a:spcAft>
                <a:spcPts val="0"/>
              </a:spcAft>
            </a:pPr>
            <a:r>
              <a:rPr sz="900" b="1" i="0">
                <a:solidFill>
                  <a:srgbClr val="FFFFFF"/>
                </a:solidFill>
                <a:latin typeface="Arial"/>
              </a:rPr>
              <a:t>1</a:t>
            </a:r>
          </a:p>
        </p:txBody>
      </p:sp>
      <p:sp>
        <p:nvSpPr>
          <p:cNvPr id="71" name="TextBox 70"/>
          <p:cNvSpPr txBox="1"/>
          <p:nvPr/>
        </p:nvSpPr>
        <p:spPr>
          <a:xfrm>
            <a:off x="9500616" y="2514600"/>
            <a:ext cx="1993392" cy="246888"/>
          </a:xfrm>
          <a:prstGeom prst="rect">
            <a:avLst/>
          </a:prstGeom>
          <a:noFill/>
        </p:spPr>
        <p:txBody>
          <a:bodyPr wrap="square" lIns="0" rIns="0" tIns="0" bIns="0" anchor="t">
            <a:spAutoFit/>
          </a:bodyPr>
          <a:lstStyle/>
          <a:p>
            <a:pPr algn="l">
              <a:spcAft>
                <a:spcPts val="0"/>
              </a:spcAft>
            </a:pPr>
            <a:r>
              <a:rPr sz="1200" b="1" i="0">
                <a:solidFill>
                  <a:srgbClr val="082B55"/>
                </a:solidFill>
                <a:latin typeface="Arial"/>
              </a:rPr>
              <a:t>Score each sample</a:t>
            </a:r>
          </a:p>
        </p:txBody>
      </p:sp>
      <p:sp>
        <p:nvSpPr>
          <p:cNvPr id="72" name="TextBox 71"/>
          <p:cNvSpPr txBox="1"/>
          <p:nvPr/>
        </p:nvSpPr>
        <p:spPr>
          <a:xfrm>
            <a:off x="9500616" y="2825496"/>
            <a:ext cx="2011680" cy="493776"/>
          </a:xfrm>
          <a:prstGeom prst="rect">
            <a:avLst/>
          </a:prstGeom>
          <a:noFill/>
        </p:spPr>
        <p:txBody>
          <a:bodyPr wrap="square" lIns="0" rIns="0" tIns="0" bIns="0" anchor="t">
            <a:spAutoFit/>
          </a:bodyPr>
          <a:lstStyle/>
          <a:p>
            <a:pPr algn="l">
              <a:spcAft>
                <a:spcPts val="0"/>
              </a:spcAft>
            </a:pPr>
            <a:r>
              <a:rPr sz="1019" b="0" i="0">
                <a:solidFill>
                  <a:srgbClr val="59697A"/>
                </a:solidFill>
                <a:latin typeface="Arial"/>
              </a:rPr>
              <a:t>The constrained latent value represents one Reactome program.</a:t>
            </a:r>
          </a:p>
        </p:txBody>
      </p:sp>
      <p:sp>
        <p:nvSpPr>
          <p:cNvPr id="73" name="Oval 72"/>
          <p:cNvSpPr/>
          <p:nvPr/>
        </p:nvSpPr>
        <p:spPr>
          <a:xfrm>
            <a:off x="9079992" y="3474720"/>
            <a:ext cx="274320" cy="27432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9079992" y="3511296"/>
            <a:ext cx="274320" cy="164592"/>
          </a:xfrm>
          <a:prstGeom prst="rect">
            <a:avLst/>
          </a:prstGeom>
          <a:noFill/>
        </p:spPr>
        <p:txBody>
          <a:bodyPr wrap="square" lIns="0" rIns="0" tIns="0" bIns="0" anchor="t">
            <a:spAutoFit/>
          </a:bodyPr>
          <a:lstStyle/>
          <a:p>
            <a:pPr algn="ctr">
              <a:spcAft>
                <a:spcPts val="0"/>
              </a:spcAft>
            </a:pPr>
            <a:r>
              <a:rPr sz="900" b="1" i="0">
                <a:solidFill>
                  <a:srgbClr val="FFFFFF"/>
                </a:solidFill>
                <a:latin typeface="Arial"/>
              </a:rPr>
              <a:t>2</a:t>
            </a:r>
          </a:p>
        </p:txBody>
      </p:sp>
      <p:sp>
        <p:nvSpPr>
          <p:cNvPr id="75" name="TextBox 74"/>
          <p:cNvSpPr txBox="1"/>
          <p:nvPr/>
        </p:nvSpPr>
        <p:spPr>
          <a:xfrm>
            <a:off x="9500616" y="3456432"/>
            <a:ext cx="1993392" cy="246888"/>
          </a:xfrm>
          <a:prstGeom prst="rect">
            <a:avLst/>
          </a:prstGeom>
          <a:noFill/>
        </p:spPr>
        <p:txBody>
          <a:bodyPr wrap="square" lIns="0" rIns="0" tIns="0" bIns="0" anchor="t">
            <a:spAutoFit/>
          </a:bodyPr>
          <a:lstStyle/>
          <a:p>
            <a:pPr algn="l">
              <a:spcAft>
                <a:spcPts val="0"/>
              </a:spcAft>
            </a:pPr>
            <a:r>
              <a:rPr sz="1200" b="1" i="0">
                <a:solidFill>
                  <a:srgbClr val="082B55"/>
                </a:solidFill>
                <a:latin typeface="Arial"/>
              </a:rPr>
              <a:t>Compare within project</a:t>
            </a:r>
          </a:p>
        </p:txBody>
      </p:sp>
      <p:sp>
        <p:nvSpPr>
          <p:cNvPr id="76" name="TextBox 75"/>
          <p:cNvSpPr txBox="1"/>
          <p:nvPr/>
        </p:nvSpPr>
        <p:spPr>
          <a:xfrm>
            <a:off x="9500616" y="3767328"/>
            <a:ext cx="2011680" cy="493776"/>
          </a:xfrm>
          <a:prstGeom prst="rect">
            <a:avLst/>
          </a:prstGeom>
          <a:noFill/>
        </p:spPr>
        <p:txBody>
          <a:bodyPr wrap="square" lIns="0" rIns="0" tIns="0" bIns="0" anchor="t">
            <a:spAutoFit/>
          </a:bodyPr>
          <a:lstStyle/>
          <a:p>
            <a:pPr algn="l">
              <a:spcAft>
                <a:spcPts val="0"/>
              </a:spcAft>
            </a:pPr>
            <a:r>
              <a:rPr sz="1019" b="0" i="0">
                <a:solidFill>
                  <a:srgbClr val="59697A"/>
                </a:solidFill>
                <a:latin typeface="Arial"/>
              </a:rPr>
              <a:t>Flight samples are compared with ground controls from the same study.</a:t>
            </a:r>
          </a:p>
        </p:txBody>
      </p:sp>
      <p:sp>
        <p:nvSpPr>
          <p:cNvPr id="77" name="Oval 76"/>
          <p:cNvSpPr/>
          <p:nvPr/>
        </p:nvSpPr>
        <p:spPr>
          <a:xfrm>
            <a:off x="9079992" y="4416552"/>
            <a:ext cx="274320" cy="27432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9079992" y="4453128"/>
            <a:ext cx="274320" cy="164592"/>
          </a:xfrm>
          <a:prstGeom prst="rect">
            <a:avLst/>
          </a:prstGeom>
          <a:noFill/>
        </p:spPr>
        <p:txBody>
          <a:bodyPr wrap="square" lIns="0" rIns="0" tIns="0" bIns="0" anchor="t">
            <a:spAutoFit/>
          </a:bodyPr>
          <a:lstStyle/>
          <a:p>
            <a:pPr algn="ctr">
              <a:spcAft>
                <a:spcPts val="0"/>
              </a:spcAft>
            </a:pPr>
            <a:r>
              <a:rPr sz="900" b="1" i="0">
                <a:solidFill>
                  <a:srgbClr val="FFFFFF"/>
                </a:solidFill>
                <a:latin typeface="Arial"/>
              </a:rPr>
              <a:t>3</a:t>
            </a:r>
          </a:p>
        </p:txBody>
      </p:sp>
      <p:sp>
        <p:nvSpPr>
          <p:cNvPr id="79" name="TextBox 78"/>
          <p:cNvSpPr txBox="1"/>
          <p:nvPr/>
        </p:nvSpPr>
        <p:spPr>
          <a:xfrm>
            <a:off x="9500616" y="4398264"/>
            <a:ext cx="1993392" cy="246888"/>
          </a:xfrm>
          <a:prstGeom prst="rect">
            <a:avLst/>
          </a:prstGeom>
          <a:noFill/>
        </p:spPr>
        <p:txBody>
          <a:bodyPr wrap="square" lIns="0" rIns="0" tIns="0" bIns="0" anchor="t">
            <a:spAutoFit/>
          </a:bodyPr>
          <a:lstStyle/>
          <a:p>
            <a:pPr algn="l">
              <a:spcAft>
                <a:spcPts val="0"/>
              </a:spcAft>
            </a:pPr>
            <a:r>
              <a:rPr sz="1200" b="1" i="0">
                <a:solidFill>
                  <a:srgbClr val="082B55"/>
                </a:solidFill>
                <a:latin typeface="Arial"/>
              </a:rPr>
              <a:t>Combine project shifts</a:t>
            </a:r>
          </a:p>
        </p:txBody>
      </p:sp>
      <p:sp>
        <p:nvSpPr>
          <p:cNvPr id="80" name="TextBox 79"/>
          <p:cNvSpPr txBox="1"/>
          <p:nvPr/>
        </p:nvSpPr>
        <p:spPr>
          <a:xfrm>
            <a:off x="9500616" y="4709160"/>
            <a:ext cx="2011680" cy="493776"/>
          </a:xfrm>
          <a:prstGeom prst="rect">
            <a:avLst/>
          </a:prstGeom>
          <a:noFill/>
        </p:spPr>
        <p:txBody>
          <a:bodyPr wrap="square" lIns="0" rIns="0" tIns="0" bIns="0" anchor="t">
            <a:spAutoFit/>
          </a:bodyPr>
          <a:lstStyle/>
          <a:p>
            <a:pPr algn="l">
              <a:spcAft>
                <a:spcPts val="0"/>
              </a:spcAft>
            </a:pPr>
            <a:r>
              <a:rPr sz="1019" b="0" i="0">
                <a:solidFill>
                  <a:srgbClr val="59697A"/>
                </a:solidFill>
                <a:latin typeface="Arial"/>
              </a:rPr>
              <a:t>Project-level changes are integrated across the available missions.</a:t>
            </a:r>
          </a:p>
        </p:txBody>
      </p:sp>
      <p:sp>
        <p:nvSpPr>
          <p:cNvPr id="81" name="Rectangle 80"/>
          <p:cNvSpPr/>
          <p:nvPr/>
        </p:nvSpPr>
        <p:spPr>
          <a:xfrm>
            <a:off x="9061704" y="5413248"/>
            <a:ext cx="2432304" cy="484632"/>
          </a:xfrm>
          <a:prstGeom prst="rect">
            <a:avLst/>
          </a:prstGeom>
          <a:solidFill>
            <a:srgbClr val="E9F1F7"/>
          </a:solidFill>
          <a:ln w="10160">
            <a:solidFill>
              <a:srgbClr val="CBDD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217152" y="5513832"/>
            <a:ext cx="2121408" cy="256032"/>
          </a:xfrm>
          <a:prstGeom prst="rect">
            <a:avLst/>
          </a:prstGeom>
          <a:noFill/>
        </p:spPr>
        <p:txBody>
          <a:bodyPr wrap="square" lIns="0" rIns="0" tIns="0" bIns="0" anchor="t">
            <a:spAutoFit/>
          </a:bodyPr>
          <a:lstStyle/>
          <a:p>
            <a:pPr algn="ctr">
              <a:spcAft>
                <a:spcPts val="0"/>
              </a:spcAft>
            </a:pPr>
            <a:r>
              <a:rPr sz="1050" b="1" i="0">
                <a:solidFill>
                  <a:srgbClr val="082B55"/>
                </a:solidFill>
                <a:latin typeface="Arial"/>
              </a:rPr>
              <a:t>Negative change = lower program score in flight</a:t>
            </a:r>
          </a:p>
        </p:txBody>
      </p:sp>
      <p:sp>
        <p:nvSpPr>
          <p:cNvPr id="83" name="TextBox 82"/>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Observed example scores: expiMap manuscript Table S33. Formal effects are estimated within project; lower scores do not prove biochemical inhibition.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EXPIMAP RESULTS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Four tissues produced the clearest pathway patterns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Effects were estimated within each project before the project-level shifts were combined.</a:t>
            </a:r>
          </a:p>
        </p:txBody>
      </p:sp>
      <p:sp>
        <p:nvSpPr>
          <p:cNvPr id="7" name="Rectangle 6"/>
          <p:cNvSpPr/>
          <p:nvPr/>
        </p:nvSpPr>
        <p:spPr>
          <a:xfrm>
            <a:off x="438912" y="1847088"/>
            <a:ext cx="11320272" cy="896112"/>
          </a:xfrm>
          <a:prstGeom prst="rect">
            <a:avLst/>
          </a:prstGeom>
          <a:solidFill>
            <a:srgbClr val="F1EDF7"/>
          </a:solidFill>
          <a:ln w="10160">
            <a:solidFill>
              <a:srgbClr val="F1ED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38912" y="1847088"/>
            <a:ext cx="68580" cy="896112"/>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 y="2011680"/>
            <a:ext cx="1298448" cy="292608"/>
          </a:xfrm>
          <a:prstGeom prst="rect">
            <a:avLst/>
          </a:prstGeom>
          <a:noFill/>
        </p:spPr>
        <p:txBody>
          <a:bodyPr wrap="square" lIns="0" rIns="0" tIns="0" bIns="0" anchor="t">
            <a:spAutoFit/>
          </a:bodyPr>
          <a:lstStyle/>
          <a:p>
            <a:pPr algn="l">
              <a:spcAft>
                <a:spcPts val="0"/>
              </a:spcAft>
            </a:pPr>
            <a:r>
              <a:rPr sz="1700" b="1" i="0">
                <a:solidFill>
                  <a:srgbClr val="8063A6"/>
                </a:solidFill>
                <a:latin typeface="Arial"/>
              </a:rPr>
              <a:t>Thymus</a:t>
            </a:r>
          </a:p>
        </p:txBody>
      </p:sp>
      <p:sp>
        <p:nvSpPr>
          <p:cNvPr id="10" name="TextBox 9"/>
          <p:cNvSpPr txBox="1"/>
          <p:nvPr/>
        </p:nvSpPr>
        <p:spPr>
          <a:xfrm>
            <a:off x="694944" y="2359152"/>
            <a:ext cx="1444752" cy="201168"/>
          </a:xfrm>
          <a:prstGeom prst="rect">
            <a:avLst/>
          </a:prstGeom>
          <a:noFill/>
        </p:spPr>
        <p:txBody>
          <a:bodyPr wrap="square" lIns="0" rIns="0" tIns="0" bIns="0" anchor="t">
            <a:spAutoFit/>
          </a:bodyPr>
          <a:lstStyle/>
          <a:p>
            <a:pPr algn="l">
              <a:spcAft>
                <a:spcPts val="0"/>
              </a:spcAft>
            </a:pPr>
            <a:r>
              <a:rPr sz="950" b="0" i="0">
                <a:solidFill>
                  <a:srgbClr val="59697A"/>
                </a:solidFill>
                <a:latin typeface="Arial"/>
              </a:rPr>
              <a:t>117 samples | 5 projects</a:t>
            </a:r>
          </a:p>
        </p:txBody>
      </p:sp>
      <p:sp>
        <p:nvSpPr>
          <p:cNvPr id="11" name="TextBox 10"/>
          <p:cNvSpPr txBox="1"/>
          <p:nvPr/>
        </p:nvSpPr>
        <p:spPr>
          <a:xfrm>
            <a:off x="2322576" y="1993392"/>
            <a:ext cx="1225296" cy="201168"/>
          </a:xfrm>
          <a:prstGeom prst="rect">
            <a:avLst/>
          </a:prstGeom>
          <a:noFill/>
        </p:spPr>
        <p:txBody>
          <a:bodyPr wrap="square" lIns="0" rIns="0" tIns="0" bIns="0" anchor="t">
            <a:spAutoFit/>
          </a:bodyPr>
          <a:lstStyle/>
          <a:p>
            <a:pPr algn="l">
              <a:spcAft>
                <a:spcPts val="0"/>
              </a:spcAft>
            </a:pPr>
            <a:r>
              <a:rPr sz="900" b="1" i="0">
                <a:solidFill>
                  <a:srgbClr val="2D6496"/>
                </a:solidFill>
                <a:latin typeface="Arial"/>
              </a:rPr>
              <a:t>LOWER IN FLIGHT</a:t>
            </a:r>
          </a:p>
        </p:txBody>
      </p:sp>
      <p:sp>
        <p:nvSpPr>
          <p:cNvPr id="12" name="TextBox 11"/>
          <p:cNvSpPr txBox="1"/>
          <p:nvPr/>
        </p:nvSpPr>
        <p:spPr>
          <a:xfrm>
            <a:off x="2322576" y="2240280"/>
            <a:ext cx="3941063" cy="365760"/>
          </a:xfrm>
          <a:prstGeom prst="rect">
            <a:avLst/>
          </a:prstGeom>
          <a:noFill/>
        </p:spPr>
        <p:txBody>
          <a:bodyPr wrap="square" lIns="0" rIns="0" tIns="0" bIns="0" anchor="ctr">
            <a:spAutoFit/>
          </a:bodyPr>
          <a:lstStyle/>
          <a:p>
            <a:pPr algn="l">
              <a:spcAft>
                <a:spcPts val="0"/>
              </a:spcAft>
            </a:pPr>
            <a:r>
              <a:rPr sz="1170" b="1" i="0">
                <a:solidFill>
                  <a:srgbClr val="263746"/>
                </a:solidFill>
                <a:latin typeface="Arial"/>
              </a:rPr>
              <a:t>DNA repair; RHOA cytoskeletal cycle; lymphoid-stromal interactions</a:t>
            </a:r>
          </a:p>
        </p:txBody>
      </p:sp>
      <p:sp>
        <p:nvSpPr>
          <p:cNvPr id="13" name="Rectangle 12"/>
          <p:cNvSpPr/>
          <p:nvPr/>
        </p:nvSpPr>
        <p:spPr>
          <a:xfrm>
            <a:off x="6419088" y="1993392"/>
            <a:ext cx="10972" cy="603504"/>
          </a:xfrm>
          <a:prstGeom prst="rect">
            <a:avLst/>
          </a:prstGeom>
          <a:solidFill>
            <a:srgbClr val="D3DB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0" y="2020824"/>
            <a:ext cx="4736592" cy="530352"/>
          </a:xfrm>
          <a:prstGeom prst="rect">
            <a:avLst/>
          </a:prstGeom>
          <a:noFill/>
        </p:spPr>
        <p:txBody>
          <a:bodyPr wrap="square" lIns="0" rIns="0" tIns="0" bIns="0" anchor="ctr">
            <a:spAutoFit/>
          </a:bodyPr>
          <a:lstStyle/>
          <a:p>
            <a:pPr algn="l">
              <a:spcAft>
                <a:spcPts val="0"/>
              </a:spcAft>
            </a:pPr>
            <a:r>
              <a:rPr sz="1220" b="0" i="0">
                <a:solidFill>
                  <a:srgbClr val="082B55"/>
                </a:solidFill>
                <a:latin typeface="Arial"/>
              </a:rPr>
              <a:t>Known involution may also involve lower repair, motility, and niche coordination.</a:t>
            </a:r>
          </a:p>
        </p:txBody>
      </p:sp>
      <p:sp>
        <p:nvSpPr>
          <p:cNvPr id="15" name="Rectangle 14"/>
          <p:cNvSpPr/>
          <p:nvPr/>
        </p:nvSpPr>
        <p:spPr>
          <a:xfrm>
            <a:off x="438912" y="2916936"/>
            <a:ext cx="11320272" cy="896112"/>
          </a:xfrm>
          <a:prstGeom prst="rect">
            <a:avLst/>
          </a:prstGeom>
          <a:solidFill>
            <a:srgbClr val="F8F1E2"/>
          </a:solidFill>
          <a:ln w="10160">
            <a:solidFill>
              <a:srgbClr val="F8F1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8912" y="2916936"/>
            <a:ext cx="68580" cy="896112"/>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4944" y="3081528"/>
            <a:ext cx="1298448" cy="292608"/>
          </a:xfrm>
          <a:prstGeom prst="rect">
            <a:avLst/>
          </a:prstGeom>
          <a:noFill/>
        </p:spPr>
        <p:txBody>
          <a:bodyPr wrap="square" lIns="0" rIns="0" tIns="0" bIns="0" anchor="t">
            <a:spAutoFit/>
          </a:bodyPr>
          <a:lstStyle/>
          <a:p>
            <a:pPr algn="l">
              <a:spcAft>
                <a:spcPts val="0"/>
              </a:spcAft>
            </a:pPr>
            <a:r>
              <a:rPr sz="1700" b="1" i="0">
                <a:solidFill>
                  <a:srgbClr val="D37B00"/>
                </a:solidFill>
                <a:latin typeface="Arial"/>
              </a:rPr>
              <a:t>Skin</a:t>
            </a:r>
          </a:p>
        </p:txBody>
      </p:sp>
      <p:sp>
        <p:nvSpPr>
          <p:cNvPr id="18" name="TextBox 17"/>
          <p:cNvSpPr txBox="1"/>
          <p:nvPr/>
        </p:nvSpPr>
        <p:spPr>
          <a:xfrm>
            <a:off x="694944" y="3429000"/>
            <a:ext cx="1444752" cy="201168"/>
          </a:xfrm>
          <a:prstGeom prst="rect">
            <a:avLst/>
          </a:prstGeom>
          <a:noFill/>
        </p:spPr>
        <p:txBody>
          <a:bodyPr wrap="square" lIns="0" rIns="0" tIns="0" bIns="0" anchor="t">
            <a:spAutoFit/>
          </a:bodyPr>
          <a:lstStyle/>
          <a:p>
            <a:pPr algn="l">
              <a:spcAft>
                <a:spcPts val="0"/>
              </a:spcAft>
            </a:pPr>
            <a:r>
              <a:rPr sz="950" b="0" i="0">
                <a:solidFill>
                  <a:srgbClr val="59697A"/>
                </a:solidFill>
                <a:latin typeface="Arial"/>
              </a:rPr>
              <a:t>151 samples | 4 projects</a:t>
            </a:r>
          </a:p>
        </p:txBody>
      </p:sp>
      <p:sp>
        <p:nvSpPr>
          <p:cNvPr id="19" name="TextBox 18"/>
          <p:cNvSpPr txBox="1"/>
          <p:nvPr/>
        </p:nvSpPr>
        <p:spPr>
          <a:xfrm>
            <a:off x="2322576" y="3063240"/>
            <a:ext cx="1225296" cy="201168"/>
          </a:xfrm>
          <a:prstGeom prst="rect">
            <a:avLst/>
          </a:prstGeom>
          <a:noFill/>
        </p:spPr>
        <p:txBody>
          <a:bodyPr wrap="square" lIns="0" rIns="0" tIns="0" bIns="0" anchor="t">
            <a:spAutoFit/>
          </a:bodyPr>
          <a:lstStyle/>
          <a:p>
            <a:pPr algn="l">
              <a:spcAft>
                <a:spcPts val="0"/>
              </a:spcAft>
            </a:pPr>
            <a:r>
              <a:rPr sz="900" b="1" i="0">
                <a:solidFill>
                  <a:srgbClr val="2D6496"/>
                </a:solidFill>
                <a:latin typeface="Arial"/>
              </a:rPr>
              <a:t>LOWER IN FLIGHT</a:t>
            </a:r>
          </a:p>
        </p:txBody>
      </p:sp>
      <p:sp>
        <p:nvSpPr>
          <p:cNvPr id="20" name="TextBox 19"/>
          <p:cNvSpPr txBox="1"/>
          <p:nvPr/>
        </p:nvSpPr>
        <p:spPr>
          <a:xfrm>
            <a:off x="2322576" y="3310128"/>
            <a:ext cx="3941063" cy="365760"/>
          </a:xfrm>
          <a:prstGeom prst="rect">
            <a:avLst/>
          </a:prstGeom>
          <a:noFill/>
        </p:spPr>
        <p:txBody>
          <a:bodyPr wrap="square" lIns="0" rIns="0" tIns="0" bIns="0" anchor="ctr">
            <a:spAutoFit/>
          </a:bodyPr>
          <a:lstStyle/>
          <a:p>
            <a:pPr algn="l">
              <a:spcAft>
                <a:spcPts val="0"/>
              </a:spcAft>
            </a:pPr>
            <a:r>
              <a:rPr sz="1170" b="1" i="0">
                <a:solidFill>
                  <a:srgbClr val="263746"/>
                </a:solidFill>
                <a:latin typeface="Arial"/>
              </a:rPr>
              <a:t>Chromatin regulation; DNA repair; Hedgehog; sphingolipids; cell junctions</a:t>
            </a:r>
          </a:p>
        </p:txBody>
      </p:sp>
      <p:sp>
        <p:nvSpPr>
          <p:cNvPr id="21" name="Rectangle 20"/>
          <p:cNvSpPr/>
          <p:nvPr/>
        </p:nvSpPr>
        <p:spPr>
          <a:xfrm>
            <a:off x="6419088" y="3063240"/>
            <a:ext cx="10972" cy="603504"/>
          </a:xfrm>
          <a:prstGeom prst="rect">
            <a:avLst/>
          </a:prstGeom>
          <a:solidFill>
            <a:srgbClr val="D3DB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0" y="3090672"/>
            <a:ext cx="4736592" cy="530352"/>
          </a:xfrm>
          <a:prstGeom prst="rect">
            <a:avLst/>
          </a:prstGeom>
          <a:noFill/>
        </p:spPr>
        <p:txBody>
          <a:bodyPr wrap="square" lIns="0" rIns="0" tIns="0" bIns="0" anchor="ctr">
            <a:spAutoFit/>
          </a:bodyPr>
          <a:lstStyle/>
          <a:p>
            <a:pPr algn="l">
              <a:spcAft>
                <a:spcPts val="0"/>
              </a:spcAft>
            </a:pPr>
            <a:r>
              <a:rPr sz="1220" b="0" i="0">
                <a:solidFill>
                  <a:srgbClr val="082B55"/>
                </a:solidFill>
                <a:latin typeface="Arial"/>
              </a:rPr>
              <a:t>Barrier injury may include a broader loss of tissue maintenance and coordination.</a:t>
            </a:r>
          </a:p>
        </p:txBody>
      </p:sp>
      <p:sp>
        <p:nvSpPr>
          <p:cNvPr id="23" name="Rectangle 22"/>
          <p:cNvSpPr/>
          <p:nvPr/>
        </p:nvSpPr>
        <p:spPr>
          <a:xfrm>
            <a:off x="438912" y="3986783"/>
            <a:ext cx="11320272" cy="896112"/>
          </a:xfrm>
          <a:prstGeom prst="rect">
            <a:avLst/>
          </a:prstGeom>
          <a:solidFill>
            <a:srgbClr val="E8F3F1"/>
          </a:solidFill>
          <a:ln w="10160">
            <a:solidFill>
              <a:srgbClr val="E8F3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8912" y="3986783"/>
            <a:ext cx="68580" cy="89611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4944" y="4151375"/>
            <a:ext cx="1298448" cy="292608"/>
          </a:xfrm>
          <a:prstGeom prst="rect">
            <a:avLst/>
          </a:prstGeom>
          <a:noFill/>
        </p:spPr>
        <p:txBody>
          <a:bodyPr wrap="square" lIns="0" rIns="0" tIns="0" bIns="0" anchor="t">
            <a:spAutoFit/>
          </a:bodyPr>
          <a:lstStyle/>
          <a:p>
            <a:pPr algn="l">
              <a:spcAft>
                <a:spcPts val="0"/>
              </a:spcAft>
            </a:pPr>
            <a:r>
              <a:rPr sz="1700" b="1" i="0">
                <a:solidFill>
                  <a:srgbClr val="178681"/>
                </a:solidFill>
                <a:latin typeface="Arial"/>
              </a:rPr>
              <a:t>Liver</a:t>
            </a:r>
          </a:p>
        </p:txBody>
      </p:sp>
      <p:sp>
        <p:nvSpPr>
          <p:cNvPr id="26" name="TextBox 25"/>
          <p:cNvSpPr txBox="1"/>
          <p:nvPr/>
        </p:nvSpPr>
        <p:spPr>
          <a:xfrm>
            <a:off x="694944" y="4498848"/>
            <a:ext cx="1444752" cy="201168"/>
          </a:xfrm>
          <a:prstGeom prst="rect">
            <a:avLst/>
          </a:prstGeom>
          <a:noFill/>
        </p:spPr>
        <p:txBody>
          <a:bodyPr wrap="square" lIns="0" rIns="0" tIns="0" bIns="0" anchor="t">
            <a:spAutoFit/>
          </a:bodyPr>
          <a:lstStyle/>
          <a:p>
            <a:pPr algn="l">
              <a:spcAft>
                <a:spcPts val="0"/>
              </a:spcAft>
            </a:pPr>
            <a:r>
              <a:rPr sz="950" b="0" i="0">
                <a:solidFill>
                  <a:srgbClr val="59697A"/>
                </a:solidFill>
                <a:latin typeface="Arial"/>
              </a:rPr>
              <a:t>197 samples | 9 projects</a:t>
            </a:r>
          </a:p>
        </p:txBody>
      </p:sp>
      <p:sp>
        <p:nvSpPr>
          <p:cNvPr id="27" name="TextBox 26"/>
          <p:cNvSpPr txBox="1"/>
          <p:nvPr/>
        </p:nvSpPr>
        <p:spPr>
          <a:xfrm>
            <a:off x="2322576" y="4133087"/>
            <a:ext cx="1225296" cy="201168"/>
          </a:xfrm>
          <a:prstGeom prst="rect">
            <a:avLst/>
          </a:prstGeom>
          <a:noFill/>
        </p:spPr>
        <p:txBody>
          <a:bodyPr wrap="square" lIns="0" rIns="0" tIns="0" bIns="0" anchor="t">
            <a:spAutoFit/>
          </a:bodyPr>
          <a:lstStyle/>
          <a:p>
            <a:pPr algn="l">
              <a:spcAft>
                <a:spcPts val="0"/>
              </a:spcAft>
            </a:pPr>
            <a:r>
              <a:rPr sz="900" b="1" i="0">
                <a:solidFill>
                  <a:srgbClr val="2D6496"/>
                </a:solidFill>
                <a:latin typeface="Arial"/>
              </a:rPr>
              <a:t>LOWER IN FLIGHT</a:t>
            </a:r>
          </a:p>
        </p:txBody>
      </p:sp>
      <p:sp>
        <p:nvSpPr>
          <p:cNvPr id="28" name="TextBox 27"/>
          <p:cNvSpPr txBox="1"/>
          <p:nvPr/>
        </p:nvSpPr>
        <p:spPr>
          <a:xfrm>
            <a:off x="2322576" y="4379975"/>
            <a:ext cx="3941063" cy="365760"/>
          </a:xfrm>
          <a:prstGeom prst="rect">
            <a:avLst/>
          </a:prstGeom>
          <a:noFill/>
        </p:spPr>
        <p:txBody>
          <a:bodyPr wrap="square" lIns="0" rIns="0" tIns="0" bIns="0" anchor="ctr">
            <a:spAutoFit/>
          </a:bodyPr>
          <a:lstStyle/>
          <a:p>
            <a:pPr algn="l">
              <a:spcAft>
                <a:spcPts val="0"/>
              </a:spcAft>
            </a:pPr>
            <a:r>
              <a:rPr sz="1170" b="1" i="0">
                <a:solidFill>
                  <a:srgbClr val="263746"/>
                </a:solidFill>
                <a:latin typeface="Arial"/>
              </a:rPr>
              <a:t>MHC class II antigen presentation; T-cell receptor signaling</a:t>
            </a:r>
          </a:p>
        </p:txBody>
      </p:sp>
      <p:sp>
        <p:nvSpPr>
          <p:cNvPr id="29" name="Rectangle 28"/>
          <p:cNvSpPr/>
          <p:nvPr/>
        </p:nvSpPr>
        <p:spPr>
          <a:xfrm>
            <a:off x="6419088" y="4133087"/>
            <a:ext cx="10972" cy="603504"/>
          </a:xfrm>
          <a:prstGeom prst="rect">
            <a:avLst/>
          </a:prstGeom>
          <a:solidFill>
            <a:srgbClr val="D3DB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75120" y="4160520"/>
            <a:ext cx="4736592" cy="530352"/>
          </a:xfrm>
          <a:prstGeom prst="rect">
            <a:avLst/>
          </a:prstGeom>
          <a:noFill/>
        </p:spPr>
        <p:txBody>
          <a:bodyPr wrap="square" lIns="0" rIns="0" tIns="0" bIns="0" anchor="ctr">
            <a:spAutoFit/>
          </a:bodyPr>
          <a:lstStyle/>
          <a:p>
            <a:pPr algn="l">
              <a:spcAft>
                <a:spcPts val="0"/>
              </a:spcAft>
            </a:pPr>
            <a:r>
              <a:rPr sz="1220" b="0" i="0">
                <a:solidFill>
                  <a:srgbClr val="082B55"/>
                </a:solidFill>
                <a:latin typeface="Arial"/>
              </a:rPr>
              <a:t>Metabolic heterogeneity coexisted with lower adaptive immune communication.</a:t>
            </a:r>
          </a:p>
        </p:txBody>
      </p:sp>
      <p:sp>
        <p:nvSpPr>
          <p:cNvPr id="31" name="Rectangle 30"/>
          <p:cNvSpPr/>
          <p:nvPr/>
        </p:nvSpPr>
        <p:spPr>
          <a:xfrm>
            <a:off x="438912" y="5056631"/>
            <a:ext cx="11320272" cy="896112"/>
          </a:xfrm>
          <a:prstGeom prst="rect">
            <a:avLst/>
          </a:prstGeom>
          <a:solidFill>
            <a:srgbClr val="F8ECE9"/>
          </a:solidFill>
          <a:ln w="10160">
            <a:solidFill>
              <a:srgbClr val="F8E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38912" y="5056631"/>
            <a:ext cx="68580" cy="896112"/>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94944" y="5221223"/>
            <a:ext cx="1298448" cy="292608"/>
          </a:xfrm>
          <a:prstGeom prst="rect">
            <a:avLst/>
          </a:prstGeom>
          <a:noFill/>
        </p:spPr>
        <p:txBody>
          <a:bodyPr wrap="square" lIns="0" rIns="0" tIns="0" bIns="0" anchor="t">
            <a:spAutoFit/>
          </a:bodyPr>
          <a:lstStyle/>
          <a:p>
            <a:pPr algn="l">
              <a:spcAft>
                <a:spcPts val="0"/>
              </a:spcAft>
            </a:pPr>
            <a:r>
              <a:rPr sz="1700" b="1" i="0">
                <a:solidFill>
                  <a:srgbClr val="D96552"/>
                </a:solidFill>
                <a:latin typeface="Arial"/>
              </a:rPr>
              <a:t>Spleen</a:t>
            </a:r>
          </a:p>
        </p:txBody>
      </p:sp>
      <p:sp>
        <p:nvSpPr>
          <p:cNvPr id="34" name="TextBox 33"/>
          <p:cNvSpPr txBox="1"/>
          <p:nvPr/>
        </p:nvSpPr>
        <p:spPr>
          <a:xfrm>
            <a:off x="694944" y="5568696"/>
            <a:ext cx="1444752" cy="201168"/>
          </a:xfrm>
          <a:prstGeom prst="rect">
            <a:avLst/>
          </a:prstGeom>
          <a:noFill/>
        </p:spPr>
        <p:txBody>
          <a:bodyPr wrap="square" lIns="0" rIns="0" tIns="0" bIns="0" anchor="t">
            <a:spAutoFit/>
          </a:bodyPr>
          <a:lstStyle/>
          <a:p>
            <a:pPr algn="l">
              <a:spcAft>
                <a:spcPts val="0"/>
              </a:spcAft>
            </a:pPr>
            <a:r>
              <a:rPr sz="950" b="0" i="0">
                <a:solidFill>
                  <a:srgbClr val="59697A"/>
                </a:solidFill>
                <a:latin typeface="Arial"/>
              </a:rPr>
              <a:t>100 samples | 5 projects</a:t>
            </a:r>
          </a:p>
        </p:txBody>
      </p:sp>
      <p:sp>
        <p:nvSpPr>
          <p:cNvPr id="35" name="TextBox 34"/>
          <p:cNvSpPr txBox="1"/>
          <p:nvPr/>
        </p:nvSpPr>
        <p:spPr>
          <a:xfrm>
            <a:off x="2322576" y="5202936"/>
            <a:ext cx="1225296" cy="201168"/>
          </a:xfrm>
          <a:prstGeom prst="rect">
            <a:avLst/>
          </a:prstGeom>
          <a:noFill/>
        </p:spPr>
        <p:txBody>
          <a:bodyPr wrap="square" lIns="0" rIns="0" tIns="0" bIns="0" anchor="t">
            <a:spAutoFit/>
          </a:bodyPr>
          <a:lstStyle/>
          <a:p>
            <a:pPr algn="l">
              <a:spcAft>
                <a:spcPts val="0"/>
              </a:spcAft>
            </a:pPr>
            <a:r>
              <a:rPr sz="900" b="1" i="0">
                <a:solidFill>
                  <a:srgbClr val="2D6496"/>
                </a:solidFill>
                <a:latin typeface="Arial"/>
              </a:rPr>
              <a:t>LOWER IN FLIGHT</a:t>
            </a:r>
          </a:p>
        </p:txBody>
      </p:sp>
      <p:sp>
        <p:nvSpPr>
          <p:cNvPr id="36" name="TextBox 35"/>
          <p:cNvSpPr txBox="1"/>
          <p:nvPr/>
        </p:nvSpPr>
        <p:spPr>
          <a:xfrm>
            <a:off x="2322576" y="5449823"/>
            <a:ext cx="3941063" cy="365760"/>
          </a:xfrm>
          <a:prstGeom prst="rect">
            <a:avLst/>
          </a:prstGeom>
          <a:noFill/>
        </p:spPr>
        <p:txBody>
          <a:bodyPr wrap="square" lIns="0" rIns="0" tIns="0" bIns="0" anchor="ctr">
            <a:spAutoFit/>
          </a:bodyPr>
          <a:lstStyle/>
          <a:p>
            <a:pPr algn="l">
              <a:spcAft>
                <a:spcPts val="0"/>
              </a:spcAft>
            </a:pPr>
            <a:r>
              <a:rPr sz="1170" b="1" i="0">
                <a:solidFill>
                  <a:srgbClr val="263746"/>
                </a:solidFill>
                <a:latin typeface="Arial"/>
              </a:rPr>
              <a:t>T-cell receptor signaling; neutrophil degranulation; C-type lectin signaling</a:t>
            </a:r>
          </a:p>
        </p:txBody>
      </p:sp>
      <p:sp>
        <p:nvSpPr>
          <p:cNvPr id="37" name="Rectangle 36"/>
          <p:cNvSpPr/>
          <p:nvPr/>
        </p:nvSpPr>
        <p:spPr>
          <a:xfrm>
            <a:off x="6419088" y="5202936"/>
            <a:ext cx="10972" cy="603504"/>
          </a:xfrm>
          <a:prstGeom prst="rect">
            <a:avLst/>
          </a:prstGeom>
          <a:solidFill>
            <a:srgbClr val="D3DBD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675120" y="5230368"/>
            <a:ext cx="4736592" cy="530352"/>
          </a:xfrm>
          <a:prstGeom prst="rect">
            <a:avLst/>
          </a:prstGeom>
          <a:noFill/>
        </p:spPr>
        <p:txBody>
          <a:bodyPr wrap="square" lIns="0" rIns="0" tIns="0" bIns="0" anchor="ctr">
            <a:spAutoFit/>
          </a:bodyPr>
          <a:lstStyle/>
          <a:p>
            <a:pPr algn="l">
              <a:spcAft>
                <a:spcPts val="0"/>
              </a:spcAft>
            </a:pPr>
            <a:r>
              <a:rPr sz="1220" b="0" i="0">
                <a:solidFill>
                  <a:srgbClr val="082B55"/>
                </a:solidFill>
                <a:latin typeface="Arial"/>
              </a:rPr>
              <a:t>The most consistent multi-pathway result joined adaptive and innate immune changes.</a:t>
            </a:r>
          </a:p>
        </p:txBody>
      </p:sp>
      <p:sp>
        <p:nvSpPr>
          <p:cNvPr id="39" name="TextBox 38"/>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Source: expiMap manuscript Figures 3 and 6. Lower latent scores do not by themselves prove biochemical inhibition.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BACKGROUND</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What is synthetic transcriptomics?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 generator learns patterns in measured RNA-seq data, then samples new expression vectors under chosen conditions.</a:t>
            </a:r>
          </a:p>
        </p:txBody>
      </p:sp>
      <p:sp>
        <p:nvSpPr>
          <p:cNvPr id="7" name="TextBox 6"/>
          <p:cNvSpPr txBox="1"/>
          <p:nvPr/>
        </p:nvSpPr>
        <p:spPr>
          <a:xfrm>
            <a:off x="457200" y="1920240"/>
            <a:ext cx="384048" cy="228600"/>
          </a:xfrm>
          <a:prstGeom prst="rect">
            <a:avLst/>
          </a:prstGeom>
          <a:noFill/>
        </p:spPr>
        <p:txBody>
          <a:bodyPr wrap="square" lIns="0" rIns="0" tIns="0" bIns="0" anchor="t">
            <a:spAutoFit/>
          </a:bodyPr>
          <a:lstStyle/>
          <a:p>
            <a:pPr algn="l">
              <a:spcAft>
                <a:spcPts val="0"/>
              </a:spcAft>
            </a:pPr>
            <a:r>
              <a:rPr sz="1100" b="1" i="0">
                <a:solidFill>
                  <a:srgbClr val="2D6496"/>
                </a:solidFill>
                <a:latin typeface="Arial"/>
              </a:rPr>
              <a:t>01</a:t>
            </a:r>
          </a:p>
        </p:txBody>
      </p:sp>
      <p:sp>
        <p:nvSpPr>
          <p:cNvPr id="8" name="TextBox 7"/>
          <p:cNvSpPr txBox="1"/>
          <p:nvPr/>
        </p:nvSpPr>
        <p:spPr>
          <a:xfrm>
            <a:off x="914400" y="1865376"/>
            <a:ext cx="2816352" cy="347472"/>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Observed profiles</a:t>
            </a:r>
          </a:p>
        </p:txBody>
      </p:sp>
      <p:sp>
        <p:nvSpPr>
          <p:cNvPr id="9" name="Rectangle 8"/>
          <p:cNvSpPr/>
          <p:nvPr/>
        </p:nvSpPr>
        <p:spPr>
          <a:xfrm>
            <a:off x="457200" y="2359152"/>
            <a:ext cx="3273552" cy="3401568"/>
          </a:xfrm>
          <a:prstGeom prst="rect">
            <a:avLst/>
          </a:prstGeom>
          <a:solidFill>
            <a:srgbClr val="E9F1F7"/>
          </a:solidFill>
          <a:ln w="10160">
            <a:solidFill>
              <a:srgbClr val="E9F1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6384" y="2770632"/>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52144" y="2770632"/>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517904" y="2770632"/>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1883664" y="2770632"/>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249424" y="2770632"/>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15184" y="2770632"/>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86384" y="3054096"/>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152144" y="3054096"/>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1517904" y="3054096"/>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883664" y="3054096"/>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249424" y="3054096"/>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615184" y="3054096"/>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86384" y="3337560"/>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152144" y="3337560"/>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517904" y="3337560"/>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883664" y="3337560"/>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249424" y="3337560"/>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615184" y="3337560"/>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86384" y="3621024"/>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152144" y="3621024"/>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517904" y="3621024"/>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883664" y="3621024"/>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2249424" y="3621024"/>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2615184" y="3621024"/>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86384" y="3904487"/>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152144" y="3904487"/>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517904" y="3904487"/>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883664" y="3904487"/>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2249424" y="3904487"/>
            <a:ext cx="265176" cy="1828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2615184" y="3904487"/>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86384" y="4315968"/>
            <a:ext cx="2093976" cy="182880"/>
          </a:xfrm>
          <a:prstGeom prst="rect">
            <a:avLst/>
          </a:prstGeom>
          <a:noFill/>
        </p:spPr>
        <p:txBody>
          <a:bodyPr wrap="square" lIns="0" rIns="0" tIns="0" bIns="0" anchor="t">
            <a:spAutoFit/>
          </a:bodyPr>
          <a:lstStyle/>
          <a:p>
            <a:pPr algn="ctr">
              <a:spcAft>
                <a:spcPts val="0"/>
              </a:spcAft>
            </a:pPr>
            <a:r>
              <a:rPr sz="950" b="0" i="0">
                <a:solidFill>
                  <a:srgbClr val="59697A"/>
                </a:solidFill>
                <a:latin typeface="Arial"/>
              </a:rPr>
              <a:t>genes</a:t>
            </a:r>
          </a:p>
        </p:txBody>
      </p:sp>
      <p:sp>
        <p:nvSpPr>
          <p:cNvPr id="41" name="TextBox 40"/>
          <p:cNvSpPr txBox="1"/>
          <p:nvPr/>
        </p:nvSpPr>
        <p:spPr>
          <a:xfrm>
            <a:off x="2962656" y="3310128"/>
            <a:ext cx="493776" cy="201168"/>
          </a:xfrm>
          <a:prstGeom prst="rect">
            <a:avLst/>
          </a:prstGeom>
          <a:noFill/>
        </p:spPr>
        <p:txBody>
          <a:bodyPr wrap="square" lIns="0" rIns="0" tIns="0" bIns="0" anchor="t">
            <a:spAutoFit/>
          </a:bodyPr>
          <a:lstStyle/>
          <a:p>
            <a:pPr algn="ctr">
              <a:spcAft>
                <a:spcPts val="0"/>
              </a:spcAft>
            </a:pPr>
            <a:r>
              <a:rPr sz="950" b="0" i="0">
                <a:solidFill>
                  <a:srgbClr val="59697A"/>
                </a:solidFill>
                <a:latin typeface="Arial"/>
              </a:rPr>
              <a:t>profiles</a:t>
            </a:r>
          </a:p>
        </p:txBody>
      </p:sp>
      <p:sp>
        <p:nvSpPr>
          <p:cNvPr id="42" name="Rectangle 41"/>
          <p:cNvSpPr/>
          <p:nvPr/>
        </p:nvSpPr>
        <p:spPr>
          <a:xfrm>
            <a:off x="713232" y="4645152"/>
            <a:ext cx="2761488" cy="16459"/>
          </a:xfrm>
          <a:prstGeom prst="rect">
            <a:avLst/>
          </a:prstGeom>
          <a:solidFill>
            <a:srgbClr val="D3DC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31520" y="4846320"/>
            <a:ext cx="2724912" cy="658368"/>
          </a:xfrm>
          <a:prstGeom prst="rect">
            <a:avLst/>
          </a:prstGeom>
          <a:noFill/>
        </p:spPr>
        <p:txBody>
          <a:bodyPr wrap="square" lIns="0" rIns="0" tIns="0" bIns="0" anchor="ctr">
            <a:spAutoFit/>
          </a:bodyPr>
          <a:lstStyle/>
          <a:p>
            <a:pPr algn="l">
              <a:spcAft>
                <a:spcPts val="0"/>
              </a:spcAft>
            </a:pPr>
            <a:r>
              <a:rPr sz="1420" b="0" i="0">
                <a:solidFill>
                  <a:srgbClr val="263746"/>
                </a:solidFill>
                <a:latin typeface="Arial"/>
              </a:rPr>
              <a:t>Measured gene expression from real mouse tissue</a:t>
            </a:r>
          </a:p>
        </p:txBody>
      </p:sp>
      <p:sp>
        <p:nvSpPr>
          <p:cNvPr id="44" name="Right Arrow 43"/>
          <p:cNvSpPr/>
          <p:nvPr/>
        </p:nvSpPr>
        <p:spPr>
          <a:xfrm>
            <a:off x="3794760" y="3657600"/>
            <a:ext cx="310896"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224528" y="1920240"/>
            <a:ext cx="384048" cy="228600"/>
          </a:xfrm>
          <a:prstGeom prst="rect">
            <a:avLst/>
          </a:prstGeom>
          <a:noFill/>
        </p:spPr>
        <p:txBody>
          <a:bodyPr wrap="square" lIns="0" rIns="0" tIns="0" bIns="0" anchor="t">
            <a:spAutoFit/>
          </a:bodyPr>
          <a:lstStyle/>
          <a:p>
            <a:pPr algn="l">
              <a:spcAft>
                <a:spcPts val="0"/>
              </a:spcAft>
            </a:pPr>
            <a:r>
              <a:rPr sz="1100" b="1" i="0">
                <a:solidFill>
                  <a:srgbClr val="D37B00"/>
                </a:solidFill>
                <a:latin typeface="Arial"/>
              </a:rPr>
              <a:t>02</a:t>
            </a:r>
          </a:p>
        </p:txBody>
      </p:sp>
      <p:sp>
        <p:nvSpPr>
          <p:cNvPr id="46" name="TextBox 45"/>
          <p:cNvSpPr txBox="1"/>
          <p:nvPr/>
        </p:nvSpPr>
        <p:spPr>
          <a:xfrm>
            <a:off x="4681728" y="1865376"/>
            <a:ext cx="2816352" cy="347472"/>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Learn the distribution</a:t>
            </a:r>
          </a:p>
        </p:txBody>
      </p:sp>
      <p:sp>
        <p:nvSpPr>
          <p:cNvPr id="47" name="Rectangle 46"/>
          <p:cNvSpPr/>
          <p:nvPr/>
        </p:nvSpPr>
        <p:spPr>
          <a:xfrm>
            <a:off x="4224528" y="2359152"/>
            <a:ext cx="3273552" cy="3401568"/>
          </a:xfrm>
          <a:prstGeom prst="rect">
            <a:avLst/>
          </a:prstGeom>
          <a:solidFill>
            <a:srgbClr val="F8F1E2"/>
          </a:solidFill>
          <a:ln w="10160">
            <a:solidFill>
              <a:srgbClr val="F8F1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8" name="Connector 47"/>
          <p:cNvCxnSpPr/>
          <p:nvPr/>
        </p:nvCxnSpPr>
        <p:spPr>
          <a:xfrm flipV="1">
            <a:off x="4626864" y="2999232"/>
            <a:ext cx="612648" cy="475488"/>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4626864" y="3474720"/>
            <a:ext cx="612648" cy="512064"/>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5239512" y="2999232"/>
            <a:ext cx="667512" cy="493776"/>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239512" y="3493008"/>
            <a:ext cx="667512" cy="493776"/>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5907024" y="2999232"/>
            <a:ext cx="658368" cy="493776"/>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5907024" y="3493008"/>
            <a:ext cx="658368" cy="493776"/>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6565392" y="2999232"/>
            <a:ext cx="548640" cy="493776"/>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V="1">
            <a:off x="6565392" y="3493008"/>
            <a:ext cx="548640" cy="493776"/>
          </a:xfrm>
          <a:prstGeom prst="line">
            <a:avLst/>
          </a:prstGeom>
          <a:ln w="19050">
            <a:solidFill>
              <a:srgbClr val="C6B07A"/>
            </a:solidFill>
          </a:ln>
        </p:spPr>
        <p:style>
          <a:lnRef idx="2">
            <a:schemeClr val="accent1"/>
          </a:lnRef>
          <a:fillRef idx="0">
            <a:schemeClr val="accent1"/>
          </a:fillRef>
          <a:effectRef idx="1">
            <a:schemeClr val="accent1"/>
          </a:effectRef>
          <a:fontRef idx="minor">
            <a:schemeClr val="tx1"/>
          </a:fontRef>
        </p:style>
      </p:cxnSp>
      <p:sp>
        <p:nvSpPr>
          <p:cNvPr id="56" name="Oval 55"/>
          <p:cNvSpPr/>
          <p:nvPr/>
        </p:nvSpPr>
        <p:spPr>
          <a:xfrm>
            <a:off x="4553712" y="3401568"/>
            <a:ext cx="182880" cy="18288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5166360" y="2926080"/>
            <a:ext cx="182880" cy="18288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5166360" y="3913632"/>
            <a:ext cx="182880" cy="18288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5833872" y="3419856"/>
            <a:ext cx="182880" cy="18288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6492240" y="2926080"/>
            <a:ext cx="182880" cy="18288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6492240" y="3913632"/>
            <a:ext cx="182880" cy="18288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7040880" y="3419856"/>
            <a:ext cx="182880" cy="18288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4480560" y="4645152"/>
            <a:ext cx="2761488" cy="16459"/>
          </a:xfrm>
          <a:prstGeom prst="rect">
            <a:avLst/>
          </a:prstGeom>
          <a:solidFill>
            <a:srgbClr val="D3DC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4498848" y="4846320"/>
            <a:ext cx="2724912" cy="658368"/>
          </a:xfrm>
          <a:prstGeom prst="rect">
            <a:avLst/>
          </a:prstGeom>
          <a:noFill/>
        </p:spPr>
        <p:txBody>
          <a:bodyPr wrap="square" lIns="0" rIns="0" tIns="0" bIns="0" anchor="ctr">
            <a:spAutoFit/>
          </a:bodyPr>
          <a:lstStyle/>
          <a:p>
            <a:pPr algn="l">
              <a:spcAft>
                <a:spcPts val="0"/>
              </a:spcAft>
            </a:pPr>
            <a:r>
              <a:rPr sz="1420" b="0" i="0">
                <a:solidFill>
                  <a:srgbClr val="263746"/>
                </a:solidFill>
                <a:latin typeface="Arial"/>
              </a:rPr>
              <a:t>Capture gene relationships and variation by tissue and FLT/GC condition</a:t>
            </a:r>
          </a:p>
        </p:txBody>
      </p:sp>
      <p:sp>
        <p:nvSpPr>
          <p:cNvPr id="65" name="Right Arrow 64"/>
          <p:cNvSpPr/>
          <p:nvPr/>
        </p:nvSpPr>
        <p:spPr>
          <a:xfrm>
            <a:off x="7562088" y="3657600"/>
            <a:ext cx="310896"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991856" y="1920240"/>
            <a:ext cx="384048" cy="228600"/>
          </a:xfrm>
          <a:prstGeom prst="rect">
            <a:avLst/>
          </a:prstGeom>
          <a:noFill/>
        </p:spPr>
        <p:txBody>
          <a:bodyPr wrap="square" lIns="0" rIns="0" tIns="0" bIns="0" anchor="t">
            <a:spAutoFit/>
          </a:bodyPr>
          <a:lstStyle/>
          <a:p>
            <a:pPr algn="l">
              <a:spcAft>
                <a:spcPts val="0"/>
              </a:spcAft>
            </a:pPr>
            <a:r>
              <a:rPr sz="1100" b="1" i="0">
                <a:solidFill>
                  <a:srgbClr val="178681"/>
                </a:solidFill>
                <a:latin typeface="Arial"/>
              </a:rPr>
              <a:t>03</a:t>
            </a:r>
          </a:p>
        </p:txBody>
      </p:sp>
      <p:sp>
        <p:nvSpPr>
          <p:cNvPr id="67" name="TextBox 66"/>
          <p:cNvSpPr txBox="1"/>
          <p:nvPr/>
        </p:nvSpPr>
        <p:spPr>
          <a:xfrm>
            <a:off x="8449056" y="1865376"/>
            <a:ext cx="2816352" cy="347472"/>
          </a:xfrm>
          <a:prstGeom prst="rect">
            <a:avLst/>
          </a:prstGeom>
          <a:noFill/>
        </p:spPr>
        <p:txBody>
          <a:bodyPr wrap="square" lIns="0" rIns="0" tIns="0" bIns="0" anchor="t">
            <a:spAutoFit/>
          </a:bodyPr>
          <a:lstStyle/>
          <a:p>
            <a:pPr algn="l">
              <a:spcAft>
                <a:spcPts val="0"/>
              </a:spcAft>
            </a:pPr>
            <a:r>
              <a:rPr sz="1720" b="1" i="0">
                <a:solidFill>
                  <a:srgbClr val="082B55"/>
                </a:solidFill>
                <a:latin typeface="Arial"/>
              </a:rPr>
              <a:t>Synthetic profiles</a:t>
            </a:r>
          </a:p>
        </p:txBody>
      </p:sp>
      <p:sp>
        <p:nvSpPr>
          <p:cNvPr id="68" name="Rectangle 67"/>
          <p:cNvSpPr/>
          <p:nvPr/>
        </p:nvSpPr>
        <p:spPr>
          <a:xfrm>
            <a:off x="7991856" y="2359152"/>
            <a:ext cx="3273552" cy="3401568"/>
          </a:xfrm>
          <a:prstGeom prst="rect">
            <a:avLst/>
          </a:prstGeom>
          <a:solidFill>
            <a:srgbClr val="E8F3F1"/>
          </a:solidFill>
          <a:ln w="10160">
            <a:solidFill>
              <a:srgbClr val="E8F3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8321040" y="2770632"/>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8686800" y="2770632"/>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9052560" y="2770632"/>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9418320" y="2770632"/>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9784080" y="2770632"/>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10149840" y="2770632"/>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8321040" y="3054096"/>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8686800" y="3054096"/>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9052560" y="3054096"/>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9418320" y="3054096"/>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9784080" y="3054096"/>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10149840" y="3054096"/>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8321040" y="3337560"/>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Rectangle 81"/>
          <p:cNvSpPr/>
          <p:nvPr/>
        </p:nvSpPr>
        <p:spPr>
          <a:xfrm>
            <a:off x="8686800" y="3337560"/>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Rectangle 82"/>
          <p:cNvSpPr/>
          <p:nvPr/>
        </p:nvSpPr>
        <p:spPr>
          <a:xfrm>
            <a:off x="9052560" y="3337560"/>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9418320" y="3337560"/>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9784080" y="3337560"/>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10149840" y="3337560"/>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8321040" y="3621024"/>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8686800" y="3621024"/>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Rectangle 88"/>
          <p:cNvSpPr/>
          <p:nvPr/>
        </p:nvSpPr>
        <p:spPr>
          <a:xfrm>
            <a:off x="9052560" y="3621024"/>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9418320" y="3621024"/>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Rectangle 90"/>
          <p:cNvSpPr/>
          <p:nvPr/>
        </p:nvSpPr>
        <p:spPr>
          <a:xfrm>
            <a:off x="9784080" y="3621024"/>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Rectangle 91"/>
          <p:cNvSpPr/>
          <p:nvPr/>
        </p:nvSpPr>
        <p:spPr>
          <a:xfrm>
            <a:off x="10149840" y="3621024"/>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Rectangle 92"/>
          <p:cNvSpPr/>
          <p:nvPr/>
        </p:nvSpPr>
        <p:spPr>
          <a:xfrm>
            <a:off x="8321040" y="3904487"/>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8686800" y="3904487"/>
            <a:ext cx="265176" cy="182880"/>
          </a:xfrm>
          <a:prstGeom prst="rect">
            <a:avLst/>
          </a:prstGeom>
          <a:solidFill>
            <a:srgbClr val="AFC3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Rectangle 94"/>
          <p:cNvSpPr/>
          <p:nvPr/>
        </p:nvSpPr>
        <p:spPr>
          <a:xfrm>
            <a:off x="9052560" y="3904487"/>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Rectangle 95"/>
          <p:cNvSpPr/>
          <p:nvPr/>
        </p:nvSpPr>
        <p:spPr>
          <a:xfrm>
            <a:off x="9418320" y="3904487"/>
            <a:ext cx="265176" cy="182880"/>
          </a:xfrm>
          <a:prstGeom prst="rect">
            <a:avLst/>
          </a:prstGeom>
          <a:solidFill>
            <a:srgbClr val="D8E2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Rectangle 96"/>
          <p:cNvSpPr/>
          <p:nvPr/>
        </p:nvSpPr>
        <p:spPr>
          <a:xfrm>
            <a:off x="9784080" y="3904487"/>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Rectangle 97"/>
          <p:cNvSpPr/>
          <p:nvPr/>
        </p:nvSpPr>
        <p:spPr>
          <a:xfrm>
            <a:off x="10149840" y="3904487"/>
            <a:ext cx="265176" cy="18288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8321040" y="4315968"/>
            <a:ext cx="2093976" cy="182880"/>
          </a:xfrm>
          <a:prstGeom prst="rect">
            <a:avLst/>
          </a:prstGeom>
          <a:noFill/>
        </p:spPr>
        <p:txBody>
          <a:bodyPr wrap="square" lIns="0" rIns="0" tIns="0" bIns="0" anchor="t">
            <a:spAutoFit/>
          </a:bodyPr>
          <a:lstStyle/>
          <a:p>
            <a:pPr algn="ctr">
              <a:spcAft>
                <a:spcPts val="0"/>
              </a:spcAft>
            </a:pPr>
            <a:r>
              <a:rPr sz="950" b="0" i="0">
                <a:solidFill>
                  <a:srgbClr val="59697A"/>
                </a:solidFill>
                <a:latin typeface="Arial"/>
              </a:rPr>
              <a:t>genes</a:t>
            </a:r>
          </a:p>
        </p:txBody>
      </p:sp>
      <p:sp>
        <p:nvSpPr>
          <p:cNvPr id="100" name="TextBox 99"/>
          <p:cNvSpPr txBox="1"/>
          <p:nvPr/>
        </p:nvSpPr>
        <p:spPr>
          <a:xfrm>
            <a:off x="10497312" y="3310128"/>
            <a:ext cx="493776" cy="201168"/>
          </a:xfrm>
          <a:prstGeom prst="rect">
            <a:avLst/>
          </a:prstGeom>
          <a:noFill/>
        </p:spPr>
        <p:txBody>
          <a:bodyPr wrap="square" lIns="0" rIns="0" tIns="0" bIns="0" anchor="t">
            <a:spAutoFit/>
          </a:bodyPr>
          <a:lstStyle/>
          <a:p>
            <a:pPr algn="ctr">
              <a:spcAft>
                <a:spcPts val="0"/>
              </a:spcAft>
            </a:pPr>
            <a:r>
              <a:rPr sz="950" b="0" i="0">
                <a:solidFill>
                  <a:srgbClr val="59697A"/>
                </a:solidFill>
                <a:latin typeface="Arial"/>
              </a:rPr>
              <a:t>profiles</a:t>
            </a:r>
          </a:p>
        </p:txBody>
      </p:sp>
      <p:sp>
        <p:nvSpPr>
          <p:cNvPr id="101" name="Rectangle 100"/>
          <p:cNvSpPr/>
          <p:nvPr/>
        </p:nvSpPr>
        <p:spPr>
          <a:xfrm>
            <a:off x="8247888" y="4645152"/>
            <a:ext cx="2761488" cy="16459"/>
          </a:xfrm>
          <a:prstGeom prst="rect">
            <a:avLst/>
          </a:prstGeom>
          <a:solidFill>
            <a:srgbClr val="D3DC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8266176" y="4846320"/>
            <a:ext cx="2724912" cy="658368"/>
          </a:xfrm>
          <a:prstGeom prst="rect">
            <a:avLst/>
          </a:prstGeom>
          <a:noFill/>
        </p:spPr>
        <p:txBody>
          <a:bodyPr wrap="square" lIns="0" rIns="0" tIns="0" bIns="0" anchor="ctr">
            <a:spAutoFit/>
          </a:bodyPr>
          <a:lstStyle/>
          <a:p>
            <a:pPr algn="l">
              <a:spcAft>
                <a:spcPts val="0"/>
              </a:spcAft>
            </a:pPr>
            <a:r>
              <a:rPr sz="1420" b="0" i="0">
                <a:solidFill>
                  <a:srgbClr val="263746"/>
                </a:solidFill>
                <a:latin typeface="Arial"/>
              </a:rPr>
              <a:t>Sample new numeric expression vectors for a selected context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QUESTION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Small studies and study effects complicate tissue comparisons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Can a generator help rank spaceflight signal without pretending it creates new animals?</a:t>
            </a:r>
          </a:p>
        </p:txBody>
      </p:sp>
      <p:sp>
        <p:nvSpPr>
          <p:cNvPr id="7" name="TextBox 6"/>
          <p:cNvSpPr txBox="1"/>
          <p:nvPr/>
        </p:nvSpPr>
        <p:spPr>
          <a:xfrm>
            <a:off x="566928" y="1865376"/>
            <a:ext cx="2011680" cy="274320"/>
          </a:xfrm>
          <a:prstGeom prst="rect">
            <a:avLst/>
          </a:prstGeom>
          <a:noFill/>
        </p:spPr>
        <p:txBody>
          <a:bodyPr wrap="square" lIns="18288" rIns="18288" tIns="18288" bIns="18288" anchor="t">
            <a:spAutoFit/>
          </a:bodyPr>
          <a:lstStyle/>
          <a:p>
            <a:pPr algn="l">
              <a:spcAft>
                <a:spcPts val="0"/>
              </a:spcAft>
            </a:pPr>
            <a:r>
              <a:rPr sz="1700" b="1" i="0">
                <a:solidFill>
                  <a:srgbClr val="2D6496"/>
                </a:solidFill>
                <a:latin typeface="Arial"/>
              </a:rPr>
              <a:t>NASA OSDR</a:t>
            </a:r>
          </a:p>
        </p:txBody>
      </p:sp>
      <p:sp>
        <p:nvSpPr>
          <p:cNvPr id="8" name="TextBox 7"/>
          <p:cNvSpPr txBox="1"/>
          <p:nvPr/>
        </p:nvSpPr>
        <p:spPr>
          <a:xfrm>
            <a:off x="566928" y="2167128"/>
            <a:ext cx="2560320" cy="219456"/>
          </a:xfrm>
          <a:prstGeom prst="rect">
            <a:avLst/>
          </a:prstGeom>
          <a:noFill/>
        </p:spPr>
        <p:txBody>
          <a:bodyPr wrap="square" lIns="18288" rIns="18288" tIns="18288" bIns="18288" anchor="t">
            <a:spAutoFit/>
          </a:bodyPr>
          <a:lstStyle/>
          <a:p>
            <a:pPr algn="l">
              <a:spcAft>
                <a:spcPts val="0"/>
              </a:spcAft>
            </a:pPr>
            <a:r>
              <a:rPr sz="1150" b="0" i="0">
                <a:solidFill>
                  <a:srgbClr val="59697A"/>
                </a:solidFill>
                <a:latin typeface="Arial"/>
              </a:rPr>
              <a:t>Observed spaceflight cohort</a:t>
            </a:r>
          </a:p>
        </p:txBody>
      </p:sp>
      <p:sp>
        <p:nvSpPr>
          <p:cNvPr id="9" name="TextBox 8"/>
          <p:cNvSpPr txBox="1"/>
          <p:nvPr/>
        </p:nvSpPr>
        <p:spPr>
          <a:xfrm>
            <a:off x="530352" y="2414016"/>
            <a:ext cx="2057400" cy="630936"/>
          </a:xfrm>
          <a:prstGeom prst="rect">
            <a:avLst/>
          </a:prstGeom>
          <a:noFill/>
        </p:spPr>
        <p:txBody>
          <a:bodyPr wrap="square" lIns="18288" rIns="18288" tIns="18288" bIns="18288" anchor="t">
            <a:spAutoFit/>
          </a:bodyPr>
          <a:lstStyle/>
          <a:p>
            <a:pPr algn="l">
              <a:spcAft>
                <a:spcPts val="0"/>
              </a:spcAft>
            </a:pPr>
            <a:r>
              <a:rPr sz="4200" b="1" i="0">
                <a:solidFill>
                  <a:srgbClr val="082B55"/>
                </a:solidFill>
                <a:latin typeface="Arial"/>
              </a:rPr>
              <a:t>1,610</a:t>
            </a:r>
          </a:p>
        </p:txBody>
      </p:sp>
      <p:sp>
        <p:nvSpPr>
          <p:cNvPr id="10" name="TextBox 9"/>
          <p:cNvSpPr txBox="1"/>
          <p:nvPr/>
        </p:nvSpPr>
        <p:spPr>
          <a:xfrm>
            <a:off x="585216" y="3008376"/>
            <a:ext cx="105156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profiles</a:t>
            </a:r>
          </a:p>
        </p:txBody>
      </p:sp>
      <p:sp>
        <p:nvSpPr>
          <p:cNvPr id="11" name="TextBox 10"/>
          <p:cNvSpPr txBox="1"/>
          <p:nvPr/>
        </p:nvSpPr>
        <p:spPr>
          <a:xfrm>
            <a:off x="2752344" y="2487168"/>
            <a:ext cx="1097280" cy="493776"/>
          </a:xfrm>
          <a:prstGeom prst="rect">
            <a:avLst/>
          </a:prstGeom>
          <a:noFill/>
        </p:spPr>
        <p:txBody>
          <a:bodyPr wrap="square" lIns="18288" rIns="18288" tIns="18288" bIns="18288" anchor="t">
            <a:spAutoFit/>
          </a:bodyPr>
          <a:lstStyle/>
          <a:p>
            <a:pPr algn="l">
              <a:spcAft>
                <a:spcPts val="0"/>
              </a:spcAft>
            </a:pPr>
            <a:r>
              <a:rPr sz="3100" b="1" i="0">
                <a:solidFill>
                  <a:srgbClr val="082B55"/>
                </a:solidFill>
                <a:latin typeface="Arial"/>
              </a:rPr>
              <a:t>75</a:t>
            </a:r>
          </a:p>
        </p:txBody>
      </p:sp>
      <p:sp>
        <p:nvSpPr>
          <p:cNvPr id="12" name="TextBox 11"/>
          <p:cNvSpPr txBox="1"/>
          <p:nvPr/>
        </p:nvSpPr>
        <p:spPr>
          <a:xfrm>
            <a:off x="2779776" y="2980944"/>
            <a:ext cx="128016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accessions</a:t>
            </a:r>
          </a:p>
        </p:txBody>
      </p:sp>
      <p:sp>
        <p:nvSpPr>
          <p:cNvPr id="13" name="TextBox 12"/>
          <p:cNvSpPr txBox="1"/>
          <p:nvPr/>
        </p:nvSpPr>
        <p:spPr>
          <a:xfrm>
            <a:off x="585216" y="3337560"/>
            <a:ext cx="1005840" cy="237744"/>
          </a:xfrm>
          <a:prstGeom prst="rect">
            <a:avLst/>
          </a:prstGeom>
          <a:noFill/>
        </p:spPr>
        <p:txBody>
          <a:bodyPr wrap="square" lIns="18288" rIns="18288" tIns="18288" bIns="18288" anchor="t">
            <a:spAutoFit/>
          </a:bodyPr>
          <a:lstStyle/>
          <a:p>
            <a:pPr algn="l">
              <a:spcAft>
                <a:spcPts val="0"/>
              </a:spcAft>
            </a:pPr>
            <a:r>
              <a:rPr sz="1350" b="1" i="0">
                <a:solidFill>
                  <a:srgbClr val="D96552"/>
                </a:solidFill>
                <a:latin typeface="Arial"/>
              </a:rPr>
              <a:t>835 FLT</a:t>
            </a:r>
          </a:p>
        </p:txBody>
      </p:sp>
      <p:sp>
        <p:nvSpPr>
          <p:cNvPr id="14" name="TextBox 13"/>
          <p:cNvSpPr txBox="1"/>
          <p:nvPr/>
        </p:nvSpPr>
        <p:spPr>
          <a:xfrm>
            <a:off x="4370831" y="3337560"/>
            <a:ext cx="1005840" cy="237744"/>
          </a:xfrm>
          <a:prstGeom prst="rect">
            <a:avLst/>
          </a:prstGeom>
          <a:noFill/>
        </p:spPr>
        <p:txBody>
          <a:bodyPr wrap="square" lIns="18288" rIns="18288" tIns="18288" bIns="18288" anchor="t">
            <a:spAutoFit/>
          </a:bodyPr>
          <a:lstStyle/>
          <a:p>
            <a:pPr algn="r">
              <a:spcAft>
                <a:spcPts val="0"/>
              </a:spcAft>
            </a:pPr>
            <a:r>
              <a:rPr sz="1350" b="1" i="0">
                <a:solidFill>
                  <a:srgbClr val="2D6496"/>
                </a:solidFill>
                <a:latin typeface="Arial"/>
              </a:rPr>
              <a:t>775 GC</a:t>
            </a:r>
          </a:p>
        </p:txBody>
      </p:sp>
      <p:sp>
        <p:nvSpPr>
          <p:cNvPr id="15" name="Rectangle 14"/>
          <p:cNvSpPr/>
          <p:nvPr/>
        </p:nvSpPr>
        <p:spPr>
          <a:xfrm>
            <a:off x="585216" y="3685032"/>
            <a:ext cx="2485009" cy="109728"/>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070225" y="3685032"/>
            <a:ext cx="2306446"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34456" y="1847088"/>
            <a:ext cx="16459" cy="2020824"/>
          </a:xfrm>
          <a:prstGeom prst="rect">
            <a:avLst/>
          </a:prstGeom>
          <a:solidFill>
            <a:srgbClr val="CBD4D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91072" y="1865376"/>
            <a:ext cx="2194560" cy="274320"/>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ARCHS4 mouse</a:t>
            </a:r>
          </a:p>
        </p:txBody>
      </p:sp>
      <p:sp>
        <p:nvSpPr>
          <p:cNvPr id="19" name="TextBox 18"/>
          <p:cNvSpPr txBox="1"/>
          <p:nvPr/>
        </p:nvSpPr>
        <p:spPr>
          <a:xfrm>
            <a:off x="6291072" y="2167128"/>
            <a:ext cx="2560320" cy="219456"/>
          </a:xfrm>
          <a:prstGeom prst="rect">
            <a:avLst/>
          </a:prstGeom>
          <a:noFill/>
        </p:spPr>
        <p:txBody>
          <a:bodyPr wrap="square" lIns="18288" rIns="18288" tIns="18288" bIns="18288" anchor="t">
            <a:spAutoFit/>
          </a:bodyPr>
          <a:lstStyle/>
          <a:p>
            <a:pPr algn="l">
              <a:spcAft>
                <a:spcPts val="0"/>
              </a:spcAft>
            </a:pPr>
            <a:r>
              <a:rPr sz="1150" b="0" i="0">
                <a:solidFill>
                  <a:srgbClr val="59697A"/>
                </a:solidFill>
                <a:latin typeface="Arial"/>
              </a:rPr>
              <a:t>Reference pretraining cohort</a:t>
            </a:r>
          </a:p>
        </p:txBody>
      </p:sp>
      <p:sp>
        <p:nvSpPr>
          <p:cNvPr id="20" name="TextBox 19"/>
          <p:cNvSpPr txBox="1"/>
          <p:nvPr/>
        </p:nvSpPr>
        <p:spPr>
          <a:xfrm>
            <a:off x="6254496" y="2414016"/>
            <a:ext cx="2331720" cy="630936"/>
          </a:xfrm>
          <a:prstGeom prst="rect">
            <a:avLst/>
          </a:prstGeom>
          <a:noFill/>
        </p:spPr>
        <p:txBody>
          <a:bodyPr wrap="square" lIns="18288" rIns="18288" tIns="18288" bIns="18288" anchor="t">
            <a:spAutoFit/>
          </a:bodyPr>
          <a:lstStyle/>
          <a:p>
            <a:pPr algn="l">
              <a:spcAft>
                <a:spcPts val="0"/>
              </a:spcAft>
            </a:pPr>
            <a:r>
              <a:rPr sz="3900" b="1" i="0">
                <a:solidFill>
                  <a:srgbClr val="082B55"/>
                </a:solidFill>
                <a:latin typeface="Arial"/>
              </a:rPr>
              <a:t>997,515</a:t>
            </a:r>
          </a:p>
        </p:txBody>
      </p:sp>
      <p:sp>
        <p:nvSpPr>
          <p:cNvPr id="21" name="TextBox 20"/>
          <p:cNvSpPr txBox="1"/>
          <p:nvPr/>
        </p:nvSpPr>
        <p:spPr>
          <a:xfrm>
            <a:off x="6309360" y="3008376"/>
            <a:ext cx="160020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profiles screened</a:t>
            </a:r>
          </a:p>
        </p:txBody>
      </p:sp>
      <p:sp>
        <p:nvSpPr>
          <p:cNvPr id="22" name="Right Arrow 21"/>
          <p:cNvSpPr/>
          <p:nvPr/>
        </p:nvSpPr>
        <p:spPr>
          <a:xfrm>
            <a:off x="8467344" y="2633472"/>
            <a:ext cx="384048" cy="27432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15984" y="2432304"/>
            <a:ext cx="1554480" cy="493776"/>
          </a:xfrm>
          <a:prstGeom prst="rect">
            <a:avLst/>
          </a:prstGeom>
          <a:noFill/>
        </p:spPr>
        <p:txBody>
          <a:bodyPr wrap="square" lIns="18288" rIns="18288" tIns="18288" bIns="18288" anchor="t">
            <a:spAutoFit/>
          </a:bodyPr>
          <a:lstStyle/>
          <a:p>
            <a:pPr algn="l">
              <a:spcAft>
                <a:spcPts val="0"/>
              </a:spcAft>
            </a:pPr>
            <a:r>
              <a:rPr sz="2900" b="1" i="0">
                <a:solidFill>
                  <a:srgbClr val="082B55"/>
                </a:solidFill>
                <a:latin typeface="Arial"/>
              </a:rPr>
              <a:t>17,244</a:t>
            </a:r>
          </a:p>
        </p:txBody>
      </p:sp>
      <p:sp>
        <p:nvSpPr>
          <p:cNvPr id="24" name="TextBox 23"/>
          <p:cNvSpPr txBox="1"/>
          <p:nvPr/>
        </p:nvSpPr>
        <p:spPr>
          <a:xfrm>
            <a:off x="9043416" y="2962656"/>
            <a:ext cx="1005840"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selected</a:t>
            </a:r>
          </a:p>
        </p:txBody>
      </p:sp>
      <p:sp>
        <p:nvSpPr>
          <p:cNvPr id="25" name="TextBox 24"/>
          <p:cNvSpPr txBox="1"/>
          <p:nvPr/>
        </p:nvSpPr>
        <p:spPr>
          <a:xfrm>
            <a:off x="10442448" y="2496312"/>
            <a:ext cx="1143000" cy="329184"/>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20 tissues</a:t>
            </a:r>
          </a:p>
        </p:txBody>
      </p:sp>
      <p:sp>
        <p:nvSpPr>
          <p:cNvPr id="26" name="Rectangle 25"/>
          <p:cNvSpPr/>
          <p:nvPr/>
        </p:nvSpPr>
        <p:spPr>
          <a:xfrm>
            <a:off x="566928" y="4178808"/>
            <a:ext cx="11045952" cy="16459"/>
          </a:xfrm>
          <a:prstGeom prst="rect">
            <a:avLst/>
          </a:prstGeom>
          <a:solidFill>
            <a:srgbClr val="D6DE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6928" y="4407408"/>
            <a:ext cx="10789920" cy="384048"/>
          </a:xfrm>
          <a:prstGeom prst="rect">
            <a:avLst/>
          </a:prstGeom>
          <a:noFill/>
        </p:spPr>
        <p:txBody>
          <a:bodyPr wrap="square" lIns="18288" rIns="18288" tIns="18288" bIns="18288" anchor="t">
            <a:spAutoFit/>
          </a:bodyPr>
          <a:lstStyle/>
          <a:p>
            <a:pPr algn="l">
              <a:spcAft>
                <a:spcPts val="0"/>
              </a:spcAft>
            </a:pPr>
            <a:r>
              <a:rPr sz="2200" b="1" i="0">
                <a:solidFill>
                  <a:srgbClr val="082B55"/>
                </a:solidFill>
                <a:latin typeface="Arial"/>
              </a:rPr>
              <a:t>Study effects can look like spaceflight biology.</a:t>
            </a:r>
          </a:p>
        </p:txBody>
      </p:sp>
      <p:sp>
        <p:nvSpPr>
          <p:cNvPr id="28" name="TextBox 27"/>
          <p:cNvSpPr txBox="1"/>
          <p:nvPr/>
        </p:nvSpPr>
        <p:spPr>
          <a:xfrm>
            <a:off x="585216" y="4956048"/>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01</a:t>
            </a:r>
          </a:p>
        </p:txBody>
      </p:sp>
      <p:sp>
        <p:nvSpPr>
          <p:cNvPr id="29" name="TextBox 28"/>
          <p:cNvSpPr txBox="1"/>
          <p:nvPr/>
        </p:nvSpPr>
        <p:spPr>
          <a:xfrm>
            <a:off x="1069848" y="4928616"/>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Preserve tissue and FLT/GC structure.</a:t>
            </a:r>
          </a:p>
        </p:txBody>
      </p:sp>
      <p:sp>
        <p:nvSpPr>
          <p:cNvPr id="30" name="TextBox 29"/>
          <p:cNvSpPr txBox="1"/>
          <p:nvPr/>
        </p:nvSpPr>
        <p:spPr>
          <a:xfrm>
            <a:off x="585216" y="5340096"/>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02</a:t>
            </a:r>
          </a:p>
        </p:txBody>
      </p:sp>
      <p:sp>
        <p:nvSpPr>
          <p:cNvPr id="31" name="TextBox 30"/>
          <p:cNvSpPr txBox="1"/>
          <p:nvPr/>
        </p:nvSpPr>
        <p:spPr>
          <a:xfrm>
            <a:off x="1069848" y="5312664"/>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Avoid memorizing individual profiles.</a:t>
            </a:r>
          </a:p>
        </p:txBody>
      </p:sp>
      <p:sp>
        <p:nvSpPr>
          <p:cNvPr id="32" name="TextBox 31"/>
          <p:cNvSpPr txBox="1"/>
          <p:nvPr/>
        </p:nvSpPr>
        <p:spPr>
          <a:xfrm>
            <a:off x="585216" y="5724144"/>
            <a:ext cx="384048" cy="237744"/>
          </a:xfrm>
          <a:prstGeom prst="rect">
            <a:avLst/>
          </a:prstGeom>
          <a:noFill/>
        </p:spPr>
        <p:txBody>
          <a:bodyPr wrap="square" lIns="0" rIns="0" tIns="0" bIns="0" anchor="t">
            <a:spAutoFit/>
          </a:bodyPr>
          <a:lstStyle/>
          <a:p>
            <a:pPr algn="l">
              <a:spcAft>
                <a:spcPts val="0"/>
              </a:spcAft>
            </a:pPr>
            <a:r>
              <a:rPr sz="1050" b="1" i="0">
                <a:solidFill>
                  <a:srgbClr val="D37B00"/>
                </a:solidFill>
                <a:latin typeface="Arial"/>
              </a:rPr>
              <a:t>03</a:t>
            </a:r>
          </a:p>
        </p:txBody>
      </p:sp>
      <p:sp>
        <p:nvSpPr>
          <p:cNvPr id="33" name="TextBox 32"/>
          <p:cNvSpPr txBox="1"/>
          <p:nvPr/>
        </p:nvSpPr>
        <p:spPr>
          <a:xfrm>
            <a:off x="1069848" y="5696712"/>
            <a:ext cx="10012680" cy="283464"/>
          </a:xfrm>
          <a:prstGeom prst="rect">
            <a:avLst/>
          </a:prstGeom>
          <a:noFill/>
        </p:spPr>
        <p:txBody>
          <a:bodyPr wrap="square" lIns="0" rIns="0" tIns="0" bIns="0" anchor="t">
            <a:spAutoFit/>
          </a:bodyPr>
          <a:lstStyle/>
          <a:p>
            <a:pPr algn="l">
              <a:spcAft>
                <a:spcPts val="0"/>
              </a:spcAft>
            </a:pPr>
            <a:r>
              <a:rPr sz="1450" b="0" i="0">
                <a:solidFill>
                  <a:srgbClr val="263746"/>
                </a:solidFill>
                <a:latin typeface="Arial"/>
              </a:rPr>
              <a:t>Test biological effects in observed OSDR samples.</a:t>
            </a:r>
          </a:p>
        </p:txBody>
      </p:sp>
      <p:sp>
        <p:nvSpPr>
          <p:cNvPr id="34" name="TextBox 33"/>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Sources: NASA OSDR Biological Data API; ARCHS4 mouse v2.5.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pic>
        <p:nvPicPr>
          <p:cNvPr id="4" name="Midpoint slide 20 tile 1" descr="Original midpoint slide 20, quadrant 1"/>
          <p:cNvPicPr>
            <a:picLocks noChangeAspect="1"/>
          </p:cNvPicPr>
          <p:nvPr/>
        </p:nvPicPr>
        <p:blipFill>
          <a:blip r:embed="rId2"/>
          <a:stretch>
            <a:fillRect/>
          </a:stretch>
        </p:blipFill>
        <p:spPr>
          <a:xfrm>
            <a:off x="0" y="0"/>
            <a:ext cx="6095999" cy="3429000"/>
          </a:xfrm>
          <a:prstGeom prst="rect">
            <a:avLst/>
          </a:prstGeom>
        </p:spPr>
      </p:pic>
      <p:pic>
        <p:nvPicPr>
          <p:cNvPr id="5" name="Midpoint slide 20 tile 2" descr="Original midpoint slide 20, quadrant 2"/>
          <p:cNvPicPr>
            <a:picLocks noChangeAspect="1"/>
          </p:cNvPicPr>
          <p:nvPr/>
        </p:nvPicPr>
        <p:blipFill>
          <a:blip r:embed="rId3"/>
          <a:stretch>
            <a:fillRect/>
          </a:stretch>
        </p:blipFill>
        <p:spPr>
          <a:xfrm>
            <a:off x="6083299" y="0"/>
            <a:ext cx="6108699" cy="3429000"/>
          </a:xfrm>
          <a:prstGeom prst="rect">
            <a:avLst/>
          </a:prstGeom>
        </p:spPr>
      </p:pic>
      <p:pic>
        <p:nvPicPr>
          <p:cNvPr id="6" name="Midpoint slide 20 tile 3" descr="Original midpoint slide 20, quadrant 3"/>
          <p:cNvPicPr>
            <a:picLocks noChangeAspect="1"/>
          </p:cNvPicPr>
          <p:nvPr/>
        </p:nvPicPr>
        <p:blipFill>
          <a:blip r:embed="rId4"/>
          <a:stretch>
            <a:fillRect/>
          </a:stretch>
        </p:blipFill>
        <p:spPr>
          <a:xfrm>
            <a:off x="0" y="3416300"/>
            <a:ext cx="6095999" cy="3441700"/>
          </a:xfrm>
          <a:prstGeom prst="rect">
            <a:avLst/>
          </a:prstGeom>
        </p:spPr>
      </p:pic>
      <p:pic>
        <p:nvPicPr>
          <p:cNvPr id="7" name="Midpoint slide 20 tile 4" descr="Original midpoint slide 20, quadrant 4"/>
          <p:cNvPicPr>
            <a:picLocks noChangeAspect="1"/>
          </p:cNvPicPr>
          <p:nvPr/>
        </p:nvPicPr>
        <p:blipFill>
          <a:blip r:embed="rId5"/>
          <a:stretch>
            <a:fillRect/>
          </a:stretch>
        </p:blipFill>
        <p:spPr>
          <a:xfrm>
            <a:off x="6083299" y="3416300"/>
            <a:ext cx="6108699" cy="3441700"/>
          </a:xfrm>
          <a:prstGeom prst="rect">
            <a:avLst/>
          </a:prstGeom>
        </p:spPr>
      </p:pic>
      <p:pic>
        <p:nvPicPr>
          <p:cNvPr id="8" name="anim_diffimg.gif" descr="Animated image denoising example"/>
          <p:cNvPicPr>
            <a:picLocks noChangeAspect="1"/>
          </p:cNvPicPr>
          <p:nvPr/>
        </p:nvPicPr>
        <p:blipFill>
          <a:blip r:embed="rId6"/>
          <a:stretch>
            <a:fillRect/>
          </a:stretch>
        </p:blipFill>
        <p:spPr>
          <a:xfrm>
            <a:off x="2051049" y="3595370"/>
            <a:ext cx="2438399" cy="1371600"/>
          </a:xfrm>
          <a:prstGeom prst="rect">
            <a:avLst/>
          </a:prstGeom>
        </p:spPr>
      </p:pic>
      <p:pic>
        <p:nvPicPr>
          <p:cNvPr id="9" name="anim_diffdata.gif" descr="Animated FLT- and GC-conditioned expression diffusion example"/>
          <p:cNvPicPr>
            <a:picLocks noChangeAspect="1"/>
          </p:cNvPicPr>
          <p:nvPr/>
        </p:nvPicPr>
        <p:blipFill>
          <a:blip r:embed="rId7"/>
          <a:stretch>
            <a:fillRect/>
          </a:stretch>
        </p:blipFill>
        <p:spPr>
          <a:xfrm>
            <a:off x="6991985" y="2097405"/>
            <a:ext cx="3858895" cy="4366895"/>
          </a:xfrm>
          <a:prstGeom prst="rect">
            <a:avLst/>
          </a:prstGeom>
        </p:spPr>
      </p:pic>
      <p:sp>
        <p:nvSpPr>
          <p:cNvPr id="10" name="Rounded Rectangle 9"/>
          <p:cNvSpPr/>
          <p:nvPr/>
        </p:nvSpPr>
        <p:spPr>
          <a:xfrm>
            <a:off x="11466576" y="91440"/>
            <a:ext cx="475488" cy="274320"/>
          </a:xfrm>
          <a:prstGeom prst="roundRect">
            <a:avLst/>
          </a:prstGeom>
          <a:solidFill>
            <a:srgbClr val="0827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466576" y="123444"/>
            <a:ext cx="475488" cy="192024"/>
          </a:xfrm>
          <a:prstGeom prst="rect">
            <a:avLst/>
          </a:prstGeom>
          <a:noFill/>
        </p:spPr>
        <p:txBody>
          <a:bodyPr wrap="square" lIns="0" rIns="0" tIns="0" bIns="0" anchor="ctr">
            <a:spAutoFit/>
          </a:bodyPr>
          <a:lstStyle/>
          <a:p>
            <a:pPr algn="ctr">
              <a:spcAft>
                <a:spcPts val="0"/>
              </a:spcAft>
            </a:pPr>
            <a:r>
              <a:rPr sz="1150" b="1" i="0">
                <a:solidFill>
                  <a:srgbClr val="FFFFFF"/>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pic>
        <p:nvPicPr>
          <p:cNvPr id="4" name="Midpoint slide 21 tile 1" descr="Original midpoint slide 21, quadrant 1"/>
          <p:cNvPicPr>
            <a:picLocks noChangeAspect="1"/>
          </p:cNvPicPr>
          <p:nvPr/>
        </p:nvPicPr>
        <p:blipFill>
          <a:blip r:embed="rId2"/>
          <a:stretch>
            <a:fillRect/>
          </a:stretch>
        </p:blipFill>
        <p:spPr>
          <a:xfrm>
            <a:off x="0" y="0"/>
            <a:ext cx="6095999" cy="3429000"/>
          </a:xfrm>
          <a:prstGeom prst="rect">
            <a:avLst/>
          </a:prstGeom>
        </p:spPr>
      </p:pic>
      <p:pic>
        <p:nvPicPr>
          <p:cNvPr id="5" name="Midpoint slide 21 tile 2" descr="Original midpoint slide 21, quadrant 2"/>
          <p:cNvPicPr>
            <a:picLocks noChangeAspect="1"/>
          </p:cNvPicPr>
          <p:nvPr/>
        </p:nvPicPr>
        <p:blipFill>
          <a:blip r:embed="rId3"/>
          <a:stretch>
            <a:fillRect/>
          </a:stretch>
        </p:blipFill>
        <p:spPr>
          <a:xfrm>
            <a:off x="6083299" y="0"/>
            <a:ext cx="6108699" cy="3429000"/>
          </a:xfrm>
          <a:prstGeom prst="rect">
            <a:avLst/>
          </a:prstGeom>
        </p:spPr>
      </p:pic>
      <p:pic>
        <p:nvPicPr>
          <p:cNvPr id="6" name="Midpoint slide 21 tile 3" descr="Original midpoint slide 21, quadrant 3"/>
          <p:cNvPicPr>
            <a:picLocks noChangeAspect="1"/>
          </p:cNvPicPr>
          <p:nvPr/>
        </p:nvPicPr>
        <p:blipFill>
          <a:blip r:embed="rId4"/>
          <a:stretch>
            <a:fillRect/>
          </a:stretch>
        </p:blipFill>
        <p:spPr>
          <a:xfrm>
            <a:off x="0" y="3416300"/>
            <a:ext cx="6095999" cy="3441700"/>
          </a:xfrm>
          <a:prstGeom prst="rect">
            <a:avLst/>
          </a:prstGeom>
        </p:spPr>
      </p:pic>
      <p:pic>
        <p:nvPicPr>
          <p:cNvPr id="7" name="Midpoint slide 21 tile 4" descr="Original midpoint slide 21, quadrant 4"/>
          <p:cNvPicPr>
            <a:picLocks noChangeAspect="1"/>
          </p:cNvPicPr>
          <p:nvPr/>
        </p:nvPicPr>
        <p:blipFill>
          <a:blip r:embed="rId5"/>
          <a:stretch>
            <a:fillRect/>
          </a:stretch>
        </p:blipFill>
        <p:spPr>
          <a:xfrm>
            <a:off x="6083299" y="3416300"/>
            <a:ext cx="6108699" cy="3441700"/>
          </a:xfrm>
          <a:prstGeom prst="rect">
            <a:avLst/>
          </a:prstGeom>
        </p:spPr>
      </p:pic>
      <p:pic>
        <p:nvPicPr>
          <p:cNvPr id="8" name="anim_wgan.gif" descr="Animated WGAN comparison between real OSDR and generated expression profiles"/>
          <p:cNvPicPr>
            <a:picLocks noChangeAspect="1"/>
          </p:cNvPicPr>
          <p:nvPr/>
        </p:nvPicPr>
        <p:blipFill>
          <a:blip r:embed="rId6"/>
          <a:stretch>
            <a:fillRect/>
          </a:stretch>
        </p:blipFill>
        <p:spPr>
          <a:xfrm>
            <a:off x="6956425" y="2097405"/>
            <a:ext cx="3930015" cy="4366895"/>
          </a:xfrm>
          <a:prstGeom prst="rect">
            <a:avLst/>
          </a:prstGeom>
        </p:spPr>
      </p:pic>
      <p:sp>
        <p:nvSpPr>
          <p:cNvPr id="9" name="Rounded Rectangle 8"/>
          <p:cNvSpPr/>
          <p:nvPr/>
        </p:nvSpPr>
        <p:spPr>
          <a:xfrm>
            <a:off x="11466576" y="91440"/>
            <a:ext cx="475488" cy="274320"/>
          </a:xfrm>
          <a:prstGeom prst="roundRect">
            <a:avLst/>
          </a:prstGeom>
          <a:solidFill>
            <a:srgbClr val="0827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466576" y="123444"/>
            <a:ext cx="475488" cy="192024"/>
          </a:xfrm>
          <a:prstGeom prst="rect">
            <a:avLst/>
          </a:prstGeom>
          <a:noFill/>
        </p:spPr>
        <p:txBody>
          <a:bodyPr wrap="square" lIns="0" rIns="0" tIns="0" bIns="0" anchor="ctr">
            <a:spAutoFit/>
          </a:bodyPr>
          <a:lstStyle/>
          <a:p>
            <a:pPr algn="ctr">
              <a:spcAft>
                <a:spcPts val="0"/>
              </a:spcAft>
            </a:pPr>
            <a:r>
              <a:rPr sz="1150" b="1" i="0">
                <a:solidFill>
                  <a:srgbClr val="FFFFFF"/>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METHOD</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We built a configurable bulk RNA-seq generation pipeline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downstream analysis used the outlined options; the remaining choices stay configurable.</a:t>
            </a:r>
          </a:p>
        </p:txBody>
      </p:sp>
      <p:sp>
        <p:nvSpPr>
          <p:cNvPr id="7" name="Rectangle 6"/>
          <p:cNvSpPr/>
          <p:nvPr/>
        </p:nvSpPr>
        <p:spPr>
          <a:xfrm>
            <a:off x="255117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88289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21461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546336" y="1856231"/>
            <a:ext cx="10972" cy="2962656"/>
          </a:xfrm>
          <a:prstGeom prst="rect">
            <a:avLst/>
          </a:prstGeom>
          <a:solidFill>
            <a:srgbClr val="D9E0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01</a:t>
            </a:r>
          </a:p>
        </p:txBody>
      </p:sp>
      <p:sp>
        <p:nvSpPr>
          <p:cNvPr id="12" name="TextBox 11"/>
          <p:cNvSpPr txBox="1"/>
          <p:nvPr/>
        </p:nvSpPr>
        <p:spPr>
          <a:xfrm>
            <a:off x="83210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Data scope</a:t>
            </a:r>
          </a:p>
        </p:txBody>
      </p:sp>
      <p:sp>
        <p:nvSpPr>
          <p:cNvPr id="13" name="Rectangle 12"/>
          <p:cNvSpPr/>
          <p:nvPr/>
        </p:nvSpPr>
        <p:spPr>
          <a:xfrm>
            <a:off x="448056" y="2331720"/>
            <a:ext cx="1874519" cy="2011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634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Sources</a:t>
            </a:r>
          </a:p>
        </p:txBody>
      </p:sp>
      <p:sp>
        <p:nvSpPr>
          <p:cNvPr id="15" name="Rectangle 14"/>
          <p:cNvSpPr/>
          <p:nvPr/>
        </p:nvSpPr>
        <p:spPr>
          <a:xfrm>
            <a:off x="466344" y="2688336"/>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66344" y="2688336"/>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OSDR API</a:t>
            </a:r>
          </a:p>
        </p:txBody>
      </p:sp>
      <p:sp>
        <p:nvSpPr>
          <p:cNvPr id="18" name="Rectangle 17"/>
          <p:cNvSpPr/>
          <p:nvPr/>
        </p:nvSpPr>
        <p:spPr>
          <a:xfrm>
            <a:off x="1417319" y="2688336"/>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417319" y="2688336"/>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463039"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ARCHS4</a:t>
            </a:r>
          </a:p>
        </p:txBody>
      </p:sp>
      <p:sp>
        <p:nvSpPr>
          <p:cNvPr id="21" name="TextBox 20"/>
          <p:cNvSpPr txBox="1"/>
          <p:nvPr/>
        </p:nvSpPr>
        <p:spPr>
          <a:xfrm>
            <a:off x="46634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Studies</a:t>
            </a:r>
          </a:p>
        </p:txBody>
      </p:sp>
      <p:sp>
        <p:nvSpPr>
          <p:cNvPr id="22" name="TextBox 21"/>
          <p:cNvSpPr txBox="1"/>
          <p:nvPr/>
        </p:nvSpPr>
        <p:spPr>
          <a:xfrm>
            <a:off x="512064" y="3433572"/>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Single</a:t>
            </a:r>
          </a:p>
        </p:txBody>
      </p:sp>
      <p:sp>
        <p:nvSpPr>
          <p:cNvPr id="23" name="Rectangle 22"/>
          <p:cNvSpPr/>
          <p:nvPr/>
        </p:nvSpPr>
        <p:spPr>
          <a:xfrm>
            <a:off x="1417319" y="3383280"/>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417319" y="3383280"/>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463039" y="3433572"/>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Multiple</a:t>
            </a:r>
          </a:p>
        </p:txBody>
      </p:sp>
      <p:sp>
        <p:nvSpPr>
          <p:cNvPr id="26" name="TextBox 25"/>
          <p:cNvSpPr txBox="1"/>
          <p:nvPr/>
        </p:nvSpPr>
        <p:spPr>
          <a:xfrm>
            <a:off x="466344" y="3877056"/>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Tissues</a:t>
            </a:r>
          </a:p>
        </p:txBody>
      </p:sp>
      <p:sp>
        <p:nvSpPr>
          <p:cNvPr id="27" name="TextBox 26"/>
          <p:cNvSpPr txBox="1"/>
          <p:nvPr/>
        </p:nvSpPr>
        <p:spPr>
          <a:xfrm>
            <a:off x="512064" y="4128515"/>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Per tissue</a:t>
            </a:r>
          </a:p>
        </p:txBody>
      </p:sp>
      <p:sp>
        <p:nvSpPr>
          <p:cNvPr id="28" name="Rectangle 27"/>
          <p:cNvSpPr/>
          <p:nvPr/>
        </p:nvSpPr>
        <p:spPr>
          <a:xfrm>
            <a:off x="1417319" y="4078224"/>
            <a:ext cx="905255"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417319" y="4078224"/>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463039" y="4128515"/>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All tissues</a:t>
            </a:r>
          </a:p>
        </p:txBody>
      </p:sp>
      <p:sp>
        <p:nvSpPr>
          <p:cNvPr id="31" name="TextBox 30"/>
          <p:cNvSpPr txBox="1"/>
          <p:nvPr/>
        </p:nvSpPr>
        <p:spPr>
          <a:xfrm>
            <a:off x="277977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02</a:t>
            </a:r>
          </a:p>
        </p:txBody>
      </p:sp>
      <p:sp>
        <p:nvSpPr>
          <p:cNvPr id="32" name="TextBox 31"/>
          <p:cNvSpPr txBox="1"/>
          <p:nvPr/>
        </p:nvSpPr>
        <p:spPr>
          <a:xfrm>
            <a:off x="316382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Transform</a:t>
            </a:r>
          </a:p>
        </p:txBody>
      </p:sp>
      <p:sp>
        <p:nvSpPr>
          <p:cNvPr id="33" name="Rectangle 32"/>
          <p:cNvSpPr/>
          <p:nvPr/>
        </p:nvSpPr>
        <p:spPr>
          <a:xfrm>
            <a:off x="277977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79806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Expression</a:t>
            </a:r>
          </a:p>
        </p:txBody>
      </p:sp>
      <p:sp>
        <p:nvSpPr>
          <p:cNvPr id="35" name="TextBox 34"/>
          <p:cNvSpPr txBox="1"/>
          <p:nvPr/>
        </p:nvSpPr>
        <p:spPr>
          <a:xfrm>
            <a:off x="2843784" y="2738628"/>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Raw</a:t>
            </a:r>
          </a:p>
        </p:txBody>
      </p:sp>
      <p:sp>
        <p:nvSpPr>
          <p:cNvPr id="36" name="TextBox 35"/>
          <p:cNvSpPr txBox="1"/>
          <p:nvPr/>
        </p:nvSpPr>
        <p:spPr>
          <a:xfrm>
            <a:off x="3477768" y="2738628"/>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CPM</a:t>
            </a:r>
          </a:p>
        </p:txBody>
      </p:sp>
      <p:sp>
        <p:nvSpPr>
          <p:cNvPr id="37" name="Rectangle 36"/>
          <p:cNvSpPr/>
          <p:nvPr/>
        </p:nvSpPr>
        <p:spPr>
          <a:xfrm>
            <a:off x="4066031" y="2688336"/>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066031" y="268833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11751" y="2738628"/>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TPM</a:t>
            </a:r>
          </a:p>
        </p:txBody>
      </p:sp>
      <p:sp>
        <p:nvSpPr>
          <p:cNvPr id="40" name="TextBox 39"/>
          <p:cNvSpPr txBox="1"/>
          <p:nvPr/>
        </p:nvSpPr>
        <p:spPr>
          <a:xfrm>
            <a:off x="279806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Scaling</a:t>
            </a:r>
          </a:p>
        </p:txBody>
      </p:sp>
      <p:sp>
        <p:nvSpPr>
          <p:cNvPr id="41" name="TextBox 40"/>
          <p:cNvSpPr txBox="1"/>
          <p:nvPr/>
        </p:nvSpPr>
        <p:spPr>
          <a:xfrm>
            <a:off x="2843784" y="3433572"/>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None</a:t>
            </a:r>
          </a:p>
        </p:txBody>
      </p:sp>
      <p:sp>
        <p:nvSpPr>
          <p:cNvPr id="42" name="TextBox 41"/>
          <p:cNvSpPr txBox="1"/>
          <p:nvPr/>
        </p:nvSpPr>
        <p:spPr>
          <a:xfrm>
            <a:off x="3477768" y="3433572"/>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Z-score</a:t>
            </a:r>
          </a:p>
        </p:txBody>
      </p:sp>
      <p:sp>
        <p:nvSpPr>
          <p:cNvPr id="43" name="Rectangle 42"/>
          <p:cNvSpPr/>
          <p:nvPr/>
        </p:nvSpPr>
        <p:spPr>
          <a:xfrm>
            <a:off x="4066031" y="3383280"/>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066031" y="3383280"/>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111751" y="3433572"/>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MaxAbs</a:t>
            </a:r>
          </a:p>
        </p:txBody>
      </p:sp>
      <p:sp>
        <p:nvSpPr>
          <p:cNvPr id="46" name="TextBox 45"/>
          <p:cNvSpPr txBox="1"/>
          <p:nvPr/>
        </p:nvSpPr>
        <p:spPr>
          <a:xfrm>
            <a:off x="2798064" y="3877056"/>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Features</a:t>
            </a:r>
          </a:p>
        </p:txBody>
      </p:sp>
      <p:sp>
        <p:nvSpPr>
          <p:cNvPr id="47" name="TextBox 46"/>
          <p:cNvSpPr txBox="1"/>
          <p:nvPr/>
        </p:nvSpPr>
        <p:spPr>
          <a:xfrm>
            <a:off x="2843784" y="4128515"/>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All</a:t>
            </a:r>
          </a:p>
        </p:txBody>
      </p:sp>
      <p:sp>
        <p:nvSpPr>
          <p:cNvPr id="48" name="TextBox 47"/>
          <p:cNvSpPr txBox="1"/>
          <p:nvPr/>
        </p:nvSpPr>
        <p:spPr>
          <a:xfrm>
            <a:off x="3477768" y="4128515"/>
            <a:ext cx="496823" cy="210312"/>
          </a:xfrm>
          <a:prstGeom prst="rect">
            <a:avLst/>
          </a:prstGeom>
          <a:noFill/>
        </p:spPr>
        <p:txBody>
          <a:bodyPr wrap="square" lIns="0" rIns="0" tIns="0" bIns="0" anchor="ctr">
            <a:spAutoFit/>
          </a:bodyPr>
          <a:lstStyle/>
          <a:p>
            <a:pPr algn="ctr">
              <a:spcAft>
                <a:spcPts val="0"/>
              </a:spcAft>
            </a:pPr>
            <a:r>
              <a:rPr sz="819" b="0" i="0">
                <a:solidFill>
                  <a:srgbClr val="8A969E"/>
                </a:solidFill>
                <a:latin typeface="Arial"/>
              </a:rPr>
              <a:t>HVG</a:t>
            </a:r>
          </a:p>
        </p:txBody>
      </p:sp>
      <p:sp>
        <p:nvSpPr>
          <p:cNvPr id="49" name="Rectangle 48"/>
          <p:cNvSpPr/>
          <p:nvPr/>
        </p:nvSpPr>
        <p:spPr>
          <a:xfrm>
            <a:off x="4066031" y="4078224"/>
            <a:ext cx="588263"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066031" y="4078224"/>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111751" y="4128515"/>
            <a:ext cx="496823" cy="210312"/>
          </a:xfrm>
          <a:prstGeom prst="rect">
            <a:avLst/>
          </a:prstGeom>
          <a:noFill/>
        </p:spPr>
        <p:txBody>
          <a:bodyPr wrap="square" lIns="0" rIns="0" tIns="0" bIns="0" anchor="ctr">
            <a:spAutoFit/>
          </a:bodyPr>
          <a:lstStyle/>
          <a:p>
            <a:pPr algn="ctr">
              <a:spcAft>
                <a:spcPts val="0"/>
              </a:spcAft>
            </a:pPr>
            <a:r>
              <a:rPr sz="819" b="1" i="0">
                <a:solidFill>
                  <a:srgbClr val="082B55"/>
                </a:solidFill>
                <a:latin typeface="Arial"/>
              </a:rPr>
              <a:t>L1000</a:t>
            </a:r>
          </a:p>
        </p:txBody>
      </p:sp>
      <p:sp>
        <p:nvSpPr>
          <p:cNvPr id="52" name="TextBox 51"/>
          <p:cNvSpPr txBox="1"/>
          <p:nvPr/>
        </p:nvSpPr>
        <p:spPr>
          <a:xfrm>
            <a:off x="511149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03</a:t>
            </a:r>
          </a:p>
        </p:txBody>
      </p:sp>
      <p:sp>
        <p:nvSpPr>
          <p:cNvPr id="53" name="TextBox 52"/>
          <p:cNvSpPr txBox="1"/>
          <p:nvPr/>
        </p:nvSpPr>
        <p:spPr>
          <a:xfrm>
            <a:off x="549554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Harmonization</a:t>
            </a:r>
          </a:p>
        </p:txBody>
      </p:sp>
      <p:sp>
        <p:nvSpPr>
          <p:cNvPr id="54" name="Rectangle 53"/>
          <p:cNvSpPr/>
          <p:nvPr/>
        </p:nvSpPr>
        <p:spPr>
          <a:xfrm>
            <a:off x="511149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12978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Global or study correction</a:t>
            </a:r>
          </a:p>
        </p:txBody>
      </p:sp>
      <p:sp>
        <p:nvSpPr>
          <p:cNvPr id="56" name="Rectangle 55"/>
          <p:cNvSpPr/>
          <p:nvPr/>
        </p:nvSpPr>
        <p:spPr>
          <a:xfrm>
            <a:off x="5129784" y="2688336"/>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5129784" y="268833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175504" y="2738628"/>
            <a:ext cx="1764791" cy="210312"/>
          </a:xfrm>
          <a:prstGeom prst="rect">
            <a:avLst/>
          </a:prstGeom>
          <a:noFill/>
        </p:spPr>
        <p:txBody>
          <a:bodyPr wrap="square" lIns="0" rIns="0" tIns="0" bIns="0" anchor="ctr">
            <a:spAutoFit/>
          </a:bodyPr>
          <a:lstStyle/>
          <a:p>
            <a:pPr algn="ctr">
              <a:spcAft>
                <a:spcPts val="0"/>
              </a:spcAft>
            </a:pPr>
            <a:r>
              <a:rPr sz="919" b="1" i="0">
                <a:solidFill>
                  <a:srgbClr val="082B55"/>
                </a:solidFill>
                <a:latin typeface="Arial"/>
              </a:rPr>
              <a:t>None</a:t>
            </a:r>
          </a:p>
        </p:txBody>
      </p:sp>
      <p:sp>
        <p:nvSpPr>
          <p:cNvPr id="59" name="TextBox 58"/>
          <p:cNvSpPr txBox="1"/>
          <p:nvPr/>
        </p:nvSpPr>
        <p:spPr>
          <a:xfrm>
            <a:off x="5175504" y="3195828"/>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Within-study z-score</a:t>
            </a:r>
          </a:p>
        </p:txBody>
      </p:sp>
      <p:sp>
        <p:nvSpPr>
          <p:cNvPr id="60" name="TextBox 59"/>
          <p:cNvSpPr txBox="1"/>
          <p:nvPr/>
        </p:nvSpPr>
        <p:spPr>
          <a:xfrm>
            <a:off x="5175504" y="3653028"/>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ComBat / MBatch</a:t>
            </a:r>
          </a:p>
        </p:txBody>
      </p:sp>
      <p:sp>
        <p:nvSpPr>
          <p:cNvPr id="61" name="TextBox 60"/>
          <p:cNvSpPr txBox="1"/>
          <p:nvPr/>
        </p:nvSpPr>
        <p:spPr>
          <a:xfrm>
            <a:off x="5175504" y="4110227"/>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MOBER</a:t>
            </a:r>
          </a:p>
        </p:txBody>
      </p:sp>
      <p:sp>
        <p:nvSpPr>
          <p:cNvPr id="62" name="TextBox 61"/>
          <p:cNvSpPr txBox="1"/>
          <p:nvPr/>
        </p:nvSpPr>
        <p:spPr>
          <a:xfrm>
            <a:off x="744321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04</a:t>
            </a:r>
          </a:p>
        </p:txBody>
      </p:sp>
      <p:sp>
        <p:nvSpPr>
          <p:cNvPr id="63" name="TextBox 62"/>
          <p:cNvSpPr txBox="1"/>
          <p:nvPr/>
        </p:nvSpPr>
        <p:spPr>
          <a:xfrm>
            <a:off x="782726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Model training</a:t>
            </a:r>
          </a:p>
        </p:txBody>
      </p:sp>
      <p:sp>
        <p:nvSpPr>
          <p:cNvPr id="64" name="Rectangle 63"/>
          <p:cNvSpPr/>
          <p:nvPr/>
        </p:nvSpPr>
        <p:spPr>
          <a:xfrm>
            <a:off x="7443216" y="2331720"/>
            <a:ext cx="1874519" cy="20116"/>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46150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Generator</a:t>
            </a:r>
          </a:p>
        </p:txBody>
      </p:sp>
      <p:sp>
        <p:nvSpPr>
          <p:cNvPr id="66" name="TextBox 65"/>
          <p:cNvSpPr txBox="1"/>
          <p:nvPr/>
        </p:nvSpPr>
        <p:spPr>
          <a:xfrm>
            <a:off x="7507224" y="2738628"/>
            <a:ext cx="813815" cy="210312"/>
          </a:xfrm>
          <a:prstGeom prst="rect">
            <a:avLst/>
          </a:prstGeom>
          <a:noFill/>
        </p:spPr>
        <p:txBody>
          <a:bodyPr wrap="square" lIns="0" rIns="0" tIns="0" bIns="0" anchor="ctr">
            <a:spAutoFit/>
          </a:bodyPr>
          <a:lstStyle/>
          <a:p>
            <a:pPr algn="ctr">
              <a:spcAft>
                <a:spcPts val="0"/>
              </a:spcAft>
            </a:pPr>
            <a:r>
              <a:rPr sz="880" b="0" i="0">
                <a:solidFill>
                  <a:srgbClr val="8A969E"/>
                </a:solidFill>
                <a:latin typeface="Arial"/>
              </a:rPr>
              <a:t>WGAN-GP</a:t>
            </a:r>
          </a:p>
        </p:txBody>
      </p:sp>
      <p:sp>
        <p:nvSpPr>
          <p:cNvPr id="67" name="Rectangle 66"/>
          <p:cNvSpPr/>
          <p:nvPr/>
        </p:nvSpPr>
        <p:spPr>
          <a:xfrm>
            <a:off x="8412480" y="2688336"/>
            <a:ext cx="905255" cy="329184"/>
          </a:xfrm>
          <a:prstGeom prst="rect">
            <a:avLst/>
          </a:prstGeom>
          <a:solidFill>
            <a:srgbClr val="FFFFFF"/>
          </a:solidFill>
          <a:ln w="228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8412480" y="2688336"/>
            <a:ext cx="32004" cy="32918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8458200" y="2738628"/>
            <a:ext cx="813815" cy="210312"/>
          </a:xfrm>
          <a:prstGeom prst="rect">
            <a:avLst/>
          </a:prstGeom>
          <a:noFill/>
        </p:spPr>
        <p:txBody>
          <a:bodyPr wrap="square" lIns="0" rIns="0" tIns="0" bIns="0" anchor="ctr">
            <a:spAutoFit/>
          </a:bodyPr>
          <a:lstStyle/>
          <a:p>
            <a:pPr algn="ctr">
              <a:spcAft>
                <a:spcPts val="0"/>
              </a:spcAft>
            </a:pPr>
            <a:r>
              <a:rPr sz="880" b="1" i="0">
                <a:solidFill>
                  <a:srgbClr val="082B55"/>
                </a:solidFill>
                <a:latin typeface="Arial"/>
              </a:rPr>
              <a:t>DDIM</a:t>
            </a:r>
          </a:p>
        </p:txBody>
      </p:sp>
      <p:sp>
        <p:nvSpPr>
          <p:cNvPr id="70" name="TextBox 69"/>
          <p:cNvSpPr txBox="1"/>
          <p:nvPr/>
        </p:nvSpPr>
        <p:spPr>
          <a:xfrm>
            <a:off x="7461504" y="3182112"/>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Training source</a:t>
            </a:r>
          </a:p>
        </p:txBody>
      </p:sp>
      <p:sp>
        <p:nvSpPr>
          <p:cNvPr id="71" name="TextBox 70"/>
          <p:cNvSpPr txBox="1"/>
          <p:nvPr/>
        </p:nvSpPr>
        <p:spPr>
          <a:xfrm>
            <a:off x="7507224" y="3433572"/>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OSDR only</a:t>
            </a:r>
          </a:p>
        </p:txBody>
      </p:sp>
      <p:sp>
        <p:nvSpPr>
          <p:cNvPr id="72" name="TextBox 71"/>
          <p:cNvSpPr txBox="1"/>
          <p:nvPr/>
        </p:nvSpPr>
        <p:spPr>
          <a:xfrm>
            <a:off x="7507224" y="3890772"/>
            <a:ext cx="1764791" cy="210312"/>
          </a:xfrm>
          <a:prstGeom prst="rect">
            <a:avLst/>
          </a:prstGeom>
          <a:noFill/>
        </p:spPr>
        <p:txBody>
          <a:bodyPr wrap="square" lIns="0" rIns="0" tIns="0" bIns="0" anchor="ctr">
            <a:spAutoFit/>
          </a:bodyPr>
          <a:lstStyle/>
          <a:p>
            <a:pPr algn="ctr">
              <a:spcAft>
                <a:spcPts val="0"/>
              </a:spcAft>
            </a:pPr>
            <a:r>
              <a:rPr sz="919" b="0" i="0">
                <a:solidFill>
                  <a:srgbClr val="8A969E"/>
                </a:solidFill>
                <a:latin typeface="Arial"/>
              </a:rPr>
              <a:t>ARCHS4 only</a:t>
            </a:r>
          </a:p>
        </p:txBody>
      </p:sp>
      <p:sp>
        <p:nvSpPr>
          <p:cNvPr id="73" name="Rectangle 72"/>
          <p:cNvSpPr/>
          <p:nvPr/>
        </p:nvSpPr>
        <p:spPr>
          <a:xfrm>
            <a:off x="7461504" y="4297680"/>
            <a:ext cx="1856231" cy="329184"/>
          </a:xfrm>
          <a:prstGeom prst="rect">
            <a:avLst/>
          </a:prstGeom>
          <a:solidFill>
            <a:srgbClr val="FFFFFF"/>
          </a:solidFill>
          <a:ln w="228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7461504" y="4297680"/>
            <a:ext cx="32004" cy="32918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507224" y="4347972"/>
            <a:ext cx="1764791" cy="210312"/>
          </a:xfrm>
          <a:prstGeom prst="rect">
            <a:avLst/>
          </a:prstGeom>
          <a:noFill/>
        </p:spPr>
        <p:txBody>
          <a:bodyPr wrap="square" lIns="0" rIns="0" tIns="0" bIns="0" anchor="ctr">
            <a:spAutoFit/>
          </a:bodyPr>
          <a:lstStyle/>
          <a:p>
            <a:pPr algn="ctr">
              <a:spcAft>
                <a:spcPts val="0"/>
              </a:spcAft>
            </a:pPr>
            <a:r>
              <a:rPr sz="919" b="1" i="0">
                <a:solidFill>
                  <a:srgbClr val="082B55"/>
                </a:solidFill>
                <a:latin typeface="Arial"/>
              </a:rPr>
              <a:t>Pretrain + adapt</a:t>
            </a:r>
          </a:p>
        </p:txBody>
      </p:sp>
      <p:sp>
        <p:nvSpPr>
          <p:cNvPr id="76" name="TextBox 75"/>
          <p:cNvSpPr txBox="1"/>
          <p:nvPr/>
        </p:nvSpPr>
        <p:spPr>
          <a:xfrm>
            <a:off x="9774936" y="1965960"/>
            <a:ext cx="310896" cy="219456"/>
          </a:xfrm>
          <a:prstGeom prst="rect">
            <a:avLst/>
          </a:prstGeom>
          <a:noFill/>
        </p:spPr>
        <p:txBody>
          <a:bodyPr wrap="square" lIns="0" rIns="0" tIns="0" bIns="0" anchor="t">
            <a:spAutoFit/>
          </a:bodyPr>
          <a:lstStyle/>
          <a:p>
            <a:pPr algn="l">
              <a:spcAft>
                <a:spcPts val="0"/>
              </a:spcAft>
            </a:pPr>
            <a:r>
              <a:rPr sz="1150" b="1" i="0">
                <a:solidFill>
                  <a:srgbClr val="8A969E"/>
                </a:solidFill>
                <a:latin typeface="Arial"/>
              </a:rPr>
              <a:t>05</a:t>
            </a:r>
          </a:p>
        </p:txBody>
      </p:sp>
      <p:sp>
        <p:nvSpPr>
          <p:cNvPr id="77" name="TextBox 76"/>
          <p:cNvSpPr txBox="1"/>
          <p:nvPr/>
        </p:nvSpPr>
        <p:spPr>
          <a:xfrm>
            <a:off x="10158984" y="1929384"/>
            <a:ext cx="1499616" cy="292608"/>
          </a:xfrm>
          <a:prstGeom prst="rect">
            <a:avLst/>
          </a:prstGeom>
          <a:noFill/>
        </p:spPr>
        <p:txBody>
          <a:bodyPr wrap="square" lIns="18288" rIns="18288" tIns="18288" bIns="18288" anchor="ctr">
            <a:spAutoFit/>
          </a:bodyPr>
          <a:lstStyle/>
          <a:p>
            <a:pPr algn="l">
              <a:spcAft>
                <a:spcPts val="0"/>
              </a:spcAft>
            </a:pPr>
            <a:r>
              <a:rPr sz="1420" b="1" i="0">
                <a:solidFill>
                  <a:srgbClr val="082B55"/>
                </a:solidFill>
                <a:latin typeface="Arial"/>
              </a:rPr>
              <a:t>Conditioning</a:t>
            </a:r>
          </a:p>
        </p:txBody>
      </p:sp>
      <p:sp>
        <p:nvSpPr>
          <p:cNvPr id="78" name="Rectangle 77"/>
          <p:cNvSpPr/>
          <p:nvPr/>
        </p:nvSpPr>
        <p:spPr>
          <a:xfrm>
            <a:off x="9774936" y="2331720"/>
            <a:ext cx="1874519" cy="2011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9793224" y="2487168"/>
            <a:ext cx="1847088" cy="164592"/>
          </a:xfrm>
          <a:prstGeom prst="rect">
            <a:avLst/>
          </a:prstGeom>
          <a:noFill/>
        </p:spPr>
        <p:txBody>
          <a:bodyPr wrap="square" lIns="0" rIns="0" tIns="0" bIns="0" anchor="t">
            <a:spAutoFit/>
          </a:bodyPr>
          <a:lstStyle/>
          <a:p>
            <a:pPr algn="l">
              <a:spcAft>
                <a:spcPts val="0"/>
              </a:spcAft>
            </a:pPr>
            <a:r>
              <a:rPr sz="840" b="1" i="0">
                <a:solidFill>
                  <a:srgbClr val="59697A"/>
                </a:solidFill>
                <a:latin typeface="Arial"/>
              </a:rPr>
              <a:t>Model inputs</a:t>
            </a:r>
          </a:p>
        </p:txBody>
      </p:sp>
      <p:sp>
        <p:nvSpPr>
          <p:cNvPr id="80" name="Rectangle 79"/>
          <p:cNvSpPr/>
          <p:nvPr/>
        </p:nvSpPr>
        <p:spPr>
          <a:xfrm>
            <a:off x="9793224" y="2670048"/>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9793224" y="267004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9838944" y="2720340"/>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Tissue</a:t>
            </a:r>
          </a:p>
        </p:txBody>
      </p:sp>
      <p:sp>
        <p:nvSpPr>
          <p:cNvPr id="83" name="Rectangle 82"/>
          <p:cNvSpPr/>
          <p:nvPr/>
        </p:nvSpPr>
        <p:spPr>
          <a:xfrm>
            <a:off x="9793224" y="3054096"/>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9793224" y="3054096"/>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9838944" y="3104388"/>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FLT / GC</a:t>
            </a:r>
          </a:p>
        </p:txBody>
      </p:sp>
      <p:sp>
        <p:nvSpPr>
          <p:cNvPr id="86" name="Rectangle 85"/>
          <p:cNvSpPr/>
          <p:nvPr/>
        </p:nvSpPr>
        <p:spPr>
          <a:xfrm>
            <a:off x="9793224" y="3438144"/>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9793224" y="3438144"/>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9838944" y="3488436"/>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Accession</a:t>
            </a:r>
          </a:p>
        </p:txBody>
      </p:sp>
      <p:sp>
        <p:nvSpPr>
          <p:cNvPr id="89" name="Rectangle 88"/>
          <p:cNvSpPr/>
          <p:nvPr/>
        </p:nvSpPr>
        <p:spPr>
          <a:xfrm>
            <a:off x="9793224" y="3822191"/>
            <a:ext cx="1856231"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Rectangle 89"/>
          <p:cNvSpPr/>
          <p:nvPr/>
        </p:nvSpPr>
        <p:spPr>
          <a:xfrm>
            <a:off x="9793224" y="3822191"/>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9838944" y="3872483"/>
            <a:ext cx="1764791" cy="210312"/>
          </a:xfrm>
          <a:prstGeom prst="rect">
            <a:avLst/>
          </a:prstGeom>
          <a:noFill/>
        </p:spPr>
        <p:txBody>
          <a:bodyPr wrap="square" lIns="0" rIns="0" tIns="0" bIns="0" anchor="ctr">
            <a:spAutoFit/>
          </a:bodyPr>
          <a:lstStyle/>
          <a:p>
            <a:pPr algn="ctr">
              <a:spcAft>
                <a:spcPts val="0"/>
              </a:spcAft>
            </a:pPr>
            <a:r>
              <a:rPr sz="890" b="1" i="0">
                <a:solidFill>
                  <a:srgbClr val="082B55"/>
                </a:solidFill>
                <a:latin typeface="Arial"/>
              </a:rPr>
              <a:t>Material type</a:t>
            </a:r>
          </a:p>
        </p:txBody>
      </p:sp>
      <p:sp>
        <p:nvSpPr>
          <p:cNvPr id="92" name="TextBox 91"/>
          <p:cNvSpPr txBox="1"/>
          <p:nvPr/>
        </p:nvSpPr>
        <p:spPr>
          <a:xfrm>
            <a:off x="9838944" y="4256531"/>
            <a:ext cx="1764791" cy="210312"/>
          </a:xfrm>
          <a:prstGeom prst="rect">
            <a:avLst/>
          </a:prstGeom>
          <a:noFill/>
        </p:spPr>
        <p:txBody>
          <a:bodyPr wrap="square" lIns="0" rIns="0" tIns="0" bIns="0" anchor="ctr">
            <a:spAutoFit/>
          </a:bodyPr>
          <a:lstStyle/>
          <a:p>
            <a:pPr algn="ctr">
              <a:spcAft>
                <a:spcPts val="0"/>
              </a:spcAft>
            </a:pPr>
            <a:r>
              <a:rPr sz="890" b="0" i="0">
                <a:solidFill>
                  <a:srgbClr val="8A969E"/>
                </a:solidFill>
                <a:latin typeface="Arial"/>
              </a:rPr>
              <a:t>Sex / age</a:t>
            </a:r>
          </a:p>
        </p:txBody>
      </p:sp>
      <p:sp>
        <p:nvSpPr>
          <p:cNvPr id="93" name="Rectangle 92"/>
          <p:cNvSpPr/>
          <p:nvPr/>
        </p:nvSpPr>
        <p:spPr>
          <a:xfrm>
            <a:off x="320040" y="5093208"/>
            <a:ext cx="11475720" cy="1124712"/>
          </a:xfrm>
          <a:prstGeom prst="rect">
            <a:avLst/>
          </a:prstGeom>
          <a:solidFill>
            <a:srgbClr val="F7F9FA"/>
          </a:solidFill>
          <a:ln w="10160">
            <a:solidFill>
              <a:srgbClr val="F7F9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Rectangle 93"/>
          <p:cNvSpPr/>
          <p:nvPr/>
        </p:nvSpPr>
        <p:spPr>
          <a:xfrm>
            <a:off x="320040" y="5093208"/>
            <a:ext cx="11475720" cy="16459"/>
          </a:xfrm>
          <a:prstGeom prst="rect">
            <a:avLst/>
          </a:prstGeom>
          <a:solidFill>
            <a:srgbClr val="C9D3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585216" y="5303520"/>
            <a:ext cx="1298448" cy="228600"/>
          </a:xfrm>
          <a:prstGeom prst="rect">
            <a:avLst/>
          </a:prstGeom>
          <a:noFill/>
        </p:spPr>
        <p:txBody>
          <a:bodyPr wrap="square" lIns="18288" rIns="18288" tIns="18288" bIns="18288" anchor="t">
            <a:spAutoFit/>
          </a:bodyPr>
          <a:lstStyle/>
          <a:p>
            <a:pPr algn="l">
              <a:spcAft>
                <a:spcPts val="0"/>
              </a:spcAft>
            </a:pPr>
            <a:r>
              <a:rPr sz="1080" b="1" i="0">
                <a:solidFill>
                  <a:srgbClr val="082B55"/>
                </a:solidFill>
                <a:latin typeface="Arial"/>
              </a:rPr>
              <a:t>Downstream</a:t>
            </a:r>
          </a:p>
        </p:txBody>
      </p:sp>
      <p:sp>
        <p:nvSpPr>
          <p:cNvPr id="96" name="TextBox 95"/>
          <p:cNvSpPr txBox="1"/>
          <p:nvPr/>
        </p:nvSpPr>
        <p:spPr>
          <a:xfrm>
            <a:off x="585216" y="5641848"/>
            <a:ext cx="1234440" cy="219456"/>
          </a:xfrm>
          <a:prstGeom prst="rect">
            <a:avLst/>
          </a:prstGeom>
          <a:noFill/>
        </p:spPr>
        <p:txBody>
          <a:bodyPr wrap="square" lIns="18288" rIns="18288" tIns="18288" bIns="18288" anchor="t">
            <a:spAutoFit/>
          </a:bodyPr>
          <a:lstStyle/>
          <a:p>
            <a:pPr algn="l">
              <a:spcAft>
                <a:spcPts val="0"/>
              </a:spcAft>
            </a:pPr>
            <a:r>
              <a:rPr sz="960" b="0" i="0">
                <a:solidFill>
                  <a:srgbClr val="59697A"/>
                </a:solidFill>
                <a:latin typeface="Arial"/>
              </a:rPr>
              <a:t>configuration</a:t>
            </a:r>
          </a:p>
        </p:txBody>
      </p:sp>
      <p:sp>
        <p:nvSpPr>
          <p:cNvPr id="97" name="Rectangle 96"/>
          <p:cNvSpPr/>
          <p:nvPr/>
        </p:nvSpPr>
        <p:spPr>
          <a:xfrm>
            <a:off x="1920240" y="5230368"/>
            <a:ext cx="1965960" cy="448056"/>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2011680" y="5285232"/>
            <a:ext cx="1783080" cy="109728"/>
          </a:xfrm>
          <a:prstGeom prst="rect">
            <a:avLst/>
          </a:prstGeom>
          <a:noFill/>
        </p:spPr>
        <p:txBody>
          <a:bodyPr wrap="square" lIns="0" rIns="0" tIns="0" bIns="0" anchor="t">
            <a:spAutoFit/>
          </a:bodyPr>
          <a:lstStyle/>
          <a:p>
            <a:pPr algn="l">
              <a:spcAft>
                <a:spcPts val="0"/>
              </a:spcAft>
            </a:pPr>
            <a:r>
              <a:rPr sz="710" b="1" i="0">
                <a:solidFill>
                  <a:srgbClr val="178681"/>
                </a:solidFill>
                <a:latin typeface="Arial"/>
              </a:rPr>
              <a:t>PREPROCESS</a:t>
            </a:r>
          </a:p>
        </p:txBody>
      </p:sp>
      <p:sp>
        <p:nvSpPr>
          <p:cNvPr id="99" name="TextBox 98"/>
          <p:cNvSpPr txBox="1"/>
          <p:nvPr/>
        </p:nvSpPr>
        <p:spPr>
          <a:xfrm>
            <a:off x="2011680" y="5431536"/>
            <a:ext cx="178308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TPM / MaxAbs / 974 landmarks</a:t>
            </a:r>
          </a:p>
        </p:txBody>
      </p:sp>
      <p:sp>
        <p:nvSpPr>
          <p:cNvPr id="100" name="Right Arrow 99"/>
          <p:cNvSpPr/>
          <p:nvPr/>
        </p:nvSpPr>
        <p:spPr>
          <a:xfrm>
            <a:off x="39502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Rectangle 100"/>
          <p:cNvSpPr/>
          <p:nvPr/>
        </p:nvSpPr>
        <p:spPr>
          <a:xfrm>
            <a:off x="4251960" y="5230368"/>
            <a:ext cx="1691640" cy="448056"/>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4343400" y="5285232"/>
            <a:ext cx="1508760" cy="109728"/>
          </a:xfrm>
          <a:prstGeom prst="rect">
            <a:avLst/>
          </a:prstGeom>
          <a:noFill/>
        </p:spPr>
        <p:txBody>
          <a:bodyPr wrap="square" lIns="0" rIns="0" tIns="0" bIns="0" anchor="t">
            <a:spAutoFit/>
          </a:bodyPr>
          <a:lstStyle/>
          <a:p>
            <a:pPr algn="l">
              <a:spcAft>
                <a:spcPts val="0"/>
              </a:spcAft>
            </a:pPr>
            <a:r>
              <a:rPr sz="710" b="1" i="0">
                <a:solidFill>
                  <a:srgbClr val="178681"/>
                </a:solidFill>
                <a:latin typeface="Arial"/>
              </a:rPr>
              <a:t>PRETRAIN</a:t>
            </a:r>
          </a:p>
        </p:txBody>
      </p:sp>
      <p:sp>
        <p:nvSpPr>
          <p:cNvPr id="103" name="TextBox 102"/>
          <p:cNvSpPr txBox="1"/>
          <p:nvPr/>
        </p:nvSpPr>
        <p:spPr>
          <a:xfrm>
            <a:off x="4343400" y="5431536"/>
            <a:ext cx="150876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ARCHS4</a:t>
            </a:r>
          </a:p>
        </p:txBody>
      </p:sp>
      <p:sp>
        <p:nvSpPr>
          <p:cNvPr id="104" name="Right Arrow 103"/>
          <p:cNvSpPr/>
          <p:nvPr/>
        </p:nvSpPr>
        <p:spPr>
          <a:xfrm>
            <a:off x="60076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Rectangle 104"/>
          <p:cNvSpPr/>
          <p:nvPr/>
        </p:nvSpPr>
        <p:spPr>
          <a:xfrm>
            <a:off x="6309360" y="5230368"/>
            <a:ext cx="1691640" cy="448056"/>
          </a:xfrm>
          <a:prstGeom prst="rect">
            <a:avLst/>
          </a:prstGeom>
          <a:solidFill>
            <a:srgbClr val="FFFFFF"/>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6400800" y="5285232"/>
            <a:ext cx="1508760" cy="109728"/>
          </a:xfrm>
          <a:prstGeom prst="rect">
            <a:avLst/>
          </a:prstGeom>
          <a:noFill/>
        </p:spPr>
        <p:txBody>
          <a:bodyPr wrap="square" lIns="0" rIns="0" tIns="0" bIns="0" anchor="t">
            <a:spAutoFit/>
          </a:bodyPr>
          <a:lstStyle/>
          <a:p>
            <a:pPr algn="l">
              <a:spcAft>
                <a:spcPts val="0"/>
              </a:spcAft>
            </a:pPr>
            <a:r>
              <a:rPr sz="710" b="1" i="0">
                <a:solidFill>
                  <a:srgbClr val="2D6496"/>
                </a:solidFill>
                <a:latin typeface="Arial"/>
              </a:rPr>
              <a:t>ADAPT</a:t>
            </a:r>
          </a:p>
        </p:txBody>
      </p:sp>
      <p:sp>
        <p:nvSpPr>
          <p:cNvPr id="107" name="TextBox 106"/>
          <p:cNvSpPr txBox="1"/>
          <p:nvPr/>
        </p:nvSpPr>
        <p:spPr>
          <a:xfrm>
            <a:off x="6400800" y="5431536"/>
            <a:ext cx="150876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OSDR</a:t>
            </a:r>
          </a:p>
        </p:txBody>
      </p:sp>
      <p:sp>
        <p:nvSpPr>
          <p:cNvPr id="108" name="Right Arrow 107"/>
          <p:cNvSpPr/>
          <p:nvPr/>
        </p:nvSpPr>
        <p:spPr>
          <a:xfrm>
            <a:off x="8065008" y="5358384"/>
            <a:ext cx="210312"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Rectangle 108"/>
          <p:cNvSpPr/>
          <p:nvPr/>
        </p:nvSpPr>
        <p:spPr>
          <a:xfrm>
            <a:off x="8366760" y="5230368"/>
            <a:ext cx="2240280" cy="448056"/>
          </a:xfrm>
          <a:prstGeom prst="rect">
            <a:avLst/>
          </a:prstGeom>
          <a:solidFill>
            <a:srgbClr val="FFFFFF"/>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8458200" y="5285232"/>
            <a:ext cx="2057400" cy="109728"/>
          </a:xfrm>
          <a:prstGeom prst="rect">
            <a:avLst/>
          </a:prstGeom>
          <a:noFill/>
        </p:spPr>
        <p:txBody>
          <a:bodyPr wrap="square" lIns="0" rIns="0" tIns="0" bIns="0" anchor="t">
            <a:spAutoFit/>
          </a:bodyPr>
          <a:lstStyle/>
          <a:p>
            <a:pPr algn="l">
              <a:spcAft>
                <a:spcPts val="0"/>
              </a:spcAft>
            </a:pPr>
            <a:r>
              <a:rPr sz="710" b="1" i="0">
                <a:solidFill>
                  <a:srgbClr val="D37B00"/>
                </a:solidFill>
                <a:latin typeface="Arial"/>
              </a:rPr>
              <a:t>GENERATE</a:t>
            </a:r>
          </a:p>
        </p:txBody>
      </p:sp>
      <p:sp>
        <p:nvSpPr>
          <p:cNvPr id="111" name="TextBox 110"/>
          <p:cNvSpPr txBox="1"/>
          <p:nvPr/>
        </p:nvSpPr>
        <p:spPr>
          <a:xfrm>
            <a:off x="8458200" y="5431536"/>
            <a:ext cx="2057400" cy="173736"/>
          </a:xfrm>
          <a:prstGeom prst="rect">
            <a:avLst/>
          </a:prstGeom>
          <a:noFill/>
        </p:spPr>
        <p:txBody>
          <a:bodyPr wrap="square" lIns="0" rIns="0" tIns="0" bIns="0" anchor="t">
            <a:spAutoFit/>
          </a:bodyPr>
          <a:lstStyle/>
          <a:p>
            <a:pPr algn="ctr">
              <a:spcAft>
                <a:spcPts val="0"/>
              </a:spcAft>
            </a:pPr>
            <a:r>
              <a:rPr sz="910" b="1" i="0">
                <a:solidFill>
                  <a:srgbClr val="263746"/>
                </a:solidFill>
                <a:latin typeface="Arial"/>
              </a:rPr>
              <a:t>Conditional DDIM</a:t>
            </a:r>
          </a:p>
        </p:txBody>
      </p:sp>
      <p:sp>
        <p:nvSpPr>
          <p:cNvPr id="112" name="TextBox 111"/>
          <p:cNvSpPr txBox="1"/>
          <p:nvPr/>
        </p:nvSpPr>
        <p:spPr>
          <a:xfrm>
            <a:off x="1920240" y="5824728"/>
            <a:ext cx="658368" cy="146304"/>
          </a:xfrm>
          <a:prstGeom prst="rect">
            <a:avLst/>
          </a:prstGeom>
          <a:noFill/>
        </p:spPr>
        <p:txBody>
          <a:bodyPr wrap="square" lIns="0" rIns="0" tIns="0" bIns="0" anchor="t">
            <a:spAutoFit/>
          </a:bodyPr>
          <a:lstStyle/>
          <a:p>
            <a:pPr algn="l">
              <a:spcAft>
                <a:spcPts val="0"/>
              </a:spcAft>
            </a:pPr>
            <a:r>
              <a:rPr sz="730" b="1" i="0">
                <a:solidFill>
                  <a:srgbClr val="178681"/>
                </a:solidFill>
                <a:latin typeface="Arial"/>
              </a:rPr>
              <a:t>CONDITION</a:t>
            </a:r>
          </a:p>
        </p:txBody>
      </p:sp>
      <p:sp>
        <p:nvSpPr>
          <p:cNvPr id="113" name="Rectangle 112"/>
          <p:cNvSpPr/>
          <p:nvPr/>
        </p:nvSpPr>
        <p:spPr>
          <a:xfrm>
            <a:off x="2633472" y="5733288"/>
            <a:ext cx="822960"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Rectangle 113"/>
          <p:cNvSpPr/>
          <p:nvPr/>
        </p:nvSpPr>
        <p:spPr>
          <a:xfrm>
            <a:off x="2633472"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2679191" y="5783579"/>
            <a:ext cx="731520"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Tissue</a:t>
            </a:r>
          </a:p>
        </p:txBody>
      </p:sp>
      <p:sp>
        <p:nvSpPr>
          <p:cNvPr id="116" name="Rectangle 115"/>
          <p:cNvSpPr/>
          <p:nvPr/>
        </p:nvSpPr>
        <p:spPr>
          <a:xfrm>
            <a:off x="3520440" y="5733288"/>
            <a:ext cx="914400"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Rectangle 116"/>
          <p:cNvSpPr/>
          <p:nvPr/>
        </p:nvSpPr>
        <p:spPr>
          <a:xfrm>
            <a:off x="3520440"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3566160" y="5783579"/>
            <a:ext cx="822960"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FLT / GC</a:t>
            </a:r>
          </a:p>
        </p:txBody>
      </p:sp>
      <p:sp>
        <p:nvSpPr>
          <p:cNvPr id="119" name="Rectangle 118"/>
          <p:cNvSpPr/>
          <p:nvPr/>
        </p:nvSpPr>
        <p:spPr>
          <a:xfrm>
            <a:off x="4498848" y="5733288"/>
            <a:ext cx="1042415"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4498848"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4544568" y="5783579"/>
            <a:ext cx="950975"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Accession</a:t>
            </a:r>
          </a:p>
        </p:txBody>
      </p:sp>
      <p:sp>
        <p:nvSpPr>
          <p:cNvPr id="122" name="Rectangle 121"/>
          <p:cNvSpPr/>
          <p:nvPr/>
        </p:nvSpPr>
        <p:spPr>
          <a:xfrm>
            <a:off x="5605272" y="5733288"/>
            <a:ext cx="1261872"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Rectangle 122"/>
          <p:cNvSpPr/>
          <p:nvPr/>
        </p:nvSpPr>
        <p:spPr>
          <a:xfrm>
            <a:off x="5605272"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5650992" y="5783579"/>
            <a:ext cx="1170431"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Material type</a:t>
            </a:r>
          </a:p>
        </p:txBody>
      </p:sp>
      <p:sp>
        <p:nvSpPr>
          <p:cNvPr id="125" name="TextBox 124"/>
          <p:cNvSpPr txBox="1"/>
          <p:nvPr/>
        </p:nvSpPr>
        <p:spPr>
          <a:xfrm>
            <a:off x="7095744" y="5824728"/>
            <a:ext cx="749808" cy="146304"/>
          </a:xfrm>
          <a:prstGeom prst="rect">
            <a:avLst/>
          </a:prstGeom>
          <a:noFill/>
        </p:spPr>
        <p:txBody>
          <a:bodyPr wrap="square" lIns="0" rIns="0" tIns="0" bIns="0" anchor="t">
            <a:spAutoFit/>
          </a:bodyPr>
          <a:lstStyle/>
          <a:p>
            <a:pPr algn="l">
              <a:spcAft>
                <a:spcPts val="0"/>
              </a:spcAft>
            </a:pPr>
            <a:r>
              <a:rPr sz="730" b="1" i="0">
                <a:solidFill>
                  <a:srgbClr val="178681"/>
                </a:solidFill>
                <a:latin typeface="Arial"/>
              </a:rPr>
              <a:t>HARMONIZE</a:t>
            </a:r>
          </a:p>
        </p:txBody>
      </p:sp>
      <p:sp>
        <p:nvSpPr>
          <p:cNvPr id="126" name="Rectangle 125"/>
          <p:cNvSpPr/>
          <p:nvPr/>
        </p:nvSpPr>
        <p:spPr>
          <a:xfrm>
            <a:off x="7909560" y="5733288"/>
            <a:ext cx="713232" cy="329184"/>
          </a:xfrm>
          <a:prstGeom prst="rect">
            <a:avLst/>
          </a:prstGeom>
          <a:solidFill>
            <a:srgbClr val="FFFFFF"/>
          </a:solidFill>
          <a:ln w="228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Rectangle 126"/>
          <p:cNvSpPr/>
          <p:nvPr/>
        </p:nvSpPr>
        <p:spPr>
          <a:xfrm>
            <a:off x="7909560" y="5733288"/>
            <a:ext cx="32004" cy="32918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TextBox 127"/>
          <p:cNvSpPr txBox="1"/>
          <p:nvPr/>
        </p:nvSpPr>
        <p:spPr>
          <a:xfrm>
            <a:off x="7955280" y="5783579"/>
            <a:ext cx="621792"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None</a:t>
            </a:r>
          </a:p>
        </p:txBody>
      </p:sp>
      <p:sp>
        <p:nvSpPr>
          <p:cNvPr id="129" name="TextBox 128"/>
          <p:cNvSpPr txBox="1"/>
          <p:nvPr/>
        </p:nvSpPr>
        <p:spPr>
          <a:xfrm>
            <a:off x="8869680" y="5824728"/>
            <a:ext cx="420624" cy="146304"/>
          </a:xfrm>
          <a:prstGeom prst="rect">
            <a:avLst/>
          </a:prstGeom>
          <a:noFill/>
        </p:spPr>
        <p:txBody>
          <a:bodyPr wrap="square" lIns="0" rIns="0" tIns="0" bIns="0" anchor="t">
            <a:spAutoFit/>
          </a:bodyPr>
          <a:lstStyle/>
          <a:p>
            <a:pPr algn="l">
              <a:spcAft>
                <a:spcPts val="0"/>
              </a:spcAft>
            </a:pPr>
            <a:r>
              <a:rPr sz="730" b="1" i="0">
                <a:solidFill>
                  <a:srgbClr val="2D6496"/>
                </a:solidFill>
                <a:latin typeface="Arial"/>
              </a:rPr>
              <a:t>SCOPE</a:t>
            </a:r>
          </a:p>
        </p:txBody>
      </p:sp>
      <p:sp>
        <p:nvSpPr>
          <p:cNvPr id="130" name="Rectangle 129"/>
          <p:cNvSpPr/>
          <p:nvPr/>
        </p:nvSpPr>
        <p:spPr>
          <a:xfrm>
            <a:off x="9363456" y="5733288"/>
            <a:ext cx="1097280" cy="329184"/>
          </a:xfrm>
          <a:prstGeom prst="rect">
            <a:avLst/>
          </a:prstGeom>
          <a:solidFill>
            <a:srgbClr val="FFFFFF"/>
          </a:solidFill>
          <a:ln w="228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Rectangle 130"/>
          <p:cNvSpPr/>
          <p:nvPr/>
        </p:nvSpPr>
        <p:spPr>
          <a:xfrm>
            <a:off x="9363456" y="5733288"/>
            <a:ext cx="32004" cy="32918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9409176" y="5783579"/>
            <a:ext cx="1005839" cy="210312"/>
          </a:xfrm>
          <a:prstGeom prst="rect">
            <a:avLst/>
          </a:prstGeom>
          <a:noFill/>
        </p:spPr>
        <p:txBody>
          <a:bodyPr wrap="square" lIns="0" rIns="0" tIns="0" bIns="0" anchor="ctr">
            <a:spAutoFit/>
          </a:bodyPr>
          <a:lstStyle/>
          <a:p>
            <a:pPr algn="ctr">
              <a:spcAft>
                <a:spcPts val="0"/>
              </a:spcAft>
            </a:pPr>
            <a:r>
              <a:rPr sz="780" b="1" i="0">
                <a:solidFill>
                  <a:srgbClr val="082B55"/>
                </a:solidFill>
                <a:latin typeface="Arial"/>
              </a:rPr>
              <a:t>All tissues</a:t>
            </a:r>
          </a:p>
        </p:txBody>
      </p:sp>
      <p:sp>
        <p:nvSpPr>
          <p:cNvPr id="133" name="TextBox 132"/>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Screen: 463 planned configurations and nine matched liver harmonization arms. Models: Vinas et al. (2022); Lacan et al.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VALIDATION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DDIM had lower separability and distributional distance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Both generators matched expression. DDIM was harder to distinguish from real profiles and had higher F1.</a:t>
            </a:r>
          </a:p>
        </p:txBody>
      </p:sp>
      <p:sp>
        <p:nvSpPr>
          <p:cNvPr id="7" name="TextBox 6"/>
          <p:cNvSpPr txBox="1"/>
          <p:nvPr/>
        </p:nvSpPr>
        <p:spPr>
          <a:xfrm>
            <a:off x="475488" y="1901952"/>
            <a:ext cx="6510528" cy="292608"/>
          </a:xfrm>
          <a:prstGeom prst="rect">
            <a:avLst/>
          </a:prstGeom>
          <a:noFill/>
        </p:spPr>
        <p:txBody>
          <a:bodyPr wrap="square" lIns="18288" rIns="18288" tIns="18288" bIns="18288" anchor="t">
            <a:spAutoFit/>
          </a:bodyPr>
          <a:lstStyle/>
          <a:p>
            <a:pPr algn="l">
              <a:spcAft>
                <a:spcPts val="0"/>
              </a:spcAft>
            </a:pPr>
            <a:r>
              <a:rPr sz="1650" b="1" i="0">
                <a:solidFill>
                  <a:srgbClr val="082B55"/>
                </a:solidFill>
                <a:latin typeface="Arial"/>
              </a:rPr>
              <a:t>Architecture from Lacan et al.</a:t>
            </a:r>
          </a:p>
        </p:txBody>
      </p:sp>
      <p:pic>
        <p:nvPicPr>
          <p:cNvPr id="8" name="Lacan et al. Figure 1C residual diffusion generator architecture" descr="Lacan et al. Figure 1C residual diffusion generator architecture"/>
          <p:cNvPicPr>
            <a:picLocks noChangeAspect="1"/>
          </p:cNvPicPr>
          <p:nvPr/>
        </p:nvPicPr>
        <p:blipFill>
          <a:blip r:embed="rId2"/>
          <a:stretch>
            <a:fillRect/>
          </a:stretch>
        </p:blipFill>
        <p:spPr>
          <a:xfrm>
            <a:off x="186730" y="2185416"/>
            <a:ext cx="6832011" cy="2496312"/>
          </a:xfrm>
          <a:prstGeom prst="rect">
            <a:avLst/>
          </a:prstGeom>
        </p:spPr>
      </p:pic>
      <p:sp>
        <p:nvSpPr>
          <p:cNvPr id="9" name="TextBox 8"/>
          <p:cNvSpPr txBox="1"/>
          <p:nvPr/>
        </p:nvSpPr>
        <p:spPr>
          <a:xfrm>
            <a:off x="512064" y="4727448"/>
            <a:ext cx="6309360" cy="256032"/>
          </a:xfrm>
          <a:prstGeom prst="rect">
            <a:avLst/>
          </a:prstGeom>
          <a:noFill/>
        </p:spPr>
        <p:txBody>
          <a:bodyPr wrap="square" lIns="18288" rIns="18288" tIns="18288" bIns="18288" anchor="t">
            <a:spAutoFit/>
          </a:bodyPr>
          <a:lstStyle/>
          <a:p>
            <a:pPr algn="ctr">
              <a:spcAft>
                <a:spcPts val="0"/>
              </a:spcAft>
            </a:pPr>
            <a:r>
              <a:rPr sz="1130" b="1" i="0">
                <a:solidFill>
                  <a:srgbClr val="263746"/>
                </a:solidFill>
                <a:latin typeface="Arial"/>
              </a:rPr>
              <a:t>Residual dense denoiser conditioned on timestep and tissue.</a:t>
            </a:r>
          </a:p>
        </p:txBody>
      </p:sp>
      <p:sp>
        <p:nvSpPr>
          <p:cNvPr id="10" name="TextBox 9"/>
          <p:cNvSpPr txBox="1"/>
          <p:nvPr/>
        </p:nvSpPr>
        <p:spPr>
          <a:xfrm>
            <a:off x="512064" y="5038344"/>
            <a:ext cx="6309360" cy="310896"/>
          </a:xfrm>
          <a:prstGeom prst="rect">
            <a:avLst/>
          </a:prstGeom>
          <a:noFill/>
        </p:spPr>
        <p:txBody>
          <a:bodyPr wrap="square" lIns="18288" rIns="18288" tIns="18288" bIns="18288" anchor="t">
            <a:spAutoFit/>
          </a:bodyPr>
          <a:lstStyle/>
          <a:p>
            <a:pPr algn="ctr">
              <a:spcAft>
                <a:spcPts val="0"/>
              </a:spcAft>
            </a:pPr>
            <a:r>
              <a:rPr sz="1060" b="0" i="0">
                <a:solidFill>
                  <a:srgbClr val="59697A"/>
                </a:solidFill>
                <a:latin typeface="Arial"/>
              </a:rPr>
              <a:t>OSDR adaptation adds FLT/GC, accession and material context through LoRA.</a:t>
            </a:r>
          </a:p>
        </p:txBody>
      </p:sp>
      <p:sp>
        <p:nvSpPr>
          <p:cNvPr id="11" name="Rectangle 10"/>
          <p:cNvSpPr/>
          <p:nvPr/>
        </p:nvSpPr>
        <p:spPr>
          <a:xfrm>
            <a:off x="7159752" y="1874519"/>
            <a:ext cx="13716" cy="3950208"/>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51775" y="1984248"/>
            <a:ext cx="1298448" cy="256032"/>
          </a:xfrm>
          <a:prstGeom prst="rect">
            <a:avLst/>
          </a:prstGeom>
          <a:noFill/>
        </p:spPr>
        <p:txBody>
          <a:bodyPr wrap="square" lIns="18288" rIns="18288" tIns="18288" bIns="18288" anchor="t">
            <a:spAutoFit/>
          </a:bodyPr>
          <a:lstStyle/>
          <a:p>
            <a:pPr algn="l">
              <a:spcAft>
                <a:spcPts val="0"/>
              </a:spcAft>
            </a:pPr>
            <a:r>
              <a:rPr sz="1000" b="1" i="0">
                <a:solidFill>
                  <a:srgbClr val="59697A"/>
                </a:solidFill>
                <a:latin typeface="Arial"/>
              </a:rPr>
              <a:t>Metric</a:t>
            </a:r>
          </a:p>
        </p:txBody>
      </p:sp>
      <p:sp>
        <p:nvSpPr>
          <p:cNvPr id="13" name="TextBox 12"/>
          <p:cNvSpPr txBox="1"/>
          <p:nvPr/>
        </p:nvSpPr>
        <p:spPr>
          <a:xfrm>
            <a:off x="8750808" y="1984248"/>
            <a:ext cx="777240" cy="256032"/>
          </a:xfrm>
          <a:prstGeom prst="rect">
            <a:avLst/>
          </a:prstGeom>
          <a:noFill/>
        </p:spPr>
        <p:txBody>
          <a:bodyPr wrap="square" lIns="18288" rIns="18288" tIns="18288" bIns="18288" anchor="t">
            <a:spAutoFit/>
          </a:bodyPr>
          <a:lstStyle/>
          <a:p>
            <a:pPr algn="ctr">
              <a:spcAft>
                <a:spcPts val="0"/>
              </a:spcAft>
            </a:pPr>
            <a:r>
              <a:rPr sz="1000" b="1" i="0">
                <a:solidFill>
                  <a:srgbClr val="D96552"/>
                </a:solidFill>
                <a:latin typeface="Arial"/>
              </a:rPr>
              <a:t>WGAN-GP</a:t>
            </a:r>
          </a:p>
        </p:txBody>
      </p:sp>
      <p:sp>
        <p:nvSpPr>
          <p:cNvPr id="14" name="TextBox 13"/>
          <p:cNvSpPr txBox="1"/>
          <p:nvPr/>
        </p:nvSpPr>
        <p:spPr>
          <a:xfrm>
            <a:off x="9619488" y="1984248"/>
            <a:ext cx="694944" cy="256032"/>
          </a:xfrm>
          <a:prstGeom prst="rect">
            <a:avLst/>
          </a:prstGeom>
          <a:noFill/>
        </p:spPr>
        <p:txBody>
          <a:bodyPr wrap="square" lIns="18288" rIns="18288" tIns="18288" bIns="18288" anchor="t">
            <a:spAutoFit/>
          </a:bodyPr>
          <a:lstStyle/>
          <a:p>
            <a:pPr algn="ctr">
              <a:spcAft>
                <a:spcPts val="0"/>
              </a:spcAft>
            </a:pPr>
            <a:r>
              <a:rPr sz="1000" b="1" i="0">
                <a:solidFill>
                  <a:srgbClr val="178681"/>
                </a:solidFill>
                <a:latin typeface="Arial"/>
              </a:rPr>
              <a:t>DDIM</a:t>
            </a:r>
          </a:p>
        </p:txBody>
      </p:sp>
      <p:sp>
        <p:nvSpPr>
          <p:cNvPr id="15" name="TextBox 14"/>
          <p:cNvSpPr txBox="1"/>
          <p:nvPr/>
        </p:nvSpPr>
        <p:spPr>
          <a:xfrm>
            <a:off x="10451592" y="1984248"/>
            <a:ext cx="1005840" cy="256032"/>
          </a:xfrm>
          <a:prstGeom prst="rect">
            <a:avLst/>
          </a:prstGeom>
          <a:noFill/>
        </p:spPr>
        <p:txBody>
          <a:bodyPr wrap="square" lIns="18288" rIns="18288" tIns="18288" bIns="18288" anchor="t">
            <a:spAutoFit/>
          </a:bodyPr>
          <a:lstStyle/>
          <a:p>
            <a:pPr algn="l">
              <a:spcAft>
                <a:spcPts val="0"/>
              </a:spcAft>
            </a:pPr>
            <a:r>
              <a:rPr sz="1000" b="1" i="0">
                <a:solidFill>
                  <a:srgbClr val="59697A"/>
                </a:solidFill>
                <a:latin typeface="Arial"/>
              </a:rPr>
              <a:t>Read</a:t>
            </a:r>
          </a:p>
        </p:txBody>
      </p:sp>
      <p:sp>
        <p:nvSpPr>
          <p:cNvPr id="16" name="Rectangle 15"/>
          <p:cNvSpPr/>
          <p:nvPr/>
        </p:nvSpPr>
        <p:spPr>
          <a:xfrm>
            <a:off x="7351775" y="2340864"/>
            <a:ext cx="4187952" cy="20116"/>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33488" y="2496312"/>
            <a:ext cx="4215384" cy="45720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0" y="2560320"/>
            <a:ext cx="1271016" cy="292608"/>
          </a:xfrm>
          <a:prstGeom prst="rect">
            <a:avLst/>
          </a:prstGeom>
          <a:noFill/>
        </p:spPr>
        <p:txBody>
          <a:bodyPr wrap="square" lIns="18288" rIns="18288" tIns="18288" bIns="18288" anchor="t">
            <a:spAutoFit/>
          </a:bodyPr>
          <a:lstStyle/>
          <a:p>
            <a:pPr algn="l">
              <a:spcAft>
                <a:spcPts val="0"/>
              </a:spcAft>
            </a:pPr>
            <a:r>
              <a:rPr sz="1030" b="0" i="0">
                <a:solidFill>
                  <a:srgbClr val="263746"/>
                </a:solidFill>
                <a:latin typeface="Arial"/>
              </a:rPr>
              <a:t>Correlation</a:t>
            </a:r>
          </a:p>
        </p:txBody>
      </p:sp>
      <p:sp>
        <p:nvSpPr>
          <p:cNvPr id="19" name="TextBox 18"/>
          <p:cNvSpPr txBox="1"/>
          <p:nvPr/>
        </p:nvSpPr>
        <p:spPr>
          <a:xfrm>
            <a:off x="8750808" y="2560320"/>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0.976</a:t>
            </a:r>
          </a:p>
        </p:txBody>
      </p:sp>
      <p:sp>
        <p:nvSpPr>
          <p:cNvPr id="20" name="TextBox 19"/>
          <p:cNvSpPr txBox="1"/>
          <p:nvPr/>
        </p:nvSpPr>
        <p:spPr>
          <a:xfrm>
            <a:off x="9619488" y="2560320"/>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0.974</a:t>
            </a:r>
          </a:p>
        </p:txBody>
      </p:sp>
      <p:sp>
        <p:nvSpPr>
          <p:cNvPr id="21" name="TextBox 20"/>
          <p:cNvSpPr txBox="1"/>
          <p:nvPr/>
        </p:nvSpPr>
        <p:spPr>
          <a:xfrm>
            <a:off x="10451592" y="2560320"/>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similar</a:t>
            </a:r>
          </a:p>
        </p:txBody>
      </p:sp>
      <p:sp>
        <p:nvSpPr>
          <p:cNvPr id="22" name="TextBox 21"/>
          <p:cNvSpPr txBox="1"/>
          <p:nvPr/>
        </p:nvSpPr>
        <p:spPr>
          <a:xfrm>
            <a:off x="7406640" y="3099815"/>
            <a:ext cx="1271016" cy="292608"/>
          </a:xfrm>
          <a:prstGeom prst="rect">
            <a:avLst/>
          </a:prstGeom>
          <a:noFill/>
        </p:spPr>
        <p:txBody>
          <a:bodyPr wrap="square" lIns="18288" rIns="18288" tIns="18288" bIns="18288" anchor="t">
            <a:spAutoFit/>
          </a:bodyPr>
          <a:lstStyle/>
          <a:p>
            <a:pPr algn="l">
              <a:spcAft>
                <a:spcPts val="0"/>
              </a:spcAft>
            </a:pPr>
            <a:r>
              <a:rPr sz="1030" b="0" i="0">
                <a:solidFill>
                  <a:srgbClr val="263746"/>
                </a:solidFill>
                <a:latin typeface="Arial"/>
              </a:rPr>
              <a:t>F1</a:t>
            </a:r>
          </a:p>
        </p:txBody>
      </p:sp>
      <p:sp>
        <p:nvSpPr>
          <p:cNvPr id="23" name="TextBox 22"/>
          <p:cNvSpPr txBox="1"/>
          <p:nvPr/>
        </p:nvSpPr>
        <p:spPr>
          <a:xfrm>
            <a:off x="8750808" y="3099815"/>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0.985</a:t>
            </a:r>
          </a:p>
        </p:txBody>
      </p:sp>
      <p:sp>
        <p:nvSpPr>
          <p:cNvPr id="24" name="TextBox 23"/>
          <p:cNvSpPr txBox="1"/>
          <p:nvPr/>
        </p:nvSpPr>
        <p:spPr>
          <a:xfrm>
            <a:off x="9619488" y="3099815"/>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0.997</a:t>
            </a:r>
          </a:p>
        </p:txBody>
      </p:sp>
      <p:sp>
        <p:nvSpPr>
          <p:cNvPr id="25" name="TextBox 24"/>
          <p:cNvSpPr txBox="1"/>
          <p:nvPr/>
        </p:nvSpPr>
        <p:spPr>
          <a:xfrm>
            <a:off x="10451592" y="3099815"/>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higher</a:t>
            </a:r>
          </a:p>
        </p:txBody>
      </p:sp>
      <p:sp>
        <p:nvSpPr>
          <p:cNvPr id="26" name="Rectangle 25"/>
          <p:cNvSpPr/>
          <p:nvPr/>
        </p:nvSpPr>
        <p:spPr>
          <a:xfrm>
            <a:off x="7333488" y="3575303"/>
            <a:ext cx="4215384" cy="45720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0" y="3639311"/>
            <a:ext cx="1271016" cy="292608"/>
          </a:xfrm>
          <a:prstGeom prst="rect">
            <a:avLst/>
          </a:prstGeom>
          <a:noFill/>
        </p:spPr>
        <p:txBody>
          <a:bodyPr wrap="square" lIns="18288" rIns="18288" tIns="18288" bIns="18288" anchor="t">
            <a:spAutoFit/>
          </a:bodyPr>
          <a:lstStyle/>
          <a:p>
            <a:pPr algn="l">
              <a:spcAft>
                <a:spcPts val="0"/>
              </a:spcAft>
            </a:pPr>
            <a:r>
              <a:rPr sz="1030" b="1" i="0">
                <a:solidFill>
                  <a:srgbClr val="263746"/>
                </a:solidFill>
                <a:latin typeface="Arial"/>
              </a:rPr>
              <a:t>Adversarial acc.</a:t>
            </a:r>
          </a:p>
        </p:txBody>
      </p:sp>
      <p:sp>
        <p:nvSpPr>
          <p:cNvPr id="28" name="TextBox 27"/>
          <p:cNvSpPr txBox="1"/>
          <p:nvPr/>
        </p:nvSpPr>
        <p:spPr>
          <a:xfrm>
            <a:off x="8750808" y="3639311"/>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0.636</a:t>
            </a:r>
          </a:p>
        </p:txBody>
      </p:sp>
      <p:sp>
        <p:nvSpPr>
          <p:cNvPr id="29" name="TextBox 28"/>
          <p:cNvSpPr txBox="1"/>
          <p:nvPr/>
        </p:nvSpPr>
        <p:spPr>
          <a:xfrm>
            <a:off x="9619488" y="3639311"/>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0.475</a:t>
            </a:r>
          </a:p>
        </p:txBody>
      </p:sp>
      <p:sp>
        <p:nvSpPr>
          <p:cNvPr id="30" name="TextBox 29"/>
          <p:cNvSpPr txBox="1"/>
          <p:nvPr/>
        </p:nvSpPr>
        <p:spPr>
          <a:xfrm>
            <a:off x="10451592" y="3639311"/>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near 0.5</a:t>
            </a:r>
          </a:p>
        </p:txBody>
      </p:sp>
      <p:sp>
        <p:nvSpPr>
          <p:cNvPr id="31" name="TextBox 30"/>
          <p:cNvSpPr txBox="1"/>
          <p:nvPr/>
        </p:nvSpPr>
        <p:spPr>
          <a:xfrm>
            <a:off x="7406640" y="4178808"/>
            <a:ext cx="1271016" cy="292608"/>
          </a:xfrm>
          <a:prstGeom prst="rect">
            <a:avLst/>
          </a:prstGeom>
          <a:noFill/>
        </p:spPr>
        <p:txBody>
          <a:bodyPr wrap="square" lIns="18288" rIns="18288" tIns="18288" bIns="18288" anchor="t">
            <a:spAutoFit/>
          </a:bodyPr>
          <a:lstStyle/>
          <a:p>
            <a:pPr algn="l">
              <a:spcAft>
                <a:spcPts val="0"/>
              </a:spcAft>
            </a:pPr>
            <a:r>
              <a:rPr sz="1030" b="1" i="0">
                <a:solidFill>
                  <a:srgbClr val="263746"/>
                </a:solidFill>
                <a:latin typeface="Arial"/>
              </a:rPr>
              <a:t>FD / real P95</a:t>
            </a:r>
          </a:p>
        </p:txBody>
      </p:sp>
      <p:sp>
        <p:nvSpPr>
          <p:cNvPr id="32" name="TextBox 31"/>
          <p:cNvSpPr txBox="1"/>
          <p:nvPr/>
        </p:nvSpPr>
        <p:spPr>
          <a:xfrm>
            <a:off x="8750808" y="4178808"/>
            <a:ext cx="777240" cy="292608"/>
          </a:xfrm>
          <a:prstGeom prst="rect">
            <a:avLst/>
          </a:prstGeom>
          <a:noFill/>
        </p:spPr>
        <p:txBody>
          <a:bodyPr wrap="square" lIns="18288" rIns="18288" tIns="18288" bIns="18288" anchor="t">
            <a:spAutoFit/>
          </a:bodyPr>
          <a:lstStyle/>
          <a:p>
            <a:pPr algn="ctr">
              <a:spcAft>
                <a:spcPts val="0"/>
              </a:spcAft>
            </a:pPr>
            <a:r>
              <a:rPr sz="1260" b="1" i="0">
                <a:solidFill>
                  <a:srgbClr val="D96552"/>
                </a:solidFill>
                <a:latin typeface="Arial"/>
              </a:rPr>
              <a:t>0.144</a:t>
            </a:r>
          </a:p>
        </p:txBody>
      </p:sp>
      <p:sp>
        <p:nvSpPr>
          <p:cNvPr id="33" name="TextBox 32"/>
          <p:cNvSpPr txBox="1"/>
          <p:nvPr/>
        </p:nvSpPr>
        <p:spPr>
          <a:xfrm>
            <a:off x="9619488" y="4178808"/>
            <a:ext cx="694944" cy="292608"/>
          </a:xfrm>
          <a:prstGeom prst="rect">
            <a:avLst/>
          </a:prstGeom>
          <a:noFill/>
        </p:spPr>
        <p:txBody>
          <a:bodyPr wrap="square" lIns="18288" rIns="18288" tIns="18288" bIns="18288" anchor="t">
            <a:spAutoFit/>
          </a:bodyPr>
          <a:lstStyle/>
          <a:p>
            <a:pPr algn="ctr">
              <a:spcAft>
                <a:spcPts val="0"/>
              </a:spcAft>
            </a:pPr>
            <a:r>
              <a:rPr sz="1260" b="1" i="0">
                <a:solidFill>
                  <a:srgbClr val="178681"/>
                </a:solidFill>
                <a:latin typeface="Arial"/>
              </a:rPr>
              <a:t>0.074</a:t>
            </a:r>
          </a:p>
        </p:txBody>
      </p:sp>
      <p:sp>
        <p:nvSpPr>
          <p:cNvPr id="34" name="TextBox 33"/>
          <p:cNvSpPr txBox="1"/>
          <p:nvPr/>
        </p:nvSpPr>
        <p:spPr>
          <a:xfrm>
            <a:off x="10451592" y="4178808"/>
            <a:ext cx="1005840" cy="292608"/>
          </a:xfrm>
          <a:prstGeom prst="rect">
            <a:avLst/>
          </a:prstGeom>
          <a:noFill/>
        </p:spPr>
        <p:txBody>
          <a:bodyPr wrap="square" lIns="18288" rIns="18288" tIns="18288" bIns="18288" anchor="t">
            <a:spAutoFit/>
          </a:bodyPr>
          <a:lstStyle/>
          <a:p>
            <a:pPr algn="l">
              <a:spcAft>
                <a:spcPts val="0"/>
              </a:spcAft>
            </a:pPr>
            <a:r>
              <a:rPr sz="1019" b="0" i="0">
                <a:solidFill>
                  <a:srgbClr val="59697A"/>
                </a:solidFill>
                <a:latin typeface="Arial"/>
              </a:rPr>
              <a:t>lower</a:t>
            </a:r>
          </a:p>
        </p:txBody>
      </p:sp>
      <p:sp>
        <p:nvSpPr>
          <p:cNvPr id="35" name="Rectangle 34"/>
          <p:cNvSpPr/>
          <p:nvPr/>
        </p:nvSpPr>
        <p:spPr>
          <a:xfrm>
            <a:off x="502920" y="5404104"/>
            <a:ext cx="6428232" cy="13716"/>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02920" y="5559552"/>
            <a:ext cx="1600200" cy="219456"/>
          </a:xfrm>
          <a:prstGeom prst="rect">
            <a:avLst/>
          </a:prstGeom>
          <a:noFill/>
        </p:spPr>
        <p:txBody>
          <a:bodyPr wrap="square" lIns="0" rIns="0" tIns="0" bIns="0" anchor="t">
            <a:spAutoFit/>
          </a:bodyPr>
          <a:lstStyle/>
          <a:p>
            <a:pPr algn="l">
              <a:spcAft>
                <a:spcPts val="0"/>
              </a:spcAft>
            </a:pPr>
            <a:r>
              <a:rPr sz="1040" b="1" i="0">
                <a:solidFill>
                  <a:srgbClr val="2D6496"/>
                </a:solidFill>
                <a:latin typeface="Arial"/>
              </a:rPr>
              <a:t>ARCHS4 tissue probe</a:t>
            </a:r>
          </a:p>
        </p:txBody>
      </p:sp>
      <p:sp>
        <p:nvSpPr>
          <p:cNvPr id="37" name="TextBox 36"/>
          <p:cNvSpPr txBox="1"/>
          <p:nvPr/>
        </p:nvSpPr>
        <p:spPr>
          <a:xfrm>
            <a:off x="3931920" y="5541264"/>
            <a:ext cx="2852928" cy="246888"/>
          </a:xfrm>
          <a:prstGeom prst="rect">
            <a:avLst/>
          </a:prstGeom>
          <a:noFill/>
        </p:spPr>
        <p:txBody>
          <a:bodyPr wrap="square" lIns="0" rIns="0" tIns="0" bIns="0" anchor="t">
            <a:spAutoFit/>
          </a:bodyPr>
          <a:lstStyle/>
          <a:p>
            <a:pPr algn="r">
              <a:spcAft>
                <a:spcPts val="0"/>
              </a:spcAft>
            </a:pPr>
            <a:r>
              <a:rPr sz="1040" b="0" i="0">
                <a:solidFill>
                  <a:srgbClr val="263746"/>
                </a:solidFill>
                <a:latin typeface="Arial"/>
              </a:rPr>
              <a:t>Real 0.781  |  Synthetic 0.781</a:t>
            </a:r>
          </a:p>
        </p:txBody>
      </p:sp>
      <p:sp>
        <p:nvSpPr>
          <p:cNvPr id="38" name="TextBox 37"/>
          <p:cNvSpPr txBox="1"/>
          <p:nvPr/>
        </p:nvSpPr>
        <p:spPr>
          <a:xfrm>
            <a:off x="502920" y="5843016"/>
            <a:ext cx="6281928" cy="228600"/>
          </a:xfrm>
          <a:prstGeom prst="rect">
            <a:avLst/>
          </a:prstGeom>
          <a:noFill/>
        </p:spPr>
        <p:txBody>
          <a:bodyPr wrap="square" lIns="0" rIns="0" tIns="0" bIns="0" anchor="t">
            <a:spAutoFit/>
          </a:bodyPr>
          <a:lstStyle/>
          <a:p>
            <a:pPr algn="ctr">
              <a:spcAft>
                <a:spcPts val="0"/>
              </a:spcAft>
            </a:pPr>
            <a:r>
              <a:rPr sz="969" b="0" i="0">
                <a:solidFill>
                  <a:srgbClr val="59697A"/>
                </a:solidFill>
                <a:latin typeface="Arial"/>
              </a:rPr>
              <a:t>Balanced accuracy is preserved in generated tissue labels.</a:t>
            </a:r>
          </a:p>
        </p:txBody>
      </p:sp>
      <p:sp>
        <p:nvSpPr>
          <p:cNvPr id="39" name="Rectangle 38"/>
          <p:cNvSpPr/>
          <p:nvPr/>
        </p:nvSpPr>
        <p:spPr>
          <a:xfrm>
            <a:off x="7351775" y="4901184"/>
            <a:ext cx="50292" cy="71323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580375" y="4937760"/>
            <a:ext cx="1207008" cy="283464"/>
          </a:xfrm>
          <a:prstGeom prst="rect">
            <a:avLst/>
          </a:prstGeom>
          <a:noFill/>
        </p:spPr>
        <p:txBody>
          <a:bodyPr wrap="square" lIns="0" rIns="0" tIns="0" bIns="0" anchor="t">
            <a:spAutoFit/>
          </a:bodyPr>
          <a:lstStyle/>
          <a:p>
            <a:pPr algn="l">
              <a:spcAft>
                <a:spcPts val="0"/>
              </a:spcAft>
            </a:pPr>
            <a:r>
              <a:rPr sz="1600" b="1" i="0">
                <a:solidFill>
                  <a:srgbClr val="082B55"/>
                </a:solidFill>
                <a:latin typeface="Arial"/>
              </a:rPr>
              <a:t>Use DDIM</a:t>
            </a:r>
          </a:p>
        </p:txBody>
      </p:sp>
      <p:sp>
        <p:nvSpPr>
          <p:cNvPr id="41" name="TextBox 40"/>
          <p:cNvSpPr txBox="1"/>
          <p:nvPr/>
        </p:nvSpPr>
        <p:spPr>
          <a:xfrm>
            <a:off x="8897112" y="4919472"/>
            <a:ext cx="2542032" cy="429768"/>
          </a:xfrm>
          <a:prstGeom prst="rect">
            <a:avLst/>
          </a:prstGeom>
          <a:noFill/>
        </p:spPr>
        <p:txBody>
          <a:bodyPr wrap="square" lIns="0" rIns="0" tIns="0" bIns="0" anchor="ctr">
            <a:spAutoFit/>
          </a:bodyPr>
          <a:lstStyle/>
          <a:p>
            <a:pPr algn="l">
              <a:spcAft>
                <a:spcPts val="0"/>
              </a:spcAft>
            </a:pPr>
            <a:r>
              <a:rPr sz="1130" b="0" i="0">
                <a:solidFill>
                  <a:srgbClr val="263746"/>
                </a:solidFill>
                <a:latin typeface="Arial"/>
              </a:rPr>
              <a:t>Higher F1 with lower separability and FD.</a:t>
            </a:r>
          </a:p>
        </p:txBody>
      </p:sp>
      <p:sp>
        <p:nvSpPr>
          <p:cNvPr id="42" name="TextBox 41"/>
          <p:cNvSpPr txBox="1"/>
          <p:nvPr/>
        </p:nvSpPr>
        <p:spPr>
          <a:xfrm>
            <a:off x="7580375" y="5458968"/>
            <a:ext cx="3858768" cy="365760"/>
          </a:xfrm>
          <a:prstGeom prst="rect">
            <a:avLst/>
          </a:prstGeom>
          <a:noFill/>
        </p:spPr>
        <p:txBody>
          <a:bodyPr wrap="square" lIns="0" rIns="0" tIns="0" bIns="0" anchor="t">
            <a:spAutoFit/>
          </a:bodyPr>
          <a:lstStyle/>
          <a:p>
            <a:pPr algn="l">
              <a:spcAft>
                <a:spcPts val="0"/>
              </a:spcAft>
            </a:pPr>
            <a:r>
              <a:rPr sz="950" b="0" i="0">
                <a:solidFill>
                  <a:srgbClr val="59697A"/>
                </a:solidFill>
                <a:latin typeface="Arial"/>
              </a:rPr>
              <a:t>AA near 0.5 means real and generated profiles are difficult to separate.</a:t>
            </a:r>
          </a:p>
        </p:txBody>
      </p:sp>
      <p:sp>
        <p:nvSpPr>
          <p:cNvPr id="43" name="TextBox 42"/>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Architecture excerpt: Lacan et al. (2026), Fig. 1C, doi:10.1186/s12859-026-06470-8. Metrics use each model's stated split and are not paired.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Diffusion learns tissue structure from noise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same PCA axes follow 1,024 generated profiles through reverse diffusion.</a:t>
            </a:r>
          </a:p>
        </p:txBody>
      </p:sp>
      <p:pic>
        <p:nvPicPr>
          <p:cNvPr id="7" name="DDIM reverse trajectory at timesteps 1000, 200 and 0" descr="DDIM reverse trajectory at timesteps 1000, 200 and 0"/>
          <p:cNvPicPr>
            <a:picLocks noChangeAspect="1"/>
          </p:cNvPicPr>
          <p:nvPr/>
        </p:nvPicPr>
        <p:blipFill>
          <a:blip r:embed="rId2"/>
          <a:stretch>
            <a:fillRect/>
          </a:stretch>
        </p:blipFill>
        <p:spPr>
          <a:xfrm>
            <a:off x="310896" y="1735579"/>
            <a:ext cx="11558016" cy="4100072"/>
          </a:xfrm>
          <a:prstGeom prst="rect">
            <a:avLst/>
          </a:prstGeom>
        </p:spPr>
      </p:pic>
      <p:sp>
        <p:nvSpPr>
          <p:cNvPr id="8" name="TextBox 7"/>
          <p:cNvSpPr txBox="1"/>
          <p:nvPr/>
        </p:nvSpPr>
        <p:spPr>
          <a:xfrm>
            <a:off x="713232" y="5943600"/>
            <a:ext cx="228600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1000: noise</a:t>
            </a:r>
          </a:p>
        </p:txBody>
      </p:sp>
      <p:sp>
        <p:nvSpPr>
          <p:cNvPr id="9" name="TextBox 8"/>
          <p:cNvSpPr txBox="1"/>
          <p:nvPr/>
        </p:nvSpPr>
        <p:spPr>
          <a:xfrm>
            <a:off x="4782312" y="5943600"/>
            <a:ext cx="265176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200: partial structure</a:t>
            </a:r>
          </a:p>
        </p:txBody>
      </p:sp>
      <p:sp>
        <p:nvSpPr>
          <p:cNvPr id="10" name="TextBox 9"/>
          <p:cNvSpPr txBox="1"/>
          <p:nvPr/>
        </p:nvSpPr>
        <p:spPr>
          <a:xfrm>
            <a:off x="8366760" y="5943600"/>
            <a:ext cx="3108960" cy="256032"/>
          </a:xfrm>
          <a:prstGeom prst="rect">
            <a:avLst/>
          </a:prstGeom>
          <a:noFill/>
        </p:spPr>
        <p:txBody>
          <a:bodyPr wrap="square" lIns="18288" rIns="18288" tIns="18288" bIns="18288" anchor="t">
            <a:spAutoFit/>
          </a:bodyPr>
          <a:lstStyle/>
          <a:p>
            <a:pPr algn="ctr">
              <a:spcAft>
                <a:spcPts val="0"/>
              </a:spcAft>
            </a:pPr>
            <a:r>
              <a:rPr sz="1300" b="1" i="0">
                <a:solidFill>
                  <a:srgbClr val="178681"/>
                </a:solidFill>
                <a:latin typeface="Arial"/>
              </a:rPr>
              <a:t>t = 0: tissue-conditioned profiles</a:t>
            </a:r>
          </a:p>
        </p:txBody>
      </p:sp>
      <p:sp>
        <p:nvSpPr>
          <p:cNvPr id="11" name="TextBox 1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Gray points are real ARCHS4 profiles; colors identify generated tissue conditions. PC1 and PC2 limits are shared across panels.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 OUTPUT</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Tissue and study structure dominate the PCA space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Left: tissue. Right: OSDR accession. Circles are observed profiles; crosses are matched DDIM profiles.</a:t>
            </a:r>
          </a:p>
        </p:txBody>
      </p:sp>
      <p:pic>
        <p:nvPicPr>
          <p:cNvPr id="7" name="PCA of observed and matched DDIM profiles colored by tissue and OSDR accession" descr="PCA of observed and matched DDIM profiles colored by tissue and OSDR accession"/>
          <p:cNvPicPr>
            <a:picLocks noChangeAspect="1"/>
          </p:cNvPicPr>
          <p:nvPr/>
        </p:nvPicPr>
        <p:blipFill>
          <a:blip r:embed="rId2"/>
          <a:stretch>
            <a:fillRect/>
          </a:stretch>
        </p:blipFill>
        <p:spPr>
          <a:xfrm>
            <a:off x="347472" y="1713098"/>
            <a:ext cx="11448288" cy="4108458"/>
          </a:xfrm>
          <a:prstGeom prst="rect">
            <a:avLst/>
          </a:prstGeom>
        </p:spPr>
      </p:pic>
      <p:sp>
        <p:nvSpPr>
          <p:cNvPr id="8" name="Rectangle 7"/>
          <p:cNvSpPr/>
          <p:nvPr/>
        </p:nvSpPr>
        <p:spPr>
          <a:xfrm>
            <a:off x="438912" y="5916168"/>
            <a:ext cx="11311128" cy="429768"/>
          </a:xfrm>
          <a:prstGeom prst="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 y="5998464"/>
            <a:ext cx="10789920" cy="237744"/>
          </a:xfrm>
          <a:prstGeom prst="rect">
            <a:avLst/>
          </a:prstGeom>
          <a:noFill/>
        </p:spPr>
        <p:txBody>
          <a:bodyPr wrap="square" lIns="18288" rIns="18288" tIns="18288" bIns="18288" anchor="t">
            <a:spAutoFit/>
          </a:bodyPr>
          <a:lstStyle/>
          <a:p>
            <a:pPr algn="ctr">
              <a:spcAft>
                <a:spcPts val="0"/>
              </a:spcAft>
            </a:pPr>
            <a:r>
              <a:rPr sz="1300" b="1" i="0">
                <a:solidFill>
                  <a:srgbClr val="082B55"/>
                </a:solidFill>
                <a:latin typeface="Arial"/>
              </a:rPr>
              <a:t>Tissue and accession clusters are visible across both observed and generated profiles.</a:t>
            </a:r>
          </a:p>
        </p:txBody>
      </p:sp>
      <p:sp>
        <p:nvSpPr>
          <p:cNvPr id="10" name="TextBox 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Same 293 observed and 293 seed-5020 generated profiles; PCA was fitted once to the combined locked expression space.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 OUTPUT</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Flight condition is subtler than study structure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Left: FLT or GC. Right: OSDR accession. Circles are observed profiles; crosses are matched DDIM profiles.</a:t>
            </a:r>
          </a:p>
        </p:txBody>
      </p:sp>
      <p:pic>
        <p:nvPicPr>
          <p:cNvPr id="7" name="PCA of observed and matched DDIM profiles colored by condition and OSDR accession" descr="PCA of observed and matched DDIM profiles colored by condition and OSDR accession"/>
          <p:cNvPicPr>
            <a:picLocks noChangeAspect="1"/>
          </p:cNvPicPr>
          <p:nvPr/>
        </p:nvPicPr>
        <p:blipFill>
          <a:blip r:embed="rId2"/>
          <a:stretch>
            <a:fillRect/>
          </a:stretch>
        </p:blipFill>
        <p:spPr>
          <a:xfrm>
            <a:off x="347472" y="1713098"/>
            <a:ext cx="11448288" cy="4108458"/>
          </a:xfrm>
          <a:prstGeom prst="rect">
            <a:avLst/>
          </a:prstGeom>
        </p:spPr>
      </p:pic>
      <p:sp>
        <p:nvSpPr>
          <p:cNvPr id="8" name="Rectangle 7"/>
          <p:cNvSpPr/>
          <p:nvPr/>
        </p:nvSpPr>
        <p:spPr>
          <a:xfrm>
            <a:off x="438912" y="5916168"/>
            <a:ext cx="11311128" cy="429768"/>
          </a:xfrm>
          <a:prstGeom prst="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 y="5998464"/>
            <a:ext cx="10789920" cy="237744"/>
          </a:xfrm>
          <a:prstGeom prst="rect">
            <a:avLst/>
          </a:prstGeom>
          <a:noFill/>
        </p:spPr>
        <p:txBody>
          <a:bodyPr wrap="square" lIns="18288" rIns="18288" tIns="18288" bIns="18288" anchor="t">
            <a:spAutoFit/>
          </a:bodyPr>
          <a:lstStyle/>
          <a:p>
            <a:pPr algn="ctr">
              <a:spcAft>
                <a:spcPts val="0"/>
              </a:spcAft>
            </a:pPr>
            <a:r>
              <a:rPr sz="1300" b="1" i="0">
                <a:solidFill>
                  <a:srgbClr val="082B55"/>
                </a:solidFill>
                <a:latin typeface="Arial"/>
              </a:rPr>
              <a:t>Flight and ground-control profiles overlap within the larger accession-defined structure.</a:t>
            </a:r>
          </a:p>
        </p:txBody>
      </p:sp>
      <p:sp>
        <p:nvSpPr>
          <p:cNvPr id="10" name="TextBox 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The accession colors are shared across the two PCA slides; FLT-GC effects are evaluated within study.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PRIMARY 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Change the training source; hold the classifier fixed</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arms use the same 974 genes, data splits, preprocessing, and ridge regularization.</a:t>
            </a:r>
          </a:p>
        </p:txBody>
      </p:sp>
      <p:sp>
        <p:nvSpPr>
          <p:cNvPr id="7" name="Rectangle 6"/>
          <p:cNvSpPr/>
          <p:nvPr/>
        </p:nvSpPr>
        <p:spPr>
          <a:xfrm>
            <a:off x="429768" y="1810512"/>
            <a:ext cx="11137392" cy="658368"/>
          </a:xfrm>
          <a:prstGeom prst="rect">
            <a:avLst/>
          </a:prstGeom>
          <a:solidFill>
            <a:srgbClr val="F2F5F7"/>
          </a:solidFill>
          <a:ln w="10160">
            <a:solidFill>
              <a:srgbClr val="D3DDE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7512" y="1984248"/>
            <a:ext cx="2267712" cy="256032"/>
          </a:xfrm>
          <a:prstGeom prst="rect">
            <a:avLst/>
          </a:prstGeom>
          <a:noFill/>
        </p:spPr>
        <p:txBody>
          <a:bodyPr wrap="square" lIns="0" rIns="0" tIns="0" bIns="0" anchor="t">
            <a:spAutoFit/>
          </a:bodyPr>
          <a:lstStyle/>
          <a:p>
            <a:pPr algn="ctr">
              <a:spcAft>
                <a:spcPts val="0"/>
              </a:spcAft>
            </a:pPr>
            <a:r>
              <a:rPr sz="1320" b="1" i="0">
                <a:solidFill>
                  <a:srgbClr val="082B55"/>
                </a:solidFill>
                <a:latin typeface="Arial"/>
              </a:rPr>
              <a:t>974 genes</a:t>
            </a:r>
          </a:p>
        </p:txBody>
      </p:sp>
      <p:sp>
        <p:nvSpPr>
          <p:cNvPr id="9" name="Rectangle 8"/>
          <p:cNvSpPr/>
          <p:nvPr/>
        </p:nvSpPr>
        <p:spPr>
          <a:xfrm>
            <a:off x="2734056" y="1947672"/>
            <a:ext cx="10972" cy="384048"/>
          </a:xfrm>
          <a:prstGeom prst="rect">
            <a:avLst/>
          </a:prstGeom>
          <a:solidFill>
            <a:srgbClr val="C9D3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90088" y="1984248"/>
            <a:ext cx="2267712" cy="256032"/>
          </a:xfrm>
          <a:prstGeom prst="rect">
            <a:avLst/>
          </a:prstGeom>
          <a:noFill/>
        </p:spPr>
        <p:txBody>
          <a:bodyPr wrap="square" lIns="0" rIns="0" tIns="0" bIns="0" anchor="t">
            <a:spAutoFit/>
          </a:bodyPr>
          <a:lstStyle/>
          <a:p>
            <a:pPr algn="ctr">
              <a:spcAft>
                <a:spcPts val="0"/>
              </a:spcAft>
            </a:pPr>
            <a:r>
              <a:rPr sz="1320" b="1" i="0">
                <a:solidFill>
                  <a:srgbClr val="082B55"/>
                </a:solidFill>
                <a:latin typeface="Arial"/>
              </a:rPr>
              <a:t>Same outer splits</a:t>
            </a:r>
          </a:p>
        </p:txBody>
      </p:sp>
      <p:sp>
        <p:nvSpPr>
          <p:cNvPr id="11" name="Rectangle 10"/>
          <p:cNvSpPr/>
          <p:nvPr/>
        </p:nvSpPr>
        <p:spPr>
          <a:xfrm>
            <a:off x="5358383" y="1947672"/>
            <a:ext cx="10972" cy="384048"/>
          </a:xfrm>
          <a:prstGeom prst="rect">
            <a:avLst/>
          </a:prstGeom>
          <a:solidFill>
            <a:srgbClr val="C9D3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14416" y="1984248"/>
            <a:ext cx="2267712" cy="256032"/>
          </a:xfrm>
          <a:prstGeom prst="rect">
            <a:avLst/>
          </a:prstGeom>
          <a:noFill/>
        </p:spPr>
        <p:txBody>
          <a:bodyPr wrap="square" lIns="0" rIns="0" tIns="0" bIns="0" anchor="t">
            <a:spAutoFit/>
          </a:bodyPr>
          <a:lstStyle/>
          <a:p>
            <a:pPr algn="ctr">
              <a:spcAft>
                <a:spcPts val="0"/>
              </a:spcAft>
            </a:pPr>
            <a:r>
              <a:rPr sz="1320" b="1" i="0">
                <a:solidFill>
                  <a:srgbClr val="082B55"/>
                </a:solidFill>
                <a:latin typeface="Arial"/>
              </a:rPr>
              <a:t>Real-fitted scaler</a:t>
            </a:r>
          </a:p>
        </p:txBody>
      </p:sp>
      <p:sp>
        <p:nvSpPr>
          <p:cNvPr id="13" name="Rectangle 12"/>
          <p:cNvSpPr/>
          <p:nvPr/>
        </p:nvSpPr>
        <p:spPr>
          <a:xfrm>
            <a:off x="8138160" y="1947672"/>
            <a:ext cx="10972" cy="384048"/>
          </a:xfrm>
          <a:prstGeom prst="rect">
            <a:avLst/>
          </a:prstGeom>
          <a:solidFill>
            <a:srgbClr val="C9D3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94192" y="1984248"/>
            <a:ext cx="2267712" cy="256032"/>
          </a:xfrm>
          <a:prstGeom prst="rect">
            <a:avLst/>
          </a:prstGeom>
          <a:noFill/>
        </p:spPr>
        <p:txBody>
          <a:bodyPr wrap="square" lIns="0" rIns="0" tIns="0" bIns="0" anchor="t">
            <a:spAutoFit/>
          </a:bodyPr>
          <a:lstStyle/>
          <a:p>
            <a:pPr algn="ctr">
              <a:spcAft>
                <a:spcPts val="0"/>
              </a:spcAft>
            </a:pPr>
            <a:r>
              <a:rPr sz="1320" b="1" i="0">
                <a:solidFill>
                  <a:srgbClr val="082B55"/>
                </a:solidFill>
                <a:latin typeface="Arial"/>
              </a:rPr>
              <a:t>Same ridge penalty</a:t>
            </a:r>
          </a:p>
        </p:txBody>
      </p:sp>
      <p:sp>
        <p:nvSpPr>
          <p:cNvPr id="15" name="Rectangle 14"/>
          <p:cNvSpPr/>
          <p:nvPr/>
        </p:nvSpPr>
        <p:spPr>
          <a:xfrm>
            <a:off x="438912" y="2679192"/>
            <a:ext cx="3328416" cy="1261872"/>
          </a:xfrm>
          <a:prstGeom prst="rect">
            <a:avLst/>
          </a:prstGeom>
          <a:solidFill>
            <a:srgbClr val="FFFFFF"/>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8912" y="2679192"/>
            <a:ext cx="3328416" cy="5029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2647" y="2898648"/>
            <a:ext cx="2980944" cy="237744"/>
          </a:xfrm>
          <a:prstGeom prst="rect">
            <a:avLst/>
          </a:prstGeom>
          <a:noFill/>
        </p:spPr>
        <p:txBody>
          <a:bodyPr wrap="square" lIns="0" rIns="0" tIns="0" bIns="0" anchor="t">
            <a:spAutoFit/>
          </a:bodyPr>
          <a:lstStyle/>
          <a:p>
            <a:pPr algn="ctr">
              <a:spcAft>
                <a:spcPts val="0"/>
              </a:spcAft>
            </a:pPr>
            <a:r>
              <a:rPr sz="1300" b="1" i="0">
                <a:solidFill>
                  <a:srgbClr val="2D6496"/>
                </a:solidFill>
                <a:latin typeface="Arial"/>
              </a:rPr>
              <a:t>REAL ONLY</a:t>
            </a:r>
          </a:p>
        </p:txBody>
      </p:sp>
      <p:sp>
        <p:nvSpPr>
          <p:cNvPr id="18" name="Oval 17"/>
          <p:cNvSpPr/>
          <p:nvPr/>
        </p:nvSpPr>
        <p:spPr>
          <a:xfrm>
            <a:off x="1856232" y="3264408"/>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56232" y="32689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20" name="TextBox 19"/>
          <p:cNvSpPr txBox="1"/>
          <p:nvPr/>
        </p:nvSpPr>
        <p:spPr>
          <a:xfrm>
            <a:off x="621792" y="3575304"/>
            <a:ext cx="2962656" cy="219456"/>
          </a:xfrm>
          <a:prstGeom prst="rect">
            <a:avLst/>
          </a:prstGeom>
          <a:noFill/>
        </p:spPr>
        <p:txBody>
          <a:bodyPr wrap="square" lIns="0" rIns="0" tIns="0" bIns="0" anchor="t">
            <a:spAutoFit/>
          </a:bodyPr>
          <a:lstStyle/>
          <a:p>
            <a:pPr algn="ctr">
              <a:spcAft>
                <a:spcPts val="0"/>
              </a:spcAft>
            </a:pPr>
            <a:r>
              <a:rPr sz="1050" b="0" i="0">
                <a:solidFill>
                  <a:srgbClr val="263746"/>
                </a:solidFill>
                <a:latin typeface="Arial"/>
              </a:rPr>
              <a:t>Reference classifier</a:t>
            </a:r>
          </a:p>
        </p:txBody>
      </p:sp>
      <p:sp>
        <p:nvSpPr>
          <p:cNvPr id="21" name="Right Arrow 20"/>
          <p:cNvSpPr/>
          <p:nvPr/>
        </p:nvSpPr>
        <p:spPr>
          <a:xfrm>
            <a:off x="1865376" y="4005072"/>
            <a:ext cx="384048" cy="21945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0" y="2679192"/>
            <a:ext cx="3328416" cy="1261872"/>
          </a:xfrm>
          <a:prstGeom prst="rect">
            <a:avLst/>
          </a:prstGeom>
          <a:solidFill>
            <a:srgbClr val="FFFFFF"/>
          </a:solidFill>
          <a:ln w="10160">
            <a:solidFill>
              <a:srgbClr val="D965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114800" y="2679192"/>
            <a:ext cx="3328416" cy="50292"/>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288536" y="2898648"/>
            <a:ext cx="2980944" cy="237744"/>
          </a:xfrm>
          <a:prstGeom prst="rect">
            <a:avLst/>
          </a:prstGeom>
          <a:noFill/>
        </p:spPr>
        <p:txBody>
          <a:bodyPr wrap="square" lIns="0" rIns="0" tIns="0" bIns="0" anchor="t">
            <a:spAutoFit/>
          </a:bodyPr>
          <a:lstStyle/>
          <a:p>
            <a:pPr algn="ctr">
              <a:spcAft>
                <a:spcPts val="0"/>
              </a:spcAft>
            </a:pPr>
            <a:r>
              <a:rPr sz="1300" b="1" i="0">
                <a:solidFill>
                  <a:srgbClr val="D96552"/>
                </a:solidFill>
                <a:latin typeface="Arial"/>
              </a:rPr>
              <a:t>SYNTHETIC ONLY</a:t>
            </a:r>
          </a:p>
        </p:txBody>
      </p:sp>
      <p:sp>
        <p:nvSpPr>
          <p:cNvPr id="25" name="Oval 24"/>
          <p:cNvSpPr/>
          <p:nvPr/>
        </p:nvSpPr>
        <p:spPr>
          <a:xfrm>
            <a:off x="5532120" y="3264408"/>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532120" y="32689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27" name="TextBox 26"/>
          <p:cNvSpPr txBox="1"/>
          <p:nvPr/>
        </p:nvSpPr>
        <p:spPr>
          <a:xfrm>
            <a:off x="4297680" y="3575304"/>
            <a:ext cx="2962656" cy="219456"/>
          </a:xfrm>
          <a:prstGeom prst="rect">
            <a:avLst/>
          </a:prstGeom>
          <a:noFill/>
        </p:spPr>
        <p:txBody>
          <a:bodyPr wrap="square" lIns="0" rIns="0" tIns="0" bIns="0" anchor="t">
            <a:spAutoFit/>
          </a:bodyPr>
          <a:lstStyle/>
          <a:p>
            <a:pPr algn="ctr">
              <a:spcAft>
                <a:spcPts val="0"/>
              </a:spcAft>
            </a:pPr>
            <a:r>
              <a:rPr sz="1050" b="0" i="0">
                <a:solidFill>
                  <a:srgbClr val="263746"/>
                </a:solidFill>
                <a:latin typeface="Arial"/>
              </a:rPr>
              <a:t>Generator transfer test</a:t>
            </a:r>
          </a:p>
        </p:txBody>
      </p:sp>
      <p:sp>
        <p:nvSpPr>
          <p:cNvPr id="28" name="Right Arrow 27"/>
          <p:cNvSpPr/>
          <p:nvPr/>
        </p:nvSpPr>
        <p:spPr>
          <a:xfrm>
            <a:off x="5541264" y="4005072"/>
            <a:ext cx="384048" cy="21945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790688" y="2679192"/>
            <a:ext cx="3328416" cy="1261872"/>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790688" y="2679192"/>
            <a:ext cx="3328416" cy="5029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964423" y="2898648"/>
            <a:ext cx="2980944" cy="237744"/>
          </a:xfrm>
          <a:prstGeom prst="rect">
            <a:avLst/>
          </a:prstGeom>
          <a:noFill/>
        </p:spPr>
        <p:txBody>
          <a:bodyPr wrap="square" lIns="0" rIns="0" tIns="0" bIns="0" anchor="t">
            <a:spAutoFit/>
          </a:bodyPr>
          <a:lstStyle/>
          <a:p>
            <a:pPr algn="ctr">
              <a:spcAft>
                <a:spcPts val="0"/>
              </a:spcAft>
            </a:pPr>
            <a:r>
              <a:rPr sz="1300" b="1" i="0">
                <a:solidFill>
                  <a:srgbClr val="178681"/>
                </a:solidFill>
                <a:latin typeface="Arial"/>
              </a:rPr>
              <a:t>REAL + SYNTHETIC</a:t>
            </a:r>
          </a:p>
        </p:txBody>
      </p:sp>
      <p:sp>
        <p:nvSpPr>
          <p:cNvPr id="32" name="Oval 31"/>
          <p:cNvSpPr/>
          <p:nvPr/>
        </p:nvSpPr>
        <p:spPr>
          <a:xfrm>
            <a:off x="8933688" y="3264408"/>
            <a:ext cx="219456" cy="219456"/>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933688" y="32689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R</a:t>
            </a:r>
          </a:p>
        </p:txBody>
      </p:sp>
      <p:sp>
        <p:nvSpPr>
          <p:cNvPr id="34" name="TextBox 33"/>
          <p:cNvSpPr txBox="1"/>
          <p:nvPr/>
        </p:nvSpPr>
        <p:spPr>
          <a:xfrm>
            <a:off x="9226296" y="3273552"/>
            <a:ext cx="210312" cy="201168"/>
          </a:xfrm>
          <a:prstGeom prst="rect">
            <a:avLst/>
          </a:prstGeom>
          <a:noFill/>
        </p:spPr>
        <p:txBody>
          <a:bodyPr wrap="square" lIns="0" rIns="0" tIns="0" bIns="0" anchor="t">
            <a:spAutoFit/>
          </a:bodyPr>
          <a:lstStyle/>
          <a:p>
            <a:pPr algn="ctr">
              <a:spcAft>
                <a:spcPts val="0"/>
              </a:spcAft>
            </a:pPr>
            <a:r>
              <a:rPr sz="1100" b="1" i="0">
                <a:solidFill>
                  <a:srgbClr val="59697A"/>
                </a:solidFill>
                <a:latin typeface="Arial"/>
              </a:rPr>
              <a:t>+</a:t>
            </a:r>
          </a:p>
        </p:txBody>
      </p:sp>
      <p:sp>
        <p:nvSpPr>
          <p:cNvPr id="35" name="Oval 34"/>
          <p:cNvSpPr/>
          <p:nvPr/>
        </p:nvSpPr>
        <p:spPr>
          <a:xfrm>
            <a:off x="9473184" y="3264408"/>
            <a:ext cx="219456" cy="219456"/>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473184" y="3268979"/>
            <a:ext cx="219456" cy="210311"/>
          </a:xfrm>
          <a:prstGeom prst="rect">
            <a:avLst/>
          </a:prstGeom>
          <a:noFill/>
        </p:spPr>
        <p:txBody>
          <a:bodyPr wrap="square" lIns="0" rIns="0" tIns="0" bIns="0" anchor="ctr">
            <a:spAutoFit/>
          </a:bodyPr>
          <a:lstStyle/>
          <a:p>
            <a:pPr algn="ctr">
              <a:spcAft>
                <a:spcPts val="0"/>
              </a:spcAft>
            </a:pPr>
            <a:r>
              <a:rPr sz="819" b="1" i="0">
                <a:solidFill>
                  <a:srgbClr val="FFFFFF"/>
                </a:solidFill>
                <a:latin typeface="Arial"/>
              </a:rPr>
              <a:t>S</a:t>
            </a:r>
          </a:p>
        </p:txBody>
      </p:sp>
      <p:sp>
        <p:nvSpPr>
          <p:cNvPr id="37" name="TextBox 36"/>
          <p:cNvSpPr txBox="1"/>
          <p:nvPr/>
        </p:nvSpPr>
        <p:spPr>
          <a:xfrm>
            <a:off x="7973567" y="3575304"/>
            <a:ext cx="2962656" cy="219456"/>
          </a:xfrm>
          <a:prstGeom prst="rect">
            <a:avLst/>
          </a:prstGeom>
          <a:noFill/>
        </p:spPr>
        <p:txBody>
          <a:bodyPr wrap="square" lIns="0" rIns="0" tIns="0" bIns="0" anchor="t">
            <a:spAutoFit/>
          </a:bodyPr>
          <a:lstStyle/>
          <a:p>
            <a:pPr algn="ctr">
              <a:spcAft>
                <a:spcPts val="0"/>
              </a:spcAft>
            </a:pPr>
            <a:r>
              <a:rPr sz="1050" b="0" i="0">
                <a:solidFill>
                  <a:srgbClr val="263746"/>
                </a:solidFill>
                <a:latin typeface="Arial"/>
              </a:rPr>
              <a:t>Synthetic augmentation</a:t>
            </a:r>
          </a:p>
        </p:txBody>
      </p:sp>
      <p:sp>
        <p:nvSpPr>
          <p:cNvPr id="38" name="Right Arrow 37"/>
          <p:cNvSpPr/>
          <p:nvPr/>
        </p:nvSpPr>
        <p:spPr>
          <a:xfrm>
            <a:off x="9217152" y="4005072"/>
            <a:ext cx="384048" cy="219456"/>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29768" y="4352544"/>
            <a:ext cx="11137392" cy="786384"/>
          </a:xfrm>
          <a:prstGeom prst="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1520" y="4544568"/>
            <a:ext cx="3017520" cy="274320"/>
          </a:xfrm>
          <a:prstGeom prst="rect">
            <a:avLst/>
          </a:prstGeom>
          <a:noFill/>
        </p:spPr>
        <p:txBody>
          <a:bodyPr wrap="square" lIns="0" rIns="0" tIns="0" bIns="0" anchor="t">
            <a:spAutoFit/>
          </a:bodyPr>
          <a:lstStyle/>
          <a:p>
            <a:pPr algn="ctr">
              <a:spcAft>
                <a:spcPts val="0"/>
              </a:spcAft>
            </a:pPr>
            <a:r>
              <a:rPr sz="1600" b="1" i="0">
                <a:solidFill>
                  <a:srgbClr val="2D6496"/>
                </a:solidFill>
                <a:latin typeface="Arial"/>
              </a:rPr>
              <a:t>Same held-out real profiles</a:t>
            </a:r>
          </a:p>
        </p:txBody>
      </p:sp>
      <p:sp>
        <p:nvSpPr>
          <p:cNvPr id="41" name="Rectangle 40"/>
          <p:cNvSpPr/>
          <p:nvPr/>
        </p:nvSpPr>
        <p:spPr>
          <a:xfrm>
            <a:off x="3904487" y="4507992"/>
            <a:ext cx="10972" cy="457200"/>
          </a:xfrm>
          <a:prstGeom prst="rect">
            <a:avLst/>
          </a:prstGeom>
          <a:solidFill>
            <a:srgbClr val="AFC0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215384" y="4498848"/>
            <a:ext cx="2057400" cy="228600"/>
          </a:xfrm>
          <a:prstGeom prst="rect">
            <a:avLst/>
          </a:prstGeom>
          <a:noFill/>
        </p:spPr>
        <p:txBody>
          <a:bodyPr wrap="square" lIns="0" rIns="0" tIns="0" bIns="0" anchor="t">
            <a:spAutoFit/>
          </a:bodyPr>
          <a:lstStyle/>
          <a:p>
            <a:pPr algn="ctr">
              <a:spcAft>
                <a:spcPts val="0"/>
              </a:spcAft>
            </a:pPr>
            <a:r>
              <a:rPr sz="1260" b="1" i="0">
                <a:solidFill>
                  <a:srgbClr val="082B55"/>
                </a:solidFill>
                <a:latin typeface="Arial"/>
              </a:rPr>
              <a:t>Pooled metrics</a:t>
            </a:r>
          </a:p>
        </p:txBody>
      </p:sp>
      <p:sp>
        <p:nvSpPr>
          <p:cNvPr id="43" name="TextBox 42"/>
          <p:cNvSpPr txBox="1"/>
          <p:nvPr/>
        </p:nvSpPr>
        <p:spPr>
          <a:xfrm>
            <a:off x="4215384" y="4754880"/>
            <a:ext cx="2057400" cy="201168"/>
          </a:xfrm>
          <a:prstGeom prst="rect">
            <a:avLst/>
          </a:prstGeom>
          <a:noFill/>
        </p:spPr>
        <p:txBody>
          <a:bodyPr wrap="square" lIns="0" rIns="0" tIns="0" bIns="0" anchor="t">
            <a:spAutoFit/>
          </a:bodyPr>
          <a:lstStyle/>
          <a:p>
            <a:pPr algn="ctr">
              <a:spcAft>
                <a:spcPts val="0"/>
              </a:spcAft>
            </a:pPr>
            <a:r>
              <a:rPr sz="1040" b="0" i="0">
                <a:solidFill>
                  <a:srgbClr val="59697A"/>
                </a:solidFill>
                <a:latin typeface="Arial"/>
              </a:rPr>
              <a:t>BA  |  AUROC  |  AP</a:t>
            </a:r>
          </a:p>
        </p:txBody>
      </p:sp>
      <p:sp>
        <p:nvSpPr>
          <p:cNvPr id="44" name="Rectangle 43"/>
          <p:cNvSpPr/>
          <p:nvPr/>
        </p:nvSpPr>
        <p:spPr>
          <a:xfrm>
            <a:off x="6464808" y="4507992"/>
            <a:ext cx="10972" cy="457200"/>
          </a:xfrm>
          <a:prstGeom prst="rect">
            <a:avLst/>
          </a:prstGeom>
          <a:solidFill>
            <a:srgbClr val="AFC0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757416" y="4498848"/>
            <a:ext cx="2423160" cy="228600"/>
          </a:xfrm>
          <a:prstGeom prst="rect">
            <a:avLst/>
          </a:prstGeom>
          <a:noFill/>
        </p:spPr>
        <p:txBody>
          <a:bodyPr wrap="square" lIns="0" rIns="0" tIns="0" bIns="0" anchor="t">
            <a:spAutoFit/>
          </a:bodyPr>
          <a:lstStyle/>
          <a:p>
            <a:pPr algn="ctr">
              <a:spcAft>
                <a:spcPts val="0"/>
              </a:spcAft>
            </a:pPr>
            <a:r>
              <a:rPr sz="1260" b="1" i="0">
                <a:solidFill>
                  <a:srgbClr val="082B55"/>
                </a:solidFill>
                <a:latin typeface="Arial"/>
              </a:rPr>
              <a:t>Accession-macro metrics</a:t>
            </a:r>
          </a:p>
        </p:txBody>
      </p:sp>
      <p:sp>
        <p:nvSpPr>
          <p:cNvPr id="46" name="TextBox 45"/>
          <p:cNvSpPr txBox="1"/>
          <p:nvPr/>
        </p:nvSpPr>
        <p:spPr>
          <a:xfrm>
            <a:off x="6757416" y="4754880"/>
            <a:ext cx="2423160" cy="201168"/>
          </a:xfrm>
          <a:prstGeom prst="rect">
            <a:avLst/>
          </a:prstGeom>
          <a:noFill/>
        </p:spPr>
        <p:txBody>
          <a:bodyPr wrap="square" lIns="0" rIns="0" tIns="0" bIns="0" anchor="t">
            <a:spAutoFit/>
          </a:bodyPr>
          <a:lstStyle/>
          <a:p>
            <a:pPr algn="ctr">
              <a:spcAft>
                <a:spcPts val="0"/>
              </a:spcAft>
            </a:pPr>
            <a:r>
              <a:rPr sz="1040" b="0" i="0">
                <a:solidFill>
                  <a:srgbClr val="59697A"/>
                </a:solidFill>
                <a:latin typeface="Arial"/>
              </a:rPr>
              <a:t>BA  |  AUROC  |  AP</a:t>
            </a:r>
          </a:p>
        </p:txBody>
      </p:sp>
      <p:sp>
        <p:nvSpPr>
          <p:cNvPr id="47" name="TextBox 46"/>
          <p:cNvSpPr txBox="1"/>
          <p:nvPr/>
        </p:nvSpPr>
        <p:spPr>
          <a:xfrm>
            <a:off x="9262872" y="4498848"/>
            <a:ext cx="2029968" cy="438912"/>
          </a:xfrm>
          <a:prstGeom prst="rect">
            <a:avLst/>
          </a:prstGeom>
          <a:noFill/>
        </p:spPr>
        <p:txBody>
          <a:bodyPr wrap="square" lIns="0" rIns="0" tIns="0" bIns="0" anchor="ctr">
            <a:spAutoFit/>
          </a:bodyPr>
          <a:lstStyle/>
          <a:p>
            <a:pPr algn="ctr">
              <a:spcAft>
                <a:spcPts val="0"/>
              </a:spcAft>
            </a:pPr>
            <a:r>
              <a:rPr sz="1120" b="1" i="0">
                <a:solidFill>
                  <a:srgbClr val="178681"/>
                </a:solidFill>
                <a:latin typeface="Arial"/>
              </a:rPr>
              <a:t>Pass only if all six means are nonworse</a:t>
            </a:r>
          </a:p>
        </p:txBody>
      </p:sp>
      <p:sp>
        <p:nvSpPr>
          <p:cNvPr id="48" name="Rectangle 47"/>
          <p:cNvSpPr/>
          <p:nvPr/>
        </p:nvSpPr>
        <p:spPr>
          <a:xfrm>
            <a:off x="429768" y="5404104"/>
            <a:ext cx="11137392" cy="731520"/>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85800" y="5596128"/>
            <a:ext cx="1965960" cy="256032"/>
          </a:xfrm>
          <a:prstGeom prst="rect">
            <a:avLst/>
          </a:prstGeom>
          <a:noFill/>
        </p:spPr>
        <p:txBody>
          <a:bodyPr wrap="square" lIns="0" rIns="0" tIns="0" bIns="0" anchor="t">
            <a:spAutoFit/>
          </a:bodyPr>
          <a:lstStyle/>
          <a:p>
            <a:pPr algn="l">
              <a:spcAft>
                <a:spcPts val="0"/>
              </a:spcAft>
            </a:pPr>
            <a:r>
              <a:rPr sz="1420" b="1" i="0">
                <a:solidFill>
                  <a:srgbClr val="FFFFFF"/>
                </a:solidFill>
                <a:latin typeface="Arial"/>
              </a:rPr>
              <a:t>Gene-level follow-up</a:t>
            </a:r>
          </a:p>
        </p:txBody>
      </p:sp>
      <p:sp>
        <p:nvSpPr>
          <p:cNvPr id="50" name="TextBox 49"/>
          <p:cNvSpPr txBox="1"/>
          <p:nvPr/>
        </p:nvSpPr>
        <p:spPr>
          <a:xfrm>
            <a:off x="2770632" y="5577840"/>
            <a:ext cx="4956048" cy="274320"/>
          </a:xfrm>
          <a:prstGeom prst="rect">
            <a:avLst/>
          </a:prstGeom>
          <a:noFill/>
        </p:spPr>
        <p:txBody>
          <a:bodyPr wrap="square" lIns="0" rIns="0" tIns="0" bIns="0" anchor="t">
            <a:spAutoFit/>
          </a:bodyPr>
          <a:lstStyle/>
          <a:p>
            <a:pPr algn="l">
              <a:spcAft>
                <a:spcPts val="0"/>
              </a:spcAft>
            </a:pPr>
            <a:r>
              <a:rPr sz="1240" b="0" i="0">
                <a:solidFill>
                  <a:srgbClr val="DCE7F2"/>
                </a:solidFill>
                <a:latin typeface="Arial"/>
              </a:rPr>
              <a:t>Blocked permutation + linear SHAP on held-out real profiles</a:t>
            </a:r>
          </a:p>
        </p:txBody>
      </p:sp>
      <p:sp>
        <p:nvSpPr>
          <p:cNvPr id="51" name="TextBox 50"/>
          <p:cNvSpPr txBox="1"/>
          <p:nvPr/>
        </p:nvSpPr>
        <p:spPr>
          <a:xfrm>
            <a:off x="7964424" y="5577840"/>
            <a:ext cx="3273552" cy="274320"/>
          </a:xfrm>
          <a:prstGeom prst="rect">
            <a:avLst/>
          </a:prstGeom>
          <a:noFill/>
        </p:spPr>
        <p:txBody>
          <a:bodyPr wrap="square" lIns="0" rIns="0" tIns="0" bIns="0" anchor="t">
            <a:spAutoFit/>
          </a:bodyPr>
          <a:lstStyle/>
          <a:p>
            <a:pPr algn="r">
              <a:spcAft>
                <a:spcPts val="0"/>
              </a:spcAft>
            </a:pPr>
            <a:r>
              <a:rPr sz="1240" b="1" i="0">
                <a:solidFill>
                  <a:srgbClr val="FFD69A"/>
                </a:solidFill>
                <a:latin typeface="Arial"/>
              </a:rPr>
              <a:t>BH FDR still uses real OSDR only</a:t>
            </a:r>
          </a:p>
        </p:txBody>
      </p:sp>
      <p:sp>
        <p:nvSpPr>
          <p:cNvPr id="52" name="TextBox 51"/>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Primary matched analysis: 27 tissue units, eight outer splits, 648 fitted classifiers; generated profiles do not increase animal 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Consensus ranking chooses the classifier input genes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Real and generated rankings combine, then only the top k genes are used for FLT-GC classification.</a:t>
            </a:r>
          </a:p>
        </p:txBody>
      </p:sp>
      <p:sp>
        <p:nvSpPr>
          <p:cNvPr id="7" name="Rectangle 6"/>
          <p:cNvSpPr/>
          <p:nvPr/>
        </p:nvSpPr>
        <p:spPr>
          <a:xfrm>
            <a:off x="438912" y="1874519"/>
            <a:ext cx="3300984" cy="2377440"/>
          </a:xfrm>
          <a:prstGeom prst="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075688"/>
            <a:ext cx="1700784" cy="228600"/>
          </a:xfrm>
          <a:prstGeom prst="rect">
            <a:avLst/>
          </a:prstGeom>
          <a:noFill/>
        </p:spPr>
        <p:txBody>
          <a:bodyPr wrap="square" lIns="0" rIns="0" tIns="0" bIns="0" anchor="t">
            <a:spAutoFit/>
          </a:bodyPr>
          <a:lstStyle/>
          <a:p>
            <a:pPr algn="l">
              <a:spcAft>
                <a:spcPts val="0"/>
              </a:spcAft>
            </a:pPr>
            <a:r>
              <a:rPr sz="1400" b="1" i="0">
                <a:solidFill>
                  <a:srgbClr val="2D6496"/>
                </a:solidFill>
                <a:latin typeface="Arial"/>
              </a:rPr>
              <a:t>1  REAL RANKING</a:t>
            </a:r>
          </a:p>
        </p:txBody>
      </p:sp>
      <p:sp>
        <p:nvSpPr>
          <p:cNvPr id="9" name="TextBox 8"/>
          <p:cNvSpPr txBox="1"/>
          <p:nvPr/>
        </p:nvSpPr>
        <p:spPr>
          <a:xfrm>
            <a:off x="658368" y="2386584"/>
            <a:ext cx="2761488" cy="210312"/>
          </a:xfrm>
          <a:prstGeom prst="rect">
            <a:avLst/>
          </a:prstGeom>
          <a:noFill/>
        </p:spPr>
        <p:txBody>
          <a:bodyPr wrap="square" lIns="0" rIns="0" tIns="0" bIns="0" anchor="t">
            <a:spAutoFit/>
          </a:bodyPr>
          <a:lstStyle/>
          <a:p>
            <a:pPr algn="l">
              <a:spcAft>
                <a:spcPts val="0"/>
              </a:spcAft>
            </a:pPr>
            <a:r>
              <a:rPr sz="1040" b="0" i="0">
                <a:solidFill>
                  <a:srgbClr val="263746"/>
                </a:solidFill>
                <a:latin typeface="Arial"/>
              </a:rPr>
              <a:t>Rank all 974 genes using real OSDR</a:t>
            </a:r>
          </a:p>
        </p:txBody>
      </p:sp>
      <p:sp>
        <p:nvSpPr>
          <p:cNvPr id="10" name="TextBox 9"/>
          <p:cNvSpPr txBox="1"/>
          <p:nvPr/>
        </p:nvSpPr>
        <p:spPr>
          <a:xfrm>
            <a:off x="1453896" y="2706624"/>
            <a:ext cx="749808" cy="164592"/>
          </a:xfrm>
          <a:prstGeom prst="rect">
            <a:avLst/>
          </a:prstGeom>
          <a:noFill/>
        </p:spPr>
        <p:txBody>
          <a:bodyPr wrap="square" lIns="0" rIns="0" tIns="0" bIns="0" anchor="t">
            <a:spAutoFit/>
          </a:bodyPr>
          <a:lstStyle/>
          <a:p>
            <a:pPr algn="l">
              <a:spcAft>
                <a:spcPts val="0"/>
              </a:spcAft>
            </a:pPr>
            <a:r>
              <a:rPr sz="850" b="0" i="0">
                <a:solidFill>
                  <a:srgbClr val="59697A"/>
                </a:solidFill>
                <a:latin typeface="Arial"/>
              </a:rPr>
              <a:t>lower-ranked</a:t>
            </a:r>
          </a:p>
        </p:txBody>
      </p:sp>
      <p:sp>
        <p:nvSpPr>
          <p:cNvPr id="11" name="TextBox 10"/>
          <p:cNvSpPr txBox="1"/>
          <p:nvPr/>
        </p:nvSpPr>
        <p:spPr>
          <a:xfrm>
            <a:off x="2761488" y="2706624"/>
            <a:ext cx="658368" cy="164592"/>
          </a:xfrm>
          <a:prstGeom prst="rect">
            <a:avLst/>
          </a:prstGeom>
          <a:noFill/>
        </p:spPr>
        <p:txBody>
          <a:bodyPr wrap="square" lIns="0" rIns="0" tIns="0" bIns="0" anchor="t">
            <a:spAutoFit/>
          </a:bodyPr>
          <a:lstStyle/>
          <a:p>
            <a:pPr algn="r">
              <a:spcAft>
                <a:spcPts val="0"/>
              </a:spcAft>
            </a:pPr>
            <a:r>
              <a:rPr sz="850" b="0" i="0">
                <a:solidFill>
                  <a:srgbClr val="59697A"/>
                </a:solidFill>
                <a:latin typeface="Arial"/>
              </a:rPr>
              <a:t>top-ranked</a:t>
            </a:r>
          </a:p>
        </p:txBody>
      </p:sp>
      <p:sp>
        <p:nvSpPr>
          <p:cNvPr id="12" name="TextBox 11"/>
          <p:cNvSpPr txBox="1"/>
          <p:nvPr/>
        </p:nvSpPr>
        <p:spPr>
          <a:xfrm>
            <a:off x="658368" y="28575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1</a:t>
            </a:r>
          </a:p>
        </p:txBody>
      </p:sp>
      <p:sp>
        <p:nvSpPr>
          <p:cNvPr id="13" name="Rectangle 12"/>
          <p:cNvSpPr/>
          <p:nvPr/>
        </p:nvSpPr>
        <p:spPr>
          <a:xfrm>
            <a:off x="1481328" y="29397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992831" y="2884932"/>
            <a:ext cx="137160" cy="13716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30861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2</a:t>
            </a:r>
          </a:p>
        </p:txBody>
      </p:sp>
      <p:sp>
        <p:nvSpPr>
          <p:cNvPr id="16" name="Rectangle 15"/>
          <p:cNvSpPr/>
          <p:nvPr/>
        </p:nvSpPr>
        <p:spPr>
          <a:xfrm>
            <a:off x="1481328" y="31683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852379" y="3113532"/>
            <a:ext cx="137160" cy="13716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33147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3</a:t>
            </a:r>
          </a:p>
        </p:txBody>
      </p:sp>
      <p:sp>
        <p:nvSpPr>
          <p:cNvPr id="19" name="Rectangle 18"/>
          <p:cNvSpPr/>
          <p:nvPr/>
        </p:nvSpPr>
        <p:spPr>
          <a:xfrm>
            <a:off x="1481328" y="33969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2676814" y="3342132"/>
            <a:ext cx="137160" cy="13716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5433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4</a:t>
            </a:r>
          </a:p>
        </p:txBody>
      </p:sp>
      <p:sp>
        <p:nvSpPr>
          <p:cNvPr id="22" name="Rectangle 21"/>
          <p:cNvSpPr/>
          <p:nvPr/>
        </p:nvSpPr>
        <p:spPr>
          <a:xfrm>
            <a:off x="1481328" y="36255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395910" y="3570732"/>
            <a:ext cx="137160" cy="13716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37719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5</a:t>
            </a:r>
          </a:p>
        </p:txBody>
      </p:sp>
      <p:sp>
        <p:nvSpPr>
          <p:cNvPr id="25" name="Rectangle 24"/>
          <p:cNvSpPr/>
          <p:nvPr/>
        </p:nvSpPr>
        <p:spPr>
          <a:xfrm>
            <a:off x="1481328" y="38541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2027224" y="3799331"/>
            <a:ext cx="137160" cy="13716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ight Arrow 26"/>
          <p:cNvSpPr/>
          <p:nvPr/>
        </p:nvSpPr>
        <p:spPr>
          <a:xfrm>
            <a:off x="3803904" y="2679192"/>
            <a:ext cx="246888"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0" y="1874519"/>
            <a:ext cx="3300984" cy="2377440"/>
          </a:xfrm>
          <a:prstGeom prst="rect">
            <a:avLst/>
          </a:prstGeom>
          <a:solidFill>
            <a:srgbClr val="F8ECE9"/>
          </a:solidFill>
          <a:ln w="10160">
            <a:solidFill>
              <a:srgbClr val="E6CEC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34256" y="2075688"/>
            <a:ext cx="2267712" cy="228600"/>
          </a:xfrm>
          <a:prstGeom prst="rect">
            <a:avLst/>
          </a:prstGeom>
          <a:noFill/>
        </p:spPr>
        <p:txBody>
          <a:bodyPr wrap="square" lIns="0" rIns="0" tIns="0" bIns="0" anchor="t">
            <a:spAutoFit/>
          </a:bodyPr>
          <a:lstStyle/>
          <a:p>
            <a:pPr algn="l">
              <a:spcAft>
                <a:spcPts val="0"/>
              </a:spcAft>
            </a:pPr>
            <a:r>
              <a:rPr sz="1400" b="1" i="0">
                <a:solidFill>
                  <a:srgbClr val="D96552"/>
                </a:solidFill>
                <a:latin typeface="Arial"/>
              </a:rPr>
              <a:t>2  GENERATED RANKING</a:t>
            </a:r>
          </a:p>
        </p:txBody>
      </p:sp>
      <p:sp>
        <p:nvSpPr>
          <p:cNvPr id="30" name="TextBox 29"/>
          <p:cNvSpPr txBox="1"/>
          <p:nvPr/>
        </p:nvSpPr>
        <p:spPr>
          <a:xfrm>
            <a:off x="4334256" y="2386584"/>
            <a:ext cx="2807208" cy="210312"/>
          </a:xfrm>
          <a:prstGeom prst="rect">
            <a:avLst/>
          </a:prstGeom>
          <a:noFill/>
        </p:spPr>
        <p:txBody>
          <a:bodyPr wrap="square" lIns="0" rIns="0" tIns="0" bIns="0" anchor="t">
            <a:spAutoFit/>
          </a:bodyPr>
          <a:lstStyle/>
          <a:p>
            <a:pPr algn="l">
              <a:spcAft>
                <a:spcPts val="0"/>
              </a:spcAft>
            </a:pPr>
            <a:r>
              <a:rPr sz="1040" b="0" i="0">
                <a:solidFill>
                  <a:srgbClr val="263746"/>
                </a:solidFill>
                <a:latin typeface="Arial"/>
              </a:rPr>
              <a:t>Rank the same 974 genes using generated profiles</a:t>
            </a:r>
          </a:p>
        </p:txBody>
      </p:sp>
      <p:sp>
        <p:nvSpPr>
          <p:cNvPr id="31" name="TextBox 30"/>
          <p:cNvSpPr txBox="1"/>
          <p:nvPr/>
        </p:nvSpPr>
        <p:spPr>
          <a:xfrm>
            <a:off x="5129784" y="2706624"/>
            <a:ext cx="749808" cy="164592"/>
          </a:xfrm>
          <a:prstGeom prst="rect">
            <a:avLst/>
          </a:prstGeom>
          <a:noFill/>
        </p:spPr>
        <p:txBody>
          <a:bodyPr wrap="square" lIns="0" rIns="0" tIns="0" bIns="0" anchor="t">
            <a:spAutoFit/>
          </a:bodyPr>
          <a:lstStyle/>
          <a:p>
            <a:pPr algn="l">
              <a:spcAft>
                <a:spcPts val="0"/>
              </a:spcAft>
            </a:pPr>
            <a:r>
              <a:rPr sz="850" b="0" i="0">
                <a:solidFill>
                  <a:srgbClr val="59697A"/>
                </a:solidFill>
                <a:latin typeface="Arial"/>
              </a:rPr>
              <a:t>lower-ranked</a:t>
            </a:r>
          </a:p>
        </p:txBody>
      </p:sp>
      <p:sp>
        <p:nvSpPr>
          <p:cNvPr id="32" name="TextBox 31"/>
          <p:cNvSpPr txBox="1"/>
          <p:nvPr/>
        </p:nvSpPr>
        <p:spPr>
          <a:xfrm>
            <a:off x="6437376" y="2706624"/>
            <a:ext cx="658368" cy="164592"/>
          </a:xfrm>
          <a:prstGeom prst="rect">
            <a:avLst/>
          </a:prstGeom>
          <a:noFill/>
        </p:spPr>
        <p:txBody>
          <a:bodyPr wrap="square" lIns="0" rIns="0" tIns="0" bIns="0" anchor="t">
            <a:spAutoFit/>
          </a:bodyPr>
          <a:lstStyle/>
          <a:p>
            <a:pPr algn="r">
              <a:spcAft>
                <a:spcPts val="0"/>
              </a:spcAft>
            </a:pPr>
            <a:r>
              <a:rPr sz="850" b="0" i="0">
                <a:solidFill>
                  <a:srgbClr val="59697A"/>
                </a:solidFill>
                <a:latin typeface="Arial"/>
              </a:rPr>
              <a:t>top-ranked</a:t>
            </a:r>
          </a:p>
        </p:txBody>
      </p:sp>
      <p:sp>
        <p:nvSpPr>
          <p:cNvPr id="33" name="TextBox 32"/>
          <p:cNvSpPr txBox="1"/>
          <p:nvPr/>
        </p:nvSpPr>
        <p:spPr>
          <a:xfrm>
            <a:off x="4334256" y="28575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1</a:t>
            </a:r>
          </a:p>
        </p:txBody>
      </p:sp>
      <p:sp>
        <p:nvSpPr>
          <p:cNvPr id="34" name="Rectangle 33"/>
          <p:cNvSpPr/>
          <p:nvPr/>
        </p:nvSpPr>
        <p:spPr>
          <a:xfrm>
            <a:off x="5157216" y="29397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633606" y="2884932"/>
            <a:ext cx="137160" cy="13716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34256" y="30861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2</a:t>
            </a:r>
          </a:p>
        </p:txBody>
      </p:sp>
      <p:sp>
        <p:nvSpPr>
          <p:cNvPr id="37" name="Rectangle 36"/>
          <p:cNvSpPr/>
          <p:nvPr/>
        </p:nvSpPr>
        <p:spPr>
          <a:xfrm>
            <a:off x="5157216" y="31683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878677" y="3113532"/>
            <a:ext cx="137160" cy="13716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34256" y="33147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3</a:t>
            </a:r>
          </a:p>
        </p:txBody>
      </p:sp>
      <p:sp>
        <p:nvSpPr>
          <p:cNvPr id="40" name="Rectangle 39"/>
          <p:cNvSpPr/>
          <p:nvPr/>
        </p:nvSpPr>
        <p:spPr>
          <a:xfrm>
            <a:off x="5157216" y="33969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6598493" y="3342132"/>
            <a:ext cx="137160" cy="13716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334256" y="35433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4</a:t>
            </a:r>
          </a:p>
        </p:txBody>
      </p:sp>
      <p:sp>
        <p:nvSpPr>
          <p:cNvPr id="43" name="Rectangle 42"/>
          <p:cNvSpPr/>
          <p:nvPr/>
        </p:nvSpPr>
        <p:spPr>
          <a:xfrm>
            <a:off x="5157216" y="36255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282476" y="3570732"/>
            <a:ext cx="137160" cy="13716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334256" y="37719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5</a:t>
            </a:r>
          </a:p>
        </p:txBody>
      </p:sp>
      <p:sp>
        <p:nvSpPr>
          <p:cNvPr id="46" name="Rectangle 45"/>
          <p:cNvSpPr/>
          <p:nvPr/>
        </p:nvSpPr>
        <p:spPr>
          <a:xfrm>
            <a:off x="5157216" y="38541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5650443" y="3799331"/>
            <a:ext cx="137160" cy="13716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ight Arrow 47"/>
          <p:cNvSpPr/>
          <p:nvPr/>
        </p:nvSpPr>
        <p:spPr>
          <a:xfrm>
            <a:off x="7479792" y="2679192"/>
            <a:ext cx="246888"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790688" y="1874519"/>
            <a:ext cx="3776472" cy="2377440"/>
          </a:xfrm>
          <a:prstGeom prst="rect">
            <a:avLst/>
          </a:prstGeom>
          <a:solidFill>
            <a:srgbClr val="E8F3F1"/>
          </a:solidFill>
          <a:ln w="10160">
            <a:solidFill>
              <a:srgbClr val="C9DF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010144" y="2075688"/>
            <a:ext cx="2331720" cy="228600"/>
          </a:xfrm>
          <a:prstGeom prst="rect">
            <a:avLst/>
          </a:prstGeom>
          <a:noFill/>
        </p:spPr>
        <p:txBody>
          <a:bodyPr wrap="square" lIns="0" rIns="0" tIns="0" bIns="0" anchor="t">
            <a:spAutoFit/>
          </a:bodyPr>
          <a:lstStyle/>
          <a:p>
            <a:pPr algn="l">
              <a:spcAft>
                <a:spcPts val="0"/>
              </a:spcAft>
            </a:pPr>
            <a:r>
              <a:rPr sz="1400" b="1" i="0">
                <a:solidFill>
                  <a:srgbClr val="178681"/>
                </a:solidFill>
                <a:latin typeface="Arial"/>
              </a:rPr>
              <a:t>3  CONSENSUS RANKING</a:t>
            </a:r>
          </a:p>
        </p:txBody>
      </p:sp>
      <p:sp>
        <p:nvSpPr>
          <p:cNvPr id="51" name="TextBox 50"/>
          <p:cNvSpPr txBox="1"/>
          <p:nvPr/>
        </p:nvSpPr>
        <p:spPr>
          <a:xfrm>
            <a:off x="8010144" y="2386584"/>
            <a:ext cx="2578608" cy="210312"/>
          </a:xfrm>
          <a:prstGeom prst="rect">
            <a:avLst/>
          </a:prstGeom>
          <a:noFill/>
        </p:spPr>
        <p:txBody>
          <a:bodyPr wrap="square" lIns="0" rIns="0" tIns="0" bIns="0" anchor="t">
            <a:spAutoFit/>
          </a:bodyPr>
          <a:lstStyle/>
          <a:p>
            <a:pPr algn="l">
              <a:spcAft>
                <a:spcPts val="0"/>
              </a:spcAft>
            </a:pPr>
            <a:r>
              <a:rPr sz="1040" b="0" i="0">
                <a:solidFill>
                  <a:srgbClr val="263746"/>
                </a:solidFill>
                <a:latin typeface="Arial"/>
              </a:rPr>
              <a:t>Genes supported by both move upward</a:t>
            </a:r>
          </a:p>
        </p:txBody>
      </p:sp>
      <p:sp>
        <p:nvSpPr>
          <p:cNvPr id="52" name="TextBox 51"/>
          <p:cNvSpPr txBox="1"/>
          <p:nvPr/>
        </p:nvSpPr>
        <p:spPr>
          <a:xfrm>
            <a:off x="8833104" y="2706624"/>
            <a:ext cx="749808" cy="164592"/>
          </a:xfrm>
          <a:prstGeom prst="rect">
            <a:avLst/>
          </a:prstGeom>
          <a:noFill/>
        </p:spPr>
        <p:txBody>
          <a:bodyPr wrap="square" lIns="0" rIns="0" tIns="0" bIns="0" anchor="t">
            <a:spAutoFit/>
          </a:bodyPr>
          <a:lstStyle/>
          <a:p>
            <a:pPr algn="l">
              <a:spcAft>
                <a:spcPts val="0"/>
              </a:spcAft>
            </a:pPr>
            <a:r>
              <a:rPr sz="850" b="0" i="0">
                <a:solidFill>
                  <a:srgbClr val="59697A"/>
                </a:solidFill>
                <a:latin typeface="Arial"/>
              </a:rPr>
              <a:t>lower-ranked</a:t>
            </a:r>
          </a:p>
        </p:txBody>
      </p:sp>
      <p:sp>
        <p:nvSpPr>
          <p:cNvPr id="53" name="TextBox 52"/>
          <p:cNvSpPr txBox="1"/>
          <p:nvPr/>
        </p:nvSpPr>
        <p:spPr>
          <a:xfrm>
            <a:off x="10616184" y="2706624"/>
            <a:ext cx="658368" cy="164592"/>
          </a:xfrm>
          <a:prstGeom prst="rect">
            <a:avLst/>
          </a:prstGeom>
          <a:noFill/>
        </p:spPr>
        <p:txBody>
          <a:bodyPr wrap="square" lIns="0" rIns="0" tIns="0" bIns="0" anchor="t">
            <a:spAutoFit/>
          </a:bodyPr>
          <a:lstStyle/>
          <a:p>
            <a:pPr algn="r">
              <a:spcAft>
                <a:spcPts val="0"/>
              </a:spcAft>
            </a:pPr>
            <a:r>
              <a:rPr sz="850" b="0" i="0">
                <a:solidFill>
                  <a:srgbClr val="59697A"/>
                </a:solidFill>
                <a:latin typeface="Arial"/>
              </a:rPr>
              <a:t>top-ranked</a:t>
            </a:r>
          </a:p>
        </p:txBody>
      </p:sp>
      <p:sp>
        <p:nvSpPr>
          <p:cNvPr id="54" name="TextBox 53"/>
          <p:cNvSpPr txBox="1"/>
          <p:nvPr/>
        </p:nvSpPr>
        <p:spPr>
          <a:xfrm>
            <a:off x="8010144" y="28575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1</a:t>
            </a:r>
          </a:p>
        </p:txBody>
      </p:sp>
      <p:sp>
        <p:nvSpPr>
          <p:cNvPr id="55" name="Rectangle 54"/>
          <p:cNvSpPr/>
          <p:nvPr/>
        </p:nvSpPr>
        <p:spPr>
          <a:xfrm>
            <a:off x="8833104" y="29397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0327050" y="2884932"/>
            <a:ext cx="137160" cy="13716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716768" y="2857500"/>
            <a:ext cx="731520" cy="192024"/>
          </a:xfrm>
          <a:prstGeom prst="rect">
            <a:avLst/>
          </a:prstGeom>
          <a:noFill/>
        </p:spPr>
        <p:txBody>
          <a:bodyPr wrap="square" lIns="0" rIns="0" tIns="0" bIns="0" anchor="t">
            <a:spAutoFit/>
          </a:bodyPr>
          <a:lstStyle/>
          <a:p>
            <a:pPr algn="r">
              <a:spcAft>
                <a:spcPts val="0"/>
              </a:spcAft>
            </a:pPr>
            <a:r>
              <a:rPr sz="780" b="1" i="0">
                <a:solidFill>
                  <a:srgbClr val="178681"/>
                </a:solidFill>
                <a:latin typeface="Arial"/>
              </a:rPr>
              <a:t>selected</a:t>
            </a:r>
          </a:p>
        </p:txBody>
      </p:sp>
      <p:sp>
        <p:nvSpPr>
          <p:cNvPr id="58" name="TextBox 57"/>
          <p:cNvSpPr txBox="1"/>
          <p:nvPr/>
        </p:nvSpPr>
        <p:spPr>
          <a:xfrm>
            <a:off x="8010144" y="30861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2</a:t>
            </a:r>
          </a:p>
        </p:txBody>
      </p:sp>
      <p:sp>
        <p:nvSpPr>
          <p:cNvPr id="59" name="Rectangle 58"/>
          <p:cNvSpPr/>
          <p:nvPr/>
        </p:nvSpPr>
        <p:spPr>
          <a:xfrm>
            <a:off x="8833104" y="31683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9835469" y="3113532"/>
            <a:ext cx="137160" cy="137160"/>
          </a:xfrm>
          <a:prstGeom prst="ellipse">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0716768" y="3086100"/>
            <a:ext cx="731520" cy="192024"/>
          </a:xfrm>
          <a:prstGeom prst="rect">
            <a:avLst/>
          </a:prstGeom>
          <a:noFill/>
        </p:spPr>
        <p:txBody>
          <a:bodyPr wrap="square" lIns="0" rIns="0" tIns="0" bIns="0" anchor="t">
            <a:spAutoFit/>
          </a:bodyPr>
          <a:lstStyle/>
          <a:p>
            <a:pPr algn="r">
              <a:spcAft>
                <a:spcPts val="0"/>
              </a:spcAft>
            </a:pPr>
            <a:r>
              <a:rPr sz="780" b="1" i="0">
                <a:solidFill>
                  <a:srgbClr val="8A969E"/>
                </a:solidFill>
                <a:latin typeface="Arial"/>
              </a:rPr>
              <a:t>not selected</a:t>
            </a:r>
          </a:p>
        </p:txBody>
      </p:sp>
      <p:sp>
        <p:nvSpPr>
          <p:cNvPr id="62" name="TextBox 61"/>
          <p:cNvSpPr txBox="1"/>
          <p:nvPr/>
        </p:nvSpPr>
        <p:spPr>
          <a:xfrm>
            <a:off x="8010144" y="33147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3</a:t>
            </a:r>
          </a:p>
        </p:txBody>
      </p:sp>
      <p:sp>
        <p:nvSpPr>
          <p:cNvPr id="63" name="Rectangle 62"/>
          <p:cNvSpPr/>
          <p:nvPr/>
        </p:nvSpPr>
        <p:spPr>
          <a:xfrm>
            <a:off x="8833104" y="33969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10151485" y="3342132"/>
            <a:ext cx="137160" cy="13716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0716768" y="3314700"/>
            <a:ext cx="731520" cy="192024"/>
          </a:xfrm>
          <a:prstGeom prst="rect">
            <a:avLst/>
          </a:prstGeom>
          <a:noFill/>
        </p:spPr>
        <p:txBody>
          <a:bodyPr wrap="square" lIns="0" rIns="0" tIns="0" bIns="0" anchor="t">
            <a:spAutoFit/>
          </a:bodyPr>
          <a:lstStyle/>
          <a:p>
            <a:pPr algn="r">
              <a:spcAft>
                <a:spcPts val="0"/>
              </a:spcAft>
            </a:pPr>
            <a:r>
              <a:rPr sz="780" b="1" i="0">
                <a:solidFill>
                  <a:srgbClr val="178681"/>
                </a:solidFill>
                <a:latin typeface="Arial"/>
              </a:rPr>
              <a:t>selected</a:t>
            </a:r>
          </a:p>
        </p:txBody>
      </p:sp>
      <p:sp>
        <p:nvSpPr>
          <p:cNvPr id="66" name="TextBox 65"/>
          <p:cNvSpPr txBox="1"/>
          <p:nvPr/>
        </p:nvSpPr>
        <p:spPr>
          <a:xfrm>
            <a:off x="8010144" y="35433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4</a:t>
            </a:r>
          </a:p>
        </p:txBody>
      </p:sp>
      <p:sp>
        <p:nvSpPr>
          <p:cNvPr id="67" name="Rectangle 66"/>
          <p:cNvSpPr/>
          <p:nvPr/>
        </p:nvSpPr>
        <p:spPr>
          <a:xfrm>
            <a:off x="8833104" y="36255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9853025" y="3570732"/>
            <a:ext cx="137160" cy="137160"/>
          </a:xfrm>
          <a:prstGeom prst="ellipse">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0716768" y="3543300"/>
            <a:ext cx="731520" cy="192024"/>
          </a:xfrm>
          <a:prstGeom prst="rect">
            <a:avLst/>
          </a:prstGeom>
          <a:noFill/>
        </p:spPr>
        <p:txBody>
          <a:bodyPr wrap="square" lIns="0" rIns="0" tIns="0" bIns="0" anchor="t">
            <a:spAutoFit/>
          </a:bodyPr>
          <a:lstStyle/>
          <a:p>
            <a:pPr algn="r">
              <a:spcAft>
                <a:spcPts val="0"/>
              </a:spcAft>
            </a:pPr>
            <a:r>
              <a:rPr sz="780" b="1" i="0">
                <a:solidFill>
                  <a:srgbClr val="8A969E"/>
                </a:solidFill>
                <a:latin typeface="Arial"/>
              </a:rPr>
              <a:t>not selected</a:t>
            </a:r>
          </a:p>
        </p:txBody>
      </p:sp>
      <p:sp>
        <p:nvSpPr>
          <p:cNvPr id="70" name="TextBox 69"/>
          <p:cNvSpPr txBox="1"/>
          <p:nvPr/>
        </p:nvSpPr>
        <p:spPr>
          <a:xfrm>
            <a:off x="8010144" y="3771900"/>
            <a:ext cx="713232" cy="210312"/>
          </a:xfrm>
          <a:prstGeom prst="rect">
            <a:avLst/>
          </a:prstGeom>
          <a:noFill/>
        </p:spPr>
        <p:txBody>
          <a:bodyPr wrap="square" lIns="0" rIns="0" tIns="0" bIns="0" anchor="t">
            <a:spAutoFit/>
          </a:bodyPr>
          <a:lstStyle/>
          <a:p>
            <a:pPr algn="l">
              <a:spcAft>
                <a:spcPts val="0"/>
              </a:spcAft>
            </a:pPr>
            <a:r>
              <a:rPr sz="1040" b="1" i="0">
                <a:solidFill>
                  <a:srgbClr val="263746"/>
                </a:solidFill>
                <a:latin typeface="Arial"/>
              </a:rPr>
              <a:t>Gene 5</a:t>
            </a:r>
          </a:p>
        </p:txBody>
      </p:sp>
      <p:sp>
        <p:nvSpPr>
          <p:cNvPr id="71" name="Rectangle 70"/>
          <p:cNvSpPr/>
          <p:nvPr/>
        </p:nvSpPr>
        <p:spPr>
          <a:xfrm>
            <a:off x="8833104" y="3854196"/>
            <a:ext cx="1755648" cy="22860"/>
          </a:xfrm>
          <a:prstGeom prst="rect">
            <a:avLst/>
          </a:prstGeom>
          <a:solidFill>
            <a:srgbClr val="C9D2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9343887" y="3799331"/>
            <a:ext cx="137160" cy="137160"/>
          </a:xfrm>
          <a:prstGeom prst="ellipse">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10716768" y="3771900"/>
            <a:ext cx="731520" cy="192024"/>
          </a:xfrm>
          <a:prstGeom prst="rect">
            <a:avLst/>
          </a:prstGeom>
          <a:noFill/>
        </p:spPr>
        <p:txBody>
          <a:bodyPr wrap="square" lIns="0" rIns="0" tIns="0" bIns="0" anchor="t">
            <a:spAutoFit/>
          </a:bodyPr>
          <a:lstStyle/>
          <a:p>
            <a:pPr algn="r">
              <a:spcAft>
                <a:spcPts val="0"/>
              </a:spcAft>
            </a:pPr>
            <a:r>
              <a:rPr sz="780" b="1" i="0">
                <a:solidFill>
                  <a:srgbClr val="8A969E"/>
                </a:solidFill>
                <a:latin typeface="Arial"/>
              </a:rPr>
              <a:t>not selected</a:t>
            </a:r>
          </a:p>
        </p:txBody>
      </p:sp>
      <p:sp>
        <p:nvSpPr>
          <p:cNvPr id="74" name="Rectangle 73"/>
          <p:cNvSpPr/>
          <p:nvPr/>
        </p:nvSpPr>
        <p:spPr>
          <a:xfrm>
            <a:off x="10149840" y="2834640"/>
            <a:ext cx="20116" cy="116128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10195560" y="4041648"/>
            <a:ext cx="1097280" cy="164592"/>
          </a:xfrm>
          <a:prstGeom prst="rect">
            <a:avLst/>
          </a:prstGeom>
          <a:noFill/>
        </p:spPr>
        <p:txBody>
          <a:bodyPr wrap="square" lIns="0" rIns="0" tIns="0" bIns="0" anchor="t">
            <a:spAutoFit/>
          </a:bodyPr>
          <a:lstStyle/>
          <a:p>
            <a:pPr algn="r">
              <a:spcAft>
                <a:spcPts val="0"/>
              </a:spcAft>
            </a:pPr>
            <a:r>
              <a:rPr sz="850" b="0" i="1">
                <a:solidFill>
                  <a:srgbClr val="178681"/>
                </a:solidFill>
                <a:latin typeface="Arial"/>
              </a:rPr>
              <a:t>selection cutoff</a:t>
            </a:r>
          </a:p>
        </p:txBody>
      </p:sp>
      <p:sp>
        <p:nvSpPr>
          <p:cNvPr id="76" name="TextBox 75"/>
          <p:cNvSpPr txBox="1"/>
          <p:nvPr/>
        </p:nvSpPr>
        <p:spPr>
          <a:xfrm>
            <a:off x="475488" y="4425696"/>
            <a:ext cx="4251960" cy="256032"/>
          </a:xfrm>
          <a:prstGeom prst="rect">
            <a:avLst/>
          </a:prstGeom>
          <a:noFill/>
        </p:spPr>
        <p:txBody>
          <a:bodyPr wrap="square" lIns="0" rIns="0" tIns="0" bIns="0" anchor="t">
            <a:spAutoFit/>
          </a:bodyPr>
          <a:lstStyle/>
          <a:p>
            <a:pPr algn="l">
              <a:spcAft>
                <a:spcPts val="0"/>
              </a:spcAft>
            </a:pPr>
            <a:r>
              <a:rPr sz="1600" b="1" i="0">
                <a:solidFill>
                  <a:srgbClr val="082B55"/>
                </a:solidFill>
                <a:latin typeface="Arial"/>
              </a:rPr>
              <a:t>Top-ranked genes become classifier inputs</a:t>
            </a:r>
          </a:p>
        </p:txBody>
      </p:sp>
      <p:sp>
        <p:nvSpPr>
          <p:cNvPr id="77" name="Rectangle 76"/>
          <p:cNvSpPr/>
          <p:nvPr/>
        </p:nvSpPr>
        <p:spPr>
          <a:xfrm>
            <a:off x="466344" y="4736592"/>
            <a:ext cx="3081528" cy="1170432"/>
          </a:xfrm>
          <a:prstGeom prst="rect">
            <a:avLst/>
          </a:prstGeom>
          <a:solidFill>
            <a:srgbClr val="F4F8FA"/>
          </a:solidFill>
          <a:ln w="10160">
            <a:solidFill>
              <a:srgbClr val="D5E1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04088" y="4983480"/>
            <a:ext cx="2596896" cy="228600"/>
          </a:xfrm>
          <a:prstGeom prst="rect">
            <a:avLst/>
          </a:prstGeom>
          <a:noFill/>
        </p:spPr>
        <p:txBody>
          <a:bodyPr wrap="square" lIns="0" rIns="0" tIns="0" bIns="0" anchor="t">
            <a:spAutoFit/>
          </a:bodyPr>
          <a:lstStyle/>
          <a:p>
            <a:pPr algn="ctr">
              <a:spcAft>
                <a:spcPts val="0"/>
              </a:spcAft>
            </a:pPr>
            <a:r>
              <a:rPr sz="1300" b="1" i="0">
                <a:solidFill>
                  <a:srgbClr val="2D6496"/>
                </a:solidFill>
                <a:latin typeface="Arial"/>
              </a:rPr>
              <a:t>Rank 974 genes</a:t>
            </a:r>
          </a:p>
        </p:txBody>
      </p:sp>
      <p:sp>
        <p:nvSpPr>
          <p:cNvPr id="79" name="TextBox 78"/>
          <p:cNvSpPr txBox="1"/>
          <p:nvPr/>
        </p:nvSpPr>
        <p:spPr>
          <a:xfrm>
            <a:off x="704088" y="5376672"/>
            <a:ext cx="2596896" cy="201168"/>
          </a:xfrm>
          <a:prstGeom prst="rect">
            <a:avLst/>
          </a:prstGeom>
          <a:noFill/>
        </p:spPr>
        <p:txBody>
          <a:bodyPr wrap="square" lIns="0" rIns="0" tIns="0" bIns="0" anchor="t">
            <a:spAutoFit/>
          </a:bodyPr>
          <a:lstStyle/>
          <a:p>
            <a:pPr algn="ctr">
              <a:spcAft>
                <a:spcPts val="0"/>
              </a:spcAft>
            </a:pPr>
            <a:r>
              <a:rPr sz="1000" b="0" i="0">
                <a:solidFill>
                  <a:srgbClr val="59697A"/>
                </a:solidFill>
                <a:latin typeface="Arial"/>
              </a:rPr>
              <a:t>real, generated, or consensus</a:t>
            </a:r>
          </a:p>
        </p:txBody>
      </p:sp>
      <p:sp>
        <p:nvSpPr>
          <p:cNvPr id="80" name="Right Arrow 79"/>
          <p:cNvSpPr/>
          <p:nvPr/>
        </p:nvSpPr>
        <p:spPr>
          <a:xfrm>
            <a:off x="3648456" y="5193792"/>
            <a:ext cx="283464"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4032504" y="4736592"/>
            <a:ext cx="3081528" cy="1170432"/>
          </a:xfrm>
          <a:prstGeom prst="rect">
            <a:avLst/>
          </a:prstGeom>
          <a:solidFill>
            <a:srgbClr val="E8F3F1"/>
          </a:solidFill>
          <a:ln w="10160">
            <a:solidFill>
              <a:srgbClr val="C9DF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270248" y="4928616"/>
            <a:ext cx="2596896" cy="228600"/>
          </a:xfrm>
          <a:prstGeom prst="rect">
            <a:avLst/>
          </a:prstGeom>
          <a:noFill/>
        </p:spPr>
        <p:txBody>
          <a:bodyPr wrap="square" lIns="0" rIns="0" tIns="0" bIns="0" anchor="t">
            <a:spAutoFit/>
          </a:bodyPr>
          <a:lstStyle/>
          <a:p>
            <a:pPr algn="ctr">
              <a:spcAft>
                <a:spcPts val="0"/>
              </a:spcAft>
            </a:pPr>
            <a:r>
              <a:rPr sz="1300" b="1" i="0">
                <a:solidFill>
                  <a:srgbClr val="178681"/>
                </a:solidFill>
                <a:latin typeface="Arial"/>
              </a:rPr>
              <a:t>Keep the top k</a:t>
            </a:r>
          </a:p>
        </p:txBody>
      </p:sp>
      <p:sp>
        <p:nvSpPr>
          <p:cNvPr id="83" name="TextBox 82"/>
          <p:cNvSpPr txBox="1"/>
          <p:nvPr/>
        </p:nvSpPr>
        <p:spPr>
          <a:xfrm>
            <a:off x="4270248" y="5266944"/>
            <a:ext cx="2596896" cy="201168"/>
          </a:xfrm>
          <a:prstGeom prst="rect">
            <a:avLst/>
          </a:prstGeom>
          <a:noFill/>
        </p:spPr>
        <p:txBody>
          <a:bodyPr wrap="square" lIns="0" rIns="0" tIns="0" bIns="0" anchor="t">
            <a:spAutoFit/>
          </a:bodyPr>
          <a:lstStyle/>
          <a:p>
            <a:pPr algn="ctr">
              <a:spcAft>
                <a:spcPts val="0"/>
              </a:spcAft>
            </a:pPr>
            <a:r>
              <a:rPr sz="1019" b="1" i="0">
                <a:solidFill>
                  <a:srgbClr val="263746"/>
                </a:solidFill>
                <a:latin typeface="Arial"/>
              </a:rPr>
              <a:t>k = 10, 25, 50, or 100</a:t>
            </a:r>
          </a:p>
        </p:txBody>
      </p:sp>
      <p:sp>
        <p:nvSpPr>
          <p:cNvPr id="84" name="TextBox 83"/>
          <p:cNvSpPr txBox="1"/>
          <p:nvPr/>
        </p:nvSpPr>
        <p:spPr>
          <a:xfrm>
            <a:off x="4270248" y="5541264"/>
            <a:ext cx="2596896" cy="164592"/>
          </a:xfrm>
          <a:prstGeom prst="rect">
            <a:avLst/>
          </a:prstGeom>
          <a:noFill/>
        </p:spPr>
        <p:txBody>
          <a:bodyPr wrap="square" lIns="0" rIns="0" tIns="0" bIns="0" anchor="t">
            <a:spAutoFit/>
          </a:bodyPr>
          <a:lstStyle/>
          <a:p>
            <a:pPr algn="ctr">
              <a:spcAft>
                <a:spcPts val="0"/>
              </a:spcAft>
            </a:pPr>
            <a:r>
              <a:rPr sz="880" b="0" i="1">
                <a:solidFill>
                  <a:srgbClr val="59697A"/>
                </a:solidFill>
                <a:latin typeface="Arial"/>
              </a:rPr>
              <a:t>validation chooses k</a:t>
            </a:r>
          </a:p>
        </p:txBody>
      </p:sp>
      <p:sp>
        <p:nvSpPr>
          <p:cNvPr id="85" name="Right Arrow 84"/>
          <p:cNvSpPr/>
          <p:nvPr/>
        </p:nvSpPr>
        <p:spPr>
          <a:xfrm>
            <a:off x="7214616" y="5193792"/>
            <a:ext cx="283464" cy="182880"/>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ectangle 85"/>
          <p:cNvSpPr/>
          <p:nvPr/>
        </p:nvSpPr>
        <p:spPr>
          <a:xfrm>
            <a:off x="7598664" y="4736592"/>
            <a:ext cx="3968496" cy="1170432"/>
          </a:xfrm>
          <a:prstGeom prst="rect">
            <a:avLst/>
          </a:prstGeom>
          <a:solidFill>
            <a:srgbClr val="F6F7F8"/>
          </a:solidFill>
          <a:ln w="10160">
            <a:solidFill>
              <a:srgbClr val="D9DFE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7836408" y="4983480"/>
            <a:ext cx="3493008" cy="228600"/>
          </a:xfrm>
          <a:prstGeom prst="rect">
            <a:avLst/>
          </a:prstGeom>
          <a:noFill/>
        </p:spPr>
        <p:txBody>
          <a:bodyPr wrap="square" lIns="0" rIns="0" tIns="0" bIns="0" anchor="t">
            <a:spAutoFit/>
          </a:bodyPr>
          <a:lstStyle/>
          <a:p>
            <a:pPr algn="ctr">
              <a:spcAft>
                <a:spcPts val="0"/>
              </a:spcAft>
            </a:pPr>
            <a:r>
              <a:rPr sz="1300" b="1" i="0">
                <a:solidFill>
                  <a:srgbClr val="082B55"/>
                </a:solidFill>
                <a:latin typeface="Arial"/>
              </a:rPr>
              <a:t>Fit FLT-GC classifier</a:t>
            </a:r>
          </a:p>
        </p:txBody>
      </p:sp>
      <p:sp>
        <p:nvSpPr>
          <p:cNvPr id="88" name="TextBox 87"/>
          <p:cNvSpPr txBox="1"/>
          <p:nvPr/>
        </p:nvSpPr>
        <p:spPr>
          <a:xfrm>
            <a:off x="7836408" y="5376672"/>
            <a:ext cx="3493008" cy="201168"/>
          </a:xfrm>
          <a:prstGeom prst="rect">
            <a:avLst/>
          </a:prstGeom>
          <a:noFill/>
        </p:spPr>
        <p:txBody>
          <a:bodyPr wrap="square" lIns="0" rIns="0" tIns="0" bIns="0" anchor="t">
            <a:spAutoFit/>
          </a:bodyPr>
          <a:lstStyle/>
          <a:p>
            <a:pPr algn="ctr">
              <a:spcAft>
                <a:spcPts val="0"/>
              </a:spcAft>
            </a:pPr>
            <a:r>
              <a:rPr sz="1000" b="0" i="0">
                <a:solidFill>
                  <a:srgbClr val="263746"/>
                </a:solidFill>
                <a:latin typeface="Arial"/>
              </a:rPr>
              <a:t>using only the selected gene columns</a:t>
            </a:r>
          </a:p>
        </p:txBody>
      </p:sp>
      <p:sp>
        <p:nvSpPr>
          <p:cNvPr id="89" name="TextBox 88"/>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Five genes are schematic examples from the 974-gene ranking. Real and generated normalized ranks are combined.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INTERPRETATION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Correlated genes dilute one-at-a-time importance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 pathway can matter even when no single member causes a large permutation loss.</a:t>
            </a:r>
          </a:p>
        </p:txBody>
      </p:sp>
      <p:sp>
        <p:nvSpPr>
          <p:cNvPr id="7" name="Rectangle 6"/>
          <p:cNvSpPr/>
          <p:nvPr/>
        </p:nvSpPr>
        <p:spPr>
          <a:xfrm>
            <a:off x="420624" y="1856231"/>
            <a:ext cx="3337560" cy="3529584"/>
          </a:xfrm>
          <a:prstGeom prst="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3504" y="2029968"/>
            <a:ext cx="384048" cy="310896"/>
          </a:xfrm>
          <a:prstGeom prst="rect">
            <a:avLst/>
          </a:prstGeom>
          <a:noFill/>
        </p:spPr>
        <p:txBody>
          <a:bodyPr wrap="square" lIns="0" rIns="0" tIns="0" bIns="0" anchor="t">
            <a:spAutoFit/>
          </a:bodyPr>
          <a:lstStyle/>
          <a:p>
            <a:pPr algn="l">
              <a:spcAft>
                <a:spcPts val="0"/>
              </a:spcAft>
            </a:pPr>
            <a:r>
              <a:rPr sz="1800" b="1" i="0">
                <a:solidFill>
                  <a:srgbClr val="2D6496"/>
                </a:solidFill>
                <a:latin typeface="Arial"/>
              </a:rPr>
              <a:t>1</a:t>
            </a:r>
          </a:p>
        </p:txBody>
      </p:sp>
      <p:sp>
        <p:nvSpPr>
          <p:cNvPr id="9" name="TextBox 8"/>
          <p:cNvSpPr txBox="1"/>
          <p:nvPr/>
        </p:nvSpPr>
        <p:spPr>
          <a:xfrm>
            <a:off x="1051560" y="2048256"/>
            <a:ext cx="2468880" cy="265176"/>
          </a:xfrm>
          <a:prstGeom prst="rect">
            <a:avLst/>
          </a:prstGeom>
          <a:noFill/>
        </p:spPr>
        <p:txBody>
          <a:bodyPr wrap="square" lIns="0" rIns="0" tIns="0" bIns="0" anchor="t">
            <a:spAutoFit/>
          </a:bodyPr>
          <a:lstStyle/>
          <a:p>
            <a:pPr algn="l">
              <a:spcAft>
                <a:spcPts val="0"/>
              </a:spcAft>
            </a:pPr>
            <a:r>
              <a:rPr sz="1300" b="1" i="0">
                <a:solidFill>
                  <a:srgbClr val="082B55"/>
                </a:solidFill>
                <a:latin typeface="Arial"/>
              </a:rPr>
              <a:t>CORRELATED MODULE</a:t>
            </a:r>
          </a:p>
        </p:txBody>
      </p:sp>
      <p:sp>
        <p:nvSpPr>
          <p:cNvPr id="10" name="Rectangle 9"/>
          <p:cNvSpPr/>
          <p:nvPr/>
        </p:nvSpPr>
        <p:spPr>
          <a:xfrm>
            <a:off x="4096512" y="1856231"/>
            <a:ext cx="3337560" cy="3529584"/>
          </a:xfrm>
          <a:prstGeom prst="rect">
            <a:avLst/>
          </a:prstGeom>
          <a:solidFill>
            <a:srgbClr val="F8ECE9"/>
          </a:solidFill>
          <a:ln w="10160">
            <a:solidFill>
              <a:srgbClr val="D965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79392" y="2029968"/>
            <a:ext cx="384048" cy="310896"/>
          </a:xfrm>
          <a:prstGeom prst="rect">
            <a:avLst/>
          </a:prstGeom>
          <a:noFill/>
        </p:spPr>
        <p:txBody>
          <a:bodyPr wrap="square" lIns="0" rIns="0" tIns="0" bIns="0" anchor="t">
            <a:spAutoFit/>
          </a:bodyPr>
          <a:lstStyle/>
          <a:p>
            <a:pPr algn="l">
              <a:spcAft>
                <a:spcPts val="0"/>
              </a:spcAft>
            </a:pPr>
            <a:r>
              <a:rPr sz="1800" b="1" i="0">
                <a:solidFill>
                  <a:srgbClr val="D96552"/>
                </a:solidFill>
                <a:latin typeface="Arial"/>
              </a:rPr>
              <a:t>2</a:t>
            </a:r>
          </a:p>
        </p:txBody>
      </p:sp>
      <p:sp>
        <p:nvSpPr>
          <p:cNvPr id="12" name="TextBox 11"/>
          <p:cNvSpPr txBox="1"/>
          <p:nvPr/>
        </p:nvSpPr>
        <p:spPr>
          <a:xfrm>
            <a:off x="4727448" y="2048256"/>
            <a:ext cx="2468880" cy="265176"/>
          </a:xfrm>
          <a:prstGeom prst="rect">
            <a:avLst/>
          </a:prstGeom>
          <a:noFill/>
        </p:spPr>
        <p:txBody>
          <a:bodyPr wrap="square" lIns="0" rIns="0" tIns="0" bIns="0" anchor="t">
            <a:spAutoFit/>
          </a:bodyPr>
          <a:lstStyle/>
          <a:p>
            <a:pPr algn="l">
              <a:spcAft>
                <a:spcPts val="0"/>
              </a:spcAft>
            </a:pPr>
            <a:r>
              <a:rPr sz="1300" b="1" i="0">
                <a:solidFill>
                  <a:srgbClr val="082B55"/>
                </a:solidFill>
                <a:latin typeface="Arial"/>
              </a:rPr>
              <a:t>SHUFFLE ONE GENE</a:t>
            </a:r>
          </a:p>
        </p:txBody>
      </p:sp>
      <p:sp>
        <p:nvSpPr>
          <p:cNvPr id="13" name="Rectangle 12"/>
          <p:cNvSpPr/>
          <p:nvPr/>
        </p:nvSpPr>
        <p:spPr>
          <a:xfrm>
            <a:off x="7772400" y="1856231"/>
            <a:ext cx="3337560" cy="3529584"/>
          </a:xfrm>
          <a:prstGeom prst="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55279" y="2029968"/>
            <a:ext cx="384048" cy="310896"/>
          </a:xfrm>
          <a:prstGeom prst="rect">
            <a:avLst/>
          </a:prstGeom>
          <a:noFill/>
        </p:spPr>
        <p:txBody>
          <a:bodyPr wrap="square" lIns="0" rIns="0" tIns="0" bIns="0" anchor="t">
            <a:spAutoFit/>
          </a:bodyPr>
          <a:lstStyle/>
          <a:p>
            <a:pPr algn="l">
              <a:spcAft>
                <a:spcPts val="0"/>
              </a:spcAft>
            </a:pPr>
            <a:r>
              <a:rPr sz="1800" b="1" i="0">
                <a:solidFill>
                  <a:srgbClr val="178681"/>
                </a:solidFill>
                <a:latin typeface="Arial"/>
              </a:rPr>
              <a:t>3</a:t>
            </a:r>
          </a:p>
        </p:txBody>
      </p:sp>
      <p:sp>
        <p:nvSpPr>
          <p:cNvPr id="15" name="TextBox 14"/>
          <p:cNvSpPr txBox="1"/>
          <p:nvPr/>
        </p:nvSpPr>
        <p:spPr>
          <a:xfrm>
            <a:off x="8403336" y="2048256"/>
            <a:ext cx="2468880" cy="265176"/>
          </a:xfrm>
          <a:prstGeom prst="rect">
            <a:avLst/>
          </a:prstGeom>
          <a:noFill/>
        </p:spPr>
        <p:txBody>
          <a:bodyPr wrap="square" lIns="0" rIns="0" tIns="0" bIns="0" anchor="t">
            <a:spAutoFit/>
          </a:bodyPr>
          <a:lstStyle/>
          <a:p>
            <a:pPr algn="l">
              <a:spcAft>
                <a:spcPts val="0"/>
              </a:spcAft>
            </a:pPr>
            <a:r>
              <a:rPr sz="1300" b="1" i="0">
                <a:solidFill>
                  <a:srgbClr val="082B55"/>
                </a:solidFill>
                <a:latin typeface="Arial"/>
              </a:rPr>
              <a:t>CONSENSUS PANEL</a:t>
            </a:r>
          </a:p>
        </p:txBody>
      </p:sp>
      <p:sp>
        <p:nvSpPr>
          <p:cNvPr id="16" name="Rectangle 15"/>
          <p:cNvSpPr/>
          <p:nvPr/>
        </p:nvSpPr>
        <p:spPr>
          <a:xfrm>
            <a:off x="749808" y="2697480"/>
            <a:ext cx="960120" cy="393192"/>
          </a:xfrm>
          <a:prstGeom prst="rect">
            <a:avLst/>
          </a:prstGeom>
          <a:solidFill>
            <a:srgbClr val="FFFFFF"/>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2779776"/>
            <a:ext cx="813816" cy="201168"/>
          </a:xfrm>
          <a:prstGeom prst="rect">
            <a:avLst/>
          </a:prstGeom>
          <a:noFill/>
        </p:spPr>
        <p:txBody>
          <a:bodyPr wrap="square" lIns="0" rIns="0" tIns="0" bIns="0" anchor="t">
            <a:spAutoFit/>
          </a:bodyPr>
          <a:lstStyle/>
          <a:p>
            <a:pPr algn="ctr">
              <a:spcAft>
                <a:spcPts val="0"/>
              </a:spcAft>
            </a:pPr>
            <a:r>
              <a:rPr sz="1120" b="1" i="0">
                <a:solidFill>
                  <a:srgbClr val="2D6496"/>
                </a:solidFill>
                <a:latin typeface="Arial"/>
              </a:rPr>
              <a:t>Gene A</a:t>
            </a:r>
          </a:p>
        </p:txBody>
      </p:sp>
      <p:sp>
        <p:nvSpPr>
          <p:cNvPr id="18" name="Right Arrow 17"/>
          <p:cNvSpPr/>
          <p:nvPr/>
        </p:nvSpPr>
        <p:spPr>
          <a:xfrm>
            <a:off x="1847088" y="2788920"/>
            <a:ext cx="475488" cy="210312"/>
          </a:xfrm>
          <a:prstGeom prst="rightArrow">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9808" y="3337560"/>
            <a:ext cx="960120" cy="393192"/>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3419856"/>
            <a:ext cx="813816" cy="201168"/>
          </a:xfrm>
          <a:prstGeom prst="rect">
            <a:avLst/>
          </a:prstGeom>
          <a:noFill/>
        </p:spPr>
        <p:txBody>
          <a:bodyPr wrap="square" lIns="0" rIns="0" tIns="0" bIns="0" anchor="t">
            <a:spAutoFit/>
          </a:bodyPr>
          <a:lstStyle/>
          <a:p>
            <a:pPr algn="ctr">
              <a:spcAft>
                <a:spcPts val="0"/>
              </a:spcAft>
            </a:pPr>
            <a:r>
              <a:rPr sz="1120" b="1" i="0">
                <a:solidFill>
                  <a:srgbClr val="178681"/>
                </a:solidFill>
                <a:latin typeface="Arial"/>
              </a:rPr>
              <a:t>Gene B</a:t>
            </a:r>
          </a:p>
        </p:txBody>
      </p:sp>
      <p:sp>
        <p:nvSpPr>
          <p:cNvPr id="21" name="Right Arrow 20"/>
          <p:cNvSpPr/>
          <p:nvPr/>
        </p:nvSpPr>
        <p:spPr>
          <a:xfrm>
            <a:off x="1847088" y="3429000"/>
            <a:ext cx="475488" cy="210312"/>
          </a:xfrm>
          <a:prstGeom prst="rightArrow">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49808" y="3977639"/>
            <a:ext cx="960120" cy="393192"/>
          </a:xfrm>
          <a:prstGeom prst="rect">
            <a:avLst/>
          </a:prstGeom>
          <a:solidFill>
            <a:srgbClr val="FFFFFF"/>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4059935"/>
            <a:ext cx="813816" cy="201168"/>
          </a:xfrm>
          <a:prstGeom prst="rect">
            <a:avLst/>
          </a:prstGeom>
          <a:noFill/>
        </p:spPr>
        <p:txBody>
          <a:bodyPr wrap="square" lIns="0" rIns="0" tIns="0" bIns="0" anchor="t">
            <a:spAutoFit/>
          </a:bodyPr>
          <a:lstStyle/>
          <a:p>
            <a:pPr algn="ctr">
              <a:spcAft>
                <a:spcPts val="0"/>
              </a:spcAft>
            </a:pPr>
            <a:r>
              <a:rPr sz="1120" b="1" i="0">
                <a:solidFill>
                  <a:srgbClr val="D37B00"/>
                </a:solidFill>
                <a:latin typeface="Arial"/>
              </a:rPr>
              <a:t>Gene C</a:t>
            </a:r>
          </a:p>
        </p:txBody>
      </p:sp>
      <p:sp>
        <p:nvSpPr>
          <p:cNvPr id="24" name="Right Arrow 23"/>
          <p:cNvSpPr/>
          <p:nvPr/>
        </p:nvSpPr>
        <p:spPr>
          <a:xfrm>
            <a:off x="1847088" y="4069079"/>
            <a:ext cx="475488" cy="210312"/>
          </a:xfrm>
          <a:prstGeom prst="rightArrow">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468880" y="3154680"/>
            <a:ext cx="914400" cy="658368"/>
          </a:xfrm>
          <a:prstGeom prst="rect">
            <a:avLst/>
          </a:prstGeom>
          <a:solidFill>
            <a:srgbClr val="FFFFFF"/>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51176" y="3264408"/>
            <a:ext cx="749808" cy="411480"/>
          </a:xfrm>
          <a:prstGeom prst="rect">
            <a:avLst/>
          </a:prstGeom>
          <a:noFill/>
        </p:spPr>
        <p:txBody>
          <a:bodyPr wrap="square" lIns="0" rIns="0" tIns="0" bIns="0" anchor="t">
            <a:spAutoFit/>
          </a:bodyPr>
          <a:lstStyle/>
          <a:p>
            <a:pPr algn="ctr">
              <a:spcAft>
                <a:spcPts val="0"/>
              </a:spcAft>
            </a:pPr>
            <a:r>
              <a:rPr sz="1080" b="1" i="0">
                <a:solidFill>
                  <a:srgbClr val="082B55"/>
                </a:solidFill>
                <a:latin typeface="Arial"/>
              </a:rPr>
              <a:t>FLT/GC
classifier</a:t>
            </a:r>
          </a:p>
        </p:txBody>
      </p:sp>
      <p:sp>
        <p:nvSpPr>
          <p:cNvPr id="27" name="TextBox 26"/>
          <p:cNvSpPr txBox="1"/>
          <p:nvPr/>
        </p:nvSpPr>
        <p:spPr>
          <a:xfrm>
            <a:off x="713232" y="4709160"/>
            <a:ext cx="2816352" cy="429768"/>
          </a:xfrm>
          <a:prstGeom prst="rect">
            <a:avLst/>
          </a:prstGeom>
          <a:noFill/>
        </p:spPr>
        <p:txBody>
          <a:bodyPr wrap="square" lIns="0" rIns="0" tIns="0" bIns="0" anchor="t">
            <a:spAutoFit/>
          </a:bodyPr>
          <a:lstStyle/>
          <a:p>
            <a:pPr algn="ctr">
              <a:spcAft>
                <a:spcPts val="0"/>
              </a:spcAft>
            </a:pPr>
            <a:r>
              <a:rPr sz="1120" b="0" i="0">
                <a:solidFill>
                  <a:srgbClr val="263746"/>
                </a:solidFill>
                <a:latin typeface="Arial"/>
              </a:rPr>
              <a:t>Similar expression lets these genes share predictive weight.</a:t>
            </a:r>
          </a:p>
        </p:txBody>
      </p:sp>
      <p:sp>
        <p:nvSpPr>
          <p:cNvPr id="28" name="Rectangle 27"/>
          <p:cNvSpPr/>
          <p:nvPr/>
        </p:nvSpPr>
        <p:spPr>
          <a:xfrm>
            <a:off x="4425696" y="2697480"/>
            <a:ext cx="960120" cy="393192"/>
          </a:xfrm>
          <a:prstGeom prst="rect">
            <a:avLst/>
          </a:prstGeom>
          <a:solidFill>
            <a:srgbClr val="FFFFFF"/>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98848" y="2779776"/>
            <a:ext cx="813816" cy="201168"/>
          </a:xfrm>
          <a:prstGeom prst="rect">
            <a:avLst/>
          </a:prstGeom>
          <a:noFill/>
        </p:spPr>
        <p:txBody>
          <a:bodyPr wrap="square" lIns="0" rIns="0" tIns="0" bIns="0" anchor="t">
            <a:spAutoFit/>
          </a:bodyPr>
          <a:lstStyle/>
          <a:p>
            <a:pPr algn="ctr">
              <a:spcAft>
                <a:spcPts val="0"/>
              </a:spcAft>
            </a:pPr>
            <a:r>
              <a:rPr sz="1120" b="1" i="0">
                <a:solidFill>
                  <a:srgbClr val="2D6496"/>
                </a:solidFill>
                <a:latin typeface="Arial"/>
              </a:rPr>
              <a:t>Gene A</a:t>
            </a:r>
          </a:p>
        </p:txBody>
      </p:sp>
      <p:sp>
        <p:nvSpPr>
          <p:cNvPr id="30" name="Rectangle 29"/>
          <p:cNvSpPr/>
          <p:nvPr/>
        </p:nvSpPr>
        <p:spPr>
          <a:xfrm>
            <a:off x="4425696" y="3337560"/>
            <a:ext cx="960120" cy="393192"/>
          </a:xfrm>
          <a:prstGeom prst="rect">
            <a:avLst/>
          </a:prstGeom>
          <a:solidFill>
            <a:srgbClr val="FFFFFF"/>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98848" y="3419856"/>
            <a:ext cx="813816" cy="201168"/>
          </a:xfrm>
          <a:prstGeom prst="rect">
            <a:avLst/>
          </a:prstGeom>
          <a:noFill/>
        </p:spPr>
        <p:txBody>
          <a:bodyPr wrap="square" lIns="0" rIns="0" tIns="0" bIns="0" anchor="t">
            <a:spAutoFit/>
          </a:bodyPr>
          <a:lstStyle/>
          <a:p>
            <a:pPr algn="ctr">
              <a:spcAft>
                <a:spcPts val="0"/>
              </a:spcAft>
            </a:pPr>
            <a:r>
              <a:rPr sz="1120" b="1" i="0">
                <a:solidFill>
                  <a:srgbClr val="178681"/>
                </a:solidFill>
                <a:latin typeface="Arial"/>
              </a:rPr>
              <a:t>Gene B</a:t>
            </a:r>
          </a:p>
        </p:txBody>
      </p:sp>
      <p:sp>
        <p:nvSpPr>
          <p:cNvPr id="32" name="Right Arrow 31"/>
          <p:cNvSpPr/>
          <p:nvPr/>
        </p:nvSpPr>
        <p:spPr>
          <a:xfrm>
            <a:off x="5522976" y="3429000"/>
            <a:ext cx="475488" cy="210312"/>
          </a:xfrm>
          <a:prstGeom prst="rightArrow">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425696" y="3977639"/>
            <a:ext cx="960120" cy="393192"/>
          </a:xfrm>
          <a:prstGeom prst="rect">
            <a:avLst/>
          </a:prstGeom>
          <a:solidFill>
            <a:srgbClr val="FFFFFF"/>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98848" y="4059935"/>
            <a:ext cx="813816" cy="201168"/>
          </a:xfrm>
          <a:prstGeom prst="rect">
            <a:avLst/>
          </a:prstGeom>
          <a:noFill/>
        </p:spPr>
        <p:txBody>
          <a:bodyPr wrap="square" lIns="0" rIns="0" tIns="0" bIns="0" anchor="t">
            <a:spAutoFit/>
          </a:bodyPr>
          <a:lstStyle/>
          <a:p>
            <a:pPr algn="ctr">
              <a:spcAft>
                <a:spcPts val="0"/>
              </a:spcAft>
            </a:pPr>
            <a:r>
              <a:rPr sz="1120" b="1" i="0">
                <a:solidFill>
                  <a:srgbClr val="D37B00"/>
                </a:solidFill>
                <a:latin typeface="Arial"/>
              </a:rPr>
              <a:t>Gene C</a:t>
            </a:r>
          </a:p>
        </p:txBody>
      </p:sp>
      <p:sp>
        <p:nvSpPr>
          <p:cNvPr id="35" name="Right Arrow 34"/>
          <p:cNvSpPr/>
          <p:nvPr/>
        </p:nvSpPr>
        <p:spPr>
          <a:xfrm>
            <a:off x="5522976" y="4069079"/>
            <a:ext cx="475488" cy="210312"/>
          </a:xfrm>
          <a:prstGeom prst="rightArrow">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54880" y="2578608"/>
            <a:ext cx="292608" cy="274320"/>
          </a:xfrm>
          <a:prstGeom prst="rect">
            <a:avLst/>
          </a:prstGeom>
          <a:noFill/>
        </p:spPr>
        <p:txBody>
          <a:bodyPr wrap="square" lIns="0" rIns="0" tIns="0" bIns="0" anchor="t">
            <a:spAutoFit/>
          </a:bodyPr>
          <a:lstStyle/>
          <a:p>
            <a:pPr algn="ctr">
              <a:spcAft>
                <a:spcPts val="0"/>
              </a:spcAft>
            </a:pPr>
            <a:r>
              <a:rPr sz="2000" b="1" i="0">
                <a:solidFill>
                  <a:srgbClr val="D96552"/>
                </a:solidFill>
                <a:latin typeface="Arial"/>
              </a:rPr>
              <a:t>x</a:t>
            </a:r>
          </a:p>
        </p:txBody>
      </p:sp>
      <p:sp>
        <p:nvSpPr>
          <p:cNvPr id="37" name="Rectangle 36"/>
          <p:cNvSpPr/>
          <p:nvPr/>
        </p:nvSpPr>
        <p:spPr>
          <a:xfrm>
            <a:off x="6144768" y="3154680"/>
            <a:ext cx="914400" cy="658368"/>
          </a:xfrm>
          <a:prstGeom prst="rect">
            <a:avLst/>
          </a:prstGeom>
          <a:solidFill>
            <a:srgbClr val="FFFFFF"/>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27064" y="3264408"/>
            <a:ext cx="749808" cy="411480"/>
          </a:xfrm>
          <a:prstGeom prst="rect">
            <a:avLst/>
          </a:prstGeom>
          <a:noFill/>
        </p:spPr>
        <p:txBody>
          <a:bodyPr wrap="square" lIns="0" rIns="0" tIns="0" bIns="0" anchor="t">
            <a:spAutoFit/>
          </a:bodyPr>
          <a:lstStyle/>
          <a:p>
            <a:pPr algn="ctr">
              <a:spcAft>
                <a:spcPts val="0"/>
              </a:spcAft>
            </a:pPr>
            <a:r>
              <a:rPr sz="1080" b="1" i="0">
                <a:solidFill>
                  <a:srgbClr val="082B55"/>
                </a:solidFill>
                <a:latin typeface="Arial"/>
              </a:rPr>
              <a:t>FLT/GC
classifier</a:t>
            </a:r>
          </a:p>
        </p:txBody>
      </p:sp>
      <p:sp>
        <p:nvSpPr>
          <p:cNvPr id="39" name="TextBox 38"/>
          <p:cNvSpPr txBox="1"/>
          <p:nvPr/>
        </p:nvSpPr>
        <p:spPr>
          <a:xfrm>
            <a:off x="4370832" y="4709160"/>
            <a:ext cx="2907792" cy="429768"/>
          </a:xfrm>
          <a:prstGeom prst="rect">
            <a:avLst/>
          </a:prstGeom>
          <a:noFill/>
        </p:spPr>
        <p:txBody>
          <a:bodyPr wrap="square" lIns="0" rIns="0" tIns="0" bIns="0" anchor="t">
            <a:spAutoFit/>
          </a:bodyPr>
          <a:lstStyle/>
          <a:p>
            <a:pPr algn="ctr">
              <a:spcAft>
                <a:spcPts val="0"/>
              </a:spcAft>
            </a:pPr>
            <a:r>
              <a:rPr sz="1120" b="0" i="0">
                <a:solidFill>
                  <a:srgbClr val="263746"/>
                </a:solidFill>
                <a:latin typeface="Arial"/>
              </a:rPr>
              <a:t>Genes B and C retain the shared signal, so the score changes little.</a:t>
            </a:r>
          </a:p>
        </p:txBody>
      </p:sp>
      <p:sp>
        <p:nvSpPr>
          <p:cNvPr id="40" name="TextBox 39"/>
          <p:cNvSpPr txBox="1"/>
          <p:nvPr/>
        </p:nvSpPr>
        <p:spPr>
          <a:xfrm>
            <a:off x="8101583" y="2660904"/>
            <a:ext cx="832104" cy="210312"/>
          </a:xfrm>
          <a:prstGeom prst="rect">
            <a:avLst/>
          </a:prstGeom>
          <a:noFill/>
        </p:spPr>
        <p:txBody>
          <a:bodyPr wrap="square" lIns="0" rIns="0" tIns="0" bIns="0" anchor="t">
            <a:spAutoFit/>
          </a:bodyPr>
          <a:lstStyle/>
          <a:p>
            <a:pPr algn="l">
              <a:spcAft>
                <a:spcPts val="0"/>
              </a:spcAft>
            </a:pPr>
            <a:r>
              <a:rPr sz="1030" b="1" i="0">
                <a:solidFill>
                  <a:srgbClr val="2D6496"/>
                </a:solidFill>
                <a:latin typeface="Arial"/>
              </a:rPr>
              <a:t>Real rank</a:t>
            </a:r>
          </a:p>
        </p:txBody>
      </p:sp>
      <p:sp>
        <p:nvSpPr>
          <p:cNvPr id="41" name="TextBox 40"/>
          <p:cNvSpPr txBox="1"/>
          <p:nvPr/>
        </p:nvSpPr>
        <p:spPr>
          <a:xfrm>
            <a:off x="9418320" y="2660904"/>
            <a:ext cx="1106424" cy="210312"/>
          </a:xfrm>
          <a:prstGeom prst="rect">
            <a:avLst/>
          </a:prstGeom>
          <a:noFill/>
        </p:spPr>
        <p:txBody>
          <a:bodyPr wrap="square" lIns="0" rIns="0" tIns="0" bIns="0" anchor="t">
            <a:spAutoFit/>
          </a:bodyPr>
          <a:lstStyle/>
          <a:p>
            <a:pPr algn="l">
              <a:spcAft>
                <a:spcPts val="0"/>
              </a:spcAft>
            </a:pPr>
            <a:r>
              <a:rPr sz="1030" b="1" i="0">
                <a:solidFill>
                  <a:srgbClr val="D96552"/>
                </a:solidFill>
                <a:latin typeface="Arial"/>
              </a:rPr>
              <a:t>Generated rank</a:t>
            </a:r>
          </a:p>
        </p:txBody>
      </p:sp>
      <p:sp>
        <p:nvSpPr>
          <p:cNvPr id="42" name="TextBox 41"/>
          <p:cNvSpPr txBox="1"/>
          <p:nvPr/>
        </p:nvSpPr>
        <p:spPr>
          <a:xfrm>
            <a:off x="8083296" y="3044952"/>
            <a:ext cx="694944" cy="219456"/>
          </a:xfrm>
          <a:prstGeom prst="rect">
            <a:avLst/>
          </a:prstGeom>
          <a:noFill/>
        </p:spPr>
        <p:txBody>
          <a:bodyPr wrap="square" lIns="0" rIns="0" tIns="0" bIns="0" anchor="t">
            <a:spAutoFit/>
          </a:bodyPr>
          <a:lstStyle/>
          <a:p>
            <a:pPr algn="l">
              <a:spcAft>
                <a:spcPts val="0"/>
              </a:spcAft>
            </a:pPr>
            <a:r>
              <a:rPr sz="1019" b="1" i="0">
                <a:solidFill>
                  <a:srgbClr val="178681"/>
                </a:solidFill>
                <a:latin typeface="Arial"/>
              </a:rPr>
              <a:t>Gene A</a:t>
            </a:r>
          </a:p>
        </p:txBody>
      </p:sp>
      <p:sp>
        <p:nvSpPr>
          <p:cNvPr id="43" name="Rectangle 42"/>
          <p:cNvSpPr/>
          <p:nvPr/>
        </p:nvSpPr>
        <p:spPr>
          <a:xfrm>
            <a:off x="8833104" y="3136392"/>
            <a:ext cx="740664" cy="685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10021824" y="3136392"/>
            <a:ext cx="691286" cy="68580"/>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808208" y="3044952"/>
            <a:ext cx="566928" cy="219456"/>
          </a:xfrm>
          <a:prstGeom prst="rect">
            <a:avLst/>
          </a:prstGeom>
          <a:noFill/>
        </p:spPr>
        <p:txBody>
          <a:bodyPr wrap="square" lIns="0" rIns="0" tIns="0" bIns="0" anchor="t">
            <a:spAutoFit/>
          </a:bodyPr>
          <a:lstStyle/>
          <a:p>
            <a:pPr algn="r">
              <a:spcAft>
                <a:spcPts val="0"/>
              </a:spcAft>
            </a:pPr>
            <a:r>
              <a:rPr sz="819" b="1" i="0">
                <a:solidFill>
                  <a:srgbClr val="178681"/>
                </a:solidFill>
                <a:latin typeface="Arial"/>
              </a:rPr>
              <a:t>selected</a:t>
            </a:r>
          </a:p>
        </p:txBody>
      </p:sp>
      <p:sp>
        <p:nvSpPr>
          <p:cNvPr id="46" name="TextBox 45"/>
          <p:cNvSpPr txBox="1"/>
          <p:nvPr/>
        </p:nvSpPr>
        <p:spPr>
          <a:xfrm>
            <a:off x="8083296" y="3483864"/>
            <a:ext cx="694944" cy="219456"/>
          </a:xfrm>
          <a:prstGeom prst="rect">
            <a:avLst/>
          </a:prstGeom>
          <a:noFill/>
        </p:spPr>
        <p:txBody>
          <a:bodyPr wrap="square" lIns="0" rIns="0" tIns="0" bIns="0" anchor="t">
            <a:spAutoFit/>
          </a:bodyPr>
          <a:lstStyle/>
          <a:p>
            <a:pPr algn="l">
              <a:spcAft>
                <a:spcPts val="0"/>
              </a:spcAft>
            </a:pPr>
            <a:r>
              <a:rPr sz="1019" b="1" i="0">
                <a:solidFill>
                  <a:srgbClr val="178681"/>
                </a:solidFill>
                <a:latin typeface="Arial"/>
              </a:rPr>
              <a:t>Gene B</a:t>
            </a:r>
          </a:p>
        </p:txBody>
      </p:sp>
      <p:sp>
        <p:nvSpPr>
          <p:cNvPr id="47" name="Rectangle 46"/>
          <p:cNvSpPr/>
          <p:nvPr/>
        </p:nvSpPr>
        <p:spPr>
          <a:xfrm>
            <a:off x="8833104" y="3575304"/>
            <a:ext cx="683056" cy="685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0021824" y="3575304"/>
            <a:ext cx="724204" cy="68580"/>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808208" y="3483864"/>
            <a:ext cx="566928" cy="219456"/>
          </a:xfrm>
          <a:prstGeom prst="rect">
            <a:avLst/>
          </a:prstGeom>
          <a:noFill/>
        </p:spPr>
        <p:txBody>
          <a:bodyPr wrap="square" lIns="0" rIns="0" tIns="0" bIns="0" anchor="t">
            <a:spAutoFit/>
          </a:bodyPr>
          <a:lstStyle/>
          <a:p>
            <a:pPr algn="r">
              <a:spcAft>
                <a:spcPts val="0"/>
              </a:spcAft>
            </a:pPr>
            <a:r>
              <a:rPr sz="819" b="1" i="0">
                <a:solidFill>
                  <a:srgbClr val="178681"/>
                </a:solidFill>
                <a:latin typeface="Arial"/>
              </a:rPr>
              <a:t>selected</a:t>
            </a:r>
          </a:p>
        </p:txBody>
      </p:sp>
      <p:sp>
        <p:nvSpPr>
          <p:cNvPr id="50" name="TextBox 49"/>
          <p:cNvSpPr txBox="1"/>
          <p:nvPr/>
        </p:nvSpPr>
        <p:spPr>
          <a:xfrm>
            <a:off x="8083296" y="3922776"/>
            <a:ext cx="694944" cy="219456"/>
          </a:xfrm>
          <a:prstGeom prst="rect">
            <a:avLst/>
          </a:prstGeom>
          <a:noFill/>
        </p:spPr>
        <p:txBody>
          <a:bodyPr wrap="square" lIns="0" rIns="0" tIns="0" bIns="0" anchor="t">
            <a:spAutoFit/>
          </a:bodyPr>
          <a:lstStyle/>
          <a:p>
            <a:pPr algn="l">
              <a:spcAft>
                <a:spcPts val="0"/>
              </a:spcAft>
            </a:pPr>
            <a:r>
              <a:rPr sz="1019" b="1" i="0">
                <a:solidFill>
                  <a:srgbClr val="178681"/>
                </a:solidFill>
                <a:latin typeface="Arial"/>
              </a:rPr>
              <a:t>Gene C</a:t>
            </a:r>
          </a:p>
        </p:txBody>
      </p:sp>
      <p:sp>
        <p:nvSpPr>
          <p:cNvPr id="51" name="Rectangle 50"/>
          <p:cNvSpPr/>
          <p:nvPr/>
        </p:nvSpPr>
        <p:spPr>
          <a:xfrm>
            <a:off x="8833104" y="4014215"/>
            <a:ext cx="641908" cy="685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10021824" y="4014215"/>
            <a:ext cx="666597" cy="68580"/>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808208" y="3922776"/>
            <a:ext cx="566928" cy="219456"/>
          </a:xfrm>
          <a:prstGeom prst="rect">
            <a:avLst/>
          </a:prstGeom>
          <a:noFill/>
        </p:spPr>
        <p:txBody>
          <a:bodyPr wrap="square" lIns="0" rIns="0" tIns="0" bIns="0" anchor="t">
            <a:spAutoFit/>
          </a:bodyPr>
          <a:lstStyle/>
          <a:p>
            <a:pPr algn="r">
              <a:spcAft>
                <a:spcPts val="0"/>
              </a:spcAft>
            </a:pPr>
            <a:r>
              <a:rPr sz="819" b="1" i="0">
                <a:solidFill>
                  <a:srgbClr val="178681"/>
                </a:solidFill>
                <a:latin typeface="Arial"/>
              </a:rPr>
              <a:t>selected</a:t>
            </a:r>
          </a:p>
        </p:txBody>
      </p:sp>
      <p:sp>
        <p:nvSpPr>
          <p:cNvPr id="54" name="TextBox 53"/>
          <p:cNvSpPr txBox="1"/>
          <p:nvPr/>
        </p:nvSpPr>
        <p:spPr>
          <a:xfrm>
            <a:off x="8083296" y="4361688"/>
            <a:ext cx="694944" cy="219456"/>
          </a:xfrm>
          <a:prstGeom prst="rect">
            <a:avLst/>
          </a:prstGeom>
          <a:noFill/>
        </p:spPr>
        <p:txBody>
          <a:bodyPr wrap="square" lIns="0" rIns="0" tIns="0" bIns="0" anchor="t">
            <a:spAutoFit/>
          </a:bodyPr>
          <a:lstStyle/>
          <a:p>
            <a:pPr algn="l">
              <a:spcAft>
                <a:spcPts val="0"/>
              </a:spcAft>
            </a:pPr>
            <a:r>
              <a:rPr sz="1019" b="0" i="0">
                <a:solidFill>
                  <a:srgbClr val="8A969E"/>
                </a:solidFill>
                <a:latin typeface="Arial"/>
              </a:rPr>
              <a:t>Gene D</a:t>
            </a:r>
          </a:p>
        </p:txBody>
      </p:sp>
      <p:sp>
        <p:nvSpPr>
          <p:cNvPr id="55" name="Rectangle 54"/>
          <p:cNvSpPr/>
          <p:nvPr/>
        </p:nvSpPr>
        <p:spPr>
          <a:xfrm>
            <a:off x="8833104" y="4453127"/>
            <a:ext cx="329184" cy="6858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0021824" y="4453127"/>
            <a:ext cx="263347" cy="68580"/>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808208" y="4361688"/>
            <a:ext cx="566928" cy="219456"/>
          </a:xfrm>
          <a:prstGeom prst="rect">
            <a:avLst/>
          </a:prstGeom>
          <a:noFill/>
        </p:spPr>
        <p:txBody>
          <a:bodyPr wrap="square" lIns="0" rIns="0" tIns="0" bIns="0" anchor="t">
            <a:spAutoFit/>
          </a:bodyPr>
          <a:lstStyle/>
          <a:p>
            <a:pPr algn="r">
              <a:spcAft>
                <a:spcPts val="0"/>
              </a:spcAft>
            </a:pPr>
            <a:r>
              <a:rPr sz="819" b="0" i="0">
                <a:solidFill>
                  <a:srgbClr val="8A969E"/>
                </a:solidFill>
                <a:latin typeface="Arial"/>
              </a:rPr>
              <a:t>not selected</a:t>
            </a:r>
          </a:p>
        </p:txBody>
      </p:sp>
      <p:sp>
        <p:nvSpPr>
          <p:cNvPr id="58" name="TextBox 57"/>
          <p:cNvSpPr txBox="1"/>
          <p:nvPr/>
        </p:nvSpPr>
        <p:spPr>
          <a:xfrm>
            <a:off x="8065008" y="4892040"/>
            <a:ext cx="3145536" cy="429768"/>
          </a:xfrm>
          <a:prstGeom prst="rect">
            <a:avLst/>
          </a:prstGeom>
          <a:noFill/>
        </p:spPr>
        <p:txBody>
          <a:bodyPr wrap="square" lIns="0" rIns="0" tIns="0" bIns="0" anchor="t">
            <a:spAutoFit/>
          </a:bodyPr>
          <a:lstStyle/>
          <a:p>
            <a:pPr algn="ctr">
              <a:spcAft>
                <a:spcPts val="0"/>
              </a:spcAft>
            </a:pPr>
            <a:r>
              <a:rPr sz="1120" b="0" i="0">
                <a:solidFill>
                  <a:srgbClr val="263746"/>
                </a:solidFill>
                <a:latin typeface="Arial"/>
              </a:rPr>
              <a:t>Repeated support keeps the correlated genes together as one panel.</a:t>
            </a:r>
          </a:p>
        </p:txBody>
      </p:sp>
      <p:sp>
        <p:nvSpPr>
          <p:cNvPr id="59" name="Rectangle 58"/>
          <p:cNvSpPr/>
          <p:nvPr/>
        </p:nvSpPr>
        <p:spPr>
          <a:xfrm>
            <a:off x="429768" y="5605272"/>
            <a:ext cx="11137392" cy="530352"/>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94944" y="5751576"/>
            <a:ext cx="10607040" cy="246888"/>
          </a:xfrm>
          <a:prstGeom prst="rect">
            <a:avLst/>
          </a:prstGeom>
          <a:noFill/>
        </p:spPr>
        <p:txBody>
          <a:bodyPr wrap="square" lIns="0" rIns="0" tIns="0" bIns="0" anchor="t">
            <a:spAutoFit/>
          </a:bodyPr>
          <a:lstStyle/>
          <a:p>
            <a:pPr algn="ctr">
              <a:spcAft>
                <a:spcPts val="0"/>
              </a:spcAft>
            </a:pPr>
            <a:r>
              <a:rPr sz="1250" b="1" i="0">
                <a:solidFill>
                  <a:srgbClr val="FFFFFF"/>
                </a:solidFill>
                <a:latin typeface="Arial"/>
              </a:rPr>
              <a:t>Low marginal importance means a gene was replaceable in this classifier; it does not make the gene or pathway biologically irrelevant.</a:t>
            </a:r>
          </a:p>
        </p:txBody>
      </p:sp>
      <p:sp>
        <p:nvSpPr>
          <p:cNvPr id="61" name="TextBox 6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Schematic explanation of permutation importance in a correlated expression feature space.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UTILITY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Matched augmentation helped many tissues, but not all</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One pooled classifier declined; tissue-specific real-plus-synthetic models were compared with fixed all-gene baselines.</a:t>
            </a:r>
          </a:p>
        </p:txBody>
      </p:sp>
      <p:sp>
        <p:nvSpPr>
          <p:cNvPr id="7" name="Rectangle 6"/>
          <p:cNvSpPr/>
          <p:nvPr/>
        </p:nvSpPr>
        <p:spPr>
          <a:xfrm>
            <a:off x="438912" y="1874519"/>
            <a:ext cx="3017520" cy="32004"/>
          </a:xfrm>
          <a:prstGeom prst="rect">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2057400"/>
            <a:ext cx="2651760" cy="320040"/>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Pooled across tissues</a:t>
            </a:r>
          </a:p>
        </p:txBody>
      </p:sp>
      <p:sp>
        <p:nvSpPr>
          <p:cNvPr id="9" name="TextBox 8"/>
          <p:cNvSpPr txBox="1"/>
          <p:nvPr/>
        </p:nvSpPr>
        <p:spPr>
          <a:xfrm rot="16200000">
            <a:off x="0" y="3977639"/>
            <a:ext cx="1188720" cy="256032"/>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Balanced accuracy</a:t>
            </a:r>
          </a:p>
        </p:txBody>
      </p:sp>
      <p:sp>
        <p:nvSpPr>
          <p:cNvPr id="10" name="Rectangle 9"/>
          <p:cNvSpPr/>
          <p:nvPr/>
        </p:nvSpPr>
        <p:spPr>
          <a:xfrm>
            <a:off x="1005840" y="5486400"/>
            <a:ext cx="2304288"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8952" y="53949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0</a:t>
            </a:r>
          </a:p>
        </p:txBody>
      </p:sp>
      <p:sp>
        <p:nvSpPr>
          <p:cNvPr id="12" name="Rectangle 11"/>
          <p:cNvSpPr/>
          <p:nvPr/>
        </p:nvSpPr>
        <p:spPr>
          <a:xfrm>
            <a:off x="1005840" y="4114800"/>
            <a:ext cx="2304288"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8952" y="40233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0.5</a:t>
            </a:r>
          </a:p>
        </p:txBody>
      </p:sp>
      <p:sp>
        <p:nvSpPr>
          <p:cNvPr id="14" name="Rectangle 13"/>
          <p:cNvSpPr/>
          <p:nvPr/>
        </p:nvSpPr>
        <p:spPr>
          <a:xfrm>
            <a:off x="1005840" y="2743200"/>
            <a:ext cx="2304288" cy="10972"/>
          </a:xfrm>
          <a:prstGeom prst="rect">
            <a:avLst/>
          </a:prstGeom>
          <a:solidFill>
            <a:srgbClr val="D8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8952" y="2651760"/>
            <a:ext cx="201168" cy="182880"/>
          </a:xfrm>
          <a:prstGeom prst="rect">
            <a:avLst/>
          </a:prstGeom>
          <a:noFill/>
        </p:spPr>
        <p:txBody>
          <a:bodyPr wrap="square" lIns="0" rIns="0" tIns="0" bIns="0" anchor="t">
            <a:spAutoFit/>
          </a:bodyPr>
          <a:lstStyle/>
          <a:p>
            <a:pPr algn="r">
              <a:spcAft>
                <a:spcPts val="0"/>
              </a:spcAft>
            </a:pPr>
            <a:r>
              <a:rPr sz="850" b="0" i="0">
                <a:solidFill>
                  <a:srgbClr val="8A969E"/>
                </a:solidFill>
                <a:latin typeface="Arial"/>
              </a:rPr>
              <a:t>1.0</a:t>
            </a:r>
          </a:p>
        </p:txBody>
      </p:sp>
      <p:sp>
        <p:nvSpPr>
          <p:cNvPr id="16" name="Rectangle 15"/>
          <p:cNvSpPr/>
          <p:nvPr/>
        </p:nvSpPr>
        <p:spPr>
          <a:xfrm>
            <a:off x="1042415" y="3418027"/>
            <a:ext cx="566928" cy="20683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9263" y="3097987"/>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0.754</a:t>
            </a:r>
          </a:p>
        </p:txBody>
      </p:sp>
      <p:sp>
        <p:nvSpPr>
          <p:cNvPr id="18" name="TextBox 17"/>
          <p:cNvSpPr txBox="1"/>
          <p:nvPr/>
        </p:nvSpPr>
        <p:spPr>
          <a:xfrm>
            <a:off x="923543" y="5559552"/>
            <a:ext cx="804672" cy="292608"/>
          </a:xfrm>
          <a:prstGeom prst="rect">
            <a:avLst/>
          </a:prstGeom>
          <a:noFill/>
        </p:spPr>
        <p:txBody>
          <a:bodyPr wrap="square" lIns="0" rIns="0" tIns="0" bIns="0" anchor="t">
            <a:spAutoFit/>
          </a:bodyPr>
          <a:lstStyle/>
          <a:p>
            <a:pPr algn="ctr">
              <a:spcAft>
                <a:spcPts val="0"/>
              </a:spcAft>
            </a:pPr>
            <a:r>
              <a:rPr sz="900" b="0" i="0">
                <a:solidFill>
                  <a:srgbClr val="263746"/>
                </a:solidFill>
                <a:latin typeface="Arial"/>
              </a:rPr>
              <a:t>Real</a:t>
            </a:r>
          </a:p>
        </p:txBody>
      </p:sp>
      <p:sp>
        <p:nvSpPr>
          <p:cNvPr id="19" name="Rectangle 18"/>
          <p:cNvSpPr/>
          <p:nvPr/>
        </p:nvSpPr>
        <p:spPr>
          <a:xfrm>
            <a:off x="1828800" y="3579876"/>
            <a:ext cx="566928" cy="1906524"/>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755648" y="3259836"/>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0.695</a:t>
            </a:r>
          </a:p>
        </p:txBody>
      </p:sp>
      <p:sp>
        <p:nvSpPr>
          <p:cNvPr id="21" name="TextBox 20"/>
          <p:cNvSpPr txBox="1"/>
          <p:nvPr/>
        </p:nvSpPr>
        <p:spPr>
          <a:xfrm>
            <a:off x="1709928" y="5559552"/>
            <a:ext cx="804672" cy="292608"/>
          </a:xfrm>
          <a:prstGeom prst="rect">
            <a:avLst/>
          </a:prstGeom>
          <a:noFill/>
        </p:spPr>
        <p:txBody>
          <a:bodyPr wrap="square" lIns="0" rIns="0" tIns="0" bIns="0" anchor="t">
            <a:spAutoFit/>
          </a:bodyPr>
          <a:lstStyle/>
          <a:p>
            <a:pPr algn="ctr">
              <a:spcAft>
                <a:spcPts val="0"/>
              </a:spcAft>
            </a:pPr>
            <a:r>
              <a:rPr sz="900" b="0" i="0">
                <a:solidFill>
                  <a:srgbClr val="263746"/>
                </a:solidFill>
                <a:latin typeface="Arial"/>
              </a:rPr>
              <a:t>Generated</a:t>
            </a:r>
          </a:p>
        </p:txBody>
      </p:sp>
      <p:sp>
        <p:nvSpPr>
          <p:cNvPr id="22" name="Rectangle 21"/>
          <p:cNvSpPr/>
          <p:nvPr/>
        </p:nvSpPr>
        <p:spPr>
          <a:xfrm>
            <a:off x="2615184" y="3464661"/>
            <a:ext cx="566928" cy="202173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42032" y="3144621"/>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0.737</a:t>
            </a:r>
          </a:p>
        </p:txBody>
      </p:sp>
      <p:sp>
        <p:nvSpPr>
          <p:cNvPr id="24" name="TextBox 23"/>
          <p:cNvSpPr txBox="1"/>
          <p:nvPr/>
        </p:nvSpPr>
        <p:spPr>
          <a:xfrm>
            <a:off x="2496312" y="5559552"/>
            <a:ext cx="804672" cy="292608"/>
          </a:xfrm>
          <a:prstGeom prst="rect">
            <a:avLst/>
          </a:prstGeom>
          <a:noFill/>
        </p:spPr>
        <p:txBody>
          <a:bodyPr wrap="square" lIns="0" rIns="0" tIns="0" bIns="0" anchor="t">
            <a:spAutoFit/>
          </a:bodyPr>
          <a:lstStyle/>
          <a:p>
            <a:pPr algn="ctr">
              <a:spcAft>
                <a:spcPts val="0"/>
              </a:spcAft>
            </a:pPr>
            <a:r>
              <a:rPr sz="900" b="0" i="0">
                <a:solidFill>
                  <a:srgbClr val="263746"/>
                </a:solidFill>
                <a:latin typeface="Arial"/>
              </a:rPr>
              <a:t>Real + synth.</a:t>
            </a:r>
          </a:p>
        </p:txBody>
      </p:sp>
      <p:sp>
        <p:nvSpPr>
          <p:cNvPr id="25" name="Rectangle 24"/>
          <p:cNvSpPr/>
          <p:nvPr/>
        </p:nvSpPr>
        <p:spPr>
          <a:xfrm>
            <a:off x="1005840" y="5486400"/>
            <a:ext cx="2304288" cy="18288"/>
          </a:xfrm>
          <a:prstGeom prst="rect">
            <a:avLst/>
          </a:prstGeom>
          <a:solidFill>
            <a:srgbClr val="86949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39312" y="1874519"/>
            <a:ext cx="13716" cy="4160520"/>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886200" y="1874519"/>
            <a:ext cx="7754112"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41648" y="2057400"/>
            <a:ext cx="4572000"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Matched real + synthetic by tissue</a:t>
            </a:r>
          </a:p>
        </p:txBody>
      </p:sp>
      <p:pic>
        <p:nvPicPr>
          <p:cNvPr id="29" name="Balanced accuracy before and after matched real-plus-synthetic training" descr="Balanced accuracy before and after matched real-plus-synthetic training"/>
          <p:cNvPicPr>
            <a:picLocks noChangeAspect="1"/>
          </p:cNvPicPr>
          <p:nvPr/>
        </p:nvPicPr>
        <p:blipFill>
          <a:blip r:embed="rId2"/>
          <a:stretch>
            <a:fillRect/>
          </a:stretch>
        </p:blipFill>
        <p:spPr>
          <a:xfrm>
            <a:off x="4865185" y="2423160"/>
            <a:ext cx="5777853" cy="3383280"/>
          </a:xfrm>
          <a:prstGeom prst="rect">
            <a:avLst/>
          </a:prstGeom>
        </p:spPr>
      </p:pic>
      <p:sp>
        <p:nvSpPr>
          <p:cNvPr id="30" name="TextBox 29"/>
          <p:cNvSpPr txBox="1"/>
          <p:nvPr/>
        </p:nvSpPr>
        <p:spPr>
          <a:xfrm>
            <a:off x="4059936" y="5715000"/>
            <a:ext cx="6583680" cy="246888"/>
          </a:xfrm>
          <a:prstGeom prst="rect">
            <a:avLst/>
          </a:prstGeom>
          <a:noFill/>
        </p:spPr>
        <p:txBody>
          <a:bodyPr wrap="square" lIns="18288" rIns="18288" tIns="18288" bIns="18288" anchor="t">
            <a:spAutoFit/>
          </a:bodyPr>
          <a:lstStyle/>
          <a:p>
            <a:pPr algn="l">
              <a:spcAft>
                <a:spcPts val="0"/>
              </a:spcAft>
            </a:pPr>
            <a:r>
              <a:rPr sz="1170" b="0" i="1">
                <a:solidFill>
                  <a:srgbClr val="59697A"/>
                </a:solidFill>
                <a:latin typeface="Arial"/>
              </a:rPr>
              <a:t>Teal passed all pooled and accession-macro metrics; coral did not.</a:t>
            </a:r>
          </a:p>
        </p:txBody>
      </p:sp>
      <p:sp>
        <p:nvSpPr>
          <p:cNvPr id="31" name="TextBox 3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Matched analysis on held-out real profiles from represented accessions; all arms use the same 974 genes and ridge setting.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FEATURE 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Matched and consensus analyses answer different questions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Matched importance tests synthetic contribution; consensus ranking organizes compact correlated panels.</a:t>
            </a:r>
          </a:p>
        </p:txBody>
      </p:sp>
      <p:sp>
        <p:nvSpPr>
          <p:cNvPr id="7" name="TextBox 6"/>
          <p:cNvSpPr txBox="1"/>
          <p:nvPr/>
        </p:nvSpPr>
        <p:spPr>
          <a:xfrm>
            <a:off x="576072" y="1874519"/>
            <a:ext cx="5257800" cy="283464"/>
          </a:xfrm>
          <a:prstGeom prst="rect">
            <a:avLst/>
          </a:prstGeom>
          <a:noFill/>
        </p:spPr>
        <p:txBody>
          <a:bodyPr wrap="square" lIns="0" rIns="0" tIns="0" bIns="0" anchor="t">
            <a:spAutoFit/>
          </a:bodyPr>
          <a:lstStyle/>
          <a:p>
            <a:pPr algn="ctr">
              <a:spcAft>
                <a:spcPts val="0"/>
              </a:spcAft>
            </a:pPr>
            <a:r>
              <a:rPr sz="1600" b="1" i="0">
                <a:solidFill>
                  <a:srgbClr val="082B55"/>
                </a:solidFill>
                <a:latin typeface="Arial"/>
              </a:rPr>
              <a:t>BH-FDR tissue-gene associations</a:t>
            </a:r>
          </a:p>
        </p:txBody>
      </p:sp>
      <p:sp>
        <p:nvSpPr>
          <p:cNvPr id="8" name="Oval 7"/>
          <p:cNvSpPr/>
          <p:nvPr/>
        </p:nvSpPr>
        <p:spPr>
          <a:xfrm>
            <a:off x="658368" y="2395728"/>
            <a:ext cx="3456432" cy="2468880"/>
          </a:xfrm>
          <a:prstGeom prst="ellipse">
            <a:avLst/>
          </a:prstGeom>
          <a:solidFill>
            <a:srgbClr val="D96552">
              <a:alpha val="22000"/>
            </a:srgbClr>
          </a:solidFill>
          <a:ln w="30480">
            <a:solidFill>
              <a:srgbClr val="D965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679192" y="2395728"/>
            <a:ext cx="3456432" cy="2468880"/>
          </a:xfrm>
          <a:prstGeom prst="ellipse">
            <a:avLst/>
          </a:prstGeom>
          <a:solidFill>
            <a:srgbClr val="2D6496">
              <a:alpha val="20000"/>
            </a:srgbClr>
          </a:solidFill>
          <a:ln w="3048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176272"/>
            <a:ext cx="1965960" cy="246888"/>
          </a:xfrm>
          <a:prstGeom prst="rect">
            <a:avLst/>
          </a:prstGeom>
          <a:noFill/>
        </p:spPr>
        <p:txBody>
          <a:bodyPr wrap="square" lIns="0" rIns="0" tIns="0" bIns="0" anchor="t">
            <a:spAutoFit/>
          </a:bodyPr>
          <a:lstStyle/>
          <a:p>
            <a:pPr algn="ctr">
              <a:spcAft>
                <a:spcPts val="0"/>
              </a:spcAft>
            </a:pPr>
            <a:r>
              <a:rPr sz="1220" b="1" i="0">
                <a:solidFill>
                  <a:srgbClr val="D96552"/>
                </a:solidFill>
                <a:latin typeface="Arial"/>
              </a:rPr>
              <a:t>Matched all-gene</a:t>
            </a:r>
          </a:p>
        </p:txBody>
      </p:sp>
      <p:sp>
        <p:nvSpPr>
          <p:cNvPr id="11" name="TextBox 10"/>
          <p:cNvSpPr txBox="1"/>
          <p:nvPr/>
        </p:nvSpPr>
        <p:spPr>
          <a:xfrm>
            <a:off x="4041648" y="2176272"/>
            <a:ext cx="1965960" cy="246888"/>
          </a:xfrm>
          <a:prstGeom prst="rect">
            <a:avLst/>
          </a:prstGeom>
          <a:noFill/>
        </p:spPr>
        <p:txBody>
          <a:bodyPr wrap="square" lIns="0" rIns="0" tIns="0" bIns="0" anchor="t">
            <a:spAutoFit/>
          </a:bodyPr>
          <a:lstStyle/>
          <a:p>
            <a:pPr algn="ctr">
              <a:spcAft>
                <a:spcPts val="0"/>
              </a:spcAft>
            </a:pPr>
            <a:r>
              <a:rPr sz="1220" b="1" i="0">
                <a:solidFill>
                  <a:srgbClr val="2D6496"/>
                </a:solidFill>
                <a:latin typeface="Arial"/>
              </a:rPr>
              <a:t>Consensus panels</a:t>
            </a:r>
          </a:p>
        </p:txBody>
      </p:sp>
      <p:sp>
        <p:nvSpPr>
          <p:cNvPr id="12" name="TextBox 11"/>
          <p:cNvSpPr txBox="1"/>
          <p:nvPr/>
        </p:nvSpPr>
        <p:spPr>
          <a:xfrm>
            <a:off x="1143000" y="3172968"/>
            <a:ext cx="1097280" cy="457200"/>
          </a:xfrm>
          <a:prstGeom prst="rect">
            <a:avLst/>
          </a:prstGeom>
          <a:noFill/>
        </p:spPr>
        <p:txBody>
          <a:bodyPr wrap="square" lIns="0" rIns="0" tIns="0" bIns="0" anchor="t">
            <a:spAutoFit/>
          </a:bodyPr>
          <a:lstStyle/>
          <a:p>
            <a:pPr algn="ctr">
              <a:spcAft>
                <a:spcPts val="0"/>
              </a:spcAft>
            </a:pPr>
            <a:r>
              <a:rPr sz="2900" b="1" i="0">
                <a:solidFill>
                  <a:srgbClr val="D96552"/>
                </a:solidFill>
                <a:latin typeface="Arial"/>
              </a:rPr>
              <a:t>10</a:t>
            </a:r>
          </a:p>
        </p:txBody>
      </p:sp>
      <p:sp>
        <p:nvSpPr>
          <p:cNvPr id="13" name="TextBox 12"/>
          <p:cNvSpPr txBox="1"/>
          <p:nvPr/>
        </p:nvSpPr>
        <p:spPr>
          <a:xfrm>
            <a:off x="1051560" y="3685032"/>
            <a:ext cx="1280160" cy="256032"/>
          </a:xfrm>
          <a:prstGeom prst="rect">
            <a:avLst/>
          </a:prstGeom>
          <a:noFill/>
        </p:spPr>
        <p:txBody>
          <a:bodyPr wrap="square" lIns="0" rIns="0" tIns="0" bIns="0" anchor="t">
            <a:spAutoFit/>
          </a:bodyPr>
          <a:lstStyle/>
          <a:p>
            <a:pPr algn="ctr">
              <a:spcAft>
                <a:spcPts val="0"/>
              </a:spcAft>
            </a:pPr>
            <a:r>
              <a:rPr sz="1100" b="1" i="0">
                <a:solidFill>
                  <a:srgbClr val="263746"/>
                </a:solidFill>
                <a:latin typeface="Arial"/>
              </a:rPr>
              <a:t>matched only</a:t>
            </a:r>
          </a:p>
        </p:txBody>
      </p:sp>
      <p:sp>
        <p:nvSpPr>
          <p:cNvPr id="14" name="TextBox 13"/>
          <p:cNvSpPr txBox="1"/>
          <p:nvPr/>
        </p:nvSpPr>
        <p:spPr>
          <a:xfrm>
            <a:off x="2834640" y="3172968"/>
            <a:ext cx="1097280" cy="457200"/>
          </a:xfrm>
          <a:prstGeom prst="rect">
            <a:avLst/>
          </a:prstGeom>
          <a:noFill/>
        </p:spPr>
        <p:txBody>
          <a:bodyPr wrap="square" lIns="0" rIns="0" tIns="0" bIns="0" anchor="t">
            <a:spAutoFit/>
          </a:bodyPr>
          <a:lstStyle/>
          <a:p>
            <a:pPr algn="ctr">
              <a:spcAft>
                <a:spcPts val="0"/>
              </a:spcAft>
            </a:pPr>
            <a:r>
              <a:rPr sz="2900" b="1" i="0">
                <a:solidFill>
                  <a:srgbClr val="082B55"/>
                </a:solidFill>
                <a:latin typeface="Arial"/>
              </a:rPr>
              <a:t>11</a:t>
            </a:r>
          </a:p>
        </p:txBody>
      </p:sp>
      <p:sp>
        <p:nvSpPr>
          <p:cNvPr id="15" name="TextBox 14"/>
          <p:cNvSpPr txBox="1"/>
          <p:nvPr/>
        </p:nvSpPr>
        <p:spPr>
          <a:xfrm>
            <a:off x="2834640" y="3685032"/>
            <a:ext cx="1097280" cy="256032"/>
          </a:xfrm>
          <a:prstGeom prst="rect">
            <a:avLst/>
          </a:prstGeom>
          <a:noFill/>
        </p:spPr>
        <p:txBody>
          <a:bodyPr wrap="square" lIns="0" rIns="0" tIns="0" bIns="0" anchor="t">
            <a:spAutoFit/>
          </a:bodyPr>
          <a:lstStyle/>
          <a:p>
            <a:pPr algn="ctr">
              <a:spcAft>
                <a:spcPts val="0"/>
              </a:spcAft>
            </a:pPr>
            <a:r>
              <a:rPr sz="1100" b="1" i="0">
                <a:solidFill>
                  <a:srgbClr val="263746"/>
                </a:solidFill>
                <a:latin typeface="Arial"/>
              </a:rPr>
              <a:t>both</a:t>
            </a:r>
          </a:p>
        </p:txBody>
      </p:sp>
      <p:sp>
        <p:nvSpPr>
          <p:cNvPr id="16" name="TextBox 15"/>
          <p:cNvSpPr txBox="1"/>
          <p:nvPr/>
        </p:nvSpPr>
        <p:spPr>
          <a:xfrm>
            <a:off x="4544568" y="3172968"/>
            <a:ext cx="1097280" cy="457200"/>
          </a:xfrm>
          <a:prstGeom prst="rect">
            <a:avLst/>
          </a:prstGeom>
          <a:noFill/>
        </p:spPr>
        <p:txBody>
          <a:bodyPr wrap="square" lIns="0" rIns="0" tIns="0" bIns="0" anchor="t">
            <a:spAutoFit/>
          </a:bodyPr>
          <a:lstStyle/>
          <a:p>
            <a:pPr algn="ctr">
              <a:spcAft>
                <a:spcPts val="0"/>
              </a:spcAft>
            </a:pPr>
            <a:r>
              <a:rPr sz="2900" b="1" i="0">
                <a:solidFill>
                  <a:srgbClr val="2D6496"/>
                </a:solidFill>
                <a:latin typeface="Arial"/>
              </a:rPr>
              <a:t>38</a:t>
            </a:r>
          </a:p>
        </p:txBody>
      </p:sp>
      <p:sp>
        <p:nvSpPr>
          <p:cNvPr id="17" name="TextBox 16"/>
          <p:cNvSpPr txBox="1"/>
          <p:nvPr/>
        </p:nvSpPr>
        <p:spPr>
          <a:xfrm>
            <a:off x="4398264" y="3685032"/>
            <a:ext cx="1389888" cy="256032"/>
          </a:xfrm>
          <a:prstGeom prst="rect">
            <a:avLst/>
          </a:prstGeom>
          <a:noFill/>
        </p:spPr>
        <p:txBody>
          <a:bodyPr wrap="square" lIns="0" rIns="0" tIns="0" bIns="0" anchor="t">
            <a:spAutoFit/>
          </a:bodyPr>
          <a:lstStyle/>
          <a:p>
            <a:pPr algn="ctr">
              <a:spcAft>
                <a:spcPts val="0"/>
              </a:spcAft>
            </a:pPr>
            <a:r>
              <a:rPr sz="1100" b="1" i="0">
                <a:solidFill>
                  <a:srgbClr val="263746"/>
                </a:solidFill>
                <a:latin typeface="Arial"/>
              </a:rPr>
              <a:t>consensus only</a:t>
            </a:r>
          </a:p>
        </p:txBody>
      </p:sp>
      <p:sp>
        <p:nvSpPr>
          <p:cNvPr id="18" name="TextBox 17"/>
          <p:cNvSpPr txBox="1"/>
          <p:nvPr/>
        </p:nvSpPr>
        <p:spPr>
          <a:xfrm>
            <a:off x="1435608" y="4617720"/>
            <a:ext cx="1417320" cy="256032"/>
          </a:xfrm>
          <a:prstGeom prst="rect">
            <a:avLst/>
          </a:prstGeom>
          <a:noFill/>
        </p:spPr>
        <p:txBody>
          <a:bodyPr wrap="square" lIns="0" rIns="0" tIns="0" bIns="0" anchor="t">
            <a:spAutoFit/>
          </a:bodyPr>
          <a:lstStyle/>
          <a:p>
            <a:pPr algn="ctr">
              <a:spcAft>
                <a:spcPts val="0"/>
              </a:spcAft>
            </a:pPr>
            <a:r>
              <a:rPr sz="1200" b="1" i="0">
                <a:solidFill>
                  <a:srgbClr val="D96552"/>
                </a:solidFill>
                <a:latin typeface="Arial"/>
              </a:rPr>
              <a:t>21 total</a:t>
            </a:r>
          </a:p>
        </p:txBody>
      </p:sp>
      <p:sp>
        <p:nvSpPr>
          <p:cNvPr id="19" name="TextBox 18"/>
          <p:cNvSpPr txBox="1"/>
          <p:nvPr/>
        </p:nvSpPr>
        <p:spPr>
          <a:xfrm>
            <a:off x="3950208" y="4617720"/>
            <a:ext cx="1417320" cy="256032"/>
          </a:xfrm>
          <a:prstGeom prst="rect">
            <a:avLst/>
          </a:prstGeom>
          <a:noFill/>
        </p:spPr>
        <p:txBody>
          <a:bodyPr wrap="square" lIns="0" rIns="0" tIns="0" bIns="0" anchor="t">
            <a:spAutoFit/>
          </a:bodyPr>
          <a:lstStyle/>
          <a:p>
            <a:pPr algn="ctr">
              <a:spcAft>
                <a:spcPts val="0"/>
              </a:spcAft>
            </a:pPr>
            <a:r>
              <a:rPr sz="1200" b="1" i="0">
                <a:solidFill>
                  <a:srgbClr val="2D6496"/>
                </a:solidFill>
                <a:latin typeface="Arial"/>
              </a:rPr>
              <a:t>49 total</a:t>
            </a:r>
          </a:p>
        </p:txBody>
      </p:sp>
      <p:sp>
        <p:nvSpPr>
          <p:cNvPr id="20" name="Rectangle 19"/>
          <p:cNvSpPr/>
          <p:nvPr/>
        </p:nvSpPr>
        <p:spPr>
          <a:xfrm>
            <a:off x="6492240" y="1874519"/>
            <a:ext cx="13716" cy="4023360"/>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784848" y="1984248"/>
            <a:ext cx="4663440" cy="969264"/>
          </a:xfrm>
          <a:prstGeom prst="rect">
            <a:avLst/>
          </a:prstGeom>
          <a:solidFill>
            <a:srgbClr val="F8ECE9"/>
          </a:solidFill>
          <a:ln w="10160">
            <a:solidFill>
              <a:srgbClr val="D965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22592" y="2148840"/>
            <a:ext cx="914400" cy="210312"/>
          </a:xfrm>
          <a:prstGeom prst="rect">
            <a:avLst/>
          </a:prstGeom>
          <a:noFill/>
        </p:spPr>
        <p:txBody>
          <a:bodyPr wrap="square" lIns="0" rIns="0" tIns="0" bIns="0" anchor="t">
            <a:spAutoFit/>
          </a:bodyPr>
          <a:lstStyle/>
          <a:p>
            <a:pPr algn="l">
              <a:spcAft>
                <a:spcPts val="0"/>
              </a:spcAft>
            </a:pPr>
            <a:r>
              <a:rPr sz="919" b="1" i="0">
                <a:solidFill>
                  <a:srgbClr val="D96552"/>
                </a:solidFill>
                <a:latin typeface="Arial"/>
              </a:rPr>
              <a:t>PRIMARY</a:t>
            </a:r>
          </a:p>
        </p:txBody>
      </p:sp>
      <p:sp>
        <p:nvSpPr>
          <p:cNvPr id="23" name="TextBox 22"/>
          <p:cNvSpPr txBox="1"/>
          <p:nvPr/>
        </p:nvSpPr>
        <p:spPr>
          <a:xfrm>
            <a:off x="8074152" y="2112264"/>
            <a:ext cx="3054096" cy="265176"/>
          </a:xfrm>
          <a:prstGeom prst="rect">
            <a:avLst/>
          </a:prstGeom>
          <a:noFill/>
        </p:spPr>
        <p:txBody>
          <a:bodyPr wrap="square" lIns="0" rIns="0" tIns="0" bIns="0" anchor="t">
            <a:spAutoFit/>
          </a:bodyPr>
          <a:lstStyle/>
          <a:p>
            <a:pPr algn="l">
              <a:spcAft>
                <a:spcPts val="0"/>
              </a:spcAft>
            </a:pPr>
            <a:r>
              <a:rPr sz="1400" b="1" i="0">
                <a:solidFill>
                  <a:srgbClr val="082B55"/>
                </a:solidFill>
                <a:latin typeface="Arial"/>
              </a:rPr>
              <a:t>Matched all-gene</a:t>
            </a:r>
          </a:p>
        </p:txBody>
      </p:sp>
      <p:sp>
        <p:nvSpPr>
          <p:cNvPr id="24" name="TextBox 23"/>
          <p:cNvSpPr txBox="1"/>
          <p:nvPr/>
        </p:nvSpPr>
        <p:spPr>
          <a:xfrm>
            <a:off x="7022592" y="2450591"/>
            <a:ext cx="4105656" cy="356616"/>
          </a:xfrm>
          <a:prstGeom prst="rect">
            <a:avLst/>
          </a:prstGeom>
          <a:noFill/>
        </p:spPr>
        <p:txBody>
          <a:bodyPr wrap="square" lIns="0" rIns="0" tIns="0" bIns="0" anchor="t">
            <a:spAutoFit/>
          </a:bodyPr>
          <a:lstStyle/>
          <a:p>
            <a:pPr algn="l">
              <a:spcAft>
                <a:spcPts val="0"/>
              </a:spcAft>
            </a:pPr>
            <a:r>
              <a:rPr sz="1050" b="0" i="0">
                <a:solidFill>
                  <a:srgbClr val="263746"/>
                </a:solidFill>
                <a:latin typeface="Arial"/>
              </a:rPr>
              <a:t>Same genes and classifier; asks whether training source changes held-out-real utility or importance.</a:t>
            </a:r>
          </a:p>
        </p:txBody>
      </p:sp>
      <p:sp>
        <p:nvSpPr>
          <p:cNvPr id="25" name="Rectangle 24"/>
          <p:cNvSpPr/>
          <p:nvPr/>
        </p:nvSpPr>
        <p:spPr>
          <a:xfrm>
            <a:off x="6784848" y="3200400"/>
            <a:ext cx="4663440" cy="969264"/>
          </a:xfrm>
          <a:prstGeom prst="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22592" y="3364992"/>
            <a:ext cx="914400" cy="210312"/>
          </a:xfrm>
          <a:prstGeom prst="rect">
            <a:avLst/>
          </a:prstGeom>
          <a:noFill/>
        </p:spPr>
        <p:txBody>
          <a:bodyPr wrap="square" lIns="0" rIns="0" tIns="0" bIns="0" anchor="t">
            <a:spAutoFit/>
          </a:bodyPr>
          <a:lstStyle/>
          <a:p>
            <a:pPr algn="l">
              <a:spcAft>
                <a:spcPts val="0"/>
              </a:spcAft>
            </a:pPr>
            <a:r>
              <a:rPr sz="919" b="1" i="0">
                <a:solidFill>
                  <a:srgbClr val="2D6496"/>
                </a:solidFill>
                <a:latin typeface="Arial"/>
              </a:rPr>
              <a:t>SECONDARY</a:t>
            </a:r>
          </a:p>
        </p:txBody>
      </p:sp>
      <p:sp>
        <p:nvSpPr>
          <p:cNvPr id="27" name="TextBox 26"/>
          <p:cNvSpPr txBox="1"/>
          <p:nvPr/>
        </p:nvSpPr>
        <p:spPr>
          <a:xfrm>
            <a:off x="8074152" y="3328416"/>
            <a:ext cx="3054096" cy="265176"/>
          </a:xfrm>
          <a:prstGeom prst="rect">
            <a:avLst/>
          </a:prstGeom>
          <a:noFill/>
        </p:spPr>
        <p:txBody>
          <a:bodyPr wrap="square" lIns="0" rIns="0" tIns="0" bIns="0" anchor="t">
            <a:spAutoFit/>
          </a:bodyPr>
          <a:lstStyle/>
          <a:p>
            <a:pPr algn="l">
              <a:spcAft>
                <a:spcPts val="0"/>
              </a:spcAft>
            </a:pPr>
            <a:r>
              <a:rPr sz="1400" b="1" i="0">
                <a:solidFill>
                  <a:srgbClr val="082B55"/>
                </a:solidFill>
                <a:latin typeface="Arial"/>
              </a:rPr>
              <a:t>Consensus panel</a:t>
            </a:r>
          </a:p>
        </p:txBody>
      </p:sp>
      <p:sp>
        <p:nvSpPr>
          <p:cNvPr id="28" name="TextBox 27"/>
          <p:cNvSpPr txBox="1"/>
          <p:nvPr/>
        </p:nvSpPr>
        <p:spPr>
          <a:xfrm>
            <a:off x="7022592" y="3666744"/>
            <a:ext cx="4105656" cy="356616"/>
          </a:xfrm>
          <a:prstGeom prst="rect">
            <a:avLst/>
          </a:prstGeom>
          <a:noFill/>
        </p:spPr>
        <p:txBody>
          <a:bodyPr wrap="square" lIns="0" rIns="0" tIns="0" bIns="0" anchor="t">
            <a:spAutoFit/>
          </a:bodyPr>
          <a:lstStyle/>
          <a:p>
            <a:pPr algn="l">
              <a:spcAft>
                <a:spcPts val="0"/>
              </a:spcAft>
            </a:pPr>
            <a:r>
              <a:rPr sz="1050" b="0" i="0">
                <a:solidFill>
                  <a:srgbClr val="263746"/>
                </a:solidFill>
                <a:latin typeface="Arial"/>
              </a:rPr>
              <a:t>Ranks compact top-k panels; preserves groups of correlated genes that can replace one another.</a:t>
            </a:r>
          </a:p>
        </p:txBody>
      </p:sp>
      <p:sp>
        <p:nvSpPr>
          <p:cNvPr id="29" name="Rectangle 28"/>
          <p:cNvSpPr/>
          <p:nvPr/>
        </p:nvSpPr>
        <p:spPr>
          <a:xfrm>
            <a:off x="6784848" y="4416552"/>
            <a:ext cx="4663440" cy="969264"/>
          </a:xfrm>
          <a:prstGeom prst="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22592" y="4581144"/>
            <a:ext cx="914400" cy="210312"/>
          </a:xfrm>
          <a:prstGeom prst="rect">
            <a:avLst/>
          </a:prstGeom>
          <a:noFill/>
        </p:spPr>
        <p:txBody>
          <a:bodyPr wrap="square" lIns="0" rIns="0" tIns="0" bIns="0" anchor="t">
            <a:spAutoFit/>
          </a:bodyPr>
          <a:lstStyle/>
          <a:p>
            <a:pPr algn="l">
              <a:spcAft>
                <a:spcPts val="0"/>
              </a:spcAft>
            </a:pPr>
            <a:r>
              <a:rPr sz="919" b="1" i="0">
                <a:solidFill>
                  <a:srgbClr val="178681"/>
                </a:solidFill>
                <a:latin typeface="Arial"/>
              </a:rPr>
              <a:t>SHARED</a:t>
            </a:r>
          </a:p>
        </p:txBody>
      </p:sp>
      <p:sp>
        <p:nvSpPr>
          <p:cNvPr id="31" name="TextBox 30"/>
          <p:cNvSpPr txBox="1"/>
          <p:nvPr/>
        </p:nvSpPr>
        <p:spPr>
          <a:xfrm>
            <a:off x="8074152" y="4544568"/>
            <a:ext cx="3054096" cy="265176"/>
          </a:xfrm>
          <a:prstGeom prst="rect">
            <a:avLst/>
          </a:prstGeom>
          <a:noFill/>
        </p:spPr>
        <p:txBody>
          <a:bodyPr wrap="square" lIns="0" rIns="0" tIns="0" bIns="0" anchor="t">
            <a:spAutoFit/>
          </a:bodyPr>
          <a:lstStyle/>
          <a:p>
            <a:pPr algn="l">
              <a:spcAft>
                <a:spcPts val="0"/>
              </a:spcAft>
            </a:pPr>
            <a:r>
              <a:rPr sz="1400" b="1" i="0">
                <a:solidFill>
                  <a:srgbClr val="082B55"/>
                </a:solidFill>
                <a:latin typeface="Arial"/>
              </a:rPr>
              <a:t>Real association gate</a:t>
            </a:r>
          </a:p>
        </p:txBody>
      </p:sp>
      <p:sp>
        <p:nvSpPr>
          <p:cNvPr id="32" name="TextBox 31"/>
          <p:cNvSpPr txBox="1"/>
          <p:nvPr/>
        </p:nvSpPr>
        <p:spPr>
          <a:xfrm>
            <a:off x="7022592" y="4882896"/>
            <a:ext cx="4105656" cy="356616"/>
          </a:xfrm>
          <a:prstGeom prst="rect">
            <a:avLst/>
          </a:prstGeom>
          <a:noFill/>
        </p:spPr>
        <p:txBody>
          <a:bodyPr wrap="square" lIns="0" rIns="0" tIns="0" bIns="0" anchor="t">
            <a:spAutoFit/>
          </a:bodyPr>
          <a:lstStyle/>
          <a:p>
            <a:pPr algn="l">
              <a:spcAft>
                <a:spcPts val="0"/>
              </a:spcAft>
            </a:pPr>
            <a:r>
              <a:rPr sz="1050" b="0" i="0">
                <a:solidFill>
                  <a:srgbClr val="263746"/>
                </a:solidFill>
                <a:latin typeface="Arial"/>
              </a:rPr>
              <a:t>FLT-GC effects and BH FDR are estimated from observed OSDR profiles only.</a:t>
            </a:r>
          </a:p>
        </p:txBody>
      </p:sp>
      <p:sp>
        <p:nvSpPr>
          <p:cNvPr id="33" name="Rectangle 32"/>
          <p:cNvSpPr/>
          <p:nvPr/>
        </p:nvSpPr>
        <p:spPr>
          <a:xfrm>
            <a:off x="530352" y="5367528"/>
            <a:ext cx="10991088" cy="585216"/>
          </a:xfrm>
          <a:prstGeom prst="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77240" y="5532120"/>
            <a:ext cx="10497312" cy="256032"/>
          </a:xfrm>
          <a:prstGeom prst="rect">
            <a:avLst/>
          </a:prstGeom>
          <a:noFill/>
        </p:spPr>
        <p:txBody>
          <a:bodyPr wrap="square" lIns="0" rIns="0" tIns="0" bIns="0" anchor="t">
            <a:spAutoFit/>
          </a:bodyPr>
          <a:lstStyle/>
          <a:p>
            <a:pPr algn="ctr">
              <a:spcAft>
                <a:spcPts val="0"/>
              </a:spcAft>
            </a:pPr>
            <a:r>
              <a:rPr sz="1350" b="1" i="0">
                <a:solidFill>
                  <a:srgbClr val="FFFFFF"/>
                </a:solidFill>
                <a:latin typeface="Arial"/>
              </a:rPr>
              <a:t>Thymus is strongest because matched importance and the consensus cell-cycle panel converge.</a:t>
            </a:r>
          </a:p>
        </p:txBody>
      </p:sp>
      <p:sp>
        <p:nvSpPr>
          <p:cNvPr id="35" name="TextBox 34"/>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Crosswalk: 21 matched associations, 49 consensus associations, and 11 supported by both analyses.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LITERATURE INTERPRETATION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Consensus selection and literature are separate dimensions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49 secondary consensus associations received a selection status and an independent literature interpretation.</a:t>
            </a:r>
          </a:p>
        </p:txBody>
      </p:sp>
      <p:sp>
        <p:nvSpPr>
          <p:cNvPr id="7" name="TextBox 6"/>
          <p:cNvSpPr txBox="1"/>
          <p:nvPr/>
        </p:nvSpPr>
        <p:spPr>
          <a:xfrm>
            <a:off x="438912" y="1892807"/>
            <a:ext cx="365760" cy="219456"/>
          </a:xfrm>
          <a:prstGeom prst="rect">
            <a:avLst/>
          </a:prstGeom>
          <a:noFill/>
        </p:spPr>
        <p:txBody>
          <a:bodyPr wrap="square" lIns="0" rIns="0" tIns="0" bIns="0" anchor="t">
            <a:spAutoFit/>
          </a:bodyPr>
          <a:lstStyle/>
          <a:p>
            <a:pPr algn="l">
              <a:spcAft>
                <a:spcPts val="0"/>
              </a:spcAft>
            </a:pPr>
            <a:r>
              <a:rPr sz="1080" b="1" i="0">
                <a:solidFill>
                  <a:srgbClr val="2D6496"/>
                </a:solidFill>
                <a:latin typeface="Arial"/>
              </a:rPr>
              <a:t>01</a:t>
            </a:r>
          </a:p>
        </p:txBody>
      </p:sp>
      <p:sp>
        <p:nvSpPr>
          <p:cNvPr id="8" name="TextBox 7"/>
          <p:cNvSpPr txBox="1"/>
          <p:nvPr/>
        </p:nvSpPr>
        <p:spPr>
          <a:xfrm>
            <a:off x="877824"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Fix the candidate</a:t>
            </a:r>
          </a:p>
        </p:txBody>
      </p:sp>
      <p:sp>
        <p:nvSpPr>
          <p:cNvPr id="9" name="TextBox 8"/>
          <p:cNvSpPr txBox="1"/>
          <p:nvPr/>
        </p:nvSpPr>
        <p:spPr>
          <a:xfrm>
            <a:off x="877824"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Gene, tissue, and FLT direction</a:t>
            </a:r>
          </a:p>
        </p:txBody>
      </p:sp>
      <p:sp>
        <p:nvSpPr>
          <p:cNvPr id="10" name="Rectangle 9"/>
          <p:cNvSpPr/>
          <p:nvPr/>
        </p:nvSpPr>
        <p:spPr>
          <a:xfrm>
            <a:off x="438912" y="2697480"/>
            <a:ext cx="2487168" cy="2286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072384"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28416" y="1892807"/>
            <a:ext cx="365760" cy="219456"/>
          </a:xfrm>
          <a:prstGeom prst="rect">
            <a:avLst/>
          </a:prstGeom>
          <a:noFill/>
        </p:spPr>
        <p:txBody>
          <a:bodyPr wrap="square" lIns="0" rIns="0" tIns="0" bIns="0" anchor="t">
            <a:spAutoFit/>
          </a:bodyPr>
          <a:lstStyle/>
          <a:p>
            <a:pPr algn="l">
              <a:spcAft>
                <a:spcPts val="0"/>
              </a:spcAft>
            </a:pPr>
            <a:r>
              <a:rPr sz="1080" b="1" i="0">
                <a:solidFill>
                  <a:srgbClr val="178681"/>
                </a:solidFill>
                <a:latin typeface="Arial"/>
              </a:rPr>
              <a:t>02</a:t>
            </a:r>
          </a:p>
        </p:txBody>
      </p:sp>
      <p:sp>
        <p:nvSpPr>
          <p:cNvPr id="13" name="TextBox 12"/>
          <p:cNvSpPr txBox="1"/>
          <p:nvPr/>
        </p:nvSpPr>
        <p:spPr>
          <a:xfrm>
            <a:off x="3767328"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Search</a:t>
            </a:r>
          </a:p>
        </p:txBody>
      </p:sp>
      <p:sp>
        <p:nvSpPr>
          <p:cNvPr id="14" name="TextBox 13"/>
          <p:cNvSpPr txBox="1"/>
          <p:nvPr/>
        </p:nvSpPr>
        <p:spPr>
          <a:xfrm>
            <a:off x="3767328"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Spaceflight and mechanism literature</a:t>
            </a:r>
          </a:p>
        </p:txBody>
      </p:sp>
      <p:sp>
        <p:nvSpPr>
          <p:cNvPr id="15" name="Rectangle 14"/>
          <p:cNvSpPr/>
          <p:nvPr/>
        </p:nvSpPr>
        <p:spPr>
          <a:xfrm>
            <a:off x="3328416" y="2697480"/>
            <a:ext cx="2487168" cy="22860"/>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961888"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7920" y="1892807"/>
            <a:ext cx="365760" cy="219456"/>
          </a:xfrm>
          <a:prstGeom prst="rect">
            <a:avLst/>
          </a:prstGeom>
          <a:noFill/>
        </p:spPr>
        <p:txBody>
          <a:bodyPr wrap="square" lIns="0" rIns="0" tIns="0" bIns="0" anchor="t">
            <a:spAutoFit/>
          </a:bodyPr>
          <a:lstStyle/>
          <a:p>
            <a:pPr algn="l">
              <a:spcAft>
                <a:spcPts val="0"/>
              </a:spcAft>
            </a:pPr>
            <a:r>
              <a:rPr sz="1080" b="1" i="0">
                <a:solidFill>
                  <a:srgbClr val="D37B00"/>
                </a:solidFill>
                <a:latin typeface="Arial"/>
              </a:rPr>
              <a:t>03</a:t>
            </a:r>
          </a:p>
        </p:txBody>
      </p:sp>
      <p:sp>
        <p:nvSpPr>
          <p:cNvPr id="18" name="TextBox 17"/>
          <p:cNvSpPr txBox="1"/>
          <p:nvPr/>
        </p:nvSpPr>
        <p:spPr>
          <a:xfrm>
            <a:off x="6656832"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Compare</a:t>
            </a:r>
          </a:p>
        </p:txBody>
      </p:sp>
      <p:sp>
        <p:nvSpPr>
          <p:cNvPr id="19" name="TextBox 18"/>
          <p:cNvSpPr txBox="1"/>
          <p:nvPr/>
        </p:nvSpPr>
        <p:spPr>
          <a:xfrm>
            <a:off x="6656832"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Observed result with published evidence</a:t>
            </a:r>
          </a:p>
        </p:txBody>
      </p:sp>
      <p:sp>
        <p:nvSpPr>
          <p:cNvPr id="20" name="Rectangle 19"/>
          <p:cNvSpPr/>
          <p:nvPr/>
        </p:nvSpPr>
        <p:spPr>
          <a:xfrm>
            <a:off x="6217920" y="2697480"/>
            <a:ext cx="2487168" cy="2286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851392" y="1847088"/>
            <a:ext cx="10972" cy="868680"/>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07424" y="1892807"/>
            <a:ext cx="365760" cy="219456"/>
          </a:xfrm>
          <a:prstGeom prst="rect">
            <a:avLst/>
          </a:prstGeom>
          <a:noFill/>
        </p:spPr>
        <p:txBody>
          <a:bodyPr wrap="square" lIns="0" rIns="0" tIns="0" bIns="0" anchor="t">
            <a:spAutoFit/>
          </a:bodyPr>
          <a:lstStyle/>
          <a:p>
            <a:pPr algn="l">
              <a:spcAft>
                <a:spcPts val="0"/>
              </a:spcAft>
            </a:pPr>
            <a:r>
              <a:rPr sz="1080" b="1" i="0">
                <a:solidFill>
                  <a:srgbClr val="8063A6"/>
                </a:solidFill>
                <a:latin typeface="Arial"/>
              </a:rPr>
              <a:t>04</a:t>
            </a:r>
          </a:p>
        </p:txBody>
      </p:sp>
      <p:sp>
        <p:nvSpPr>
          <p:cNvPr id="23" name="TextBox 22"/>
          <p:cNvSpPr txBox="1"/>
          <p:nvPr/>
        </p:nvSpPr>
        <p:spPr>
          <a:xfrm>
            <a:off x="9546336" y="1847088"/>
            <a:ext cx="2103120" cy="274320"/>
          </a:xfrm>
          <a:prstGeom prst="rect">
            <a:avLst/>
          </a:prstGeom>
          <a:noFill/>
        </p:spPr>
        <p:txBody>
          <a:bodyPr wrap="square" lIns="0" rIns="0" tIns="0" bIns="0" anchor="t">
            <a:spAutoFit/>
          </a:bodyPr>
          <a:lstStyle/>
          <a:p>
            <a:pPr algn="l">
              <a:spcAft>
                <a:spcPts val="0"/>
              </a:spcAft>
            </a:pPr>
            <a:r>
              <a:rPr sz="1450" b="1" i="0">
                <a:solidFill>
                  <a:srgbClr val="082B55"/>
                </a:solidFill>
                <a:latin typeface="Arial"/>
              </a:rPr>
              <a:t>Record</a:t>
            </a:r>
          </a:p>
        </p:txBody>
      </p:sp>
      <p:sp>
        <p:nvSpPr>
          <p:cNvPr id="24" name="TextBox 23"/>
          <p:cNvSpPr txBox="1"/>
          <p:nvPr/>
        </p:nvSpPr>
        <p:spPr>
          <a:xfrm>
            <a:off x="9546336" y="2194560"/>
            <a:ext cx="2103120" cy="384048"/>
          </a:xfrm>
          <a:prstGeom prst="rect">
            <a:avLst/>
          </a:prstGeom>
          <a:noFill/>
        </p:spPr>
        <p:txBody>
          <a:bodyPr wrap="square" lIns="0" rIns="0" tIns="0" bIns="0" anchor="t">
            <a:spAutoFit/>
          </a:bodyPr>
          <a:lstStyle/>
          <a:p>
            <a:pPr algn="l">
              <a:spcAft>
                <a:spcPts val="0"/>
              </a:spcAft>
            </a:pPr>
            <a:r>
              <a:rPr sz="1080" b="0" i="0">
                <a:solidFill>
                  <a:srgbClr val="59697A"/>
                </a:solidFill>
                <a:latin typeface="Arial"/>
              </a:rPr>
              <a:t>Category, rationale, and source IDs</a:t>
            </a:r>
          </a:p>
        </p:txBody>
      </p:sp>
      <p:sp>
        <p:nvSpPr>
          <p:cNvPr id="25" name="Rectangle 24"/>
          <p:cNvSpPr/>
          <p:nvPr/>
        </p:nvSpPr>
        <p:spPr>
          <a:xfrm>
            <a:off x="9107424" y="2697480"/>
            <a:ext cx="2487168" cy="2286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3063240"/>
            <a:ext cx="3273552"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Selection status</a:t>
            </a:r>
          </a:p>
        </p:txBody>
      </p:sp>
      <p:sp>
        <p:nvSpPr>
          <p:cNvPr id="27" name="TextBox 26"/>
          <p:cNvSpPr txBox="1"/>
          <p:nvPr/>
        </p:nvSpPr>
        <p:spPr>
          <a:xfrm>
            <a:off x="502920" y="3630168"/>
            <a:ext cx="621792" cy="475488"/>
          </a:xfrm>
          <a:prstGeom prst="rect">
            <a:avLst/>
          </a:prstGeom>
          <a:noFill/>
        </p:spPr>
        <p:txBody>
          <a:bodyPr wrap="square" lIns="0" rIns="0" tIns="0" bIns="0" anchor="t">
            <a:spAutoFit/>
          </a:bodyPr>
          <a:lstStyle/>
          <a:p>
            <a:pPr algn="l">
              <a:spcAft>
                <a:spcPts val="0"/>
              </a:spcAft>
            </a:pPr>
            <a:r>
              <a:rPr sz="2900" b="1" i="0">
                <a:solidFill>
                  <a:srgbClr val="D96552"/>
                </a:solidFill>
                <a:latin typeface="Arial"/>
              </a:rPr>
              <a:t>26</a:t>
            </a:r>
          </a:p>
        </p:txBody>
      </p:sp>
      <p:sp>
        <p:nvSpPr>
          <p:cNvPr id="28" name="TextBox 27"/>
          <p:cNvSpPr txBox="1"/>
          <p:nvPr/>
        </p:nvSpPr>
        <p:spPr>
          <a:xfrm>
            <a:off x="1261872" y="3657599"/>
            <a:ext cx="2423160" cy="274320"/>
          </a:xfrm>
          <a:prstGeom prst="rect">
            <a:avLst/>
          </a:prstGeom>
          <a:noFill/>
        </p:spPr>
        <p:txBody>
          <a:bodyPr wrap="square" lIns="0" rIns="0" tIns="0" bIns="0" anchor="t">
            <a:spAutoFit/>
          </a:bodyPr>
          <a:lstStyle/>
          <a:p>
            <a:pPr algn="l">
              <a:spcAft>
                <a:spcPts val="0"/>
              </a:spcAft>
            </a:pPr>
            <a:r>
              <a:rPr sz="1500" b="1" i="0">
                <a:solidFill>
                  <a:srgbClr val="D96552"/>
                </a:solidFill>
                <a:latin typeface="Arial"/>
              </a:rPr>
              <a:t>Promoted</a:t>
            </a:r>
          </a:p>
        </p:txBody>
      </p:sp>
      <p:sp>
        <p:nvSpPr>
          <p:cNvPr id="29" name="TextBox 28"/>
          <p:cNvSpPr txBox="1"/>
          <p:nvPr/>
        </p:nvSpPr>
        <p:spPr>
          <a:xfrm>
            <a:off x="1261872" y="3959351"/>
            <a:ext cx="2468880" cy="347472"/>
          </a:xfrm>
          <a:prstGeom prst="rect">
            <a:avLst/>
          </a:prstGeom>
          <a:noFill/>
        </p:spPr>
        <p:txBody>
          <a:bodyPr wrap="square" lIns="0" rIns="0" tIns="0" bIns="0" anchor="t">
            <a:spAutoFit/>
          </a:bodyPr>
          <a:lstStyle/>
          <a:p>
            <a:pPr algn="l">
              <a:spcAft>
                <a:spcPts val="0"/>
              </a:spcAft>
            </a:pPr>
            <a:r>
              <a:rPr sz="1150" b="0" i="0">
                <a:solidFill>
                  <a:srgbClr val="263746"/>
                </a:solidFill>
                <a:latin typeface="Arial"/>
              </a:rPr>
              <a:t>Stable only with synthetic guidance</a:t>
            </a:r>
          </a:p>
        </p:txBody>
      </p:sp>
      <p:sp>
        <p:nvSpPr>
          <p:cNvPr id="30" name="Rectangle 29"/>
          <p:cNvSpPr/>
          <p:nvPr/>
        </p:nvSpPr>
        <p:spPr>
          <a:xfrm>
            <a:off x="502920" y="4471416"/>
            <a:ext cx="3273552" cy="10972"/>
          </a:xfrm>
          <a:prstGeom prst="rect">
            <a:avLst/>
          </a:prstGeom>
          <a:solidFill>
            <a:srgbClr val="E0E5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02920" y="4590288"/>
            <a:ext cx="621792" cy="475488"/>
          </a:xfrm>
          <a:prstGeom prst="rect">
            <a:avLst/>
          </a:prstGeom>
          <a:noFill/>
        </p:spPr>
        <p:txBody>
          <a:bodyPr wrap="square" lIns="0" rIns="0" tIns="0" bIns="0" anchor="t">
            <a:spAutoFit/>
          </a:bodyPr>
          <a:lstStyle/>
          <a:p>
            <a:pPr algn="l">
              <a:spcAft>
                <a:spcPts val="0"/>
              </a:spcAft>
            </a:pPr>
            <a:r>
              <a:rPr sz="2900" b="1" i="0">
                <a:solidFill>
                  <a:srgbClr val="178681"/>
                </a:solidFill>
                <a:latin typeface="Arial"/>
              </a:rPr>
              <a:t>23</a:t>
            </a:r>
          </a:p>
        </p:txBody>
      </p:sp>
      <p:sp>
        <p:nvSpPr>
          <p:cNvPr id="32" name="TextBox 31"/>
          <p:cNvSpPr txBox="1"/>
          <p:nvPr/>
        </p:nvSpPr>
        <p:spPr>
          <a:xfrm>
            <a:off x="1261872" y="4617720"/>
            <a:ext cx="2423160" cy="274320"/>
          </a:xfrm>
          <a:prstGeom prst="rect">
            <a:avLst/>
          </a:prstGeom>
          <a:noFill/>
        </p:spPr>
        <p:txBody>
          <a:bodyPr wrap="square" lIns="0" rIns="0" tIns="0" bIns="0" anchor="t">
            <a:spAutoFit/>
          </a:bodyPr>
          <a:lstStyle/>
          <a:p>
            <a:pPr algn="l">
              <a:spcAft>
                <a:spcPts val="0"/>
              </a:spcAft>
            </a:pPr>
            <a:r>
              <a:rPr sz="1500" b="1" i="0">
                <a:solidFill>
                  <a:srgbClr val="178681"/>
                </a:solidFill>
                <a:latin typeface="Arial"/>
              </a:rPr>
              <a:t>Reinforced</a:t>
            </a:r>
          </a:p>
        </p:txBody>
      </p:sp>
      <p:sp>
        <p:nvSpPr>
          <p:cNvPr id="33" name="TextBox 32"/>
          <p:cNvSpPr txBox="1"/>
          <p:nvPr/>
        </p:nvSpPr>
        <p:spPr>
          <a:xfrm>
            <a:off x="1261872" y="4919471"/>
            <a:ext cx="2468880" cy="347472"/>
          </a:xfrm>
          <a:prstGeom prst="rect">
            <a:avLst/>
          </a:prstGeom>
          <a:noFill/>
        </p:spPr>
        <p:txBody>
          <a:bodyPr wrap="square" lIns="0" rIns="0" tIns="0" bIns="0" anchor="t">
            <a:spAutoFit/>
          </a:bodyPr>
          <a:lstStyle/>
          <a:p>
            <a:pPr algn="l">
              <a:spcAft>
                <a:spcPts val="0"/>
              </a:spcAft>
            </a:pPr>
            <a:r>
              <a:rPr sz="1150" b="0" i="0">
                <a:solidFill>
                  <a:srgbClr val="263746"/>
                </a:solidFill>
                <a:latin typeface="Arial"/>
              </a:rPr>
              <a:t>Stable with and without guidance</a:t>
            </a:r>
          </a:p>
        </p:txBody>
      </p:sp>
      <p:sp>
        <p:nvSpPr>
          <p:cNvPr id="34" name="Rectangle 33"/>
          <p:cNvSpPr/>
          <p:nvPr/>
        </p:nvSpPr>
        <p:spPr>
          <a:xfrm>
            <a:off x="4069080" y="3044952"/>
            <a:ext cx="13716" cy="2532888"/>
          </a:xfrm>
          <a:prstGeom prst="rect">
            <a:avLst/>
          </a:prstGeom>
          <a:solidFill>
            <a:srgbClr val="D5DD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07408" y="3063240"/>
            <a:ext cx="6876288"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Literature interpretation</a:t>
            </a:r>
          </a:p>
        </p:txBody>
      </p:sp>
      <p:sp>
        <p:nvSpPr>
          <p:cNvPr id="36" name="TextBox 35"/>
          <p:cNvSpPr txBox="1"/>
          <p:nvPr/>
        </p:nvSpPr>
        <p:spPr>
          <a:xfrm>
            <a:off x="4425696" y="3529584"/>
            <a:ext cx="1417320" cy="201168"/>
          </a:xfrm>
          <a:prstGeom prst="rect">
            <a:avLst/>
          </a:prstGeom>
          <a:noFill/>
        </p:spPr>
        <p:txBody>
          <a:bodyPr wrap="square" lIns="0" rIns="0" tIns="0" bIns="0" anchor="t">
            <a:spAutoFit/>
          </a:bodyPr>
          <a:lstStyle/>
          <a:p>
            <a:pPr algn="l">
              <a:spcAft>
                <a:spcPts val="0"/>
              </a:spcAft>
            </a:pPr>
            <a:r>
              <a:rPr sz="950" b="1" i="0">
                <a:solidFill>
                  <a:srgbClr val="59697A"/>
                </a:solidFill>
                <a:latin typeface="Arial"/>
              </a:rPr>
              <a:t>Class</a:t>
            </a:r>
          </a:p>
        </p:txBody>
      </p:sp>
      <p:sp>
        <p:nvSpPr>
          <p:cNvPr id="37" name="TextBox 36"/>
          <p:cNvSpPr txBox="1"/>
          <p:nvPr/>
        </p:nvSpPr>
        <p:spPr>
          <a:xfrm>
            <a:off x="6272784" y="3529584"/>
            <a:ext cx="640080" cy="201168"/>
          </a:xfrm>
          <a:prstGeom prst="rect">
            <a:avLst/>
          </a:prstGeom>
          <a:noFill/>
        </p:spPr>
        <p:txBody>
          <a:bodyPr wrap="square" lIns="0" rIns="0" tIns="0" bIns="0" anchor="t">
            <a:spAutoFit/>
          </a:bodyPr>
          <a:lstStyle/>
          <a:p>
            <a:pPr algn="ctr">
              <a:spcAft>
                <a:spcPts val="0"/>
              </a:spcAft>
            </a:pPr>
            <a:r>
              <a:rPr sz="950" b="1" i="0">
                <a:solidFill>
                  <a:srgbClr val="59697A"/>
                </a:solidFill>
                <a:latin typeface="Arial"/>
              </a:rPr>
              <a:t>Count</a:t>
            </a:r>
          </a:p>
        </p:txBody>
      </p:sp>
      <p:sp>
        <p:nvSpPr>
          <p:cNvPr id="38" name="TextBox 37"/>
          <p:cNvSpPr txBox="1"/>
          <p:nvPr/>
        </p:nvSpPr>
        <p:spPr>
          <a:xfrm>
            <a:off x="7031736" y="3529584"/>
            <a:ext cx="3941063" cy="201168"/>
          </a:xfrm>
          <a:prstGeom prst="rect">
            <a:avLst/>
          </a:prstGeom>
          <a:noFill/>
        </p:spPr>
        <p:txBody>
          <a:bodyPr wrap="square" lIns="0" rIns="0" tIns="0" bIns="0" anchor="t">
            <a:spAutoFit/>
          </a:bodyPr>
          <a:lstStyle/>
          <a:p>
            <a:pPr algn="l">
              <a:spcAft>
                <a:spcPts val="0"/>
              </a:spcAft>
            </a:pPr>
            <a:r>
              <a:rPr sz="950" b="1" i="0">
                <a:solidFill>
                  <a:srgbClr val="59697A"/>
                </a:solidFill>
                <a:latin typeface="Arial"/>
              </a:rPr>
              <a:t>Meaning</a:t>
            </a:r>
          </a:p>
        </p:txBody>
      </p:sp>
      <p:sp>
        <p:nvSpPr>
          <p:cNvPr id="39" name="Rectangle 38"/>
          <p:cNvSpPr/>
          <p:nvPr/>
        </p:nvSpPr>
        <p:spPr>
          <a:xfrm>
            <a:off x="4407408" y="3776472"/>
            <a:ext cx="6894576" cy="18288"/>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407408" y="3867911"/>
            <a:ext cx="6894576" cy="384048"/>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443984" y="4005072"/>
            <a:ext cx="109728" cy="109728"/>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663440" y="3904487"/>
            <a:ext cx="1536192" cy="310896"/>
          </a:xfrm>
          <a:prstGeom prst="rect">
            <a:avLst/>
          </a:prstGeom>
          <a:noFill/>
        </p:spPr>
        <p:txBody>
          <a:bodyPr wrap="square" lIns="0" rIns="0" tIns="0" bIns="0" anchor="ctr">
            <a:spAutoFit/>
          </a:bodyPr>
          <a:lstStyle/>
          <a:p>
            <a:pPr algn="l">
              <a:spcAft>
                <a:spcPts val="0"/>
              </a:spcAft>
            </a:pPr>
            <a:r>
              <a:rPr sz="1260" b="1" i="0">
                <a:solidFill>
                  <a:srgbClr val="478A64"/>
                </a:solidFill>
                <a:latin typeface="Arial"/>
              </a:rPr>
              <a:t>Aligning</a:t>
            </a:r>
          </a:p>
        </p:txBody>
      </p:sp>
      <p:sp>
        <p:nvSpPr>
          <p:cNvPr id="43" name="TextBox 42"/>
          <p:cNvSpPr txBox="1"/>
          <p:nvPr/>
        </p:nvSpPr>
        <p:spPr>
          <a:xfrm>
            <a:off x="6281928" y="3904487"/>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22</a:t>
            </a:r>
          </a:p>
        </p:txBody>
      </p:sp>
      <p:sp>
        <p:nvSpPr>
          <p:cNvPr id="44" name="TextBox 43"/>
          <p:cNvSpPr txBox="1"/>
          <p:nvPr/>
        </p:nvSpPr>
        <p:spPr>
          <a:xfrm>
            <a:off x="7031736" y="3904487"/>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Direct or same-tissue process agreement</a:t>
            </a:r>
          </a:p>
        </p:txBody>
      </p:sp>
      <p:sp>
        <p:nvSpPr>
          <p:cNvPr id="45" name="Rectangle 44"/>
          <p:cNvSpPr/>
          <p:nvPr/>
        </p:nvSpPr>
        <p:spPr>
          <a:xfrm>
            <a:off x="4443984" y="4443984"/>
            <a:ext cx="109728" cy="10972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63440" y="4343400"/>
            <a:ext cx="1536192" cy="310896"/>
          </a:xfrm>
          <a:prstGeom prst="rect">
            <a:avLst/>
          </a:prstGeom>
          <a:noFill/>
        </p:spPr>
        <p:txBody>
          <a:bodyPr wrap="square" lIns="0" rIns="0" tIns="0" bIns="0" anchor="ctr">
            <a:spAutoFit/>
          </a:bodyPr>
          <a:lstStyle/>
          <a:p>
            <a:pPr algn="l">
              <a:spcAft>
                <a:spcPts val="0"/>
              </a:spcAft>
            </a:pPr>
            <a:r>
              <a:rPr sz="1260" b="1" i="0">
                <a:solidFill>
                  <a:srgbClr val="2D6496"/>
                </a:solidFill>
                <a:latin typeface="Arial"/>
              </a:rPr>
              <a:t>Complementary</a:t>
            </a:r>
          </a:p>
        </p:txBody>
      </p:sp>
      <p:sp>
        <p:nvSpPr>
          <p:cNvPr id="47" name="TextBox 46"/>
          <p:cNvSpPr txBox="1"/>
          <p:nvPr/>
        </p:nvSpPr>
        <p:spPr>
          <a:xfrm>
            <a:off x="6281928" y="4343400"/>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19</a:t>
            </a:r>
          </a:p>
        </p:txBody>
      </p:sp>
      <p:sp>
        <p:nvSpPr>
          <p:cNvPr id="48" name="TextBox 47"/>
          <p:cNvSpPr txBox="1"/>
          <p:nvPr/>
        </p:nvSpPr>
        <p:spPr>
          <a:xfrm>
            <a:off x="7031736" y="4343400"/>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Related process or mechanism</a:t>
            </a:r>
          </a:p>
        </p:txBody>
      </p:sp>
      <p:sp>
        <p:nvSpPr>
          <p:cNvPr id="49" name="Rectangle 48"/>
          <p:cNvSpPr/>
          <p:nvPr/>
        </p:nvSpPr>
        <p:spPr>
          <a:xfrm>
            <a:off x="4407408" y="4745736"/>
            <a:ext cx="6894576" cy="384048"/>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443984" y="4882896"/>
            <a:ext cx="109728" cy="109728"/>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663440" y="4782312"/>
            <a:ext cx="1536192" cy="310896"/>
          </a:xfrm>
          <a:prstGeom prst="rect">
            <a:avLst/>
          </a:prstGeom>
          <a:noFill/>
        </p:spPr>
        <p:txBody>
          <a:bodyPr wrap="square" lIns="0" rIns="0" tIns="0" bIns="0" anchor="ctr">
            <a:spAutoFit/>
          </a:bodyPr>
          <a:lstStyle/>
          <a:p>
            <a:pPr algn="l">
              <a:spcAft>
                <a:spcPts val="0"/>
              </a:spcAft>
            </a:pPr>
            <a:r>
              <a:rPr sz="1260" b="1" i="0">
                <a:solidFill>
                  <a:srgbClr val="D37B00"/>
                </a:solidFill>
                <a:latin typeface="Arial"/>
              </a:rPr>
              <a:t>Ambiguous</a:t>
            </a:r>
          </a:p>
        </p:txBody>
      </p:sp>
      <p:sp>
        <p:nvSpPr>
          <p:cNvPr id="52" name="TextBox 51"/>
          <p:cNvSpPr txBox="1"/>
          <p:nvPr/>
        </p:nvSpPr>
        <p:spPr>
          <a:xfrm>
            <a:off x="6281928" y="4782312"/>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4</a:t>
            </a:r>
          </a:p>
        </p:txBody>
      </p:sp>
      <p:sp>
        <p:nvSpPr>
          <p:cNvPr id="53" name="TextBox 52"/>
          <p:cNvSpPr txBox="1"/>
          <p:nvPr/>
        </p:nvSpPr>
        <p:spPr>
          <a:xfrm>
            <a:off x="7031736" y="4782312"/>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Mixed or context-dependent evidence</a:t>
            </a:r>
          </a:p>
        </p:txBody>
      </p:sp>
      <p:sp>
        <p:nvSpPr>
          <p:cNvPr id="54" name="Rectangle 53"/>
          <p:cNvSpPr/>
          <p:nvPr/>
        </p:nvSpPr>
        <p:spPr>
          <a:xfrm>
            <a:off x="4443984" y="5321807"/>
            <a:ext cx="109728" cy="109728"/>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663440" y="5221223"/>
            <a:ext cx="1536192" cy="310896"/>
          </a:xfrm>
          <a:prstGeom prst="rect">
            <a:avLst/>
          </a:prstGeom>
          <a:noFill/>
        </p:spPr>
        <p:txBody>
          <a:bodyPr wrap="square" lIns="0" rIns="0" tIns="0" bIns="0" anchor="ctr">
            <a:spAutoFit/>
          </a:bodyPr>
          <a:lstStyle/>
          <a:p>
            <a:pPr algn="l">
              <a:spcAft>
                <a:spcPts val="0"/>
              </a:spcAft>
            </a:pPr>
            <a:r>
              <a:rPr sz="1260" b="1" i="0">
                <a:solidFill>
                  <a:srgbClr val="8063A6"/>
                </a:solidFill>
                <a:latin typeface="Arial"/>
              </a:rPr>
              <a:t>Unmatched</a:t>
            </a:r>
          </a:p>
        </p:txBody>
      </p:sp>
      <p:sp>
        <p:nvSpPr>
          <p:cNvPr id="56" name="TextBox 55"/>
          <p:cNvSpPr txBox="1"/>
          <p:nvPr/>
        </p:nvSpPr>
        <p:spPr>
          <a:xfrm>
            <a:off x="6281928" y="5221223"/>
            <a:ext cx="603504" cy="310896"/>
          </a:xfrm>
          <a:prstGeom prst="rect">
            <a:avLst/>
          </a:prstGeom>
          <a:noFill/>
        </p:spPr>
        <p:txBody>
          <a:bodyPr wrap="square" lIns="0" rIns="0" tIns="0" bIns="0" anchor="ctr">
            <a:spAutoFit/>
          </a:bodyPr>
          <a:lstStyle/>
          <a:p>
            <a:pPr algn="ctr">
              <a:spcAft>
                <a:spcPts val="0"/>
              </a:spcAft>
            </a:pPr>
            <a:r>
              <a:rPr sz="1400" b="1" i="0">
                <a:solidFill>
                  <a:srgbClr val="263746"/>
                </a:solidFill>
                <a:latin typeface="Arial"/>
              </a:rPr>
              <a:t>4</a:t>
            </a:r>
          </a:p>
        </p:txBody>
      </p:sp>
      <p:sp>
        <p:nvSpPr>
          <p:cNvPr id="57" name="TextBox 56"/>
          <p:cNvSpPr txBox="1"/>
          <p:nvPr/>
        </p:nvSpPr>
        <p:spPr>
          <a:xfrm>
            <a:off x="7031736" y="5221223"/>
            <a:ext cx="4032504" cy="310896"/>
          </a:xfrm>
          <a:prstGeom prst="rect">
            <a:avLst/>
          </a:prstGeom>
          <a:noFill/>
        </p:spPr>
        <p:txBody>
          <a:bodyPr wrap="square" lIns="0" rIns="0" tIns="0" bIns="0" anchor="ctr">
            <a:spAutoFit/>
          </a:bodyPr>
          <a:lstStyle/>
          <a:p>
            <a:pPr algn="l">
              <a:spcAft>
                <a:spcPts val="0"/>
              </a:spcAft>
            </a:pPr>
            <a:r>
              <a:rPr sz="1180" b="0" i="0">
                <a:solidFill>
                  <a:srgbClr val="263746"/>
                </a:solidFill>
                <a:latin typeface="Arial"/>
              </a:rPr>
              <a:t>No sufficiently specific match found</a:t>
            </a:r>
          </a:p>
        </p:txBody>
      </p:sp>
      <p:sp>
        <p:nvSpPr>
          <p:cNvPr id="58" name="Rectangle 57"/>
          <p:cNvSpPr/>
          <p:nvPr/>
        </p:nvSpPr>
        <p:spPr>
          <a:xfrm>
            <a:off x="502920" y="5806440"/>
            <a:ext cx="10991088" cy="16459"/>
          </a:xfrm>
          <a:prstGeom prst="rect">
            <a:avLst/>
          </a:prstGeom>
          <a:solidFill>
            <a:srgbClr val="CED7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94360" y="5934456"/>
            <a:ext cx="10808208" cy="256032"/>
          </a:xfrm>
          <a:prstGeom prst="rect">
            <a:avLst/>
          </a:prstGeom>
          <a:noFill/>
        </p:spPr>
        <p:txBody>
          <a:bodyPr wrap="square" lIns="18288" rIns="18288" tIns="18288" bIns="18288" anchor="t">
            <a:spAutoFit/>
          </a:bodyPr>
          <a:lstStyle/>
          <a:p>
            <a:pPr algn="ctr">
              <a:spcAft>
                <a:spcPts val="0"/>
              </a:spcAft>
            </a:pPr>
            <a:r>
              <a:rPr sz="1350" b="1" i="0">
                <a:solidFill>
                  <a:srgbClr val="082B55"/>
                </a:solidFill>
                <a:latin typeface="Arial"/>
              </a:rPr>
              <a:t>A reinforced gene can be complementary, ambiguous, or unmatched; an aligning gene can be promoted.</a:t>
            </a:r>
          </a:p>
        </p:txBody>
      </p:sp>
      <p:sp>
        <p:nvSpPr>
          <p:cNvPr id="60" name="TextBox 5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Table S16 records gene-level rationale, evidence scope and source IDs; Table S17 provides 33 citations with DOI/URL and data relationship.</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PRIMARY ANALYSIS COVERAGE</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The matched screen covered all 27 tissue analyses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Predictive utility and gene-level support are separate outcomes.</a:t>
            </a:r>
          </a:p>
        </p:txBody>
      </p:sp>
      <p:sp>
        <p:nvSpPr>
          <p:cNvPr id="7" name="Rectangle 6"/>
          <p:cNvSpPr/>
          <p:nvPr/>
        </p:nvSpPr>
        <p:spPr>
          <a:xfrm>
            <a:off x="393192" y="1865376"/>
            <a:ext cx="3337560" cy="32004"/>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 y="2029968"/>
            <a:ext cx="640080" cy="502920"/>
          </a:xfrm>
          <a:prstGeom prst="rect">
            <a:avLst/>
          </a:prstGeom>
          <a:noFill/>
        </p:spPr>
        <p:txBody>
          <a:bodyPr wrap="square" lIns="0" rIns="0" tIns="0" bIns="0" anchor="t">
            <a:spAutoFit/>
          </a:bodyPr>
          <a:lstStyle/>
          <a:p>
            <a:pPr algn="l">
              <a:spcAft>
                <a:spcPts val="0"/>
              </a:spcAft>
            </a:pPr>
            <a:r>
              <a:rPr sz="3100" b="1" i="0">
                <a:solidFill>
                  <a:srgbClr val="D96552"/>
                </a:solidFill>
                <a:latin typeface="Arial"/>
              </a:rPr>
              <a:t>4</a:t>
            </a:r>
          </a:p>
        </p:txBody>
      </p:sp>
      <p:sp>
        <p:nvSpPr>
          <p:cNvPr id="9" name="TextBox 8"/>
          <p:cNvSpPr txBox="1"/>
          <p:nvPr/>
        </p:nvSpPr>
        <p:spPr>
          <a:xfrm>
            <a:off x="1161288"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Matched genes</a:t>
            </a:r>
          </a:p>
        </p:txBody>
      </p:sp>
      <p:sp>
        <p:nvSpPr>
          <p:cNvPr id="10" name="TextBox 9"/>
          <p:cNvSpPr txBox="1"/>
          <p:nvPr/>
        </p:nvSpPr>
        <p:spPr>
          <a:xfrm>
            <a:off x="411480"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Utility passed + BH-FDR gene importance</a:t>
            </a:r>
          </a:p>
        </p:txBody>
      </p:sp>
      <p:sp>
        <p:nvSpPr>
          <p:cNvPr id="11" name="Rectangle 10"/>
          <p:cNvSpPr/>
          <p:nvPr/>
        </p:nvSpPr>
        <p:spPr>
          <a:xfrm>
            <a:off x="393192"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13" name="Rectangle 12"/>
          <p:cNvSpPr/>
          <p:nvPr/>
        </p:nvSpPr>
        <p:spPr>
          <a:xfrm>
            <a:off x="420623" y="3765041"/>
            <a:ext cx="118872" cy="41148"/>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 y="3621024"/>
            <a:ext cx="2971800" cy="329184"/>
          </a:xfrm>
          <a:prstGeom prst="rect">
            <a:avLst/>
          </a:prstGeom>
          <a:noFill/>
        </p:spPr>
        <p:txBody>
          <a:bodyPr wrap="square" lIns="0" rIns="0" tIns="0" bIns="0" anchor="ctr">
            <a:spAutoFit/>
          </a:bodyPr>
          <a:lstStyle/>
          <a:p>
            <a:pPr algn="l">
              <a:spcAft>
                <a:spcPts val="0"/>
              </a:spcAft>
            </a:pPr>
            <a:r>
              <a:rPr sz="1030" b="0" i="0">
                <a:solidFill>
                  <a:srgbClr val="263746"/>
                </a:solidFill>
                <a:latin typeface="Arial"/>
              </a:rPr>
              <a:t>Liver</a:t>
            </a:r>
          </a:p>
        </p:txBody>
      </p:sp>
      <p:sp>
        <p:nvSpPr>
          <p:cNvPr id="15" name="Rectangle 14"/>
          <p:cNvSpPr/>
          <p:nvPr/>
        </p:nvSpPr>
        <p:spPr>
          <a:xfrm>
            <a:off x="420623" y="4094226"/>
            <a:ext cx="118872" cy="41148"/>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 y="3950208"/>
            <a:ext cx="2971800" cy="329184"/>
          </a:xfrm>
          <a:prstGeom prst="rect">
            <a:avLst/>
          </a:prstGeom>
          <a:noFill/>
        </p:spPr>
        <p:txBody>
          <a:bodyPr wrap="square" lIns="0" rIns="0" tIns="0" bIns="0" anchor="ctr">
            <a:spAutoFit/>
          </a:bodyPr>
          <a:lstStyle/>
          <a:p>
            <a:pPr algn="l">
              <a:spcAft>
                <a:spcPts val="0"/>
              </a:spcAft>
            </a:pPr>
            <a:r>
              <a:rPr sz="1030" b="0" i="0">
                <a:solidFill>
                  <a:srgbClr val="263746"/>
                </a:solidFill>
                <a:latin typeface="Arial"/>
              </a:rPr>
              <a:t>Skin</a:t>
            </a:r>
          </a:p>
        </p:txBody>
      </p:sp>
      <p:sp>
        <p:nvSpPr>
          <p:cNvPr id="17" name="Rectangle 16"/>
          <p:cNvSpPr/>
          <p:nvPr/>
        </p:nvSpPr>
        <p:spPr>
          <a:xfrm>
            <a:off x="420623" y="4423409"/>
            <a:ext cx="118872" cy="41148"/>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2" y="4279392"/>
            <a:ext cx="2971800" cy="329184"/>
          </a:xfrm>
          <a:prstGeom prst="rect">
            <a:avLst/>
          </a:prstGeom>
          <a:noFill/>
        </p:spPr>
        <p:txBody>
          <a:bodyPr wrap="square" lIns="0" rIns="0" tIns="0" bIns="0" anchor="ctr">
            <a:spAutoFit/>
          </a:bodyPr>
          <a:lstStyle/>
          <a:p>
            <a:pPr algn="l">
              <a:spcAft>
                <a:spcPts val="0"/>
              </a:spcAft>
            </a:pPr>
            <a:r>
              <a:rPr sz="1030" b="0" i="0">
                <a:solidFill>
                  <a:srgbClr val="263746"/>
                </a:solidFill>
                <a:latin typeface="Arial"/>
              </a:rPr>
              <a:t>Spleen</a:t>
            </a:r>
          </a:p>
        </p:txBody>
      </p:sp>
      <p:sp>
        <p:nvSpPr>
          <p:cNvPr id="19" name="Rectangle 18"/>
          <p:cNvSpPr/>
          <p:nvPr/>
        </p:nvSpPr>
        <p:spPr>
          <a:xfrm>
            <a:off x="420623" y="4752594"/>
            <a:ext cx="118872" cy="41148"/>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792" y="4608576"/>
            <a:ext cx="2971800" cy="329184"/>
          </a:xfrm>
          <a:prstGeom prst="rect">
            <a:avLst/>
          </a:prstGeom>
          <a:noFill/>
        </p:spPr>
        <p:txBody>
          <a:bodyPr wrap="square" lIns="0" rIns="0" tIns="0" bIns="0" anchor="ctr">
            <a:spAutoFit/>
          </a:bodyPr>
          <a:lstStyle/>
          <a:p>
            <a:pPr algn="l">
              <a:spcAft>
                <a:spcPts val="0"/>
              </a:spcAft>
            </a:pPr>
            <a:r>
              <a:rPr sz="1030" b="0" i="0">
                <a:solidFill>
                  <a:srgbClr val="263746"/>
                </a:solidFill>
                <a:latin typeface="Arial"/>
              </a:rPr>
              <a:t>Thymus</a:t>
            </a:r>
          </a:p>
        </p:txBody>
      </p:sp>
      <p:sp>
        <p:nvSpPr>
          <p:cNvPr id="21" name="Rectangle 20"/>
          <p:cNvSpPr/>
          <p:nvPr/>
        </p:nvSpPr>
        <p:spPr>
          <a:xfrm>
            <a:off x="3941064" y="1874519"/>
            <a:ext cx="10972" cy="418795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05656" y="1865376"/>
            <a:ext cx="3337560"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23944" y="2029968"/>
            <a:ext cx="640080" cy="502920"/>
          </a:xfrm>
          <a:prstGeom prst="rect">
            <a:avLst/>
          </a:prstGeom>
          <a:noFill/>
        </p:spPr>
        <p:txBody>
          <a:bodyPr wrap="square" lIns="0" rIns="0" tIns="0" bIns="0" anchor="t">
            <a:spAutoFit/>
          </a:bodyPr>
          <a:lstStyle/>
          <a:p>
            <a:pPr algn="l">
              <a:spcAft>
                <a:spcPts val="0"/>
              </a:spcAft>
            </a:pPr>
            <a:r>
              <a:rPr sz="3100" b="1" i="0">
                <a:solidFill>
                  <a:srgbClr val="178681"/>
                </a:solidFill>
                <a:latin typeface="Arial"/>
              </a:rPr>
              <a:t>14</a:t>
            </a:r>
          </a:p>
        </p:txBody>
      </p:sp>
      <p:sp>
        <p:nvSpPr>
          <p:cNvPr id="24" name="TextBox 23"/>
          <p:cNvSpPr txBox="1"/>
          <p:nvPr/>
        </p:nvSpPr>
        <p:spPr>
          <a:xfrm>
            <a:off x="4873752"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Utility only</a:t>
            </a:r>
          </a:p>
        </p:txBody>
      </p:sp>
      <p:sp>
        <p:nvSpPr>
          <p:cNvPr id="25" name="TextBox 24"/>
          <p:cNvSpPr txBox="1"/>
          <p:nvPr/>
        </p:nvSpPr>
        <p:spPr>
          <a:xfrm>
            <a:off x="4123944"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All six metrics passed; no retained gene</a:t>
            </a:r>
          </a:p>
        </p:txBody>
      </p:sp>
      <p:sp>
        <p:nvSpPr>
          <p:cNvPr id="26" name="Rectangle 25"/>
          <p:cNvSpPr/>
          <p:nvPr/>
        </p:nvSpPr>
        <p:spPr>
          <a:xfrm>
            <a:off x="4105656"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23944"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28" name="Rectangle 27"/>
          <p:cNvSpPr/>
          <p:nvPr/>
        </p:nvSpPr>
        <p:spPr>
          <a:xfrm>
            <a:off x="4133088" y="3679480"/>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34256" y="3621024"/>
            <a:ext cx="2971800" cy="158060"/>
          </a:xfrm>
          <a:prstGeom prst="rect">
            <a:avLst/>
          </a:prstGeom>
          <a:noFill/>
        </p:spPr>
        <p:txBody>
          <a:bodyPr wrap="square" lIns="0" rIns="0" tIns="0" bIns="0" anchor="ctr">
            <a:spAutoFit/>
          </a:bodyPr>
          <a:lstStyle/>
          <a:p>
            <a:pPr algn="l">
              <a:spcAft>
                <a:spcPts val="0"/>
              </a:spcAft>
            </a:pPr>
            <a:r>
              <a:rPr sz="960" b="0" i="0">
                <a:solidFill>
                  <a:srgbClr val="263746"/>
                </a:solidFill>
                <a:latin typeface="Arial"/>
              </a:rPr>
              <a:t>EDL</a:t>
            </a:r>
          </a:p>
        </p:txBody>
      </p:sp>
      <p:sp>
        <p:nvSpPr>
          <p:cNvPr id="30" name="Rectangle 29"/>
          <p:cNvSpPr/>
          <p:nvPr/>
        </p:nvSpPr>
        <p:spPr>
          <a:xfrm>
            <a:off x="4133088" y="3837540"/>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34256" y="3779084"/>
            <a:ext cx="2971800" cy="158060"/>
          </a:xfrm>
          <a:prstGeom prst="rect">
            <a:avLst/>
          </a:prstGeom>
          <a:noFill/>
        </p:spPr>
        <p:txBody>
          <a:bodyPr wrap="square" lIns="0" rIns="0" tIns="0" bIns="0" anchor="ctr">
            <a:spAutoFit/>
          </a:bodyPr>
          <a:lstStyle/>
          <a:p>
            <a:pPr algn="l">
              <a:spcAft>
                <a:spcPts val="0"/>
              </a:spcAft>
            </a:pPr>
            <a:r>
              <a:rPr sz="960" b="0" i="0">
                <a:solidFill>
                  <a:srgbClr val="263746"/>
                </a:solidFill>
                <a:latin typeface="Arial"/>
              </a:rPr>
              <a:t>Adrenal Gland</a:t>
            </a:r>
          </a:p>
        </p:txBody>
      </p:sp>
      <p:sp>
        <p:nvSpPr>
          <p:cNvPr id="32" name="Rectangle 31"/>
          <p:cNvSpPr/>
          <p:nvPr/>
        </p:nvSpPr>
        <p:spPr>
          <a:xfrm>
            <a:off x="4133088" y="3995601"/>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334256" y="3937145"/>
            <a:ext cx="2971800" cy="158060"/>
          </a:xfrm>
          <a:prstGeom prst="rect">
            <a:avLst/>
          </a:prstGeom>
          <a:noFill/>
        </p:spPr>
        <p:txBody>
          <a:bodyPr wrap="square" lIns="0" rIns="0" tIns="0" bIns="0" anchor="ctr">
            <a:spAutoFit/>
          </a:bodyPr>
          <a:lstStyle/>
          <a:p>
            <a:pPr algn="l">
              <a:spcAft>
                <a:spcPts val="0"/>
              </a:spcAft>
            </a:pPr>
            <a:r>
              <a:rPr sz="960" b="0" i="0">
                <a:solidFill>
                  <a:srgbClr val="263746"/>
                </a:solidFill>
                <a:latin typeface="Arial"/>
              </a:rPr>
              <a:t>Bone Marrow</a:t>
            </a:r>
          </a:p>
        </p:txBody>
      </p:sp>
      <p:sp>
        <p:nvSpPr>
          <p:cNvPr id="34" name="Rectangle 33"/>
          <p:cNvSpPr/>
          <p:nvPr/>
        </p:nvSpPr>
        <p:spPr>
          <a:xfrm>
            <a:off x="4133088" y="4153662"/>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334256" y="4095205"/>
            <a:ext cx="2971800" cy="158060"/>
          </a:xfrm>
          <a:prstGeom prst="rect">
            <a:avLst/>
          </a:prstGeom>
          <a:noFill/>
        </p:spPr>
        <p:txBody>
          <a:bodyPr wrap="square" lIns="0" rIns="0" tIns="0" bIns="0" anchor="ctr">
            <a:spAutoFit/>
          </a:bodyPr>
          <a:lstStyle/>
          <a:p>
            <a:pPr algn="l">
              <a:spcAft>
                <a:spcPts val="0"/>
              </a:spcAft>
            </a:pPr>
            <a:r>
              <a:rPr sz="960" b="0" i="0">
                <a:solidFill>
                  <a:srgbClr val="263746"/>
                </a:solidFill>
                <a:latin typeface="Arial"/>
              </a:rPr>
              <a:t>Brain</a:t>
            </a:r>
          </a:p>
        </p:txBody>
      </p:sp>
      <p:sp>
        <p:nvSpPr>
          <p:cNvPr id="36" name="Rectangle 35"/>
          <p:cNvSpPr/>
          <p:nvPr/>
        </p:nvSpPr>
        <p:spPr>
          <a:xfrm>
            <a:off x="4133088" y="4311722"/>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334256" y="4253266"/>
            <a:ext cx="2971800" cy="158060"/>
          </a:xfrm>
          <a:prstGeom prst="rect">
            <a:avLst/>
          </a:prstGeom>
          <a:noFill/>
        </p:spPr>
        <p:txBody>
          <a:bodyPr wrap="square" lIns="0" rIns="0" tIns="0" bIns="0" anchor="ctr">
            <a:spAutoFit/>
          </a:bodyPr>
          <a:lstStyle/>
          <a:p>
            <a:pPr algn="l">
              <a:spcAft>
                <a:spcPts val="0"/>
              </a:spcAft>
            </a:pPr>
            <a:r>
              <a:rPr sz="960" b="0" i="0">
                <a:solidFill>
                  <a:srgbClr val="263746"/>
                </a:solidFill>
                <a:latin typeface="Arial"/>
              </a:rPr>
              <a:t>Brown adipose tissue</a:t>
            </a:r>
          </a:p>
        </p:txBody>
      </p:sp>
      <p:sp>
        <p:nvSpPr>
          <p:cNvPr id="38" name="Rectangle 37"/>
          <p:cNvSpPr/>
          <p:nvPr/>
        </p:nvSpPr>
        <p:spPr>
          <a:xfrm>
            <a:off x="4133088" y="4469783"/>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34256" y="4411326"/>
            <a:ext cx="2971800" cy="158060"/>
          </a:xfrm>
          <a:prstGeom prst="rect">
            <a:avLst/>
          </a:prstGeom>
          <a:noFill/>
        </p:spPr>
        <p:txBody>
          <a:bodyPr wrap="square" lIns="0" rIns="0" tIns="0" bIns="0" anchor="ctr">
            <a:spAutoFit/>
          </a:bodyPr>
          <a:lstStyle/>
          <a:p>
            <a:pPr algn="l">
              <a:spcAft>
                <a:spcPts val="0"/>
              </a:spcAft>
            </a:pPr>
            <a:r>
              <a:rPr sz="960" b="0" i="0">
                <a:solidFill>
                  <a:srgbClr val="263746"/>
                </a:solidFill>
                <a:latin typeface="Arial"/>
              </a:rPr>
              <a:t>Cerebellum</a:t>
            </a:r>
          </a:p>
        </p:txBody>
      </p:sp>
      <p:sp>
        <p:nvSpPr>
          <p:cNvPr id="40" name="Rectangle 39"/>
          <p:cNvSpPr/>
          <p:nvPr/>
        </p:nvSpPr>
        <p:spPr>
          <a:xfrm>
            <a:off x="4133088" y="4627843"/>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334256" y="4569387"/>
            <a:ext cx="2971800" cy="158060"/>
          </a:xfrm>
          <a:prstGeom prst="rect">
            <a:avLst/>
          </a:prstGeom>
          <a:noFill/>
        </p:spPr>
        <p:txBody>
          <a:bodyPr wrap="square" lIns="0" rIns="0" tIns="0" bIns="0" anchor="ctr">
            <a:spAutoFit/>
          </a:bodyPr>
          <a:lstStyle/>
          <a:p>
            <a:pPr algn="l">
              <a:spcAft>
                <a:spcPts val="0"/>
              </a:spcAft>
            </a:pPr>
            <a:r>
              <a:rPr sz="960" b="0" i="0">
                <a:solidFill>
                  <a:srgbClr val="263746"/>
                </a:solidFill>
                <a:latin typeface="Arial"/>
              </a:rPr>
              <a:t>Colon</a:t>
            </a:r>
          </a:p>
        </p:txBody>
      </p:sp>
      <p:sp>
        <p:nvSpPr>
          <p:cNvPr id="42" name="Rectangle 41"/>
          <p:cNvSpPr/>
          <p:nvPr/>
        </p:nvSpPr>
        <p:spPr>
          <a:xfrm>
            <a:off x="4133088" y="4785904"/>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334256" y="4727448"/>
            <a:ext cx="2971800" cy="158060"/>
          </a:xfrm>
          <a:prstGeom prst="rect">
            <a:avLst/>
          </a:prstGeom>
          <a:noFill/>
        </p:spPr>
        <p:txBody>
          <a:bodyPr wrap="square" lIns="0" rIns="0" tIns="0" bIns="0" anchor="ctr">
            <a:spAutoFit/>
          </a:bodyPr>
          <a:lstStyle/>
          <a:p>
            <a:pPr algn="l">
              <a:spcAft>
                <a:spcPts val="0"/>
              </a:spcAft>
            </a:pPr>
            <a:r>
              <a:rPr sz="960" b="0" i="0">
                <a:solidFill>
                  <a:srgbClr val="263746"/>
                </a:solidFill>
                <a:latin typeface="Arial"/>
              </a:rPr>
              <a:t>Eye</a:t>
            </a:r>
          </a:p>
        </p:txBody>
      </p:sp>
      <p:sp>
        <p:nvSpPr>
          <p:cNvPr id="44" name="Rectangle 43"/>
          <p:cNvSpPr/>
          <p:nvPr/>
        </p:nvSpPr>
        <p:spPr>
          <a:xfrm>
            <a:off x="4133088" y="4943964"/>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334256" y="4885508"/>
            <a:ext cx="2971800" cy="158060"/>
          </a:xfrm>
          <a:prstGeom prst="rect">
            <a:avLst/>
          </a:prstGeom>
          <a:noFill/>
        </p:spPr>
        <p:txBody>
          <a:bodyPr wrap="square" lIns="0" rIns="0" tIns="0" bIns="0" anchor="ctr">
            <a:spAutoFit/>
          </a:bodyPr>
          <a:lstStyle/>
          <a:p>
            <a:pPr algn="l">
              <a:spcAft>
                <a:spcPts val="0"/>
              </a:spcAft>
            </a:pPr>
            <a:r>
              <a:rPr sz="960" b="0" i="0">
                <a:solidFill>
                  <a:srgbClr val="263746"/>
                </a:solidFill>
                <a:latin typeface="Arial"/>
              </a:rPr>
              <a:t>Lung</a:t>
            </a:r>
          </a:p>
        </p:txBody>
      </p:sp>
      <p:sp>
        <p:nvSpPr>
          <p:cNvPr id="46" name="Rectangle 45"/>
          <p:cNvSpPr/>
          <p:nvPr/>
        </p:nvSpPr>
        <p:spPr>
          <a:xfrm>
            <a:off x="4133088" y="5102025"/>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334256" y="5043569"/>
            <a:ext cx="2971800" cy="158060"/>
          </a:xfrm>
          <a:prstGeom prst="rect">
            <a:avLst/>
          </a:prstGeom>
          <a:noFill/>
        </p:spPr>
        <p:txBody>
          <a:bodyPr wrap="square" lIns="0" rIns="0" tIns="0" bIns="0" anchor="ctr">
            <a:spAutoFit/>
          </a:bodyPr>
          <a:lstStyle/>
          <a:p>
            <a:pPr algn="l">
              <a:spcAft>
                <a:spcPts val="0"/>
              </a:spcAft>
            </a:pPr>
            <a:r>
              <a:rPr sz="960" b="0" i="0">
                <a:solidFill>
                  <a:srgbClr val="263746"/>
                </a:solidFill>
                <a:latin typeface="Arial"/>
              </a:rPr>
              <a:t>Mammary Gland</a:t>
            </a:r>
          </a:p>
        </p:txBody>
      </p:sp>
      <p:sp>
        <p:nvSpPr>
          <p:cNvPr id="48" name="Rectangle 47"/>
          <p:cNvSpPr/>
          <p:nvPr/>
        </p:nvSpPr>
        <p:spPr>
          <a:xfrm>
            <a:off x="4133088" y="526008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334256" y="5201629"/>
            <a:ext cx="2971800" cy="158060"/>
          </a:xfrm>
          <a:prstGeom prst="rect">
            <a:avLst/>
          </a:prstGeom>
          <a:noFill/>
        </p:spPr>
        <p:txBody>
          <a:bodyPr wrap="square" lIns="0" rIns="0" tIns="0" bIns="0" anchor="ctr">
            <a:spAutoFit/>
          </a:bodyPr>
          <a:lstStyle/>
          <a:p>
            <a:pPr algn="l">
              <a:spcAft>
                <a:spcPts val="0"/>
              </a:spcAft>
            </a:pPr>
            <a:r>
              <a:rPr sz="960" b="0" i="0">
                <a:solidFill>
                  <a:srgbClr val="263746"/>
                </a:solidFill>
                <a:latin typeface="Arial"/>
              </a:rPr>
              <a:t>Optic Nerve</a:t>
            </a:r>
          </a:p>
        </p:txBody>
      </p:sp>
      <p:sp>
        <p:nvSpPr>
          <p:cNvPr id="50" name="Rectangle 49"/>
          <p:cNvSpPr/>
          <p:nvPr/>
        </p:nvSpPr>
        <p:spPr>
          <a:xfrm>
            <a:off x="4133088" y="5418146"/>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334256" y="5359690"/>
            <a:ext cx="2971800" cy="158060"/>
          </a:xfrm>
          <a:prstGeom prst="rect">
            <a:avLst/>
          </a:prstGeom>
          <a:noFill/>
        </p:spPr>
        <p:txBody>
          <a:bodyPr wrap="square" lIns="0" rIns="0" tIns="0" bIns="0" anchor="ctr">
            <a:spAutoFit/>
          </a:bodyPr>
          <a:lstStyle/>
          <a:p>
            <a:pPr algn="l">
              <a:spcAft>
                <a:spcPts val="0"/>
              </a:spcAft>
            </a:pPr>
            <a:r>
              <a:rPr sz="960" b="0" i="0">
                <a:solidFill>
                  <a:srgbClr val="263746"/>
                </a:solidFill>
                <a:latin typeface="Arial"/>
              </a:rPr>
              <a:t>Retina</a:t>
            </a:r>
          </a:p>
        </p:txBody>
      </p:sp>
      <p:sp>
        <p:nvSpPr>
          <p:cNvPr id="52" name="Rectangle 51"/>
          <p:cNvSpPr/>
          <p:nvPr/>
        </p:nvSpPr>
        <p:spPr>
          <a:xfrm>
            <a:off x="4133088" y="5576207"/>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334256" y="5517750"/>
            <a:ext cx="2971800" cy="158060"/>
          </a:xfrm>
          <a:prstGeom prst="rect">
            <a:avLst/>
          </a:prstGeom>
          <a:noFill/>
        </p:spPr>
        <p:txBody>
          <a:bodyPr wrap="square" lIns="0" rIns="0" tIns="0" bIns="0" anchor="ctr">
            <a:spAutoFit/>
          </a:bodyPr>
          <a:lstStyle/>
          <a:p>
            <a:pPr algn="l">
              <a:spcAft>
                <a:spcPts val="0"/>
              </a:spcAft>
            </a:pPr>
            <a:r>
              <a:rPr sz="960" b="0" i="0">
                <a:solidFill>
                  <a:srgbClr val="263746"/>
                </a:solidFill>
                <a:latin typeface="Arial"/>
              </a:rPr>
              <a:t>Skeletal muscle (pooled)</a:t>
            </a:r>
          </a:p>
        </p:txBody>
      </p:sp>
      <p:sp>
        <p:nvSpPr>
          <p:cNvPr id="54" name="Rectangle 53"/>
          <p:cNvSpPr/>
          <p:nvPr/>
        </p:nvSpPr>
        <p:spPr>
          <a:xfrm>
            <a:off x="4133088" y="5734267"/>
            <a:ext cx="118872" cy="41148"/>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334256" y="5675811"/>
            <a:ext cx="2971800" cy="158060"/>
          </a:xfrm>
          <a:prstGeom prst="rect">
            <a:avLst/>
          </a:prstGeom>
          <a:noFill/>
        </p:spPr>
        <p:txBody>
          <a:bodyPr wrap="square" lIns="0" rIns="0" tIns="0" bIns="0" anchor="ctr">
            <a:spAutoFit/>
          </a:bodyPr>
          <a:lstStyle/>
          <a:p>
            <a:pPr algn="l">
              <a:spcAft>
                <a:spcPts val="0"/>
              </a:spcAft>
            </a:pPr>
            <a:r>
              <a:rPr sz="960" b="0" i="0">
                <a:solidFill>
                  <a:srgbClr val="263746"/>
                </a:solidFill>
                <a:latin typeface="Arial"/>
              </a:rPr>
              <a:t>White adipose tissue</a:t>
            </a:r>
          </a:p>
        </p:txBody>
      </p:sp>
      <p:sp>
        <p:nvSpPr>
          <p:cNvPr id="56" name="Rectangle 55"/>
          <p:cNvSpPr/>
          <p:nvPr/>
        </p:nvSpPr>
        <p:spPr>
          <a:xfrm>
            <a:off x="7653528" y="1874519"/>
            <a:ext cx="10972" cy="418795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7818120" y="1865376"/>
            <a:ext cx="3337560" cy="3200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836408" y="2029968"/>
            <a:ext cx="640080" cy="502920"/>
          </a:xfrm>
          <a:prstGeom prst="rect">
            <a:avLst/>
          </a:prstGeom>
          <a:noFill/>
        </p:spPr>
        <p:txBody>
          <a:bodyPr wrap="square" lIns="0" rIns="0" tIns="0" bIns="0" anchor="t">
            <a:spAutoFit/>
          </a:bodyPr>
          <a:lstStyle/>
          <a:p>
            <a:pPr algn="l">
              <a:spcAft>
                <a:spcPts val="0"/>
              </a:spcAft>
            </a:pPr>
            <a:r>
              <a:rPr sz="3100" b="1" i="0">
                <a:solidFill>
                  <a:srgbClr val="2D6496"/>
                </a:solidFill>
                <a:latin typeface="Arial"/>
              </a:rPr>
              <a:t>9</a:t>
            </a:r>
          </a:p>
        </p:txBody>
      </p:sp>
      <p:sp>
        <p:nvSpPr>
          <p:cNvPr id="59" name="TextBox 58"/>
          <p:cNvSpPr txBox="1"/>
          <p:nvPr/>
        </p:nvSpPr>
        <p:spPr>
          <a:xfrm>
            <a:off x="8586216" y="2075688"/>
            <a:ext cx="2487168" cy="347472"/>
          </a:xfrm>
          <a:prstGeom prst="rect">
            <a:avLst/>
          </a:prstGeom>
          <a:noFill/>
        </p:spPr>
        <p:txBody>
          <a:bodyPr wrap="square" lIns="0" rIns="0" tIns="0" bIns="0" anchor="ctr">
            <a:spAutoFit/>
          </a:bodyPr>
          <a:lstStyle/>
          <a:p>
            <a:pPr algn="l">
              <a:spcAft>
                <a:spcPts val="0"/>
              </a:spcAft>
            </a:pPr>
            <a:r>
              <a:rPr sz="1600" b="1" i="0">
                <a:solidFill>
                  <a:srgbClr val="082B55"/>
                </a:solidFill>
                <a:latin typeface="Arial"/>
              </a:rPr>
              <a:t>Gate not passed</a:t>
            </a:r>
          </a:p>
        </p:txBody>
      </p:sp>
      <p:sp>
        <p:nvSpPr>
          <p:cNvPr id="60" name="TextBox 59"/>
          <p:cNvSpPr txBox="1"/>
          <p:nvPr/>
        </p:nvSpPr>
        <p:spPr>
          <a:xfrm>
            <a:off x="7836408" y="2670048"/>
            <a:ext cx="3182112" cy="384048"/>
          </a:xfrm>
          <a:prstGeom prst="rect">
            <a:avLst/>
          </a:prstGeom>
          <a:noFill/>
        </p:spPr>
        <p:txBody>
          <a:bodyPr wrap="square" lIns="0" rIns="0" tIns="0" bIns="0" anchor="ctr">
            <a:spAutoFit/>
          </a:bodyPr>
          <a:lstStyle/>
          <a:p>
            <a:pPr algn="l">
              <a:spcAft>
                <a:spcPts val="0"/>
              </a:spcAft>
            </a:pPr>
            <a:r>
              <a:rPr sz="1050" b="0" i="0">
                <a:solidFill>
                  <a:srgbClr val="59697A"/>
                </a:solidFill>
                <a:latin typeface="Arial"/>
              </a:rPr>
              <a:t>At least one mean metric was worse</a:t>
            </a:r>
          </a:p>
        </p:txBody>
      </p:sp>
      <p:sp>
        <p:nvSpPr>
          <p:cNvPr id="61" name="Rectangle 60"/>
          <p:cNvSpPr/>
          <p:nvPr/>
        </p:nvSpPr>
        <p:spPr>
          <a:xfrm>
            <a:off x="7818120" y="3200400"/>
            <a:ext cx="3273552" cy="12801"/>
          </a:xfrm>
          <a:prstGeom prst="rect">
            <a:avLst/>
          </a:prstGeom>
          <a:solidFill>
            <a:srgbClr val="D7DE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836408" y="3346704"/>
            <a:ext cx="1097280" cy="173736"/>
          </a:xfrm>
          <a:prstGeom prst="rect">
            <a:avLst/>
          </a:prstGeom>
          <a:noFill/>
        </p:spPr>
        <p:txBody>
          <a:bodyPr wrap="square" lIns="0" rIns="0" tIns="0" bIns="0" anchor="t">
            <a:spAutoFit/>
          </a:bodyPr>
          <a:lstStyle/>
          <a:p>
            <a:pPr algn="l">
              <a:spcAft>
                <a:spcPts val="0"/>
              </a:spcAft>
            </a:pPr>
            <a:r>
              <a:rPr sz="880" b="1" i="0">
                <a:solidFill>
                  <a:srgbClr val="59697A"/>
                </a:solidFill>
                <a:latin typeface="Arial"/>
              </a:rPr>
              <a:t>ANALYSIS UNITS</a:t>
            </a:r>
          </a:p>
        </p:txBody>
      </p:sp>
      <p:sp>
        <p:nvSpPr>
          <p:cNvPr id="63" name="Rectangle 62"/>
          <p:cNvSpPr/>
          <p:nvPr/>
        </p:nvSpPr>
        <p:spPr>
          <a:xfrm>
            <a:off x="7845552" y="3723385"/>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046720" y="3621024"/>
            <a:ext cx="2971800" cy="245872"/>
          </a:xfrm>
          <a:prstGeom prst="rect">
            <a:avLst/>
          </a:prstGeom>
          <a:noFill/>
        </p:spPr>
        <p:txBody>
          <a:bodyPr wrap="square" lIns="0" rIns="0" tIns="0" bIns="0" anchor="ctr">
            <a:spAutoFit/>
          </a:bodyPr>
          <a:lstStyle/>
          <a:p>
            <a:pPr algn="l">
              <a:spcAft>
                <a:spcPts val="0"/>
              </a:spcAft>
            </a:pPr>
            <a:r>
              <a:rPr sz="1030" b="0" i="0">
                <a:solidFill>
                  <a:srgbClr val="263746"/>
                </a:solidFill>
                <a:latin typeface="Arial"/>
              </a:rPr>
              <a:t>Gastrocnemius</a:t>
            </a:r>
          </a:p>
        </p:txBody>
      </p:sp>
      <p:sp>
        <p:nvSpPr>
          <p:cNvPr id="65" name="Rectangle 64"/>
          <p:cNvSpPr/>
          <p:nvPr/>
        </p:nvSpPr>
        <p:spPr>
          <a:xfrm>
            <a:off x="7845552" y="3969258"/>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046720" y="3866896"/>
            <a:ext cx="2971800" cy="245872"/>
          </a:xfrm>
          <a:prstGeom prst="rect">
            <a:avLst/>
          </a:prstGeom>
          <a:noFill/>
        </p:spPr>
        <p:txBody>
          <a:bodyPr wrap="square" lIns="0" rIns="0" tIns="0" bIns="0" anchor="ctr">
            <a:spAutoFit/>
          </a:bodyPr>
          <a:lstStyle/>
          <a:p>
            <a:pPr algn="l">
              <a:spcAft>
                <a:spcPts val="0"/>
              </a:spcAft>
            </a:pPr>
            <a:r>
              <a:rPr sz="1030" b="0" i="0">
                <a:solidFill>
                  <a:srgbClr val="263746"/>
                </a:solidFill>
                <a:latin typeface="Arial"/>
              </a:rPr>
              <a:t>Quadriceps</a:t>
            </a:r>
          </a:p>
        </p:txBody>
      </p:sp>
      <p:sp>
        <p:nvSpPr>
          <p:cNvPr id="67" name="Rectangle 66"/>
          <p:cNvSpPr/>
          <p:nvPr/>
        </p:nvSpPr>
        <p:spPr>
          <a:xfrm>
            <a:off x="7845552" y="4215129"/>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046720" y="4112767"/>
            <a:ext cx="2971800" cy="245872"/>
          </a:xfrm>
          <a:prstGeom prst="rect">
            <a:avLst/>
          </a:prstGeom>
          <a:noFill/>
        </p:spPr>
        <p:txBody>
          <a:bodyPr wrap="square" lIns="0" rIns="0" tIns="0" bIns="0" anchor="ctr">
            <a:spAutoFit/>
          </a:bodyPr>
          <a:lstStyle/>
          <a:p>
            <a:pPr algn="l">
              <a:spcAft>
                <a:spcPts val="0"/>
              </a:spcAft>
            </a:pPr>
            <a:r>
              <a:rPr sz="1030" b="0" i="0">
                <a:solidFill>
                  <a:srgbClr val="263746"/>
                </a:solidFill>
                <a:latin typeface="Arial"/>
              </a:rPr>
              <a:t>Soleus</a:t>
            </a:r>
          </a:p>
        </p:txBody>
      </p:sp>
      <p:sp>
        <p:nvSpPr>
          <p:cNvPr id="69" name="Rectangle 68"/>
          <p:cNvSpPr/>
          <p:nvPr/>
        </p:nvSpPr>
        <p:spPr>
          <a:xfrm>
            <a:off x="7845552" y="4461002"/>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8046720" y="4358640"/>
            <a:ext cx="2971800" cy="245872"/>
          </a:xfrm>
          <a:prstGeom prst="rect">
            <a:avLst/>
          </a:prstGeom>
          <a:noFill/>
        </p:spPr>
        <p:txBody>
          <a:bodyPr wrap="square" lIns="0" rIns="0" tIns="0" bIns="0" anchor="ctr">
            <a:spAutoFit/>
          </a:bodyPr>
          <a:lstStyle/>
          <a:p>
            <a:pPr algn="l">
              <a:spcAft>
                <a:spcPts val="0"/>
              </a:spcAft>
            </a:pPr>
            <a:r>
              <a:rPr sz="1030" b="0" i="0">
                <a:solidFill>
                  <a:srgbClr val="263746"/>
                </a:solidFill>
                <a:latin typeface="Arial"/>
              </a:rPr>
              <a:t>Tibialis Anterior</a:t>
            </a:r>
          </a:p>
        </p:txBody>
      </p:sp>
      <p:sp>
        <p:nvSpPr>
          <p:cNvPr id="71" name="Rectangle 70"/>
          <p:cNvSpPr/>
          <p:nvPr/>
        </p:nvSpPr>
        <p:spPr>
          <a:xfrm>
            <a:off x="7845552" y="4706874"/>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046720" y="4604512"/>
            <a:ext cx="2971800" cy="245872"/>
          </a:xfrm>
          <a:prstGeom prst="rect">
            <a:avLst/>
          </a:prstGeom>
          <a:noFill/>
        </p:spPr>
        <p:txBody>
          <a:bodyPr wrap="square" lIns="0" rIns="0" tIns="0" bIns="0" anchor="ctr">
            <a:spAutoFit/>
          </a:bodyPr>
          <a:lstStyle/>
          <a:p>
            <a:pPr algn="l">
              <a:spcAft>
                <a:spcPts val="0"/>
              </a:spcAft>
            </a:pPr>
            <a:r>
              <a:rPr sz="1030" b="0" i="0">
                <a:solidFill>
                  <a:srgbClr val="263746"/>
                </a:solidFill>
                <a:latin typeface="Arial"/>
              </a:rPr>
              <a:t>Bone</a:t>
            </a:r>
          </a:p>
        </p:txBody>
      </p:sp>
      <p:sp>
        <p:nvSpPr>
          <p:cNvPr id="73" name="Rectangle 72"/>
          <p:cNvSpPr/>
          <p:nvPr/>
        </p:nvSpPr>
        <p:spPr>
          <a:xfrm>
            <a:off x="7845552" y="4952745"/>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046720" y="4850384"/>
            <a:ext cx="2971800" cy="245872"/>
          </a:xfrm>
          <a:prstGeom prst="rect">
            <a:avLst/>
          </a:prstGeom>
          <a:noFill/>
        </p:spPr>
        <p:txBody>
          <a:bodyPr wrap="square" lIns="0" rIns="0" tIns="0" bIns="0" anchor="ctr">
            <a:spAutoFit/>
          </a:bodyPr>
          <a:lstStyle/>
          <a:p>
            <a:pPr algn="l">
              <a:spcAft>
                <a:spcPts val="0"/>
              </a:spcAft>
            </a:pPr>
            <a:r>
              <a:rPr sz="1030" b="0" i="0">
                <a:solidFill>
                  <a:srgbClr val="263746"/>
                </a:solidFill>
                <a:latin typeface="Arial"/>
              </a:rPr>
              <a:t>Cecum</a:t>
            </a:r>
          </a:p>
        </p:txBody>
      </p:sp>
      <p:sp>
        <p:nvSpPr>
          <p:cNvPr id="75" name="Rectangle 74"/>
          <p:cNvSpPr/>
          <p:nvPr/>
        </p:nvSpPr>
        <p:spPr>
          <a:xfrm>
            <a:off x="7845552" y="5198618"/>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046720" y="5096256"/>
            <a:ext cx="2971800" cy="245872"/>
          </a:xfrm>
          <a:prstGeom prst="rect">
            <a:avLst/>
          </a:prstGeom>
          <a:noFill/>
        </p:spPr>
        <p:txBody>
          <a:bodyPr wrap="square" lIns="0" rIns="0" tIns="0" bIns="0" anchor="ctr">
            <a:spAutoFit/>
          </a:bodyPr>
          <a:lstStyle/>
          <a:p>
            <a:pPr algn="l">
              <a:spcAft>
                <a:spcPts val="0"/>
              </a:spcAft>
            </a:pPr>
            <a:r>
              <a:rPr sz="1030" b="0" i="0">
                <a:solidFill>
                  <a:srgbClr val="263746"/>
                </a:solidFill>
                <a:latin typeface="Arial"/>
              </a:rPr>
              <a:t>Heart</a:t>
            </a:r>
          </a:p>
        </p:txBody>
      </p:sp>
      <p:sp>
        <p:nvSpPr>
          <p:cNvPr id="77" name="Rectangle 76"/>
          <p:cNvSpPr/>
          <p:nvPr/>
        </p:nvSpPr>
        <p:spPr>
          <a:xfrm>
            <a:off x="7845552" y="5444490"/>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046720" y="5342128"/>
            <a:ext cx="2971800" cy="245872"/>
          </a:xfrm>
          <a:prstGeom prst="rect">
            <a:avLst/>
          </a:prstGeom>
          <a:noFill/>
        </p:spPr>
        <p:txBody>
          <a:bodyPr wrap="square" lIns="0" rIns="0" tIns="0" bIns="0" anchor="ctr">
            <a:spAutoFit/>
          </a:bodyPr>
          <a:lstStyle/>
          <a:p>
            <a:pPr algn="l">
              <a:spcAft>
                <a:spcPts val="0"/>
              </a:spcAft>
            </a:pPr>
            <a:r>
              <a:rPr sz="1030" b="0" i="0">
                <a:solidFill>
                  <a:srgbClr val="263746"/>
                </a:solidFill>
                <a:latin typeface="Arial"/>
              </a:rPr>
              <a:t>Hippocampus</a:t>
            </a:r>
          </a:p>
        </p:txBody>
      </p:sp>
      <p:sp>
        <p:nvSpPr>
          <p:cNvPr id="79" name="Rectangle 78"/>
          <p:cNvSpPr/>
          <p:nvPr/>
        </p:nvSpPr>
        <p:spPr>
          <a:xfrm>
            <a:off x="7845552" y="5690361"/>
            <a:ext cx="118872" cy="41148"/>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8046720" y="5588000"/>
            <a:ext cx="2971800" cy="245872"/>
          </a:xfrm>
          <a:prstGeom prst="rect">
            <a:avLst/>
          </a:prstGeom>
          <a:noFill/>
        </p:spPr>
        <p:txBody>
          <a:bodyPr wrap="square" lIns="0" rIns="0" tIns="0" bIns="0" anchor="ctr">
            <a:spAutoFit/>
          </a:bodyPr>
          <a:lstStyle/>
          <a:p>
            <a:pPr algn="l">
              <a:spcAft>
                <a:spcPts val="0"/>
              </a:spcAft>
            </a:pPr>
            <a:r>
              <a:rPr sz="1030" b="0" i="0">
                <a:solidFill>
                  <a:srgbClr val="263746"/>
                </a:solidFill>
                <a:latin typeface="Arial"/>
              </a:rPr>
              <a:t>Kidney</a:t>
            </a:r>
          </a:p>
        </p:txBody>
      </p:sp>
      <p:sp>
        <p:nvSpPr>
          <p:cNvPr id="81" name="TextBox 8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Real-plus-synthetic matched arm across 22 canonical tissues and five anatomical muscle groups.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SECONDARY CONSENSUS INVENTORY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Ten tissue analyses contained consensus-selected genes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All 49 associations passed BH FDR in real OSDR data; consensus ranking affected prioritization, not the statistical test.</a:t>
            </a:r>
          </a:p>
        </p:txBody>
      </p:sp>
      <p:sp>
        <p:nvSpPr>
          <p:cNvPr id="7" name="TextBox 6"/>
          <p:cNvSpPr txBox="1"/>
          <p:nvPr/>
        </p:nvSpPr>
        <p:spPr>
          <a:xfrm>
            <a:off x="411480" y="1700784"/>
            <a:ext cx="2212848" cy="228600"/>
          </a:xfrm>
          <a:prstGeom prst="rect">
            <a:avLst/>
          </a:prstGeom>
          <a:noFill/>
        </p:spPr>
        <p:txBody>
          <a:bodyPr wrap="square" lIns="18288" rIns="18288" tIns="18288" bIns="18288" anchor="t">
            <a:spAutoFit/>
          </a:bodyPr>
          <a:lstStyle/>
          <a:p>
            <a:pPr algn="l">
              <a:spcAft>
                <a:spcPts val="0"/>
              </a:spcAft>
            </a:pPr>
            <a:r>
              <a:rPr sz="980" b="1" i="0">
                <a:solidFill>
                  <a:srgbClr val="082B55"/>
                </a:solidFill>
                <a:latin typeface="Arial"/>
              </a:rPr>
              <a:t>Rows: FLT direction + status</a:t>
            </a:r>
          </a:p>
        </p:txBody>
      </p:sp>
      <p:sp>
        <p:nvSpPr>
          <p:cNvPr id="8" name="Rectangle 7"/>
          <p:cNvSpPr/>
          <p:nvPr/>
        </p:nvSpPr>
        <p:spPr>
          <a:xfrm>
            <a:off x="2761488" y="1746504"/>
            <a:ext cx="128016" cy="45720"/>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35224" y="1691640"/>
            <a:ext cx="768096" cy="228600"/>
          </a:xfrm>
          <a:prstGeom prst="rect">
            <a:avLst/>
          </a:prstGeom>
          <a:noFill/>
        </p:spPr>
        <p:txBody>
          <a:bodyPr wrap="square" lIns="18288" rIns="18288" tIns="18288" bIns="18288" anchor="t">
            <a:spAutoFit/>
          </a:bodyPr>
          <a:lstStyle/>
          <a:p>
            <a:pPr algn="l">
              <a:spcAft>
                <a:spcPts val="0"/>
              </a:spcAft>
            </a:pPr>
            <a:r>
              <a:rPr sz="980" b="1" i="0">
                <a:solidFill>
                  <a:srgbClr val="478A64"/>
                </a:solidFill>
                <a:latin typeface="Arial"/>
              </a:rPr>
              <a:t>aligning</a:t>
            </a:r>
          </a:p>
        </p:txBody>
      </p:sp>
      <p:sp>
        <p:nvSpPr>
          <p:cNvPr id="10" name="Rectangle 9"/>
          <p:cNvSpPr/>
          <p:nvPr/>
        </p:nvSpPr>
        <p:spPr>
          <a:xfrm>
            <a:off x="3675887" y="1746504"/>
            <a:ext cx="128016" cy="45720"/>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849624" y="1691640"/>
            <a:ext cx="1051560" cy="228600"/>
          </a:xfrm>
          <a:prstGeom prst="rect">
            <a:avLst/>
          </a:prstGeom>
          <a:noFill/>
        </p:spPr>
        <p:txBody>
          <a:bodyPr wrap="square" lIns="18288" rIns="18288" tIns="18288" bIns="18288" anchor="t">
            <a:spAutoFit/>
          </a:bodyPr>
          <a:lstStyle/>
          <a:p>
            <a:pPr algn="l">
              <a:spcAft>
                <a:spcPts val="0"/>
              </a:spcAft>
            </a:pPr>
            <a:r>
              <a:rPr sz="980" b="1" i="0">
                <a:solidFill>
                  <a:srgbClr val="2D6496"/>
                </a:solidFill>
                <a:latin typeface="Arial"/>
              </a:rPr>
              <a:t>complementary</a:t>
            </a:r>
          </a:p>
        </p:txBody>
      </p:sp>
      <p:sp>
        <p:nvSpPr>
          <p:cNvPr id="12" name="Rectangle 11"/>
          <p:cNvSpPr/>
          <p:nvPr/>
        </p:nvSpPr>
        <p:spPr>
          <a:xfrm>
            <a:off x="4910328" y="1746504"/>
            <a:ext cx="128016"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84064" y="1691640"/>
            <a:ext cx="877824" cy="228600"/>
          </a:xfrm>
          <a:prstGeom prst="rect">
            <a:avLst/>
          </a:prstGeom>
          <a:noFill/>
        </p:spPr>
        <p:txBody>
          <a:bodyPr wrap="square" lIns="18288" rIns="18288" tIns="18288" bIns="18288" anchor="t">
            <a:spAutoFit/>
          </a:bodyPr>
          <a:lstStyle/>
          <a:p>
            <a:pPr algn="l">
              <a:spcAft>
                <a:spcPts val="0"/>
              </a:spcAft>
            </a:pPr>
            <a:r>
              <a:rPr sz="980" b="1" i="0">
                <a:solidFill>
                  <a:srgbClr val="D37B00"/>
                </a:solidFill>
                <a:latin typeface="Arial"/>
              </a:rPr>
              <a:t>ambiguous</a:t>
            </a:r>
          </a:p>
        </p:txBody>
      </p:sp>
      <p:sp>
        <p:nvSpPr>
          <p:cNvPr id="14" name="Rectangle 13"/>
          <p:cNvSpPr/>
          <p:nvPr/>
        </p:nvSpPr>
        <p:spPr>
          <a:xfrm>
            <a:off x="5971032" y="1746504"/>
            <a:ext cx="128016" cy="45720"/>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44768" y="1691640"/>
            <a:ext cx="877824" cy="228600"/>
          </a:xfrm>
          <a:prstGeom prst="rect">
            <a:avLst/>
          </a:prstGeom>
          <a:noFill/>
        </p:spPr>
        <p:txBody>
          <a:bodyPr wrap="square" lIns="18288" rIns="18288" tIns="18288" bIns="18288" anchor="t">
            <a:spAutoFit/>
          </a:bodyPr>
          <a:lstStyle/>
          <a:p>
            <a:pPr algn="l">
              <a:spcAft>
                <a:spcPts val="0"/>
              </a:spcAft>
            </a:pPr>
            <a:r>
              <a:rPr sz="980" b="1" i="0">
                <a:solidFill>
                  <a:srgbClr val="8063A6"/>
                </a:solidFill>
                <a:latin typeface="Arial"/>
              </a:rPr>
              <a:t>unmatched</a:t>
            </a:r>
          </a:p>
        </p:txBody>
      </p:sp>
      <p:sp>
        <p:nvSpPr>
          <p:cNvPr id="16" name="TextBox 15"/>
          <p:cNvSpPr txBox="1"/>
          <p:nvPr/>
        </p:nvSpPr>
        <p:spPr>
          <a:xfrm>
            <a:off x="7900416" y="1691640"/>
            <a:ext cx="3840480" cy="228600"/>
          </a:xfrm>
          <a:prstGeom prst="rect">
            <a:avLst/>
          </a:prstGeom>
          <a:noFill/>
        </p:spPr>
        <p:txBody>
          <a:bodyPr wrap="square" lIns="18288" rIns="18288" tIns="18288" bIns="18288" anchor="t">
            <a:spAutoFit/>
          </a:bodyPr>
          <a:lstStyle/>
          <a:p>
            <a:pPr algn="r">
              <a:spcAft>
                <a:spcPts val="0"/>
              </a:spcAft>
            </a:pPr>
            <a:r>
              <a:rPr sz="980" b="0" i="1">
                <a:solidFill>
                  <a:srgbClr val="8A969E"/>
                </a:solidFill>
                <a:latin typeface="Arial"/>
              </a:rPr>
              <a:t>Gene color = literature | Non-empty rows shown</a:t>
            </a:r>
          </a:p>
        </p:txBody>
      </p:sp>
      <p:sp>
        <p:nvSpPr>
          <p:cNvPr id="17" name="Rectangle 16"/>
          <p:cNvSpPr/>
          <p:nvPr/>
        </p:nvSpPr>
        <p:spPr>
          <a:xfrm>
            <a:off x="393192" y="20482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056" y="2112264"/>
            <a:ext cx="1243584" cy="1234439"/>
          </a:xfrm>
          <a:prstGeom prst="rect">
            <a:avLst/>
          </a:prstGeom>
          <a:noFill/>
        </p:spPr>
        <p:txBody>
          <a:bodyPr wrap="square" lIns="0" rIns="0" tIns="0" bIns="0" anchor="t">
            <a:spAutoFit/>
          </a:bodyPr>
          <a:lstStyle/>
          <a:p>
            <a:pPr>
              <a:spcAft>
                <a:spcPts val="0"/>
              </a:spcAft>
            </a:pPr>
            <a:r>
              <a:rPr sz="1180" b="1" i="0">
                <a:solidFill>
                  <a:srgbClr val="082B55"/>
                </a:solidFill>
                <a:latin typeface="Arial"/>
              </a:rPr>
              <a:t>Thymus
</a:t>
            </a:r>
            <a:r>
              <a:rPr sz="900" b="0" i="0">
                <a:solidFill>
                  <a:srgbClr val="8A969E"/>
                </a:solidFill>
                <a:latin typeface="Arial"/>
              </a:rPr>
              <a:t>16 genes</a:t>
            </a:r>
          </a:p>
        </p:txBody>
      </p:sp>
      <p:sp>
        <p:nvSpPr>
          <p:cNvPr id="19" name="TextBox 18"/>
          <p:cNvSpPr txBox="1"/>
          <p:nvPr/>
        </p:nvSpPr>
        <p:spPr>
          <a:xfrm>
            <a:off x="1737360" y="2112264"/>
            <a:ext cx="658368" cy="239669"/>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20" name="TextBox 19"/>
          <p:cNvSpPr txBox="1"/>
          <p:nvPr/>
        </p:nvSpPr>
        <p:spPr>
          <a:xfrm>
            <a:off x="2423160" y="2112264"/>
            <a:ext cx="713232" cy="239669"/>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21" name="TextBox 20"/>
          <p:cNvSpPr txBox="1"/>
          <p:nvPr/>
        </p:nvSpPr>
        <p:spPr>
          <a:xfrm>
            <a:off x="3172968" y="2112264"/>
            <a:ext cx="2770632" cy="239669"/>
          </a:xfrm>
          <a:prstGeom prst="rect">
            <a:avLst/>
          </a:prstGeom>
          <a:noFill/>
        </p:spPr>
        <p:txBody>
          <a:bodyPr wrap="square" lIns="0" rIns="0" tIns="0" bIns="0" anchor="ctr">
            <a:spAutoFit/>
          </a:bodyPr>
          <a:lstStyle/>
          <a:p>
            <a:pPr>
              <a:spcAft>
                <a:spcPts val="0"/>
              </a:spcAft>
            </a:pPr>
            <a:r>
              <a:rPr sz="900" b="1" i="1">
                <a:solidFill>
                  <a:srgbClr val="2D6496"/>
                </a:solidFill>
                <a:latin typeface="Arial"/>
              </a:rPr>
              <a:t>Hsd17b11</a:t>
            </a:r>
            <a:r>
              <a:rPr sz="900" b="0" i="0">
                <a:solidFill>
                  <a:srgbClr val="8A969E"/>
                </a:solidFill>
                <a:latin typeface="Arial"/>
              </a:rPr>
              <a:t>, </a:t>
            </a:r>
            <a:r>
              <a:rPr sz="900" b="1" i="1">
                <a:solidFill>
                  <a:srgbClr val="2D6496"/>
                </a:solidFill>
                <a:latin typeface="Arial"/>
              </a:rPr>
              <a:t>Etv1</a:t>
            </a:r>
          </a:p>
        </p:txBody>
      </p:sp>
      <p:sp>
        <p:nvSpPr>
          <p:cNvPr id="22" name="Rectangle 21"/>
          <p:cNvSpPr/>
          <p:nvPr/>
        </p:nvSpPr>
        <p:spPr>
          <a:xfrm>
            <a:off x="1709928" y="2361077"/>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737360" y="2370221"/>
            <a:ext cx="658368" cy="239669"/>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24" name="TextBox 23"/>
          <p:cNvSpPr txBox="1"/>
          <p:nvPr/>
        </p:nvSpPr>
        <p:spPr>
          <a:xfrm>
            <a:off x="2423160" y="2370221"/>
            <a:ext cx="713232" cy="23966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25" name="TextBox 24"/>
          <p:cNvSpPr txBox="1"/>
          <p:nvPr/>
        </p:nvSpPr>
        <p:spPr>
          <a:xfrm>
            <a:off x="3172968" y="2370221"/>
            <a:ext cx="2770632" cy="239669"/>
          </a:xfrm>
          <a:prstGeom prst="rect">
            <a:avLst/>
          </a:prstGeom>
          <a:noFill/>
        </p:spPr>
        <p:txBody>
          <a:bodyPr wrap="square" lIns="0" rIns="0" tIns="0" bIns="0" anchor="ctr">
            <a:spAutoFit/>
          </a:bodyPr>
          <a:lstStyle/>
          <a:p>
            <a:pPr>
              <a:spcAft>
                <a:spcPts val="0"/>
              </a:spcAft>
            </a:pPr>
            <a:r>
              <a:rPr sz="900" b="1" i="1">
                <a:solidFill>
                  <a:srgbClr val="8063A6"/>
                </a:solidFill>
                <a:latin typeface="Arial"/>
              </a:rPr>
              <a:t>Snx7</a:t>
            </a:r>
          </a:p>
        </p:txBody>
      </p:sp>
      <p:sp>
        <p:nvSpPr>
          <p:cNvPr id="26" name="Rectangle 25"/>
          <p:cNvSpPr/>
          <p:nvPr/>
        </p:nvSpPr>
        <p:spPr>
          <a:xfrm>
            <a:off x="1709928" y="2619034"/>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737360" y="2628178"/>
            <a:ext cx="658368" cy="433136"/>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28" name="TextBox 27"/>
          <p:cNvSpPr txBox="1"/>
          <p:nvPr/>
        </p:nvSpPr>
        <p:spPr>
          <a:xfrm>
            <a:off x="2423160" y="2628178"/>
            <a:ext cx="713232" cy="433136"/>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29" name="TextBox 28"/>
          <p:cNvSpPr txBox="1"/>
          <p:nvPr/>
        </p:nvSpPr>
        <p:spPr>
          <a:xfrm>
            <a:off x="3172968" y="2628178"/>
            <a:ext cx="2770632" cy="433136"/>
          </a:xfrm>
          <a:prstGeom prst="rect">
            <a:avLst/>
          </a:prstGeom>
          <a:noFill/>
        </p:spPr>
        <p:txBody>
          <a:bodyPr wrap="square" lIns="0" rIns="0" tIns="0" bIns="0" anchor="ctr">
            <a:spAutoFit/>
          </a:bodyPr>
          <a:lstStyle/>
          <a:p>
            <a:pPr>
              <a:spcAft>
                <a:spcPts val="0"/>
              </a:spcAft>
            </a:pPr>
            <a:r>
              <a:rPr sz="900" b="1" i="1">
                <a:solidFill>
                  <a:srgbClr val="478A64"/>
                </a:solidFill>
                <a:latin typeface="Arial"/>
              </a:rPr>
              <a:t>Nusap1</a:t>
            </a:r>
            <a:r>
              <a:rPr sz="900" b="0" i="0">
                <a:solidFill>
                  <a:srgbClr val="8A969E"/>
                </a:solidFill>
                <a:latin typeface="Arial"/>
              </a:rPr>
              <a:t>, </a:t>
            </a:r>
            <a:r>
              <a:rPr sz="900" b="1" i="1">
                <a:solidFill>
                  <a:srgbClr val="478A64"/>
                </a:solidFill>
                <a:latin typeface="Arial"/>
              </a:rPr>
              <a:t>Stmn1</a:t>
            </a:r>
            <a:r>
              <a:rPr sz="900" b="0" i="0">
                <a:solidFill>
                  <a:srgbClr val="8A969E"/>
                </a:solidFill>
                <a:latin typeface="Arial"/>
              </a:rPr>
              <a:t>, </a:t>
            </a:r>
            <a:r>
              <a:rPr sz="900" b="1" i="1">
                <a:solidFill>
                  <a:srgbClr val="D37B00"/>
                </a:solidFill>
                <a:latin typeface="Arial"/>
              </a:rPr>
              <a:t>Birc5</a:t>
            </a:r>
            <a:r>
              <a:rPr sz="900" b="0" i="0">
                <a:solidFill>
                  <a:srgbClr val="8A969E"/>
                </a:solidFill>
                <a:latin typeface="Arial"/>
              </a:rPr>
              <a:t>, </a:t>
            </a:r>
            <a:r>
              <a:rPr sz="900" b="1" i="1">
                <a:solidFill>
                  <a:srgbClr val="478A64"/>
                </a:solidFill>
                <a:latin typeface="Arial"/>
              </a:rPr>
              <a:t>Cdk1</a:t>
            </a:r>
            <a:r>
              <a:rPr sz="900" b="0" i="0">
                <a:solidFill>
                  <a:srgbClr val="8A969E"/>
                </a:solidFill>
                <a:latin typeface="Arial"/>
              </a:rPr>
              <a:t>, </a:t>
            </a:r>
            <a:r>
              <a:rPr sz="900" b="1" i="1">
                <a:solidFill>
                  <a:srgbClr val="478A64"/>
                </a:solidFill>
                <a:latin typeface="Arial"/>
              </a:rPr>
              <a:t>Top2a</a:t>
            </a:r>
            <a:r>
              <a:rPr sz="900" b="0" i="0">
                <a:solidFill>
                  <a:srgbClr val="8A969E"/>
                </a:solidFill>
                <a:latin typeface="Arial"/>
              </a:rPr>
              <a:t>, </a:t>
            </a:r>
            <a:r>
              <a:rPr sz="900" b="1" i="1">
                <a:solidFill>
                  <a:srgbClr val="478A64"/>
                </a:solidFill>
                <a:latin typeface="Arial"/>
              </a:rPr>
              <a:t>Ccnb2</a:t>
            </a:r>
            <a:r>
              <a:rPr sz="900" b="0" i="0">
                <a:solidFill>
                  <a:srgbClr val="8A969E"/>
                </a:solidFill>
                <a:latin typeface="Arial"/>
              </a:rPr>
              <a:t>, </a:t>
            </a:r>
            <a:r>
              <a:rPr sz="900" b="1" i="1">
                <a:solidFill>
                  <a:srgbClr val="478A64"/>
                </a:solidFill>
                <a:latin typeface="Arial"/>
              </a:rPr>
              <a:t>Aurka</a:t>
            </a:r>
            <a:r>
              <a:rPr sz="900" b="0" i="0">
                <a:solidFill>
                  <a:srgbClr val="8A969E"/>
                </a:solidFill>
                <a:latin typeface="Arial"/>
              </a:rPr>
              <a:t>, </a:t>
            </a:r>
            <a:r>
              <a:rPr sz="900" b="1" i="1">
                <a:solidFill>
                  <a:srgbClr val="478A64"/>
                </a:solidFill>
                <a:latin typeface="Arial"/>
              </a:rPr>
              <a:t>Ccne2</a:t>
            </a:r>
            <a:r>
              <a:rPr sz="900" b="0" i="0">
                <a:solidFill>
                  <a:srgbClr val="8A969E"/>
                </a:solidFill>
                <a:latin typeface="Arial"/>
              </a:rPr>
              <a:t>, </a:t>
            </a:r>
            <a:r>
              <a:rPr sz="900" b="1" i="1">
                <a:solidFill>
                  <a:srgbClr val="478A64"/>
                </a:solidFill>
                <a:latin typeface="Arial"/>
              </a:rPr>
              <a:t>Kif20a</a:t>
            </a:r>
            <a:r>
              <a:rPr sz="900" b="0" i="0">
                <a:solidFill>
                  <a:srgbClr val="8A969E"/>
                </a:solidFill>
                <a:latin typeface="Arial"/>
              </a:rPr>
              <a:t>, </a:t>
            </a:r>
            <a:r>
              <a:rPr sz="900" b="1" i="1">
                <a:solidFill>
                  <a:srgbClr val="478A64"/>
                </a:solidFill>
                <a:latin typeface="Arial"/>
              </a:rPr>
              <a:t>Pcna</a:t>
            </a:r>
            <a:r>
              <a:rPr sz="900" b="0" i="0">
                <a:solidFill>
                  <a:srgbClr val="8A969E"/>
                </a:solidFill>
                <a:latin typeface="Arial"/>
              </a:rPr>
              <a:t>, </a:t>
            </a:r>
            <a:r>
              <a:rPr sz="900" b="1" i="1">
                <a:solidFill>
                  <a:srgbClr val="478A64"/>
                </a:solidFill>
                <a:latin typeface="Arial"/>
              </a:rPr>
              <a:t>Ccnf</a:t>
            </a:r>
          </a:p>
        </p:txBody>
      </p:sp>
      <p:sp>
        <p:nvSpPr>
          <p:cNvPr id="30" name="Rectangle 29"/>
          <p:cNvSpPr/>
          <p:nvPr/>
        </p:nvSpPr>
        <p:spPr>
          <a:xfrm>
            <a:off x="1709928" y="307045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737360" y="3079602"/>
            <a:ext cx="658368" cy="23966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32" name="TextBox 31"/>
          <p:cNvSpPr txBox="1"/>
          <p:nvPr/>
        </p:nvSpPr>
        <p:spPr>
          <a:xfrm>
            <a:off x="2423160" y="3079602"/>
            <a:ext cx="713232" cy="23966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33" name="TextBox 32"/>
          <p:cNvSpPr txBox="1"/>
          <p:nvPr/>
        </p:nvSpPr>
        <p:spPr>
          <a:xfrm>
            <a:off x="3172968" y="3079602"/>
            <a:ext cx="2770632" cy="239669"/>
          </a:xfrm>
          <a:prstGeom prst="rect">
            <a:avLst/>
          </a:prstGeom>
          <a:noFill/>
        </p:spPr>
        <p:txBody>
          <a:bodyPr wrap="square" lIns="0" rIns="0" tIns="0" bIns="0" anchor="ctr">
            <a:spAutoFit/>
          </a:bodyPr>
          <a:lstStyle/>
          <a:p>
            <a:pPr>
              <a:spcAft>
                <a:spcPts val="0"/>
              </a:spcAft>
            </a:pPr>
            <a:r>
              <a:rPr sz="900" b="1" i="1">
                <a:solidFill>
                  <a:srgbClr val="478A64"/>
                </a:solidFill>
                <a:latin typeface="Arial"/>
              </a:rPr>
              <a:t>Ube2c</a:t>
            </a:r>
            <a:r>
              <a:rPr sz="900" b="0" i="0">
                <a:solidFill>
                  <a:srgbClr val="8A969E"/>
                </a:solidFill>
                <a:latin typeface="Arial"/>
              </a:rPr>
              <a:t>, </a:t>
            </a:r>
            <a:r>
              <a:rPr sz="900" b="1" i="1">
                <a:solidFill>
                  <a:srgbClr val="478A64"/>
                </a:solidFill>
                <a:latin typeface="Arial"/>
              </a:rPr>
              <a:t>Gmnn</a:t>
            </a:r>
          </a:p>
        </p:txBody>
      </p:sp>
      <p:sp>
        <p:nvSpPr>
          <p:cNvPr id="34" name="Rectangle 33"/>
          <p:cNvSpPr/>
          <p:nvPr/>
        </p:nvSpPr>
        <p:spPr>
          <a:xfrm>
            <a:off x="393192" y="345643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8056" y="3520439"/>
            <a:ext cx="1243584" cy="521208"/>
          </a:xfrm>
          <a:prstGeom prst="rect">
            <a:avLst/>
          </a:prstGeom>
          <a:noFill/>
        </p:spPr>
        <p:txBody>
          <a:bodyPr wrap="square" lIns="0" rIns="0" tIns="0" bIns="0" anchor="t">
            <a:spAutoFit/>
          </a:bodyPr>
          <a:lstStyle/>
          <a:p>
            <a:pPr>
              <a:spcAft>
                <a:spcPts val="0"/>
              </a:spcAft>
            </a:pPr>
            <a:r>
              <a:rPr sz="1180" b="1" i="0">
                <a:solidFill>
                  <a:srgbClr val="082B55"/>
                </a:solidFill>
                <a:latin typeface="Arial"/>
              </a:rPr>
              <a:t>Spleen
</a:t>
            </a:r>
            <a:r>
              <a:rPr sz="900" b="0" i="0">
                <a:solidFill>
                  <a:srgbClr val="8A969E"/>
                </a:solidFill>
                <a:latin typeface="Arial"/>
              </a:rPr>
              <a:t>4 genes</a:t>
            </a:r>
          </a:p>
        </p:txBody>
      </p:sp>
      <p:sp>
        <p:nvSpPr>
          <p:cNvPr id="36" name="TextBox 35"/>
          <p:cNvSpPr txBox="1"/>
          <p:nvPr/>
        </p:nvSpPr>
        <p:spPr>
          <a:xfrm>
            <a:off x="1737360" y="3520439"/>
            <a:ext cx="658368" cy="237744"/>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37" name="TextBox 36"/>
          <p:cNvSpPr txBox="1"/>
          <p:nvPr/>
        </p:nvSpPr>
        <p:spPr>
          <a:xfrm>
            <a:off x="2423160" y="3520439"/>
            <a:ext cx="713232" cy="237744"/>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38" name="TextBox 37"/>
          <p:cNvSpPr txBox="1"/>
          <p:nvPr/>
        </p:nvSpPr>
        <p:spPr>
          <a:xfrm>
            <a:off x="3172968" y="3520439"/>
            <a:ext cx="2770632" cy="237744"/>
          </a:xfrm>
          <a:prstGeom prst="rect">
            <a:avLst/>
          </a:prstGeom>
          <a:noFill/>
        </p:spPr>
        <p:txBody>
          <a:bodyPr wrap="square" lIns="0" rIns="0" tIns="0" bIns="0" anchor="ctr">
            <a:spAutoFit/>
          </a:bodyPr>
          <a:lstStyle/>
          <a:p>
            <a:pPr>
              <a:spcAft>
                <a:spcPts val="0"/>
              </a:spcAft>
            </a:pPr>
            <a:r>
              <a:rPr sz="900" b="1" i="1">
                <a:solidFill>
                  <a:srgbClr val="2D6496"/>
                </a:solidFill>
                <a:latin typeface="Arial"/>
              </a:rPr>
              <a:t>Rai14</a:t>
            </a:r>
            <a:r>
              <a:rPr sz="900" b="0" i="0">
                <a:solidFill>
                  <a:srgbClr val="8A969E"/>
                </a:solidFill>
                <a:latin typeface="Arial"/>
              </a:rPr>
              <a:t>, </a:t>
            </a:r>
            <a:r>
              <a:rPr sz="900" b="1" i="1">
                <a:solidFill>
                  <a:srgbClr val="2D6496"/>
                </a:solidFill>
                <a:latin typeface="Arial"/>
              </a:rPr>
              <a:t>Myl9</a:t>
            </a:r>
            <a:r>
              <a:rPr sz="900" b="0" i="0">
                <a:solidFill>
                  <a:srgbClr val="8A969E"/>
                </a:solidFill>
                <a:latin typeface="Arial"/>
              </a:rPr>
              <a:t>, </a:t>
            </a:r>
            <a:r>
              <a:rPr sz="900" b="1" i="1">
                <a:solidFill>
                  <a:srgbClr val="2D6496"/>
                </a:solidFill>
                <a:latin typeface="Arial"/>
              </a:rPr>
              <a:t>Ptprk</a:t>
            </a:r>
          </a:p>
        </p:txBody>
      </p:sp>
      <p:sp>
        <p:nvSpPr>
          <p:cNvPr id="39" name="Rectangle 38"/>
          <p:cNvSpPr/>
          <p:nvPr/>
        </p:nvSpPr>
        <p:spPr>
          <a:xfrm>
            <a:off x="1709928" y="376732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737360" y="3776472"/>
            <a:ext cx="658368" cy="237744"/>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41" name="TextBox 40"/>
          <p:cNvSpPr txBox="1"/>
          <p:nvPr/>
        </p:nvSpPr>
        <p:spPr>
          <a:xfrm>
            <a:off x="2423160" y="3776472"/>
            <a:ext cx="713232" cy="237744"/>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42" name="TextBox 41"/>
          <p:cNvSpPr txBox="1"/>
          <p:nvPr/>
        </p:nvSpPr>
        <p:spPr>
          <a:xfrm>
            <a:off x="3172968" y="3776472"/>
            <a:ext cx="2770632" cy="237744"/>
          </a:xfrm>
          <a:prstGeom prst="rect">
            <a:avLst/>
          </a:prstGeom>
          <a:noFill/>
        </p:spPr>
        <p:txBody>
          <a:bodyPr wrap="square" lIns="0" rIns="0" tIns="0" bIns="0" anchor="ctr">
            <a:spAutoFit/>
          </a:bodyPr>
          <a:lstStyle/>
          <a:p>
            <a:pPr>
              <a:spcAft>
                <a:spcPts val="0"/>
              </a:spcAft>
            </a:pPr>
            <a:r>
              <a:rPr sz="900" b="1" i="1">
                <a:solidFill>
                  <a:srgbClr val="2D6496"/>
                </a:solidFill>
                <a:latin typeface="Arial"/>
              </a:rPr>
              <a:t>Loxl1</a:t>
            </a:r>
          </a:p>
        </p:txBody>
      </p:sp>
      <p:sp>
        <p:nvSpPr>
          <p:cNvPr id="43" name="Rectangle 42"/>
          <p:cNvSpPr/>
          <p:nvPr/>
        </p:nvSpPr>
        <p:spPr>
          <a:xfrm>
            <a:off x="393192" y="415137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48056" y="4215384"/>
            <a:ext cx="1243584" cy="466344"/>
          </a:xfrm>
          <a:prstGeom prst="rect">
            <a:avLst/>
          </a:prstGeom>
          <a:noFill/>
        </p:spPr>
        <p:txBody>
          <a:bodyPr wrap="square" lIns="0" rIns="0" tIns="0" bIns="0" anchor="t">
            <a:spAutoFit/>
          </a:bodyPr>
          <a:lstStyle/>
          <a:p>
            <a:pPr>
              <a:spcAft>
                <a:spcPts val="0"/>
              </a:spcAft>
            </a:pPr>
            <a:r>
              <a:rPr sz="1180" b="1" i="0">
                <a:solidFill>
                  <a:srgbClr val="082B55"/>
                </a:solidFill>
                <a:latin typeface="Arial"/>
              </a:rPr>
              <a:t>Kidney
</a:t>
            </a:r>
            <a:r>
              <a:rPr sz="900" b="0" i="0">
                <a:solidFill>
                  <a:srgbClr val="8A969E"/>
                </a:solidFill>
                <a:latin typeface="Arial"/>
              </a:rPr>
              <a:t>2 genes</a:t>
            </a:r>
          </a:p>
        </p:txBody>
      </p:sp>
      <p:sp>
        <p:nvSpPr>
          <p:cNvPr id="45" name="TextBox 44"/>
          <p:cNvSpPr txBox="1"/>
          <p:nvPr/>
        </p:nvSpPr>
        <p:spPr>
          <a:xfrm>
            <a:off x="1737360" y="4215383"/>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46" name="TextBox 45"/>
          <p:cNvSpPr txBox="1"/>
          <p:nvPr/>
        </p:nvSpPr>
        <p:spPr>
          <a:xfrm>
            <a:off x="2423160" y="4215383"/>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47" name="TextBox 46"/>
          <p:cNvSpPr txBox="1"/>
          <p:nvPr/>
        </p:nvSpPr>
        <p:spPr>
          <a:xfrm>
            <a:off x="3172968" y="4215383"/>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Inpp4b</a:t>
            </a:r>
          </a:p>
        </p:txBody>
      </p:sp>
      <p:sp>
        <p:nvSpPr>
          <p:cNvPr id="48" name="Rectangle 47"/>
          <p:cNvSpPr/>
          <p:nvPr/>
        </p:nvSpPr>
        <p:spPr>
          <a:xfrm>
            <a:off x="1709928" y="443484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737360" y="4443983"/>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50" name="TextBox 49"/>
          <p:cNvSpPr txBox="1"/>
          <p:nvPr/>
        </p:nvSpPr>
        <p:spPr>
          <a:xfrm>
            <a:off x="2423160" y="4443983"/>
            <a:ext cx="713232" cy="21031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51" name="TextBox 50"/>
          <p:cNvSpPr txBox="1"/>
          <p:nvPr/>
        </p:nvSpPr>
        <p:spPr>
          <a:xfrm>
            <a:off x="3172968" y="4443983"/>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Slc37a4</a:t>
            </a:r>
          </a:p>
        </p:txBody>
      </p:sp>
      <p:sp>
        <p:nvSpPr>
          <p:cNvPr id="52" name="Rectangle 51"/>
          <p:cNvSpPr/>
          <p:nvPr/>
        </p:nvSpPr>
        <p:spPr>
          <a:xfrm>
            <a:off x="393192" y="47914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48056" y="4855464"/>
            <a:ext cx="1243584" cy="466344"/>
          </a:xfrm>
          <a:prstGeom prst="rect">
            <a:avLst/>
          </a:prstGeom>
          <a:noFill/>
        </p:spPr>
        <p:txBody>
          <a:bodyPr wrap="square" lIns="0" rIns="0" tIns="0" bIns="0" anchor="t">
            <a:spAutoFit/>
          </a:bodyPr>
          <a:lstStyle/>
          <a:p>
            <a:pPr>
              <a:spcAft>
                <a:spcPts val="0"/>
              </a:spcAft>
            </a:pPr>
            <a:r>
              <a:rPr sz="1080" b="1" i="0">
                <a:solidFill>
                  <a:srgbClr val="082B55"/>
                </a:solidFill>
                <a:latin typeface="Arial"/>
              </a:rPr>
              <a:t>Gastrocnemius
</a:t>
            </a:r>
            <a:r>
              <a:rPr sz="900" b="0" i="0">
                <a:solidFill>
                  <a:srgbClr val="8A969E"/>
                </a:solidFill>
                <a:latin typeface="Arial"/>
              </a:rPr>
              <a:t>2 genes</a:t>
            </a:r>
          </a:p>
        </p:txBody>
      </p:sp>
      <p:sp>
        <p:nvSpPr>
          <p:cNvPr id="54" name="TextBox 53"/>
          <p:cNvSpPr txBox="1"/>
          <p:nvPr/>
        </p:nvSpPr>
        <p:spPr>
          <a:xfrm>
            <a:off x="1737360" y="4855464"/>
            <a:ext cx="658368" cy="21031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55" name="TextBox 54"/>
          <p:cNvSpPr txBox="1"/>
          <p:nvPr/>
        </p:nvSpPr>
        <p:spPr>
          <a:xfrm>
            <a:off x="2423160" y="4855464"/>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56" name="TextBox 55"/>
          <p:cNvSpPr txBox="1"/>
          <p:nvPr/>
        </p:nvSpPr>
        <p:spPr>
          <a:xfrm>
            <a:off x="3172968" y="4855464"/>
            <a:ext cx="2770632" cy="210312"/>
          </a:xfrm>
          <a:prstGeom prst="rect">
            <a:avLst/>
          </a:prstGeom>
          <a:noFill/>
        </p:spPr>
        <p:txBody>
          <a:bodyPr wrap="square" lIns="0" rIns="0" tIns="0" bIns="0" anchor="ctr">
            <a:spAutoFit/>
          </a:bodyPr>
          <a:lstStyle/>
          <a:p>
            <a:pPr>
              <a:spcAft>
                <a:spcPts val="0"/>
              </a:spcAft>
            </a:pPr>
            <a:r>
              <a:rPr sz="900" b="1" i="1">
                <a:solidFill>
                  <a:srgbClr val="478A64"/>
                </a:solidFill>
                <a:latin typeface="Arial"/>
              </a:rPr>
              <a:t>Nfkbia</a:t>
            </a:r>
          </a:p>
        </p:txBody>
      </p:sp>
      <p:sp>
        <p:nvSpPr>
          <p:cNvPr id="57" name="Rectangle 56"/>
          <p:cNvSpPr/>
          <p:nvPr/>
        </p:nvSpPr>
        <p:spPr>
          <a:xfrm>
            <a:off x="1709928" y="507492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737360" y="5084064"/>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59" name="TextBox 58"/>
          <p:cNvSpPr txBox="1"/>
          <p:nvPr/>
        </p:nvSpPr>
        <p:spPr>
          <a:xfrm>
            <a:off x="2423160" y="5084064"/>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60" name="TextBox 59"/>
          <p:cNvSpPr txBox="1"/>
          <p:nvPr/>
        </p:nvSpPr>
        <p:spPr>
          <a:xfrm>
            <a:off x="3172968" y="5084064"/>
            <a:ext cx="2770632" cy="210312"/>
          </a:xfrm>
          <a:prstGeom prst="rect">
            <a:avLst/>
          </a:prstGeom>
          <a:noFill/>
        </p:spPr>
        <p:txBody>
          <a:bodyPr wrap="square" lIns="0" rIns="0" tIns="0" bIns="0" anchor="ctr">
            <a:spAutoFit/>
          </a:bodyPr>
          <a:lstStyle/>
          <a:p>
            <a:pPr>
              <a:spcAft>
                <a:spcPts val="0"/>
              </a:spcAft>
            </a:pPr>
            <a:r>
              <a:rPr sz="900" b="1" i="1">
                <a:solidFill>
                  <a:srgbClr val="2D6496"/>
                </a:solidFill>
                <a:latin typeface="Arial"/>
              </a:rPr>
              <a:t>Fhl2</a:t>
            </a:r>
          </a:p>
        </p:txBody>
      </p:sp>
      <p:sp>
        <p:nvSpPr>
          <p:cNvPr id="61" name="Rectangle 60"/>
          <p:cNvSpPr/>
          <p:nvPr/>
        </p:nvSpPr>
        <p:spPr>
          <a:xfrm>
            <a:off x="393192" y="543153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48056" y="5495544"/>
            <a:ext cx="1243584" cy="374904"/>
          </a:xfrm>
          <a:prstGeom prst="rect">
            <a:avLst/>
          </a:prstGeom>
          <a:noFill/>
        </p:spPr>
        <p:txBody>
          <a:bodyPr wrap="square" lIns="0" rIns="0" tIns="0" bIns="0" anchor="t">
            <a:spAutoFit/>
          </a:bodyPr>
          <a:lstStyle/>
          <a:p>
            <a:pPr>
              <a:spcAft>
                <a:spcPts val="0"/>
              </a:spcAft>
            </a:pPr>
            <a:r>
              <a:rPr sz="1180" b="1" i="0">
                <a:solidFill>
                  <a:srgbClr val="082B55"/>
                </a:solidFill>
                <a:latin typeface="Arial"/>
              </a:rPr>
              <a:t>Eye
</a:t>
            </a:r>
            <a:r>
              <a:rPr sz="900" b="0" i="0">
                <a:solidFill>
                  <a:srgbClr val="8A969E"/>
                </a:solidFill>
                <a:latin typeface="Arial"/>
              </a:rPr>
              <a:t>1 gene</a:t>
            </a:r>
          </a:p>
        </p:txBody>
      </p:sp>
      <p:sp>
        <p:nvSpPr>
          <p:cNvPr id="63" name="TextBox 62"/>
          <p:cNvSpPr txBox="1"/>
          <p:nvPr/>
        </p:nvSpPr>
        <p:spPr>
          <a:xfrm>
            <a:off x="1737360" y="5495544"/>
            <a:ext cx="658368" cy="34747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64" name="TextBox 63"/>
          <p:cNvSpPr txBox="1"/>
          <p:nvPr/>
        </p:nvSpPr>
        <p:spPr>
          <a:xfrm>
            <a:off x="2423160" y="5495544"/>
            <a:ext cx="713232" cy="34747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65" name="TextBox 64"/>
          <p:cNvSpPr txBox="1"/>
          <p:nvPr/>
        </p:nvSpPr>
        <p:spPr>
          <a:xfrm>
            <a:off x="3172968" y="5495544"/>
            <a:ext cx="2770632" cy="347472"/>
          </a:xfrm>
          <a:prstGeom prst="rect">
            <a:avLst/>
          </a:prstGeom>
          <a:noFill/>
        </p:spPr>
        <p:txBody>
          <a:bodyPr wrap="square" lIns="0" rIns="0" tIns="0" bIns="0" anchor="ctr">
            <a:spAutoFit/>
          </a:bodyPr>
          <a:lstStyle/>
          <a:p>
            <a:pPr>
              <a:spcAft>
                <a:spcPts val="0"/>
              </a:spcAft>
            </a:pPr>
            <a:r>
              <a:rPr sz="900" b="1" i="1">
                <a:solidFill>
                  <a:srgbClr val="478A64"/>
                </a:solidFill>
                <a:latin typeface="Arial"/>
              </a:rPr>
              <a:t>Klhl21</a:t>
            </a:r>
          </a:p>
        </p:txBody>
      </p:sp>
      <p:sp>
        <p:nvSpPr>
          <p:cNvPr id="66" name="Rectangle 65"/>
          <p:cNvSpPr/>
          <p:nvPr/>
        </p:nvSpPr>
        <p:spPr>
          <a:xfrm>
            <a:off x="6181344" y="2048256"/>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236207" y="2112264"/>
            <a:ext cx="1243584" cy="1051560"/>
          </a:xfrm>
          <a:prstGeom prst="rect">
            <a:avLst/>
          </a:prstGeom>
          <a:noFill/>
        </p:spPr>
        <p:txBody>
          <a:bodyPr wrap="square" lIns="0" rIns="0" tIns="0" bIns="0" anchor="t">
            <a:spAutoFit/>
          </a:bodyPr>
          <a:lstStyle/>
          <a:p>
            <a:pPr>
              <a:spcAft>
                <a:spcPts val="0"/>
              </a:spcAft>
            </a:pPr>
            <a:r>
              <a:rPr sz="1080" b="1" i="0">
                <a:solidFill>
                  <a:srgbClr val="082B55"/>
                </a:solidFill>
                <a:latin typeface="Arial"/>
              </a:rPr>
              <a:t>Skeletal muscle
(pooled)
</a:t>
            </a:r>
            <a:r>
              <a:rPr sz="900" b="0" i="0">
                <a:solidFill>
                  <a:srgbClr val="8A969E"/>
                </a:solidFill>
                <a:latin typeface="Arial"/>
              </a:rPr>
              <a:t>12 genes</a:t>
            </a:r>
          </a:p>
        </p:txBody>
      </p:sp>
      <p:sp>
        <p:nvSpPr>
          <p:cNvPr id="68" name="TextBox 67"/>
          <p:cNvSpPr txBox="1"/>
          <p:nvPr/>
        </p:nvSpPr>
        <p:spPr>
          <a:xfrm>
            <a:off x="7525512" y="2112264"/>
            <a:ext cx="658368" cy="468172"/>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69" name="TextBox 68"/>
          <p:cNvSpPr txBox="1"/>
          <p:nvPr/>
        </p:nvSpPr>
        <p:spPr>
          <a:xfrm>
            <a:off x="8211312" y="2112264"/>
            <a:ext cx="713232" cy="46817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70" name="TextBox 69"/>
          <p:cNvSpPr txBox="1"/>
          <p:nvPr/>
        </p:nvSpPr>
        <p:spPr>
          <a:xfrm>
            <a:off x="8961120" y="2112264"/>
            <a:ext cx="2770632" cy="468172"/>
          </a:xfrm>
          <a:prstGeom prst="rect">
            <a:avLst/>
          </a:prstGeom>
          <a:noFill/>
        </p:spPr>
        <p:txBody>
          <a:bodyPr wrap="square" lIns="0" rIns="0" tIns="0" bIns="0" anchor="ctr">
            <a:spAutoFit/>
          </a:bodyPr>
          <a:lstStyle/>
          <a:p>
            <a:pPr>
              <a:spcAft>
                <a:spcPts val="0"/>
              </a:spcAft>
            </a:pPr>
            <a:r>
              <a:rPr sz="900" b="1" i="1">
                <a:solidFill>
                  <a:srgbClr val="478A64"/>
                </a:solidFill>
                <a:latin typeface="Arial"/>
              </a:rPr>
              <a:t>Sox4</a:t>
            </a:r>
            <a:r>
              <a:rPr sz="900" b="0" i="0">
                <a:solidFill>
                  <a:srgbClr val="8A969E"/>
                </a:solidFill>
                <a:latin typeface="Arial"/>
              </a:rPr>
              <a:t>, </a:t>
            </a:r>
            <a:r>
              <a:rPr sz="900" b="1" i="1">
                <a:solidFill>
                  <a:srgbClr val="478A64"/>
                </a:solidFill>
                <a:latin typeface="Arial"/>
              </a:rPr>
              <a:t>Cebpd</a:t>
            </a:r>
            <a:r>
              <a:rPr sz="900" b="0" i="0">
                <a:solidFill>
                  <a:srgbClr val="8A969E"/>
                </a:solidFill>
                <a:latin typeface="Arial"/>
              </a:rPr>
              <a:t>, </a:t>
            </a:r>
            <a:r>
              <a:rPr sz="900" b="1" i="1">
                <a:solidFill>
                  <a:srgbClr val="2D6496"/>
                </a:solidFill>
                <a:latin typeface="Arial"/>
              </a:rPr>
              <a:t>Sh3bp5</a:t>
            </a:r>
            <a:r>
              <a:rPr sz="900" b="0" i="0">
                <a:solidFill>
                  <a:srgbClr val="8A969E"/>
                </a:solidFill>
                <a:latin typeface="Arial"/>
              </a:rPr>
              <a:t>, </a:t>
            </a:r>
            <a:r>
              <a:rPr sz="900" b="1" i="1">
                <a:solidFill>
                  <a:srgbClr val="478A64"/>
                </a:solidFill>
                <a:latin typeface="Arial"/>
              </a:rPr>
              <a:t>Prkcd</a:t>
            </a:r>
            <a:r>
              <a:rPr sz="900" b="0" i="0">
                <a:solidFill>
                  <a:srgbClr val="8A969E"/>
                </a:solidFill>
                <a:latin typeface="Arial"/>
              </a:rPr>
              <a:t>, </a:t>
            </a:r>
            <a:r>
              <a:rPr sz="900" b="1" i="1">
                <a:solidFill>
                  <a:srgbClr val="478A64"/>
                </a:solidFill>
                <a:latin typeface="Arial"/>
              </a:rPr>
              <a:t>Arid5b</a:t>
            </a:r>
            <a:r>
              <a:rPr sz="900" b="0" i="0">
                <a:solidFill>
                  <a:srgbClr val="8A969E"/>
                </a:solidFill>
                <a:latin typeface="Arial"/>
              </a:rPr>
              <a:t>, </a:t>
            </a:r>
            <a:r>
              <a:rPr sz="900" b="1" i="1">
                <a:solidFill>
                  <a:srgbClr val="478A64"/>
                </a:solidFill>
                <a:latin typeface="Arial"/>
              </a:rPr>
              <a:t>Sesn1</a:t>
            </a:r>
            <a:r>
              <a:rPr sz="900" b="0" i="0">
                <a:solidFill>
                  <a:srgbClr val="8A969E"/>
                </a:solidFill>
                <a:latin typeface="Arial"/>
              </a:rPr>
              <a:t>, </a:t>
            </a:r>
            <a:r>
              <a:rPr sz="900" b="1" i="1">
                <a:solidFill>
                  <a:srgbClr val="2D6496"/>
                </a:solidFill>
                <a:latin typeface="Arial"/>
              </a:rPr>
              <a:t>Tle1</a:t>
            </a:r>
          </a:p>
        </p:txBody>
      </p:sp>
      <p:sp>
        <p:nvSpPr>
          <p:cNvPr id="71" name="Rectangle 70"/>
          <p:cNvSpPr/>
          <p:nvPr/>
        </p:nvSpPr>
        <p:spPr>
          <a:xfrm>
            <a:off x="7498079" y="258958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525512" y="2598724"/>
            <a:ext cx="658368" cy="25968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73" name="TextBox 72"/>
          <p:cNvSpPr txBox="1"/>
          <p:nvPr/>
        </p:nvSpPr>
        <p:spPr>
          <a:xfrm>
            <a:off x="8211312" y="2598724"/>
            <a:ext cx="713232" cy="259689"/>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74" name="TextBox 73"/>
          <p:cNvSpPr txBox="1"/>
          <p:nvPr/>
        </p:nvSpPr>
        <p:spPr>
          <a:xfrm>
            <a:off x="8961120" y="2598724"/>
            <a:ext cx="2770632" cy="259689"/>
          </a:xfrm>
          <a:prstGeom prst="rect">
            <a:avLst/>
          </a:prstGeom>
          <a:noFill/>
        </p:spPr>
        <p:txBody>
          <a:bodyPr wrap="square" lIns="0" rIns="0" tIns="0" bIns="0" anchor="ctr">
            <a:spAutoFit/>
          </a:bodyPr>
          <a:lstStyle/>
          <a:p>
            <a:pPr>
              <a:spcAft>
                <a:spcPts val="0"/>
              </a:spcAft>
            </a:pPr>
            <a:r>
              <a:rPr sz="900" b="1" i="1">
                <a:solidFill>
                  <a:srgbClr val="2D6496"/>
                </a:solidFill>
                <a:latin typeface="Arial"/>
              </a:rPr>
              <a:t>Klhl21</a:t>
            </a:r>
            <a:r>
              <a:rPr sz="900" b="0" i="0">
                <a:solidFill>
                  <a:srgbClr val="8A969E"/>
                </a:solidFill>
                <a:latin typeface="Arial"/>
              </a:rPr>
              <a:t>, </a:t>
            </a:r>
            <a:r>
              <a:rPr sz="900" b="1" i="1">
                <a:solidFill>
                  <a:srgbClr val="2D6496"/>
                </a:solidFill>
                <a:latin typeface="Arial"/>
              </a:rPr>
              <a:t>Mapkapk5</a:t>
            </a:r>
            <a:r>
              <a:rPr sz="900" b="0" i="0">
                <a:solidFill>
                  <a:srgbClr val="8A969E"/>
                </a:solidFill>
                <a:latin typeface="Arial"/>
              </a:rPr>
              <a:t>, </a:t>
            </a:r>
            <a:r>
              <a:rPr sz="900" b="1" i="1">
                <a:solidFill>
                  <a:srgbClr val="2D6496"/>
                </a:solidFill>
                <a:latin typeface="Arial"/>
              </a:rPr>
              <a:t>Reep5</a:t>
            </a:r>
            <a:r>
              <a:rPr sz="900" b="0" i="0">
                <a:solidFill>
                  <a:srgbClr val="8A969E"/>
                </a:solidFill>
                <a:latin typeface="Arial"/>
              </a:rPr>
              <a:t>, </a:t>
            </a:r>
            <a:r>
              <a:rPr sz="900" b="1" i="1">
                <a:solidFill>
                  <a:srgbClr val="2D6496"/>
                </a:solidFill>
                <a:latin typeface="Arial"/>
              </a:rPr>
              <a:t>Itgb5</a:t>
            </a:r>
          </a:p>
        </p:txBody>
      </p:sp>
      <p:sp>
        <p:nvSpPr>
          <p:cNvPr id="75" name="Rectangle 74"/>
          <p:cNvSpPr/>
          <p:nvPr/>
        </p:nvSpPr>
        <p:spPr>
          <a:xfrm>
            <a:off x="7498079" y="2867558"/>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525512" y="2876702"/>
            <a:ext cx="658368" cy="259689"/>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77" name="TextBox 76"/>
          <p:cNvSpPr txBox="1"/>
          <p:nvPr/>
        </p:nvSpPr>
        <p:spPr>
          <a:xfrm>
            <a:off x="8211312" y="2876702"/>
            <a:ext cx="713232" cy="259689"/>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78" name="TextBox 77"/>
          <p:cNvSpPr txBox="1"/>
          <p:nvPr/>
        </p:nvSpPr>
        <p:spPr>
          <a:xfrm>
            <a:off x="8961120" y="2876702"/>
            <a:ext cx="2770632" cy="259689"/>
          </a:xfrm>
          <a:prstGeom prst="rect">
            <a:avLst/>
          </a:prstGeom>
          <a:noFill/>
        </p:spPr>
        <p:txBody>
          <a:bodyPr wrap="square" lIns="0" rIns="0" tIns="0" bIns="0" anchor="ctr">
            <a:spAutoFit/>
          </a:bodyPr>
          <a:lstStyle/>
          <a:p>
            <a:pPr>
              <a:spcAft>
                <a:spcPts val="0"/>
              </a:spcAft>
            </a:pPr>
            <a:r>
              <a:rPr sz="900" b="1" i="1">
                <a:solidFill>
                  <a:srgbClr val="8063A6"/>
                </a:solidFill>
                <a:latin typeface="Arial"/>
              </a:rPr>
              <a:t>Bphl</a:t>
            </a:r>
          </a:p>
        </p:txBody>
      </p:sp>
      <p:sp>
        <p:nvSpPr>
          <p:cNvPr id="79" name="Rectangle 78"/>
          <p:cNvSpPr/>
          <p:nvPr/>
        </p:nvSpPr>
        <p:spPr>
          <a:xfrm>
            <a:off x="6181344" y="327355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236207" y="3337560"/>
            <a:ext cx="1243584" cy="530352"/>
          </a:xfrm>
          <a:prstGeom prst="rect">
            <a:avLst/>
          </a:prstGeom>
          <a:noFill/>
        </p:spPr>
        <p:txBody>
          <a:bodyPr wrap="square" lIns="0" rIns="0" tIns="0" bIns="0" anchor="t">
            <a:spAutoFit/>
          </a:bodyPr>
          <a:lstStyle/>
          <a:p>
            <a:pPr>
              <a:spcAft>
                <a:spcPts val="0"/>
              </a:spcAft>
            </a:pPr>
            <a:r>
              <a:rPr sz="1180" b="1" i="0">
                <a:solidFill>
                  <a:srgbClr val="082B55"/>
                </a:solidFill>
                <a:latin typeface="Arial"/>
              </a:rPr>
              <a:t>Soleus
</a:t>
            </a:r>
            <a:r>
              <a:rPr sz="900" b="0" i="0">
                <a:solidFill>
                  <a:srgbClr val="8A969E"/>
                </a:solidFill>
                <a:latin typeface="Arial"/>
              </a:rPr>
              <a:t>5 genes</a:t>
            </a:r>
          </a:p>
        </p:txBody>
      </p:sp>
      <p:sp>
        <p:nvSpPr>
          <p:cNvPr id="81" name="TextBox 80"/>
          <p:cNvSpPr txBox="1"/>
          <p:nvPr/>
        </p:nvSpPr>
        <p:spPr>
          <a:xfrm>
            <a:off x="7525512" y="3337560"/>
            <a:ext cx="658368" cy="242316"/>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82" name="TextBox 81"/>
          <p:cNvSpPr txBox="1"/>
          <p:nvPr/>
        </p:nvSpPr>
        <p:spPr>
          <a:xfrm>
            <a:off x="8211312" y="3337560"/>
            <a:ext cx="713232" cy="242316"/>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83" name="TextBox 82"/>
          <p:cNvSpPr txBox="1"/>
          <p:nvPr/>
        </p:nvSpPr>
        <p:spPr>
          <a:xfrm>
            <a:off x="8961120" y="3337560"/>
            <a:ext cx="2770632" cy="242316"/>
          </a:xfrm>
          <a:prstGeom prst="rect">
            <a:avLst/>
          </a:prstGeom>
          <a:noFill/>
        </p:spPr>
        <p:txBody>
          <a:bodyPr wrap="square" lIns="0" rIns="0" tIns="0" bIns="0" anchor="ctr">
            <a:spAutoFit/>
          </a:bodyPr>
          <a:lstStyle/>
          <a:p>
            <a:pPr>
              <a:spcAft>
                <a:spcPts val="0"/>
              </a:spcAft>
            </a:pPr>
            <a:r>
              <a:rPr sz="900" b="1" i="1">
                <a:solidFill>
                  <a:srgbClr val="D37B00"/>
                </a:solidFill>
                <a:latin typeface="Arial"/>
              </a:rPr>
              <a:t>Tpm1</a:t>
            </a:r>
          </a:p>
        </p:txBody>
      </p:sp>
      <p:sp>
        <p:nvSpPr>
          <p:cNvPr id="84" name="Rectangle 83"/>
          <p:cNvSpPr/>
          <p:nvPr/>
        </p:nvSpPr>
        <p:spPr>
          <a:xfrm>
            <a:off x="7498079" y="3589020"/>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7525512" y="3598164"/>
            <a:ext cx="658368" cy="242316"/>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86" name="TextBox 85"/>
          <p:cNvSpPr txBox="1"/>
          <p:nvPr/>
        </p:nvSpPr>
        <p:spPr>
          <a:xfrm>
            <a:off x="8211312" y="3598164"/>
            <a:ext cx="713232" cy="242316"/>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87" name="TextBox 86"/>
          <p:cNvSpPr txBox="1"/>
          <p:nvPr/>
        </p:nvSpPr>
        <p:spPr>
          <a:xfrm>
            <a:off x="8961120" y="3598164"/>
            <a:ext cx="2770632" cy="242316"/>
          </a:xfrm>
          <a:prstGeom prst="rect">
            <a:avLst/>
          </a:prstGeom>
          <a:noFill/>
        </p:spPr>
        <p:txBody>
          <a:bodyPr wrap="square" lIns="0" rIns="0" tIns="0" bIns="0" anchor="ctr">
            <a:spAutoFit/>
          </a:bodyPr>
          <a:lstStyle/>
          <a:p>
            <a:pPr>
              <a:spcAft>
                <a:spcPts val="0"/>
              </a:spcAft>
            </a:pPr>
            <a:r>
              <a:rPr sz="900" b="1" i="1">
                <a:solidFill>
                  <a:srgbClr val="478A64"/>
                </a:solidFill>
                <a:latin typeface="Arial"/>
              </a:rPr>
              <a:t>Bdh1</a:t>
            </a:r>
            <a:r>
              <a:rPr sz="900" b="0" i="0">
                <a:solidFill>
                  <a:srgbClr val="8A969E"/>
                </a:solidFill>
                <a:latin typeface="Arial"/>
              </a:rPr>
              <a:t>, </a:t>
            </a:r>
            <a:r>
              <a:rPr sz="900" b="1" i="1">
                <a:solidFill>
                  <a:srgbClr val="478A64"/>
                </a:solidFill>
                <a:latin typeface="Arial"/>
              </a:rPr>
              <a:t>Ech1</a:t>
            </a:r>
            <a:r>
              <a:rPr sz="900" b="0" i="0">
                <a:solidFill>
                  <a:srgbClr val="8A969E"/>
                </a:solidFill>
                <a:latin typeface="Arial"/>
              </a:rPr>
              <a:t>, </a:t>
            </a:r>
            <a:r>
              <a:rPr sz="900" b="1" i="1">
                <a:solidFill>
                  <a:srgbClr val="D37B00"/>
                </a:solidFill>
                <a:latin typeface="Arial"/>
              </a:rPr>
              <a:t>Bnip3</a:t>
            </a:r>
            <a:r>
              <a:rPr sz="900" b="0" i="0">
                <a:solidFill>
                  <a:srgbClr val="8A969E"/>
                </a:solidFill>
                <a:latin typeface="Arial"/>
              </a:rPr>
              <a:t>, </a:t>
            </a:r>
            <a:r>
              <a:rPr sz="900" b="1" i="1">
                <a:solidFill>
                  <a:srgbClr val="478A64"/>
                </a:solidFill>
                <a:latin typeface="Arial"/>
              </a:rPr>
              <a:t>Decr1</a:t>
            </a:r>
          </a:p>
        </p:txBody>
      </p:sp>
      <p:sp>
        <p:nvSpPr>
          <p:cNvPr id="88" name="Rectangle 87"/>
          <p:cNvSpPr/>
          <p:nvPr/>
        </p:nvSpPr>
        <p:spPr>
          <a:xfrm>
            <a:off x="6181344" y="3977639"/>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236207" y="4041648"/>
            <a:ext cx="1243584" cy="539496"/>
          </a:xfrm>
          <a:prstGeom prst="rect">
            <a:avLst/>
          </a:prstGeom>
          <a:noFill/>
        </p:spPr>
        <p:txBody>
          <a:bodyPr wrap="square" lIns="0" rIns="0" tIns="0" bIns="0" anchor="t">
            <a:spAutoFit/>
          </a:bodyPr>
          <a:lstStyle/>
          <a:p>
            <a:pPr>
              <a:spcAft>
                <a:spcPts val="0"/>
              </a:spcAft>
            </a:pPr>
            <a:r>
              <a:rPr sz="1080" b="1" i="0">
                <a:solidFill>
                  <a:srgbClr val="082B55"/>
                </a:solidFill>
                <a:latin typeface="Arial"/>
              </a:rPr>
              <a:t>Tibialis anterior
</a:t>
            </a:r>
            <a:r>
              <a:rPr sz="900" b="0" i="0">
                <a:solidFill>
                  <a:srgbClr val="8A969E"/>
                </a:solidFill>
                <a:latin typeface="Arial"/>
              </a:rPr>
              <a:t>4 genes</a:t>
            </a:r>
          </a:p>
        </p:txBody>
      </p:sp>
      <p:sp>
        <p:nvSpPr>
          <p:cNvPr id="90" name="TextBox 89"/>
          <p:cNvSpPr txBox="1"/>
          <p:nvPr/>
        </p:nvSpPr>
        <p:spPr>
          <a:xfrm>
            <a:off x="7525512" y="4041647"/>
            <a:ext cx="658368" cy="246887"/>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91" name="TextBox 90"/>
          <p:cNvSpPr txBox="1"/>
          <p:nvPr/>
        </p:nvSpPr>
        <p:spPr>
          <a:xfrm>
            <a:off x="8211312" y="4041647"/>
            <a:ext cx="713232" cy="246887"/>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92" name="TextBox 91"/>
          <p:cNvSpPr txBox="1"/>
          <p:nvPr/>
        </p:nvSpPr>
        <p:spPr>
          <a:xfrm>
            <a:off x="8961120" y="4041647"/>
            <a:ext cx="2770632" cy="246887"/>
          </a:xfrm>
          <a:prstGeom prst="rect">
            <a:avLst/>
          </a:prstGeom>
          <a:noFill/>
        </p:spPr>
        <p:txBody>
          <a:bodyPr wrap="square" lIns="0" rIns="0" tIns="0" bIns="0" anchor="ctr">
            <a:spAutoFit/>
          </a:bodyPr>
          <a:lstStyle/>
          <a:p>
            <a:pPr>
              <a:spcAft>
                <a:spcPts val="0"/>
              </a:spcAft>
            </a:pPr>
            <a:r>
              <a:rPr sz="900" b="1" i="1">
                <a:solidFill>
                  <a:srgbClr val="2D6496"/>
                </a:solidFill>
                <a:latin typeface="Arial"/>
              </a:rPr>
              <a:t>Cebpd</a:t>
            </a:r>
          </a:p>
        </p:txBody>
      </p:sp>
      <p:sp>
        <p:nvSpPr>
          <p:cNvPr id="93" name="Rectangle 92"/>
          <p:cNvSpPr/>
          <p:nvPr/>
        </p:nvSpPr>
        <p:spPr>
          <a:xfrm>
            <a:off x="7498079" y="4297679"/>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7525512" y="4306823"/>
            <a:ext cx="658368" cy="246887"/>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95" name="TextBox 94"/>
          <p:cNvSpPr txBox="1"/>
          <p:nvPr/>
        </p:nvSpPr>
        <p:spPr>
          <a:xfrm>
            <a:off x="8211312" y="4306823"/>
            <a:ext cx="713232" cy="246887"/>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96" name="TextBox 95"/>
          <p:cNvSpPr txBox="1"/>
          <p:nvPr/>
        </p:nvSpPr>
        <p:spPr>
          <a:xfrm>
            <a:off x="8961120" y="4306823"/>
            <a:ext cx="2770632" cy="246887"/>
          </a:xfrm>
          <a:prstGeom prst="rect">
            <a:avLst/>
          </a:prstGeom>
          <a:noFill/>
        </p:spPr>
        <p:txBody>
          <a:bodyPr wrap="square" lIns="0" rIns="0" tIns="0" bIns="0" anchor="ctr">
            <a:spAutoFit/>
          </a:bodyPr>
          <a:lstStyle/>
          <a:p>
            <a:pPr>
              <a:spcAft>
                <a:spcPts val="0"/>
              </a:spcAft>
            </a:pPr>
            <a:r>
              <a:rPr sz="900" b="1" i="1">
                <a:solidFill>
                  <a:srgbClr val="D37B00"/>
                </a:solidFill>
                <a:latin typeface="Arial"/>
              </a:rPr>
              <a:t>Cdkn1a</a:t>
            </a:r>
            <a:r>
              <a:rPr sz="900" b="0" i="0">
                <a:solidFill>
                  <a:srgbClr val="8A969E"/>
                </a:solidFill>
                <a:latin typeface="Arial"/>
              </a:rPr>
              <a:t>, </a:t>
            </a:r>
            <a:r>
              <a:rPr sz="900" b="1" i="1">
                <a:solidFill>
                  <a:srgbClr val="2D6496"/>
                </a:solidFill>
                <a:latin typeface="Arial"/>
              </a:rPr>
              <a:t>St3gal5</a:t>
            </a:r>
            <a:r>
              <a:rPr sz="900" b="0" i="0">
                <a:solidFill>
                  <a:srgbClr val="8A969E"/>
                </a:solidFill>
                <a:latin typeface="Arial"/>
              </a:rPr>
              <a:t>, </a:t>
            </a:r>
            <a:r>
              <a:rPr sz="900" b="1" i="1">
                <a:solidFill>
                  <a:srgbClr val="2D6496"/>
                </a:solidFill>
                <a:latin typeface="Arial"/>
              </a:rPr>
              <a:t>Bnip3</a:t>
            </a:r>
          </a:p>
        </p:txBody>
      </p:sp>
      <p:sp>
        <p:nvSpPr>
          <p:cNvPr id="97" name="Rectangle 96"/>
          <p:cNvSpPr/>
          <p:nvPr/>
        </p:nvSpPr>
        <p:spPr>
          <a:xfrm>
            <a:off x="6181344" y="469087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236207" y="4754880"/>
            <a:ext cx="1243584" cy="466344"/>
          </a:xfrm>
          <a:prstGeom prst="rect">
            <a:avLst/>
          </a:prstGeom>
          <a:noFill/>
        </p:spPr>
        <p:txBody>
          <a:bodyPr wrap="square" lIns="0" rIns="0" tIns="0" bIns="0" anchor="t">
            <a:spAutoFit/>
          </a:bodyPr>
          <a:lstStyle/>
          <a:p>
            <a:pPr>
              <a:spcAft>
                <a:spcPts val="0"/>
              </a:spcAft>
            </a:pPr>
            <a:r>
              <a:rPr sz="1080" b="1" i="0">
                <a:solidFill>
                  <a:srgbClr val="082B55"/>
                </a:solidFill>
                <a:latin typeface="Arial"/>
              </a:rPr>
              <a:t>Adrenal gland
</a:t>
            </a:r>
            <a:r>
              <a:rPr sz="900" b="0" i="0">
                <a:solidFill>
                  <a:srgbClr val="8A969E"/>
                </a:solidFill>
                <a:latin typeface="Arial"/>
              </a:rPr>
              <a:t>2 genes</a:t>
            </a:r>
          </a:p>
        </p:txBody>
      </p:sp>
      <p:sp>
        <p:nvSpPr>
          <p:cNvPr id="99" name="TextBox 98"/>
          <p:cNvSpPr txBox="1"/>
          <p:nvPr/>
        </p:nvSpPr>
        <p:spPr>
          <a:xfrm>
            <a:off x="7525512" y="4754879"/>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100" name="TextBox 99"/>
          <p:cNvSpPr txBox="1"/>
          <p:nvPr/>
        </p:nvSpPr>
        <p:spPr>
          <a:xfrm>
            <a:off x="8211312" y="4754879"/>
            <a:ext cx="713232" cy="210312"/>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101" name="TextBox 100"/>
          <p:cNvSpPr txBox="1"/>
          <p:nvPr/>
        </p:nvSpPr>
        <p:spPr>
          <a:xfrm>
            <a:off x="8961120" y="4754879"/>
            <a:ext cx="2770632" cy="210312"/>
          </a:xfrm>
          <a:prstGeom prst="rect">
            <a:avLst/>
          </a:prstGeom>
          <a:noFill/>
        </p:spPr>
        <p:txBody>
          <a:bodyPr wrap="square" lIns="0" rIns="0" tIns="0" bIns="0" anchor="ctr">
            <a:spAutoFit/>
          </a:bodyPr>
          <a:lstStyle/>
          <a:p>
            <a:pPr>
              <a:spcAft>
                <a:spcPts val="0"/>
              </a:spcAft>
            </a:pPr>
            <a:r>
              <a:rPr sz="900" b="1" i="1">
                <a:solidFill>
                  <a:srgbClr val="8063A6"/>
                </a:solidFill>
                <a:latin typeface="Arial"/>
              </a:rPr>
              <a:t>Psmb8</a:t>
            </a:r>
          </a:p>
        </p:txBody>
      </p:sp>
      <p:sp>
        <p:nvSpPr>
          <p:cNvPr id="102" name="Rectangle 101"/>
          <p:cNvSpPr/>
          <p:nvPr/>
        </p:nvSpPr>
        <p:spPr>
          <a:xfrm>
            <a:off x="7498079" y="4974336"/>
            <a:ext cx="4251960" cy="9144"/>
          </a:xfrm>
          <a:prstGeom prst="rect">
            <a:avLst/>
          </a:prstGeom>
          <a:solidFill>
            <a:srgbClr val="E2E7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7525512" y="4983479"/>
            <a:ext cx="658368" cy="210312"/>
          </a:xfrm>
          <a:prstGeom prst="rect">
            <a:avLst/>
          </a:prstGeom>
          <a:noFill/>
        </p:spPr>
        <p:txBody>
          <a:bodyPr wrap="square" lIns="0" rIns="0" tIns="0" bIns="0" anchor="ctr">
            <a:spAutoFit/>
          </a:bodyPr>
          <a:lstStyle/>
          <a:p>
            <a:pPr algn="l">
              <a:spcAft>
                <a:spcPts val="0"/>
              </a:spcAft>
            </a:pPr>
            <a:r>
              <a:rPr sz="800" b="1" i="0">
                <a:solidFill>
                  <a:srgbClr val="178681"/>
                </a:solidFill>
                <a:latin typeface="Arial"/>
              </a:rPr>
              <a:t>FLT lower</a:t>
            </a:r>
          </a:p>
        </p:txBody>
      </p:sp>
      <p:sp>
        <p:nvSpPr>
          <p:cNvPr id="104" name="TextBox 103"/>
          <p:cNvSpPr txBox="1"/>
          <p:nvPr/>
        </p:nvSpPr>
        <p:spPr>
          <a:xfrm>
            <a:off x="8211312" y="4983479"/>
            <a:ext cx="713232" cy="210312"/>
          </a:xfrm>
          <a:prstGeom prst="rect">
            <a:avLst/>
          </a:prstGeom>
          <a:noFill/>
        </p:spPr>
        <p:txBody>
          <a:bodyPr wrap="square" lIns="0" rIns="0" tIns="0" bIns="0" anchor="ctr">
            <a:spAutoFit/>
          </a:bodyPr>
          <a:lstStyle/>
          <a:p>
            <a:pPr algn="l">
              <a:spcAft>
                <a:spcPts val="0"/>
              </a:spcAft>
            </a:pPr>
            <a:r>
              <a:rPr sz="790" b="1" i="0">
                <a:solidFill>
                  <a:srgbClr val="178681"/>
                </a:solidFill>
                <a:latin typeface="Arial"/>
              </a:rPr>
              <a:t>Reinforced</a:t>
            </a:r>
          </a:p>
        </p:txBody>
      </p:sp>
      <p:sp>
        <p:nvSpPr>
          <p:cNvPr id="105" name="TextBox 104"/>
          <p:cNvSpPr txBox="1"/>
          <p:nvPr/>
        </p:nvSpPr>
        <p:spPr>
          <a:xfrm>
            <a:off x="8961120" y="4983479"/>
            <a:ext cx="2770632" cy="210312"/>
          </a:xfrm>
          <a:prstGeom prst="rect">
            <a:avLst/>
          </a:prstGeom>
          <a:noFill/>
        </p:spPr>
        <p:txBody>
          <a:bodyPr wrap="square" lIns="0" rIns="0" tIns="0" bIns="0" anchor="ctr">
            <a:spAutoFit/>
          </a:bodyPr>
          <a:lstStyle/>
          <a:p>
            <a:pPr>
              <a:spcAft>
                <a:spcPts val="0"/>
              </a:spcAft>
            </a:pPr>
            <a:r>
              <a:rPr sz="900" b="1" i="1">
                <a:solidFill>
                  <a:srgbClr val="8063A6"/>
                </a:solidFill>
                <a:latin typeface="Arial"/>
              </a:rPr>
              <a:t>Tspan4</a:t>
            </a:r>
          </a:p>
        </p:txBody>
      </p:sp>
      <p:sp>
        <p:nvSpPr>
          <p:cNvPr id="106" name="Rectangle 105"/>
          <p:cNvSpPr/>
          <p:nvPr/>
        </p:nvSpPr>
        <p:spPr>
          <a:xfrm>
            <a:off x="6181344" y="5330952"/>
            <a:ext cx="5623560" cy="16459"/>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6236207" y="5394960"/>
            <a:ext cx="1243584" cy="411480"/>
          </a:xfrm>
          <a:prstGeom prst="rect">
            <a:avLst/>
          </a:prstGeom>
          <a:noFill/>
        </p:spPr>
        <p:txBody>
          <a:bodyPr wrap="square" lIns="0" rIns="0" tIns="0" bIns="0" anchor="t">
            <a:spAutoFit/>
          </a:bodyPr>
          <a:lstStyle/>
          <a:p>
            <a:pPr>
              <a:spcAft>
                <a:spcPts val="0"/>
              </a:spcAft>
            </a:pPr>
            <a:r>
              <a:rPr sz="1180" b="1" i="0">
                <a:solidFill>
                  <a:srgbClr val="082B55"/>
                </a:solidFill>
                <a:latin typeface="Arial"/>
              </a:rPr>
              <a:t>Skin
</a:t>
            </a:r>
            <a:r>
              <a:rPr sz="900" b="0" i="0">
                <a:solidFill>
                  <a:srgbClr val="8A969E"/>
                </a:solidFill>
                <a:latin typeface="Arial"/>
              </a:rPr>
              <a:t>1 gene</a:t>
            </a:r>
          </a:p>
        </p:txBody>
      </p:sp>
      <p:sp>
        <p:nvSpPr>
          <p:cNvPr id="108" name="TextBox 107"/>
          <p:cNvSpPr txBox="1"/>
          <p:nvPr/>
        </p:nvSpPr>
        <p:spPr>
          <a:xfrm>
            <a:off x="7525512" y="5394959"/>
            <a:ext cx="658368" cy="384048"/>
          </a:xfrm>
          <a:prstGeom prst="rect">
            <a:avLst/>
          </a:prstGeom>
          <a:noFill/>
        </p:spPr>
        <p:txBody>
          <a:bodyPr wrap="square" lIns="0" rIns="0" tIns="0" bIns="0" anchor="ctr">
            <a:spAutoFit/>
          </a:bodyPr>
          <a:lstStyle/>
          <a:p>
            <a:pPr algn="l">
              <a:spcAft>
                <a:spcPts val="0"/>
              </a:spcAft>
            </a:pPr>
            <a:r>
              <a:rPr sz="800" b="1" i="0">
                <a:solidFill>
                  <a:srgbClr val="D96552"/>
                </a:solidFill>
                <a:latin typeface="Arial"/>
              </a:rPr>
              <a:t>FLT higher</a:t>
            </a:r>
          </a:p>
        </p:txBody>
      </p:sp>
      <p:sp>
        <p:nvSpPr>
          <p:cNvPr id="109" name="TextBox 108"/>
          <p:cNvSpPr txBox="1"/>
          <p:nvPr/>
        </p:nvSpPr>
        <p:spPr>
          <a:xfrm>
            <a:off x="8211312" y="5394959"/>
            <a:ext cx="713232" cy="384048"/>
          </a:xfrm>
          <a:prstGeom prst="rect">
            <a:avLst/>
          </a:prstGeom>
          <a:noFill/>
        </p:spPr>
        <p:txBody>
          <a:bodyPr wrap="square" lIns="0" rIns="0" tIns="0" bIns="0" anchor="ctr">
            <a:spAutoFit/>
          </a:bodyPr>
          <a:lstStyle/>
          <a:p>
            <a:pPr algn="l">
              <a:spcAft>
                <a:spcPts val="0"/>
              </a:spcAft>
            </a:pPr>
            <a:r>
              <a:rPr sz="790" b="1" i="0">
                <a:solidFill>
                  <a:srgbClr val="D96552"/>
                </a:solidFill>
                <a:latin typeface="Arial"/>
              </a:rPr>
              <a:t>Promoted</a:t>
            </a:r>
          </a:p>
        </p:txBody>
      </p:sp>
      <p:sp>
        <p:nvSpPr>
          <p:cNvPr id="110" name="TextBox 109"/>
          <p:cNvSpPr txBox="1"/>
          <p:nvPr/>
        </p:nvSpPr>
        <p:spPr>
          <a:xfrm>
            <a:off x="8961120" y="5394959"/>
            <a:ext cx="2770632" cy="384048"/>
          </a:xfrm>
          <a:prstGeom prst="rect">
            <a:avLst/>
          </a:prstGeom>
          <a:noFill/>
        </p:spPr>
        <p:txBody>
          <a:bodyPr wrap="square" lIns="0" rIns="0" tIns="0" bIns="0" anchor="ctr">
            <a:spAutoFit/>
          </a:bodyPr>
          <a:lstStyle/>
          <a:p>
            <a:pPr>
              <a:spcAft>
                <a:spcPts val="0"/>
              </a:spcAft>
            </a:pPr>
            <a:r>
              <a:rPr sz="900" b="1" i="1">
                <a:solidFill>
                  <a:srgbClr val="2D6496"/>
                </a:solidFill>
                <a:latin typeface="Arial"/>
              </a:rPr>
              <a:t>Plscr1</a:t>
            </a:r>
          </a:p>
        </p:txBody>
      </p:sp>
      <p:sp>
        <p:nvSpPr>
          <p:cNvPr id="111" name="TextBox 11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Secondary consensus set: rows report FLT direction and selection status; gene color independently reports literature interpretation.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THYMUS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Thymus is strongest across both analyses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Matched importance supports synthetic contribution; consensus ranking expands the correlated cell-cycle panel.</a:t>
            </a:r>
          </a:p>
        </p:txBody>
      </p:sp>
      <p:pic>
        <p:nvPicPr>
          <p:cNvPr id="7" name="Thymus gene effects and Reactome processes" descr="Thymus gene effects and Reactome processes"/>
          <p:cNvPicPr>
            <a:picLocks noChangeAspect="1"/>
          </p:cNvPicPr>
          <p:nvPr/>
        </p:nvPicPr>
        <p:blipFill>
          <a:blip r:embed="rId2"/>
          <a:stretch>
            <a:fillRect/>
          </a:stretch>
        </p:blipFill>
        <p:spPr>
          <a:xfrm>
            <a:off x="320040" y="1895403"/>
            <a:ext cx="7818120" cy="4109608"/>
          </a:xfrm>
          <a:prstGeom prst="rect">
            <a:avLst/>
          </a:prstGeom>
        </p:spPr>
      </p:pic>
      <p:sp>
        <p:nvSpPr>
          <p:cNvPr id="8" name="Rectangle 7"/>
          <p:cNvSpPr/>
          <p:nvPr/>
        </p:nvSpPr>
        <p:spPr>
          <a:xfrm>
            <a:off x="8321040" y="1847088"/>
            <a:ext cx="3493008" cy="4178808"/>
          </a:xfrm>
          <a:prstGeom prst="rect">
            <a:avLst/>
          </a:prstGeom>
          <a:solidFill>
            <a:srgbClr val="F8ECE9"/>
          </a:solidFill>
          <a:ln w="10160">
            <a:solidFill>
              <a:srgbClr val="E8C9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22792" y="2075688"/>
            <a:ext cx="2697480" cy="210312"/>
          </a:xfrm>
          <a:prstGeom prst="rect">
            <a:avLst/>
          </a:prstGeom>
          <a:noFill/>
        </p:spPr>
        <p:txBody>
          <a:bodyPr wrap="square" lIns="0" rIns="0" tIns="0" bIns="0" anchor="t">
            <a:spAutoFit/>
          </a:bodyPr>
          <a:lstStyle/>
          <a:p>
            <a:pPr algn="l">
              <a:spcAft>
                <a:spcPts val="0"/>
              </a:spcAft>
            </a:pPr>
            <a:r>
              <a:rPr sz="950" b="1" i="0">
                <a:solidFill>
                  <a:srgbClr val="D96552"/>
                </a:solidFill>
                <a:latin typeface="Arial"/>
              </a:rPr>
              <a:t>MATCHED ALL-GENE</a:t>
            </a:r>
          </a:p>
        </p:txBody>
      </p:sp>
      <p:sp>
        <p:nvSpPr>
          <p:cNvPr id="10" name="TextBox 9"/>
          <p:cNvSpPr txBox="1"/>
          <p:nvPr/>
        </p:nvSpPr>
        <p:spPr>
          <a:xfrm>
            <a:off x="8622792" y="2340864"/>
            <a:ext cx="1005840" cy="594360"/>
          </a:xfrm>
          <a:prstGeom prst="rect">
            <a:avLst/>
          </a:prstGeom>
          <a:noFill/>
        </p:spPr>
        <p:txBody>
          <a:bodyPr wrap="square" lIns="18288" rIns="18288" tIns="18288" bIns="18288" anchor="t">
            <a:spAutoFit/>
          </a:bodyPr>
          <a:lstStyle/>
          <a:p>
            <a:pPr algn="l">
              <a:spcAft>
                <a:spcPts val="0"/>
              </a:spcAft>
            </a:pPr>
            <a:r>
              <a:rPr sz="3500" b="1" i="0">
                <a:solidFill>
                  <a:srgbClr val="D96552"/>
                </a:solidFill>
                <a:latin typeface="Arial"/>
              </a:rPr>
              <a:t>15</a:t>
            </a:r>
          </a:p>
        </p:txBody>
      </p:sp>
      <p:sp>
        <p:nvSpPr>
          <p:cNvPr id="11" name="TextBox 10"/>
          <p:cNvSpPr txBox="1"/>
          <p:nvPr/>
        </p:nvSpPr>
        <p:spPr>
          <a:xfrm>
            <a:off x="9491472" y="2359152"/>
            <a:ext cx="1938528" cy="566928"/>
          </a:xfrm>
          <a:prstGeom prst="rect">
            <a:avLst/>
          </a:prstGeom>
          <a:noFill/>
        </p:spPr>
        <p:txBody>
          <a:bodyPr wrap="square" lIns="18288" rIns="18288" tIns="18288" bIns="18288" anchor="t">
            <a:spAutoFit/>
          </a:bodyPr>
          <a:lstStyle/>
          <a:p>
            <a:pPr algn="l">
              <a:spcAft>
                <a:spcPts val="0"/>
              </a:spcAft>
            </a:pPr>
            <a:r>
              <a:rPr sz="1270" b="1" i="0">
                <a:solidFill>
                  <a:srgbClr val="263746"/>
                </a:solidFill>
                <a:latin typeface="Arial"/>
              </a:rPr>
              <a:t>BH-FDR genes with
synthetic-supported importance</a:t>
            </a:r>
          </a:p>
        </p:txBody>
      </p:sp>
      <p:sp>
        <p:nvSpPr>
          <p:cNvPr id="12" name="TextBox 11"/>
          <p:cNvSpPr txBox="1"/>
          <p:nvPr/>
        </p:nvSpPr>
        <p:spPr>
          <a:xfrm>
            <a:off x="8631936" y="3054096"/>
            <a:ext cx="2788920" cy="274320"/>
          </a:xfrm>
          <a:prstGeom prst="rect">
            <a:avLst/>
          </a:prstGeom>
          <a:noFill/>
        </p:spPr>
        <p:txBody>
          <a:bodyPr wrap="square" lIns="18288" rIns="18288" tIns="18288" bIns="18288" anchor="t">
            <a:spAutoFit/>
          </a:bodyPr>
          <a:lstStyle/>
          <a:p>
            <a:pPr algn="l">
              <a:spcAft>
                <a:spcPts val="0"/>
              </a:spcAft>
            </a:pPr>
            <a:r>
              <a:rPr sz="1400" b="1" i="0">
                <a:solidFill>
                  <a:srgbClr val="178681"/>
                </a:solidFill>
                <a:latin typeface="Arial"/>
              </a:rPr>
              <a:t>7 promoted | 8 shared</a:t>
            </a:r>
          </a:p>
        </p:txBody>
      </p:sp>
      <p:sp>
        <p:nvSpPr>
          <p:cNvPr id="13" name="Oval 12"/>
          <p:cNvSpPr/>
          <p:nvPr/>
        </p:nvSpPr>
        <p:spPr>
          <a:xfrm>
            <a:off x="8631936" y="3538728"/>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14815" y="3447288"/>
            <a:ext cx="2587751" cy="557784"/>
          </a:xfrm>
          <a:prstGeom prst="rect">
            <a:avLst/>
          </a:prstGeom>
          <a:noFill/>
        </p:spPr>
        <p:txBody>
          <a:bodyPr wrap="square" lIns="0" rIns="0" tIns="0" bIns="0" anchor="t">
            <a:spAutoFit/>
          </a:bodyPr>
          <a:lstStyle/>
          <a:p>
            <a:pPr algn="l">
              <a:spcAft>
                <a:spcPts val="0"/>
              </a:spcAft>
            </a:pPr>
            <a:r>
              <a:rPr sz="1180" b="0" i="0">
                <a:solidFill>
                  <a:srgbClr val="263746"/>
                </a:solidFill>
                <a:latin typeface="Arial"/>
              </a:rPr>
              <a:t>26 significant Reactome terms; mitotic cell cycle leads</a:t>
            </a:r>
          </a:p>
        </p:txBody>
      </p:sp>
      <p:sp>
        <p:nvSpPr>
          <p:cNvPr id="15" name="Oval 14"/>
          <p:cNvSpPr/>
          <p:nvPr/>
        </p:nvSpPr>
        <p:spPr>
          <a:xfrm>
            <a:off x="8631936" y="4096511"/>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14815" y="4005072"/>
            <a:ext cx="2587751" cy="557784"/>
          </a:xfrm>
          <a:prstGeom prst="rect">
            <a:avLst/>
          </a:prstGeom>
          <a:noFill/>
        </p:spPr>
        <p:txBody>
          <a:bodyPr wrap="square" lIns="0" rIns="0" tIns="0" bIns="0" anchor="t">
            <a:spAutoFit/>
          </a:bodyPr>
          <a:lstStyle/>
          <a:p>
            <a:pPr algn="l">
              <a:spcAft>
                <a:spcPts val="0"/>
              </a:spcAft>
            </a:pPr>
            <a:r>
              <a:rPr sz="1180" b="0" i="0">
                <a:solidFill>
                  <a:srgbClr val="263746"/>
                </a:solidFill>
                <a:latin typeface="Arial"/>
              </a:rPr>
              <a:t>Nine genes overlap the 16-gene consensus panel</a:t>
            </a:r>
          </a:p>
        </p:txBody>
      </p:sp>
      <p:sp>
        <p:nvSpPr>
          <p:cNvPr id="17" name="Oval 16"/>
          <p:cNvSpPr/>
          <p:nvPr/>
        </p:nvSpPr>
        <p:spPr>
          <a:xfrm>
            <a:off x="8631936" y="4654296"/>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14815" y="4562856"/>
            <a:ext cx="2587751" cy="557784"/>
          </a:xfrm>
          <a:prstGeom prst="rect">
            <a:avLst/>
          </a:prstGeom>
          <a:noFill/>
        </p:spPr>
        <p:txBody>
          <a:bodyPr wrap="square" lIns="0" rIns="0" tIns="0" bIns="0" anchor="t">
            <a:spAutoFit/>
          </a:bodyPr>
          <a:lstStyle/>
          <a:p>
            <a:pPr algn="l">
              <a:spcAft>
                <a:spcPts val="0"/>
              </a:spcAft>
            </a:pPr>
            <a:r>
              <a:rPr sz="1180" b="0" i="0">
                <a:solidFill>
                  <a:srgbClr val="263746"/>
                </a:solidFill>
                <a:latin typeface="Arial"/>
              </a:rPr>
              <a:t>Consensus adds correlated Cdk1, Top2a, Aurka, Ccne2, Pcna and Ccnf</a:t>
            </a:r>
          </a:p>
        </p:txBody>
      </p:sp>
      <p:sp>
        <p:nvSpPr>
          <p:cNvPr id="19" name="Oval 18"/>
          <p:cNvSpPr/>
          <p:nvPr/>
        </p:nvSpPr>
        <p:spPr>
          <a:xfrm>
            <a:off x="8631936" y="5212079"/>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14815" y="5120640"/>
            <a:ext cx="2587751" cy="557784"/>
          </a:xfrm>
          <a:prstGeom prst="rect">
            <a:avLst/>
          </a:prstGeom>
          <a:noFill/>
        </p:spPr>
        <p:txBody>
          <a:bodyPr wrap="square" lIns="0" rIns="0" tIns="0" bIns="0" anchor="t">
            <a:spAutoFit/>
          </a:bodyPr>
          <a:lstStyle/>
          <a:p>
            <a:pPr algn="l">
              <a:spcAft>
                <a:spcPts val="0"/>
              </a:spcAft>
            </a:pPr>
            <a:r>
              <a:rPr sz="1180" b="0" i="0">
                <a:solidFill>
                  <a:srgbClr val="263746"/>
                </a:solidFill>
                <a:latin typeface="Arial"/>
              </a:rPr>
              <a:t>Lower mitotic renewal or fewer cycling thymocytes in flight</a:t>
            </a:r>
          </a:p>
        </p:txBody>
      </p:sp>
      <p:sp>
        <p:nvSpPr>
          <p:cNvPr id="21" name="TextBox 2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Figure shows the secondary consensus panel; matched genes and Reactome crosswalk are in Tables S19-S20. Context: Gridley et al. (2013); Horie et al. (2019).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SOLEUS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Soleus is a coherent secondary consensus result</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five-gene program is biologically interpretable, but the matched all-gene gate did not pass.</a:t>
            </a:r>
          </a:p>
        </p:txBody>
      </p:sp>
      <p:pic>
        <p:nvPicPr>
          <p:cNvPr id="7" name="Soleus gene effects and Reactome processes" descr="Soleus gene effects and Reactome processes"/>
          <p:cNvPicPr>
            <a:picLocks noChangeAspect="1"/>
          </p:cNvPicPr>
          <p:nvPr/>
        </p:nvPicPr>
        <p:blipFill>
          <a:blip r:embed="rId2"/>
          <a:stretch>
            <a:fillRect/>
          </a:stretch>
        </p:blipFill>
        <p:spPr>
          <a:xfrm>
            <a:off x="310896" y="1984025"/>
            <a:ext cx="8366760" cy="3914076"/>
          </a:xfrm>
          <a:prstGeom prst="rect">
            <a:avLst/>
          </a:prstGeom>
        </p:spPr>
      </p:pic>
      <p:sp>
        <p:nvSpPr>
          <p:cNvPr id="8" name="Rectangle 7"/>
          <p:cNvSpPr/>
          <p:nvPr/>
        </p:nvSpPr>
        <p:spPr>
          <a:xfrm>
            <a:off x="8805672" y="1865376"/>
            <a:ext cx="2971800" cy="4133087"/>
          </a:xfrm>
          <a:prstGeom prst="rect">
            <a:avLst/>
          </a:prstGeom>
          <a:solidFill>
            <a:srgbClr val="E8F3F1"/>
          </a:solidFill>
          <a:ln w="10160">
            <a:solidFill>
              <a:srgbClr val="C7DD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25128" y="2103120"/>
            <a:ext cx="2532888" cy="566928"/>
          </a:xfrm>
          <a:prstGeom prst="rect">
            <a:avLst/>
          </a:prstGeom>
          <a:noFill/>
        </p:spPr>
        <p:txBody>
          <a:bodyPr wrap="square" lIns="18288" rIns="18288" tIns="18288" bIns="18288" anchor="t">
            <a:spAutoFit/>
          </a:bodyPr>
          <a:lstStyle/>
          <a:p>
            <a:pPr algn="ctr">
              <a:spcAft>
                <a:spcPts val="0"/>
              </a:spcAft>
            </a:pPr>
            <a:r>
              <a:rPr sz="1700" b="1" i="0">
                <a:solidFill>
                  <a:srgbClr val="178681"/>
                </a:solidFill>
                <a:latin typeface="Arial"/>
              </a:rPr>
              <a:t>5-gene consensus panel</a:t>
            </a:r>
          </a:p>
        </p:txBody>
      </p:sp>
      <p:sp>
        <p:nvSpPr>
          <p:cNvPr id="10" name="TextBox 9"/>
          <p:cNvSpPr txBox="1"/>
          <p:nvPr/>
        </p:nvSpPr>
        <p:spPr>
          <a:xfrm>
            <a:off x="9052560" y="2706624"/>
            <a:ext cx="2468880" cy="329184"/>
          </a:xfrm>
          <a:prstGeom prst="rect">
            <a:avLst/>
          </a:prstGeom>
          <a:noFill/>
        </p:spPr>
        <p:txBody>
          <a:bodyPr wrap="square" lIns="18288" rIns="18288" tIns="18288" bIns="18288" anchor="t">
            <a:spAutoFit/>
          </a:bodyPr>
          <a:lstStyle/>
          <a:p>
            <a:pPr algn="ctr">
              <a:spcAft>
                <a:spcPts val="0"/>
              </a:spcAft>
            </a:pPr>
            <a:r>
              <a:rPr sz="1080" b="0" i="0">
                <a:solidFill>
                  <a:srgbClr val="59697A"/>
                </a:solidFill>
                <a:latin typeface="Arial"/>
              </a:rPr>
              <a:t>reinforced in real and consensus rankings</a:t>
            </a:r>
          </a:p>
        </p:txBody>
      </p:sp>
      <p:sp>
        <p:nvSpPr>
          <p:cNvPr id="11" name="Rectangle 10"/>
          <p:cNvSpPr/>
          <p:nvPr/>
        </p:nvSpPr>
        <p:spPr>
          <a:xfrm>
            <a:off x="9070848" y="3099816"/>
            <a:ext cx="2423160" cy="676656"/>
          </a:xfrm>
          <a:prstGeom prst="rect">
            <a:avLst/>
          </a:prstGeom>
          <a:solidFill>
            <a:srgbClr val="FFFFFF"/>
          </a:solidFill>
          <a:ln w="10160">
            <a:solidFill>
              <a:srgbClr val="D965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235440" y="3200400"/>
            <a:ext cx="2103120" cy="228600"/>
          </a:xfrm>
          <a:prstGeom prst="rect">
            <a:avLst/>
          </a:prstGeom>
          <a:noFill/>
        </p:spPr>
        <p:txBody>
          <a:bodyPr wrap="square" lIns="0" rIns="0" tIns="0" bIns="0" anchor="t">
            <a:spAutoFit/>
          </a:bodyPr>
          <a:lstStyle/>
          <a:p>
            <a:pPr algn="ctr">
              <a:spcAft>
                <a:spcPts val="0"/>
              </a:spcAft>
            </a:pPr>
            <a:r>
              <a:rPr sz="1220" b="1" i="0">
                <a:solidFill>
                  <a:srgbClr val="D96552"/>
                </a:solidFill>
                <a:latin typeface="Arial"/>
              </a:rPr>
              <a:t>Matched gate not passed</a:t>
            </a:r>
          </a:p>
        </p:txBody>
      </p:sp>
      <p:sp>
        <p:nvSpPr>
          <p:cNvPr id="13" name="TextBox 12"/>
          <p:cNvSpPr txBox="1"/>
          <p:nvPr/>
        </p:nvSpPr>
        <p:spPr>
          <a:xfrm>
            <a:off x="9171432" y="3465576"/>
            <a:ext cx="2231136" cy="182880"/>
          </a:xfrm>
          <a:prstGeom prst="rect">
            <a:avLst/>
          </a:prstGeom>
          <a:noFill/>
        </p:spPr>
        <p:txBody>
          <a:bodyPr wrap="square" lIns="0" rIns="0" tIns="0" bIns="0" anchor="t">
            <a:spAutoFit/>
          </a:bodyPr>
          <a:lstStyle/>
          <a:p>
            <a:pPr algn="ctr">
              <a:spcAft>
                <a:spcPts val="0"/>
              </a:spcAft>
            </a:pPr>
            <a:r>
              <a:rPr sz="850" b="0" i="0">
                <a:solidFill>
                  <a:srgbClr val="263746"/>
                </a:solidFill>
                <a:latin typeface="Arial"/>
              </a:rPr>
              <a:t>BA +0.013 | AUROC -0.015 | AP -0.009</a:t>
            </a:r>
          </a:p>
        </p:txBody>
      </p:sp>
      <p:sp>
        <p:nvSpPr>
          <p:cNvPr id="14" name="Oval 13"/>
          <p:cNvSpPr/>
          <p:nvPr/>
        </p:nvSpPr>
        <p:spPr>
          <a:xfrm>
            <a:off x="9089136" y="4032503"/>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72015" y="3941063"/>
            <a:ext cx="2139696" cy="475488"/>
          </a:xfrm>
          <a:prstGeom prst="rect">
            <a:avLst/>
          </a:prstGeom>
          <a:noFill/>
        </p:spPr>
        <p:txBody>
          <a:bodyPr wrap="square" lIns="0" rIns="0" tIns="0" bIns="0" anchor="t">
            <a:spAutoFit/>
          </a:bodyPr>
          <a:lstStyle/>
          <a:p>
            <a:pPr algn="l">
              <a:spcAft>
                <a:spcPts val="0"/>
              </a:spcAft>
            </a:pPr>
            <a:r>
              <a:rPr sz="1170" b="0" i="0">
                <a:solidFill>
                  <a:srgbClr val="263746"/>
                </a:solidFill>
                <a:latin typeface="Arial"/>
              </a:rPr>
              <a:t>Lower Bdh1, Ech1, Bnip3 and Decr1</a:t>
            </a:r>
          </a:p>
        </p:txBody>
      </p:sp>
      <p:sp>
        <p:nvSpPr>
          <p:cNvPr id="16" name="Oval 15"/>
          <p:cNvSpPr/>
          <p:nvPr/>
        </p:nvSpPr>
        <p:spPr>
          <a:xfrm>
            <a:off x="9089136" y="4507992"/>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72015" y="4416552"/>
            <a:ext cx="2139696" cy="475488"/>
          </a:xfrm>
          <a:prstGeom prst="rect">
            <a:avLst/>
          </a:prstGeom>
          <a:noFill/>
        </p:spPr>
        <p:txBody>
          <a:bodyPr wrap="square" lIns="0" rIns="0" tIns="0" bIns="0" anchor="t">
            <a:spAutoFit/>
          </a:bodyPr>
          <a:lstStyle/>
          <a:p>
            <a:pPr algn="l">
              <a:spcAft>
                <a:spcPts val="0"/>
              </a:spcAft>
            </a:pPr>
            <a:r>
              <a:rPr sz="1170" b="0" i="0">
                <a:solidFill>
                  <a:srgbClr val="263746"/>
                </a:solidFill>
                <a:latin typeface="Arial"/>
              </a:rPr>
              <a:t>Higher Tpm1</a:t>
            </a:r>
          </a:p>
        </p:txBody>
      </p:sp>
      <p:sp>
        <p:nvSpPr>
          <p:cNvPr id="18" name="Oval 17"/>
          <p:cNvSpPr/>
          <p:nvPr/>
        </p:nvSpPr>
        <p:spPr>
          <a:xfrm>
            <a:off x="9089136" y="4983479"/>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72015" y="4892040"/>
            <a:ext cx="2139696" cy="475488"/>
          </a:xfrm>
          <a:prstGeom prst="rect">
            <a:avLst/>
          </a:prstGeom>
          <a:noFill/>
        </p:spPr>
        <p:txBody>
          <a:bodyPr wrap="square" lIns="0" rIns="0" tIns="0" bIns="0" anchor="t">
            <a:spAutoFit/>
          </a:bodyPr>
          <a:lstStyle/>
          <a:p>
            <a:pPr algn="l">
              <a:spcAft>
                <a:spcPts val="0"/>
              </a:spcAft>
            </a:pPr>
            <a:r>
              <a:rPr sz="1170" b="0" i="0">
                <a:solidFill>
                  <a:srgbClr val="263746"/>
                </a:solidFill>
                <a:latin typeface="Arial"/>
              </a:rPr>
              <a:t>Mitochondrial turnover and fatty-acid metabolism</a:t>
            </a:r>
          </a:p>
        </p:txBody>
      </p:sp>
      <p:sp>
        <p:nvSpPr>
          <p:cNvPr id="20" name="Oval 19"/>
          <p:cNvSpPr/>
          <p:nvPr/>
        </p:nvSpPr>
        <p:spPr>
          <a:xfrm>
            <a:off x="9089136" y="5458967"/>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72015" y="5367527"/>
            <a:ext cx="2139696" cy="475488"/>
          </a:xfrm>
          <a:prstGeom prst="rect">
            <a:avLst/>
          </a:prstGeom>
          <a:noFill/>
        </p:spPr>
        <p:txBody>
          <a:bodyPr wrap="square" lIns="0" rIns="0" tIns="0" bIns="0" anchor="t">
            <a:spAutoFit/>
          </a:bodyPr>
          <a:lstStyle/>
          <a:p>
            <a:pPr algn="l">
              <a:spcAft>
                <a:spcPts val="0"/>
              </a:spcAft>
            </a:pPr>
            <a:r>
              <a:rPr sz="1170" b="0" i="0">
                <a:solidFill>
                  <a:srgbClr val="263746"/>
                </a:solidFill>
                <a:latin typeface="Arial"/>
              </a:rPr>
              <a:t>Panel-level hypothesis, not matched synthetic contribution</a:t>
            </a:r>
          </a:p>
        </p:txBody>
      </p:sp>
      <p:sp>
        <p:nvSpPr>
          <p:cNvPr id="22" name="TextBox 21"/>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Literature context: Gambara et al. (2017) and Stein et al. (2002).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ADDITIONAL MATCHED FINDINGS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Liver, skin and spleen add narrower gene-level results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Pooled muscle improves prediction, while its gene panel remains secondary consensus evidence.</a:t>
            </a:r>
          </a:p>
        </p:txBody>
      </p:sp>
      <p:sp>
        <p:nvSpPr>
          <p:cNvPr id="7" name="TextBox 6"/>
          <p:cNvSpPr txBox="1"/>
          <p:nvPr/>
        </p:nvSpPr>
        <p:spPr>
          <a:xfrm>
            <a:off x="658368" y="1828800"/>
            <a:ext cx="155448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Analysis unit</a:t>
            </a:r>
          </a:p>
        </p:txBody>
      </p:sp>
      <p:sp>
        <p:nvSpPr>
          <p:cNvPr id="8" name="TextBox 7"/>
          <p:cNvSpPr txBox="1"/>
          <p:nvPr/>
        </p:nvSpPr>
        <p:spPr>
          <a:xfrm>
            <a:off x="2267712" y="1828800"/>
            <a:ext cx="10515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Evidence</a:t>
            </a:r>
          </a:p>
        </p:txBody>
      </p:sp>
      <p:sp>
        <p:nvSpPr>
          <p:cNvPr id="9" name="TextBox 8"/>
          <p:cNvSpPr txBox="1"/>
          <p:nvPr/>
        </p:nvSpPr>
        <p:spPr>
          <a:xfrm>
            <a:off x="3456432" y="1828800"/>
            <a:ext cx="28803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Genes and FLT direction</a:t>
            </a:r>
          </a:p>
        </p:txBody>
      </p:sp>
      <p:sp>
        <p:nvSpPr>
          <p:cNvPr id="10" name="TextBox 9"/>
          <p:cNvSpPr txBox="1"/>
          <p:nvPr/>
        </p:nvSpPr>
        <p:spPr>
          <a:xfrm>
            <a:off x="6583680" y="1828800"/>
            <a:ext cx="466344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Interpretation</a:t>
            </a:r>
          </a:p>
        </p:txBody>
      </p:sp>
      <p:sp>
        <p:nvSpPr>
          <p:cNvPr id="11" name="Rectangle 10"/>
          <p:cNvSpPr/>
          <p:nvPr/>
        </p:nvSpPr>
        <p:spPr>
          <a:xfrm>
            <a:off x="393192" y="2148840"/>
            <a:ext cx="11375136" cy="80467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3192" y="2148840"/>
            <a:ext cx="73152" cy="8046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331720"/>
            <a:ext cx="1481328" cy="402336"/>
          </a:xfrm>
          <a:prstGeom prst="rect">
            <a:avLst/>
          </a:prstGeom>
          <a:noFill/>
        </p:spPr>
        <p:txBody>
          <a:bodyPr wrap="square" lIns="18288" rIns="18288" tIns="18288" bIns="18288" anchor="ctr">
            <a:spAutoFit/>
          </a:bodyPr>
          <a:lstStyle/>
          <a:p>
            <a:pPr algn="l">
              <a:spcAft>
                <a:spcPts val="0"/>
              </a:spcAft>
            </a:pPr>
            <a:r>
              <a:rPr sz="1500" b="1" i="0">
                <a:solidFill>
                  <a:srgbClr val="2D6496"/>
                </a:solidFill>
                <a:latin typeface="Arial"/>
              </a:rPr>
              <a:t>Liver</a:t>
            </a:r>
          </a:p>
        </p:txBody>
      </p:sp>
      <p:sp>
        <p:nvSpPr>
          <p:cNvPr id="14" name="Rectangle 13"/>
          <p:cNvSpPr/>
          <p:nvPr/>
        </p:nvSpPr>
        <p:spPr>
          <a:xfrm>
            <a:off x="2212848" y="2551176"/>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2219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Matched</a:t>
            </a:r>
          </a:p>
        </p:txBody>
      </p:sp>
      <p:sp>
        <p:nvSpPr>
          <p:cNvPr id="16" name="TextBox 15"/>
          <p:cNvSpPr txBox="1"/>
          <p:nvPr/>
        </p:nvSpPr>
        <p:spPr>
          <a:xfrm>
            <a:off x="3456432" y="219456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Lower: Grb10, Ppic, H2-DMa, Gtf2a2</a:t>
            </a:r>
          </a:p>
        </p:txBody>
      </p:sp>
      <p:sp>
        <p:nvSpPr>
          <p:cNvPr id="17" name="TextBox 16"/>
          <p:cNvSpPr txBox="1"/>
          <p:nvPr/>
        </p:nvSpPr>
        <p:spPr>
          <a:xfrm>
            <a:off x="2267712" y="2624328"/>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Consensus</a:t>
            </a:r>
          </a:p>
        </p:txBody>
      </p:sp>
      <p:sp>
        <p:nvSpPr>
          <p:cNvPr id="18" name="TextBox 17"/>
          <p:cNvSpPr txBox="1"/>
          <p:nvPr/>
        </p:nvSpPr>
        <p:spPr>
          <a:xfrm>
            <a:off x="3456432" y="25877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 retained panel</a:t>
            </a:r>
          </a:p>
        </p:txBody>
      </p:sp>
      <p:sp>
        <p:nvSpPr>
          <p:cNvPr id="19" name="TextBox 18"/>
          <p:cNvSpPr txBox="1"/>
          <p:nvPr/>
        </p:nvSpPr>
        <p:spPr>
          <a:xfrm>
            <a:off x="6583680" y="2240280"/>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Four shared-importance candidates; no significant Reactome set enrichment.</a:t>
            </a:r>
          </a:p>
        </p:txBody>
      </p:sp>
      <p:sp>
        <p:nvSpPr>
          <p:cNvPr id="20" name="Rectangle 19"/>
          <p:cNvSpPr/>
          <p:nvPr/>
        </p:nvSpPr>
        <p:spPr>
          <a:xfrm>
            <a:off x="393192" y="3118104"/>
            <a:ext cx="11375136" cy="804672"/>
          </a:xfrm>
          <a:prstGeom prst="rect">
            <a:avLst/>
          </a:prstGeom>
          <a:solidFill>
            <a:srgbClr val="F0ECF6"/>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3192" y="3118104"/>
            <a:ext cx="73152" cy="804672"/>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00984"/>
            <a:ext cx="1481328" cy="402336"/>
          </a:xfrm>
          <a:prstGeom prst="rect">
            <a:avLst/>
          </a:prstGeom>
          <a:noFill/>
        </p:spPr>
        <p:txBody>
          <a:bodyPr wrap="square" lIns="18288" rIns="18288" tIns="18288" bIns="18288" anchor="ctr">
            <a:spAutoFit/>
          </a:bodyPr>
          <a:lstStyle/>
          <a:p>
            <a:pPr algn="l">
              <a:spcAft>
                <a:spcPts val="0"/>
              </a:spcAft>
            </a:pPr>
            <a:r>
              <a:rPr sz="1500" b="1" i="0">
                <a:solidFill>
                  <a:srgbClr val="8063A6"/>
                </a:solidFill>
                <a:latin typeface="Arial"/>
              </a:rPr>
              <a:t>Skin</a:t>
            </a:r>
          </a:p>
        </p:txBody>
      </p:sp>
      <p:sp>
        <p:nvSpPr>
          <p:cNvPr id="23" name="Rectangle 22"/>
          <p:cNvSpPr/>
          <p:nvPr/>
        </p:nvSpPr>
        <p:spPr>
          <a:xfrm>
            <a:off x="2212848" y="3520440"/>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67712" y="31912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Matched</a:t>
            </a:r>
          </a:p>
        </p:txBody>
      </p:sp>
      <p:sp>
        <p:nvSpPr>
          <p:cNvPr id="25" name="TextBox 24"/>
          <p:cNvSpPr txBox="1"/>
          <p:nvPr/>
        </p:nvSpPr>
        <p:spPr>
          <a:xfrm>
            <a:off x="3456432" y="316382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Higher: Plscr1</a:t>
            </a:r>
          </a:p>
        </p:txBody>
      </p:sp>
      <p:sp>
        <p:nvSpPr>
          <p:cNvPr id="26" name="TextBox 25"/>
          <p:cNvSpPr txBox="1"/>
          <p:nvPr/>
        </p:nvSpPr>
        <p:spPr>
          <a:xfrm>
            <a:off x="2267712" y="35935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Consensus</a:t>
            </a:r>
          </a:p>
        </p:txBody>
      </p:sp>
      <p:sp>
        <p:nvSpPr>
          <p:cNvPr id="27" name="TextBox 26"/>
          <p:cNvSpPr txBox="1"/>
          <p:nvPr/>
        </p:nvSpPr>
        <p:spPr>
          <a:xfrm>
            <a:off x="3456432" y="3557016"/>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Higher: Plscr1 plus broader selected pathways</a:t>
            </a:r>
          </a:p>
        </p:txBody>
      </p:sp>
      <p:sp>
        <p:nvSpPr>
          <p:cNvPr id="28" name="TextBox 27"/>
          <p:cNvSpPr txBox="1"/>
          <p:nvPr/>
        </p:nvSpPr>
        <p:spPr>
          <a:xfrm>
            <a:off x="6583680" y="3209544"/>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Matched and consensus support the same gene; broader cell-cycle and DNA-repair context is panel-level.</a:t>
            </a:r>
          </a:p>
        </p:txBody>
      </p:sp>
      <p:sp>
        <p:nvSpPr>
          <p:cNvPr id="29" name="Rectangle 28"/>
          <p:cNvSpPr/>
          <p:nvPr/>
        </p:nvSpPr>
        <p:spPr>
          <a:xfrm>
            <a:off x="393192" y="4087368"/>
            <a:ext cx="11375136" cy="80467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3192" y="4087368"/>
            <a:ext cx="73152" cy="80467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4270248"/>
            <a:ext cx="1481328" cy="402336"/>
          </a:xfrm>
          <a:prstGeom prst="rect">
            <a:avLst/>
          </a:prstGeom>
          <a:noFill/>
        </p:spPr>
        <p:txBody>
          <a:bodyPr wrap="square" lIns="18288" rIns="18288" tIns="18288" bIns="18288" anchor="ctr">
            <a:spAutoFit/>
          </a:bodyPr>
          <a:lstStyle/>
          <a:p>
            <a:pPr algn="l">
              <a:spcAft>
                <a:spcPts val="0"/>
              </a:spcAft>
            </a:pPr>
            <a:r>
              <a:rPr sz="1500" b="1" i="0">
                <a:solidFill>
                  <a:srgbClr val="178681"/>
                </a:solidFill>
                <a:latin typeface="Arial"/>
              </a:rPr>
              <a:t>Spleen</a:t>
            </a:r>
          </a:p>
        </p:txBody>
      </p:sp>
      <p:sp>
        <p:nvSpPr>
          <p:cNvPr id="32" name="Rectangle 31"/>
          <p:cNvSpPr/>
          <p:nvPr/>
        </p:nvSpPr>
        <p:spPr>
          <a:xfrm>
            <a:off x="2212848" y="4489704"/>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267712" y="41605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Matched</a:t>
            </a:r>
          </a:p>
        </p:txBody>
      </p:sp>
      <p:sp>
        <p:nvSpPr>
          <p:cNvPr id="34" name="TextBox 33"/>
          <p:cNvSpPr txBox="1"/>
          <p:nvPr/>
        </p:nvSpPr>
        <p:spPr>
          <a:xfrm>
            <a:off x="3456432" y="4133088"/>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Higher: Loxl1</a:t>
            </a:r>
          </a:p>
        </p:txBody>
      </p:sp>
      <p:sp>
        <p:nvSpPr>
          <p:cNvPr id="35" name="TextBox 34"/>
          <p:cNvSpPr txBox="1"/>
          <p:nvPr/>
        </p:nvSpPr>
        <p:spPr>
          <a:xfrm>
            <a:off x="2267712" y="45628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Consensus</a:t>
            </a:r>
          </a:p>
        </p:txBody>
      </p:sp>
      <p:sp>
        <p:nvSpPr>
          <p:cNvPr id="36" name="TextBox 35"/>
          <p:cNvSpPr txBox="1"/>
          <p:nvPr/>
        </p:nvSpPr>
        <p:spPr>
          <a:xfrm>
            <a:off x="3456432" y="452628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Higher: Loxl1, Rai14, Ptprk, Myl9</a:t>
            </a:r>
          </a:p>
        </p:txBody>
      </p:sp>
      <p:sp>
        <p:nvSpPr>
          <p:cNvPr id="37" name="TextBox 36"/>
          <p:cNvSpPr txBox="1"/>
          <p:nvPr/>
        </p:nvSpPr>
        <p:spPr>
          <a:xfrm>
            <a:off x="6583680" y="4178808"/>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Loxl1 is the matched anchor; the four-gene adhesion and cytoskeletal panel is tentative.</a:t>
            </a:r>
          </a:p>
        </p:txBody>
      </p:sp>
      <p:sp>
        <p:nvSpPr>
          <p:cNvPr id="38" name="Rectangle 37"/>
          <p:cNvSpPr/>
          <p:nvPr/>
        </p:nvSpPr>
        <p:spPr>
          <a:xfrm>
            <a:off x="393192" y="5056632"/>
            <a:ext cx="11375136" cy="804672"/>
          </a:xfrm>
          <a:prstGeom prst="rect">
            <a:avLst/>
          </a:prstGeom>
          <a:solidFill>
            <a:srgbClr val="F8F1E2"/>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93192" y="5056632"/>
            <a:ext cx="73152" cy="804672"/>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5239512"/>
            <a:ext cx="1481328" cy="402336"/>
          </a:xfrm>
          <a:prstGeom prst="rect">
            <a:avLst/>
          </a:prstGeom>
          <a:noFill/>
        </p:spPr>
        <p:txBody>
          <a:bodyPr wrap="square" lIns="18288" rIns="18288" tIns="18288" bIns="18288" anchor="ctr">
            <a:spAutoFit/>
          </a:bodyPr>
          <a:lstStyle/>
          <a:p>
            <a:pPr algn="l">
              <a:spcAft>
                <a:spcPts val="0"/>
              </a:spcAft>
            </a:pPr>
            <a:r>
              <a:rPr sz="1500" b="1" i="0">
                <a:solidFill>
                  <a:srgbClr val="D37B00"/>
                </a:solidFill>
                <a:latin typeface="Arial"/>
              </a:rPr>
              <a:t>Pooled muscle</a:t>
            </a:r>
          </a:p>
        </p:txBody>
      </p:sp>
      <p:sp>
        <p:nvSpPr>
          <p:cNvPr id="41" name="Rectangle 40"/>
          <p:cNvSpPr/>
          <p:nvPr/>
        </p:nvSpPr>
        <p:spPr>
          <a:xfrm>
            <a:off x="2212848" y="5458968"/>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67712" y="5129784"/>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Matched</a:t>
            </a:r>
          </a:p>
        </p:txBody>
      </p:sp>
      <p:sp>
        <p:nvSpPr>
          <p:cNvPr id="43" name="TextBox 42"/>
          <p:cNvSpPr txBox="1"/>
          <p:nvPr/>
        </p:nvSpPr>
        <p:spPr>
          <a:xfrm>
            <a:off x="3456432" y="51023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All six metrics passed; no gene passed the full gate</a:t>
            </a:r>
          </a:p>
        </p:txBody>
      </p:sp>
      <p:sp>
        <p:nvSpPr>
          <p:cNvPr id="44" name="TextBox 43"/>
          <p:cNvSpPr txBox="1"/>
          <p:nvPr/>
        </p:nvSpPr>
        <p:spPr>
          <a:xfrm>
            <a:off x="2267712" y="55321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Consensus</a:t>
            </a:r>
          </a:p>
        </p:txBody>
      </p:sp>
      <p:sp>
        <p:nvSpPr>
          <p:cNvPr id="45" name="TextBox 44"/>
          <p:cNvSpPr txBox="1"/>
          <p:nvPr/>
        </p:nvSpPr>
        <p:spPr>
          <a:xfrm>
            <a:off x="3456432" y="549554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12-gene interferon and sialic-acid panel</a:t>
            </a:r>
          </a:p>
        </p:txBody>
      </p:sp>
      <p:sp>
        <p:nvSpPr>
          <p:cNvPr id="46" name="TextBox 45"/>
          <p:cNvSpPr txBox="1"/>
          <p:nvPr/>
        </p:nvSpPr>
        <p:spPr>
          <a:xfrm>
            <a:off x="6583680" y="5148072"/>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Predictive utility is matched; individual gene interpretation comes from the secondary consensus analysis.</a:t>
            </a:r>
          </a:p>
        </p:txBody>
      </p:sp>
      <p:sp>
        <p:nvSpPr>
          <p:cNvPr id="47" name="TextBox 46"/>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Matched genes pass real-data BH FDR and synthetic-supported marginal importance; consensus rows provide secondary panel context.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ADDITIONAL CONSENSUS FINDINGS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Several narrower panels did not pass the matched gene gate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These remain tissue-specific hypotheses from the secondary ranking analysis.</a:t>
            </a:r>
          </a:p>
        </p:txBody>
      </p:sp>
      <p:sp>
        <p:nvSpPr>
          <p:cNvPr id="7" name="TextBox 6"/>
          <p:cNvSpPr txBox="1"/>
          <p:nvPr/>
        </p:nvSpPr>
        <p:spPr>
          <a:xfrm>
            <a:off x="658368" y="1828800"/>
            <a:ext cx="155448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Analysis unit</a:t>
            </a:r>
          </a:p>
        </p:txBody>
      </p:sp>
      <p:sp>
        <p:nvSpPr>
          <p:cNvPr id="8" name="TextBox 7"/>
          <p:cNvSpPr txBox="1"/>
          <p:nvPr/>
        </p:nvSpPr>
        <p:spPr>
          <a:xfrm>
            <a:off x="2267712" y="1828800"/>
            <a:ext cx="10515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Selection</a:t>
            </a:r>
          </a:p>
        </p:txBody>
      </p:sp>
      <p:sp>
        <p:nvSpPr>
          <p:cNvPr id="9" name="TextBox 8"/>
          <p:cNvSpPr txBox="1"/>
          <p:nvPr/>
        </p:nvSpPr>
        <p:spPr>
          <a:xfrm>
            <a:off x="3456432" y="1828800"/>
            <a:ext cx="288036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Genes and FLT direction</a:t>
            </a:r>
          </a:p>
        </p:txBody>
      </p:sp>
      <p:sp>
        <p:nvSpPr>
          <p:cNvPr id="10" name="TextBox 9"/>
          <p:cNvSpPr txBox="1"/>
          <p:nvPr/>
        </p:nvSpPr>
        <p:spPr>
          <a:xfrm>
            <a:off x="6583680" y="1828800"/>
            <a:ext cx="4663440" cy="256032"/>
          </a:xfrm>
          <a:prstGeom prst="rect">
            <a:avLst/>
          </a:prstGeom>
          <a:noFill/>
        </p:spPr>
        <p:txBody>
          <a:bodyPr wrap="square" lIns="18288" rIns="18288" tIns="18288" bIns="18288" anchor="t">
            <a:spAutoFit/>
          </a:bodyPr>
          <a:lstStyle/>
          <a:p>
            <a:pPr algn="l">
              <a:spcAft>
                <a:spcPts val="0"/>
              </a:spcAft>
            </a:pPr>
            <a:r>
              <a:rPr sz="1150" b="1" i="0">
                <a:solidFill>
                  <a:srgbClr val="59697A"/>
                </a:solidFill>
                <a:latin typeface="Arial"/>
              </a:rPr>
              <a:t>Interpretation</a:t>
            </a:r>
          </a:p>
        </p:txBody>
      </p:sp>
      <p:sp>
        <p:nvSpPr>
          <p:cNvPr id="11" name="Rectangle 10"/>
          <p:cNvSpPr/>
          <p:nvPr/>
        </p:nvSpPr>
        <p:spPr>
          <a:xfrm>
            <a:off x="393192" y="2148840"/>
            <a:ext cx="11375136" cy="804672"/>
          </a:xfrm>
          <a:prstGeom prst="rect">
            <a:avLst/>
          </a:prstGeom>
          <a:solidFill>
            <a:srgbClr val="ECF4ED"/>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93192" y="2148840"/>
            <a:ext cx="73152" cy="804672"/>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331720"/>
            <a:ext cx="1481328" cy="402336"/>
          </a:xfrm>
          <a:prstGeom prst="rect">
            <a:avLst/>
          </a:prstGeom>
          <a:noFill/>
        </p:spPr>
        <p:txBody>
          <a:bodyPr wrap="square" lIns="18288" rIns="18288" tIns="18288" bIns="18288" anchor="ctr">
            <a:spAutoFit/>
          </a:bodyPr>
          <a:lstStyle/>
          <a:p>
            <a:pPr algn="l">
              <a:spcAft>
                <a:spcPts val="0"/>
              </a:spcAft>
            </a:pPr>
            <a:r>
              <a:rPr sz="1500" b="1" i="0">
                <a:solidFill>
                  <a:srgbClr val="478A64"/>
                </a:solidFill>
                <a:latin typeface="Arial"/>
              </a:rPr>
              <a:t>Kidney</a:t>
            </a:r>
          </a:p>
        </p:txBody>
      </p:sp>
      <p:sp>
        <p:nvSpPr>
          <p:cNvPr id="14" name="Rectangle 13"/>
          <p:cNvSpPr/>
          <p:nvPr/>
        </p:nvSpPr>
        <p:spPr>
          <a:xfrm>
            <a:off x="2212848" y="2551176"/>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67712" y="22219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16" name="TextBox 15"/>
          <p:cNvSpPr txBox="1"/>
          <p:nvPr/>
        </p:nvSpPr>
        <p:spPr>
          <a:xfrm>
            <a:off x="3456432" y="219456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Inpp4b higher</a:t>
            </a:r>
          </a:p>
        </p:txBody>
      </p:sp>
      <p:sp>
        <p:nvSpPr>
          <p:cNvPr id="17" name="TextBox 16"/>
          <p:cNvSpPr txBox="1"/>
          <p:nvPr/>
        </p:nvSpPr>
        <p:spPr>
          <a:xfrm>
            <a:off x="2267712" y="2624328"/>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18" name="TextBox 17"/>
          <p:cNvSpPr txBox="1"/>
          <p:nvPr/>
        </p:nvSpPr>
        <p:spPr>
          <a:xfrm>
            <a:off x="3456432" y="25877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Slc37a4 higher</a:t>
            </a:r>
          </a:p>
        </p:txBody>
      </p:sp>
      <p:sp>
        <p:nvSpPr>
          <p:cNvPr id="19" name="TextBox 18"/>
          <p:cNvSpPr txBox="1"/>
          <p:nvPr/>
        </p:nvSpPr>
        <p:spPr>
          <a:xfrm>
            <a:off x="6583680" y="2240280"/>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Renal phosphoinositide signaling and glucose-handling hypothesis; the pair had no shared Reactome enrichment.</a:t>
            </a:r>
          </a:p>
        </p:txBody>
      </p:sp>
      <p:sp>
        <p:nvSpPr>
          <p:cNvPr id="20" name="Rectangle 19"/>
          <p:cNvSpPr/>
          <p:nvPr/>
        </p:nvSpPr>
        <p:spPr>
          <a:xfrm>
            <a:off x="393192" y="3118104"/>
            <a:ext cx="11375136" cy="804672"/>
          </a:xfrm>
          <a:prstGeom prst="rect">
            <a:avLst/>
          </a:prstGeom>
          <a:solidFill>
            <a:srgbClr val="F2F4F5"/>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93192" y="3118104"/>
            <a:ext cx="73152" cy="804672"/>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00984"/>
            <a:ext cx="1481328" cy="402336"/>
          </a:xfrm>
          <a:prstGeom prst="rect">
            <a:avLst/>
          </a:prstGeom>
          <a:noFill/>
        </p:spPr>
        <p:txBody>
          <a:bodyPr wrap="square" lIns="18288" rIns="18288" tIns="18288" bIns="18288" anchor="ctr">
            <a:spAutoFit/>
          </a:bodyPr>
          <a:lstStyle/>
          <a:p>
            <a:pPr algn="l">
              <a:spcAft>
                <a:spcPts val="0"/>
              </a:spcAft>
            </a:pPr>
            <a:r>
              <a:rPr sz="1500" b="1" i="0">
                <a:solidFill>
                  <a:srgbClr val="8A969E"/>
                </a:solidFill>
                <a:latin typeface="Arial"/>
              </a:rPr>
              <a:t>Adrenal gland</a:t>
            </a:r>
          </a:p>
        </p:txBody>
      </p:sp>
      <p:sp>
        <p:nvSpPr>
          <p:cNvPr id="23" name="Rectangle 22"/>
          <p:cNvSpPr/>
          <p:nvPr/>
        </p:nvSpPr>
        <p:spPr>
          <a:xfrm>
            <a:off x="2212848" y="3520440"/>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67712" y="31912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25" name="TextBox 24"/>
          <p:cNvSpPr txBox="1"/>
          <p:nvPr/>
        </p:nvSpPr>
        <p:spPr>
          <a:xfrm>
            <a:off x="3456432" y="316382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Psmb8 lower</a:t>
            </a:r>
          </a:p>
        </p:txBody>
      </p:sp>
      <p:sp>
        <p:nvSpPr>
          <p:cNvPr id="26" name="TextBox 25"/>
          <p:cNvSpPr txBox="1"/>
          <p:nvPr/>
        </p:nvSpPr>
        <p:spPr>
          <a:xfrm>
            <a:off x="2267712" y="3593592"/>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27" name="TextBox 26"/>
          <p:cNvSpPr txBox="1"/>
          <p:nvPr/>
        </p:nvSpPr>
        <p:spPr>
          <a:xfrm>
            <a:off x="3456432" y="3557016"/>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Tspan4 lower</a:t>
            </a:r>
          </a:p>
        </p:txBody>
      </p:sp>
      <p:sp>
        <p:nvSpPr>
          <p:cNvPr id="28" name="TextBox 27"/>
          <p:cNvSpPr txBox="1"/>
          <p:nvPr/>
        </p:nvSpPr>
        <p:spPr>
          <a:xfrm>
            <a:off x="6583680" y="3209544"/>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Literature-unmatched immune, proteostasis or tissue-composition candidates; no adrenal mechanism is established.</a:t>
            </a:r>
          </a:p>
        </p:txBody>
      </p:sp>
      <p:sp>
        <p:nvSpPr>
          <p:cNvPr id="29" name="Rectangle 28"/>
          <p:cNvSpPr/>
          <p:nvPr/>
        </p:nvSpPr>
        <p:spPr>
          <a:xfrm>
            <a:off x="393192" y="4087368"/>
            <a:ext cx="11375136" cy="80467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93192" y="4087368"/>
            <a:ext cx="73152" cy="80467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4270248"/>
            <a:ext cx="1481328" cy="402336"/>
          </a:xfrm>
          <a:prstGeom prst="rect">
            <a:avLst/>
          </a:prstGeom>
          <a:noFill/>
        </p:spPr>
        <p:txBody>
          <a:bodyPr wrap="square" lIns="18288" rIns="18288" tIns="18288" bIns="18288" anchor="ctr">
            <a:spAutoFit/>
          </a:bodyPr>
          <a:lstStyle/>
          <a:p>
            <a:pPr algn="l">
              <a:spcAft>
                <a:spcPts val="0"/>
              </a:spcAft>
            </a:pPr>
            <a:r>
              <a:rPr sz="1500" b="1" i="0">
                <a:solidFill>
                  <a:srgbClr val="2D6496"/>
                </a:solidFill>
                <a:latin typeface="Arial"/>
              </a:rPr>
              <a:t>Gastrocnemius</a:t>
            </a:r>
          </a:p>
        </p:txBody>
      </p:sp>
      <p:sp>
        <p:nvSpPr>
          <p:cNvPr id="32" name="Rectangle 31"/>
          <p:cNvSpPr/>
          <p:nvPr/>
        </p:nvSpPr>
        <p:spPr>
          <a:xfrm>
            <a:off x="2212848" y="4489704"/>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267712" y="41605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34" name="TextBox 33"/>
          <p:cNvSpPr txBox="1"/>
          <p:nvPr/>
        </p:nvSpPr>
        <p:spPr>
          <a:xfrm>
            <a:off x="3456432" y="4133088"/>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Nfkbia higher; Fhl2 lower</a:t>
            </a:r>
          </a:p>
        </p:txBody>
      </p:sp>
      <p:sp>
        <p:nvSpPr>
          <p:cNvPr id="35" name="TextBox 34"/>
          <p:cNvSpPr txBox="1"/>
          <p:nvPr/>
        </p:nvSpPr>
        <p:spPr>
          <a:xfrm>
            <a:off x="2267712" y="4562856"/>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36" name="TextBox 35"/>
          <p:cNvSpPr txBox="1"/>
          <p:nvPr/>
        </p:nvSpPr>
        <p:spPr>
          <a:xfrm>
            <a:off x="3456432" y="4526280"/>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None</a:t>
            </a:r>
          </a:p>
        </p:txBody>
      </p:sp>
      <p:sp>
        <p:nvSpPr>
          <p:cNvPr id="37" name="TextBox 36"/>
          <p:cNvSpPr txBox="1"/>
          <p:nvPr/>
        </p:nvSpPr>
        <p:spPr>
          <a:xfrm>
            <a:off x="6583680" y="4178808"/>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NF-kappaB stress alignment plus an autophagy or myogenesis candidate; the two genes do not form a coherent pathway.</a:t>
            </a:r>
          </a:p>
        </p:txBody>
      </p:sp>
      <p:sp>
        <p:nvSpPr>
          <p:cNvPr id="38" name="Rectangle 37"/>
          <p:cNvSpPr/>
          <p:nvPr/>
        </p:nvSpPr>
        <p:spPr>
          <a:xfrm>
            <a:off x="393192" y="5056632"/>
            <a:ext cx="11375136" cy="80467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93192" y="5056632"/>
            <a:ext cx="73152" cy="80467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5239512"/>
            <a:ext cx="1481328" cy="402336"/>
          </a:xfrm>
          <a:prstGeom prst="rect">
            <a:avLst/>
          </a:prstGeom>
          <a:noFill/>
        </p:spPr>
        <p:txBody>
          <a:bodyPr wrap="square" lIns="18288" rIns="18288" tIns="18288" bIns="18288" anchor="ctr">
            <a:spAutoFit/>
          </a:bodyPr>
          <a:lstStyle/>
          <a:p>
            <a:pPr algn="l">
              <a:spcAft>
                <a:spcPts val="0"/>
              </a:spcAft>
            </a:pPr>
            <a:r>
              <a:rPr sz="1500" b="1" i="0">
                <a:solidFill>
                  <a:srgbClr val="178681"/>
                </a:solidFill>
                <a:latin typeface="Arial"/>
              </a:rPr>
              <a:t>Tibialis anterior</a:t>
            </a:r>
          </a:p>
        </p:txBody>
      </p:sp>
      <p:sp>
        <p:nvSpPr>
          <p:cNvPr id="41" name="Rectangle 40"/>
          <p:cNvSpPr/>
          <p:nvPr/>
        </p:nvSpPr>
        <p:spPr>
          <a:xfrm>
            <a:off x="2212848" y="5458968"/>
            <a:ext cx="4041648" cy="10972"/>
          </a:xfrm>
          <a:prstGeom prst="rect">
            <a:avLst/>
          </a:prstGeom>
          <a:solidFill>
            <a:srgbClr val="DDE4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67712" y="5129784"/>
            <a:ext cx="1024128" cy="228600"/>
          </a:xfrm>
          <a:prstGeom prst="rect">
            <a:avLst/>
          </a:prstGeom>
          <a:noFill/>
        </p:spPr>
        <p:txBody>
          <a:bodyPr wrap="square" lIns="18288" rIns="18288" tIns="18288" bIns="18288" anchor="ctr">
            <a:spAutoFit/>
          </a:bodyPr>
          <a:lstStyle/>
          <a:p>
            <a:pPr algn="l">
              <a:spcAft>
                <a:spcPts val="0"/>
              </a:spcAft>
            </a:pPr>
            <a:r>
              <a:rPr sz="1050" b="1" i="0">
                <a:solidFill>
                  <a:srgbClr val="D96552"/>
                </a:solidFill>
                <a:latin typeface="Arial"/>
              </a:rPr>
              <a:t>Promoted</a:t>
            </a:r>
          </a:p>
        </p:txBody>
      </p:sp>
      <p:sp>
        <p:nvSpPr>
          <p:cNvPr id="43" name="TextBox 42"/>
          <p:cNvSpPr txBox="1"/>
          <p:nvPr/>
        </p:nvSpPr>
        <p:spPr>
          <a:xfrm>
            <a:off x="3456432" y="5102352"/>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Cebpd higher</a:t>
            </a:r>
          </a:p>
        </p:txBody>
      </p:sp>
      <p:sp>
        <p:nvSpPr>
          <p:cNvPr id="44" name="TextBox 43"/>
          <p:cNvSpPr txBox="1"/>
          <p:nvPr/>
        </p:nvSpPr>
        <p:spPr>
          <a:xfrm>
            <a:off x="2267712" y="5532120"/>
            <a:ext cx="1024128" cy="228600"/>
          </a:xfrm>
          <a:prstGeom prst="rect">
            <a:avLst/>
          </a:prstGeom>
          <a:noFill/>
        </p:spPr>
        <p:txBody>
          <a:bodyPr wrap="square" lIns="18288" rIns="18288" tIns="18288" bIns="18288" anchor="ctr">
            <a:spAutoFit/>
          </a:bodyPr>
          <a:lstStyle/>
          <a:p>
            <a:pPr algn="l">
              <a:spcAft>
                <a:spcPts val="0"/>
              </a:spcAft>
            </a:pPr>
            <a:r>
              <a:rPr sz="1050" b="1" i="0">
                <a:solidFill>
                  <a:srgbClr val="178681"/>
                </a:solidFill>
                <a:latin typeface="Arial"/>
              </a:rPr>
              <a:t>Reinforced</a:t>
            </a:r>
          </a:p>
        </p:txBody>
      </p:sp>
      <p:sp>
        <p:nvSpPr>
          <p:cNvPr id="45" name="TextBox 44"/>
          <p:cNvSpPr txBox="1"/>
          <p:nvPr/>
        </p:nvSpPr>
        <p:spPr>
          <a:xfrm>
            <a:off x="3456432" y="5495544"/>
            <a:ext cx="2816352" cy="320040"/>
          </a:xfrm>
          <a:prstGeom prst="rect">
            <a:avLst/>
          </a:prstGeom>
          <a:noFill/>
        </p:spPr>
        <p:txBody>
          <a:bodyPr wrap="square" lIns="18288" rIns="18288" tIns="18288" bIns="18288" anchor="ctr">
            <a:spAutoFit/>
          </a:bodyPr>
          <a:lstStyle/>
          <a:p>
            <a:pPr algn="l">
              <a:spcAft>
                <a:spcPts val="0"/>
              </a:spcAft>
            </a:pPr>
            <a:r>
              <a:rPr sz="1050" b="0" i="0">
                <a:solidFill>
                  <a:srgbClr val="263746"/>
                </a:solidFill>
                <a:latin typeface="Arial"/>
              </a:rPr>
              <a:t>Cdkn1a, St3gal5, Bnip3 higher</a:t>
            </a:r>
          </a:p>
        </p:txBody>
      </p:sp>
      <p:sp>
        <p:nvSpPr>
          <p:cNvPr id="46" name="TextBox 45"/>
          <p:cNvSpPr txBox="1"/>
          <p:nvPr/>
        </p:nvSpPr>
        <p:spPr>
          <a:xfrm>
            <a:off x="6583680" y="5148072"/>
            <a:ext cx="4754880" cy="603504"/>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Stress, cell-cycle, ganglioside-signaling and mitophagy candidates with mixed or complementary prior evidence.</a:t>
            </a:r>
          </a:p>
        </p:txBody>
      </p:sp>
      <p:sp>
        <p:nvSpPr>
          <p:cNvPr id="47" name="TextBox 46"/>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Secondary consensus results and independent literature annotations are reported in Tables S10 and S16.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TAKEAWAYS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Use matched tests for contribution; consensus for biology</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Matched classifiers test utility; consensus ranking explains correlated programs; biological claims still use OSDR profiles.</a:t>
            </a:r>
          </a:p>
        </p:txBody>
      </p:sp>
      <p:sp>
        <p:nvSpPr>
          <p:cNvPr id="7" name="Rectangle 6"/>
          <p:cNvSpPr/>
          <p:nvPr/>
        </p:nvSpPr>
        <p:spPr>
          <a:xfrm>
            <a:off x="384048" y="1920240"/>
            <a:ext cx="3246120" cy="32004"/>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02336" y="2130552"/>
            <a:ext cx="621792" cy="365760"/>
          </a:xfrm>
          <a:prstGeom prst="rect">
            <a:avLst/>
          </a:prstGeom>
          <a:noFill/>
        </p:spPr>
        <p:txBody>
          <a:bodyPr wrap="square" lIns="0" rIns="0" tIns="0" bIns="0" anchor="t">
            <a:spAutoFit/>
          </a:bodyPr>
          <a:lstStyle/>
          <a:p>
            <a:pPr algn="l">
              <a:spcAft>
                <a:spcPts val="0"/>
              </a:spcAft>
            </a:pPr>
            <a:r>
              <a:rPr sz="2100" b="1" i="0">
                <a:solidFill>
                  <a:srgbClr val="2D6496"/>
                </a:solidFill>
                <a:latin typeface="Arial"/>
              </a:rPr>
              <a:t>01</a:t>
            </a:r>
          </a:p>
        </p:txBody>
      </p:sp>
      <p:sp>
        <p:nvSpPr>
          <p:cNvPr id="9" name="TextBox 8"/>
          <p:cNvSpPr txBox="1"/>
          <p:nvPr/>
        </p:nvSpPr>
        <p:spPr>
          <a:xfrm>
            <a:off x="1170432"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Generate</a:t>
            </a:r>
          </a:p>
        </p:txBody>
      </p:sp>
      <p:sp>
        <p:nvSpPr>
          <p:cNvPr id="10" name="TextBox 9"/>
          <p:cNvSpPr txBox="1"/>
          <p:nvPr/>
        </p:nvSpPr>
        <p:spPr>
          <a:xfrm>
            <a:off x="411479" y="2852928"/>
            <a:ext cx="2999232" cy="1920240"/>
          </a:xfrm>
          <a:prstGeom prst="rect">
            <a:avLst/>
          </a:prstGeom>
          <a:noFill/>
        </p:spPr>
        <p:txBody>
          <a:bodyPr wrap="square" lIns="0" rIns="0" tIns="0" bIns="0" anchor="t">
            <a:spAutoFit/>
          </a:bodyPr>
          <a:lstStyle/>
          <a:p>
            <a:pPr algn="l">
              <a:spcAft>
                <a:spcPts val="0"/>
              </a:spcAft>
            </a:pPr>
            <a:r>
              <a:rPr sz="1600" b="0" i="0">
                <a:solidFill>
                  <a:srgbClr val="263746"/>
                </a:solidFill>
                <a:latin typeface="Arial"/>
              </a:rPr>
              <a:t>Conditional DDIM produced high-fidelity profiles with near-chance real-versus-synthetic separation.</a:t>
            </a:r>
          </a:p>
        </p:txBody>
      </p:sp>
      <p:sp>
        <p:nvSpPr>
          <p:cNvPr id="11" name="Rectangle 10"/>
          <p:cNvSpPr/>
          <p:nvPr/>
        </p:nvSpPr>
        <p:spPr>
          <a:xfrm>
            <a:off x="3877056" y="1920240"/>
            <a:ext cx="10972" cy="322783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059936" y="1920240"/>
            <a:ext cx="3246120" cy="32004"/>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078224" y="2130552"/>
            <a:ext cx="621792" cy="365760"/>
          </a:xfrm>
          <a:prstGeom prst="rect">
            <a:avLst/>
          </a:prstGeom>
          <a:noFill/>
        </p:spPr>
        <p:txBody>
          <a:bodyPr wrap="square" lIns="0" rIns="0" tIns="0" bIns="0" anchor="t">
            <a:spAutoFit/>
          </a:bodyPr>
          <a:lstStyle/>
          <a:p>
            <a:pPr algn="l">
              <a:spcAft>
                <a:spcPts val="0"/>
              </a:spcAft>
            </a:pPr>
            <a:r>
              <a:rPr sz="2100" b="1" i="0">
                <a:solidFill>
                  <a:srgbClr val="178681"/>
                </a:solidFill>
                <a:latin typeface="Arial"/>
              </a:rPr>
              <a:t>02</a:t>
            </a:r>
          </a:p>
        </p:txBody>
      </p:sp>
      <p:sp>
        <p:nvSpPr>
          <p:cNvPr id="14" name="TextBox 13"/>
          <p:cNvSpPr txBox="1"/>
          <p:nvPr/>
        </p:nvSpPr>
        <p:spPr>
          <a:xfrm>
            <a:off x="4846320"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Test</a:t>
            </a:r>
          </a:p>
        </p:txBody>
      </p:sp>
      <p:sp>
        <p:nvSpPr>
          <p:cNvPr id="15" name="TextBox 14"/>
          <p:cNvSpPr txBox="1"/>
          <p:nvPr/>
        </p:nvSpPr>
        <p:spPr>
          <a:xfrm>
            <a:off x="4087368" y="2852928"/>
            <a:ext cx="2999232" cy="1920240"/>
          </a:xfrm>
          <a:prstGeom prst="rect">
            <a:avLst/>
          </a:prstGeom>
          <a:noFill/>
        </p:spPr>
        <p:txBody>
          <a:bodyPr wrap="square" lIns="0" rIns="0" tIns="0" bIns="0" anchor="t">
            <a:spAutoFit/>
          </a:bodyPr>
          <a:lstStyle/>
          <a:p>
            <a:pPr algn="l">
              <a:spcAft>
                <a:spcPts val="0"/>
              </a:spcAft>
            </a:pPr>
            <a:r>
              <a:rPr sz="1600" b="0" i="0">
                <a:solidFill>
                  <a:srgbClr val="263746"/>
                </a:solidFill>
                <a:latin typeface="Arial"/>
              </a:rPr>
              <a:t>Matched real-plus-synthetic classifiers passed all six metric checks in 18 of 27 tissue analyses and retained 21 BH-FDR associations.</a:t>
            </a:r>
          </a:p>
        </p:txBody>
      </p:sp>
      <p:sp>
        <p:nvSpPr>
          <p:cNvPr id="16" name="Rectangle 15"/>
          <p:cNvSpPr/>
          <p:nvPr/>
        </p:nvSpPr>
        <p:spPr>
          <a:xfrm>
            <a:off x="7552944" y="1920240"/>
            <a:ext cx="10972" cy="3227832"/>
          </a:xfrm>
          <a:prstGeom prst="rect">
            <a:avLst/>
          </a:prstGeom>
          <a:solidFill>
            <a:srgbClr val="D8DF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35824" y="1920240"/>
            <a:ext cx="3246120" cy="32004"/>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54112" y="2130552"/>
            <a:ext cx="621792" cy="365760"/>
          </a:xfrm>
          <a:prstGeom prst="rect">
            <a:avLst/>
          </a:prstGeom>
          <a:noFill/>
        </p:spPr>
        <p:txBody>
          <a:bodyPr wrap="square" lIns="0" rIns="0" tIns="0" bIns="0" anchor="t">
            <a:spAutoFit/>
          </a:bodyPr>
          <a:lstStyle/>
          <a:p>
            <a:pPr algn="l">
              <a:spcAft>
                <a:spcPts val="0"/>
              </a:spcAft>
            </a:pPr>
            <a:r>
              <a:rPr sz="2100" b="1" i="0">
                <a:solidFill>
                  <a:srgbClr val="D37B00"/>
                </a:solidFill>
                <a:latin typeface="Arial"/>
              </a:rPr>
              <a:t>03</a:t>
            </a:r>
          </a:p>
        </p:txBody>
      </p:sp>
      <p:sp>
        <p:nvSpPr>
          <p:cNvPr id="19" name="TextBox 18"/>
          <p:cNvSpPr txBox="1"/>
          <p:nvPr/>
        </p:nvSpPr>
        <p:spPr>
          <a:xfrm>
            <a:off x="8522208" y="2148840"/>
            <a:ext cx="2249424" cy="329184"/>
          </a:xfrm>
          <a:prstGeom prst="rect">
            <a:avLst/>
          </a:prstGeom>
          <a:noFill/>
        </p:spPr>
        <p:txBody>
          <a:bodyPr wrap="square" lIns="0" rIns="0" tIns="0" bIns="0" anchor="t">
            <a:spAutoFit/>
          </a:bodyPr>
          <a:lstStyle/>
          <a:p>
            <a:pPr algn="l">
              <a:spcAft>
                <a:spcPts val="0"/>
              </a:spcAft>
            </a:pPr>
            <a:r>
              <a:rPr sz="1900" b="1" i="0">
                <a:solidFill>
                  <a:srgbClr val="082B55"/>
                </a:solidFill>
                <a:latin typeface="Arial"/>
              </a:rPr>
              <a:t>Interpret</a:t>
            </a:r>
          </a:p>
        </p:txBody>
      </p:sp>
      <p:sp>
        <p:nvSpPr>
          <p:cNvPr id="20" name="TextBox 19"/>
          <p:cNvSpPr txBox="1"/>
          <p:nvPr/>
        </p:nvSpPr>
        <p:spPr>
          <a:xfrm>
            <a:off x="7763256" y="2852928"/>
            <a:ext cx="2999232" cy="1920240"/>
          </a:xfrm>
          <a:prstGeom prst="rect">
            <a:avLst/>
          </a:prstGeom>
          <a:noFill/>
        </p:spPr>
        <p:txBody>
          <a:bodyPr wrap="square" lIns="0" rIns="0" tIns="0" bIns="0" anchor="t">
            <a:spAutoFit/>
          </a:bodyPr>
          <a:lstStyle/>
          <a:p>
            <a:pPr algn="l">
              <a:spcAft>
                <a:spcPts val="0"/>
              </a:spcAft>
            </a:pPr>
            <a:r>
              <a:rPr sz="1600" b="0" i="0">
                <a:solidFill>
                  <a:srgbClr val="263746"/>
                </a:solidFill>
                <a:latin typeface="Arial"/>
              </a:rPr>
              <a:t>Consensus ranking recovered broader correlated panels. Thymus was strongest across both analyses; soleus remained secondary.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Rectangle 3"/>
          <p:cNvSpPr/>
          <p:nvPr/>
        </p:nvSpPr>
        <p:spPr>
          <a:xfrm>
            <a:off x="0" y="347472"/>
            <a:ext cx="12191999" cy="6510528"/>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115568"/>
            <a:ext cx="4937760" cy="731520"/>
          </a:xfrm>
          <a:prstGeom prst="rect">
            <a:avLst/>
          </a:prstGeom>
          <a:noFill/>
        </p:spPr>
        <p:txBody>
          <a:bodyPr wrap="square" lIns="18288" rIns="18288" tIns="18288" bIns="18288" anchor="t">
            <a:spAutoFit/>
          </a:bodyPr>
          <a:lstStyle/>
          <a:p>
            <a:pPr algn="l">
              <a:spcAft>
                <a:spcPts val="0"/>
              </a:spcAft>
            </a:pPr>
            <a:r>
              <a:rPr sz="3400" b="1" i="0">
                <a:solidFill>
                  <a:srgbClr val="FFFFFF"/>
                </a:solidFill>
                <a:latin typeface="Arial"/>
              </a:rPr>
              <a:t>Thank you</a:t>
            </a:r>
          </a:p>
        </p:txBody>
      </p:sp>
      <p:sp>
        <p:nvSpPr>
          <p:cNvPr id="6" name="TextBox 5"/>
          <p:cNvSpPr txBox="1"/>
          <p:nvPr/>
        </p:nvSpPr>
        <p:spPr>
          <a:xfrm>
            <a:off x="612648" y="1920240"/>
            <a:ext cx="3657600" cy="411480"/>
          </a:xfrm>
          <a:prstGeom prst="rect">
            <a:avLst/>
          </a:prstGeom>
          <a:noFill/>
        </p:spPr>
        <p:txBody>
          <a:bodyPr wrap="square" lIns="18288" rIns="18288" tIns="18288" bIns="18288" anchor="t">
            <a:spAutoFit/>
          </a:bodyPr>
          <a:lstStyle/>
          <a:p>
            <a:pPr algn="l">
              <a:spcAft>
                <a:spcPts val="0"/>
              </a:spcAft>
            </a:pPr>
            <a:r>
              <a:rPr sz="2100" b="0" i="0">
                <a:solidFill>
                  <a:srgbClr val="BFD0E1"/>
                </a:solidFill>
                <a:latin typeface="Arial"/>
              </a:rPr>
              <a:t>Questions?</a:t>
            </a:r>
          </a:p>
        </p:txBody>
      </p:sp>
      <p:sp>
        <p:nvSpPr>
          <p:cNvPr id="7" name="Rectangle 6"/>
          <p:cNvSpPr/>
          <p:nvPr/>
        </p:nvSpPr>
        <p:spPr>
          <a:xfrm>
            <a:off x="621792" y="2596896"/>
            <a:ext cx="2743200"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2935224"/>
            <a:ext cx="2743200" cy="320040"/>
          </a:xfrm>
          <a:prstGeom prst="rect">
            <a:avLst/>
          </a:prstGeom>
          <a:noFill/>
        </p:spPr>
        <p:txBody>
          <a:bodyPr wrap="square" lIns="18288" rIns="18288" tIns="18288" bIns="18288" anchor="t">
            <a:spAutoFit/>
          </a:bodyPr>
          <a:lstStyle/>
          <a:p>
            <a:pPr algn="l">
              <a:spcAft>
                <a:spcPts val="0"/>
              </a:spcAft>
            </a:pPr>
            <a:r>
              <a:rPr sz="1800" b="1" i="0">
                <a:solidFill>
                  <a:srgbClr val="FFFFFF"/>
                </a:solidFill>
                <a:latin typeface="Arial"/>
              </a:rPr>
              <a:t>Jason Trinh</a:t>
            </a:r>
          </a:p>
        </p:txBody>
      </p:sp>
      <p:sp>
        <p:nvSpPr>
          <p:cNvPr id="9" name="TextBox 8"/>
          <p:cNvSpPr txBox="1"/>
          <p:nvPr/>
        </p:nvSpPr>
        <p:spPr>
          <a:xfrm>
            <a:off x="621792" y="3319272"/>
            <a:ext cx="3200400" cy="274320"/>
          </a:xfrm>
          <a:prstGeom prst="rect">
            <a:avLst/>
          </a:prstGeom>
          <a:noFill/>
        </p:spPr>
        <p:txBody>
          <a:bodyPr wrap="square" lIns="18288" rIns="18288" tIns="18288" bIns="18288" anchor="t">
            <a:spAutoFit/>
          </a:bodyPr>
          <a:lstStyle/>
          <a:p>
            <a:pPr algn="l">
              <a:spcAft>
                <a:spcPts val="0"/>
              </a:spcAft>
            </a:pPr>
            <a:r>
              <a:rPr sz="1400" b="0" i="0">
                <a:solidFill>
                  <a:srgbClr val="BFD0E1"/>
                </a:solidFill>
                <a:latin typeface="Arial"/>
              </a:rPr>
              <a:t>jasontrinh@berkeley.edu</a:t>
            </a:r>
          </a:p>
        </p:txBody>
      </p:sp>
      <p:sp>
        <p:nvSpPr>
          <p:cNvPr id="10" name="TextBox 9"/>
          <p:cNvSpPr txBox="1"/>
          <p:nvPr/>
        </p:nvSpPr>
        <p:spPr>
          <a:xfrm>
            <a:off x="5504688" y="13533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Mentor</a:t>
            </a:r>
          </a:p>
        </p:txBody>
      </p:sp>
      <p:sp>
        <p:nvSpPr>
          <p:cNvPr id="11" name="TextBox 10"/>
          <p:cNvSpPr txBox="1"/>
          <p:nvPr/>
        </p:nvSpPr>
        <p:spPr>
          <a:xfrm>
            <a:off x="6793992" y="1325880"/>
            <a:ext cx="4160520" cy="310896"/>
          </a:xfrm>
          <a:prstGeom prst="rect">
            <a:avLst/>
          </a:prstGeom>
          <a:noFill/>
        </p:spPr>
        <p:txBody>
          <a:bodyPr wrap="square" lIns="18288" rIns="18288" tIns="18288" bIns="18288" anchor="t">
            <a:spAutoFit/>
          </a:bodyPr>
          <a:lstStyle/>
          <a:p>
            <a:pPr algn="l">
              <a:spcAft>
                <a:spcPts val="0"/>
              </a:spcAft>
            </a:pPr>
            <a:r>
              <a:rPr sz="1700" b="1" i="0">
                <a:solidFill>
                  <a:srgbClr val="FFFFFF"/>
                </a:solidFill>
                <a:latin typeface="Arial"/>
              </a:rPr>
              <a:t>James Casaletto</a:t>
            </a:r>
          </a:p>
        </p:txBody>
      </p:sp>
      <p:sp>
        <p:nvSpPr>
          <p:cNvPr id="12" name="TextBox 11"/>
          <p:cNvSpPr txBox="1"/>
          <p:nvPr/>
        </p:nvSpPr>
        <p:spPr>
          <a:xfrm>
            <a:off x="5504688" y="1975104"/>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Program</a:t>
            </a:r>
          </a:p>
        </p:txBody>
      </p:sp>
      <p:sp>
        <p:nvSpPr>
          <p:cNvPr id="13" name="TextBox 12"/>
          <p:cNvSpPr txBox="1"/>
          <p:nvPr/>
        </p:nvSpPr>
        <p:spPr>
          <a:xfrm>
            <a:off x="6793992" y="1947672"/>
            <a:ext cx="4407408" cy="475488"/>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Space Life Sciences Training Program</a:t>
            </a:r>
          </a:p>
        </p:txBody>
      </p:sp>
      <p:sp>
        <p:nvSpPr>
          <p:cNvPr id="14" name="TextBox 13"/>
          <p:cNvSpPr txBox="1"/>
          <p:nvPr/>
        </p:nvSpPr>
        <p:spPr>
          <a:xfrm>
            <a:off x="5504688" y="2779776"/>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Data</a:t>
            </a:r>
          </a:p>
        </p:txBody>
      </p:sp>
      <p:sp>
        <p:nvSpPr>
          <p:cNvPr id="15" name="TextBox 14"/>
          <p:cNvSpPr txBox="1"/>
          <p:nvPr/>
        </p:nvSpPr>
        <p:spPr>
          <a:xfrm>
            <a:off x="6793992" y="2752344"/>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OSDR | ARCHS4 | Reactome</a:t>
            </a:r>
          </a:p>
        </p:txBody>
      </p:sp>
      <p:sp>
        <p:nvSpPr>
          <p:cNvPr id="16" name="TextBox 15"/>
          <p:cNvSpPr txBox="1"/>
          <p:nvPr/>
        </p:nvSpPr>
        <p:spPr>
          <a:xfrm>
            <a:off x="5504688" y="34107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Compute</a:t>
            </a:r>
          </a:p>
        </p:txBody>
      </p:sp>
      <p:sp>
        <p:nvSpPr>
          <p:cNvPr id="17" name="TextBox 16"/>
          <p:cNvSpPr txBox="1"/>
          <p:nvPr/>
        </p:nvSpPr>
        <p:spPr>
          <a:xfrm>
            <a:off x="6793992" y="338328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Ames Research Center</a:t>
            </a:r>
          </a:p>
        </p:txBody>
      </p:sp>
      <p:sp>
        <p:nvSpPr>
          <p:cNvPr id="18" name="TextBox 17"/>
          <p:cNvSpPr txBox="1"/>
          <p:nvPr/>
        </p:nvSpPr>
        <p:spPr>
          <a:xfrm>
            <a:off x="5504688" y="4041648"/>
            <a:ext cx="1188720" cy="365760"/>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Code and manuscript</a:t>
            </a:r>
          </a:p>
        </p:txBody>
      </p:sp>
      <p:sp>
        <p:nvSpPr>
          <p:cNvPr id="19" name="TextBox 18"/>
          <p:cNvSpPr txBox="1"/>
          <p:nvPr/>
        </p:nvSpPr>
        <p:spPr>
          <a:xfrm>
            <a:off x="6793992" y="402336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github.com/jasont314/nasa-mouse</a:t>
            </a:r>
          </a:p>
        </p:txBody>
      </p:sp>
      <p:sp>
        <p:nvSpPr>
          <p:cNvPr id="20" name="TextBox 19"/>
          <p:cNvSpPr txBox="1"/>
          <p:nvPr/>
        </p:nvSpPr>
        <p:spPr>
          <a:xfrm>
            <a:off x="5504688" y="5029200"/>
            <a:ext cx="5486400" cy="365760"/>
          </a:xfrm>
          <a:prstGeom prst="rect">
            <a:avLst/>
          </a:prstGeom>
          <a:noFill/>
        </p:spPr>
        <p:txBody>
          <a:bodyPr wrap="square" lIns="18288" rIns="18288" tIns="18288" bIns="18288" anchor="t">
            <a:spAutoFit/>
          </a:bodyPr>
          <a:lstStyle/>
          <a:p>
            <a:pPr algn="l">
              <a:spcAft>
                <a:spcPts val="0"/>
              </a:spcAft>
            </a:pPr>
            <a:r>
              <a:rPr sz="1350" b="0" i="1">
                <a:solidFill>
                  <a:srgbClr val="BFD0E1"/>
                </a:solidFill>
                <a:latin typeface="Arial"/>
              </a:rPr>
              <a:t>All biological associations were tested in observed OSDR profiles.</a:t>
            </a:r>
          </a:p>
        </p:txBody>
      </p:sp>
    </p:spTree>
  </p:cSld>
  <p:clrMapOvr>
    <a:masterClrMapping/>
  </p:clrMapOvr>
</p:sld>
</file>

<file path=ppt/theme/theme1.xml><?xml version="1.0" encoding="utf-8"?>
<a:theme xmlns:a="http://schemas.openxmlformats.org/drawingml/2006/main" name="1_Office Theme">
  <a:themeElements>
    <a:clrScheme name="BPS_2024_gold">
      <a:dk1>
        <a:srgbClr val="061F49"/>
      </a:dk1>
      <a:lt1>
        <a:srgbClr val="FFFFFF"/>
      </a:lt1>
      <a:dk2>
        <a:srgbClr val="061F49"/>
      </a:dk2>
      <a:lt2>
        <a:srgbClr val="E7E6E6"/>
      </a:lt2>
      <a:accent1>
        <a:srgbClr val="061F48"/>
      </a:accent1>
      <a:accent2>
        <a:srgbClr val="276644"/>
      </a:accent2>
      <a:accent3>
        <a:srgbClr val="D47800"/>
      </a:accent3>
      <a:accent4>
        <a:srgbClr val="D4BF88"/>
      </a:accent4>
      <a:accent5>
        <a:srgbClr val="8F6725"/>
      </a:accent5>
      <a:accent6>
        <a:srgbClr val="205391"/>
      </a:accent6>
      <a:hlink>
        <a:srgbClr val="205391"/>
      </a:hlink>
      <a:folHlink>
        <a:srgbClr val="0B3C91"/>
      </a:folHlink>
    </a:clrScheme>
    <a:fontScheme name="Arial Black-Arial">
      <a:majorFont>
        <a:latin typeface="Arial Black" panose="020B0A04020102020204"/>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24-01-24_BPS_PPT_Template" id="{F69818ED-1EB5-154C-9646-61EECBC32C17}" vid="{337BE73D-1FC8-8444-A6A2-B6928143BD4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43f8f0fe-7515-424d-86d7-0a337e4aa03f">
      <UserInfo>
        <DisplayName>Mangan, Keara L. (HQ-DP000)[BOOZ ALLEN &amp; HAMILTON INC]</DisplayName>
        <AccountId>13</AccountId>
        <AccountType/>
      </UserInfo>
      <UserInfo>
        <DisplayName>Gilbertson, Gamble (HQ-DP000)[EAST2]</DisplayName>
        <AccountId>15</AccountId>
        <AccountType/>
      </UserInfo>
      <UserInfo>
        <DisplayName>Lee, Jemie (HQ-DP000)[BOOZ ALLEN &amp; HAMILTON INC]</DisplayName>
        <AccountId>14</AccountId>
        <AccountType/>
      </UserInfo>
      <UserInfo>
        <DisplayName>White Lyons, Melanie M. (HQ-DP000)[BOOZ ALLEN &amp; HAMILTON INC]</DisplayName>
        <AccountId>12</AccountId>
        <AccountType/>
      </UserInfo>
      <UserInfo>
        <DisplayName>Lele, Julie (HQ-DM000)[BOOZ ALLEN &amp; HAMILTON INC]</DisplayName>
        <AccountId>10</AccountId>
        <AccountType/>
      </UserInfo>
      <UserInfo>
        <DisplayName>Burg, Joseph A. (HQ-DP000)[BOOZ ALLEN &amp; HAMILTON INC]</DisplayName>
        <AccountId>119</AccountId>
        <AccountType/>
      </UserInfo>
      <UserInfo>
        <DisplayName>Carnell, Lisa (HQ-DP000)</DisplayName>
        <AccountId>21</AccountId>
        <AccountType/>
      </UserInfo>
      <UserInfo>
        <DisplayName>Hertz, Paul (HQ-DA000)</DisplayName>
        <AccountId>100</AccountId>
        <AccountType/>
      </UserInfo>
      <UserInfo>
        <DisplayName>Fauntleroy, Haley (HQ-DP000)[BOOZ ALLEN &amp; HAMILTON INC]</DisplayName>
        <AccountId>22</AccountId>
        <AccountType/>
      </UserInfo>
      <UserInfo>
        <DisplayName>Cubberley, Hannah (HQ-DP000)[BOOZ ALLEN &amp; HAMILTON INC]</DisplayName>
        <AccountId>28</AccountId>
        <AccountType/>
      </UserInfo>
      <UserInfo>
        <DisplayName>Galazka, Jonathan M. (ARC-SC)</DisplayName>
        <AccountId>182</AccountId>
        <AccountType/>
      </UserInfo>
      <UserInfo>
        <DisplayName>Massa, Gioia D. (KSC-UBA00)</DisplayName>
        <AccountId>183</AccountId>
        <AccountType/>
      </UserInfo>
      <UserInfo>
        <DisplayName>Callas, John L (JPL-7500)[JPL Employee]</DisplayName>
        <AccountId>58</AccountId>
        <AccountType/>
      </UserInfo>
    </SharedWithUsers>
    <lcf76f155ced4ddcb4097134ff3c332f xmlns="6527ccf2-24c5-4a86-be07-80241091aeab">
      <Terms xmlns="http://schemas.microsoft.com/office/infopath/2007/PartnerControls"/>
    </lcf76f155ced4ddcb4097134ff3c332f>
    <TaxCatchAll xmlns="d900e117-17a0-4b24-9e47-511ef1d02c4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9211DFDB3DA3845BD556C40032E64D0" ma:contentTypeVersion="16" ma:contentTypeDescription="Create a new document." ma:contentTypeScope="" ma:versionID="6fb8bd780a822da7d8e3d3891ea50a85">
  <xsd:schema xmlns:xsd="http://www.w3.org/2001/XMLSchema" xmlns:xs="http://www.w3.org/2001/XMLSchema" xmlns:p="http://schemas.microsoft.com/office/2006/metadata/properties" xmlns:ns2="6527ccf2-24c5-4a86-be07-80241091aeab" xmlns:ns3="43f8f0fe-7515-424d-86d7-0a337e4aa03f" xmlns:ns4="d900e117-17a0-4b24-9e47-511ef1d02c43" targetNamespace="http://schemas.microsoft.com/office/2006/metadata/properties" ma:root="true" ma:fieldsID="cb6437ea38db5bccedba4b312cc29faa" ns2:_="" ns3:_="" ns4:_="">
    <xsd:import namespace="6527ccf2-24c5-4a86-be07-80241091aeab"/>
    <xsd:import namespace="43f8f0fe-7515-424d-86d7-0a337e4aa03f"/>
    <xsd:import namespace="d900e117-17a0-4b24-9e47-511ef1d02c43"/>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GenerationTime" minOccurs="0"/>
                <xsd:element ref="ns2:MediaServiceEventHashCode" minOccurs="0"/>
                <xsd:element ref="ns2:MediaServiceOCR" minOccurs="0"/>
                <xsd:element ref="ns2:MediaServiceLocation" minOccurs="0"/>
                <xsd:element ref="ns3:SharedWithUsers" minOccurs="0"/>
                <xsd:element ref="ns3:SharedWithDetails" minOccurs="0"/>
                <xsd:element ref="ns2:lcf76f155ced4ddcb4097134ff3c332f" minOccurs="0"/>
                <xsd:element ref="ns4:TaxCatchAll" minOccurs="0"/>
                <xsd:element ref="ns2:MediaLengthInSecond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527ccf2-24c5-4a86-be07-80241091aea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Location" ma:index="14" nillable="true" ma:displayName="Location" ma:internalName="MediaServiceLocation" ma:readOnly="true">
      <xsd:simpleType>
        <xsd:restriction base="dms:Text"/>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0fb68aea-d2ee-4a6c-85e6-e4b5686e96e8" ma:termSetId="09814cd3-568e-fe90-9814-8d621ff8fb84" ma:anchorId="fba54fb3-c3e1-fe81-a776-ca4b69148c4d" ma:open="true" ma:isKeyword="false">
      <xsd:complexType>
        <xsd:sequence>
          <xsd:element ref="pc:Terms" minOccurs="0" maxOccurs="1"/>
        </xsd:sequence>
      </xsd:complexType>
    </xsd:element>
    <xsd:element name="MediaLengthInSeconds" ma:index="20" nillable="true" ma:displayName="MediaLengthInSeconds" ma:hidden="true" ma:internalName="MediaLengthInSeconds" ma:readOnly="true">
      <xsd:simpleType>
        <xsd:restriction base="dms:Unknown"/>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3f8f0fe-7515-424d-86d7-0a337e4aa03f" elementFormDefault="qualified">
    <xsd:import namespace="http://schemas.microsoft.com/office/2006/documentManagement/types"/>
    <xsd:import namespace="http://schemas.microsoft.com/office/infopath/2007/PartnerControls"/>
    <xsd:element name="SharedWithUsers" ma:index="15"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d900e117-17a0-4b24-9e47-511ef1d02c43"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dea376dd-3888-4ec2-aac9-035288c88b0b}" ma:internalName="TaxCatchAll" ma:showField="CatchAllData" ma:web="43f8f0fe-7515-424d-86d7-0a337e4aa03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462A2FE-7911-4E6A-8BD5-16877A182B2F}">
  <ds:schemaRefs>
    <ds:schemaRef ds:uri="http://schemas.openxmlformats.org/package/2006/metadata/core-properties"/>
    <ds:schemaRef ds:uri="a3f7648c-ef34-4383-9913-3e4132c38d7f"/>
    <ds:schemaRef ds:uri="http://schemas.microsoft.com/office/infopath/2007/PartnerControls"/>
    <ds:schemaRef ds:uri="http://purl.org/dc/dcmitype/"/>
    <ds:schemaRef ds:uri="http://schemas.microsoft.com/office/2006/documentManagement/types"/>
    <ds:schemaRef ds:uri="http://purl.org/dc/elements/1.1/"/>
    <ds:schemaRef ds:uri="http://schemas.microsoft.com/office/2006/metadata/properties"/>
    <ds:schemaRef ds:uri="http://www.w3.org/XML/1998/namespace"/>
    <ds:schemaRef ds:uri="http://purl.org/dc/terms/"/>
    <ds:schemaRef ds:uri="c852713b-0caa-4ac0-ba75-048f00e27b76"/>
    <ds:schemaRef ds:uri="43f8f0fe-7515-424d-86d7-0a337e4aa03f"/>
    <ds:schemaRef ds:uri="6527ccf2-24c5-4a86-be07-80241091aeab"/>
    <ds:schemaRef ds:uri="d900e117-17a0-4b24-9e47-511ef1d02c43"/>
  </ds:schemaRefs>
</ds:datastoreItem>
</file>

<file path=customXml/itemProps2.xml><?xml version="1.0" encoding="utf-8"?>
<ds:datastoreItem xmlns:ds="http://schemas.openxmlformats.org/officeDocument/2006/customXml" ds:itemID="{2FDDDE26-D355-44FB-AB9E-19995162FF7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527ccf2-24c5-4a86-be07-80241091aeab"/>
    <ds:schemaRef ds:uri="43f8f0fe-7515-424d-86d7-0a337e4aa03f"/>
    <ds:schemaRef ds:uri="d900e117-17a0-4b24-9e47-511ef1d02c4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06B03FA-AE60-4B79-AD46-B79CDABDEAE0}">
  <ds:schemaRefs>
    <ds:schemaRef ds:uri="http://schemas.microsoft.com/sharepoint/v3/contenttype/forms"/>
  </ds:schemaRefs>
</ds:datastoreItem>
</file>

<file path=docMetadata/LabelInfo.xml><?xml version="1.0" encoding="utf-8"?>
<clbl:labelList xmlns:clbl="http://schemas.microsoft.com/office/2020/mipLabelMetadata">
  <clbl:label id="{7005d458-45be-48ae-8140-d43da96dd17b}" enabled="0" method="" siteId="{7005d458-45be-48ae-8140-d43da96dd17b}" removed="1"/>
</clbl:labelList>
</file>

<file path=docProps/app.xml><?xml version="1.0" encoding="utf-8"?>
<Properties xmlns="http://schemas.openxmlformats.org/officeDocument/2006/extended-properties" xmlns:vt="http://schemas.openxmlformats.org/officeDocument/2006/docPropsVTypes">
  <Template>2024-01-29_BPS_PPT_Template</Template>
  <TotalTime>5180</TotalTime>
  <Words>15</Words>
  <Application>Microsoft Office PowerPoint</Application>
  <PresentationFormat>Widescreen</PresentationFormat>
  <Paragraphs>6</Paragraphs>
  <Slides>2</Slides>
  <Notes>0</Notes>
  <HiddenSlides>0</HiddenSlides>
  <MMClips>0</MMClips>
  <ScaleCrop>false</ScaleCrop>
  <HeadingPairs>
    <vt:vector size="4" baseType="variant">
      <vt:variant>
        <vt:lpstr>Theme</vt:lpstr>
      </vt:variant>
      <vt:variant>
        <vt:i4>1</vt:i4>
      </vt:variant>
      <vt:variant>
        <vt:lpstr>Slide Titles</vt:lpstr>
      </vt:variant>
      <vt:variant>
        <vt:i4>2</vt:i4>
      </vt:variant>
    </vt:vector>
  </HeadingPairs>
  <TitlesOfParts>
    <vt:vector size="3" baseType="lpstr">
      <vt:lpstr>1_Office Theme</vt:lpstr>
      <vt:lpstr>PowerPoint Presentation</vt:lpstr>
      <vt:lpstr>PowerPoint Presentation</vt:lpstr>
    </vt:vector>
  </TitlesOfParts>
  <Company>NASA OCIO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Lele, Julie (HQ-DM000)[BOOZ ALLEN &amp; HAMILTON INC]</dc:creator>
  <cp:lastModifiedBy>Keller, Elizabeth E. (ARC-SC)[Amentum Services, Inc]</cp:lastModifiedBy>
  <cp:revision>178</cp:revision>
  <dcterms:created xsi:type="dcterms:W3CDTF">2024-01-29T19:52:06Z</dcterms:created>
  <dcterms:modified xsi:type="dcterms:W3CDTF">2026-06-29T22:38:13Z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0x01010019211DFDB3DA3845BD556C40032E64D0</vt:lpwstr>
  </property>
  <property fmtid="{D5CDD505-2E9C-101B-9397-08002B2CF9AE}" pid="3" name="MediaServiceImageTags">
    <vt:lpwstr/>
  </property>
</Properties>
</file>