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59" r:id="rId4"/>
  </p:sldMasterIdLst>
  <p:notesMasterIdLst>
    <p:notesMasterId r:id="rId7"/>
  </p:notesMasterIdLst>
  <p:handoutMasterIdLst>
    <p:handoutMasterId r:id="rId8"/>
  </p:handoutMasterIdLst>
  <p:sldIdLst>
    <p:sldId id="287" r:id="rId5"/>
    <p:sldId id="289" r:id="rId6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EBFE0"/>
    <a:srgbClr val="031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7E6095-EDCC-4DCB-AAC0-188518B1781D}" v="1" dt="2026-06-23T20:42:39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92"/>
    <p:restoredTop sz="96327"/>
  </p:normalViewPr>
  <p:slideViewPr>
    <p:cSldViewPr snapToGrid="0">
      <p:cViewPr varScale="1">
        <p:scale>
          <a:sx n="81" d="100"/>
          <a:sy n="81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92CBF8-18C8-31DD-F46C-61CCFF09E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9C4E16-CF32-DCE9-CFBA-3D18F258B5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638C3-A19C-B94C-9B49-D7DD60AEF655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86E82-0F97-5470-C173-872D3CB07D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EED87-86EF-9F01-82BC-41E7337896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65568-2AD1-0C41-AA57-6C66A9880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602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0CC5D-FA5D-CB42-BCB4-64310126220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039A1-DE79-214A-A305-FD855934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0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0:25</a:t>
            </a:r>
          </a:p>
          <a:p/>
          <a:p>
            <a:r>
              <a:t>Introduce the question. This talk asks whether generated expression can help analyze tissue-specific FLT versus GC biology without counting synthetic profiles as additional animals.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1:00</a:t>
            </a:r>
          </a:p>
          <a:p/>
          <a:p>
            <a:r>
              <a:t>OSDR gives broad tissue coverage, but the data are spread across 75 accessions with different mission and assay contexts. ARCHS4 supplies a much larger mouse reference. The challenge is to use that reference without letting study structure masquerade as spaceflight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1:10</a:t>
            </a:r>
          </a:p>
          <a:p/>
          <a:p>
            <a:r>
              <a:t>The framework kept the published model architectures and varied the surrounding choices. GeneJEPA was useful for representation but had no expression decoder. WGAN-GP and DDIM could generate profiles. The chosen DDIM used TPM, 974 mouse landmarks, ARCHS4 pretraining and OSDR adaptation conditioned on tissue, FLT/GC, accession and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0:55</a:t>
            </a:r>
          </a:p>
          <a:p/>
          <a:p>
            <a:r>
              <a:t>Read the panels from left to right. The same generated profiles begin as noise, develop structure by timestep 200 and approach tissue-conditioned regions at timestep zero. The axes are shared, so the visual change is not caused by rescaling each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1:15</a:t>
            </a:r>
          </a:p>
          <a:p/>
          <a:p>
            <a:r>
              <a:t>Both WGAN-GP and DDIM had high correlation and F1. DDIM had adversarial accuracy near 0.5 and a lower Frechet-distance ratio, so it was harder to separate from real profiles and closer in distribution. The metrics use each model's stated evaluation split, so this is a model-choice summary rather than a paired significance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1:15</a:t>
            </a:r>
          </a:p>
          <a:p/>
          <a:p>
            <a:r>
              <a:t>Synthetic data can be used for direct training, mixed training or feature guidance. Each tissue could choose among five arms. The eligibility check used held-out real profiles. Once features were nominated, FLT/GC effects and BH FDR were computed from observed OSDR samples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1:10</a:t>
            </a:r>
          </a:p>
          <a:p/>
          <a:p>
            <a:r>
              <a:t>The simplest pooled augmentation test was negative: balanced accuracy fell from 0.754 to 0.737 with real plus synthetic training. Tissue-specific analysis changed the result. Different tissues benefited from different synthetic uses, which argues against one global augmentation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1:05</a:t>
            </a:r>
          </a:p>
          <a:p/>
          <a:p>
            <a:r>
              <a:t>Reinforced genes were selected with and without synthetic guidance. Promoted genes crossed the stable-selection rule only with synthetic guidance. Promoted does not mean biologically novel. All 49 synthetic-informed tissue-gene associations also had a supporting effect and BH FDR below 0.05 in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1:25</a:t>
            </a:r>
          </a:p>
          <a:p/>
          <a:p>
            <a:r>
              <a:t>Thymus produced the clearest promoted panel. The lower mitotic and DNA-replication genes agree with prior reports of thymic involution and altered cell-cycle expression after flight. Because this is bulk RNA-seq, the signal could reflect fewer cycling thymocytes, lower transcription within those cells 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1:15</a:t>
            </a:r>
          </a:p>
          <a:p/>
          <a:p>
            <a:r>
              <a:t>Soleus improved with real plus generated training. The selected genes were already stable in real-only analysis, so synthetic data reinforced rather than introduced the panel. Lower Bdh1, Ech1, Bnip3 and Decr1, with higher Tpm1, support altered oxidative metabolism and contractile remodeling.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1:00</a:t>
            </a:r>
          </a:p>
          <a:p/>
          <a:p>
            <a:r>
              <a:t>Kidney supplied the strongest secondary pair: promoted Inpp4b and reinforced Slc37a4. Spleen, skin and adrenal results are narrower. Lung and retina improved predictively without a synthetic-informed BH-FDR gene, while liver, EDL and quadriceps retained real-only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0:55</a:t>
            </a:r>
          </a:p>
          <a:p/>
          <a:p>
            <a:r>
              <a:t>The main result is not that synthetic samples increase biological n. The useful role was tissue-specific feature ranking or limited regularization. The next decisive test is complete-accession holdout followed by validation of the thymus, soleus and kidney hypotheses in independent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time: 0:10</a:t>
            </a:r>
          </a:p>
          <a:p/>
          <a:p>
            <a:r>
              <a:t>Acknowledge the mentor, SLSTP, NASA OSDR, ARCHS4, Reactome and NASA Ames compute.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Relationship Id="rId17" Type="http://schemas.openxmlformats.org/officeDocument/2006/relationships/image" Target="../media/image7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1403792-C452-45B8-A50E-5D7E7B3AF1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27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E77D0F7-4A6B-4045-B534-3DB6A60EA85B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500101" y="3895025"/>
            <a:ext cx="4774425" cy="365125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9EB2794A-5528-E000-6303-F23EDF3D2A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102" y="1297175"/>
            <a:ext cx="4774425" cy="2374669"/>
          </a:xfrm>
        </p:spPr>
        <p:txBody>
          <a:bodyPr anchor="b"/>
          <a:lstStyle>
            <a:lvl1pPr marL="0" indent="0" algn="l">
              <a:buNone/>
              <a:defRPr sz="36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713B4-5E0C-24BD-8049-E50B082A50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1262" y="398340"/>
            <a:ext cx="888827" cy="740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688442-0230-1582-A41F-57E75101CEF7}"/>
              </a:ext>
            </a:extLst>
          </p:cNvPr>
          <p:cNvSpPr txBox="1"/>
          <p:nvPr userDrawn="1"/>
        </p:nvSpPr>
        <p:spPr>
          <a:xfrm>
            <a:off x="8654144" y="537854"/>
            <a:ext cx="1922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0" dirty="0">
                <a:solidFill>
                  <a:schemeClr val="bg1"/>
                </a:solidFill>
                <a:effectLst>
                  <a:outerShdw blurRad="159992" dist="49945" dir="2700000" algn="tl" rotWithShape="0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National Aeronautics and Space Administration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B95B80-9B88-7F4C-049E-8C0069365EA9}"/>
              </a:ext>
            </a:extLst>
          </p:cNvPr>
          <p:cNvCxnSpPr/>
          <p:nvPr userDrawn="1"/>
        </p:nvCxnSpPr>
        <p:spPr>
          <a:xfrm>
            <a:off x="10764013" y="537853"/>
            <a:ext cx="0" cy="4616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9BA426D5-CE2B-D46C-E493-D02FFAA865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8811"/>
            <a:ext cx="3884861" cy="1719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2A5107-22C8-EFF2-D258-3F67CDB1A001}"/>
              </a:ext>
            </a:extLst>
          </p:cNvPr>
          <p:cNvSpPr txBox="1"/>
          <p:nvPr userDrawn="1"/>
        </p:nvSpPr>
        <p:spPr>
          <a:xfrm>
            <a:off x="500101" y="6296266"/>
            <a:ext cx="3657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iological &amp; </a:t>
            </a: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hysical </a:t>
            </a:r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b="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ciences</a:t>
            </a:r>
          </a:p>
        </p:txBody>
      </p:sp>
    </p:spTree>
    <p:extLst>
      <p:ext uri="{BB962C8B-B14F-4D97-AF65-F5344CB8AC3E}">
        <p14:creationId xmlns:p14="http://schemas.microsoft.com/office/powerpoint/2010/main" val="339096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E8CFB-2DE8-BA24-FFBC-66F77875D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Agenda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B3E43-6742-FF22-D2F2-033E1364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6FCE7-3724-2CFD-0646-F383DB2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2148" y="100584"/>
            <a:ext cx="1059704" cy="261258"/>
          </a:xfrm>
        </p:spPr>
        <p:txBody>
          <a:bodyPr/>
          <a:lstStyle/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466CDE3-4631-5FA9-337A-DF847EAAD5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4652" y="2247900"/>
            <a:ext cx="3974845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2A51E4DB-9ABE-A139-7B46-5FC5513303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0" y="2247900"/>
            <a:ext cx="4343400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B35BDAA-D931-DC03-6B00-6EDF027908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400" y="2209800"/>
            <a:ext cx="685800" cy="68580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4000">
                <a:gradFill>
                  <a:gsLst>
                    <a:gs pos="86000">
                      <a:schemeClr val="accent3"/>
                    </a:gs>
                    <a:gs pos="47000">
                      <a:schemeClr val="accent2"/>
                    </a:gs>
                    <a:gs pos="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EF503090-B911-7788-8B94-3F88CA4797F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23949" y="2209800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82000">
                      <a:schemeClr val="accent3"/>
                    </a:gs>
                    <a:gs pos="45000">
                      <a:schemeClr val="accent2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65D9DAC4-C562-9524-30AD-991D271FE6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24652" y="3627249"/>
            <a:ext cx="3974845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36" name="Text Placeholder 21">
            <a:extLst>
              <a:ext uri="{FF2B5EF4-FFF2-40B4-BE49-F238E27FC236}">
                <a16:creationId xmlns:a16="http://schemas.microsoft.com/office/drawing/2014/main" id="{7E647AC1-0BB7-0678-1B8A-177F4146A7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34200" y="3627249"/>
            <a:ext cx="4343400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B55453C0-7B23-AC50-10FE-E961216AD9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400" y="3589149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78000">
                      <a:schemeClr val="accent3"/>
                    </a:gs>
                    <a:gs pos="39000">
                      <a:schemeClr val="accent2"/>
                    </a:gs>
                    <a:gs pos="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1A5B7077-E4C0-3DD2-DCA8-E8A197F1C9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23949" y="3589149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77000">
                      <a:schemeClr val="accent3"/>
                    </a:gs>
                    <a:gs pos="45000">
                      <a:schemeClr val="accent2"/>
                    </a:gs>
                    <a:gs pos="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B32EE1BF-44FE-201B-EF31-3ED8FF5BA7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24652" y="4913609"/>
            <a:ext cx="3974845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2F676D19-8F83-696C-ACFF-7F910A6C81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34200" y="4913609"/>
            <a:ext cx="4343400" cy="609600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addenda item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4936C6BE-C8B8-20C6-9C05-FD330B16C0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4400" y="4875509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87000">
                      <a:schemeClr val="accent3"/>
                    </a:gs>
                    <a:gs pos="45000">
                      <a:schemeClr val="accent2"/>
                    </a:gs>
                    <a:gs pos="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9DBD5D19-811F-095E-D5BA-1EE3AC8F976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23949" y="4875509"/>
            <a:ext cx="685800" cy="685800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sz="4000" dirty="0">
                <a:gradFill>
                  <a:gsLst>
                    <a:gs pos="72000">
                      <a:schemeClr val="accent3"/>
                    </a:gs>
                    <a:gs pos="45000">
                      <a:schemeClr val="accent2"/>
                    </a:gs>
                    <a:gs pos="4000">
                      <a:schemeClr val="tx1"/>
                    </a:gs>
                  </a:gsLst>
                  <a:lin ang="3600000" scaled="0"/>
                </a:gradFill>
                <a:latin typeface="+mj-lt"/>
              </a:defRPr>
            </a:lvl1pPr>
          </a:lstStyle>
          <a:p>
            <a:pPr marL="228600" lvl="0" indent="-228600" algn="ctr"/>
            <a:r>
              <a:rPr lang="en-US" dirty="0"/>
              <a:t>#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2FAC8BE-D606-2853-844A-E2C15955DC7D}"/>
              </a:ext>
            </a:extLst>
          </p:cNvPr>
          <p:cNvCxnSpPr/>
          <p:nvPr userDrawn="1"/>
        </p:nvCxnSpPr>
        <p:spPr>
          <a:xfrm>
            <a:off x="838200" y="219075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8BB1695-58EE-644B-7EE8-11F922C6661D}"/>
              </a:ext>
            </a:extLst>
          </p:cNvPr>
          <p:cNvCxnSpPr>
            <a:cxnSpLocks/>
          </p:cNvCxnSpPr>
          <p:nvPr userDrawn="1"/>
        </p:nvCxnSpPr>
        <p:spPr>
          <a:xfrm>
            <a:off x="1600200" y="211455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52F9823-AA54-9873-16F2-263321455B45}"/>
              </a:ext>
            </a:extLst>
          </p:cNvPr>
          <p:cNvCxnSpPr/>
          <p:nvPr userDrawn="1"/>
        </p:nvCxnSpPr>
        <p:spPr>
          <a:xfrm>
            <a:off x="838200" y="3590925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F1A9CBD-3464-B5A2-6E8D-EE3FD067EE09}"/>
              </a:ext>
            </a:extLst>
          </p:cNvPr>
          <p:cNvCxnSpPr>
            <a:cxnSpLocks/>
          </p:cNvCxnSpPr>
          <p:nvPr userDrawn="1"/>
        </p:nvCxnSpPr>
        <p:spPr>
          <a:xfrm>
            <a:off x="1600200" y="3514725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EED8E47-E2B6-E0EF-495A-1545B3213F3D}"/>
              </a:ext>
            </a:extLst>
          </p:cNvPr>
          <p:cNvCxnSpPr/>
          <p:nvPr userDrawn="1"/>
        </p:nvCxnSpPr>
        <p:spPr>
          <a:xfrm>
            <a:off x="838200" y="487680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1607ECD-AA81-BC83-3C78-B9336CCDEEF0}"/>
              </a:ext>
            </a:extLst>
          </p:cNvPr>
          <p:cNvCxnSpPr>
            <a:cxnSpLocks/>
          </p:cNvCxnSpPr>
          <p:nvPr userDrawn="1"/>
        </p:nvCxnSpPr>
        <p:spPr>
          <a:xfrm>
            <a:off x="1600200" y="480060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5E098EB-268C-67D8-9802-3DFD2843FEB8}"/>
              </a:ext>
            </a:extLst>
          </p:cNvPr>
          <p:cNvCxnSpPr/>
          <p:nvPr userDrawn="1"/>
        </p:nvCxnSpPr>
        <p:spPr>
          <a:xfrm>
            <a:off x="5943600" y="219075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C41966B-39B9-FA80-34EE-34DB2BBC90AA}"/>
              </a:ext>
            </a:extLst>
          </p:cNvPr>
          <p:cNvCxnSpPr>
            <a:cxnSpLocks/>
          </p:cNvCxnSpPr>
          <p:nvPr userDrawn="1"/>
        </p:nvCxnSpPr>
        <p:spPr>
          <a:xfrm>
            <a:off x="6705600" y="211455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67F3916-0A34-3DFE-C40C-9CE5F118C59D}"/>
              </a:ext>
            </a:extLst>
          </p:cNvPr>
          <p:cNvCxnSpPr/>
          <p:nvPr userDrawn="1"/>
        </p:nvCxnSpPr>
        <p:spPr>
          <a:xfrm>
            <a:off x="5943600" y="3590925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0580B0B-C3BC-E6B2-4F7A-A8BC4CBEC5D4}"/>
              </a:ext>
            </a:extLst>
          </p:cNvPr>
          <p:cNvCxnSpPr>
            <a:cxnSpLocks/>
          </p:cNvCxnSpPr>
          <p:nvPr userDrawn="1"/>
        </p:nvCxnSpPr>
        <p:spPr>
          <a:xfrm>
            <a:off x="6705600" y="3514725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04EA6A-A0F1-4A1F-D752-01EC9413BD08}"/>
              </a:ext>
            </a:extLst>
          </p:cNvPr>
          <p:cNvCxnSpPr/>
          <p:nvPr userDrawn="1"/>
        </p:nvCxnSpPr>
        <p:spPr>
          <a:xfrm>
            <a:off x="5943600" y="4876800"/>
            <a:ext cx="838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332F554-64FA-44EB-F6C0-65BB814F9D34}"/>
              </a:ext>
            </a:extLst>
          </p:cNvPr>
          <p:cNvCxnSpPr>
            <a:cxnSpLocks/>
          </p:cNvCxnSpPr>
          <p:nvPr userDrawn="1"/>
        </p:nvCxnSpPr>
        <p:spPr>
          <a:xfrm>
            <a:off x="6705600" y="480060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53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9F04-8166-A3DC-744C-551C5EB8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A6FEB-A7E9-41A9-BE32-02FF741C9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16430"/>
            <a:ext cx="10325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22C68-F3F1-F728-F8AB-7545FFD2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5FC8917-4CA3-53EC-49EA-1322608A3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/>
                </a:solidFill>
              </a:defRPr>
            </a:lvl1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2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Den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9F04-8166-A3DC-744C-551C5EB8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A6FEB-A7E9-41A9-BE32-02FF741C9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16430"/>
            <a:ext cx="103251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22C68-F3F1-F728-F8AB-7545FFD2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A23E4-0FD3-1AC3-FD06-43716C74AFB9}"/>
              </a:ext>
            </a:extLst>
          </p:cNvPr>
          <p:cNvSpPr txBox="1">
            <a:spLocks/>
          </p:cNvSpPr>
          <p:nvPr userDrawn="1"/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77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 - Biolog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3F2C-644C-9402-B8E1-8E0A86BA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172" y="1672824"/>
            <a:ext cx="7616282" cy="2196649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101CB-2432-9C1F-28C9-0741354D3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171" y="4039593"/>
            <a:ext cx="7616283" cy="1500187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en-US" sz="2400" b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E6D588-E497-F70E-167F-4EDACDAF3709}"/>
              </a:ext>
            </a:extLst>
          </p:cNvPr>
          <p:cNvSpPr txBox="1">
            <a:spLocks/>
          </p:cNvSpPr>
          <p:nvPr userDrawn="1"/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0383140C-6BE5-F602-5CA0-3D03E6996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8811"/>
            <a:ext cx="3884861" cy="171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6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- Biolog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3F2C-644C-9402-B8E1-8E0A86BA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172" y="1672824"/>
            <a:ext cx="7616282" cy="2196649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101CB-2432-9C1F-28C9-0741354D3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171" y="4039593"/>
            <a:ext cx="7616283" cy="1500187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en-US" sz="2400" b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E6D588-E497-F70E-167F-4EDACDAF3709}"/>
              </a:ext>
            </a:extLst>
          </p:cNvPr>
          <p:cNvSpPr txBox="1">
            <a:spLocks/>
          </p:cNvSpPr>
          <p:nvPr userDrawn="1"/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0383140C-6BE5-F602-5CA0-3D03E6996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8811"/>
            <a:ext cx="3884861" cy="171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Section Header - Biolog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3F2C-644C-9402-B8E1-8E0A86BA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172" y="1672824"/>
            <a:ext cx="7616282" cy="2196649"/>
          </a:xfrm>
        </p:spPr>
        <p:txBody>
          <a:bodyPr vert="horz" lIns="91440" tIns="45720" rIns="91440" bIns="45720" rtlCol="0" anchor="b">
            <a:normAutofit/>
          </a:bodyPr>
          <a:lstStyle>
            <a:lvl1pPr algn="l"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101CB-2432-9C1F-28C9-0741354D3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7171" y="4039593"/>
            <a:ext cx="7616283" cy="1500187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en-US" sz="2400" b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E6D588-E497-F70E-167F-4EDACDAF3709}"/>
              </a:ext>
            </a:extLst>
          </p:cNvPr>
          <p:cNvSpPr txBox="1">
            <a:spLocks/>
          </p:cNvSpPr>
          <p:nvPr userDrawn="1"/>
        </p:nvSpPr>
        <p:spPr>
          <a:xfrm>
            <a:off x="11662148" y="100584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0383140C-6BE5-F602-5CA0-3D03E6996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3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8811"/>
            <a:ext cx="3884861" cy="171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3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C8C6-C4E6-E1A4-9BB3-02E2E29D4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270760"/>
            <a:ext cx="49149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05E9D-2162-ED5F-D5C4-2810CEA16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6758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1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BC8566AA-00D7-499C-0F3E-2067A61875E1}"/>
              </a:ext>
            </a:extLst>
          </p:cNvPr>
          <p:cNvSpPr/>
          <p:nvPr userDrawn="1"/>
        </p:nvSpPr>
        <p:spPr>
          <a:xfrm>
            <a:off x="-22302" y="468351"/>
            <a:ext cx="7304048" cy="6400800"/>
          </a:xfrm>
          <a:custGeom>
            <a:avLst/>
            <a:gdLst>
              <a:gd name="connsiteX0" fmla="*/ 0 w 7304048"/>
              <a:gd name="connsiteY0" fmla="*/ 0 h 6400800"/>
              <a:gd name="connsiteX1" fmla="*/ 5832087 w 7304048"/>
              <a:gd name="connsiteY1" fmla="*/ 0 h 6400800"/>
              <a:gd name="connsiteX2" fmla="*/ 7304048 w 7304048"/>
              <a:gd name="connsiteY2" fmla="*/ 6400800 h 6400800"/>
              <a:gd name="connsiteX3" fmla="*/ 11151 w 7304048"/>
              <a:gd name="connsiteY3" fmla="*/ 6400800 h 6400800"/>
              <a:gd name="connsiteX4" fmla="*/ 11151 w 7304048"/>
              <a:gd name="connsiteY4" fmla="*/ 6300439 h 6400800"/>
              <a:gd name="connsiteX5" fmla="*/ 0 w 7304048"/>
              <a:gd name="connsiteY5" fmla="*/ 0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04048" h="6400800">
                <a:moveTo>
                  <a:pt x="0" y="0"/>
                </a:moveTo>
                <a:lnTo>
                  <a:pt x="5832087" y="0"/>
                </a:lnTo>
                <a:lnTo>
                  <a:pt x="7304048" y="6400800"/>
                </a:lnTo>
                <a:lnTo>
                  <a:pt x="11151" y="6400800"/>
                </a:lnTo>
                <a:lnTo>
                  <a:pt x="11151" y="630043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EF21C4-1197-17A3-5E0D-4F7593E8A9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17279" y="484554"/>
            <a:ext cx="6369555" cy="6373446"/>
          </a:xfrm>
          <a:custGeom>
            <a:avLst/>
            <a:gdLst>
              <a:gd name="connsiteX0" fmla="*/ 0 w 6400800"/>
              <a:gd name="connsiteY0" fmla="*/ 6200317 h 6200317"/>
              <a:gd name="connsiteX1" fmla="*/ 1550079 w 6400800"/>
              <a:gd name="connsiteY1" fmla="*/ 0 h 6200317"/>
              <a:gd name="connsiteX2" fmla="*/ 6400800 w 6400800"/>
              <a:gd name="connsiteY2" fmla="*/ 0 h 6200317"/>
              <a:gd name="connsiteX3" fmla="*/ 4850721 w 6400800"/>
              <a:gd name="connsiteY3" fmla="*/ 6200317 h 6200317"/>
              <a:gd name="connsiteX4" fmla="*/ 0 w 6400800"/>
              <a:gd name="connsiteY4" fmla="*/ 6200317 h 6200317"/>
              <a:gd name="connsiteX0" fmla="*/ 0 w 6400800"/>
              <a:gd name="connsiteY0" fmla="*/ 6200317 h 6200317"/>
              <a:gd name="connsiteX1" fmla="*/ 26079 w 6400800"/>
              <a:gd name="connsiteY1" fmla="*/ 0 h 6200317"/>
              <a:gd name="connsiteX2" fmla="*/ 6400800 w 6400800"/>
              <a:gd name="connsiteY2" fmla="*/ 0 h 6200317"/>
              <a:gd name="connsiteX3" fmla="*/ 4850721 w 6400800"/>
              <a:gd name="connsiteY3" fmla="*/ 6200317 h 6200317"/>
              <a:gd name="connsiteX4" fmla="*/ 0 w 6400800"/>
              <a:gd name="connsiteY4" fmla="*/ 6200317 h 6200317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4824642 w 6374721"/>
              <a:gd name="connsiteY3" fmla="*/ 6200317 h 6228026"/>
              <a:gd name="connsiteX4" fmla="*/ 1470212 w 6374721"/>
              <a:gd name="connsiteY4" fmla="*/ 6228026 h 6228026"/>
              <a:gd name="connsiteX0" fmla="*/ 1470212 w 6374721"/>
              <a:gd name="connsiteY0" fmla="*/ 6228026 h 6255735"/>
              <a:gd name="connsiteX1" fmla="*/ 0 w 6374721"/>
              <a:gd name="connsiteY1" fmla="*/ 0 h 6255735"/>
              <a:gd name="connsiteX2" fmla="*/ 6374721 w 6374721"/>
              <a:gd name="connsiteY2" fmla="*/ 0 h 6255735"/>
              <a:gd name="connsiteX3" fmla="*/ 6362496 w 6374721"/>
              <a:gd name="connsiteY3" fmla="*/ 6255735 h 6255735"/>
              <a:gd name="connsiteX4" fmla="*/ 1470212 w 6374721"/>
              <a:gd name="connsiteY4" fmla="*/ 6228026 h 6255735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70212 w 6374721"/>
              <a:gd name="connsiteY4" fmla="*/ 6228026 h 6228026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70212 w 6374721"/>
              <a:gd name="connsiteY4" fmla="*/ 6228026 h 6228026"/>
              <a:gd name="connsiteX0" fmla="*/ 1465046 w 6374721"/>
              <a:gd name="connsiteY0" fmla="*/ 6207361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65046 w 6374721"/>
              <a:gd name="connsiteY4" fmla="*/ 6207361 h 6228026"/>
              <a:gd name="connsiteX0" fmla="*/ 1465046 w 6374721"/>
              <a:gd name="connsiteY0" fmla="*/ 6207361 h 6207361"/>
              <a:gd name="connsiteX1" fmla="*/ 0 w 6374721"/>
              <a:gd name="connsiteY1" fmla="*/ 0 h 6207361"/>
              <a:gd name="connsiteX2" fmla="*/ 6374721 w 6374721"/>
              <a:gd name="connsiteY2" fmla="*/ 0 h 6207361"/>
              <a:gd name="connsiteX3" fmla="*/ 6367662 w 6374721"/>
              <a:gd name="connsiteY3" fmla="*/ 6207361 h 6207361"/>
              <a:gd name="connsiteX4" fmla="*/ 1465046 w 6374721"/>
              <a:gd name="connsiteY4" fmla="*/ 6207361 h 6207361"/>
              <a:gd name="connsiteX0" fmla="*/ 1465046 w 6374721"/>
              <a:gd name="connsiteY0" fmla="*/ 6207361 h 6207361"/>
              <a:gd name="connsiteX1" fmla="*/ 0 w 6374721"/>
              <a:gd name="connsiteY1" fmla="*/ 5166 h 6207361"/>
              <a:gd name="connsiteX2" fmla="*/ 6374721 w 6374721"/>
              <a:gd name="connsiteY2" fmla="*/ 0 h 6207361"/>
              <a:gd name="connsiteX3" fmla="*/ 6367662 w 6374721"/>
              <a:gd name="connsiteY3" fmla="*/ 6207361 h 6207361"/>
              <a:gd name="connsiteX4" fmla="*/ 1465046 w 6374721"/>
              <a:gd name="connsiteY4" fmla="*/ 6207361 h 6207361"/>
              <a:gd name="connsiteX0" fmla="*/ 1465046 w 6369555"/>
              <a:gd name="connsiteY0" fmla="*/ 6202195 h 6202195"/>
              <a:gd name="connsiteX1" fmla="*/ 0 w 6369555"/>
              <a:gd name="connsiteY1" fmla="*/ 0 h 6202195"/>
              <a:gd name="connsiteX2" fmla="*/ 6369555 w 6369555"/>
              <a:gd name="connsiteY2" fmla="*/ 0 h 6202195"/>
              <a:gd name="connsiteX3" fmla="*/ 6367662 w 6369555"/>
              <a:gd name="connsiteY3" fmla="*/ 6202195 h 6202195"/>
              <a:gd name="connsiteX4" fmla="*/ 1465046 w 6369555"/>
              <a:gd name="connsiteY4" fmla="*/ 6202195 h 6202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69555" h="6202195">
                <a:moveTo>
                  <a:pt x="1465046" y="6202195"/>
                </a:moveTo>
                <a:lnTo>
                  <a:pt x="0" y="0"/>
                </a:lnTo>
                <a:lnTo>
                  <a:pt x="6369555" y="0"/>
                </a:lnTo>
                <a:lnTo>
                  <a:pt x="6367662" y="6202195"/>
                </a:lnTo>
                <a:lnTo>
                  <a:pt x="1465046" y="6202195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16255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08252"/>
            <a:ext cx="5181600" cy="39624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53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Pictur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EF21C4-1197-17A3-5E0D-4F7593E8A9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73487" y="482551"/>
            <a:ext cx="6613348" cy="6375449"/>
          </a:xfrm>
          <a:custGeom>
            <a:avLst/>
            <a:gdLst>
              <a:gd name="connsiteX0" fmla="*/ 0 w 6400800"/>
              <a:gd name="connsiteY0" fmla="*/ 6200317 h 6200317"/>
              <a:gd name="connsiteX1" fmla="*/ 1550079 w 6400800"/>
              <a:gd name="connsiteY1" fmla="*/ 0 h 6200317"/>
              <a:gd name="connsiteX2" fmla="*/ 6400800 w 6400800"/>
              <a:gd name="connsiteY2" fmla="*/ 0 h 6200317"/>
              <a:gd name="connsiteX3" fmla="*/ 4850721 w 6400800"/>
              <a:gd name="connsiteY3" fmla="*/ 6200317 h 6200317"/>
              <a:gd name="connsiteX4" fmla="*/ 0 w 6400800"/>
              <a:gd name="connsiteY4" fmla="*/ 6200317 h 6200317"/>
              <a:gd name="connsiteX0" fmla="*/ 0 w 6400800"/>
              <a:gd name="connsiteY0" fmla="*/ 6200317 h 6200317"/>
              <a:gd name="connsiteX1" fmla="*/ 26079 w 6400800"/>
              <a:gd name="connsiteY1" fmla="*/ 0 h 6200317"/>
              <a:gd name="connsiteX2" fmla="*/ 6400800 w 6400800"/>
              <a:gd name="connsiteY2" fmla="*/ 0 h 6200317"/>
              <a:gd name="connsiteX3" fmla="*/ 4850721 w 6400800"/>
              <a:gd name="connsiteY3" fmla="*/ 6200317 h 6200317"/>
              <a:gd name="connsiteX4" fmla="*/ 0 w 6400800"/>
              <a:gd name="connsiteY4" fmla="*/ 6200317 h 6200317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4824642 w 6374721"/>
              <a:gd name="connsiteY3" fmla="*/ 6200317 h 6228026"/>
              <a:gd name="connsiteX4" fmla="*/ 1470212 w 6374721"/>
              <a:gd name="connsiteY4" fmla="*/ 6228026 h 6228026"/>
              <a:gd name="connsiteX0" fmla="*/ 1470212 w 6374721"/>
              <a:gd name="connsiteY0" fmla="*/ 6228026 h 6255735"/>
              <a:gd name="connsiteX1" fmla="*/ 0 w 6374721"/>
              <a:gd name="connsiteY1" fmla="*/ 0 h 6255735"/>
              <a:gd name="connsiteX2" fmla="*/ 6374721 w 6374721"/>
              <a:gd name="connsiteY2" fmla="*/ 0 h 6255735"/>
              <a:gd name="connsiteX3" fmla="*/ 6362496 w 6374721"/>
              <a:gd name="connsiteY3" fmla="*/ 6255735 h 6255735"/>
              <a:gd name="connsiteX4" fmla="*/ 1470212 w 6374721"/>
              <a:gd name="connsiteY4" fmla="*/ 6228026 h 6255735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70212 w 6374721"/>
              <a:gd name="connsiteY4" fmla="*/ 6228026 h 6228026"/>
              <a:gd name="connsiteX0" fmla="*/ 1470212 w 6374721"/>
              <a:gd name="connsiteY0" fmla="*/ 6228026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70212 w 6374721"/>
              <a:gd name="connsiteY4" fmla="*/ 6228026 h 6228026"/>
              <a:gd name="connsiteX0" fmla="*/ 1465046 w 6374721"/>
              <a:gd name="connsiteY0" fmla="*/ 6207361 h 6228026"/>
              <a:gd name="connsiteX1" fmla="*/ 0 w 6374721"/>
              <a:gd name="connsiteY1" fmla="*/ 0 h 6228026"/>
              <a:gd name="connsiteX2" fmla="*/ 6374721 w 6374721"/>
              <a:gd name="connsiteY2" fmla="*/ 0 h 6228026"/>
              <a:gd name="connsiteX3" fmla="*/ 6362496 w 6374721"/>
              <a:gd name="connsiteY3" fmla="*/ 6228026 h 6228026"/>
              <a:gd name="connsiteX4" fmla="*/ 1465046 w 6374721"/>
              <a:gd name="connsiteY4" fmla="*/ 6207361 h 6228026"/>
              <a:gd name="connsiteX0" fmla="*/ 1465046 w 6374721"/>
              <a:gd name="connsiteY0" fmla="*/ 6207361 h 6207361"/>
              <a:gd name="connsiteX1" fmla="*/ 0 w 6374721"/>
              <a:gd name="connsiteY1" fmla="*/ 0 h 6207361"/>
              <a:gd name="connsiteX2" fmla="*/ 6374721 w 6374721"/>
              <a:gd name="connsiteY2" fmla="*/ 0 h 6207361"/>
              <a:gd name="connsiteX3" fmla="*/ 6367662 w 6374721"/>
              <a:gd name="connsiteY3" fmla="*/ 6207361 h 6207361"/>
              <a:gd name="connsiteX4" fmla="*/ 1465046 w 6374721"/>
              <a:gd name="connsiteY4" fmla="*/ 6207361 h 6207361"/>
              <a:gd name="connsiteX0" fmla="*/ 1465046 w 6374721"/>
              <a:gd name="connsiteY0" fmla="*/ 6207361 h 6207361"/>
              <a:gd name="connsiteX1" fmla="*/ 0 w 6374721"/>
              <a:gd name="connsiteY1" fmla="*/ 5166 h 6207361"/>
              <a:gd name="connsiteX2" fmla="*/ 6374721 w 6374721"/>
              <a:gd name="connsiteY2" fmla="*/ 0 h 6207361"/>
              <a:gd name="connsiteX3" fmla="*/ 6367662 w 6374721"/>
              <a:gd name="connsiteY3" fmla="*/ 6207361 h 6207361"/>
              <a:gd name="connsiteX4" fmla="*/ 1465046 w 6374721"/>
              <a:gd name="connsiteY4" fmla="*/ 6207361 h 6207361"/>
              <a:gd name="connsiteX0" fmla="*/ 1465046 w 6369555"/>
              <a:gd name="connsiteY0" fmla="*/ 6202195 h 6202195"/>
              <a:gd name="connsiteX1" fmla="*/ 0 w 6369555"/>
              <a:gd name="connsiteY1" fmla="*/ 0 h 6202195"/>
              <a:gd name="connsiteX2" fmla="*/ 6369555 w 6369555"/>
              <a:gd name="connsiteY2" fmla="*/ 0 h 6202195"/>
              <a:gd name="connsiteX3" fmla="*/ 6367662 w 6369555"/>
              <a:gd name="connsiteY3" fmla="*/ 6202195 h 6202195"/>
              <a:gd name="connsiteX4" fmla="*/ 1465046 w 6369555"/>
              <a:gd name="connsiteY4" fmla="*/ 6202195 h 6202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69555" h="6202195">
                <a:moveTo>
                  <a:pt x="1465046" y="6202195"/>
                </a:moveTo>
                <a:lnTo>
                  <a:pt x="0" y="0"/>
                </a:lnTo>
                <a:lnTo>
                  <a:pt x="6369555" y="0"/>
                </a:lnTo>
                <a:lnTo>
                  <a:pt x="6367662" y="6202195"/>
                </a:lnTo>
                <a:lnTo>
                  <a:pt x="1465046" y="6202195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1625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03704"/>
            <a:ext cx="5181600" cy="39624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4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_Picture w/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4EC17A-0229-9D9E-4F3E-BBAF3C9EC60A}"/>
              </a:ext>
            </a:extLst>
          </p:cNvPr>
          <p:cNvSpPr/>
          <p:nvPr userDrawn="1"/>
        </p:nvSpPr>
        <p:spPr>
          <a:xfrm>
            <a:off x="6324600" y="750848"/>
            <a:ext cx="5562600" cy="5715000"/>
          </a:xfrm>
          <a:prstGeom prst="roundRect">
            <a:avLst>
              <a:gd name="adj" fmla="val 6243"/>
            </a:avLst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7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1625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03704"/>
            <a:ext cx="5181600" cy="39624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093D01D-E4EE-57C8-4839-A436BF0AE8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903248"/>
            <a:ext cx="5257800" cy="5410200"/>
          </a:xfrm>
          <a:prstGeom prst="roundRect">
            <a:avLst>
              <a:gd name="adj" fmla="val 6063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2919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_2 Pictures w/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4EC17A-0229-9D9E-4F3E-BBAF3C9EC60A}"/>
              </a:ext>
            </a:extLst>
          </p:cNvPr>
          <p:cNvSpPr/>
          <p:nvPr userDrawn="1"/>
        </p:nvSpPr>
        <p:spPr>
          <a:xfrm>
            <a:off x="6781800" y="731195"/>
            <a:ext cx="5029200" cy="2873829"/>
          </a:xfrm>
          <a:prstGeom prst="roundRect">
            <a:avLst>
              <a:gd name="adj" fmla="val 6243"/>
            </a:avLst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6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6959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12848"/>
            <a:ext cx="5562600" cy="39624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093D01D-E4EE-57C8-4839-A436BF0AE8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34200" y="883595"/>
            <a:ext cx="4741817" cy="2586446"/>
          </a:xfrm>
          <a:prstGeom prst="roundRect">
            <a:avLst>
              <a:gd name="adj" fmla="val 2938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2B8DAB-353A-63A7-57E3-BC8771DAFC86}"/>
              </a:ext>
            </a:extLst>
          </p:cNvPr>
          <p:cNvSpPr/>
          <p:nvPr userDrawn="1"/>
        </p:nvSpPr>
        <p:spPr>
          <a:xfrm>
            <a:off x="6781800" y="3702995"/>
            <a:ext cx="5029200" cy="2873829"/>
          </a:xfrm>
          <a:prstGeom prst="roundRect">
            <a:avLst>
              <a:gd name="adj" fmla="val 6243"/>
            </a:avLst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7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D29A79-FC30-5176-80E7-A66A4921130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34200" y="3855395"/>
            <a:ext cx="4741817" cy="2586446"/>
          </a:xfrm>
          <a:prstGeom prst="roundRect">
            <a:avLst>
              <a:gd name="adj" fmla="val 2938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176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56197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74B9DF-7720-D18B-E48B-4C9CA784C7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2203704"/>
            <a:ext cx="5181600" cy="3962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61C1296F-E730-081D-E6F9-31BBE4D4325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324600" y="758952"/>
            <a:ext cx="5486400" cy="5486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161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8775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61C1296F-E730-081D-E6F9-31BBE4D4325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400800" y="2924869"/>
            <a:ext cx="5334000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3" name="Chart Placeholder 8">
            <a:extLst>
              <a:ext uri="{FF2B5EF4-FFF2-40B4-BE49-F238E27FC236}">
                <a16:creationId xmlns:a16="http://schemas.microsoft.com/office/drawing/2014/main" id="{47C9A64A-95DE-326D-AD27-2A9C89FC288F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914400" y="2924869"/>
            <a:ext cx="5334000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FD2497A-A32F-79B8-FD8B-B8AB61270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972800" cy="5953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5780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77BF-0101-859C-6217-36F8D6AE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87755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6673-C7A0-C2BA-8CF4-61A98DC2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87EE-B1C0-D41F-430F-AE7AA63C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FD2497A-A32F-79B8-FD8B-B8AB61270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972800" cy="595312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5E00329-735F-25A4-8DAC-E98E4105FA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4400" y="2912640"/>
            <a:ext cx="5334000" cy="3505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D11F4B7-132E-FFAB-C5E1-A1A1DA78032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00800" y="2912640"/>
            <a:ext cx="5334000" cy="3505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24486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call 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1767" y="3135104"/>
            <a:ext cx="2326657" cy="768223"/>
          </a:xfrm>
        </p:spPr>
        <p:txBody>
          <a:bodyPr lIns="91440" tIns="0" anchor="b">
            <a:noAutofit/>
          </a:bodyPr>
          <a:lstStyle>
            <a:lvl1pPr marL="0" indent="0" algn="ctr">
              <a:buNone/>
              <a:defRPr sz="2000" b="0" cap="all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8190" y="4011416"/>
            <a:ext cx="2373810" cy="110198"/>
          </a:xfrm>
          <a:prstGeom prst="rect">
            <a:avLst/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8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8564" y="4248614"/>
            <a:ext cx="2333063" cy="1676185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01554" y="6203726"/>
            <a:ext cx="1827083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57600" y="3135104"/>
            <a:ext cx="2326657" cy="768223"/>
          </a:xfrm>
        </p:spPr>
        <p:txBody>
          <a:bodyPr lIns="91440" tIns="0" anchor="b">
            <a:noAutofit/>
          </a:bodyPr>
          <a:lstStyle>
            <a:lvl1pPr marL="0" indent="0" algn="ctr">
              <a:buNone/>
              <a:defRPr sz="2000" b="0" cap="all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40500" y="4248614"/>
            <a:ext cx="2360857" cy="1676185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02735" y="6203726"/>
            <a:ext cx="1836387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35141" y="3135104"/>
            <a:ext cx="2326657" cy="768223"/>
          </a:xfrm>
        </p:spPr>
        <p:txBody>
          <a:bodyPr lIns="91440" tIns="0" anchor="b">
            <a:noAutofit/>
          </a:bodyPr>
          <a:lstStyle>
            <a:lvl1pPr marL="0" indent="0" algn="ctr">
              <a:buNone/>
              <a:defRPr sz="2000" b="0" cap="all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9643" y="4248614"/>
            <a:ext cx="2357653" cy="1676185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684650" y="6203726"/>
            <a:ext cx="1827639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1699" y="3135104"/>
            <a:ext cx="2326657" cy="768223"/>
          </a:xfrm>
        </p:spPr>
        <p:txBody>
          <a:bodyPr lIns="91440" tIns="0" anchor="b">
            <a:noAutofit/>
          </a:bodyPr>
          <a:lstStyle>
            <a:lvl1pPr marL="0" indent="0" algn="ctr">
              <a:buNone/>
              <a:defRPr sz="2000" b="0" cap="all" spc="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0053" y="4248614"/>
            <a:ext cx="2369948" cy="1676185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10840" y="6203726"/>
            <a:ext cx="1828375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A788A64-F282-9CE1-4232-9EE355589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34023" y="4011416"/>
            <a:ext cx="2373810" cy="110198"/>
          </a:xfrm>
          <a:prstGeom prst="rect">
            <a:avLst/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8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782DED-E3BA-FB36-43E4-81DBB440C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1564" y="4011416"/>
            <a:ext cx="2373810" cy="110198"/>
          </a:xfrm>
          <a:prstGeom prst="rect">
            <a:avLst/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8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D478D9-E1B0-6465-A4AE-A5FCFD483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38122" y="4011416"/>
            <a:ext cx="2373810" cy="110198"/>
          </a:xfrm>
          <a:prstGeom prst="rect">
            <a:avLst/>
          </a:prstGeom>
          <a:gradFill>
            <a:gsLst>
              <a:gs pos="0">
                <a:schemeClr val="tx1"/>
              </a:gs>
              <a:gs pos="97000">
                <a:schemeClr val="accent3"/>
              </a:gs>
              <a:gs pos="48000">
                <a:schemeClr val="accent2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7E68036-CDBD-FEF5-260D-DF24C6FF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A6892-F10F-164E-5109-ED84CE73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3963" y="121602"/>
            <a:ext cx="4114800" cy="217173"/>
          </a:xfrm>
        </p:spPr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D13AE-FD08-9C1F-6E91-5682E73E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2148" y="99559"/>
            <a:ext cx="1059704" cy="261258"/>
          </a:xfrm>
        </p:spPr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58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ircle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89F04-8166-A3DC-744C-551C5EB8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그룹 1281">
            <a:extLst>
              <a:ext uri="{FF2B5EF4-FFF2-40B4-BE49-F238E27FC236}">
                <a16:creationId xmlns:a16="http://schemas.microsoft.com/office/drawing/2014/main" id="{65B4D3AB-B0EE-820C-F332-86B9B4FF4D7D}"/>
              </a:ext>
            </a:extLst>
          </p:cNvPr>
          <p:cNvGrpSpPr/>
          <p:nvPr userDrawn="1"/>
        </p:nvGrpSpPr>
        <p:grpSpPr>
          <a:xfrm>
            <a:off x="1143000" y="2505297"/>
            <a:ext cx="10056459" cy="2238357"/>
            <a:chOff x="1073086" y="2710034"/>
            <a:chExt cx="10056459" cy="2238357"/>
          </a:xfrm>
        </p:grpSpPr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1F23A632-C958-B035-7D29-4E36C3A8D927}"/>
                </a:ext>
              </a:extLst>
            </p:cNvPr>
            <p:cNvSpPr/>
            <p:nvPr/>
          </p:nvSpPr>
          <p:spPr>
            <a:xfrm rot="7200000" flipH="1">
              <a:off x="3914385" y="3078946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918FE6A1-233A-7F39-8799-6BFEF9149E32}"/>
                </a:ext>
              </a:extLst>
            </p:cNvPr>
            <p:cNvSpPr/>
            <p:nvPr/>
          </p:nvSpPr>
          <p:spPr>
            <a:xfrm rot="7200000" flipH="1">
              <a:off x="7460429" y="3078946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7E0B8266-3454-DEDE-28C4-30473AD029FF}"/>
                </a:ext>
              </a:extLst>
            </p:cNvPr>
            <p:cNvSpPr/>
            <p:nvPr/>
          </p:nvSpPr>
          <p:spPr>
            <a:xfrm rot="14400000">
              <a:off x="2141363" y="3078946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3229B04E-61C5-C43D-3D60-E218AEF16C01}"/>
                </a:ext>
              </a:extLst>
            </p:cNvPr>
            <p:cNvSpPr/>
            <p:nvPr/>
          </p:nvSpPr>
          <p:spPr>
            <a:xfrm>
              <a:off x="1073086" y="3714353"/>
              <a:ext cx="1234037" cy="123403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2" name="타원 1286">
              <a:extLst>
                <a:ext uri="{FF2B5EF4-FFF2-40B4-BE49-F238E27FC236}">
                  <a16:creationId xmlns:a16="http://schemas.microsoft.com/office/drawing/2014/main" id="{2EA6EF24-8749-8BEF-326C-C125ACB2C20A}"/>
                </a:ext>
              </a:extLst>
            </p:cNvPr>
            <p:cNvSpPr/>
            <p:nvPr/>
          </p:nvSpPr>
          <p:spPr>
            <a:xfrm>
              <a:off x="1137335" y="3805137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" name="Oval 15">
              <a:extLst>
                <a:ext uri="{FF2B5EF4-FFF2-40B4-BE49-F238E27FC236}">
                  <a16:creationId xmlns:a16="http://schemas.microsoft.com/office/drawing/2014/main" id="{454E25E1-F59A-FADC-CD3F-CA7A84CCA1E2}"/>
                </a:ext>
              </a:extLst>
            </p:cNvPr>
            <p:cNvSpPr/>
            <p:nvPr/>
          </p:nvSpPr>
          <p:spPr>
            <a:xfrm>
              <a:off x="2837570" y="2710034"/>
              <a:ext cx="1234037" cy="1234038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4" name="Oval 6">
              <a:extLst>
                <a:ext uri="{FF2B5EF4-FFF2-40B4-BE49-F238E27FC236}">
                  <a16:creationId xmlns:a16="http://schemas.microsoft.com/office/drawing/2014/main" id="{FDA8283F-32E9-CA15-A705-995234E96ECB}"/>
                </a:ext>
              </a:extLst>
            </p:cNvPr>
            <p:cNvSpPr/>
            <p:nvPr/>
          </p:nvSpPr>
          <p:spPr>
            <a:xfrm rot="14400000">
              <a:off x="9209572" y="3041001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5" name="Oval 6">
              <a:extLst>
                <a:ext uri="{FF2B5EF4-FFF2-40B4-BE49-F238E27FC236}">
                  <a16:creationId xmlns:a16="http://schemas.microsoft.com/office/drawing/2014/main" id="{6613845B-FD2D-2942-2DAB-3AB4C444161F}"/>
                </a:ext>
              </a:extLst>
            </p:cNvPr>
            <p:cNvSpPr/>
            <p:nvPr/>
          </p:nvSpPr>
          <p:spPr>
            <a:xfrm rot="14400000">
              <a:off x="5687407" y="3078946"/>
              <a:ext cx="864000" cy="1564691"/>
            </a:xfrm>
            <a:custGeom>
              <a:avLst/>
              <a:gdLst/>
              <a:ahLst/>
              <a:cxnLst/>
              <a:rect l="l" t="t" r="r" b="b"/>
              <a:pathLst>
                <a:path w="890376" h="1440160">
                  <a:moveTo>
                    <a:pt x="445188" y="0"/>
                  </a:moveTo>
                  <a:cubicBezTo>
                    <a:pt x="614149" y="0"/>
                    <a:pt x="769519" y="58193"/>
                    <a:pt x="890376" y="158114"/>
                  </a:cubicBezTo>
                  <a:cubicBezTo>
                    <a:pt x="722128" y="287532"/>
                    <a:pt x="615484" y="491352"/>
                    <a:pt x="615484" y="720080"/>
                  </a:cubicBezTo>
                  <a:cubicBezTo>
                    <a:pt x="615484" y="948808"/>
                    <a:pt x="722128" y="1152628"/>
                    <a:pt x="890376" y="1282046"/>
                  </a:cubicBezTo>
                  <a:cubicBezTo>
                    <a:pt x="769519" y="1381967"/>
                    <a:pt x="614149" y="1440160"/>
                    <a:pt x="445188" y="1440160"/>
                  </a:cubicBezTo>
                  <a:cubicBezTo>
                    <a:pt x="276227" y="1440160"/>
                    <a:pt x="120857" y="1381967"/>
                    <a:pt x="0" y="1282046"/>
                  </a:cubicBezTo>
                  <a:cubicBezTo>
                    <a:pt x="168248" y="1152628"/>
                    <a:pt x="274891" y="948808"/>
                    <a:pt x="274891" y="720080"/>
                  </a:cubicBezTo>
                  <a:cubicBezTo>
                    <a:pt x="274891" y="491352"/>
                    <a:pt x="168248" y="287532"/>
                    <a:pt x="0" y="158114"/>
                  </a:cubicBezTo>
                  <a:cubicBezTo>
                    <a:pt x="120857" y="58193"/>
                    <a:pt x="276227" y="0"/>
                    <a:pt x="445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6" name="Oval 5">
              <a:extLst>
                <a:ext uri="{FF2B5EF4-FFF2-40B4-BE49-F238E27FC236}">
                  <a16:creationId xmlns:a16="http://schemas.microsoft.com/office/drawing/2014/main" id="{D2062A16-1962-16F4-8023-92D9AE84B52E}"/>
                </a:ext>
              </a:extLst>
            </p:cNvPr>
            <p:cNvSpPr/>
            <p:nvPr/>
          </p:nvSpPr>
          <p:spPr>
            <a:xfrm>
              <a:off x="4602054" y="3714353"/>
              <a:ext cx="1234037" cy="123403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0ABE85E6-8EEE-628D-159D-8DE52BB344E7}"/>
                </a:ext>
              </a:extLst>
            </p:cNvPr>
            <p:cNvSpPr/>
            <p:nvPr/>
          </p:nvSpPr>
          <p:spPr>
            <a:xfrm>
              <a:off x="6366538" y="2710034"/>
              <a:ext cx="1234037" cy="123403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8B1831B6-1987-F685-D305-1DFA4F6D16E4}"/>
                </a:ext>
              </a:extLst>
            </p:cNvPr>
            <p:cNvSpPr/>
            <p:nvPr/>
          </p:nvSpPr>
          <p:spPr>
            <a:xfrm>
              <a:off x="8131022" y="3714353"/>
              <a:ext cx="1234037" cy="12340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753C5383-B157-55FB-8CE2-7456440E869D}"/>
                </a:ext>
              </a:extLst>
            </p:cNvPr>
            <p:cNvSpPr/>
            <p:nvPr/>
          </p:nvSpPr>
          <p:spPr>
            <a:xfrm>
              <a:off x="9895508" y="2710034"/>
              <a:ext cx="1234037" cy="12340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1" name="타원 1295">
              <a:extLst>
                <a:ext uri="{FF2B5EF4-FFF2-40B4-BE49-F238E27FC236}">
                  <a16:creationId xmlns:a16="http://schemas.microsoft.com/office/drawing/2014/main" id="{BB2B1159-F287-F4D0-972D-AEB57CCA3AC0}"/>
                </a:ext>
              </a:extLst>
            </p:cNvPr>
            <p:cNvSpPr/>
            <p:nvPr/>
          </p:nvSpPr>
          <p:spPr>
            <a:xfrm>
              <a:off x="2901819" y="2800818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accent5"/>
                </a:solidFill>
              </a:endParaRPr>
            </a:p>
          </p:txBody>
        </p:sp>
        <p:sp>
          <p:nvSpPr>
            <p:cNvPr id="22" name="타원 1296">
              <a:extLst>
                <a:ext uri="{FF2B5EF4-FFF2-40B4-BE49-F238E27FC236}">
                  <a16:creationId xmlns:a16="http://schemas.microsoft.com/office/drawing/2014/main" id="{3D44CC5B-C0AF-D2C2-BE76-D065ED9D3A38}"/>
                </a:ext>
              </a:extLst>
            </p:cNvPr>
            <p:cNvSpPr/>
            <p:nvPr/>
          </p:nvSpPr>
          <p:spPr>
            <a:xfrm>
              <a:off x="6430787" y="2800818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타원 1297">
              <a:extLst>
                <a:ext uri="{FF2B5EF4-FFF2-40B4-BE49-F238E27FC236}">
                  <a16:creationId xmlns:a16="http://schemas.microsoft.com/office/drawing/2014/main" id="{8E47600E-B996-E6EC-B833-93E90D5A2297}"/>
                </a:ext>
              </a:extLst>
            </p:cNvPr>
            <p:cNvSpPr/>
            <p:nvPr/>
          </p:nvSpPr>
          <p:spPr>
            <a:xfrm>
              <a:off x="9955227" y="2800818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타원 1298">
              <a:extLst>
                <a:ext uri="{FF2B5EF4-FFF2-40B4-BE49-F238E27FC236}">
                  <a16:creationId xmlns:a16="http://schemas.microsoft.com/office/drawing/2014/main" id="{047F897C-36C1-5E05-CC89-EBDFB90F4035}"/>
                </a:ext>
              </a:extLst>
            </p:cNvPr>
            <p:cNvSpPr/>
            <p:nvPr/>
          </p:nvSpPr>
          <p:spPr>
            <a:xfrm>
              <a:off x="8195271" y="3805137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5" name="타원 1299">
              <a:extLst>
                <a:ext uri="{FF2B5EF4-FFF2-40B4-BE49-F238E27FC236}">
                  <a16:creationId xmlns:a16="http://schemas.microsoft.com/office/drawing/2014/main" id="{54EBFDB8-3C81-B0D3-B25E-E3CC580BDD36}"/>
                </a:ext>
              </a:extLst>
            </p:cNvPr>
            <p:cNvSpPr/>
            <p:nvPr/>
          </p:nvSpPr>
          <p:spPr>
            <a:xfrm>
              <a:off x="4666303" y="3805137"/>
              <a:ext cx="1105538" cy="10524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 w="6350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7B16F72-40BA-E998-2257-D54EE6CEBA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3000" y="36482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AB8F30F-2FFC-20DD-A8F6-71024DC03C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71800" y="26576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BFAAFBE-22E7-798D-C75E-C8E8289211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36482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AB5386A6-EBCF-BE3F-9C99-5AC05501DA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7000" y="26576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8FF922E3-5C68-F6E3-0485-A0E67CC88D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9600" y="36482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C910256D-A8C2-E46B-A929-3267D33AA4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82200" y="2657697"/>
            <a:ext cx="1143000" cy="990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C26EF43-A591-ACB9-95D5-D2A6C44F70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4867497"/>
            <a:ext cx="1524000" cy="16764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F2B1CEAB-5243-EF63-89D5-ADA49AA64D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90800" y="3876897"/>
            <a:ext cx="1828800" cy="18288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3" name="Text Placeholder 38">
            <a:extLst>
              <a:ext uri="{FF2B5EF4-FFF2-40B4-BE49-F238E27FC236}">
                <a16:creationId xmlns:a16="http://schemas.microsoft.com/office/drawing/2014/main" id="{CDEDCD72-ECA0-F2D7-EC03-81843D0246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95800" y="4867497"/>
            <a:ext cx="1524000" cy="16764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4" name="Text Placeholder 38">
            <a:extLst>
              <a:ext uri="{FF2B5EF4-FFF2-40B4-BE49-F238E27FC236}">
                <a16:creationId xmlns:a16="http://schemas.microsoft.com/office/drawing/2014/main" id="{2E0ED554-E380-3678-D783-DD39A10748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2200" y="3876897"/>
            <a:ext cx="1828800" cy="18288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5" name="Text Placeholder 38">
            <a:extLst>
              <a:ext uri="{FF2B5EF4-FFF2-40B4-BE49-F238E27FC236}">
                <a16:creationId xmlns:a16="http://schemas.microsoft.com/office/drawing/2014/main" id="{2DF7B12C-4A5F-2508-FCE7-35F125B54A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77400" y="3876897"/>
            <a:ext cx="1828800" cy="18288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46" name="Text Placeholder 38">
            <a:extLst>
              <a:ext uri="{FF2B5EF4-FFF2-40B4-BE49-F238E27FC236}">
                <a16:creationId xmlns:a16="http://schemas.microsoft.com/office/drawing/2014/main" id="{93AFFB44-33B2-D0D0-24B9-36F3700901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7200" y="4867497"/>
            <a:ext cx="1524000" cy="1676400"/>
          </a:xfrm>
        </p:spPr>
        <p:txBody>
          <a:bodyPr>
            <a:noAutofit/>
          </a:bodyPr>
          <a:lstStyle>
            <a:lvl1pPr marL="0" indent="-91440" algn="ctr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here to add text </a:t>
            </a:r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BE884C74-6A18-2B76-2CF5-D95B28456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3963" y="121602"/>
            <a:ext cx="4114800" cy="217173"/>
          </a:xfrm>
        </p:spPr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229FCC9D-96AD-BA9E-BD6E-2A25D0A5279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662148" y="99559"/>
            <a:ext cx="1059704" cy="261258"/>
          </a:xfrm>
        </p:spPr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191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red call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6300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77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ADD9A5C-AE9A-C65B-4505-483DE9A24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543151" cy="550647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7E68036-CDBD-FEF5-260D-DF24C6FF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AAA4E6-9CD8-0530-BD07-8498A1C99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3450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A0B597-CF95-913E-7A66-71D440047E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938477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2725BC-06A4-BA3F-329D-CCFE76B5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0600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55977AF-C60A-DDAC-F6C7-12C2309ECC7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786577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09864-2A01-120D-B0A0-3D47650A2281}"/>
              </a:ext>
            </a:extLst>
          </p:cNvPr>
          <p:cNvSpPr txBox="1">
            <a:spLocks/>
          </p:cNvSpPr>
          <p:nvPr userDrawn="1"/>
        </p:nvSpPr>
        <p:spPr>
          <a:xfrm>
            <a:off x="343963" y="121602"/>
            <a:ext cx="4114800" cy="217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>
                    <a:alpha val="75167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24C74-96B8-1AEE-DED0-3FD6D128AAF5}"/>
              </a:ext>
            </a:extLst>
          </p:cNvPr>
          <p:cNvSpPr txBox="1">
            <a:spLocks/>
          </p:cNvSpPr>
          <p:nvPr userDrawn="1"/>
        </p:nvSpPr>
        <p:spPr>
          <a:xfrm>
            <a:off x="11662148" y="99559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35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ored call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7827" y="2990688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6578" y="3295488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ADD9A5C-AE9A-C65B-4505-483DE9A24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543151" cy="550647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7E68036-CDBD-FEF5-260D-DF24C6FF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AAA4E6-9CD8-0530-BD07-8498A1C99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6593" y="2990688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A0B597-CF95-913E-7A66-71D440047E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191556" y="3295488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2725BC-06A4-BA3F-329D-CCFE76B56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73465" y="2990688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55977AF-C60A-DDAC-F6C7-12C2309ECC7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310322" y="3295488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09864-2A01-120D-B0A0-3D47650A2281}"/>
              </a:ext>
            </a:extLst>
          </p:cNvPr>
          <p:cNvSpPr txBox="1">
            <a:spLocks/>
          </p:cNvSpPr>
          <p:nvPr userDrawn="1"/>
        </p:nvSpPr>
        <p:spPr>
          <a:xfrm>
            <a:off x="343963" y="121602"/>
            <a:ext cx="4114800" cy="217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>
                    <a:alpha val="75167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Biological &amp; Physical Sciences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24C74-96B8-1AEE-DED0-3FD6D128AAF5}"/>
              </a:ext>
            </a:extLst>
          </p:cNvPr>
          <p:cNvSpPr txBox="1">
            <a:spLocks/>
          </p:cNvSpPr>
          <p:nvPr userDrawn="1"/>
        </p:nvSpPr>
        <p:spPr>
          <a:xfrm>
            <a:off x="11662148" y="99559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32080B-6328-C238-809D-F9FE08C7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337" y="3026141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3BA1372-7071-371E-C28F-CBE6820DA6F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27194" y="3330941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11E0B1-10A5-78B2-3136-3CD932F23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07209" y="2990688"/>
            <a:ext cx="2040528" cy="3201390"/>
          </a:xfrm>
          <a:prstGeom prst="roundRect">
            <a:avLst>
              <a:gd name="adj" fmla="val 775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ACE081D-D73A-A411-BCD4-2DCBE78B8C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44066" y="3295488"/>
            <a:ext cx="1766814" cy="2692078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84666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ored call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5161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71138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ADD9A5C-AE9A-C65B-4505-483DE9A24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10543151" cy="550647"/>
          </a:xfrm>
        </p:spPr>
        <p:txBody>
          <a:bodyPr anchor="t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7E68036-CDBD-FEF5-260D-DF24C6FF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AAA4E6-9CD8-0530-BD07-8498A1C99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311" y="2990688"/>
            <a:ext cx="2992166" cy="3352800"/>
          </a:xfrm>
          <a:prstGeom prst="roundRect">
            <a:avLst>
              <a:gd name="adj" fmla="val 77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A0B597-CF95-913E-7A66-71D440047E4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57338" y="3295488"/>
            <a:ext cx="2590800" cy="2819400"/>
          </a:xfrm>
        </p:spPr>
        <p:txBody>
          <a:bodyPr lIns="91440" tIns="0" anchor="ctr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09864-2A01-120D-B0A0-3D47650A2281}"/>
              </a:ext>
            </a:extLst>
          </p:cNvPr>
          <p:cNvSpPr txBox="1">
            <a:spLocks/>
          </p:cNvSpPr>
          <p:nvPr userDrawn="1"/>
        </p:nvSpPr>
        <p:spPr>
          <a:xfrm>
            <a:off x="343963" y="121602"/>
            <a:ext cx="4114800" cy="217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>
                    <a:alpha val="75167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24C74-96B8-1AEE-DED0-3FD6D128AAF5}"/>
              </a:ext>
            </a:extLst>
          </p:cNvPr>
          <p:cNvSpPr txBox="1">
            <a:spLocks/>
          </p:cNvSpPr>
          <p:nvPr userDrawn="1"/>
        </p:nvSpPr>
        <p:spPr>
          <a:xfrm>
            <a:off x="11662148" y="99559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11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C14A-6496-6376-2B3E-AD74A612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1821F-FB3A-F9EE-D0DE-E887A37D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03704"/>
            <a:ext cx="498316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C9A69-852A-95D0-640F-0A9AD66D0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3173412"/>
            <a:ext cx="4983162" cy="34950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212BA-716C-43F7-C564-5796945A1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3105" y="220370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F0997-D7AA-3B69-46B5-3C52DC86C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3105" y="3173412"/>
            <a:ext cx="5183188" cy="34950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55EE4-619A-8EFD-2C75-330D157D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8C5AC-C080-2EB1-1F82-F057A282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57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09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Icon 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2DBF73-78F1-5E34-BB47-F8D4315E883F}"/>
              </a:ext>
            </a:extLst>
          </p:cNvPr>
          <p:cNvGrpSpPr/>
          <p:nvPr userDrawn="1"/>
        </p:nvGrpSpPr>
        <p:grpSpPr>
          <a:xfrm>
            <a:off x="620138" y="1752600"/>
            <a:ext cx="1149675" cy="1160621"/>
            <a:chOff x="620138" y="1752600"/>
            <a:chExt cx="1149675" cy="116062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4DCB50-DA15-0746-CC36-3D6CE4CCB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756196-4ADF-DF0C-EBDC-F9F2C81AC2F4}"/>
                </a:ext>
              </a:extLst>
            </p:cNvPr>
            <p:cNvSpPr txBox="1"/>
            <p:nvPr userDrawn="1"/>
          </p:nvSpPr>
          <p:spPr>
            <a:xfrm>
              <a:off x="620138" y="2667000"/>
              <a:ext cx="114967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Physical Science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1910B8-EFDC-F4BD-D871-01250E169D33}"/>
              </a:ext>
            </a:extLst>
          </p:cNvPr>
          <p:cNvGrpSpPr/>
          <p:nvPr userDrawn="1"/>
        </p:nvGrpSpPr>
        <p:grpSpPr>
          <a:xfrm>
            <a:off x="2119913" y="1752600"/>
            <a:ext cx="937550" cy="1160621"/>
            <a:chOff x="2276156" y="1752600"/>
            <a:chExt cx="937550" cy="1160621"/>
          </a:xfrm>
        </p:grpSpPr>
        <p:pic>
          <p:nvPicPr>
            <p:cNvPr id="19" name="Picture 18" descr="A white symbol on a brown circle&#10;&#10;Description automatically generated">
              <a:extLst>
                <a:ext uri="{FF2B5EF4-FFF2-40B4-BE49-F238E27FC236}">
                  <a16:creationId xmlns:a16="http://schemas.microsoft.com/office/drawing/2014/main" id="{FE1E2990-A33D-309A-9F68-08D9A1E0E4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90AC53-46B8-9208-4DAB-7EBDD1243E80}"/>
                </a:ext>
              </a:extLst>
            </p:cNvPr>
            <p:cNvSpPr txBox="1"/>
            <p:nvPr userDrawn="1"/>
          </p:nvSpPr>
          <p:spPr>
            <a:xfrm>
              <a:off x="2390507" y="2667000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Quantum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D160AB-747D-0C84-DB2C-12A72938449E}"/>
              </a:ext>
            </a:extLst>
          </p:cNvPr>
          <p:cNvGrpSpPr/>
          <p:nvPr userDrawn="1"/>
        </p:nvGrpSpPr>
        <p:grpSpPr>
          <a:xfrm>
            <a:off x="3500407" y="1752600"/>
            <a:ext cx="937550" cy="1160621"/>
            <a:chOff x="3328048" y="1752600"/>
            <a:chExt cx="937550" cy="11606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58E307-692E-76E5-915A-6BE8C8A6C3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76D59-973C-B3ED-21A7-6E1BF17E1F28}"/>
                </a:ext>
              </a:extLst>
            </p:cNvPr>
            <p:cNvSpPr txBox="1"/>
            <p:nvPr userDrawn="1"/>
          </p:nvSpPr>
          <p:spPr>
            <a:xfrm>
              <a:off x="3565830" y="266700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Fluid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A1BB1-12A4-2E2E-1955-F3A8B5472743}"/>
              </a:ext>
            </a:extLst>
          </p:cNvPr>
          <p:cNvGrpSpPr/>
          <p:nvPr userDrawn="1"/>
        </p:nvGrpSpPr>
        <p:grpSpPr>
          <a:xfrm>
            <a:off x="4889029" y="1752600"/>
            <a:ext cx="937550" cy="1160621"/>
            <a:chOff x="4379940" y="1752600"/>
            <a:chExt cx="937550" cy="116062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E9DBB58-6406-2088-AE7D-CD856A1E7A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472200-79FE-9C5A-93BA-31F52D3EE86F}"/>
                </a:ext>
              </a:extLst>
            </p:cNvPr>
            <p:cNvSpPr txBox="1"/>
            <p:nvPr userDrawn="1"/>
          </p:nvSpPr>
          <p:spPr>
            <a:xfrm>
              <a:off x="4483070" y="2667000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Complete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C30226-E85A-EAB4-EA3A-2F8AF418AC7A}"/>
              </a:ext>
            </a:extLst>
          </p:cNvPr>
          <p:cNvGrpSpPr/>
          <p:nvPr userDrawn="1"/>
        </p:nvGrpSpPr>
        <p:grpSpPr>
          <a:xfrm>
            <a:off x="6247355" y="1752600"/>
            <a:ext cx="937550" cy="1160621"/>
            <a:chOff x="5431831" y="1752600"/>
            <a:chExt cx="937550" cy="1160621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29FB4C8-0924-DD30-1DEA-0B2E407C2C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9D3CBF-9626-9176-B486-F34F15BE4A9E}"/>
                </a:ext>
              </a:extLst>
            </p:cNvPr>
            <p:cNvSpPr txBox="1"/>
            <p:nvPr userDrawn="1"/>
          </p:nvSpPr>
          <p:spPr>
            <a:xfrm>
              <a:off x="5530953" y="2667000"/>
              <a:ext cx="7393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Molecular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EC613B-9512-31BF-730B-49C7B41C44C6}"/>
              </a:ext>
            </a:extLst>
          </p:cNvPr>
          <p:cNvGrpSpPr/>
          <p:nvPr userDrawn="1"/>
        </p:nvGrpSpPr>
        <p:grpSpPr>
          <a:xfrm>
            <a:off x="7661269" y="1752600"/>
            <a:ext cx="937550" cy="1160621"/>
            <a:chOff x="5431831" y="1752600"/>
            <a:chExt cx="937550" cy="116062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005A4-9DA7-B0C3-08EE-98CB0CE9B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FE336D-FA97-22C9-55DC-079F3A53A069}"/>
                </a:ext>
              </a:extLst>
            </p:cNvPr>
            <p:cNvSpPr txBox="1"/>
            <p:nvPr userDrawn="1"/>
          </p:nvSpPr>
          <p:spPr>
            <a:xfrm>
              <a:off x="5607097" y="2667000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Budget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DF185E-4874-C556-B523-55B66CA67CA6}"/>
              </a:ext>
            </a:extLst>
          </p:cNvPr>
          <p:cNvGrpSpPr/>
          <p:nvPr userDrawn="1"/>
        </p:nvGrpSpPr>
        <p:grpSpPr>
          <a:xfrm>
            <a:off x="9037083" y="1752600"/>
            <a:ext cx="937550" cy="1160621"/>
            <a:chOff x="5431831" y="1752600"/>
            <a:chExt cx="937550" cy="116062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3CE37AC-3781-BB31-177C-5CE7E2287C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8C9462-D61D-BDFC-9D8E-41D0C89DE06F}"/>
                </a:ext>
              </a:extLst>
            </p:cNvPr>
            <p:cNvSpPr txBox="1"/>
            <p:nvPr userDrawn="1"/>
          </p:nvSpPr>
          <p:spPr>
            <a:xfrm>
              <a:off x="5684843" y="2667000"/>
              <a:ext cx="4315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Idea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D12664-0486-A848-58F4-C28C560C54DC}"/>
              </a:ext>
            </a:extLst>
          </p:cNvPr>
          <p:cNvGrpSpPr/>
          <p:nvPr userDrawn="1"/>
        </p:nvGrpSpPr>
        <p:grpSpPr>
          <a:xfrm>
            <a:off x="10412895" y="1752600"/>
            <a:ext cx="937550" cy="1160621"/>
            <a:chOff x="5431831" y="1752600"/>
            <a:chExt cx="937550" cy="116062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49D6AE0-9F7E-5646-BBF2-3EB286B93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436932-7489-215B-A927-D94234ABE44F}"/>
                </a:ext>
              </a:extLst>
            </p:cNvPr>
            <p:cNvSpPr txBox="1"/>
            <p:nvPr userDrawn="1"/>
          </p:nvSpPr>
          <p:spPr>
            <a:xfrm>
              <a:off x="5485271" y="2667000"/>
              <a:ext cx="8306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0F299A-3739-E2C2-ADAB-FEB8CB19AA01}"/>
              </a:ext>
            </a:extLst>
          </p:cNvPr>
          <p:cNvGrpSpPr/>
          <p:nvPr userDrawn="1"/>
        </p:nvGrpSpPr>
        <p:grpSpPr>
          <a:xfrm>
            <a:off x="709105" y="3246863"/>
            <a:ext cx="971741" cy="1160621"/>
            <a:chOff x="709103" y="1752600"/>
            <a:chExt cx="971741" cy="116062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CD17CB-B72B-50B2-32D5-1580EF583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BBB447-9DD9-51D6-7E1F-53FCEA69C8AE}"/>
                </a:ext>
              </a:extLst>
            </p:cNvPr>
            <p:cNvSpPr txBox="1"/>
            <p:nvPr userDrawn="1"/>
          </p:nvSpPr>
          <p:spPr>
            <a:xfrm>
              <a:off x="709103" y="2667000"/>
              <a:ext cx="9717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Attention/Risk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45483EF-BC35-2B72-DF14-F98491F5A878}"/>
              </a:ext>
            </a:extLst>
          </p:cNvPr>
          <p:cNvGrpSpPr/>
          <p:nvPr userDrawn="1"/>
        </p:nvGrpSpPr>
        <p:grpSpPr>
          <a:xfrm>
            <a:off x="2119913" y="3246863"/>
            <a:ext cx="937550" cy="1160621"/>
            <a:chOff x="2276156" y="1752600"/>
            <a:chExt cx="937550" cy="1160621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1CB1A3-CB6A-3F6F-D4C8-D0A375257F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64AB0F9-D4AB-42DC-85C6-261EF3905EB7}"/>
                </a:ext>
              </a:extLst>
            </p:cNvPr>
            <p:cNvSpPr txBox="1"/>
            <p:nvPr userDrawn="1"/>
          </p:nvSpPr>
          <p:spPr>
            <a:xfrm>
              <a:off x="2368868" y="2667000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List/To-do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D7BD37-7B62-B0BE-B34B-FE7378F9CBAE}"/>
              </a:ext>
            </a:extLst>
          </p:cNvPr>
          <p:cNvGrpSpPr/>
          <p:nvPr userDrawn="1"/>
        </p:nvGrpSpPr>
        <p:grpSpPr>
          <a:xfrm>
            <a:off x="3376712" y="3246863"/>
            <a:ext cx="1184941" cy="1160621"/>
            <a:chOff x="3204355" y="1752600"/>
            <a:chExt cx="1184941" cy="116062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016F2B6-B7E8-1132-2642-EA957F176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80E60-8A4E-251D-C573-98A48CAF06AC}"/>
                </a:ext>
              </a:extLst>
            </p:cNvPr>
            <p:cNvSpPr txBox="1"/>
            <p:nvPr userDrawn="1"/>
          </p:nvSpPr>
          <p:spPr>
            <a:xfrm>
              <a:off x="3204355" y="2667000"/>
              <a:ext cx="11849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Report/Document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033F2C-0684-B356-46F6-D9BF89D9EBB8}"/>
              </a:ext>
            </a:extLst>
          </p:cNvPr>
          <p:cNvGrpSpPr/>
          <p:nvPr userDrawn="1"/>
        </p:nvGrpSpPr>
        <p:grpSpPr>
          <a:xfrm>
            <a:off x="6247355" y="3246863"/>
            <a:ext cx="937550" cy="1160621"/>
            <a:chOff x="4379940" y="1752600"/>
            <a:chExt cx="937550" cy="116062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9BAD218-B5C9-34D3-5AF3-0CBB52EE3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E81308E-5F10-C3B2-DBCC-5B1B946E1E11}"/>
                </a:ext>
              </a:extLst>
            </p:cNvPr>
            <p:cNvSpPr txBox="1"/>
            <p:nvPr userDrawn="1"/>
          </p:nvSpPr>
          <p:spPr>
            <a:xfrm>
              <a:off x="4429371" y="2667000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Microscope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B13DA3-C4EA-FA14-E54A-64A7393C4797}"/>
              </a:ext>
            </a:extLst>
          </p:cNvPr>
          <p:cNvGrpSpPr/>
          <p:nvPr userDrawn="1"/>
        </p:nvGrpSpPr>
        <p:grpSpPr>
          <a:xfrm>
            <a:off x="10412895" y="3246863"/>
            <a:ext cx="937550" cy="1160621"/>
            <a:chOff x="5431831" y="1752600"/>
            <a:chExt cx="937550" cy="116062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0CFCFC-C544-673F-AC06-758A8EEB54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1C5F85-20F7-D144-95A9-0CE5C5D9B15C}"/>
                </a:ext>
              </a:extLst>
            </p:cNvPr>
            <p:cNvSpPr txBox="1"/>
            <p:nvPr userDrawn="1"/>
          </p:nvSpPr>
          <p:spPr>
            <a:xfrm>
              <a:off x="5485270" y="2667000"/>
              <a:ext cx="8306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B523C45-1411-FFA2-CDD6-030F8673413B}"/>
              </a:ext>
            </a:extLst>
          </p:cNvPr>
          <p:cNvGrpSpPr/>
          <p:nvPr userDrawn="1"/>
        </p:nvGrpSpPr>
        <p:grpSpPr>
          <a:xfrm>
            <a:off x="7661269" y="3246863"/>
            <a:ext cx="937550" cy="1160621"/>
            <a:chOff x="5431831" y="1752600"/>
            <a:chExt cx="937550" cy="1160621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BAEB1D6-A0DB-C3DE-CEFD-60B96E056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B68FE0-405B-2CB1-9B49-0529846D28AF}"/>
                </a:ext>
              </a:extLst>
            </p:cNvPr>
            <p:cNvSpPr txBox="1"/>
            <p:nvPr userDrawn="1"/>
          </p:nvSpPr>
          <p:spPr>
            <a:xfrm>
              <a:off x="5627937" y="2667000"/>
              <a:ext cx="5453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Space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8573B0-C3E9-BD4A-12C6-2C05FEB654FB}"/>
              </a:ext>
            </a:extLst>
          </p:cNvPr>
          <p:cNvGrpSpPr/>
          <p:nvPr userDrawn="1"/>
        </p:nvGrpSpPr>
        <p:grpSpPr>
          <a:xfrm>
            <a:off x="4800600" y="3246863"/>
            <a:ext cx="1114409" cy="1160621"/>
            <a:chOff x="5343407" y="1752600"/>
            <a:chExt cx="1114409" cy="1160621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7FB7A2A-2D14-1105-B15D-4F4C04A6F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CA22A94-509E-32C8-87A6-C41E8B1B2DEA}"/>
                </a:ext>
              </a:extLst>
            </p:cNvPr>
            <p:cNvSpPr txBox="1"/>
            <p:nvPr userDrawn="1"/>
          </p:nvSpPr>
          <p:spPr>
            <a:xfrm>
              <a:off x="5343407" y="2667000"/>
              <a:ext cx="11144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Report/Analytics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6D9EA6-D0B5-18CC-6C05-63F3908918A0}"/>
              </a:ext>
            </a:extLst>
          </p:cNvPr>
          <p:cNvGrpSpPr/>
          <p:nvPr userDrawn="1"/>
        </p:nvGrpSpPr>
        <p:grpSpPr>
          <a:xfrm>
            <a:off x="9037083" y="3246863"/>
            <a:ext cx="937550" cy="1160621"/>
            <a:chOff x="5431831" y="1752600"/>
            <a:chExt cx="937550" cy="1160621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6CADE8A-6EC7-51D0-0CFE-1124AA9C6C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02BEAC-3F80-2061-C091-2E2DE37438D1}"/>
                </a:ext>
              </a:extLst>
            </p:cNvPr>
            <p:cNvSpPr txBox="1"/>
            <p:nvPr userDrawn="1"/>
          </p:nvSpPr>
          <p:spPr>
            <a:xfrm>
              <a:off x="5599081" y="2667000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Biology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306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Icon 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2DBF73-78F1-5E34-BB47-F8D4315E883F}"/>
              </a:ext>
            </a:extLst>
          </p:cNvPr>
          <p:cNvGrpSpPr/>
          <p:nvPr userDrawn="1"/>
        </p:nvGrpSpPr>
        <p:grpSpPr>
          <a:xfrm>
            <a:off x="620138" y="1752600"/>
            <a:ext cx="1149675" cy="1160621"/>
            <a:chOff x="620138" y="1752600"/>
            <a:chExt cx="1149675" cy="116062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4DCB50-DA15-0746-CC36-3D6CE4CCB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756196-4ADF-DF0C-EBDC-F9F2C81AC2F4}"/>
                </a:ext>
              </a:extLst>
            </p:cNvPr>
            <p:cNvSpPr txBox="1"/>
            <p:nvPr userDrawn="1"/>
          </p:nvSpPr>
          <p:spPr>
            <a:xfrm>
              <a:off x="620138" y="2667000"/>
              <a:ext cx="114967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Physical Science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1910B8-EFDC-F4BD-D871-01250E169D33}"/>
              </a:ext>
            </a:extLst>
          </p:cNvPr>
          <p:cNvGrpSpPr/>
          <p:nvPr userDrawn="1"/>
        </p:nvGrpSpPr>
        <p:grpSpPr>
          <a:xfrm>
            <a:off x="2119913" y="1752600"/>
            <a:ext cx="937550" cy="1160621"/>
            <a:chOff x="2276156" y="1752600"/>
            <a:chExt cx="937550" cy="116062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E1E2990-A33D-309A-9F68-08D9A1E0E4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90AC53-46B8-9208-4DAB-7EBDD1243E80}"/>
                </a:ext>
              </a:extLst>
            </p:cNvPr>
            <p:cNvSpPr txBox="1"/>
            <p:nvPr userDrawn="1"/>
          </p:nvSpPr>
          <p:spPr>
            <a:xfrm>
              <a:off x="2390507" y="2667000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Quantum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D160AB-747D-0C84-DB2C-12A72938449E}"/>
              </a:ext>
            </a:extLst>
          </p:cNvPr>
          <p:cNvGrpSpPr/>
          <p:nvPr userDrawn="1"/>
        </p:nvGrpSpPr>
        <p:grpSpPr>
          <a:xfrm>
            <a:off x="3500407" y="1752600"/>
            <a:ext cx="937550" cy="1160621"/>
            <a:chOff x="3328048" y="1752600"/>
            <a:chExt cx="937550" cy="11606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58E307-692E-76E5-915A-6BE8C8A6C3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76D59-973C-B3ED-21A7-6E1BF17E1F28}"/>
                </a:ext>
              </a:extLst>
            </p:cNvPr>
            <p:cNvSpPr txBox="1"/>
            <p:nvPr userDrawn="1"/>
          </p:nvSpPr>
          <p:spPr>
            <a:xfrm>
              <a:off x="3565830" y="266700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Fluid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A1BB1-12A4-2E2E-1955-F3A8B5472743}"/>
              </a:ext>
            </a:extLst>
          </p:cNvPr>
          <p:cNvGrpSpPr/>
          <p:nvPr userDrawn="1"/>
        </p:nvGrpSpPr>
        <p:grpSpPr>
          <a:xfrm>
            <a:off x="4889029" y="1752600"/>
            <a:ext cx="937550" cy="1160621"/>
            <a:chOff x="4379940" y="1752600"/>
            <a:chExt cx="937550" cy="116062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E9DBB58-6406-2088-AE7D-CD856A1E7A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472200-79FE-9C5A-93BA-31F52D3EE86F}"/>
                </a:ext>
              </a:extLst>
            </p:cNvPr>
            <p:cNvSpPr txBox="1"/>
            <p:nvPr userDrawn="1"/>
          </p:nvSpPr>
          <p:spPr>
            <a:xfrm>
              <a:off x="4483070" y="2667000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Complete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C30226-E85A-EAB4-EA3A-2F8AF418AC7A}"/>
              </a:ext>
            </a:extLst>
          </p:cNvPr>
          <p:cNvGrpSpPr/>
          <p:nvPr userDrawn="1"/>
        </p:nvGrpSpPr>
        <p:grpSpPr>
          <a:xfrm>
            <a:off x="6247355" y="1752600"/>
            <a:ext cx="937550" cy="1160621"/>
            <a:chOff x="5431831" y="1752600"/>
            <a:chExt cx="937550" cy="1160621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29FB4C8-0924-DD30-1DEA-0B2E407C2C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9D3CBF-9626-9176-B486-F34F15BE4A9E}"/>
                </a:ext>
              </a:extLst>
            </p:cNvPr>
            <p:cNvSpPr txBox="1"/>
            <p:nvPr userDrawn="1"/>
          </p:nvSpPr>
          <p:spPr>
            <a:xfrm>
              <a:off x="5530953" y="2667000"/>
              <a:ext cx="7393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Molecular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EC613B-9512-31BF-730B-49C7B41C44C6}"/>
              </a:ext>
            </a:extLst>
          </p:cNvPr>
          <p:cNvGrpSpPr/>
          <p:nvPr userDrawn="1"/>
        </p:nvGrpSpPr>
        <p:grpSpPr>
          <a:xfrm>
            <a:off x="7661269" y="1752600"/>
            <a:ext cx="937550" cy="1160621"/>
            <a:chOff x="5431831" y="1752600"/>
            <a:chExt cx="937550" cy="116062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005A4-9DA7-B0C3-08EE-98CB0CE9B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FE336D-FA97-22C9-55DC-079F3A53A069}"/>
                </a:ext>
              </a:extLst>
            </p:cNvPr>
            <p:cNvSpPr txBox="1"/>
            <p:nvPr userDrawn="1"/>
          </p:nvSpPr>
          <p:spPr>
            <a:xfrm>
              <a:off x="5607097" y="2667000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Budget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DF185E-4874-C556-B523-55B66CA67CA6}"/>
              </a:ext>
            </a:extLst>
          </p:cNvPr>
          <p:cNvGrpSpPr/>
          <p:nvPr userDrawn="1"/>
        </p:nvGrpSpPr>
        <p:grpSpPr>
          <a:xfrm>
            <a:off x="9037083" y="1752600"/>
            <a:ext cx="937550" cy="1160621"/>
            <a:chOff x="5431831" y="1752600"/>
            <a:chExt cx="937550" cy="116062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3CE37AC-3781-BB31-177C-5CE7E2287C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8C9462-D61D-BDFC-9D8E-41D0C89DE06F}"/>
                </a:ext>
              </a:extLst>
            </p:cNvPr>
            <p:cNvSpPr txBox="1"/>
            <p:nvPr userDrawn="1"/>
          </p:nvSpPr>
          <p:spPr>
            <a:xfrm>
              <a:off x="5684843" y="2667000"/>
              <a:ext cx="4315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Idea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D12664-0486-A848-58F4-C28C560C54DC}"/>
              </a:ext>
            </a:extLst>
          </p:cNvPr>
          <p:cNvGrpSpPr/>
          <p:nvPr userDrawn="1"/>
        </p:nvGrpSpPr>
        <p:grpSpPr>
          <a:xfrm>
            <a:off x="10412895" y="1752600"/>
            <a:ext cx="937550" cy="1160621"/>
            <a:chOff x="5431831" y="1752600"/>
            <a:chExt cx="937550" cy="116062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49D6AE0-9F7E-5646-BBF2-3EB286B93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436932-7489-215B-A927-D94234ABE44F}"/>
                </a:ext>
              </a:extLst>
            </p:cNvPr>
            <p:cNvSpPr txBox="1"/>
            <p:nvPr userDrawn="1"/>
          </p:nvSpPr>
          <p:spPr>
            <a:xfrm>
              <a:off x="5485271" y="2667000"/>
              <a:ext cx="8306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0F299A-3739-E2C2-ADAB-FEB8CB19AA01}"/>
              </a:ext>
            </a:extLst>
          </p:cNvPr>
          <p:cNvGrpSpPr/>
          <p:nvPr userDrawn="1"/>
        </p:nvGrpSpPr>
        <p:grpSpPr>
          <a:xfrm>
            <a:off x="709105" y="3246863"/>
            <a:ext cx="971741" cy="1160621"/>
            <a:chOff x="709103" y="1752600"/>
            <a:chExt cx="971741" cy="116062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CD17CB-B72B-50B2-32D5-1580EF583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BBB447-9DD9-51D6-7E1F-53FCEA69C8AE}"/>
                </a:ext>
              </a:extLst>
            </p:cNvPr>
            <p:cNvSpPr txBox="1"/>
            <p:nvPr userDrawn="1"/>
          </p:nvSpPr>
          <p:spPr>
            <a:xfrm>
              <a:off x="709103" y="2667000"/>
              <a:ext cx="9717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Attention/Risk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45483EF-BC35-2B72-DF14-F98491F5A878}"/>
              </a:ext>
            </a:extLst>
          </p:cNvPr>
          <p:cNvGrpSpPr/>
          <p:nvPr userDrawn="1"/>
        </p:nvGrpSpPr>
        <p:grpSpPr>
          <a:xfrm>
            <a:off x="2119913" y="3246863"/>
            <a:ext cx="937550" cy="1160621"/>
            <a:chOff x="2276156" y="1752600"/>
            <a:chExt cx="937550" cy="1160621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1CB1A3-CB6A-3F6F-D4C8-D0A375257F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64AB0F9-D4AB-42DC-85C6-261EF3905EB7}"/>
                </a:ext>
              </a:extLst>
            </p:cNvPr>
            <p:cNvSpPr txBox="1"/>
            <p:nvPr userDrawn="1"/>
          </p:nvSpPr>
          <p:spPr>
            <a:xfrm>
              <a:off x="2368868" y="2667000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List/To-do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D7BD37-7B62-B0BE-B34B-FE7378F9CBAE}"/>
              </a:ext>
            </a:extLst>
          </p:cNvPr>
          <p:cNvGrpSpPr/>
          <p:nvPr userDrawn="1"/>
        </p:nvGrpSpPr>
        <p:grpSpPr>
          <a:xfrm>
            <a:off x="3376712" y="3246863"/>
            <a:ext cx="1184941" cy="1160621"/>
            <a:chOff x="3204355" y="1752600"/>
            <a:chExt cx="1184941" cy="116062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016F2B6-B7E8-1132-2642-EA957F176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80E60-8A4E-251D-C573-98A48CAF06AC}"/>
                </a:ext>
              </a:extLst>
            </p:cNvPr>
            <p:cNvSpPr txBox="1"/>
            <p:nvPr userDrawn="1"/>
          </p:nvSpPr>
          <p:spPr>
            <a:xfrm>
              <a:off x="3204355" y="2667000"/>
              <a:ext cx="11849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Report/Document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033F2C-0684-B356-46F6-D9BF89D9EBB8}"/>
              </a:ext>
            </a:extLst>
          </p:cNvPr>
          <p:cNvGrpSpPr/>
          <p:nvPr userDrawn="1"/>
        </p:nvGrpSpPr>
        <p:grpSpPr>
          <a:xfrm>
            <a:off x="6247355" y="3246863"/>
            <a:ext cx="937550" cy="1160621"/>
            <a:chOff x="4379940" y="1752600"/>
            <a:chExt cx="937550" cy="116062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9BAD218-B5C9-34D3-5AF3-0CBB52EE3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E81308E-5F10-C3B2-DBCC-5B1B946E1E11}"/>
                </a:ext>
              </a:extLst>
            </p:cNvPr>
            <p:cNvSpPr txBox="1"/>
            <p:nvPr userDrawn="1"/>
          </p:nvSpPr>
          <p:spPr>
            <a:xfrm>
              <a:off x="4429371" y="2667000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Microscope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B13DA3-C4EA-FA14-E54A-64A7393C4797}"/>
              </a:ext>
            </a:extLst>
          </p:cNvPr>
          <p:cNvGrpSpPr/>
          <p:nvPr userDrawn="1"/>
        </p:nvGrpSpPr>
        <p:grpSpPr>
          <a:xfrm>
            <a:off x="10412895" y="3246863"/>
            <a:ext cx="937550" cy="1160621"/>
            <a:chOff x="5431831" y="1752600"/>
            <a:chExt cx="937550" cy="116062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0CFCFC-C544-673F-AC06-758A8EEB54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1C5F85-20F7-D144-95A9-0CE5C5D9B15C}"/>
                </a:ext>
              </a:extLst>
            </p:cNvPr>
            <p:cNvSpPr txBox="1"/>
            <p:nvPr userDrawn="1"/>
          </p:nvSpPr>
          <p:spPr>
            <a:xfrm>
              <a:off x="5485270" y="2667000"/>
              <a:ext cx="8306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B523C45-1411-FFA2-CDD6-030F8673413B}"/>
              </a:ext>
            </a:extLst>
          </p:cNvPr>
          <p:cNvGrpSpPr/>
          <p:nvPr userDrawn="1"/>
        </p:nvGrpSpPr>
        <p:grpSpPr>
          <a:xfrm>
            <a:off x="7661269" y="3246863"/>
            <a:ext cx="937550" cy="1160621"/>
            <a:chOff x="5431831" y="1752600"/>
            <a:chExt cx="937550" cy="1160621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BAEB1D6-A0DB-C3DE-CEFD-60B96E056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B68FE0-405B-2CB1-9B49-0529846D28AF}"/>
                </a:ext>
              </a:extLst>
            </p:cNvPr>
            <p:cNvSpPr txBox="1"/>
            <p:nvPr userDrawn="1"/>
          </p:nvSpPr>
          <p:spPr>
            <a:xfrm>
              <a:off x="5627937" y="2667000"/>
              <a:ext cx="5453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Space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8573B0-C3E9-BD4A-12C6-2C05FEB654FB}"/>
              </a:ext>
            </a:extLst>
          </p:cNvPr>
          <p:cNvGrpSpPr/>
          <p:nvPr userDrawn="1"/>
        </p:nvGrpSpPr>
        <p:grpSpPr>
          <a:xfrm>
            <a:off x="4800600" y="3246863"/>
            <a:ext cx="1114409" cy="1160621"/>
            <a:chOff x="5343407" y="1752600"/>
            <a:chExt cx="1114409" cy="1160621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7FB7A2A-2D14-1105-B15D-4F4C04A6F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CA22A94-509E-32C8-87A6-C41E8B1B2DEA}"/>
                </a:ext>
              </a:extLst>
            </p:cNvPr>
            <p:cNvSpPr txBox="1"/>
            <p:nvPr userDrawn="1"/>
          </p:nvSpPr>
          <p:spPr>
            <a:xfrm>
              <a:off x="5343407" y="2667000"/>
              <a:ext cx="11144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Report/Analytics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6D9EA6-D0B5-18CC-6C05-63F3908918A0}"/>
              </a:ext>
            </a:extLst>
          </p:cNvPr>
          <p:cNvGrpSpPr/>
          <p:nvPr userDrawn="1"/>
        </p:nvGrpSpPr>
        <p:grpSpPr>
          <a:xfrm>
            <a:off x="9037083" y="3246863"/>
            <a:ext cx="937550" cy="1160621"/>
            <a:chOff x="5431831" y="1752600"/>
            <a:chExt cx="937550" cy="1160621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6CADE8A-6EC7-51D0-0CFE-1124AA9C6C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02BEAC-3F80-2061-C091-2E2DE37438D1}"/>
                </a:ext>
              </a:extLst>
            </p:cNvPr>
            <p:cNvSpPr txBox="1"/>
            <p:nvPr userDrawn="1"/>
          </p:nvSpPr>
          <p:spPr>
            <a:xfrm>
              <a:off x="5599081" y="2667000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Biology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85217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Icon 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2DBF73-78F1-5E34-BB47-F8D4315E883F}"/>
              </a:ext>
            </a:extLst>
          </p:cNvPr>
          <p:cNvGrpSpPr/>
          <p:nvPr userDrawn="1"/>
        </p:nvGrpSpPr>
        <p:grpSpPr>
          <a:xfrm>
            <a:off x="620138" y="1752600"/>
            <a:ext cx="1149675" cy="1160621"/>
            <a:chOff x="620138" y="1752600"/>
            <a:chExt cx="1149675" cy="116062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4DCB50-DA15-0746-CC36-3D6CE4CCB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756196-4ADF-DF0C-EBDC-F9F2C81AC2F4}"/>
                </a:ext>
              </a:extLst>
            </p:cNvPr>
            <p:cNvSpPr txBox="1"/>
            <p:nvPr userDrawn="1"/>
          </p:nvSpPr>
          <p:spPr>
            <a:xfrm>
              <a:off x="620138" y="2667000"/>
              <a:ext cx="114967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Physical Science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1910B8-EFDC-F4BD-D871-01250E169D33}"/>
              </a:ext>
            </a:extLst>
          </p:cNvPr>
          <p:cNvGrpSpPr/>
          <p:nvPr userDrawn="1"/>
        </p:nvGrpSpPr>
        <p:grpSpPr>
          <a:xfrm>
            <a:off x="2119913" y="1752600"/>
            <a:ext cx="937550" cy="1160621"/>
            <a:chOff x="2276156" y="1752600"/>
            <a:chExt cx="937550" cy="116062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E1E2990-A33D-309A-9F68-08D9A1E0E4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90AC53-46B8-9208-4DAB-7EBDD1243E80}"/>
                </a:ext>
              </a:extLst>
            </p:cNvPr>
            <p:cNvSpPr txBox="1"/>
            <p:nvPr userDrawn="1"/>
          </p:nvSpPr>
          <p:spPr>
            <a:xfrm>
              <a:off x="2390507" y="2667000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Quantum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D160AB-747D-0C84-DB2C-12A72938449E}"/>
              </a:ext>
            </a:extLst>
          </p:cNvPr>
          <p:cNvGrpSpPr/>
          <p:nvPr userDrawn="1"/>
        </p:nvGrpSpPr>
        <p:grpSpPr>
          <a:xfrm>
            <a:off x="3500407" y="1752600"/>
            <a:ext cx="937550" cy="1160621"/>
            <a:chOff x="3328048" y="1752600"/>
            <a:chExt cx="937550" cy="11606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58E307-692E-76E5-915A-6BE8C8A6C3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76D59-973C-B3ED-21A7-6E1BF17E1F28}"/>
                </a:ext>
              </a:extLst>
            </p:cNvPr>
            <p:cNvSpPr txBox="1"/>
            <p:nvPr userDrawn="1"/>
          </p:nvSpPr>
          <p:spPr>
            <a:xfrm>
              <a:off x="3565830" y="266700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Fluid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A1BB1-12A4-2E2E-1955-F3A8B5472743}"/>
              </a:ext>
            </a:extLst>
          </p:cNvPr>
          <p:cNvGrpSpPr/>
          <p:nvPr userDrawn="1"/>
        </p:nvGrpSpPr>
        <p:grpSpPr>
          <a:xfrm>
            <a:off x="4889029" y="1752600"/>
            <a:ext cx="937550" cy="1160621"/>
            <a:chOff x="4379940" y="1752600"/>
            <a:chExt cx="937550" cy="116062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E9DBB58-6406-2088-AE7D-CD856A1E7A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472200-79FE-9C5A-93BA-31F52D3EE86F}"/>
                </a:ext>
              </a:extLst>
            </p:cNvPr>
            <p:cNvSpPr txBox="1"/>
            <p:nvPr userDrawn="1"/>
          </p:nvSpPr>
          <p:spPr>
            <a:xfrm>
              <a:off x="4483070" y="2667000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Complete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C30226-E85A-EAB4-EA3A-2F8AF418AC7A}"/>
              </a:ext>
            </a:extLst>
          </p:cNvPr>
          <p:cNvGrpSpPr/>
          <p:nvPr userDrawn="1"/>
        </p:nvGrpSpPr>
        <p:grpSpPr>
          <a:xfrm>
            <a:off x="6247355" y="1752600"/>
            <a:ext cx="937550" cy="1160621"/>
            <a:chOff x="5431831" y="1752600"/>
            <a:chExt cx="937550" cy="1160621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29FB4C8-0924-DD30-1DEA-0B2E407C2C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9D3CBF-9626-9176-B486-F34F15BE4A9E}"/>
                </a:ext>
              </a:extLst>
            </p:cNvPr>
            <p:cNvSpPr txBox="1"/>
            <p:nvPr userDrawn="1"/>
          </p:nvSpPr>
          <p:spPr>
            <a:xfrm>
              <a:off x="5530953" y="2667000"/>
              <a:ext cx="7393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Molecular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EC613B-9512-31BF-730B-49C7B41C44C6}"/>
              </a:ext>
            </a:extLst>
          </p:cNvPr>
          <p:cNvGrpSpPr/>
          <p:nvPr userDrawn="1"/>
        </p:nvGrpSpPr>
        <p:grpSpPr>
          <a:xfrm>
            <a:off x="7661269" y="1752600"/>
            <a:ext cx="937550" cy="1160621"/>
            <a:chOff x="5431831" y="1752600"/>
            <a:chExt cx="937550" cy="116062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005A4-9DA7-B0C3-08EE-98CB0CE9B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FE336D-FA97-22C9-55DC-079F3A53A069}"/>
                </a:ext>
              </a:extLst>
            </p:cNvPr>
            <p:cNvSpPr txBox="1"/>
            <p:nvPr userDrawn="1"/>
          </p:nvSpPr>
          <p:spPr>
            <a:xfrm>
              <a:off x="5607097" y="2667000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Budget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DF185E-4874-C556-B523-55B66CA67CA6}"/>
              </a:ext>
            </a:extLst>
          </p:cNvPr>
          <p:cNvGrpSpPr/>
          <p:nvPr userDrawn="1"/>
        </p:nvGrpSpPr>
        <p:grpSpPr>
          <a:xfrm>
            <a:off x="9037083" y="1752600"/>
            <a:ext cx="937550" cy="1160621"/>
            <a:chOff x="5431831" y="1752600"/>
            <a:chExt cx="937550" cy="116062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3CE37AC-3781-BB31-177C-5CE7E2287C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8C9462-D61D-BDFC-9D8E-41D0C89DE06F}"/>
                </a:ext>
              </a:extLst>
            </p:cNvPr>
            <p:cNvSpPr txBox="1"/>
            <p:nvPr userDrawn="1"/>
          </p:nvSpPr>
          <p:spPr>
            <a:xfrm>
              <a:off x="5684843" y="2667000"/>
              <a:ext cx="4315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Idea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D12664-0486-A848-58F4-C28C560C54DC}"/>
              </a:ext>
            </a:extLst>
          </p:cNvPr>
          <p:cNvGrpSpPr/>
          <p:nvPr userDrawn="1"/>
        </p:nvGrpSpPr>
        <p:grpSpPr>
          <a:xfrm>
            <a:off x="10412895" y="1752600"/>
            <a:ext cx="937550" cy="1160621"/>
            <a:chOff x="5431831" y="1752600"/>
            <a:chExt cx="937550" cy="116062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49D6AE0-9F7E-5646-BBF2-3EB286B93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436932-7489-215B-A927-D94234ABE44F}"/>
                </a:ext>
              </a:extLst>
            </p:cNvPr>
            <p:cNvSpPr txBox="1"/>
            <p:nvPr userDrawn="1"/>
          </p:nvSpPr>
          <p:spPr>
            <a:xfrm>
              <a:off x="5485271" y="2667000"/>
              <a:ext cx="8306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0F299A-3739-E2C2-ADAB-FEB8CB19AA01}"/>
              </a:ext>
            </a:extLst>
          </p:cNvPr>
          <p:cNvGrpSpPr/>
          <p:nvPr userDrawn="1"/>
        </p:nvGrpSpPr>
        <p:grpSpPr>
          <a:xfrm>
            <a:off x="709105" y="3246863"/>
            <a:ext cx="971741" cy="1160621"/>
            <a:chOff x="709103" y="1752600"/>
            <a:chExt cx="971741" cy="116062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CD17CB-B72B-50B2-32D5-1580EF583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BBB447-9DD9-51D6-7E1F-53FCEA69C8AE}"/>
                </a:ext>
              </a:extLst>
            </p:cNvPr>
            <p:cNvSpPr txBox="1"/>
            <p:nvPr userDrawn="1"/>
          </p:nvSpPr>
          <p:spPr>
            <a:xfrm>
              <a:off x="709103" y="2667000"/>
              <a:ext cx="9717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Attention/Risk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45483EF-BC35-2B72-DF14-F98491F5A878}"/>
              </a:ext>
            </a:extLst>
          </p:cNvPr>
          <p:cNvGrpSpPr/>
          <p:nvPr userDrawn="1"/>
        </p:nvGrpSpPr>
        <p:grpSpPr>
          <a:xfrm>
            <a:off x="2119913" y="3246863"/>
            <a:ext cx="937550" cy="1160621"/>
            <a:chOff x="2276156" y="1752600"/>
            <a:chExt cx="937550" cy="1160621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1CB1A3-CB6A-3F6F-D4C8-D0A375257F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64AB0F9-D4AB-42DC-85C6-261EF3905EB7}"/>
                </a:ext>
              </a:extLst>
            </p:cNvPr>
            <p:cNvSpPr txBox="1"/>
            <p:nvPr userDrawn="1"/>
          </p:nvSpPr>
          <p:spPr>
            <a:xfrm>
              <a:off x="2368868" y="2667000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List/To-do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D7BD37-7B62-B0BE-B34B-FE7378F9CBAE}"/>
              </a:ext>
            </a:extLst>
          </p:cNvPr>
          <p:cNvGrpSpPr/>
          <p:nvPr userDrawn="1"/>
        </p:nvGrpSpPr>
        <p:grpSpPr>
          <a:xfrm>
            <a:off x="3376712" y="3246863"/>
            <a:ext cx="1184941" cy="1160621"/>
            <a:chOff x="3204355" y="1752600"/>
            <a:chExt cx="1184941" cy="116062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016F2B6-B7E8-1132-2642-EA957F176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80E60-8A4E-251D-C573-98A48CAF06AC}"/>
                </a:ext>
              </a:extLst>
            </p:cNvPr>
            <p:cNvSpPr txBox="1"/>
            <p:nvPr userDrawn="1"/>
          </p:nvSpPr>
          <p:spPr>
            <a:xfrm>
              <a:off x="3204355" y="2667000"/>
              <a:ext cx="11849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Report/Document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033F2C-0684-B356-46F6-D9BF89D9EBB8}"/>
              </a:ext>
            </a:extLst>
          </p:cNvPr>
          <p:cNvGrpSpPr/>
          <p:nvPr userDrawn="1"/>
        </p:nvGrpSpPr>
        <p:grpSpPr>
          <a:xfrm>
            <a:off x="6247355" y="3246863"/>
            <a:ext cx="937550" cy="1160621"/>
            <a:chOff x="4379940" y="1752600"/>
            <a:chExt cx="937550" cy="116062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9BAD218-B5C9-34D3-5AF3-0CBB52EE3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E81308E-5F10-C3B2-DBCC-5B1B946E1E11}"/>
                </a:ext>
              </a:extLst>
            </p:cNvPr>
            <p:cNvSpPr txBox="1"/>
            <p:nvPr userDrawn="1"/>
          </p:nvSpPr>
          <p:spPr>
            <a:xfrm>
              <a:off x="4429371" y="2667000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Microscope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B13DA3-C4EA-FA14-E54A-64A7393C4797}"/>
              </a:ext>
            </a:extLst>
          </p:cNvPr>
          <p:cNvGrpSpPr/>
          <p:nvPr userDrawn="1"/>
        </p:nvGrpSpPr>
        <p:grpSpPr>
          <a:xfrm>
            <a:off x="10412895" y="3246863"/>
            <a:ext cx="937550" cy="1160621"/>
            <a:chOff x="5431831" y="1752600"/>
            <a:chExt cx="937550" cy="116062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0CFCFC-C544-673F-AC06-758A8EEB54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1C5F85-20F7-D144-95A9-0CE5C5D9B15C}"/>
                </a:ext>
              </a:extLst>
            </p:cNvPr>
            <p:cNvSpPr txBox="1"/>
            <p:nvPr userDrawn="1"/>
          </p:nvSpPr>
          <p:spPr>
            <a:xfrm>
              <a:off x="5485270" y="2667000"/>
              <a:ext cx="8306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B523C45-1411-FFA2-CDD6-030F8673413B}"/>
              </a:ext>
            </a:extLst>
          </p:cNvPr>
          <p:cNvGrpSpPr/>
          <p:nvPr userDrawn="1"/>
        </p:nvGrpSpPr>
        <p:grpSpPr>
          <a:xfrm>
            <a:off x="7661269" y="3246863"/>
            <a:ext cx="937550" cy="1160621"/>
            <a:chOff x="5431831" y="1752600"/>
            <a:chExt cx="937550" cy="1160621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BAEB1D6-A0DB-C3DE-CEFD-60B96E056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B68FE0-405B-2CB1-9B49-0529846D28AF}"/>
                </a:ext>
              </a:extLst>
            </p:cNvPr>
            <p:cNvSpPr txBox="1"/>
            <p:nvPr userDrawn="1"/>
          </p:nvSpPr>
          <p:spPr>
            <a:xfrm>
              <a:off x="5627937" y="2667000"/>
              <a:ext cx="5453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Space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8573B0-C3E9-BD4A-12C6-2C05FEB654FB}"/>
              </a:ext>
            </a:extLst>
          </p:cNvPr>
          <p:cNvGrpSpPr/>
          <p:nvPr userDrawn="1"/>
        </p:nvGrpSpPr>
        <p:grpSpPr>
          <a:xfrm>
            <a:off x="4800600" y="3246863"/>
            <a:ext cx="1114409" cy="1160621"/>
            <a:chOff x="5343407" y="1752600"/>
            <a:chExt cx="1114409" cy="1160621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7FB7A2A-2D14-1105-B15D-4F4C04A6F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CA22A94-509E-32C8-87A6-C41E8B1B2DEA}"/>
                </a:ext>
              </a:extLst>
            </p:cNvPr>
            <p:cNvSpPr txBox="1"/>
            <p:nvPr userDrawn="1"/>
          </p:nvSpPr>
          <p:spPr>
            <a:xfrm>
              <a:off x="5343407" y="2667000"/>
              <a:ext cx="11144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Report/Analytics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6D9EA6-D0B5-18CC-6C05-63F3908918A0}"/>
              </a:ext>
            </a:extLst>
          </p:cNvPr>
          <p:cNvGrpSpPr/>
          <p:nvPr userDrawn="1"/>
        </p:nvGrpSpPr>
        <p:grpSpPr>
          <a:xfrm>
            <a:off x="9037083" y="3246863"/>
            <a:ext cx="937550" cy="1160621"/>
            <a:chOff x="5431831" y="1752600"/>
            <a:chExt cx="937550" cy="1160621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6CADE8A-6EC7-51D0-0CFE-1124AA9C6C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02BEAC-3F80-2061-C091-2E2DE37438D1}"/>
                </a:ext>
              </a:extLst>
            </p:cNvPr>
            <p:cNvSpPr txBox="1"/>
            <p:nvPr userDrawn="1"/>
          </p:nvSpPr>
          <p:spPr>
            <a:xfrm>
              <a:off x="5599081" y="2667000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Biology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0605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BEB-3F95-F7BD-8C6B-C9CDE17AD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 dirty="0"/>
              <a:t>Icon 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41258-C225-30B8-4068-2B71A0ED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A1CED-BEE1-ACF5-8AEE-094C9B16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2DBF73-78F1-5E34-BB47-F8D4315E883F}"/>
              </a:ext>
            </a:extLst>
          </p:cNvPr>
          <p:cNvGrpSpPr/>
          <p:nvPr userDrawn="1"/>
        </p:nvGrpSpPr>
        <p:grpSpPr>
          <a:xfrm>
            <a:off x="620138" y="1752600"/>
            <a:ext cx="1149675" cy="1160621"/>
            <a:chOff x="620138" y="1752600"/>
            <a:chExt cx="1149675" cy="116062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84DCB50-DA15-0746-CC36-3D6CE4CCB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756196-4ADF-DF0C-EBDC-F9F2C81AC2F4}"/>
                </a:ext>
              </a:extLst>
            </p:cNvPr>
            <p:cNvSpPr txBox="1"/>
            <p:nvPr userDrawn="1"/>
          </p:nvSpPr>
          <p:spPr>
            <a:xfrm>
              <a:off x="620138" y="2667000"/>
              <a:ext cx="114967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Physical Science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11910B8-EFDC-F4BD-D871-01250E169D33}"/>
              </a:ext>
            </a:extLst>
          </p:cNvPr>
          <p:cNvGrpSpPr/>
          <p:nvPr userDrawn="1"/>
        </p:nvGrpSpPr>
        <p:grpSpPr>
          <a:xfrm>
            <a:off x="2119913" y="1752600"/>
            <a:ext cx="937550" cy="1160621"/>
            <a:chOff x="2276156" y="1752600"/>
            <a:chExt cx="937550" cy="116062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E1E2990-A33D-309A-9F68-08D9A1E0E4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90AC53-46B8-9208-4DAB-7EBDD1243E80}"/>
                </a:ext>
              </a:extLst>
            </p:cNvPr>
            <p:cNvSpPr txBox="1"/>
            <p:nvPr userDrawn="1"/>
          </p:nvSpPr>
          <p:spPr>
            <a:xfrm>
              <a:off x="2390507" y="2667000"/>
              <a:ext cx="708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Quantum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D160AB-747D-0C84-DB2C-12A72938449E}"/>
              </a:ext>
            </a:extLst>
          </p:cNvPr>
          <p:cNvGrpSpPr/>
          <p:nvPr userDrawn="1"/>
        </p:nvGrpSpPr>
        <p:grpSpPr>
          <a:xfrm>
            <a:off x="3500407" y="1752600"/>
            <a:ext cx="937550" cy="1160621"/>
            <a:chOff x="3328048" y="1752600"/>
            <a:chExt cx="937550" cy="116062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F58E307-692E-76E5-915A-6BE8C8A6C3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976D59-973C-B3ED-21A7-6E1BF17E1F28}"/>
                </a:ext>
              </a:extLst>
            </p:cNvPr>
            <p:cNvSpPr txBox="1"/>
            <p:nvPr userDrawn="1"/>
          </p:nvSpPr>
          <p:spPr>
            <a:xfrm>
              <a:off x="3565830" y="266700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Fluid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FEA1BB1-12A4-2E2E-1955-F3A8B5472743}"/>
              </a:ext>
            </a:extLst>
          </p:cNvPr>
          <p:cNvGrpSpPr/>
          <p:nvPr userDrawn="1"/>
        </p:nvGrpSpPr>
        <p:grpSpPr>
          <a:xfrm>
            <a:off x="4889029" y="1752600"/>
            <a:ext cx="937550" cy="1160621"/>
            <a:chOff x="4379940" y="1752600"/>
            <a:chExt cx="937550" cy="116062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E9DBB58-6406-2088-AE7D-CD856A1E7A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472200-79FE-9C5A-93BA-31F52D3EE86F}"/>
                </a:ext>
              </a:extLst>
            </p:cNvPr>
            <p:cNvSpPr txBox="1"/>
            <p:nvPr userDrawn="1"/>
          </p:nvSpPr>
          <p:spPr>
            <a:xfrm>
              <a:off x="4483070" y="2667000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Complete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BC30226-E85A-EAB4-EA3A-2F8AF418AC7A}"/>
              </a:ext>
            </a:extLst>
          </p:cNvPr>
          <p:cNvGrpSpPr/>
          <p:nvPr userDrawn="1"/>
        </p:nvGrpSpPr>
        <p:grpSpPr>
          <a:xfrm>
            <a:off x="6247355" y="1752600"/>
            <a:ext cx="937550" cy="1160621"/>
            <a:chOff x="5431831" y="1752600"/>
            <a:chExt cx="937550" cy="1160621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29FB4C8-0924-DD30-1DEA-0B2E407C2C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9D3CBF-9626-9176-B486-F34F15BE4A9E}"/>
                </a:ext>
              </a:extLst>
            </p:cNvPr>
            <p:cNvSpPr txBox="1"/>
            <p:nvPr userDrawn="1"/>
          </p:nvSpPr>
          <p:spPr>
            <a:xfrm>
              <a:off x="5530953" y="2667000"/>
              <a:ext cx="7393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Molecular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EC613B-9512-31BF-730B-49C7B41C44C6}"/>
              </a:ext>
            </a:extLst>
          </p:cNvPr>
          <p:cNvGrpSpPr/>
          <p:nvPr userDrawn="1"/>
        </p:nvGrpSpPr>
        <p:grpSpPr>
          <a:xfrm>
            <a:off x="7661269" y="1752600"/>
            <a:ext cx="937550" cy="1160621"/>
            <a:chOff x="5431831" y="1752600"/>
            <a:chExt cx="937550" cy="116062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005A4-9DA7-B0C3-08EE-98CB0CE9B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FE336D-FA97-22C9-55DC-079F3A53A069}"/>
                </a:ext>
              </a:extLst>
            </p:cNvPr>
            <p:cNvSpPr txBox="1"/>
            <p:nvPr userDrawn="1"/>
          </p:nvSpPr>
          <p:spPr>
            <a:xfrm>
              <a:off x="5607097" y="2667000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Budget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DF185E-4874-C556-B523-55B66CA67CA6}"/>
              </a:ext>
            </a:extLst>
          </p:cNvPr>
          <p:cNvGrpSpPr/>
          <p:nvPr userDrawn="1"/>
        </p:nvGrpSpPr>
        <p:grpSpPr>
          <a:xfrm>
            <a:off x="9037083" y="1752600"/>
            <a:ext cx="937550" cy="1160621"/>
            <a:chOff x="5431831" y="1752600"/>
            <a:chExt cx="937550" cy="116062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3CE37AC-3781-BB31-177C-5CE7E2287C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38C9462-D61D-BDFC-9D8E-41D0C89DE06F}"/>
                </a:ext>
              </a:extLst>
            </p:cNvPr>
            <p:cNvSpPr txBox="1"/>
            <p:nvPr userDrawn="1"/>
          </p:nvSpPr>
          <p:spPr>
            <a:xfrm>
              <a:off x="5684843" y="2667000"/>
              <a:ext cx="4315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Idea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D12664-0486-A848-58F4-C28C560C54DC}"/>
              </a:ext>
            </a:extLst>
          </p:cNvPr>
          <p:cNvGrpSpPr/>
          <p:nvPr userDrawn="1"/>
        </p:nvGrpSpPr>
        <p:grpSpPr>
          <a:xfrm>
            <a:off x="10412895" y="1752600"/>
            <a:ext cx="937550" cy="1160621"/>
            <a:chOff x="5431831" y="1752600"/>
            <a:chExt cx="937550" cy="116062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49D6AE0-9F7E-5646-BBF2-3EB286B932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436932-7489-215B-A927-D94234ABE44F}"/>
                </a:ext>
              </a:extLst>
            </p:cNvPr>
            <p:cNvSpPr txBox="1"/>
            <p:nvPr userDrawn="1"/>
          </p:nvSpPr>
          <p:spPr>
            <a:xfrm>
              <a:off x="5485271" y="2667000"/>
              <a:ext cx="8306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0F299A-3739-E2C2-ADAB-FEB8CB19AA01}"/>
              </a:ext>
            </a:extLst>
          </p:cNvPr>
          <p:cNvGrpSpPr/>
          <p:nvPr userDrawn="1"/>
        </p:nvGrpSpPr>
        <p:grpSpPr>
          <a:xfrm>
            <a:off x="709105" y="3246863"/>
            <a:ext cx="971741" cy="1160621"/>
            <a:chOff x="709103" y="1752600"/>
            <a:chExt cx="971741" cy="116062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CD17CB-B72B-50B2-32D5-1580EF583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6198" y="1752600"/>
              <a:ext cx="937550" cy="93755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BBB447-9DD9-51D6-7E1F-53FCEA69C8AE}"/>
                </a:ext>
              </a:extLst>
            </p:cNvPr>
            <p:cNvSpPr txBox="1"/>
            <p:nvPr userDrawn="1"/>
          </p:nvSpPr>
          <p:spPr>
            <a:xfrm>
              <a:off x="709103" y="2667000"/>
              <a:ext cx="9717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Attention/Risk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45483EF-BC35-2B72-DF14-F98491F5A878}"/>
              </a:ext>
            </a:extLst>
          </p:cNvPr>
          <p:cNvGrpSpPr/>
          <p:nvPr userDrawn="1"/>
        </p:nvGrpSpPr>
        <p:grpSpPr>
          <a:xfrm>
            <a:off x="2119913" y="3246863"/>
            <a:ext cx="937550" cy="1160621"/>
            <a:chOff x="2276156" y="1752600"/>
            <a:chExt cx="937550" cy="1160621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1CB1A3-CB6A-3F6F-D4C8-D0A375257F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276156" y="1752600"/>
              <a:ext cx="937550" cy="937550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64AB0F9-D4AB-42DC-85C6-261EF3905EB7}"/>
                </a:ext>
              </a:extLst>
            </p:cNvPr>
            <p:cNvSpPr txBox="1"/>
            <p:nvPr userDrawn="1"/>
          </p:nvSpPr>
          <p:spPr>
            <a:xfrm>
              <a:off x="2368868" y="2667000"/>
              <a:ext cx="7521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List/To-do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D7BD37-7B62-B0BE-B34B-FE7378F9CBAE}"/>
              </a:ext>
            </a:extLst>
          </p:cNvPr>
          <p:cNvGrpSpPr/>
          <p:nvPr userDrawn="1"/>
        </p:nvGrpSpPr>
        <p:grpSpPr>
          <a:xfrm>
            <a:off x="3376712" y="3246863"/>
            <a:ext cx="1184941" cy="1160621"/>
            <a:chOff x="3204355" y="1752600"/>
            <a:chExt cx="1184941" cy="1160621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016F2B6-B7E8-1132-2642-EA957F1761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28048" y="1752600"/>
              <a:ext cx="937550" cy="93755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80E60-8A4E-251D-C573-98A48CAF06AC}"/>
                </a:ext>
              </a:extLst>
            </p:cNvPr>
            <p:cNvSpPr txBox="1"/>
            <p:nvPr userDrawn="1"/>
          </p:nvSpPr>
          <p:spPr>
            <a:xfrm>
              <a:off x="3204355" y="2667000"/>
              <a:ext cx="11849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Report/Document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033F2C-0684-B356-46F6-D9BF89D9EBB8}"/>
              </a:ext>
            </a:extLst>
          </p:cNvPr>
          <p:cNvGrpSpPr/>
          <p:nvPr userDrawn="1"/>
        </p:nvGrpSpPr>
        <p:grpSpPr>
          <a:xfrm>
            <a:off x="6247355" y="3246863"/>
            <a:ext cx="937550" cy="1160621"/>
            <a:chOff x="4379940" y="1752600"/>
            <a:chExt cx="937550" cy="1160621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9BAD218-B5C9-34D3-5AF3-0CBB52EE3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379940" y="1752600"/>
              <a:ext cx="937550" cy="93755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E81308E-5F10-C3B2-DBCC-5B1B946E1E11}"/>
                </a:ext>
              </a:extLst>
            </p:cNvPr>
            <p:cNvSpPr txBox="1"/>
            <p:nvPr userDrawn="1"/>
          </p:nvSpPr>
          <p:spPr>
            <a:xfrm>
              <a:off x="4429371" y="2667000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Microscope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B13DA3-C4EA-FA14-E54A-64A7393C4797}"/>
              </a:ext>
            </a:extLst>
          </p:cNvPr>
          <p:cNvGrpSpPr/>
          <p:nvPr userDrawn="1"/>
        </p:nvGrpSpPr>
        <p:grpSpPr>
          <a:xfrm>
            <a:off x="10412895" y="3246863"/>
            <a:ext cx="937550" cy="1160621"/>
            <a:chOff x="5431831" y="1752600"/>
            <a:chExt cx="937550" cy="1160621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E0CFCFC-C544-673F-AC06-758A8EEB54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1C5F85-20F7-D144-95A9-0CE5C5D9B15C}"/>
                </a:ext>
              </a:extLst>
            </p:cNvPr>
            <p:cNvSpPr txBox="1"/>
            <p:nvPr userDrawn="1"/>
          </p:nvSpPr>
          <p:spPr>
            <a:xfrm>
              <a:off x="5485270" y="2667000"/>
              <a:ext cx="8306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Experiment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B523C45-1411-FFA2-CDD6-030F8673413B}"/>
              </a:ext>
            </a:extLst>
          </p:cNvPr>
          <p:cNvGrpSpPr/>
          <p:nvPr userDrawn="1"/>
        </p:nvGrpSpPr>
        <p:grpSpPr>
          <a:xfrm>
            <a:off x="7661269" y="3246863"/>
            <a:ext cx="937550" cy="1160621"/>
            <a:chOff x="5431831" y="1752600"/>
            <a:chExt cx="937550" cy="1160621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BAEB1D6-A0DB-C3DE-CEFD-60B96E056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B68FE0-405B-2CB1-9B49-0529846D28AF}"/>
                </a:ext>
              </a:extLst>
            </p:cNvPr>
            <p:cNvSpPr txBox="1"/>
            <p:nvPr userDrawn="1"/>
          </p:nvSpPr>
          <p:spPr>
            <a:xfrm>
              <a:off x="5627937" y="2667000"/>
              <a:ext cx="5453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Space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8573B0-C3E9-BD4A-12C6-2C05FEB654FB}"/>
              </a:ext>
            </a:extLst>
          </p:cNvPr>
          <p:cNvGrpSpPr/>
          <p:nvPr userDrawn="1"/>
        </p:nvGrpSpPr>
        <p:grpSpPr>
          <a:xfrm>
            <a:off x="4800600" y="3246863"/>
            <a:ext cx="1114409" cy="1160621"/>
            <a:chOff x="5343407" y="1752600"/>
            <a:chExt cx="1114409" cy="1160621"/>
          </a:xfrm>
        </p:grpSpPr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7FB7A2A-2D14-1105-B15D-4F4C04A6F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CA22A94-509E-32C8-87A6-C41E8B1B2DEA}"/>
                </a:ext>
              </a:extLst>
            </p:cNvPr>
            <p:cNvSpPr txBox="1"/>
            <p:nvPr userDrawn="1"/>
          </p:nvSpPr>
          <p:spPr>
            <a:xfrm>
              <a:off x="5343407" y="2667000"/>
              <a:ext cx="11144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Report/Analytics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46D9EA6-D0B5-18CC-6C05-63F3908918A0}"/>
              </a:ext>
            </a:extLst>
          </p:cNvPr>
          <p:cNvGrpSpPr/>
          <p:nvPr userDrawn="1"/>
        </p:nvGrpSpPr>
        <p:grpSpPr>
          <a:xfrm>
            <a:off x="9037083" y="3246863"/>
            <a:ext cx="937550" cy="1160621"/>
            <a:chOff x="5431831" y="1752600"/>
            <a:chExt cx="937550" cy="1160621"/>
          </a:xfrm>
        </p:grpSpPr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6CADE8A-6EC7-51D0-0CFE-1124AA9C6C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31831" y="1752600"/>
              <a:ext cx="937550" cy="93755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702BEAC-3F80-2061-C091-2E2DE37438D1}"/>
                </a:ext>
              </a:extLst>
            </p:cNvPr>
            <p:cNvSpPr txBox="1"/>
            <p:nvPr userDrawn="1"/>
          </p:nvSpPr>
          <p:spPr>
            <a:xfrm>
              <a:off x="5599081" y="2667000"/>
              <a:ext cx="6030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/>
                <a:t>Biology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75668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59536-D612-272A-D0AD-1D0145988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A510F-03EC-A6BB-D8AE-182AFD52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798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54A3-AB3C-35BD-6098-13B595E8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EF45-FFD0-8EC1-3E51-7B4572F3A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1103971"/>
            <a:ext cx="6556748" cy="52110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3246F-34BC-6307-9619-06751D531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399" y="250344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F21F7-6214-7E6B-A5E6-69AAAA30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02BA3-BB8A-AC85-A750-93E59432E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047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C9C3-CF27-8B06-2E66-2BB1FCAD7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5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B7967-4936-AE6D-0BBD-BCE482FF4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2352" y="1106424"/>
            <a:ext cx="6518834" cy="52353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1E6CC-1128-78C6-3309-EDCFE3E4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2505456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B39B1-5B40-FE1F-3045-DD90E2A82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7EE0B-14D8-097A-37A8-4FBF5530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374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B7E2-6845-38D7-8C84-05645DB92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FDE4B-421A-55A0-7AEA-42BC2BDC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340CA-3171-FB84-4A04-1522D74B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17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B7E2-6845-38D7-8C84-05645DB92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5930"/>
            <a:ext cx="103251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FDE4B-421A-55A0-7AEA-42BC2BDC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Biological &amp; Physical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340CA-3171-FB84-4A04-1522D74B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18032-BA8D-3D4D-8253-A70208A85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717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Relationship Id="rId33" Type="http://schemas.openxmlformats.org/officeDocument/2006/relationships/image" Target="../media/image1.jpeg"/><Relationship Id="rId3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D4BF88">
                <a:alpha val="75162"/>
              </a:srgbClr>
            </a:gs>
            <a:gs pos="39000">
              <a:schemeClr val="bg1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F53D41-B3D9-0856-DEBB-57C725BD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755930"/>
            <a:ext cx="103251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F6990-E15B-701E-55A2-00590A07C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3450" y="2216430"/>
            <a:ext cx="103251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E2C12-EE6A-20CB-09F3-55836BC33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47324"/>
            <a:ext cx="12192000" cy="529216"/>
          </a:xfrm>
          <a:prstGeom prst="rect">
            <a:avLst/>
          </a:prstGeom>
        </p:spPr>
      </p:pic>
      <p:pic>
        <p:nvPicPr>
          <p:cNvPr id="8" name="Picture 7" descr="A black background with grey letters&#10;&#10;Description automatically generated">
            <a:extLst>
              <a:ext uri="{FF2B5EF4-FFF2-40B4-BE49-F238E27FC236}">
                <a16:creationId xmlns:a16="http://schemas.microsoft.com/office/drawing/2014/main" id="{119BBE9E-4D69-14CD-9511-13BB4AA55D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4" cstate="screen">
            <a:alphaModFix amt="2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077"/>
            <a:ext cx="1201897" cy="53196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22777-339B-9F56-577C-65AD89F9C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2148" y="99559"/>
            <a:ext cx="1059704" cy="261258"/>
          </a:xfrm>
          <a:prstGeom prst="roundRect">
            <a:avLst>
              <a:gd name="adj" fmla="val 50000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/>
                </a:solidFill>
              </a:defRPr>
            </a:lvl1pPr>
          </a:lstStyle>
          <a:p>
            <a:fld id="{E8618032-BA8D-3D4D-8253-A70208A8597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38D45-6410-BA73-9765-65C75CDC4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3963" y="121602"/>
            <a:ext cx="4114800" cy="217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75167"/>
                  </a:schemeClr>
                </a:solidFill>
              </a:defRPr>
            </a:lvl1pPr>
          </a:lstStyle>
          <a:p>
            <a:r>
              <a:rPr lang="en-US" dirty="0"/>
              <a:t>Biological &amp; Physical Sciences</a:t>
            </a:r>
          </a:p>
        </p:txBody>
      </p:sp>
    </p:spTree>
    <p:extLst>
      <p:ext uri="{BB962C8B-B14F-4D97-AF65-F5344CB8AC3E}">
        <p14:creationId xmlns:p14="http://schemas.microsoft.com/office/powerpoint/2010/main" val="88917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0" r:id="rId2"/>
    <p:sldLayoutId id="2147483661" r:id="rId3"/>
    <p:sldLayoutId id="2147483682" r:id="rId4"/>
    <p:sldLayoutId id="2147483691" r:id="rId5"/>
    <p:sldLayoutId id="2147483662" r:id="rId6"/>
    <p:sldLayoutId id="2147483692" r:id="rId7"/>
    <p:sldLayoutId id="2147483663" r:id="rId8"/>
    <p:sldLayoutId id="2147483674" r:id="rId9"/>
    <p:sldLayoutId id="2147483675" r:id="rId10"/>
    <p:sldLayoutId id="2147483676" r:id="rId11"/>
    <p:sldLayoutId id="2147483681" r:id="rId12"/>
    <p:sldLayoutId id="2147483677" r:id="rId13"/>
    <p:sldLayoutId id="2147483678" r:id="rId14"/>
    <p:sldLayoutId id="2147483683" r:id="rId15"/>
    <p:sldLayoutId id="2147483672" r:id="rId16"/>
    <p:sldLayoutId id="2147483679" r:id="rId17"/>
    <p:sldLayoutId id="2147483673" r:id="rId18"/>
    <p:sldLayoutId id="2147483690" r:id="rId19"/>
    <p:sldLayoutId id="2147483689" r:id="rId20"/>
    <p:sldLayoutId id="2147483664" r:id="rId21"/>
    <p:sldLayoutId id="2147483665" r:id="rId22"/>
    <p:sldLayoutId id="2147483684" r:id="rId23"/>
    <p:sldLayoutId id="2147483685" r:id="rId24"/>
    <p:sldLayoutId id="2147483686" r:id="rId25"/>
    <p:sldLayoutId id="2147483687" r:id="rId26"/>
    <p:sldLayoutId id="2147483666" r:id="rId27"/>
    <p:sldLayoutId id="2147483667" r:id="rId28"/>
    <p:sldLayoutId id="2147483668" r:id="rId29"/>
    <p:sldLayoutId id="2147483669" r:id="rId30"/>
    <p:sldLayoutId id="2147483658" r:id="rId3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background artifact mask"/>
          <p:cNvSpPr/>
          <p:nvPr/>
        </p:nvSpPr>
        <p:spPr>
          <a:xfrm>
            <a:off x="0" y="4956048"/>
            <a:ext cx="3931920" cy="19019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5D3E717-6970-91B9-68BB-B9CE473EC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1" y="3895025"/>
            <a:ext cx="4774425" cy="1429109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700" b="0">
                <a:solidFill>
                  <a:srgbClr val="D8E1EB"/>
                </a:solidFill>
                <a:latin typeface="Arial"/>
              </a:rPr>
              <a:t>Can generated RNA-seq improve FLT vs GC analysis within each tissue?</a:t>
            </a:r>
          </a:p>
          <a:p>
            <a:pPr>
              <a:spcAft>
                <a:spcPts val="200"/>
              </a:spcAft>
            </a:pPr>
            <a:r>
              <a:rPr sz="500" b="0">
                <a:solidFill>
                  <a:srgbClr val="FFFFFF"/>
                </a:solidFill>
                <a:latin typeface="Arial"/>
              </a:rPr>
              <a:t/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Jason Trinh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B9C7D5"/>
                </a:solidFill>
                <a:latin typeface="Arial"/>
              </a:rPr>
              <a:t>EECS | UC Berkeley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B9C7D5"/>
                </a:solidFill>
                <a:latin typeface="Arial"/>
              </a:rPr>
              <a:t>Mentor: James Casaletto | August 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AB492-0D30-3AB0-9C9C-3B7725AA34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6928" y="2157984"/>
            <a:ext cx="4297680" cy="1417320"/>
          </a:xfrm>
        </p:spPr>
        <p:txBody>
          <a:bodyPr wrap="square" lIns="0" rIns="0" tIns="0" bIns="0" anchor="t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Synthetic transcriptomics for mouse spaceflight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3017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9C7D5"/>
                </a:solidFill>
                <a:latin typeface="Arial"/>
              </a:rPr>
              <a:t>Biological &amp; Physical Sciences</a:t>
            </a:r>
          </a:p>
        </p:txBody>
      </p:sp>
    </p:spTree>
    <p:extLst>
      <p:ext uri="{BB962C8B-B14F-4D97-AF65-F5344CB8AC3E}">
        <p14:creationId xmlns:p14="http://schemas.microsoft.com/office/powerpoint/2010/main" val="406897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5CCDA23-9C9B-2E3C-0808-97FA24C09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DF69EC4-28BB-B6B3-FB3D-0B6A7B68E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AED0D-F1B8-689C-34E4-C8599A32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Biological &amp; Physical Sciences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E25FE-C8CB-2ADC-D1BB-2BE7BB0DB7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1550" y="100013"/>
            <a:ext cx="1060450" cy="261937"/>
          </a:xfrm>
        </p:spPr>
        <p:txBody>
          <a:bodyPr/>
          <a:lstStyle/>
          <a:p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Small studies and study effects complicate tissue comparisons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Can a generator help rank spaceflight signal without pretending it creates new animals?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1847088"/>
            <a:ext cx="5532120" cy="2148840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9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1847088"/>
            <a:ext cx="5532120" cy="36576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112264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D6496"/>
                </a:solidFill>
                <a:latin typeface="Arial"/>
              </a:rPr>
              <a:t>NASA OSDR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450592"/>
            <a:ext cx="20574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82B55"/>
                </a:solidFill>
                <a:latin typeface="Arial"/>
              </a:rPr>
              <a:t>1,610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3035808"/>
            <a:ext cx="2103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697A"/>
                </a:solidFill>
                <a:latin typeface="Arial"/>
              </a:rPr>
              <a:t>biological profiles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2468880"/>
            <a:ext cx="1188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82B55"/>
                </a:solidFill>
                <a:latin typeface="Arial"/>
              </a:rPr>
              <a:t>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2980944"/>
            <a:ext cx="13716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697A"/>
                </a:solidFill>
                <a:latin typeface="Arial"/>
              </a:rPr>
              <a:t>accessions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496312"/>
            <a:ext cx="12344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D96552"/>
                </a:solidFill>
                <a:latin typeface="Arial"/>
              </a:rPr>
              <a:t>835 FLT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2944368"/>
            <a:ext cx="12344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D6496"/>
                </a:solidFill>
                <a:latin typeface="Arial"/>
              </a:rPr>
              <a:t>775 GC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1847088"/>
            <a:ext cx="5715000" cy="2148840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C7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1847088"/>
            <a:ext cx="5715000" cy="36576"/>
          </a:xfrm>
          <a:prstGeom prst="rect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112264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78681"/>
                </a:solidFill>
                <a:latin typeface="Arial"/>
              </a:rPr>
              <a:t>ARCHS4 mouse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450592"/>
            <a:ext cx="2240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82B55"/>
                </a:solidFill>
                <a:latin typeface="Arial"/>
              </a:rPr>
              <a:t>997,515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3035808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697A"/>
                </a:solidFill>
                <a:latin typeface="Arial"/>
              </a:rPr>
              <a:t>profiles audited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468880"/>
            <a:ext cx="17830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82B55"/>
                </a:solidFill>
                <a:latin typeface="Arial"/>
              </a:rPr>
              <a:t>17,244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2980944"/>
            <a:ext cx="11430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697A"/>
                </a:solidFill>
                <a:latin typeface="Arial"/>
              </a:rPr>
              <a:t>selected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2514600"/>
            <a:ext cx="13258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8681"/>
                </a:solidFill>
                <a:latin typeface="Arial"/>
              </a:rPr>
              <a:t>20 tissues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4270248"/>
            <a:ext cx="11539728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" y="4626864"/>
            <a:ext cx="91440" cy="91440"/>
          </a:xfrm>
          <a:prstGeom prst="ellipse">
            <a:avLst/>
          </a:prstGeom>
          <a:solidFill>
            <a:srgbClr val="D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4517136"/>
            <a:ext cx="1062532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746"/>
                </a:solidFill>
                <a:latin typeface="Arial"/>
              </a:rPr>
              <a:t>Mission, strain, material and assay differences can resemble a flight effect.</a:t>
            </a:r>
          </a:p>
        </p:txBody>
      </p:sp>
      <p:sp>
        <p:nvSpPr>
          <p:cNvPr id="42" name="Oval 41"/>
          <p:cNvSpPr/>
          <p:nvPr/>
        </p:nvSpPr>
        <p:spPr>
          <a:xfrm>
            <a:off x="685800" y="5038344"/>
            <a:ext cx="91440" cy="91440"/>
          </a:xfrm>
          <a:prstGeom prst="ellipse">
            <a:avLst/>
          </a:prstGeom>
          <a:solidFill>
            <a:srgbClr val="D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" y="4928616"/>
            <a:ext cx="1062532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746"/>
                </a:solidFill>
                <a:latin typeface="Arial"/>
              </a:rPr>
              <a:t>The generator must preserve tissue and FLT/GC structure without memorizing samples.</a:t>
            </a:r>
          </a:p>
        </p:txBody>
      </p:sp>
      <p:sp>
        <p:nvSpPr>
          <p:cNvPr id="44" name="Oval 43"/>
          <p:cNvSpPr/>
          <p:nvPr/>
        </p:nvSpPr>
        <p:spPr>
          <a:xfrm>
            <a:off x="685800" y="5449824"/>
            <a:ext cx="91440" cy="91440"/>
          </a:xfrm>
          <a:prstGeom prst="ellipse">
            <a:avLst/>
          </a:prstGeom>
          <a:solidFill>
            <a:srgbClr val="D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5340096"/>
            <a:ext cx="1062532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746"/>
                </a:solidFill>
                <a:latin typeface="Arial"/>
              </a:rPr>
              <a:t>Statistical evidence must still come from observed OSDR profiles.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" y="6510528"/>
            <a:ext cx="109728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8A969E"/>
                </a:solidFill>
                <a:latin typeface="Arial"/>
              </a:rPr>
              <a:t>Sources: NASA OSDR Biological Data API; ARCHS4 mouse v2.5.</a:t>
            </a:r>
          </a:p>
        </p:txBody>
      </p:sp>
    </p:spTree>
    <p:extLst>
      <p:ext uri="{BB962C8B-B14F-4D97-AF65-F5344CB8AC3E}">
        <p14:creationId xmlns:p14="http://schemas.microsoft.com/office/powerpoint/2010/main" val="293855452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We compared three model families and used conditional diffusion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The model architecture followed each paper; preprocessing, harmonization and conditioning remained configurable.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2423160" cy="2057400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2D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423160" cy="36576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267712"/>
            <a:ext cx="202082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D6496"/>
                </a:solidFill>
                <a:latin typeface="Arial"/>
              </a:rPr>
              <a:t>Expression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34056"/>
            <a:ext cx="202082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746"/>
                </a:solidFill>
                <a:latin typeface="Arial"/>
              </a:rPr>
              <a:t>TPM
974 mouse landmarks
train-fitted MaxAbs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2011680"/>
            <a:ext cx="2423160" cy="2057400"/>
          </a:xfrm>
          <a:prstGeom prst="roundRect">
            <a:avLst/>
          </a:prstGeom>
          <a:solidFill>
            <a:srgbClr val="F8F1E2"/>
          </a:solidFill>
          <a:ln w="10160">
            <a:solidFill>
              <a:srgbClr val="D3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54096" y="2011680"/>
            <a:ext cx="2423160" cy="36576"/>
          </a:xfrm>
          <a:prstGeom prst="rect">
            <a:avLst/>
          </a:prstGeom>
          <a:solidFill>
            <a:srgbClr val="D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2267712"/>
            <a:ext cx="202082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37B00"/>
                </a:solidFill>
                <a:latin typeface="Arial"/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2734056"/>
            <a:ext cx="202082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746"/>
                </a:solidFill>
                <a:latin typeface="Arial"/>
              </a:rPr>
              <a:t>WGAN-GP
DDIM
GeneJEPA screen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2011680"/>
            <a:ext cx="2423160" cy="2057400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17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2011680"/>
            <a:ext cx="2423160" cy="36576"/>
          </a:xfrm>
          <a:prstGeom prst="rect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267712"/>
            <a:ext cx="202082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8681"/>
                </a:solidFill>
                <a:latin typeface="Arial"/>
              </a:rPr>
              <a:t>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34056"/>
            <a:ext cx="202082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746"/>
                </a:solidFill>
                <a:latin typeface="Arial"/>
              </a:rPr>
              <a:t>ARCHS4 pretrain
OSDR adaptation
pooled tissue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2011680"/>
            <a:ext cx="3383280" cy="2057400"/>
          </a:xfrm>
          <a:prstGeom prst="roundRect">
            <a:avLst/>
          </a:prstGeom>
          <a:solidFill>
            <a:srgbClr val="ECF4ED"/>
          </a:solidFill>
          <a:ln w="10160">
            <a:solidFill>
              <a:srgbClr val="478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8" y="2011680"/>
            <a:ext cx="3383280" cy="36576"/>
          </a:xfrm>
          <a:prstGeom prst="rect">
            <a:avLst/>
          </a:prstGeom>
          <a:solidFill>
            <a:srgbClr val="478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1936" y="2267712"/>
            <a:ext cx="2980944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78A64"/>
                </a:solidFill>
                <a:latin typeface="Arial"/>
              </a:rPr>
              <a:t>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2734056"/>
            <a:ext cx="2980944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746"/>
                </a:solidFill>
                <a:latin typeface="Arial"/>
              </a:rPr>
              <a:t>tissue + FLT/GC
accession + material
matched profile generation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807208" y="2788920"/>
            <a:ext cx="201168" cy="292608"/>
          </a:xfrm>
          <a:prstGeom prst="rightArrow">
            <a:avLst/>
          </a:prstGeom>
          <a:solidFill>
            <a:srgbClr val="8A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5495544" y="2788920"/>
            <a:ext cx="201168" cy="292608"/>
          </a:xfrm>
          <a:prstGeom prst="rightArrow">
            <a:avLst/>
          </a:prstGeom>
          <a:solidFill>
            <a:srgbClr val="8A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183879" y="2788920"/>
            <a:ext cx="201168" cy="292608"/>
          </a:xfrm>
          <a:prstGeom prst="rightArrow">
            <a:avLst/>
          </a:prstGeom>
          <a:solidFill>
            <a:srgbClr val="8A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" y="4370832"/>
            <a:ext cx="11448288" cy="13258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08576"/>
            <a:ext cx="1554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6B20"/>
                </a:solidFill>
                <a:latin typeface="Arial"/>
              </a:rPr>
              <a:t>Selected branch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4562856"/>
            <a:ext cx="9098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50" b="1" i="0">
                <a:solidFill>
                  <a:srgbClr val="082B55"/>
                </a:solidFill>
                <a:latin typeface="Arial"/>
              </a:rPr>
              <a:t>No global batch correction. </a:t>
            </a:r>
            <a:r>
              <a:rPr sz="1550" b="0" i="0">
                <a:solidFill>
                  <a:srgbClr val="263746"/>
                </a:solidFill>
                <a:latin typeface="Arial"/>
              </a:rPr>
              <a:t>Accession was supplied as a model condition so study structure was represented instead of erased.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102352"/>
            <a:ext cx="909828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697A"/>
                </a:solidFill>
                <a:latin typeface="Arial"/>
              </a:rPr>
              <a:t>Nine liver harmonization arms and a 463-row experiment plan were screened before full training.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" y="6510528"/>
            <a:ext cx="109728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8A969E"/>
                </a:solidFill>
                <a:latin typeface="Arial"/>
              </a:rPr>
              <a:t>Model sources: Vinas et al., Bioinformatics (2022); Lacan et al., BMC Bioinformatics (2026); GeneJEPA (2025).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DIFFUSION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Diffusion learns tissue structure from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The same PCA axes follow 1,024 generated profiles through reverse diffusion.</a:t>
            </a:r>
          </a:p>
        </p:txBody>
      </p:sp>
      <p:pic>
        <p:nvPicPr>
          <p:cNvPr id="7" name="DDIM reverse trajectory at timesteps 1000, 200 and 0" descr="DDIM reverse trajectory at timesteps 1000, 200 and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735579"/>
            <a:ext cx="11558016" cy="4100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5943600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9697A"/>
                </a:solidFill>
                <a:latin typeface="Arial"/>
              </a:rPr>
              <a:t>t = 1000: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5943600"/>
            <a:ext cx="2651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9697A"/>
                </a:solidFill>
                <a:latin typeface="Arial"/>
              </a:rPr>
              <a:t>t = 200: partial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594360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78681"/>
                </a:solidFill>
                <a:latin typeface="Arial"/>
              </a:rPr>
              <a:t>t = 0: tissue-conditioned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6510528"/>
            <a:ext cx="109728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8A969E"/>
                </a:solidFill>
                <a:latin typeface="Arial"/>
              </a:rPr>
              <a:t>Gray points are real ARCHS4 profiles; colors identify generated tissue conditions. PC1 and PC2 limits are shared across panels.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DDIM matched expression and reduced separability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AA closer to 0.5 means a classifier has less success separating real and generated profiles; lower FD is better.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847088"/>
            <a:ext cx="3703320" cy="340156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9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03120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D6496"/>
                </a:solidFill>
                <a:latin typeface="Arial"/>
              </a:rPr>
              <a:t>ARCHS4 tissue probe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87168"/>
            <a:ext cx="3063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697A"/>
                </a:solidFill>
                <a:latin typeface="Arial"/>
              </a:rPr>
              <a:t>Balanced accuracy on held-out real profiles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3436845"/>
            <a:ext cx="786384" cy="1299746"/>
          </a:xfrm>
          <a:prstGeom prst="rect">
            <a:avLst/>
          </a:prstGeom>
          <a:solidFill>
            <a:srgbClr val="8A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107661"/>
            <a:ext cx="868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82B55"/>
                </a:solidFill>
                <a:latin typeface="Arial"/>
              </a:rPr>
              <a:t>0.781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809744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263746"/>
                </a:solidFill>
                <a:latin typeface="Arial"/>
              </a:rPr>
              <a:t>Real-trained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3744" y="3436845"/>
            <a:ext cx="786384" cy="1299746"/>
          </a:xfrm>
          <a:prstGeom prst="rect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3107661"/>
            <a:ext cx="868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82B55"/>
                </a:solidFill>
                <a:latin typeface="Arial"/>
              </a:rPr>
              <a:t>0.781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9424" y="4809744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263746"/>
                </a:solidFill>
                <a:latin typeface="Arial"/>
              </a:rPr>
              <a:t>Synthetic-trained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736592"/>
            <a:ext cx="2880360" cy="13716"/>
          </a:xfrm>
          <a:prstGeom prst="rect">
            <a:avLst/>
          </a:prstGeom>
          <a:solidFill>
            <a:srgbClr val="A9B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15968" y="1847088"/>
            <a:ext cx="7525512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59697A"/>
                </a:solidFill>
                <a:latin typeface="Arial"/>
              </a:rP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75688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D96552"/>
                </a:solidFill>
                <a:latin typeface="Arial"/>
              </a:rPr>
              <a:t>WGAN-GP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075688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78681"/>
                </a:solidFill>
                <a:latin typeface="Arial"/>
              </a:rPr>
              <a:t>DDIM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2075688"/>
            <a:ext cx="1627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59697A"/>
                </a:solidFill>
                <a:latin typeface="Arial"/>
              </a:rPr>
              <a:t>Reading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17136" y="2478024"/>
            <a:ext cx="7059168" cy="484632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2542032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746"/>
                </a:solidFill>
                <a:latin typeface="Arial"/>
              </a:rPr>
              <a:t>Correlation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542032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96552"/>
                </a:solidFill>
                <a:latin typeface="Arial"/>
              </a:rPr>
              <a:t>0.976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8744" y="2542032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8681"/>
                </a:solidFill>
                <a:latin typeface="Arial"/>
              </a:rPr>
              <a:t>0.974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2542032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697A"/>
                </a:solidFill>
                <a:latin typeface="Arial"/>
              </a:rPr>
              <a:t>similar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118103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746"/>
                </a:solidFill>
                <a:latin typeface="Arial"/>
              </a:rPr>
              <a:t>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118103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96552"/>
                </a:solidFill>
                <a:latin typeface="Arial"/>
              </a:rPr>
              <a:t>0.985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3118103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8681"/>
                </a:solidFill>
                <a:latin typeface="Arial"/>
              </a:rPr>
              <a:t>0.997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0656" y="3118103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697A"/>
                </a:solidFill>
                <a:latin typeface="Arial"/>
              </a:rPr>
              <a:t>higher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7136" y="3630168"/>
            <a:ext cx="7059168" cy="484632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3694176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3746"/>
                </a:solidFill>
                <a:latin typeface="Arial"/>
              </a:rPr>
              <a:t>Adversarial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3694176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96552"/>
                </a:solidFill>
                <a:latin typeface="Arial"/>
              </a:rPr>
              <a:t>0.636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744" y="3694176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8681"/>
                </a:solidFill>
                <a:latin typeface="Arial"/>
              </a:rPr>
              <a:t>0.475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0656" y="3694176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697A"/>
                </a:solidFill>
                <a:latin typeface="Arial"/>
              </a:rPr>
              <a:t>closer to 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270248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3746"/>
                </a:solidFill>
                <a:latin typeface="Arial"/>
              </a:rPr>
              <a:t>FD / real P95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4270248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D96552"/>
                </a:solidFill>
                <a:latin typeface="Arial"/>
              </a:rPr>
              <a:t>0.144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4270248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8681"/>
                </a:solidFill>
                <a:latin typeface="Arial"/>
              </a:rPr>
              <a:t>0.074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0656" y="4270248"/>
            <a:ext cx="14813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697A"/>
                </a:solidFill>
                <a:latin typeface="Arial"/>
              </a:rPr>
              <a:t>lower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" y="5522976"/>
            <a:ext cx="11494008" cy="667512"/>
          </a:xfrm>
          <a:prstGeom prst="roundRect">
            <a:avLst/>
          </a:prstGeom>
          <a:solidFill>
            <a:srgbClr val="082B55"/>
          </a:solidFill>
          <a:ln w="1016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660136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DDIM downstream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2928" y="5669280"/>
            <a:ext cx="839419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CE7F2"/>
                </a:solidFill>
                <a:latin typeface="Arial"/>
              </a:rPr>
              <a:t>Lower separability and distributional distance, with comparable correlation and higher F1.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" y="6510528"/>
            <a:ext cx="109728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8A969E"/>
                </a:solidFill>
                <a:latin typeface="Arial"/>
              </a:rPr>
              <a:t>WGAN values use validation data and DDIM values use the stated OSDR test; they are not paired on one common 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Synthetic profiles entered the analysis in five different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Every arm was judged on held-out real profiles before synthetic attribution was allowed.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874519"/>
            <a:ext cx="2212848" cy="117043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2D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2103120"/>
            <a:ext cx="17190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D6496"/>
                </a:solidFill>
                <a:latin typeface="Arial"/>
              </a:rPr>
              <a:t>Real OSDR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505456"/>
            <a:ext cx="17190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697A"/>
                </a:solidFill>
                <a:latin typeface="Arial"/>
              </a:rPr>
              <a:t>observed FLT / GC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3319272"/>
            <a:ext cx="2212848" cy="1170432"/>
          </a:xfrm>
          <a:prstGeom prst="roundRect">
            <a:avLst/>
          </a:prstGeom>
          <a:solidFill>
            <a:srgbClr val="F8ECE9"/>
          </a:solidFill>
          <a:ln w="10160">
            <a:solidFill>
              <a:srgbClr val="D96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3547872"/>
            <a:ext cx="187451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96552"/>
                </a:solidFill>
                <a:latin typeface="Arial"/>
              </a:rPr>
              <a:t>DDIM generated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941063"/>
            <a:ext cx="17190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697A"/>
                </a:solidFill>
                <a:latin typeface="Arial"/>
              </a:rPr>
              <a:t>matched conditions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79192" y="2852928"/>
            <a:ext cx="475488" cy="347472"/>
          </a:xfrm>
          <a:prstGeom prst="rightArrow">
            <a:avLst/>
          </a:prstGeom>
          <a:solidFill>
            <a:srgbClr val="8A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0128" y="1920240"/>
            <a:ext cx="1508760" cy="117043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2D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084832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2D6496"/>
                </a:solidFill>
                <a:latin typeface="Arial"/>
              </a:rPr>
              <a:t>Real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23744"/>
            <a:ext cx="12710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63746"/>
                </a:solidFill>
                <a:latin typeface="Arial"/>
              </a:rPr>
              <a:t>rank: real
fit: real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01768" y="1920240"/>
            <a:ext cx="1508760" cy="1170432"/>
          </a:xfrm>
          <a:prstGeom prst="roundRect">
            <a:avLst/>
          </a:prstGeom>
          <a:solidFill>
            <a:srgbClr val="F8ECE9"/>
          </a:solidFill>
          <a:ln w="10160">
            <a:solidFill>
              <a:srgbClr val="D96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7" y="2084832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D96552"/>
                </a:solidFill>
                <a:latin typeface="Arial"/>
              </a:rPr>
              <a:t>Generated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523744"/>
            <a:ext cx="12710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63746"/>
                </a:solidFill>
                <a:latin typeface="Arial"/>
              </a:rPr>
              <a:t>rank: generated
fit: generated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408" y="1920240"/>
            <a:ext cx="1508760" cy="1170432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17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2084832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78681"/>
                </a:solidFill>
                <a:latin typeface="Arial"/>
              </a:rPr>
              <a:t>Real + generated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523744"/>
            <a:ext cx="12710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63746"/>
                </a:solidFill>
                <a:latin typeface="Arial"/>
              </a:rPr>
              <a:t>rank: consensus
fit: equal weight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410712"/>
            <a:ext cx="1508760" cy="1170432"/>
          </a:xfrm>
          <a:prstGeom prst="roundRect">
            <a:avLst/>
          </a:prstGeom>
          <a:solidFill>
            <a:srgbClr val="F0ECF6"/>
          </a:solidFill>
          <a:ln w="10160">
            <a:solidFill>
              <a:srgbClr val="806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3575304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8063A6"/>
                </a:solidFill>
                <a:latin typeface="Arial"/>
              </a:rPr>
              <a:t>Guided, real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4014215"/>
            <a:ext cx="12710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63746"/>
                </a:solidFill>
                <a:latin typeface="Arial"/>
              </a:rPr>
              <a:t>rank: consensus
fit: real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3410712"/>
            <a:ext cx="1508760" cy="1170432"/>
          </a:xfrm>
          <a:prstGeom prst="roundRect">
            <a:avLst/>
          </a:prstGeom>
          <a:solidFill>
            <a:srgbClr val="F8F1E2"/>
          </a:solidFill>
          <a:ln w="10160">
            <a:solidFill>
              <a:srgbClr val="D3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3575304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D37B00"/>
                </a:solidFill>
                <a:latin typeface="Arial"/>
              </a:rPr>
              <a:t>Guided, 5% synth.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2" y="4014215"/>
            <a:ext cx="127101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63746"/>
                </a:solidFill>
                <a:latin typeface="Arial"/>
              </a:rPr>
              <a:t>rank: consensus
fit: real + 5%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522208" y="2852928"/>
            <a:ext cx="475488" cy="347472"/>
          </a:xfrm>
          <a:prstGeom prst="rightArrow">
            <a:avLst/>
          </a:prstGeom>
          <a:solidFill>
            <a:srgbClr val="8A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0" y="2176272"/>
            <a:ext cx="2633472" cy="2057400"/>
          </a:xfrm>
          <a:prstGeom prst="roundRect">
            <a:avLst/>
          </a:prstGeom>
          <a:solidFill>
            <a:srgbClr val="ECF4ED"/>
          </a:solidFill>
          <a:ln w="10160">
            <a:solidFill>
              <a:srgbClr val="478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2459736"/>
            <a:ext cx="2212848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478A64"/>
                </a:solidFill>
                <a:latin typeface="Arial"/>
              </a:rPr>
              <a:t>Held-out real profiles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3063240"/>
            <a:ext cx="2103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82B55"/>
                </a:solidFill>
                <a:latin typeface="Arial"/>
              </a:rPr>
              <a:t>BA | AUROC | 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3502152"/>
            <a:ext cx="2103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697A"/>
                </a:solidFill>
                <a:latin typeface="Arial"/>
              </a:rPr>
              <a:t>select one eligible arm
for each tissue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" y="4919472"/>
            <a:ext cx="11430000" cy="1051560"/>
          </a:xfrm>
          <a:prstGeom prst="roundRect">
            <a:avLst/>
          </a:prstGeom>
          <a:solidFill>
            <a:srgbClr val="082B55"/>
          </a:solidFill>
          <a:ln w="1016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66360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Biology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4288" y="5175504"/>
            <a:ext cx="6766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DCE7F2"/>
                </a:solidFill>
                <a:latin typeface="Arial"/>
              </a:rPr>
              <a:t>FLT vs GC effects, random-effects meta-analysis and BH FDR use real OSDR profiles only.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065776"/>
            <a:ext cx="2249424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D69A"/>
                </a:solidFill>
                <a:latin typeface="Arial"/>
              </a:rPr>
              <a:t>Synthetic profiles never increase animal 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Pooling tissues hid useful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A single FLT/GC classifier did not improve, but tissue-specific synthetic use often did.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847088"/>
            <a:ext cx="3200400" cy="4224528"/>
          </a:xfrm>
          <a:prstGeom prst="roundRect">
            <a:avLst/>
          </a:prstGeom>
          <a:solidFill>
            <a:srgbClr val="F8F1E2"/>
          </a:solidFill>
          <a:ln w="10160">
            <a:solidFill>
              <a:srgbClr val="E8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03120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9A6B20"/>
                </a:solidFill>
                <a:latin typeface="Arial"/>
              </a:rPr>
              <a:t>Pooled across tissues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126766"/>
            <a:ext cx="566928" cy="359633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06726"/>
            <a:ext cx="713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82B55"/>
                </a:solidFill>
                <a:latin typeface="Arial"/>
              </a:rPr>
              <a:t>0.754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559552"/>
            <a:ext cx="960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63746"/>
                </a:solidFill>
                <a:latin typeface="Arial"/>
              </a:rPr>
              <a:t>Real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5312892"/>
            <a:ext cx="566928" cy="173507"/>
          </a:xfrm>
          <a:prstGeom prst="rect">
            <a:avLst/>
          </a:prstGeom>
          <a:solidFill>
            <a:srgbClr val="D96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7904" y="4992852"/>
            <a:ext cx="713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82B55"/>
                </a:solidFill>
                <a:latin typeface="Arial"/>
              </a:rPr>
              <a:t>0.695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5559552"/>
            <a:ext cx="960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63746"/>
                </a:solidFill>
                <a:latin typeface="Arial"/>
              </a:rPr>
              <a:t>Generated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5180396"/>
            <a:ext cx="566928" cy="306003"/>
          </a:xfrm>
          <a:prstGeom prst="rect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4860356"/>
            <a:ext cx="7132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82B55"/>
                </a:solidFill>
                <a:latin typeface="Arial"/>
              </a:rPr>
              <a:t>0.737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559552"/>
            <a:ext cx="960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263746"/>
                </a:solidFill>
                <a:latin typeface="Arial"/>
              </a:rPr>
              <a:t>Real + synth.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5486400"/>
            <a:ext cx="2697480" cy="13716"/>
          </a:xfrm>
          <a:prstGeom prst="rect">
            <a:avLst/>
          </a:prstGeom>
          <a:solidFill>
            <a:srgbClr val="A9B5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542032"/>
            <a:ext cx="254203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9697A"/>
                </a:solidFill>
                <a:latin typeface="Arial"/>
              </a:rPr>
              <a:t>Balanced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67328" y="1847088"/>
            <a:ext cx="8083296" cy="4224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2093976"/>
            <a:ext cx="3840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8681"/>
                </a:solidFill>
                <a:latin typeface="Arial"/>
              </a:rPr>
              <a:t>Selected use within each tissue</a:t>
            </a:r>
          </a:p>
        </p:txBody>
      </p:sp>
      <p:pic>
        <p:nvPicPr>
          <p:cNvPr id="22" name="Balanced accuracy before and after tissue-specific synthetic use" descr="Balanced accuracy before and after tissue-specific synthetic u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130" y="2423160"/>
            <a:ext cx="6021963" cy="3383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059936" y="5715000"/>
            <a:ext cx="41148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59697A"/>
                </a:solidFill>
                <a:latin typeface="Arial"/>
              </a:rPr>
              <a:t>The useful arm differed by tissue.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" y="6510528"/>
            <a:ext cx="109728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8A969E"/>
                </a:solidFill>
                <a:latin typeface="Arial"/>
              </a:rPr>
              <a:t>Development results with held-out profiles from represented accessions; they do not measure transfer to a new 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Synthetic guidance changed ranking, not statistical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Promoted and reinforced describe repeated feature selection; both require a supporting effect in real OSDR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3657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59697A"/>
                </a:solidFill>
                <a:latin typeface="Arial"/>
              </a:rPr>
              <a:t>Repeated stable selection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304288"/>
            <a:ext cx="2743200" cy="2148840"/>
          </a:xfrm>
          <a:prstGeom prst="ellipse">
            <a:avLst/>
          </a:prstGeom>
          <a:noFill/>
          <a:ln w="30480">
            <a:solidFill>
              <a:srgbClr val="2D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67712" y="2304288"/>
            <a:ext cx="2743200" cy="2148840"/>
          </a:xfrm>
          <a:prstGeom prst="ellipse">
            <a:avLst/>
          </a:prstGeom>
          <a:noFill/>
          <a:ln w="30480">
            <a:solidFill>
              <a:srgbClr val="17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770632"/>
            <a:ext cx="12344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D6496"/>
                </a:solidFill>
                <a:latin typeface="Arial"/>
              </a:rPr>
              <a:t>Real-only
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70632"/>
            <a:ext cx="12344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78681"/>
                </a:solidFill>
                <a:latin typeface="Arial"/>
              </a:rPr>
              <a:t>Synthetic-informed
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3044952"/>
            <a:ext cx="96926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D37B00"/>
                </a:solidFill>
                <a:latin typeface="Arial"/>
              </a:rPr>
              <a:t>23
reinforced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8688" y="4535424"/>
            <a:ext cx="1700784" cy="713232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17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4626864"/>
            <a:ext cx="14447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78681"/>
                </a:solidFill>
                <a:latin typeface="Arial"/>
              </a:rPr>
              <a:t>26 promoted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4882896"/>
            <a:ext cx="140817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697A"/>
                </a:solidFill>
                <a:latin typeface="Arial"/>
              </a:rPr>
              <a:t>selected only with
synthetic guidance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85232" y="3017520"/>
            <a:ext cx="594360" cy="438912"/>
          </a:xfrm>
          <a:prstGeom prst="rightArrow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08192" y="2039112"/>
            <a:ext cx="5468112" cy="33558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2D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304288"/>
            <a:ext cx="4846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D6496"/>
                </a:solidFill>
                <a:latin typeface="Arial"/>
              </a:rPr>
              <a:t>Real OSDR association test</a:t>
            </a:r>
          </a:p>
        </p:txBody>
      </p:sp>
      <p:sp>
        <p:nvSpPr>
          <p:cNvPr id="19" name="Oval 18"/>
          <p:cNvSpPr/>
          <p:nvPr/>
        </p:nvSpPr>
        <p:spPr>
          <a:xfrm>
            <a:off x="6601968" y="3017520"/>
            <a:ext cx="91440" cy="91440"/>
          </a:xfrm>
          <a:prstGeom prst="ellipse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2907792"/>
            <a:ext cx="436168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746"/>
                </a:solidFill>
                <a:latin typeface="Arial"/>
              </a:rPr>
              <a:t>Estimate FLT vs GC inside each accession</a:t>
            </a:r>
          </a:p>
        </p:txBody>
      </p:sp>
      <p:sp>
        <p:nvSpPr>
          <p:cNvPr id="21" name="Oval 20"/>
          <p:cNvSpPr/>
          <p:nvPr/>
        </p:nvSpPr>
        <p:spPr>
          <a:xfrm>
            <a:off x="6601968" y="3547872"/>
            <a:ext cx="91440" cy="91440"/>
          </a:xfrm>
          <a:prstGeom prst="ellipse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3438144"/>
            <a:ext cx="436168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746"/>
                </a:solidFill>
                <a:latin typeface="Arial"/>
              </a:rPr>
              <a:t>Combine accession effects with a random-effects model</a:t>
            </a:r>
          </a:p>
        </p:txBody>
      </p:sp>
      <p:sp>
        <p:nvSpPr>
          <p:cNvPr id="23" name="Oval 22"/>
          <p:cNvSpPr/>
          <p:nvPr/>
        </p:nvSpPr>
        <p:spPr>
          <a:xfrm>
            <a:off x="6601968" y="4078224"/>
            <a:ext cx="91440" cy="91440"/>
          </a:xfrm>
          <a:prstGeom prst="ellipse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3968496"/>
            <a:ext cx="436168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746"/>
                </a:solidFill>
                <a:latin typeface="Arial"/>
              </a:rPr>
              <a:t>Apply BH FDR within each tissue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47104" y="4681728"/>
            <a:ext cx="4572000" cy="475488"/>
          </a:xfrm>
          <a:prstGeom prst="roundRect">
            <a:avLst/>
          </a:prstGeom>
          <a:solidFill>
            <a:srgbClr val="082B55"/>
          </a:solidFill>
          <a:ln w="1016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4764024"/>
            <a:ext cx="42519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49 synthetic-informed associations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650992"/>
            <a:ext cx="11109960" cy="530352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769864"/>
            <a:ext cx="10744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59697A"/>
                </a:solidFill>
                <a:latin typeface="Arial"/>
              </a:rPr>
              <a:t>These are 49 tissue-gene associations among 459 BH-FDR rows. A gene can appear in more than one tissue.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THYMUS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Thymus points to lower proliferative renewal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Synthetic guidance organized real-data associations into a coherent mitotic and DNA-replication panel.</a:t>
            </a:r>
          </a:p>
        </p:txBody>
      </p:sp>
      <p:pic>
        <p:nvPicPr>
          <p:cNvPr id="7" name="Thymus gene effects and Reactome processes" descr="Thymus gene effects and Reactome proces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95403"/>
            <a:ext cx="7818120" cy="41096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847088"/>
            <a:ext cx="3493008" cy="4178808"/>
          </a:xfrm>
          <a:prstGeom prst="roundRect">
            <a:avLst/>
          </a:prstGeom>
          <a:solidFill>
            <a:srgbClr val="F8ECE9"/>
          </a:solidFill>
          <a:ln w="10160">
            <a:solidFill>
              <a:srgbClr val="E8C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139696"/>
            <a:ext cx="10058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 i="0">
                <a:solidFill>
                  <a:srgbClr val="D96552"/>
                </a:solidFill>
                <a:latin typeface="Arial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1472" y="2176272"/>
            <a:ext cx="193852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3746"/>
                </a:solidFill>
                <a:latin typeface="Arial"/>
              </a:rPr>
              <a:t>synthetic-informed
BH-FDR associations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1936" y="2862072"/>
            <a:ext cx="2788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8681"/>
                </a:solidFill>
                <a:latin typeface="Arial"/>
              </a:rPr>
              <a:t>13 promoted | 3 reinforced</a:t>
            </a:r>
          </a:p>
        </p:txBody>
      </p:sp>
      <p:sp>
        <p:nvSpPr>
          <p:cNvPr id="12" name="Oval 11"/>
          <p:cNvSpPr/>
          <p:nvPr/>
        </p:nvSpPr>
        <p:spPr>
          <a:xfrm>
            <a:off x="8631936" y="3419856"/>
            <a:ext cx="91440" cy="91440"/>
          </a:xfrm>
          <a:prstGeom prst="ellipse">
            <a:avLst/>
          </a:prstGeom>
          <a:solidFill>
            <a:srgbClr val="D96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3310128"/>
            <a:ext cx="2606039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263746"/>
                </a:solidFill>
                <a:latin typeface="Arial"/>
              </a:rPr>
              <a:t>Lower Nusap1, Stmn1, Birc5, Cdk1, Top2a and related genes</a:t>
            </a:r>
          </a:p>
        </p:txBody>
      </p:sp>
      <p:sp>
        <p:nvSpPr>
          <p:cNvPr id="14" name="Oval 13"/>
          <p:cNvSpPr/>
          <p:nvPr/>
        </p:nvSpPr>
        <p:spPr>
          <a:xfrm>
            <a:off x="8631936" y="4123944"/>
            <a:ext cx="91440" cy="91440"/>
          </a:xfrm>
          <a:prstGeom prst="ellipse">
            <a:avLst/>
          </a:prstGeom>
          <a:solidFill>
            <a:srgbClr val="D96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4014216"/>
            <a:ext cx="2606039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263746"/>
                </a:solidFill>
                <a:latin typeface="Arial"/>
              </a:rPr>
              <a:t>Cell cycle, DNA replication, APC/C and G2/M processes</a:t>
            </a:r>
          </a:p>
        </p:txBody>
      </p:sp>
      <p:sp>
        <p:nvSpPr>
          <p:cNvPr id="16" name="Oval 15"/>
          <p:cNvSpPr/>
          <p:nvPr/>
        </p:nvSpPr>
        <p:spPr>
          <a:xfrm>
            <a:off x="8631936" y="4828032"/>
            <a:ext cx="91440" cy="91440"/>
          </a:xfrm>
          <a:prstGeom prst="ellipse">
            <a:avLst/>
          </a:prstGeom>
          <a:solidFill>
            <a:srgbClr val="D96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4718304"/>
            <a:ext cx="2606039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 i="0">
                <a:solidFill>
                  <a:srgbClr val="263746"/>
                </a:solidFill>
                <a:latin typeface="Arial"/>
              </a:rPr>
              <a:t>Bulk RNA-seq cannot separate cell loss from lower transcription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6510528"/>
            <a:ext cx="109728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8A969E"/>
                </a:solidFill>
                <a:latin typeface="Arial"/>
              </a:rPr>
              <a:t>Prior thymus studies report involution and altered cell-cycle expression after spaceflight (Gridley et al. 2013; Horie et al. 2019).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SOLEUS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Soleus reinforces a mitochondrial and lipid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This result strengthens an existing real-data pattern rather than promoting a new soleus gene.</a:t>
            </a:r>
          </a:p>
        </p:txBody>
      </p:sp>
      <p:pic>
        <p:nvPicPr>
          <p:cNvPr id="7" name="Soleus gene effects and Reactome processes" descr="Soleus gene effects and Reactome proces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984025"/>
            <a:ext cx="8366760" cy="39140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05672" y="1865376"/>
            <a:ext cx="2971800" cy="4133087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C7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3416" y="2139696"/>
            <a:ext cx="24871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78681"/>
                </a:solidFill>
                <a:latin typeface="Arial"/>
              </a:rPr>
              <a:t>0.925 -&gt; 0.963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254203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9697A"/>
                </a:solidFill>
                <a:latin typeface="Arial"/>
              </a:rPr>
              <a:t>balanced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2990088"/>
            <a:ext cx="25328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82B55"/>
                </a:solidFill>
                <a:latin typeface="Arial"/>
              </a:rPr>
              <a:t>5 reinforced | 0 promoted</a:t>
            </a:r>
          </a:p>
        </p:txBody>
      </p:sp>
      <p:sp>
        <p:nvSpPr>
          <p:cNvPr id="12" name="Oval 11"/>
          <p:cNvSpPr/>
          <p:nvPr/>
        </p:nvSpPr>
        <p:spPr>
          <a:xfrm>
            <a:off x="9089136" y="3566160"/>
            <a:ext cx="91440" cy="91440"/>
          </a:xfrm>
          <a:prstGeom prst="ellipse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3728" y="3456432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>
                <a:solidFill>
                  <a:srgbClr val="263746"/>
                </a:solidFill>
                <a:latin typeface="Arial"/>
              </a:rPr>
              <a:t>Lower Bdh1, Ech1, Bnip3 and Decr1</a:t>
            </a:r>
          </a:p>
        </p:txBody>
      </p:sp>
      <p:sp>
        <p:nvSpPr>
          <p:cNvPr id="14" name="Oval 13"/>
          <p:cNvSpPr/>
          <p:nvPr/>
        </p:nvSpPr>
        <p:spPr>
          <a:xfrm>
            <a:off x="9089136" y="4096511"/>
            <a:ext cx="91440" cy="91440"/>
          </a:xfrm>
          <a:prstGeom prst="ellipse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3986783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>
                <a:solidFill>
                  <a:srgbClr val="263746"/>
                </a:solidFill>
                <a:latin typeface="Arial"/>
              </a:rPr>
              <a:t>Higher Tpm1</a:t>
            </a:r>
          </a:p>
        </p:txBody>
      </p:sp>
      <p:sp>
        <p:nvSpPr>
          <p:cNvPr id="16" name="Oval 15"/>
          <p:cNvSpPr/>
          <p:nvPr/>
        </p:nvSpPr>
        <p:spPr>
          <a:xfrm>
            <a:off x="9089136" y="4626864"/>
            <a:ext cx="91440" cy="91440"/>
          </a:xfrm>
          <a:prstGeom prst="ellipse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4517136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>
                <a:solidFill>
                  <a:srgbClr val="263746"/>
                </a:solidFill>
                <a:latin typeface="Arial"/>
              </a:rPr>
              <a:t>Mitochondrial turnover and fatty-acid metabolism</a:t>
            </a:r>
          </a:p>
        </p:txBody>
      </p:sp>
      <p:sp>
        <p:nvSpPr>
          <p:cNvPr id="18" name="Oval 17"/>
          <p:cNvSpPr/>
          <p:nvPr/>
        </p:nvSpPr>
        <p:spPr>
          <a:xfrm>
            <a:off x="9089136" y="5157216"/>
            <a:ext cx="91440" cy="91440"/>
          </a:xfrm>
          <a:prstGeom prst="ellipse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5047488"/>
            <a:ext cx="215798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80" b="0" i="0">
                <a:solidFill>
                  <a:srgbClr val="263746"/>
                </a:solidFill>
                <a:latin typeface="Arial"/>
              </a:rPr>
              <a:t>Compatible with unloading and contractile remodeling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6510528"/>
            <a:ext cx="109728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i="0">
                <a:solidFill>
                  <a:srgbClr val="8A969E"/>
                </a:solidFill>
                <a:latin typeface="Arial"/>
              </a:rPr>
              <a:t>Literature context: Gambara et al. (2017) and Stein et al. (2002).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OTHER TISSUES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Kidney adds a focused signal; other tissues are exploratory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The strongest process-level stories were thymus and soleus, but several tissues produced narrower candidates.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1847088"/>
            <a:ext cx="11375136" cy="667512"/>
          </a:xfrm>
          <a:prstGeom prst="rect">
            <a:avLst/>
          </a:prstGeom>
          <a:solidFill>
            <a:srgbClr val="E9F1F7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847088"/>
            <a:ext cx="73152" cy="667512"/>
          </a:xfrm>
          <a:prstGeom prst="rect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02536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D6496"/>
                </a:solidFill>
                <a:latin typeface="Arial"/>
              </a:rPr>
              <a:t>Kidney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1176" y="1975104"/>
            <a:ext cx="7040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746"/>
                </a:solidFill>
                <a:latin typeface="Arial"/>
              </a:rPr>
              <a:t>Inpp4b promoted, Slc37a4 reinforced; both higher in flight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6648" y="1993392"/>
            <a:ext cx="1682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D6496"/>
                </a:solidFill>
                <a:latin typeface="Arial"/>
              </a:rPr>
              <a:t>Focused secondary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" y="2660904"/>
            <a:ext cx="11375136" cy="667512"/>
          </a:xfrm>
          <a:prstGeom prst="rect">
            <a:avLst/>
          </a:prstGeom>
          <a:solidFill>
            <a:srgbClr val="F0ECF6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" y="2660904"/>
            <a:ext cx="73152" cy="667512"/>
          </a:xfrm>
          <a:prstGeom prst="rect">
            <a:avLst/>
          </a:prstGeom>
          <a:solidFill>
            <a:srgbClr val="80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8063A6"/>
                </a:solidFill>
                <a:latin typeface="Arial"/>
              </a:rPr>
              <a:t>Spleen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2788920"/>
            <a:ext cx="7040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746"/>
                </a:solidFill>
                <a:latin typeface="Arial"/>
              </a:rPr>
              <a:t>Rai14, Ptprk and Myl9 promoted; Loxl1 reinforced; no Reactome enrichment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6648" y="2807208"/>
            <a:ext cx="1682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8063A6"/>
                </a:solidFill>
                <a:latin typeface="Arial"/>
              </a:rPr>
              <a:t>Exploratory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" y="3474720"/>
            <a:ext cx="11375136" cy="667512"/>
          </a:xfrm>
          <a:prstGeom prst="rect">
            <a:avLst/>
          </a:prstGeom>
          <a:solidFill>
            <a:srgbClr val="F8F1E2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3192" y="3474720"/>
            <a:ext cx="73152" cy="667512"/>
          </a:xfrm>
          <a:prstGeom prst="rect">
            <a:avLst/>
          </a:prstGeom>
          <a:solidFill>
            <a:srgbClr val="D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30168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D37B00"/>
                </a:solidFill>
                <a:latin typeface="Arial"/>
              </a:rPr>
              <a:t>Skin + adrenal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51176" y="3602736"/>
            <a:ext cx="7040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746"/>
                </a:solidFill>
                <a:latin typeface="Arial"/>
              </a:rPr>
              <a:t>Plscr1 higher in skin; Psmb8 and Tspan4 lower in adrenal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3621024"/>
            <a:ext cx="1682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D37B00"/>
                </a:solidFill>
                <a:latin typeface="Arial"/>
              </a:rPr>
              <a:t>Exploratory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" y="4288536"/>
            <a:ext cx="11375136" cy="667512"/>
          </a:xfrm>
          <a:prstGeom prst="rect">
            <a:avLst/>
          </a:prstGeom>
          <a:solidFill>
            <a:srgbClr val="E8F3F1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" y="4288536"/>
            <a:ext cx="73152" cy="667512"/>
          </a:xfrm>
          <a:prstGeom prst="rect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43983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8681"/>
                </a:solidFill>
                <a:latin typeface="Arial"/>
              </a:rPr>
              <a:t>Lung + retina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1176" y="4416551"/>
            <a:ext cx="7040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746"/>
                </a:solidFill>
                <a:latin typeface="Arial"/>
              </a:rPr>
              <a:t>Predictive gains without a synthetic-informed BH-FDR gene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4434840"/>
            <a:ext cx="1682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78681"/>
                </a:solidFill>
                <a:latin typeface="Arial"/>
              </a:rPr>
              <a:t>Prediction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" y="5102352"/>
            <a:ext cx="11375136" cy="667512"/>
          </a:xfrm>
          <a:prstGeom prst="rect">
            <a:avLst/>
          </a:prstGeom>
          <a:solidFill>
            <a:srgbClr val="F2F4F5"/>
          </a:solidFill>
          <a:ln w="10160">
            <a:solidFill>
              <a:srgbClr val="DD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" y="5102352"/>
            <a:ext cx="73152" cy="667512"/>
          </a:xfrm>
          <a:prstGeom prst="rect">
            <a:avLst/>
          </a:prstGeom>
          <a:solidFill>
            <a:srgbClr val="8A9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57800"/>
            <a:ext cx="19385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8A969E"/>
                </a:solidFill>
                <a:latin typeface="Arial"/>
              </a:rPr>
              <a:t>Liver + EDL + quadriceps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51176" y="5230368"/>
            <a:ext cx="704088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746"/>
                </a:solidFill>
                <a:latin typeface="Arial"/>
              </a:rPr>
              <a:t>Real-only arm retained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5248656"/>
            <a:ext cx="16824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8A969E"/>
                </a:solidFill>
                <a:latin typeface="Arial"/>
              </a:rPr>
              <a:t>No synthetic claim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035040"/>
            <a:ext cx="107899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59697A"/>
                </a:solidFill>
                <a:latin typeface="Arial"/>
              </a:rPr>
              <a:t>Independent missions are still needed before any candidate becomes a transferable spaceflight biomarker.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530352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A6B20"/>
                </a:solidFill>
                <a:latin typeface="Arial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86384"/>
            <a:ext cx="1143000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82B55"/>
                </a:solidFill>
                <a:latin typeface="Arial"/>
              </a:rPr>
              <a:t>Synthetic data helped most as a tissue-specific prior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1353312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9697A"/>
                </a:solidFill>
                <a:latin typeface="Arial"/>
              </a:rPr>
              <a:t>The generator created useful structure, not new biological replication.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920240"/>
            <a:ext cx="3419856" cy="248716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2D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2167128"/>
            <a:ext cx="475488" cy="475488"/>
          </a:xfrm>
          <a:prstGeom prst="ellipse">
            <a:avLst/>
          </a:prstGeom>
          <a:solidFill>
            <a:srgbClr val="2D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21992"/>
            <a:ext cx="4754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176272"/>
            <a:ext cx="2240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D6496"/>
                </a:solidFill>
                <a:latin typeface="Arial"/>
              </a:rP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16352"/>
            <a:ext cx="2880360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746"/>
                </a:solidFill>
                <a:latin typeface="Arial"/>
              </a:rPr>
              <a:t>Conditional DDIM produced high-fidelity profiles with near-chance real-versus-synthetic separation.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9936" y="1920240"/>
            <a:ext cx="3419856" cy="2487168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178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7680" y="2167128"/>
            <a:ext cx="475488" cy="475488"/>
          </a:xfrm>
          <a:prstGeom prst="ellipse">
            <a:avLst/>
          </a:prstGeom>
          <a:solidFill>
            <a:srgbClr val="178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21992"/>
            <a:ext cx="4754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76272"/>
            <a:ext cx="2240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8681"/>
                </a:solidFill>
                <a:latin typeface="Arial"/>
              </a:rPr>
              <a:t>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816352"/>
            <a:ext cx="2880360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746"/>
                </a:solidFill>
                <a:latin typeface="Arial"/>
              </a:rPr>
              <a:t>Pooled augmentation failed. Tissue-specific ranking and low-weight training were more useful.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35824" y="1920240"/>
            <a:ext cx="3419856" cy="2487168"/>
          </a:xfrm>
          <a:prstGeom prst="roundRect">
            <a:avLst/>
          </a:prstGeom>
          <a:solidFill>
            <a:srgbClr val="F8F1E2"/>
          </a:solidFill>
          <a:ln w="10160">
            <a:solidFill>
              <a:srgbClr val="D3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73568" y="2167128"/>
            <a:ext cx="475488" cy="475488"/>
          </a:xfrm>
          <a:prstGeom prst="ellipse">
            <a:avLst/>
          </a:prstGeom>
          <a:solidFill>
            <a:srgbClr val="D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2221992"/>
            <a:ext cx="4754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176272"/>
            <a:ext cx="2240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D37B00"/>
                </a:solidFill>
                <a:latin typeface="Arial"/>
              </a:rPr>
              <a:t>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2816352"/>
            <a:ext cx="2880360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746"/>
                </a:solidFill>
                <a:latin typeface="Arial"/>
              </a:rPr>
              <a:t>Thymus and soleus formed the clearest programs; kidney supplied a focused secondary pair.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709160"/>
            <a:ext cx="10972800" cy="1188720"/>
          </a:xfrm>
          <a:prstGeom prst="roundRect">
            <a:avLst/>
          </a:prstGeom>
          <a:solidFill>
            <a:srgbClr val="082B55"/>
          </a:solidFill>
          <a:ln w="1016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10912"/>
            <a:ext cx="1261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D69A"/>
                </a:solidFill>
                <a:latin typeface="Arial"/>
              </a:rPr>
              <a:t>Next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937760"/>
            <a:ext cx="907084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Hold out complete accessions, then validate the thymus panel, soleus metabolism and kidney Inpp4b / Slc37a4 in independent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532120"/>
            <a:ext cx="90708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FD0E1"/>
                </a:solidFill>
                <a:latin typeface="Arial"/>
              </a:rPr>
              <a:t>Generated profiles never enter the biological sample count or the BH-FDR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347472"/>
            <a:ext cx="12191999" cy="6510528"/>
          </a:xfrm>
          <a:prstGeom prst="rect">
            <a:avLst/>
          </a:prstGeom>
          <a:solidFill>
            <a:srgbClr val="08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49377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3657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FD0E1"/>
                </a:solidFill>
                <a:latin typeface="Arial"/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596896"/>
            <a:ext cx="2743200" cy="45720"/>
          </a:xfrm>
          <a:prstGeom prst="rect">
            <a:avLst/>
          </a:prstGeom>
          <a:solidFill>
            <a:srgbClr val="D3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935224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Jason Trinh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319272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FD0E1"/>
                </a:solidFill>
                <a:latin typeface="Arial"/>
              </a:rPr>
              <a:t>jasontrinh@berkeley.edu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1353312"/>
            <a:ext cx="11887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FA0BC"/>
                </a:solidFill>
                <a:latin typeface="Arial"/>
              </a:rPr>
              <a:t>Mentor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1325880"/>
            <a:ext cx="4160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James Casaletto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1975104"/>
            <a:ext cx="11887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FA0BC"/>
                </a:solidFill>
                <a:latin typeface="Arial"/>
              </a:rPr>
              <a:t>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947672"/>
            <a:ext cx="440740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NASA Space Life Sciences Training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2779776"/>
            <a:ext cx="11887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FA0BC"/>
                </a:solidFill>
                <a:latin typeface="Arial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2752344"/>
            <a:ext cx="4160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NASA OSDR | ARCHS4 | Reactome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3410712"/>
            <a:ext cx="11887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FA0BC"/>
                </a:solidFill>
                <a:latin typeface="Arial"/>
              </a:rP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3383280"/>
            <a:ext cx="4160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NASA Ames Research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4041648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FA0BC"/>
                </a:solidFill>
                <a:latin typeface="Arial"/>
              </a:rPr>
              <a:t>Code and manuscript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4023360"/>
            <a:ext cx="4160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github.com/jasont314/nasa-mouse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502920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1">
                <a:solidFill>
                  <a:srgbClr val="BFD0E1"/>
                </a:solidFill>
                <a:latin typeface="Arial"/>
              </a:rPr>
              <a:t>All biological associations were tested in observed OSDR profiles.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PS_2024_gold">
      <a:dk1>
        <a:srgbClr val="061F49"/>
      </a:dk1>
      <a:lt1>
        <a:srgbClr val="FFFFFF"/>
      </a:lt1>
      <a:dk2>
        <a:srgbClr val="061F49"/>
      </a:dk2>
      <a:lt2>
        <a:srgbClr val="E7E6E6"/>
      </a:lt2>
      <a:accent1>
        <a:srgbClr val="061F48"/>
      </a:accent1>
      <a:accent2>
        <a:srgbClr val="276644"/>
      </a:accent2>
      <a:accent3>
        <a:srgbClr val="D47800"/>
      </a:accent3>
      <a:accent4>
        <a:srgbClr val="D4BF88"/>
      </a:accent4>
      <a:accent5>
        <a:srgbClr val="8F6725"/>
      </a:accent5>
      <a:accent6>
        <a:srgbClr val="205391"/>
      </a:accent6>
      <a:hlink>
        <a:srgbClr val="205391"/>
      </a:hlink>
      <a:folHlink>
        <a:srgbClr val="0B3C9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-01-24_BPS_PPT_Template" id="{F69818ED-1EB5-154C-9646-61EECBC32C17}" vid="{337BE73D-1FC8-8444-A6A2-B6928143BD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3f8f0fe-7515-424d-86d7-0a337e4aa03f">
      <UserInfo>
        <DisplayName>Mangan, Keara L. (HQ-DP000)[BOOZ ALLEN &amp; HAMILTON INC]</DisplayName>
        <AccountId>13</AccountId>
        <AccountType/>
      </UserInfo>
      <UserInfo>
        <DisplayName>Gilbertson, Gamble (HQ-DP000)[EAST2]</DisplayName>
        <AccountId>15</AccountId>
        <AccountType/>
      </UserInfo>
      <UserInfo>
        <DisplayName>Lee, Jemie (HQ-DP000)[BOOZ ALLEN &amp; HAMILTON INC]</DisplayName>
        <AccountId>14</AccountId>
        <AccountType/>
      </UserInfo>
      <UserInfo>
        <DisplayName>White Lyons, Melanie M. (HQ-DP000)[BOOZ ALLEN &amp; HAMILTON INC]</DisplayName>
        <AccountId>12</AccountId>
        <AccountType/>
      </UserInfo>
      <UserInfo>
        <DisplayName>Lele, Julie (HQ-DM000)[BOOZ ALLEN &amp; HAMILTON INC]</DisplayName>
        <AccountId>10</AccountId>
        <AccountType/>
      </UserInfo>
      <UserInfo>
        <DisplayName>Burg, Joseph A. (HQ-DP000)[BOOZ ALLEN &amp; HAMILTON INC]</DisplayName>
        <AccountId>119</AccountId>
        <AccountType/>
      </UserInfo>
      <UserInfo>
        <DisplayName>Carnell, Lisa (HQ-DP000)</DisplayName>
        <AccountId>21</AccountId>
        <AccountType/>
      </UserInfo>
      <UserInfo>
        <DisplayName>Hertz, Paul (HQ-DA000)</DisplayName>
        <AccountId>100</AccountId>
        <AccountType/>
      </UserInfo>
      <UserInfo>
        <DisplayName>Fauntleroy, Haley (HQ-DP000)[BOOZ ALLEN &amp; HAMILTON INC]</DisplayName>
        <AccountId>22</AccountId>
        <AccountType/>
      </UserInfo>
      <UserInfo>
        <DisplayName>Cubberley, Hannah (HQ-DP000)[BOOZ ALLEN &amp; HAMILTON INC]</DisplayName>
        <AccountId>28</AccountId>
        <AccountType/>
      </UserInfo>
      <UserInfo>
        <DisplayName>Galazka, Jonathan M. (ARC-SC)</DisplayName>
        <AccountId>182</AccountId>
        <AccountType/>
      </UserInfo>
      <UserInfo>
        <DisplayName>Massa, Gioia D. (KSC-UBA00)</DisplayName>
        <AccountId>183</AccountId>
        <AccountType/>
      </UserInfo>
      <UserInfo>
        <DisplayName>Callas, John L (JPL-7500)[JPL Employee]</DisplayName>
        <AccountId>58</AccountId>
        <AccountType/>
      </UserInfo>
    </SharedWithUsers>
    <lcf76f155ced4ddcb4097134ff3c332f xmlns="6527ccf2-24c5-4a86-be07-80241091aeab">
      <Terms xmlns="http://schemas.microsoft.com/office/infopath/2007/PartnerControls"/>
    </lcf76f155ced4ddcb4097134ff3c332f>
    <TaxCatchAll xmlns="d900e117-17a0-4b24-9e47-511ef1d02c4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211DFDB3DA3845BD556C40032E64D0" ma:contentTypeVersion="16" ma:contentTypeDescription="Create a new document." ma:contentTypeScope="" ma:versionID="6fb8bd780a822da7d8e3d3891ea50a85">
  <xsd:schema xmlns:xsd="http://www.w3.org/2001/XMLSchema" xmlns:xs="http://www.w3.org/2001/XMLSchema" xmlns:p="http://schemas.microsoft.com/office/2006/metadata/properties" xmlns:ns2="6527ccf2-24c5-4a86-be07-80241091aeab" xmlns:ns3="43f8f0fe-7515-424d-86d7-0a337e4aa03f" xmlns:ns4="d900e117-17a0-4b24-9e47-511ef1d02c43" targetNamespace="http://schemas.microsoft.com/office/2006/metadata/properties" ma:root="true" ma:fieldsID="cb6437ea38db5bccedba4b312cc29faa" ns2:_="" ns3:_="" ns4:_="">
    <xsd:import namespace="6527ccf2-24c5-4a86-be07-80241091aeab"/>
    <xsd:import namespace="43f8f0fe-7515-424d-86d7-0a337e4aa03f"/>
    <xsd:import namespace="d900e117-17a0-4b24-9e47-511ef1d02c4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27ccf2-24c5-4a86-be07-80241091ae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0fb68aea-d2ee-4a6c-85e6-e4b5686e96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f8f0fe-7515-424d-86d7-0a337e4aa03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0e117-17a0-4b24-9e47-511ef1d02c43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ea376dd-3888-4ec2-aac9-035288c88b0b}" ma:internalName="TaxCatchAll" ma:showField="CatchAllData" ma:web="43f8f0fe-7515-424d-86d7-0a337e4a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62A2FE-7911-4E6A-8BD5-16877A182B2F}">
  <ds:schemaRefs>
    <ds:schemaRef ds:uri="http://schemas.openxmlformats.org/package/2006/metadata/core-properties"/>
    <ds:schemaRef ds:uri="a3f7648c-ef34-4383-9913-3e4132c38d7f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c852713b-0caa-4ac0-ba75-048f00e27b76"/>
    <ds:schemaRef ds:uri="43f8f0fe-7515-424d-86d7-0a337e4aa03f"/>
    <ds:schemaRef ds:uri="6527ccf2-24c5-4a86-be07-80241091aeab"/>
    <ds:schemaRef ds:uri="d900e117-17a0-4b24-9e47-511ef1d02c43"/>
  </ds:schemaRefs>
</ds:datastoreItem>
</file>

<file path=customXml/itemProps2.xml><?xml version="1.0" encoding="utf-8"?>
<ds:datastoreItem xmlns:ds="http://schemas.openxmlformats.org/officeDocument/2006/customXml" ds:itemID="{2FDDDE26-D355-44FB-AB9E-19995162FF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27ccf2-24c5-4a86-be07-80241091aeab"/>
    <ds:schemaRef ds:uri="43f8f0fe-7515-424d-86d7-0a337e4aa03f"/>
    <ds:schemaRef ds:uri="d900e117-17a0-4b24-9e47-511ef1d02c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6B03FA-AE60-4B79-AD46-B79CDABDEAE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2024-01-29_BPS_PPT_Template</Template>
  <TotalTime>5180</TotalTime>
  <Words>15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1_Office Theme</vt:lpstr>
      <vt:lpstr>PowerPoint Presentation</vt:lpstr>
      <vt:lpstr>PowerPoint Presentation</vt:lpstr>
    </vt:vector>
  </TitlesOfParts>
  <Company>NASA OCIO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Lele, Julie (HQ-DM000)[BOOZ ALLEN &amp; HAMILTON INC]</dc:creator>
  <cp:lastModifiedBy>Keller, Elizabeth E. (ARC-SC)[Amentum Services, Inc]</cp:lastModifiedBy>
  <cp:revision>178</cp:revision>
  <dcterms:created xsi:type="dcterms:W3CDTF">2024-01-29T19:52:06Z</dcterms:created>
  <dcterms:modified xsi:type="dcterms:W3CDTF">2026-06-29T22:38:13Z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0x01010019211DFDB3DA3845BD556C40032E64D0</vt:lpwstr>
  </property>
  <property fmtid="{D5CDD505-2E9C-101B-9397-08002B2CF9AE}" pid="3" name="MediaServiceImageTags">
    <vt:lpwstr/>
  </property>
</Properties>
</file>