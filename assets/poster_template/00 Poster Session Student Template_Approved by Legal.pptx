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sldIdLst>
    <p:sldId id="265" r:id="rId5"/>
    <p:sldId id="263" r:id="rId6"/>
    <p:sldId id="262"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301F8B-023D-9564-8B4A-A7626FED53BB}" v="84" dt="2025-08-06T19:03:53.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0B28D7-E51B-7A41-8BFB-E9CBE1E8F4F1}"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105A25-0B44-7A4F-A3C8-2B7FC4E5D5B3}" type="slidenum">
              <a:rPr lang="en-US" smtClean="0"/>
              <a:t>‹#›</a:t>
            </a:fld>
            <a:endParaRPr lang="en-US"/>
          </a:p>
        </p:txBody>
      </p:sp>
    </p:spTree>
    <p:extLst>
      <p:ext uri="{BB962C8B-B14F-4D97-AF65-F5344CB8AC3E}">
        <p14:creationId xmlns:p14="http://schemas.microsoft.com/office/powerpoint/2010/main" val="3036097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105A25-0B44-7A4F-A3C8-2B7FC4E5D5B3}" type="slidenum">
              <a:rPr lang="en-US" smtClean="0"/>
              <a:t>1</a:t>
            </a:fld>
            <a:endParaRPr lang="en-US"/>
          </a:p>
        </p:txBody>
      </p:sp>
    </p:spTree>
    <p:extLst>
      <p:ext uri="{BB962C8B-B14F-4D97-AF65-F5344CB8AC3E}">
        <p14:creationId xmlns:p14="http://schemas.microsoft.com/office/powerpoint/2010/main" val="2580857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105A25-0B44-7A4F-A3C8-2B7FC4E5D5B3}" type="slidenum">
              <a:rPr lang="en-US" smtClean="0"/>
              <a:t>2</a:t>
            </a:fld>
            <a:endParaRPr lang="en-US"/>
          </a:p>
        </p:txBody>
      </p:sp>
    </p:spTree>
    <p:extLst>
      <p:ext uri="{BB962C8B-B14F-4D97-AF65-F5344CB8AC3E}">
        <p14:creationId xmlns:p14="http://schemas.microsoft.com/office/powerpoint/2010/main" val="1643525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105A25-0B44-7A4F-A3C8-2B7FC4E5D5B3}" type="slidenum">
              <a:rPr lang="en-US" smtClean="0"/>
              <a:t>3</a:t>
            </a:fld>
            <a:endParaRPr lang="en-US"/>
          </a:p>
        </p:txBody>
      </p:sp>
    </p:spTree>
    <p:extLst>
      <p:ext uri="{BB962C8B-B14F-4D97-AF65-F5344CB8AC3E}">
        <p14:creationId xmlns:p14="http://schemas.microsoft.com/office/powerpoint/2010/main" val="491212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105A25-0B44-7A4F-A3C8-2B7FC4E5D5B3}" type="slidenum">
              <a:rPr lang="en-US" smtClean="0"/>
              <a:t>4</a:t>
            </a:fld>
            <a:endParaRPr lang="en-US"/>
          </a:p>
        </p:txBody>
      </p:sp>
    </p:spTree>
    <p:extLst>
      <p:ext uri="{BB962C8B-B14F-4D97-AF65-F5344CB8AC3E}">
        <p14:creationId xmlns:p14="http://schemas.microsoft.com/office/powerpoint/2010/main" val="2847315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C63C-02B5-6835-A24D-0AFFFE5478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68C36D-86B3-306C-6487-03EFC1045C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65A707-62E1-D0CC-E860-44349C333009}"/>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1CE6FA10-8CCA-00C2-1645-9F05CD048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053E7-27A8-D94C-FB86-DC785A55998A}"/>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247242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DB369-A415-1547-9F03-0D10844283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A1ADCB-6B4B-F04B-9247-1865722497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A4893-FB36-D29E-CB85-C251A667B281}"/>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BAA63424-A80E-31F1-B198-5CBA2B856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3C486-9A98-99FA-D2A3-11038A95C443}"/>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30000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CE2B-C252-006E-0210-1867BE0DF3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3B4CBA-E14E-B7A1-950F-8FB8A11A23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2CB14F-48D7-012E-9846-C1FDEAAC66B2}"/>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F98404C5-1F55-2EDC-D0C9-F534B8494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8F275-AFF6-FC49-F31D-7591A6884B07}"/>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100425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4ABB-3190-6D7A-3B0F-05890A5EB0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E35DBD-257F-8B31-A46D-F1EBD089B3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88C209-0433-8221-21DB-EF8328377D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299D76-F2C1-8CB7-F051-4C48B5F74B84}"/>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6" name="Footer Placeholder 5">
            <a:extLst>
              <a:ext uri="{FF2B5EF4-FFF2-40B4-BE49-F238E27FC236}">
                <a16:creationId xmlns:a16="http://schemas.microsoft.com/office/drawing/2014/main" id="{F0217B04-4368-77D7-03A1-8CF2ABFBF7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745478-40A8-4ACE-CA80-95DF7679C22F}"/>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3174049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FA348-B3B4-2098-BF5C-55B7953627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F1030A-3F7F-2585-A4A9-F2D923181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9726B0-0D4E-3D1A-9442-2923F7EBA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74101C-1FFF-4E79-1490-CE954D7B56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9A7102-0DE2-10BF-D3EA-4B35D0574D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08C0BC-945C-94C9-9781-D7D0C68F4AA6}"/>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8" name="Footer Placeholder 7">
            <a:extLst>
              <a:ext uri="{FF2B5EF4-FFF2-40B4-BE49-F238E27FC236}">
                <a16:creationId xmlns:a16="http://schemas.microsoft.com/office/drawing/2014/main" id="{FAF1DACF-A5CA-70A1-BEDD-7B848C243C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AB7FA1-BD18-D3E2-D47D-7A3C3D708E61}"/>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2043511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7931-4912-B2F4-F8B0-EB2B57034F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FE9878-AE62-C4D4-EE25-29E14FBE91C1}"/>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4" name="Footer Placeholder 3">
            <a:extLst>
              <a:ext uri="{FF2B5EF4-FFF2-40B4-BE49-F238E27FC236}">
                <a16:creationId xmlns:a16="http://schemas.microsoft.com/office/drawing/2014/main" id="{847465E4-5D79-8884-D88A-0E355D73F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3680D0-86C7-5F52-E949-BA36B25E9111}"/>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3070945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D8738-14C5-EE86-45E2-C94D4FDCC713}"/>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3" name="Footer Placeholder 2">
            <a:extLst>
              <a:ext uri="{FF2B5EF4-FFF2-40B4-BE49-F238E27FC236}">
                <a16:creationId xmlns:a16="http://schemas.microsoft.com/office/drawing/2014/main" id="{F8E47CC6-90B1-3148-265F-5E77E3942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015D8F-EF6B-6D21-0D5B-A7F2B10C351B}"/>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1954141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3926-6B81-AF59-74E1-5E007E5C1C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4F70BA-FD0A-D6D7-ACEF-086A49CDCD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228A26-E730-9237-FA46-307D702D9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10C83-E9A7-4597-6B9E-7C9B256EA2E1}"/>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6" name="Footer Placeholder 5">
            <a:extLst>
              <a:ext uri="{FF2B5EF4-FFF2-40B4-BE49-F238E27FC236}">
                <a16:creationId xmlns:a16="http://schemas.microsoft.com/office/drawing/2014/main" id="{1814370B-DE61-26C0-35D9-83A10DF3F2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8B93B3-EE14-87FD-1DF6-F1EEA21EAF68}"/>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3050566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0705-F275-4BEB-A9F1-20D1BB30E2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C431E6-2DC4-58D7-2D0A-41D22F4599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A30039-D2F7-BCE5-CD17-B07E9837F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7B9EFC-F27D-8EC0-1409-26638B256D96}"/>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6" name="Footer Placeholder 5">
            <a:extLst>
              <a:ext uri="{FF2B5EF4-FFF2-40B4-BE49-F238E27FC236}">
                <a16:creationId xmlns:a16="http://schemas.microsoft.com/office/drawing/2014/main" id="{B0B54DD0-F86C-12EC-8CEE-9FF479A005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D0B965-6A2B-797E-9960-CF08A78431D6}"/>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141054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42F3-7EE6-B6AB-329C-EB3C5A97BE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2A5AA9-0E1A-254C-F6E2-2609BFC0ED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4062F-C805-374C-F052-BF0EF3803AF1}"/>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89495BBC-036B-5940-FD07-D4E5BF2B6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107B0-47A7-7221-04BA-8D4F40F25E91}"/>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421858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489EE-5A17-9D79-FFE1-AEFCB3E98B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5309B0-BA0A-A1B4-E307-10C7F88119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C17D3F-88AF-E823-67D3-782BEF0F6D21}"/>
              </a:ext>
            </a:extLst>
          </p:cNvPr>
          <p:cNvSpPr>
            <a:spLocks noGrp="1"/>
          </p:cNvSpPr>
          <p:nvPr>
            <p:ph type="dt" sz="half" idx="10"/>
          </p:nvPr>
        </p:nvSpPr>
        <p:spPr/>
        <p:txBody>
          <a:body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E679E4C7-999E-553C-61CA-B2F182C4A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5BD65-6D13-EDFC-FA3A-C6C490A20FDC}"/>
              </a:ext>
            </a:extLst>
          </p:cNvPr>
          <p:cNvSpPr>
            <a:spLocks noGrp="1"/>
          </p:cNvSpPr>
          <p:nvPr>
            <p:ph type="sldNum" sz="quarter" idx="12"/>
          </p:nvPr>
        </p:nvSpPr>
        <p:spPr/>
        <p:txBody>
          <a:bodyPr/>
          <a:lstStyle/>
          <a:p>
            <a:fld id="{7CEAD3AD-159B-4244-B11A-E8D7A93F7FDF}" type="slidenum">
              <a:rPr lang="en-US" smtClean="0"/>
              <a:t>‹#›</a:t>
            </a:fld>
            <a:endParaRPr lang="en-US"/>
          </a:p>
        </p:txBody>
      </p:sp>
    </p:spTree>
    <p:extLst>
      <p:ext uri="{BB962C8B-B14F-4D97-AF65-F5344CB8AC3E}">
        <p14:creationId xmlns:p14="http://schemas.microsoft.com/office/powerpoint/2010/main" val="546386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619DC8-670F-EC2B-0679-834F4A863D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AD9787-DC8E-A2D0-517E-33EA8E0C7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0F092E-E080-D089-ECFC-C178E6C89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7A720E-A792-2243-A3E3-BF4ACC40AC79}" type="datetimeFigureOut">
              <a:rPr lang="en-US" smtClean="0"/>
              <a:t>7/21/2026</a:t>
            </a:fld>
            <a:endParaRPr lang="en-US"/>
          </a:p>
        </p:txBody>
      </p:sp>
      <p:sp>
        <p:nvSpPr>
          <p:cNvPr id="5" name="Footer Placeholder 4">
            <a:extLst>
              <a:ext uri="{FF2B5EF4-FFF2-40B4-BE49-F238E27FC236}">
                <a16:creationId xmlns:a16="http://schemas.microsoft.com/office/drawing/2014/main" id="{23B2FEF3-A1F2-5D03-438E-6597C6C9F7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AC9B12-E92F-5894-68B7-623FBEC733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EAD3AD-159B-4244-B11A-E8D7A93F7FDF}" type="slidenum">
              <a:rPr lang="en-US" smtClean="0"/>
              <a:t>‹#›</a:t>
            </a:fld>
            <a:endParaRPr lang="en-US"/>
          </a:p>
        </p:txBody>
      </p:sp>
    </p:spTree>
    <p:extLst>
      <p:ext uri="{BB962C8B-B14F-4D97-AF65-F5344CB8AC3E}">
        <p14:creationId xmlns:p14="http://schemas.microsoft.com/office/powerpoint/2010/main" val="3895553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gif"/><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8.png"/><Relationship Id="rId5" Type="http://schemas.openxmlformats.org/officeDocument/2006/relationships/image" Target="../media/image3.gif"/><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gif"/><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CF4EE564-4D79-908C-D83D-E1E79814828A}"/>
              </a:ext>
            </a:extLst>
          </p:cNvPr>
          <p:cNvSpPr/>
          <p:nvPr/>
        </p:nvSpPr>
        <p:spPr>
          <a:xfrm>
            <a:off x="88394" y="1446661"/>
            <a:ext cx="3932298" cy="177747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874F9EC-AE86-0336-161E-874243A6CA54}"/>
              </a:ext>
            </a:extLst>
          </p:cNvPr>
          <p:cNvSpPr/>
          <p:nvPr/>
        </p:nvSpPr>
        <p:spPr>
          <a:xfrm>
            <a:off x="88394" y="3308449"/>
            <a:ext cx="3932297" cy="333172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49AC6BC-3EB4-DD12-672A-1E0AD898B5A5}"/>
              </a:ext>
            </a:extLst>
          </p:cNvPr>
          <p:cNvSpPr/>
          <p:nvPr/>
        </p:nvSpPr>
        <p:spPr>
          <a:xfrm>
            <a:off x="0" y="-1"/>
            <a:ext cx="12192000" cy="136235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Rectangle 2">
            <a:extLst>
              <a:ext uri="{FF2B5EF4-FFF2-40B4-BE49-F238E27FC236}">
                <a16:creationId xmlns:a16="http://schemas.microsoft.com/office/drawing/2014/main" id="{F853958E-B45E-1FDA-05E8-EF6B3F501C64}"/>
              </a:ext>
            </a:extLst>
          </p:cNvPr>
          <p:cNvSpPr/>
          <p:nvPr/>
        </p:nvSpPr>
        <p:spPr>
          <a:xfrm>
            <a:off x="4136959" y="6190392"/>
            <a:ext cx="7968543" cy="66760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pic>
        <p:nvPicPr>
          <p:cNvPr id="7" name="Picture 6" descr="A logo with a red and white circle&#10;&#10;Description automatically generated">
            <a:extLst>
              <a:ext uri="{FF2B5EF4-FFF2-40B4-BE49-F238E27FC236}">
                <a16:creationId xmlns:a16="http://schemas.microsoft.com/office/drawing/2014/main" id="{48D31D70-C970-BB99-A514-5F8FB70C9ED4}"/>
              </a:ext>
            </a:extLst>
          </p:cNvPr>
          <p:cNvPicPr>
            <a:picLocks noChangeAspect="1"/>
          </p:cNvPicPr>
          <p:nvPr/>
        </p:nvPicPr>
        <p:blipFill>
          <a:blip r:embed="rId3"/>
          <a:stretch>
            <a:fillRect/>
          </a:stretch>
        </p:blipFill>
        <p:spPr>
          <a:xfrm>
            <a:off x="11059080" y="337169"/>
            <a:ext cx="933757" cy="774567"/>
          </a:xfrm>
          <a:prstGeom prst="rect">
            <a:avLst/>
          </a:prstGeom>
        </p:spPr>
      </p:pic>
      <p:sp>
        <p:nvSpPr>
          <p:cNvPr id="25" name="TextBox 24">
            <a:extLst>
              <a:ext uri="{FF2B5EF4-FFF2-40B4-BE49-F238E27FC236}">
                <a16:creationId xmlns:a16="http://schemas.microsoft.com/office/drawing/2014/main" id="{E46BBE58-4802-3DB3-B197-DD9B80A3DFCF}"/>
              </a:ext>
            </a:extLst>
          </p:cNvPr>
          <p:cNvSpPr txBox="1"/>
          <p:nvPr/>
        </p:nvSpPr>
        <p:spPr>
          <a:xfrm>
            <a:off x="202696" y="1901873"/>
            <a:ext cx="3751511" cy="1042080"/>
          </a:xfrm>
          <a:prstGeom prst="rect">
            <a:avLst/>
          </a:prstGeom>
          <a:noFill/>
        </p:spPr>
        <p:txBody>
          <a:bodyPr wrap="square" lIns="91440" tIns="45720" rIns="91440" bIns="45720" rtlCol="0" anchor="t">
            <a:spAutoFit/>
          </a:bodyPr>
          <a:lstStyle/>
          <a:p>
            <a:pPr>
              <a:lnSpc>
                <a:spcPct val="68181"/>
              </a:lnSpc>
              <a:spcAft>
                <a:spcPts val="200"/>
              </a:spcAft>
            </a:pPr>
            <a:r>
              <a:rPr lang="en-US" sz="1000">
                <a:latin typeface="Arial" panose="020B0604020202020204" pitchFamily="34" charset="0"/>
                <a:cs typeface="Arial" panose="020B0604020202020204" pitchFamily="34" charset="0"/>
              </a:rPr>
              <a:t>This is the context for why my research is important and the justification for my research question. This is my research question. These are the methods I used to set up my experimental design. This is what I found out, the implications for my conclusion, and any future next steps. All of this should be around 2-5 sentences. Extra text because I assume you’ll have more text and we want this bad boy to be filled up! Hope you all can find this template at least somewhat useful. Have a great rest of your day! More filler text is going here.</a:t>
            </a:r>
            <a:endParaRPr lang="en-US"/>
          </a:p>
        </p:txBody>
      </p:sp>
      <p:sp>
        <p:nvSpPr>
          <p:cNvPr id="28" name="Rectangle 27">
            <a:extLst>
              <a:ext uri="{FF2B5EF4-FFF2-40B4-BE49-F238E27FC236}">
                <a16:creationId xmlns:a16="http://schemas.microsoft.com/office/drawing/2014/main" id="{81B3A0CF-949F-2E20-300C-9B4709DFC9E1}"/>
              </a:ext>
            </a:extLst>
          </p:cNvPr>
          <p:cNvSpPr/>
          <p:nvPr/>
        </p:nvSpPr>
        <p:spPr>
          <a:xfrm>
            <a:off x="177692" y="1510587"/>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26" name="TextBox 25">
            <a:extLst>
              <a:ext uri="{FF2B5EF4-FFF2-40B4-BE49-F238E27FC236}">
                <a16:creationId xmlns:a16="http://schemas.microsoft.com/office/drawing/2014/main" id="{B347A98B-DFA4-9982-F2EE-C2152327B8B9}"/>
              </a:ext>
            </a:extLst>
          </p:cNvPr>
          <p:cNvSpPr txBox="1"/>
          <p:nvPr/>
        </p:nvSpPr>
        <p:spPr>
          <a:xfrm>
            <a:off x="88393" y="5368448"/>
            <a:ext cx="3932297"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Fusce faucibus felis ac mauris laoreet aliquam. Curabitur usscipit elit ac eros Bibendum malesuada.</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p:txBody>
      </p:sp>
      <p:pic>
        <p:nvPicPr>
          <p:cNvPr id="39" name="Picture 2">
            <a:extLst>
              <a:ext uri="{FF2B5EF4-FFF2-40B4-BE49-F238E27FC236}">
                <a16:creationId xmlns:a16="http://schemas.microsoft.com/office/drawing/2014/main" id="{15E1BA92-0A1B-43E1-E658-B07929D23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18" y="3745013"/>
            <a:ext cx="2719772" cy="1529872"/>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D61C5FA-6552-3C8D-5631-147200CDB4C6}"/>
              </a:ext>
            </a:extLst>
          </p:cNvPr>
          <p:cNvSpPr txBox="1"/>
          <p:nvPr/>
        </p:nvSpPr>
        <p:spPr>
          <a:xfrm>
            <a:off x="4135061" y="6450218"/>
            <a:ext cx="7149351" cy="345992"/>
          </a:xfrm>
          <a:prstGeom prst="rect">
            <a:avLst/>
          </a:prstGeom>
          <a:noFill/>
        </p:spPr>
        <p:txBody>
          <a:bodyPr wrap="square" lIns="91440" tIns="45720" rIns="91440" bIns="45720" rtlCol="0" anchor="t">
            <a:spAutoFit/>
          </a:bodyPr>
          <a:lstStyle/>
          <a:p>
            <a:pPr>
              <a:lnSpc>
                <a:spcPct val="68181"/>
              </a:lnSpc>
            </a:pPr>
            <a:r>
              <a:rPr lang="en-US" sz="800">
                <a:solidFill>
                  <a:schemeClr val="bg2">
                    <a:lumMod val="50000"/>
                  </a:schemeClr>
                </a:solidFill>
                <a:latin typeface="Arial" panose="020B0604020202020204" pitchFamily="34" charset="0"/>
                <a:cs typeface="Arial" panose="020B0604020202020204" pitchFamily="34" charset="0"/>
              </a:rPr>
              <a:t>The authors would like to thank X’s mentorship throughout the course of the summer, as well as NASA OSTEM for this opportunity (list your acknowledgments; they’ll probably take up longer than what I’ve listed so I’m adding this filler text). This should hopefully be ample space now, but there’s plenty of space so feel free to add as many as you need to. Please submit any questions to </a:t>
            </a:r>
            <a:r>
              <a:rPr lang="en-US" sz="800" b="1">
                <a:solidFill>
                  <a:schemeClr val="bg2">
                    <a:lumMod val="50000"/>
                  </a:schemeClr>
                </a:solidFill>
                <a:latin typeface="Arial" panose="020B0604020202020204" pitchFamily="34" charset="0"/>
                <a:cs typeface="Arial" panose="020B0604020202020204" pitchFamily="34" charset="0"/>
              </a:rPr>
              <a:t>allisonli@uchicago.edu </a:t>
            </a:r>
            <a:r>
              <a:rPr lang="en-US" sz="800">
                <a:solidFill>
                  <a:schemeClr val="bg2">
                    <a:lumMod val="50000"/>
                  </a:schemeClr>
                </a:solidFill>
                <a:latin typeface="Arial" panose="020B0604020202020204" pitchFamily="34" charset="0"/>
                <a:cs typeface="Arial" panose="020B0604020202020204" pitchFamily="34" charset="0"/>
              </a:rPr>
              <a:t>or </a:t>
            </a:r>
            <a:r>
              <a:rPr lang="en-US" sz="800" b="1">
                <a:solidFill>
                  <a:schemeClr val="bg2">
                    <a:lumMod val="50000"/>
                  </a:schemeClr>
                </a:solidFill>
                <a:latin typeface="Arial" panose="020B0604020202020204" pitchFamily="34" charset="0"/>
                <a:cs typeface="Arial" panose="020B0604020202020204" pitchFamily="34" charset="0"/>
              </a:rPr>
              <a:t>johndoe@harvard.edu.</a:t>
            </a:r>
            <a:endParaRPr lang="en-US" sz="800">
              <a:solidFill>
                <a:schemeClr val="bg2">
                  <a:lumMod val="50000"/>
                </a:schemeClr>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827C1D6A-8A53-8B4E-193D-77667CA39A99}"/>
              </a:ext>
            </a:extLst>
          </p:cNvPr>
          <p:cNvSpPr txBox="1"/>
          <p:nvPr/>
        </p:nvSpPr>
        <p:spPr>
          <a:xfrm>
            <a:off x="177692" y="6640177"/>
            <a:ext cx="1000819"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www.nasa.gov</a:t>
            </a:r>
            <a:endParaRPr lang="en-US"/>
          </a:p>
        </p:txBody>
      </p:sp>
      <p:sp>
        <p:nvSpPr>
          <p:cNvPr id="40" name="TextBox 39">
            <a:extLst>
              <a:ext uri="{FF2B5EF4-FFF2-40B4-BE49-F238E27FC236}">
                <a16:creationId xmlns:a16="http://schemas.microsoft.com/office/drawing/2014/main" id="{B274356A-92A1-1E18-9741-0C9B5B58BA02}"/>
              </a:ext>
            </a:extLst>
          </p:cNvPr>
          <p:cNvSpPr txBox="1"/>
          <p:nvPr/>
        </p:nvSpPr>
        <p:spPr>
          <a:xfrm>
            <a:off x="202696" y="462325"/>
            <a:ext cx="10611040" cy="534826"/>
          </a:xfrm>
          <a:prstGeom prst="rect">
            <a:avLst/>
          </a:prstGeom>
          <a:noFill/>
        </p:spPr>
        <p:txBody>
          <a:bodyPr wrap="square" lIns="91440" tIns="45720" rIns="91440" bIns="45720" rtlCol="0" anchor="t">
            <a:spAutoFit/>
          </a:bodyPr>
          <a:lstStyle/>
          <a:p>
            <a:pPr algn="ctr">
              <a:lnSpc>
                <a:spcPct val="61983"/>
              </a:lnSpc>
            </a:pPr>
            <a:r>
              <a:rPr lang="en-US" sz="2200" b="1">
                <a:latin typeface="Arial" panose="020B0604020202020204" pitchFamily="34" charset="0"/>
                <a:cs typeface="Arial" panose="020B0604020202020204" pitchFamily="34" charset="0"/>
              </a:rPr>
              <a:t>Long Scientific Title, But Probably No More Than Two Lines in Length (Feel Free to Adjust Sizing and Line Spacing if Necessary)</a:t>
            </a:r>
            <a:endParaRPr lang="en-US"/>
          </a:p>
        </p:txBody>
      </p:sp>
      <p:sp>
        <p:nvSpPr>
          <p:cNvPr id="41" name="TextBox 40">
            <a:extLst>
              <a:ext uri="{FF2B5EF4-FFF2-40B4-BE49-F238E27FC236}">
                <a16:creationId xmlns:a16="http://schemas.microsoft.com/office/drawing/2014/main" id="{B55D4ABF-89B4-20CC-79C6-0986E3BEA87F}"/>
              </a:ext>
            </a:extLst>
          </p:cNvPr>
          <p:cNvSpPr txBox="1"/>
          <p:nvPr/>
        </p:nvSpPr>
        <p:spPr>
          <a:xfrm>
            <a:off x="445993" y="998667"/>
            <a:ext cx="10611041" cy="329193"/>
          </a:xfrm>
          <a:prstGeom prst="rect">
            <a:avLst/>
          </a:prstGeom>
          <a:noFill/>
        </p:spPr>
        <p:txBody>
          <a:bodyPr wrap="square" lIns="91440" tIns="45720" rIns="91440" bIns="45720" rtlCol="0" anchor="t">
            <a:spAutoFit/>
          </a:bodyPr>
          <a:lstStyle/>
          <a:p>
            <a:pPr algn="ct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Allison Li </a:t>
            </a:r>
            <a:r>
              <a:rPr lang="en-US" sz="1400">
                <a:solidFill>
                  <a:schemeClr val="bg2">
                    <a:lumMod val="50000"/>
                  </a:schemeClr>
                </a:solidFill>
                <a:latin typeface="Arial" panose="020B0604020202020204" pitchFamily="34" charset="0"/>
                <a:cs typeface="Arial" panose="020B0604020202020204" pitchFamily="34" charset="0"/>
              </a:rPr>
              <a:t>/ University of Chicago, </a:t>
            </a:r>
            <a:r>
              <a:rPr lang="en-US" sz="1400" b="1">
                <a:solidFill>
                  <a:schemeClr val="bg2">
                    <a:lumMod val="50000"/>
                  </a:schemeClr>
                </a:solidFill>
                <a:latin typeface="Arial" panose="020B0604020202020204" pitchFamily="34" charset="0"/>
                <a:cs typeface="Arial" panose="020B0604020202020204" pitchFamily="34" charset="0"/>
              </a:rPr>
              <a:t>John Doe </a:t>
            </a:r>
            <a:r>
              <a:rPr lang="en-US" sz="1400">
                <a:solidFill>
                  <a:schemeClr val="bg2">
                    <a:lumMod val="50000"/>
                  </a:schemeClr>
                </a:solidFill>
                <a:latin typeface="Arial" panose="020B0604020202020204" pitchFamily="34" charset="0"/>
                <a:cs typeface="Arial" panose="020B0604020202020204" pitchFamily="34" charset="0"/>
              </a:rPr>
              <a:t>/ Harvard University</a:t>
            </a:r>
            <a:endParaRPr lang="en-US"/>
          </a:p>
        </p:txBody>
      </p:sp>
      <p:sp>
        <p:nvSpPr>
          <p:cNvPr id="42" name="TextBox 41">
            <a:extLst>
              <a:ext uri="{FF2B5EF4-FFF2-40B4-BE49-F238E27FC236}">
                <a16:creationId xmlns:a16="http://schemas.microsoft.com/office/drawing/2014/main" id="{ADD17D77-9E8A-A7D1-4E73-BF1F0DD040AB}"/>
              </a:ext>
            </a:extLst>
          </p:cNvPr>
          <p:cNvSpPr txBox="1"/>
          <p:nvPr/>
        </p:nvSpPr>
        <p:spPr>
          <a:xfrm>
            <a:off x="202696" y="190590"/>
            <a:ext cx="4928194"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National Aeronautics and Space Administration</a:t>
            </a:r>
            <a:endParaRPr lang="en-US"/>
          </a:p>
        </p:txBody>
      </p:sp>
      <p:sp>
        <p:nvSpPr>
          <p:cNvPr id="54" name="Rectangle 53">
            <a:extLst>
              <a:ext uri="{FF2B5EF4-FFF2-40B4-BE49-F238E27FC236}">
                <a16:creationId xmlns:a16="http://schemas.microsoft.com/office/drawing/2014/main" id="{58951977-A0A0-4FA0-81E8-7E0C3EC820B4}"/>
              </a:ext>
            </a:extLst>
          </p:cNvPr>
          <p:cNvSpPr/>
          <p:nvPr/>
        </p:nvSpPr>
        <p:spPr>
          <a:xfrm>
            <a:off x="4136960" y="1462040"/>
            <a:ext cx="3932298" cy="177747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8579C51-BE45-E0E5-42C2-5370A791731C}"/>
              </a:ext>
            </a:extLst>
          </p:cNvPr>
          <p:cNvSpPr/>
          <p:nvPr/>
        </p:nvSpPr>
        <p:spPr>
          <a:xfrm>
            <a:off x="4122739" y="3532067"/>
            <a:ext cx="3946516" cy="256346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DDED8B-018B-2939-08C4-EA163B3AEAC6}"/>
              </a:ext>
            </a:extLst>
          </p:cNvPr>
          <p:cNvSpPr/>
          <p:nvPr/>
        </p:nvSpPr>
        <p:spPr>
          <a:xfrm>
            <a:off x="8171308" y="1445554"/>
            <a:ext cx="3932298" cy="345612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571D8DF-7869-2555-F7E2-B893036263D7}"/>
              </a:ext>
            </a:extLst>
          </p:cNvPr>
          <p:cNvSpPr/>
          <p:nvPr/>
        </p:nvSpPr>
        <p:spPr>
          <a:xfrm>
            <a:off x="8171308" y="4996543"/>
            <a:ext cx="3932297" cy="109898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076A961-A973-0743-59E0-7A85CBAA5579}"/>
              </a:ext>
            </a:extLst>
          </p:cNvPr>
          <p:cNvSpPr/>
          <p:nvPr/>
        </p:nvSpPr>
        <p:spPr>
          <a:xfrm>
            <a:off x="4122741" y="1463146"/>
            <a:ext cx="3946517" cy="197405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64D8ECC-0BD7-6644-F230-3037C38188AF}"/>
              </a:ext>
            </a:extLst>
          </p:cNvPr>
          <p:cNvSpPr txBox="1"/>
          <p:nvPr/>
        </p:nvSpPr>
        <p:spPr>
          <a:xfrm>
            <a:off x="739730" y="1509786"/>
            <a:ext cx="2627433" cy="307777"/>
          </a:xfrm>
          <a:prstGeom prst="rect">
            <a:avLst/>
          </a:prstGeom>
          <a:noFill/>
        </p:spPr>
        <p:txBody>
          <a:bodyPr wrap="square" rtlCol="0">
            <a:spAutoFit/>
          </a:bodyPr>
          <a:lstStyle/>
          <a:p>
            <a:pPr algn="ctr"/>
            <a:r>
              <a:rPr lang="en-US" sz="1400" b="1">
                <a:latin typeface="Aptos" panose="020B0004020202020204" pitchFamily="34" charset="0"/>
              </a:rPr>
              <a:t>ABSTRACT</a:t>
            </a:r>
          </a:p>
        </p:txBody>
      </p:sp>
      <p:sp>
        <p:nvSpPr>
          <p:cNvPr id="63" name="Rectangle 62">
            <a:extLst>
              <a:ext uri="{FF2B5EF4-FFF2-40B4-BE49-F238E27FC236}">
                <a16:creationId xmlns:a16="http://schemas.microsoft.com/office/drawing/2014/main" id="{3F340016-3979-94C2-2171-BF9A00E68012}"/>
              </a:ext>
            </a:extLst>
          </p:cNvPr>
          <p:cNvSpPr/>
          <p:nvPr/>
        </p:nvSpPr>
        <p:spPr>
          <a:xfrm>
            <a:off x="177692" y="3385203"/>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4" name="TextBox 1023">
            <a:extLst>
              <a:ext uri="{FF2B5EF4-FFF2-40B4-BE49-F238E27FC236}">
                <a16:creationId xmlns:a16="http://schemas.microsoft.com/office/drawing/2014/main" id="{C35FA771-BA14-AA87-EF6C-31B11970ECE5}"/>
              </a:ext>
            </a:extLst>
          </p:cNvPr>
          <p:cNvSpPr txBox="1"/>
          <p:nvPr/>
        </p:nvSpPr>
        <p:spPr>
          <a:xfrm>
            <a:off x="717157" y="3375673"/>
            <a:ext cx="2627433" cy="307777"/>
          </a:xfrm>
          <a:prstGeom prst="rect">
            <a:avLst/>
          </a:prstGeom>
          <a:noFill/>
        </p:spPr>
        <p:txBody>
          <a:bodyPr wrap="square" rtlCol="0">
            <a:spAutoFit/>
          </a:bodyPr>
          <a:lstStyle/>
          <a:p>
            <a:pPr algn="ctr"/>
            <a:r>
              <a:rPr lang="en-US" sz="1400" b="1">
                <a:latin typeface="Aptos" panose="020B0004020202020204" pitchFamily="34" charset="0"/>
              </a:rPr>
              <a:t>INTRODUCTION</a:t>
            </a:r>
          </a:p>
        </p:txBody>
      </p:sp>
      <p:sp>
        <p:nvSpPr>
          <p:cNvPr id="1025" name="Rectangle 1024">
            <a:extLst>
              <a:ext uri="{FF2B5EF4-FFF2-40B4-BE49-F238E27FC236}">
                <a16:creationId xmlns:a16="http://schemas.microsoft.com/office/drawing/2014/main" id="{158D20F0-1044-A38C-81D9-02C6E1994FA7}"/>
              </a:ext>
            </a:extLst>
          </p:cNvPr>
          <p:cNvSpPr/>
          <p:nvPr/>
        </p:nvSpPr>
        <p:spPr>
          <a:xfrm>
            <a:off x="4220244" y="1529718"/>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6" name="TextBox 1025">
            <a:extLst>
              <a:ext uri="{FF2B5EF4-FFF2-40B4-BE49-F238E27FC236}">
                <a16:creationId xmlns:a16="http://schemas.microsoft.com/office/drawing/2014/main" id="{743255C0-B742-1DB9-A127-561B8BA85E56}"/>
              </a:ext>
            </a:extLst>
          </p:cNvPr>
          <p:cNvSpPr txBox="1"/>
          <p:nvPr/>
        </p:nvSpPr>
        <p:spPr>
          <a:xfrm>
            <a:off x="4782282" y="1528917"/>
            <a:ext cx="2627433" cy="307777"/>
          </a:xfrm>
          <a:prstGeom prst="rect">
            <a:avLst/>
          </a:prstGeom>
          <a:noFill/>
        </p:spPr>
        <p:txBody>
          <a:bodyPr wrap="square" rtlCol="0">
            <a:spAutoFit/>
          </a:bodyPr>
          <a:lstStyle/>
          <a:p>
            <a:pPr algn="ctr"/>
            <a:r>
              <a:rPr lang="en-US" sz="1400" b="1">
                <a:latin typeface="Aptos" panose="020B0004020202020204" pitchFamily="34" charset="0"/>
              </a:rPr>
              <a:t>METHODS</a:t>
            </a:r>
          </a:p>
        </p:txBody>
      </p:sp>
      <p:sp>
        <p:nvSpPr>
          <p:cNvPr id="1027" name="Rectangle 1026">
            <a:extLst>
              <a:ext uri="{FF2B5EF4-FFF2-40B4-BE49-F238E27FC236}">
                <a16:creationId xmlns:a16="http://schemas.microsoft.com/office/drawing/2014/main" id="{ACD31702-F2ED-5689-5A2F-85C7329F8014}"/>
              </a:ext>
            </a:extLst>
          </p:cNvPr>
          <p:cNvSpPr/>
          <p:nvPr/>
        </p:nvSpPr>
        <p:spPr>
          <a:xfrm>
            <a:off x="4220244" y="3600654"/>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8" name="TextBox 1027">
            <a:extLst>
              <a:ext uri="{FF2B5EF4-FFF2-40B4-BE49-F238E27FC236}">
                <a16:creationId xmlns:a16="http://schemas.microsoft.com/office/drawing/2014/main" id="{BAB4183C-2417-9CA1-CF07-713DD88A769F}"/>
              </a:ext>
            </a:extLst>
          </p:cNvPr>
          <p:cNvSpPr txBox="1"/>
          <p:nvPr/>
        </p:nvSpPr>
        <p:spPr>
          <a:xfrm>
            <a:off x="4782282" y="3599853"/>
            <a:ext cx="2627433" cy="307777"/>
          </a:xfrm>
          <a:prstGeom prst="rect">
            <a:avLst/>
          </a:prstGeom>
          <a:noFill/>
        </p:spPr>
        <p:txBody>
          <a:bodyPr wrap="square" rtlCol="0">
            <a:spAutoFit/>
          </a:bodyPr>
          <a:lstStyle/>
          <a:p>
            <a:pPr algn="ctr"/>
            <a:r>
              <a:rPr lang="en-US" sz="1400" b="1">
                <a:latin typeface="Aptos" panose="020B0004020202020204" pitchFamily="34" charset="0"/>
              </a:rPr>
              <a:t>RESULTS</a:t>
            </a:r>
          </a:p>
        </p:txBody>
      </p:sp>
      <p:sp>
        <p:nvSpPr>
          <p:cNvPr id="1029" name="Rectangle 1028">
            <a:extLst>
              <a:ext uri="{FF2B5EF4-FFF2-40B4-BE49-F238E27FC236}">
                <a16:creationId xmlns:a16="http://schemas.microsoft.com/office/drawing/2014/main" id="{F4E1F2B1-585D-ECC5-5383-F6F2C6DD38D2}"/>
              </a:ext>
            </a:extLst>
          </p:cNvPr>
          <p:cNvSpPr/>
          <p:nvPr/>
        </p:nvSpPr>
        <p:spPr>
          <a:xfrm>
            <a:off x="8262797" y="1526201"/>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0" name="TextBox 1029">
            <a:extLst>
              <a:ext uri="{FF2B5EF4-FFF2-40B4-BE49-F238E27FC236}">
                <a16:creationId xmlns:a16="http://schemas.microsoft.com/office/drawing/2014/main" id="{55E2E2CC-54A7-B1F4-B748-EF850BC35667}"/>
              </a:ext>
            </a:extLst>
          </p:cNvPr>
          <p:cNvSpPr txBox="1"/>
          <p:nvPr/>
        </p:nvSpPr>
        <p:spPr>
          <a:xfrm>
            <a:off x="8824835" y="1525400"/>
            <a:ext cx="2627433" cy="307777"/>
          </a:xfrm>
          <a:prstGeom prst="rect">
            <a:avLst/>
          </a:prstGeom>
          <a:noFill/>
        </p:spPr>
        <p:txBody>
          <a:bodyPr wrap="square" rtlCol="0">
            <a:spAutoFit/>
          </a:bodyPr>
          <a:lstStyle/>
          <a:p>
            <a:pPr algn="ctr"/>
            <a:r>
              <a:rPr lang="en-US" sz="1400" b="1">
                <a:latin typeface="Aptos" panose="020B0004020202020204" pitchFamily="34" charset="0"/>
              </a:rPr>
              <a:t>CONCLUSIONS</a:t>
            </a:r>
          </a:p>
        </p:txBody>
      </p:sp>
      <p:sp>
        <p:nvSpPr>
          <p:cNvPr id="1031" name="Rectangle 1030">
            <a:extLst>
              <a:ext uri="{FF2B5EF4-FFF2-40B4-BE49-F238E27FC236}">
                <a16:creationId xmlns:a16="http://schemas.microsoft.com/office/drawing/2014/main" id="{DE9035B0-9C95-67DD-238A-C4257F43E529}"/>
              </a:ext>
            </a:extLst>
          </p:cNvPr>
          <p:cNvSpPr/>
          <p:nvPr/>
        </p:nvSpPr>
        <p:spPr>
          <a:xfrm>
            <a:off x="8262797" y="5079730"/>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3" name="TextBox 1032">
            <a:extLst>
              <a:ext uri="{FF2B5EF4-FFF2-40B4-BE49-F238E27FC236}">
                <a16:creationId xmlns:a16="http://schemas.microsoft.com/office/drawing/2014/main" id="{952F4C1C-5EC4-5C37-1573-DA8377E8F2DE}"/>
              </a:ext>
            </a:extLst>
          </p:cNvPr>
          <p:cNvSpPr txBox="1"/>
          <p:nvPr/>
        </p:nvSpPr>
        <p:spPr>
          <a:xfrm>
            <a:off x="8824835" y="5078929"/>
            <a:ext cx="2627433" cy="307777"/>
          </a:xfrm>
          <a:prstGeom prst="rect">
            <a:avLst/>
          </a:prstGeom>
          <a:noFill/>
        </p:spPr>
        <p:txBody>
          <a:bodyPr wrap="square" rtlCol="0">
            <a:spAutoFit/>
          </a:bodyPr>
          <a:lstStyle/>
          <a:p>
            <a:pPr algn="ctr"/>
            <a:r>
              <a:rPr lang="en-US" sz="1400" b="1">
                <a:latin typeface="Aptos" panose="020B0004020202020204" pitchFamily="34" charset="0"/>
              </a:rPr>
              <a:t>REFERENCES</a:t>
            </a:r>
          </a:p>
        </p:txBody>
      </p:sp>
      <p:sp>
        <p:nvSpPr>
          <p:cNvPr id="1034" name="TextBox 1033">
            <a:extLst>
              <a:ext uri="{FF2B5EF4-FFF2-40B4-BE49-F238E27FC236}">
                <a16:creationId xmlns:a16="http://schemas.microsoft.com/office/drawing/2014/main" id="{A326D48E-01D4-FEA5-D100-9F3E6063C104}"/>
              </a:ext>
            </a:extLst>
          </p:cNvPr>
          <p:cNvSpPr txBox="1"/>
          <p:nvPr/>
        </p:nvSpPr>
        <p:spPr>
          <a:xfrm>
            <a:off x="4136959" y="3939953"/>
            <a:ext cx="1304099" cy="1722908"/>
          </a:xfrm>
          <a:prstGeom prst="rect">
            <a:avLst/>
          </a:prstGeom>
          <a:noFill/>
        </p:spPr>
        <p:txBody>
          <a:bodyPr wrap="square" lIns="91440" tIns="45720" rIns="91440" bIns="45720" rtlCol="0" anchor="t">
            <a:spAutoFit/>
          </a:bodyPr>
          <a:lstStyle/>
          <a:p>
            <a:pPr>
              <a:lnSpc>
                <a:spcPct val="75757"/>
              </a:lnSpc>
              <a:spcAft>
                <a:spcPts val="400"/>
              </a:spcAft>
            </a:pPr>
            <a:r>
              <a:rPr lang="en-US" sz="900">
                <a:latin typeface="Arial" panose="020B0604020202020204" pitchFamily="34" charset="0"/>
                <a:cs typeface="Arial" panose="020B0604020202020204" pitchFamily="34" charset="0"/>
              </a:rPr>
              <a:t>This is just placeholder! Caption your data with some helpful info.</a:t>
            </a:r>
            <a:endParaRPr lang="en-US"/>
          </a:p>
          <a:p>
            <a:pPr>
              <a:lnSpc>
                <a:spcPct val="75757"/>
              </a:lnSpc>
              <a:spcAft>
                <a:spcPts val="400"/>
              </a:spcAft>
            </a:pPr>
            <a:r>
              <a:rPr lang="en-US" sz="900">
                <a:latin typeface="Arial" panose="020B0604020202020204" pitchFamily="34" charset="0"/>
                <a:cs typeface="Arial" panose="020B0604020202020204" pitchFamily="34" charset="0"/>
              </a:rPr>
              <a:t>Lorem ipsum dolor sit amet, consectur adipiscing elit. Nunc nec elit vitae ligula saggitus pulvinar. Suspendisse in turpis a lorem interdum faucibus at ac ipsum. Donec eget lorem usscipit libero congue viverra vel vel ex. </a:t>
            </a:r>
          </a:p>
        </p:txBody>
      </p:sp>
      <p:pic>
        <p:nvPicPr>
          <p:cNvPr id="1035" name="Picture 6">
            <a:extLst>
              <a:ext uri="{FF2B5EF4-FFF2-40B4-BE49-F238E27FC236}">
                <a16:creationId xmlns:a16="http://schemas.microsoft.com/office/drawing/2014/main" id="{91F42E88-3637-AEE4-28BE-AC86461F0A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3984232"/>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a:extLst>
              <a:ext uri="{FF2B5EF4-FFF2-40B4-BE49-F238E27FC236}">
                <a16:creationId xmlns:a16="http://schemas.microsoft.com/office/drawing/2014/main" id="{197DBCF8-7D39-13CB-0F9A-B511418159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3984233"/>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6">
            <a:extLst>
              <a:ext uri="{FF2B5EF4-FFF2-40B4-BE49-F238E27FC236}">
                <a16:creationId xmlns:a16="http://schemas.microsoft.com/office/drawing/2014/main" id="{DECC36D1-4E2D-FF9D-A416-37039DB9CA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4995749"/>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6">
            <a:extLst>
              <a:ext uri="{FF2B5EF4-FFF2-40B4-BE49-F238E27FC236}">
                <a16:creationId xmlns:a16="http://schemas.microsoft.com/office/drawing/2014/main" id="{E19E1514-B57C-0D49-CFF3-F80691B0B3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4995750"/>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8" descr="Flow diagram - Wikipedia">
            <a:extLst>
              <a:ext uri="{FF2B5EF4-FFF2-40B4-BE49-F238E27FC236}">
                <a16:creationId xmlns:a16="http://schemas.microsoft.com/office/drawing/2014/main" id="{65202C0E-1E02-B7D2-E13A-A3606D5184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0244" y="1874343"/>
            <a:ext cx="1864062" cy="1421993"/>
          </a:xfrm>
          <a:prstGeom prst="rect">
            <a:avLst/>
          </a:prstGeom>
          <a:noFill/>
          <a:extLst>
            <a:ext uri="{909E8E84-426E-40DD-AFC4-6F175D3DCCD1}">
              <a14:hiddenFill xmlns:a14="http://schemas.microsoft.com/office/drawing/2010/main">
                <a:solidFill>
                  <a:srgbClr val="FFFFFF"/>
                </a:solidFill>
              </a14:hiddenFill>
            </a:ext>
          </a:extLst>
        </p:spPr>
      </p:pic>
      <p:sp>
        <p:nvSpPr>
          <p:cNvPr id="1043" name="TextBox 1042">
            <a:extLst>
              <a:ext uri="{FF2B5EF4-FFF2-40B4-BE49-F238E27FC236}">
                <a16:creationId xmlns:a16="http://schemas.microsoft.com/office/drawing/2014/main" id="{556FE37E-1E71-0FC4-27A0-55508BBE055F}"/>
              </a:ext>
            </a:extLst>
          </p:cNvPr>
          <p:cNvSpPr txBox="1"/>
          <p:nvPr/>
        </p:nvSpPr>
        <p:spPr>
          <a:xfrm>
            <a:off x="7120504" y="1901623"/>
            <a:ext cx="948751" cy="1251368"/>
          </a:xfrm>
          <a:prstGeom prst="rect">
            <a:avLst/>
          </a:prstGeom>
          <a:noFill/>
        </p:spPr>
        <p:txBody>
          <a:bodyPr wrap="square" lIns="91440" tIns="45720" rIns="91440" bIns="45720" rtlCol="0" anchor="t">
            <a:spAutoFit/>
          </a:bodyPr>
          <a:lstStyle/>
          <a:p>
            <a:pPr>
              <a:lnSpc>
                <a:spcPct val="68181"/>
              </a:lnSpc>
              <a:spcAft>
                <a:spcPts val="400"/>
              </a:spcAft>
            </a:pPr>
            <a:r>
              <a:rPr lang="en-US" sz="1000">
                <a:latin typeface="Arial" panose="020B0604020202020204" pitchFamily="34" charset="0"/>
                <a:cs typeface="Arial" panose="020B0604020202020204" pitchFamily="34" charset="0"/>
              </a:rPr>
              <a:t>Explain your experimental setup and how you went about collecting data, and other stuff. This is just placeholder! More text.</a:t>
            </a:r>
            <a:endParaRPr lang="en-US"/>
          </a:p>
        </p:txBody>
      </p:sp>
      <p:pic>
        <p:nvPicPr>
          <p:cNvPr id="1044" name="Picture 10" descr="undefined">
            <a:extLst>
              <a:ext uri="{FF2B5EF4-FFF2-40B4-BE49-F238E27FC236}">
                <a16:creationId xmlns:a16="http://schemas.microsoft.com/office/drawing/2014/main" id="{F314BE95-B219-4173-5799-ECA97E3F00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2016" y="1920690"/>
            <a:ext cx="1008488" cy="1375646"/>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3F3DB71D-2728-83A4-64B0-BD805D6E1704}"/>
              </a:ext>
            </a:extLst>
          </p:cNvPr>
          <p:cNvSpPr txBox="1"/>
          <p:nvPr/>
        </p:nvSpPr>
        <p:spPr>
          <a:xfrm>
            <a:off x="8185523" y="5386706"/>
            <a:ext cx="3918082" cy="612475"/>
          </a:xfrm>
          <a:prstGeom prst="rect">
            <a:avLst/>
          </a:prstGeom>
          <a:noFill/>
        </p:spPr>
        <p:txBody>
          <a:bodyPr wrap="square" lIns="91440" tIns="45720" rIns="91440" bIns="45720" rtlCol="0" anchor="t">
            <a:spAutoFit/>
          </a:bodyPr>
          <a:lstStyle/>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endParaRPr lang="en-US"/>
          </a:p>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p>
          <a:p>
            <a:pPr>
              <a:lnSpc>
                <a:spcPct val="79545"/>
              </a:lnSpc>
              <a:spcAft>
                <a:spcPts val="300"/>
              </a:spcAft>
            </a:pPr>
            <a:r>
              <a:rPr lang="en-US" sz="600">
                <a:latin typeface="Arial" panose="020B0604020202020204" pitchFamily="34" charset="0"/>
                <a:cs typeface="Arial" panose="020B0604020202020204" pitchFamily="34" charset="0"/>
              </a:rPr>
              <a:t>Code of ethics. (2011). In V. L. Burton (Ed.), Encyclopedia of small business (4th ed., Vol. 1, pp. 235-237). Detroit, MI: Gale.</a:t>
            </a:r>
          </a:p>
        </p:txBody>
      </p:sp>
      <p:sp>
        <p:nvSpPr>
          <p:cNvPr id="1051" name="TextBox 1050">
            <a:extLst>
              <a:ext uri="{FF2B5EF4-FFF2-40B4-BE49-F238E27FC236}">
                <a16:creationId xmlns:a16="http://schemas.microsoft.com/office/drawing/2014/main" id="{B08BEE97-2892-8B37-B44D-627A9E1054BB}"/>
              </a:ext>
            </a:extLst>
          </p:cNvPr>
          <p:cNvSpPr txBox="1"/>
          <p:nvPr/>
        </p:nvSpPr>
        <p:spPr>
          <a:xfrm>
            <a:off x="8338539" y="1937150"/>
            <a:ext cx="3559455"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Explain the figure, if any, that show or justify your concluding results</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Another bullet point for filler text space!</a:t>
            </a:r>
          </a:p>
        </p:txBody>
      </p:sp>
      <p:pic>
        <p:nvPicPr>
          <p:cNvPr id="1052" name="Picture 2" descr="undefined">
            <a:extLst>
              <a:ext uri="{FF2B5EF4-FFF2-40B4-BE49-F238E27FC236}">
                <a16:creationId xmlns:a16="http://schemas.microsoft.com/office/drawing/2014/main" id="{93DF26DE-4E2D-7D20-E090-34E2CC7EAB4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02771" y="3256903"/>
            <a:ext cx="2121781" cy="1527427"/>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45B7B6DF-3A32-1129-A579-1087CA99FA80}"/>
              </a:ext>
            </a:extLst>
          </p:cNvPr>
          <p:cNvSpPr txBox="1"/>
          <p:nvPr/>
        </p:nvSpPr>
        <p:spPr>
          <a:xfrm>
            <a:off x="10615866" y="3257015"/>
            <a:ext cx="1322587" cy="1251368"/>
          </a:xfrm>
          <a:prstGeom prst="rect">
            <a:avLst/>
          </a:prstGeom>
          <a:noFill/>
        </p:spPr>
        <p:txBody>
          <a:bodyPr wrap="square" lIns="91440" tIns="45720" rIns="91440" bIns="45720" rtlCol="0" anchor="t">
            <a:spAutoFit/>
          </a:bodyPr>
          <a:lstStyle/>
          <a:p>
            <a:pPr>
              <a:lnSpc>
                <a:spcPct val="68181"/>
              </a:lnSpc>
              <a:spcAft>
                <a:spcPts val="200"/>
              </a:spcAft>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 Suspendisse in turpis a lorem interdum faucibus at ac ipsum.</a:t>
            </a:r>
            <a:endParaRPr lang="en-US"/>
          </a:p>
        </p:txBody>
      </p:sp>
      <p:sp>
        <p:nvSpPr>
          <p:cNvPr id="8" name="TextBox 7">
            <a:extLst>
              <a:ext uri="{FF2B5EF4-FFF2-40B4-BE49-F238E27FC236}">
                <a16:creationId xmlns:a16="http://schemas.microsoft.com/office/drawing/2014/main" id="{3FFFA73C-E6AB-BC79-2D5F-69810705C4DB}"/>
              </a:ext>
            </a:extLst>
          </p:cNvPr>
          <p:cNvSpPr txBox="1"/>
          <p:nvPr/>
        </p:nvSpPr>
        <p:spPr>
          <a:xfrm>
            <a:off x="4136958" y="6129514"/>
            <a:ext cx="7966647" cy="322268"/>
          </a:xfrm>
          <a:prstGeom prst="rect">
            <a:avLst/>
          </a:prstGeom>
          <a:noFill/>
        </p:spPr>
        <p:txBody>
          <a:bodyPr wrap="square" lIns="91440" tIns="45720" rIns="91440" bIns="45720" rtlCol="0" anchor="t">
            <a:spAutoFit/>
          </a:bodyPr>
          <a:lstStyle/>
          <a:p>
            <a:pP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Acknowledgements</a:t>
            </a:r>
            <a:endParaRPr lang="en-US" sz="1400">
              <a:solidFill>
                <a:schemeClr val="bg2">
                  <a:lumMod val="50000"/>
                </a:schemeClr>
              </a:solidFill>
              <a:latin typeface="Arial" panose="020B0604020202020204" pitchFamily="34" charset="0"/>
              <a:cs typeface="Arial" panose="020B0604020202020204" pitchFamily="34" charset="0"/>
            </a:endParaRPr>
          </a:p>
        </p:txBody>
      </p:sp>
      <p:pic>
        <p:nvPicPr>
          <p:cNvPr id="14" name="Picture 2">
            <a:extLst>
              <a:ext uri="{FF2B5EF4-FFF2-40B4-BE49-F238E27FC236}">
                <a16:creationId xmlns:a16="http://schemas.microsoft.com/office/drawing/2014/main" id="{308B9558-4753-508D-3FD7-426ADDBF4E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23380" y="6378974"/>
            <a:ext cx="322551" cy="32255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arvard Crimson Logo and symbol, meaning, history, PNG, brand">
            <a:extLst>
              <a:ext uri="{FF2B5EF4-FFF2-40B4-BE49-F238E27FC236}">
                <a16:creationId xmlns:a16="http://schemas.microsoft.com/office/drawing/2014/main" id="{86EF3B15-B2EA-2E77-18F9-D6A404F73E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40743" y="6354418"/>
            <a:ext cx="662862" cy="37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795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CF4EE564-4D79-908C-D83D-E1E79814828A}"/>
              </a:ext>
            </a:extLst>
          </p:cNvPr>
          <p:cNvSpPr/>
          <p:nvPr/>
        </p:nvSpPr>
        <p:spPr>
          <a:xfrm>
            <a:off x="88394" y="1446661"/>
            <a:ext cx="3932298" cy="177747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874F9EC-AE86-0336-161E-874243A6CA54}"/>
              </a:ext>
            </a:extLst>
          </p:cNvPr>
          <p:cNvSpPr/>
          <p:nvPr/>
        </p:nvSpPr>
        <p:spPr>
          <a:xfrm>
            <a:off x="88394" y="3308449"/>
            <a:ext cx="3932297" cy="333172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49AC6BC-3EB4-DD12-672A-1E0AD898B5A5}"/>
              </a:ext>
            </a:extLst>
          </p:cNvPr>
          <p:cNvSpPr/>
          <p:nvPr/>
        </p:nvSpPr>
        <p:spPr>
          <a:xfrm>
            <a:off x="0" y="-1"/>
            <a:ext cx="12192000" cy="136235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Rectangle 2">
            <a:extLst>
              <a:ext uri="{FF2B5EF4-FFF2-40B4-BE49-F238E27FC236}">
                <a16:creationId xmlns:a16="http://schemas.microsoft.com/office/drawing/2014/main" id="{F853958E-B45E-1FDA-05E8-EF6B3F501C64}"/>
              </a:ext>
            </a:extLst>
          </p:cNvPr>
          <p:cNvSpPr/>
          <p:nvPr/>
        </p:nvSpPr>
        <p:spPr>
          <a:xfrm>
            <a:off x="4136959" y="6190392"/>
            <a:ext cx="7968543" cy="66760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pic>
        <p:nvPicPr>
          <p:cNvPr id="7" name="Picture 6" descr="A logo with a red and white circle&#10;&#10;Description automatically generated">
            <a:extLst>
              <a:ext uri="{FF2B5EF4-FFF2-40B4-BE49-F238E27FC236}">
                <a16:creationId xmlns:a16="http://schemas.microsoft.com/office/drawing/2014/main" id="{48D31D70-C970-BB99-A514-5F8FB70C9ED4}"/>
              </a:ext>
            </a:extLst>
          </p:cNvPr>
          <p:cNvPicPr>
            <a:picLocks noChangeAspect="1"/>
          </p:cNvPicPr>
          <p:nvPr/>
        </p:nvPicPr>
        <p:blipFill>
          <a:blip r:embed="rId3"/>
          <a:stretch>
            <a:fillRect/>
          </a:stretch>
        </p:blipFill>
        <p:spPr>
          <a:xfrm>
            <a:off x="11126716" y="383480"/>
            <a:ext cx="847680" cy="666325"/>
          </a:xfrm>
          <a:prstGeom prst="rect">
            <a:avLst/>
          </a:prstGeom>
        </p:spPr>
      </p:pic>
      <p:sp>
        <p:nvSpPr>
          <p:cNvPr id="25" name="TextBox 24">
            <a:extLst>
              <a:ext uri="{FF2B5EF4-FFF2-40B4-BE49-F238E27FC236}">
                <a16:creationId xmlns:a16="http://schemas.microsoft.com/office/drawing/2014/main" id="{E46BBE58-4802-3DB3-B197-DD9B80A3DFCF}"/>
              </a:ext>
            </a:extLst>
          </p:cNvPr>
          <p:cNvSpPr txBox="1"/>
          <p:nvPr/>
        </p:nvSpPr>
        <p:spPr>
          <a:xfrm>
            <a:off x="202696" y="1901873"/>
            <a:ext cx="3751511" cy="1042080"/>
          </a:xfrm>
          <a:prstGeom prst="rect">
            <a:avLst/>
          </a:prstGeom>
          <a:noFill/>
        </p:spPr>
        <p:txBody>
          <a:bodyPr wrap="square" lIns="91440" tIns="45720" rIns="91440" bIns="45720" rtlCol="0" anchor="t">
            <a:spAutoFit/>
          </a:bodyPr>
          <a:lstStyle/>
          <a:p>
            <a:pPr>
              <a:lnSpc>
                <a:spcPct val="68181"/>
              </a:lnSpc>
              <a:spcAft>
                <a:spcPts val="200"/>
              </a:spcAft>
            </a:pPr>
            <a:r>
              <a:rPr lang="en-US" sz="1000" dirty="0">
                <a:latin typeface="Arial" panose="020B0604020202020204" pitchFamily="34" charset="0"/>
                <a:cs typeface="Arial" panose="020B0604020202020204" pitchFamily="34" charset="0"/>
              </a:rPr>
              <a:t>This is the context for why my research is important and the justification for my research question. This is my research question. These are the methods I used to set up my experimental design. This is what I found out, the implications for my conclusion, and any future next steps. All of this should be around 2-5 sentences. Extra text because I assume you’ll have more text and we want this bad boy to be filled up! Hope you all can find this template at least somewhat useful. Have a great rest of your day! More filler text is going here.</a:t>
            </a:r>
            <a:endParaRPr lang="en-US" dirty="0"/>
          </a:p>
        </p:txBody>
      </p:sp>
      <p:sp>
        <p:nvSpPr>
          <p:cNvPr id="28" name="Rectangle 27">
            <a:extLst>
              <a:ext uri="{FF2B5EF4-FFF2-40B4-BE49-F238E27FC236}">
                <a16:creationId xmlns:a16="http://schemas.microsoft.com/office/drawing/2014/main" id="{81B3A0CF-949F-2E20-300C-9B4709DFC9E1}"/>
              </a:ext>
            </a:extLst>
          </p:cNvPr>
          <p:cNvSpPr/>
          <p:nvPr/>
        </p:nvSpPr>
        <p:spPr>
          <a:xfrm>
            <a:off x="177692" y="1510587"/>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26" name="TextBox 25">
            <a:extLst>
              <a:ext uri="{FF2B5EF4-FFF2-40B4-BE49-F238E27FC236}">
                <a16:creationId xmlns:a16="http://schemas.microsoft.com/office/drawing/2014/main" id="{B347A98B-DFA4-9982-F2EE-C2152327B8B9}"/>
              </a:ext>
            </a:extLst>
          </p:cNvPr>
          <p:cNvSpPr txBox="1"/>
          <p:nvPr/>
        </p:nvSpPr>
        <p:spPr>
          <a:xfrm>
            <a:off x="88393" y="5368448"/>
            <a:ext cx="3932297"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Fusce faucibus felis ac mauris laoreet aliquam. Curabitur usscipit elit ac eros Bibendum malesuada.</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p:txBody>
      </p:sp>
      <p:pic>
        <p:nvPicPr>
          <p:cNvPr id="39" name="Picture 2">
            <a:extLst>
              <a:ext uri="{FF2B5EF4-FFF2-40B4-BE49-F238E27FC236}">
                <a16:creationId xmlns:a16="http://schemas.microsoft.com/office/drawing/2014/main" id="{15E1BA92-0A1B-43E1-E658-B07929D23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18" y="3745013"/>
            <a:ext cx="2719772" cy="152987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827C1D6A-8A53-8B4E-193D-77667CA39A99}"/>
              </a:ext>
            </a:extLst>
          </p:cNvPr>
          <p:cNvSpPr txBox="1"/>
          <p:nvPr/>
        </p:nvSpPr>
        <p:spPr>
          <a:xfrm>
            <a:off x="177692" y="6640177"/>
            <a:ext cx="1000819"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www.nasa.gov</a:t>
            </a:r>
            <a:endParaRPr lang="en-US"/>
          </a:p>
        </p:txBody>
      </p:sp>
      <p:sp>
        <p:nvSpPr>
          <p:cNvPr id="40" name="TextBox 39">
            <a:extLst>
              <a:ext uri="{FF2B5EF4-FFF2-40B4-BE49-F238E27FC236}">
                <a16:creationId xmlns:a16="http://schemas.microsoft.com/office/drawing/2014/main" id="{B274356A-92A1-1E18-9741-0C9B5B58BA02}"/>
              </a:ext>
            </a:extLst>
          </p:cNvPr>
          <p:cNvSpPr txBox="1"/>
          <p:nvPr/>
        </p:nvSpPr>
        <p:spPr>
          <a:xfrm>
            <a:off x="202696" y="442447"/>
            <a:ext cx="10611040" cy="534826"/>
          </a:xfrm>
          <a:prstGeom prst="rect">
            <a:avLst/>
          </a:prstGeom>
          <a:noFill/>
        </p:spPr>
        <p:txBody>
          <a:bodyPr wrap="square" lIns="91440" tIns="45720" rIns="91440" bIns="45720" rtlCol="0" anchor="t">
            <a:spAutoFit/>
          </a:bodyPr>
          <a:lstStyle/>
          <a:p>
            <a:pPr algn="ctr">
              <a:lnSpc>
                <a:spcPct val="61983"/>
              </a:lnSpc>
            </a:pPr>
            <a:r>
              <a:rPr lang="en-US" sz="2200" b="1">
                <a:latin typeface="Arial" panose="020B0604020202020204" pitchFamily="34" charset="0"/>
                <a:cs typeface="Arial" panose="020B0604020202020204" pitchFamily="34" charset="0"/>
              </a:rPr>
              <a:t>Long Scientific Title, But Probably No More Than Two Lines in Length (Feel Free to Adjust Sizing and Line Spacing if Necessary)</a:t>
            </a:r>
            <a:endParaRPr lang="en-US"/>
          </a:p>
        </p:txBody>
      </p:sp>
      <p:sp>
        <p:nvSpPr>
          <p:cNvPr id="41" name="TextBox 40">
            <a:extLst>
              <a:ext uri="{FF2B5EF4-FFF2-40B4-BE49-F238E27FC236}">
                <a16:creationId xmlns:a16="http://schemas.microsoft.com/office/drawing/2014/main" id="{B55D4ABF-89B4-20CC-79C6-0986E3BEA87F}"/>
              </a:ext>
            </a:extLst>
          </p:cNvPr>
          <p:cNvSpPr txBox="1"/>
          <p:nvPr/>
        </p:nvSpPr>
        <p:spPr>
          <a:xfrm>
            <a:off x="558807" y="895017"/>
            <a:ext cx="10611041" cy="329193"/>
          </a:xfrm>
          <a:prstGeom prst="rect">
            <a:avLst/>
          </a:prstGeom>
          <a:noFill/>
        </p:spPr>
        <p:txBody>
          <a:bodyPr wrap="square" lIns="91440" tIns="45720" rIns="91440" bIns="45720" rtlCol="0" anchor="t">
            <a:spAutoFit/>
          </a:bodyPr>
          <a:lstStyle/>
          <a:p>
            <a:pPr algn="ct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Allison Li </a:t>
            </a:r>
            <a:r>
              <a:rPr lang="en-US" sz="1400">
                <a:solidFill>
                  <a:schemeClr val="bg2">
                    <a:lumMod val="50000"/>
                  </a:schemeClr>
                </a:solidFill>
                <a:latin typeface="Arial" panose="020B0604020202020204" pitchFamily="34" charset="0"/>
                <a:cs typeface="Arial" panose="020B0604020202020204" pitchFamily="34" charset="0"/>
              </a:rPr>
              <a:t>/ University of Chicago, </a:t>
            </a:r>
            <a:r>
              <a:rPr lang="en-US" sz="1400" b="1">
                <a:solidFill>
                  <a:schemeClr val="bg2">
                    <a:lumMod val="50000"/>
                  </a:schemeClr>
                </a:solidFill>
                <a:latin typeface="Arial" panose="020B0604020202020204" pitchFamily="34" charset="0"/>
                <a:cs typeface="Arial" panose="020B0604020202020204" pitchFamily="34" charset="0"/>
              </a:rPr>
              <a:t>John Doe </a:t>
            </a:r>
            <a:r>
              <a:rPr lang="en-US" sz="1400">
                <a:solidFill>
                  <a:schemeClr val="bg2">
                    <a:lumMod val="50000"/>
                  </a:schemeClr>
                </a:solidFill>
                <a:latin typeface="Arial" panose="020B0604020202020204" pitchFamily="34" charset="0"/>
                <a:cs typeface="Arial" panose="020B0604020202020204" pitchFamily="34" charset="0"/>
              </a:rPr>
              <a:t>/ Harvard University</a:t>
            </a:r>
            <a:endParaRPr lang="en-US"/>
          </a:p>
        </p:txBody>
      </p:sp>
      <p:sp>
        <p:nvSpPr>
          <p:cNvPr id="42" name="TextBox 41">
            <a:extLst>
              <a:ext uri="{FF2B5EF4-FFF2-40B4-BE49-F238E27FC236}">
                <a16:creationId xmlns:a16="http://schemas.microsoft.com/office/drawing/2014/main" id="{ADD17D77-9E8A-A7D1-4E73-BF1F0DD040AB}"/>
              </a:ext>
            </a:extLst>
          </p:cNvPr>
          <p:cNvSpPr txBox="1"/>
          <p:nvPr/>
        </p:nvSpPr>
        <p:spPr>
          <a:xfrm>
            <a:off x="202696" y="190590"/>
            <a:ext cx="4928194"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National Aeronautics and Space Administration</a:t>
            </a:r>
            <a:endParaRPr lang="en-US"/>
          </a:p>
        </p:txBody>
      </p:sp>
      <p:sp>
        <p:nvSpPr>
          <p:cNvPr id="56" name="Rectangle 55">
            <a:extLst>
              <a:ext uri="{FF2B5EF4-FFF2-40B4-BE49-F238E27FC236}">
                <a16:creationId xmlns:a16="http://schemas.microsoft.com/office/drawing/2014/main" id="{5EDDED8B-018B-2939-08C4-EA163B3AEAC6}"/>
              </a:ext>
            </a:extLst>
          </p:cNvPr>
          <p:cNvSpPr/>
          <p:nvPr/>
        </p:nvSpPr>
        <p:spPr>
          <a:xfrm>
            <a:off x="8171308" y="1445554"/>
            <a:ext cx="3932298" cy="345612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571D8DF-7869-2555-F7E2-B893036263D7}"/>
              </a:ext>
            </a:extLst>
          </p:cNvPr>
          <p:cNvSpPr/>
          <p:nvPr/>
        </p:nvSpPr>
        <p:spPr>
          <a:xfrm>
            <a:off x="8171308" y="4996543"/>
            <a:ext cx="3932297" cy="109898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64D8ECC-0BD7-6644-F230-3037C38188AF}"/>
              </a:ext>
            </a:extLst>
          </p:cNvPr>
          <p:cNvSpPr txBox="1"/>
          <p:nvPr/>
        </p:nvSpPr>
        <p:spPr>
          <a:xfrm>
            <a:off x="739730" y="1509786"/>
            <a:ext cx="2627433" cy="307777"/>
          </a:xfrm>
          <a:prstGeom prst="rect">
            <a:avLst/>
          </a:prstGeom>
          <a:noFill/>
        </p:spPr>
        <p:txBody>
          <a:bodyPr wrap="square" rtlCol="0">
            <a:spAutoFit/>
          </a:bodyPr>
          <a:lstStyle/>
          <a:p>
            <a:pPr algn="ctr"/>
            <a:r>
              <a:rPr lang="en-US" sz="1400" b="1">
                <a:latin typeface="Aptos" panose="020B0004020202020204" pitchFamily="34" charset="0"/>
              </a:rPr>
              <a:t>ABSTRACT</a:t>
            </a:r>
          </a:p>
        </p:txBody>
      </p:sp>
      <p:sp>
        <p:nvSpPr>
          <p:cNvPr id="63" name="Rectangle 62">
            <a:extLst>
              <a:ext uri="{FF2B5EF4-FFF2-40B4-BE49-F238E27FC236}">
                <a16:creationId xmlns:a16="http://schemas.microsoft.com/office/drawing/2014/main" id="{3F340016-3979-94C2-2171-BF9A00E68012}"/>
              </a:ext>
            </a:extLst>
          </p:cNvPr>
          <p:cNvSpPr/>
          <p:nvPr/>
        </p:nvSpPr>
        <p:spPr>
          <a:xfrm>
            <a:off x="177692" y="3385203"/>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4" name="TextBox 1023">
            <a:extLst>
              <a:ext uri="{FF2B5EF4-FFF2-40B4-BE49-F238E27FC236}">
                <a16:creationId xmlns:a16="http://schemas.microsoft.com/office/drawing/2014/main" id="{C35FA771-BA14-AA87-EF6C-31B11970ECE5}"/>
              </a:ext>
            </a:extLst>
          </p:cNvPr>
          <p:cNvSpPr txBox="1"/>
          <p:nvPr/>
        </p:nvSpPr>
        <p:spPr>
          <a:xfrm>
            <a:off x="717157" y="3375673"/>
            <a:ext cx="2627433" cy="307777"/>
          </a:xfrm>
          <a:prstGeom prst="rect">
            <a:avLst/>
          </a:prstGeom>
          <a:noFill/>
        </p:spPr>
        <p:txBody>
          <a:bodyPr wrap="square" rtlCol="0">
            <a:spAutoFit/>
          </a:bodyPr>
          <a:lstStyle/>
          <a:p>
            <a:pPr algn="ctr"/>
            <a:r>
              <a:rPr lang="en-US" sz="1400" b="1">
                <a:latin typeface="Aptos" panose="020B0004020202020204" pitchFamily="34" charset="0"/>
              </a:rPr>
              <a:t>INTRODUCTION</a:t>
            </a:r>
          </a:p>
        </p:txBody>
      </p:sp>
      <p:sp>
        <p:nvSpPr>
          <p:cNvPr id="1029" name="Rectangle 1028">
            <a:extLst>
              <a:ext uri="{FF2B5EF4-FFF2-40B4-BE49-F238E27FC236}">
                <a16:creationId xmlns:a16="http://schemas.microsoft.com/office/drawing/2014/main" id="{F4E1F2B1-585D-ECC5-5383-F6F2C6DD38D2}"/>
              </a:ext>
            </a:extLst>
          </p:cNvPr>
          <p:cNvSpPr/>
          <p:nvPr/>
        </p:nvSpPr>
        <p:spPr>
          <a:xfrm>
            <a:off x="8262797" y="1526201"/>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0" name="TextBox 1029">
            <a:extLst>
              <a:ext uri="{FF2B5EF4-FFF2-40B4-BE49-F238E27FC236}">
                <a16:creationId xmlns:a16="http://schemas.microsoft.com/office/drawing/2014/main" id="{55E2E2CC-54A7-B1F4-B748-EF850BC35667}"/>
              </a:ext>
            </a:extLst>
          </p:cNvPr>
          <p:cNvSpPr txBox="1"/>
          <p:nvPr/>
        </p:nvSpPr>
        <p:spPr>
          <a:xfrm>
            <a:off x="8824835" y="1525400"/>
            <a:ext cx="2627433" cy="307777"/>
          </a:xfrm>
          <a:prstGeom prst="rect">
            <a:avLst/>
          </a:prstGeom>
          <a:noFill/>
        </p:spPr>
        <p:txBody>
          <a:bodyPr wrap="square" rtlCol="0">
            <a:spAutoFit/>
          </a:bodyPr>
          <a:lstStyle/>
          <a:p>
            <a:pPr algn="ctr"/>
            <a:r>
              <a:rPr lang="en-US" sz="1400" b="1">
                <a:latin typeface="Aptos" panose="020B0004020202020204" pitchFamily="34" charset="0"/>
              </a:rPr>
              <a:t>CONCLUSIONS</a:t>
            </a:r>
          </a:p>
        </p:txBody>
      </p:sp>
      <p:sp>
        <p:nvSpPr>
          <p:cNvPr id="1031" name="Rectangle 1030">
            <a:extLst>
              <a:ext uri="{FF2B5EF4-FFF2-40B4-BE49-F238E27FC236}">
                <a16:creationId xmlns:a16="http://schemas.microsoft.com/office/drawing/2014/main" id="{DE9035B0-9C95-67DD-238A-C4257F43E529}"/>
              </a:ext>
            </a:extLst>
          </p:cNvPr>
          <p:cNvSpPr/>
          <p:nvPr/>
        </p:nvSpPr>
        <p:spPr>
          <a:xfrm>
            <a:off x="8262797" y="5079730"/>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3" name="TextBox 1032">
            <a:extLst>
              <a:ext uri="{FF2B5EF4-FFF2-40B4-BE49-F238E27FC236}">
                <a16:creationId xmlns:a16="http://schemas.microsoft.com/office/drawing/2014/main" id="{952F4C1C-5EC4-5C37-1573-DA8377E8F2DE}"/>
              </a:ext>
            </a:extLst>
          </p:cNvPr>
          <p:cNvSpPr txBox="1"/>
          <p:nvPr/>
        </p:nvSpPr>
        <p:spPr>
          <a:xfrm>
            <a:off x="8824835" y="5078929"/>
            <a:ext cx="2627433" cy="307777"/>
          </a:xfrm>
          <a:prstGeom prst="rect">
            <a:avLst/>
          </a:prstGeom>
          <a:noFill/>
        </p:spPr>
        <p:txBody>
          <a:bodyPr wrap="square" rtlCol="0">
            <a:spAutoFit/>
          </a:bodyPr>
          <a:lstStyle/>
          <a:p>
            <a:pPr algn="ctr"/>
            <a:r>
              <a:rPr lang="en-US" sz="1400" b="1">
                <a:latin typeface="Aptos" panose="020B0004020202020204" pitchFamily="34" charset="0"/>
              </a:rPr>
              <a:t>REFERENCES</a:t>
            </a:r>
          </a:p>
        </p:txBody>
      </p:sp>
      <p:sp>
        <p:nvSpPr>
          <p:cNvPr id="1045" name="TextBox 1044">
            <a:extLst>
              <a:ext uri="{FF2B5EF4-FFF2-40B4-BE49-F238E27FC236}">
                <a16:creationId xmlns:a16="http://schemas.microsoft.com/office/drawing/2014/main" id="{76CB7F8B-5EB0-138A-0D17-1D48484C8540}"/>
              </a:ext>
            </a:extLst>
          </p:cNvPr>
          <p:cNvSpPr txBox="1"/>
          <p:nvPr/>
        </p:nvSpPr>
        <p:spPr>
          <a:xfrm>
            <a:off x="8445913" y="1965117"/>
            <a:ext cx="1872583" cy="1088439"/>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Curabitur dapibus lectus sit amet augue vehicula tincidunt.</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a:t>
            </a:r>
          </a:p>
        </p:txBody>
      </p:sp>
      <p:pic>
        <p:nvPicPr>
          <p:cNvPr id="1046" name="Picture 12" descr="Area chart - Wikipedia">
            <a:extLst>
              <a:ext uri="{FF2B5EF4-FFF2-40B4-BE49-F238E27FC236}">
                <a16:creationId xmlns:a16="http://schemas.microsoft.com/office/drawing/2014/main" id="{C6898DD0-295F-ABE1-3E99-8A01D16CC7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6027" y="3239518"/>
            <a:ext cx="3191583" cy="1595792"/>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4" descr="Pie chart - Wikipedia">
            <a:extLst>
              <a:ext uri="{FF2B5EF4-FFF2-40B4-BE49-F238E27FC236}">
                <a16:creationId xmlns:a16="http://schemas.microsoft.com/office/drawing/2014/main" id="{A184F640-66BB-11E6-345D-FAB2663C66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4436" y="1893717"/>
            <a:ext cx="1431737" cy="1383383"/>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3F3DB71D-2728-83A4-64B0-BD805D6E1704}"/>
              </a:ext>
            </a:extLst>
          </p:cNvPr>
          <p:cNvSpPr txBox="1"/>
          <p:nvPr/>
        </p:nvSpPr>
        <p:spPr>
          <a:xfrm>
            <a:off x="8185523" y="5386706"/>
            <a:ext cx="3918082" cy="612475"/>
          </a:xfrm>
          <a:prstGeom prst="rect">
            <a:avLst/>
          </a:prstGeom>
          <a:noFill/>
        </p:spPr>
        <p:txBody>
          <a:bodyPr wrap="square" lIns="91440" tIns="45720" rIns="91440" bIns="45720" rtlCol="0" anchor="t">
            <a:spAutoFit/>
          </a:bodyPr>
          <a:lstStyle/>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endParaRPr lang="en-US"/>
          </a:p>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p>
          <a:p>
            <a:pPr>
              <a:lnSpc>
                <a:spcPct val="79545"/>
              </a:lnSpc>
              <a:spcAft>
                <a:spcPts val="300"/>
              </a:spcAft>
            </a:pPr>
            <a:r>
              <a:rPr lang="en-US" sz="600">
                <a:latin typeface="Arial" panose="020B0604020202020204" pitchFamily="34" charset="0"/>
                <a:cs typeface="Arial" panose="020B0604020202020204" pitchFamily="34" charset="0"/>
              </a:rPr>
              <a:t>Code of ethics. (2011). In V. L. Burton (Ed.), Encyclopedia of small business (4th ed., Vol. 1, pp. 235-237). Detroit, MI: Gale.</a:t>
            </a:r>
          </a:p>
        </p:txBody>
      </p:sp>
      <p:sp>
        <p:nvSpPr>
          <p:cNvPr id="8" name="TextBox 7">
            <a:extLst>
              <a:ext uri="{FF2B5EF4-FFF2-40B4-BE49-F238E27FC236}">
                <a16:creationId xmlns:a16="http://schemas.microsoft.com/office/drawing/2014/main" id="{84744B8B-D0E7-20D8-9800-193000553008}"/>
              </a:ext>
            </a:extLst>
          </p:cNvPr>
          <p:cNvSpPr txBox="1"/>
          <p:nvPr/>
        </p:nvSpPr>
        <p:spPr>
          <a:xfrm>
            <a:off x="4135061" y="6450218"/>
            <a:ext cx="7149351" cy="345992"/>
          </a:xfrm>
          <a:prstGeom prst="rect">
            <a:avLst/>
          </a:prstGeom>
          <a:noFill/>
        </p:spPr>
        <p:txBody>
          <a:bodyPr wrap="square" lIns="91440" tIns="45720" rIns="91440" bIns="45720" rtlCol="0" anchor="t">
            <a:spAutoFit/>
          </a:bodyPr>
          <a:lstStyle/>
          <a:p>
            <a:pPr>
              <a:lnSpc>
                <a:spcPct val="68181"/>
              </a:lnSpc>
            </a:pPr>
            <a:r>
              <a:rPr lang="en-US" sz="800">
                <a:solidFill>
                  <a:schemeClr val="bg2">
                    <a:lumMod val="50000"/>
                  </a:schemeClr>
                </a:solidFill>
                <a:latin typeface="Arial" panose="020B0604020202020204" pitchFamily="34" charset="0"/>
                <a:cs typeface="Arial" panose="020B0604020202020204" pitchFamily="34" charset="0"/>
              </a:rPr>
              <a:t>The authors would like to thank X’s mentorship throughout the course of the summer, as well as NASA OSTEM for this opportunity (list your acknowledgments; they’ll probably take up longer than what I’ve listed so I’m adding this filler text). This should hopefully be ample space now, but there’s plenty of space so feel free to add as many as you need to. Please submit any questions to </a:t>
            </a:r>
            <a:r>
              <a:rPr lang="en-US" sz="800" b="1">
                <a:solidFill>
                  <a:schemeClr val="bg2">
                    <a:lumMod val="50000"/>
                  </a:schemeClr>
                </a:solidFill>
                <a:latin typeface="Arial" panose="020B0604020202020204" pitchFamily="34" charset="0"/>
                <a:cs typeface="Arial" panose="020B0604020202020204" pitchFamily="34" charset="0"/>
              </a:rPr>
              <a:t>allisonli@uchicago.edu </a:t>
            </a:r>
            <a:r>
              <a:rPr lang="en-US" sz="800">
                <a:solidFill>
                  <a:schemeClr val="bg2">
                    <a:lumMod val="50000"/>
                  </a:schemeClr>
                </a:solidFill>
                <a:latin typeface="Arial" panose="020B0604020202020204" pitchFamily="34" charset="0"/>
                <a:cs typeface="Arial" panose="020B0604020202020204" pitchFamily="34" charset="0"/>
              </a:rPr>
              <a:t>or </a:t>
            </a:r>
            <a:r>
              <a:rPr lang="en-US" sz="800" b="1">
                <a:solidFill>
                  <a:schemeClr val="bg2">
                    <a:lumMod val="50000"/>
                  </a:schemeClr>
                </a:solidFill>
                <a:latin typeface="Arial" panose="020B0604020202020204" pitchFamily="34" charset="0"/>
                <a:cs typeface="Arial" panose="020B0604020202020204" pitchFamily="34" charset="0"/>
              </a:rPr>
              <a:t>johndoe@harvard.edu.</a:t>
            </a:r>
            <a:endParaRPr lang="en-US" sz="800">
              <a:solidFill>
                <a:schemeClr val="bg2">
                  <a:lumMod val="50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0650CE2-267C-7F66-908A-A4D9ED4EDF3F}"/>
              </a:ext>
            </a:extLst>
          </p:cNvPr>
          <p:cNvSpPr txBox="1"/>
          <p:nvPr/>
        </p:nvSpPr>
        <p:spPr>
          <a:xfrm>
            <a:off x="4136958" y="6129514"/>
            <a:ext cx="7966647" cy="322268"/>
          </a:xfrm>
          <a:prstGeom prst="rect">
            <a:avLst/>
          </a:prstGeom>
          <a:noFill/>
        </p:spPr>
        <p:txBody>
          <a:bodyPr wrap="square" lIns="91440" tIns="45720" rIns="91440" bIns="45720" rtlCol="0" anchor="t">
            <a:spAutoFit/>
          </a:bodyPr>
          <a:lstStyle/>
          <a:p>
            <a:pP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Acknowledgements</a:t>
            </a:r>
            <a:endParaRPr lang="en-US" sz="1400">
              <a:solidFill>
                <a:schemeClr val="bg2">
                  <a:lumMod val="50000"/>
                </a:schemeClr>
              </a:solidFill>
              <a:latin typeface="Arial" panose="020B0604020202020204" pitchFamily="34" charset="0"/>
              <a:cs typeface="Arial" panose="020B0604020202020204" pitchFamily="34" charset="0"/>
            </a:endParaRPr>
          </a:p>
        </p:txBody>
      </p:sp>
      <p:pic>
        <p:nvPicPr>
          <p:cNvPr id="14" name="Picture 2">
            <a:extLst>
              <a:ext uri="{FF2B5EF4-FFF2-40B4-BE49-F238E27FC236}">
                <a16:creationId xmlns:a16="http://schemas.microsoft.com/office/drawing/2014/main" id="{93B2844A-1DE9-C9B1-ECA1-5D70D80BE7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23380" y="6378974"/>
            <a:ext cx="322551" cy="32255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arvard Crimson Logo and symbol, meaning, history, PNG, brand">
            <a:extLst>
              <a:ext uri="{FF2B5EF4-FFF2-40B4-BE49-F238E27FC236}">
                <a16:creationId xmlns:a16="http://schemas.microsoft.com/office/drawing/2014/main" id="{AEA431C6-B70E-84E8-16B9-B539469FC1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40743" y="6354418"/>
            <a:ext cx="662862" cy="37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846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CF4EE564-4D79-908C-D83D-E1E79814828A}"/>
              </a:ext>
            </a:extLst>
          </p:cNvPr>
          <p:cNvSpPr/>
          <p:nvPr/>
        </p:nvSpPr>
        <p:spPr>
          <a:xfrm>
            <a:off x="88394" y="1446661"/>
            <a:ext cx="3932298" cy="17774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874F9EC-AE86-0336-161E-874243A6CA54}"/>
              </a:ext>
            </a:extLst>
          </p:cNvPr>
          <p:cNvSpPr/>
          <p:nvPr/>
        </p:nvSpPr>
        <p:spPr>
          <a:xfrm>
            <a:off x="88394" y="3308449"/>
            <a:ext cx="3932297" cy="33317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49AC6BC-3EB4-DD12-672A-1E0AD898B5A5}"/>
              </a:ext>
            </a:extLst>
          </p:cNvPr>
          <p:cNvSpPr/>
          <p:nvPr/>
        </p:nvSpPr>
        <p:spPr>
          <a:xfrm>
            <a:off x="0" y="-1"/>
            <a:ext cx="12192000" cy="13623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Rectangle 2">
            <a:extLst>
              <a:ext uri="{FF2B5EF4-FFF2-40B4-BE49-F238E27FC236}">
                <a16:creationId xmlns:a16="http://schemas.microsoft.com/office/drawing/2014/main" id="{F853958E-B45E-1FDA-05E8-EF6B3F501C64}"/>
              </a:ext>
            </a:extLst>
          </p:cNvPr>
          <p:cNvSpPr/>
          <p:nvPr/>
        </p:nvSpPr>
        <p:spPr>
          <a:xfrm>
            <a:off x="4136959" y="6190392"/>
            <a:ext cx="7968543" cy="6676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pic>
        <p:nvPicPr>
          <p:cNvPr id="7" name="Picture 6" descr="A logo with a red and white circle&#10;&#10;Description automatically generated">
            <a:extLst>
              <a:ext uri="{FF2B5EF4-FFF2-40B4-BE49-F238E27FC236}">
                <a16:creationId xmlns:a16="http://schemas.microsoft.com/office/drawing/2014/main" id="{48D31D70-C970-BB99-A514-5F8FB70C9ED4}"/>
              </a:ext>
            </a:extLst>
          </p:cNvPr>
          <p:cNvPicPr>
            <a:picLocks noChangeAspect="1"/>
          </p:cNvPicPr>
          <p:nvPr/>
        </p:nvPicPr>
        <p:blipFill>
          <a:blip r:embed="rId3"/>
          <a:stretch>
            <a:fillRect/>
          </a:stretch>
        </p:blipFill>
        <p:spPr>
          <a:xfrm>
            <a:off x="11169848" y="412234"/>
            <a:ext cx="768605" cy="637571"/>
          </a:xfrm>
          <a:prstGeom prst="rect">
            <a:avLst/>
          </a:prstGeom>
        </p:spPr>
      </p:pic>
      <p:sp>
        <p:nvSpPr>
          <p:cNvPr id="25" name="TextBox 24">
            <a:extLst>
              <a:ext uri="{FF2B5EF4-FFF2-40B4-BE49-F238E27FC236}">
                <a16:creationId xmlns:a16="http://schemas.microsoft.com/office/drawing/2014/main" id="{E46BBE58-4802-3DB3-B197-DD9B80A3DFCF}"/>
              </a:ext>
            </a:extLst>
          </p:cNvPr>
          <p:cNvSpPr txBox="1"/>
          <p:nvPr/>
        </p:nvSpPr>
        <p:spPr>
          <a:xfrm>
            <a:off x="202696" y="1901873"/>
            <a:ext cx="3751511" cy="1042080"/>
          </a:xfrm>
          <a:prstGeom prst="rect">
            <a:avLst/>
          </a:prstGeom>
          <a:noFill/>
        </p:spPr>
        <p:txBody>
          <a:bodyPr wrap="square" lIns="91440" tIns="45720" rIns="91440" bIns="45720" rtlCol="0" anchor="t">
            <a:spAutoFit/>
          </a:bodyPr>
          <a:lstStyle/>
          <a:p>
            <a:pPr>
              <a:lnSpc>
                <a:spcPct val="68181"/>
              </a:lnSpc>
              <a:spcAft>
                <a:spcPts val="200"/>
              </a:spcAft>
            </a:pPr>
            <a:r>
              <a:rPr lang="en-US" sz="1000">
                <a:latin typeface="Arial" panose="020B0604020202020204" pitchFamily="34" charset="0"/>
                <a:cs typeface="Arial" panose="020B0604020202020204" pitchFamily="34" charset="0"/>
              </a:rPr>
              <a:t>This is the context for why my research is important and the justification for my research question. This is my research question. These are the methods I used to set up my experimental design. This is what I found out, the implications for my conclusion, and any future next steps. All of this should be around 2-5 sentences. Extra text because I assume you’ll have more text and we want this bad boy to be filled up! Hope you all can find this template at least somewhat useful. Have a great rest of your day! More filler text is going here.</a:t>
            </a:r>
            <a:endParaRPr lang="en-US"/>
          </a:p>
        </p:txBody>
      </p:sp>
      <p:sp>
        <p:nvSpPr>
          <p:cNvPr id="28" name="Rectangle 27">
            <a:extLst>
              <a:ext uri="{FF2B5EF4-FFF2-40B4-BE49-F238E27FC236}">
                <a16:creationId xmlns:a16="http://schemas.microsoft.com/office/drawing/2014/main" id="{81B3A0CF-949F-2E20-300C-9B4709DFC9E1}"/>
              </a:ext>
            </a:extLst>
          </p:cNvPr>
          <p:cNvSpPr/>
          <p:nvPr/>
        </p:nvSpPr>
        <p:spPr>
          <a:xfrm>
            <a:off x="177692" y="1510587"/>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26" name="TextBox 25">
            <a:extLst>
              <a:ext uri="{FF2B5EF4-FFF2-40B4-BE49-F238E27FC236}">
                <a16:creationId xmlns:a16="http://schemas.microsoft.com/office/drawing/2014/main" id="{B347A98B-DFA4-9982-F2EE-C2152327B8B9}"/>
              </a:ext>
            </a:extLst>
          </p:cNvPr>
          <p:cNvSpPr txBox="1"/>
          <p:nvPr/>
        </p:nvSpPr>
        <p:spPr>
          <a:xfrm>
            <a:off x="88393" y="5368448"/>
            <a:ext cx="3932297"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Fusce faucibus felis ac mauris laoreet aliquam. Curabitur usscipit elit ac eros Bibendum malesuada.</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p:txBody>
      </p:sp>
      <p:pic>
        <p:nvPicPr>
          <p:cNvPr id="39" name="Picture 2">
            <a:extLst>
              <a:ext uri="{FF2B5EF4-FFF2-40B4-BE49-F238E27FC236}">
                <a16:creationId xmlns:a16="http://schemas.microsoft.com/office/drawing/2014/main" id="{15E1BA92-0A1B-43E1-E658-B07929D23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18" y="3745013"/>
            <a:ext cx="2719772" cy="152987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827C1D6A-8A53-8B4E-193D-77667CA39A99}"/>
              </a:ext>
            </a:extLst>
          </p:cNvPr>
          <p:cNvSpPr txBox="1"/>
          <p:nvPr/>
        </p:nvSpPr>
        <p:spPr>
          <a:xfrm>
            <a:off x="177692" y="6640177"/>
            <a:ext cx="1000819"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www.nasa.gov</a:t>
            </a:r>
            <a:endParaRPr lang="en-US"/>
          </a:p>
        </p:txBody>
      </p:sp>
      <p:sp>
        <p:nvSpPr>
          <p:cNvPr id="40" name="TextBox 39">
            <a:extLst>
              <a:ext uri="{FF2B5EF4-FFF2-40B4-BE49-F238E27FC236}">
                <a16:creationId xmlns:a16="http://schemas.microsoft.com/office/drawing/2014/main" id="{B274356A-92A1-1E18-9741-0C9B5B58BA02}"/>
              </a:ext>
            </a:extLst>
          </p:cNvPr>
          <p:cNvSpPr txBox="1"/>
          <p:nvPr/>
        </p:nvSpPr>
        <p:spPr>
          <a:xfrm>
            <a:off x="202696" y="442447"/>
            <a:ext cx="10611040" cy="534826"/>
          </a:xfrm>
          <a:prstGeom prst="rect">
            <a:avLst/>
          </a:prstGeom>
          <a:noFill/>
        </p:spPr>
        <p:txBody>
          <a:bodyPr wrap="square" lIns="91440" tIns="45720" rIns="91440" bIns="45720" rtlCol="0" anchor="t">
            <a:spAutoFit/>
          </a:bodyPr>
          <a:lstStyle/>
          <a:p>
            <a:pPr algn="ctr">
              <a:lnSpc>
                <a:spcPct val="61983"/>
              </a:lnSpc>
            </a:pPr>
            <a:r>
              <a:rPr lang="en-US" sz="2200" b="1">
                <a:latin typeface="Arial"/>
                <a:cs typeface="Arial"/>
              </a:rPr>
              <a:t>Long Scientific Title, But Probably No More Than Two Lines in Length (Feel Free to Adjust Sizing and Line Spacing if Necessary)</a:t>
            </a:r>
            <a:endParaRPr lang="en-US">
              <a:latin typeface="Aptos"/>
              <a:cs typeface="Arial"/>
            </a:endParaRPr>
          </a:p>
        </p:txBody>
      </p:sp>
      <p:sp>
        <p:nvSpPr>
          <p:cNvPr id="41" name="TextBox 40">
            <a:extLst>
              <a:ext uri="{FF2B5EF4-FFF2-40B4-BE49-F238E27FC236}">
                <a16:creationId xmlns:a16="http://schemas.microsoft.com/office/drawing/2014/main" id="{B55D4ABF-89B4-20CC-79C6-0986E3BEA87F}"/>
              </a:ext>
            </a:extLst>
          </p:cNvPr>
          <p:cNvSpPr txBox="1"/>
          <p:nvPr/>
        </p:nvSpPr>
        <p:spPr>
          <a:xfrm>
            <a:off x="558807" y="895017"/>
            <a:ext cx="10611041" cy="329193"/>
          </a:xfrm>
          <a:prstGeom prst="rect">
            <a:avLst/>
          </a:prstGeom>
          <a:noFill/>
        </p:spPr>
        <p:txBody>
          <a:bodyPr wrap="square" lIns="91440" tIns="45720" rIns="91440" bIns="45720" rtlCol="0" anchor="t">
            <a:spAutoFit/>
          </a:bodyPr>
          <a:lstStyle/>
          <a:p>
            <a:pPr algn="ct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Allison Li </a:t>
            </a:r>
            <a:r>
              <a:rPr lang="en-US" sz="1400">
                <a:solidFill>
                  <a:schemeClr val="bg2">
                    <a:lumMod val="50000"/>
                  </a:schemeClr>
                </a:solidFill>
                <a:latin typeface="Arial" panose="020B0604020202020204" pitchFamily="34" charset="0"/>
                <a:cs typeface="Arial" panose="020B0604020202020204" pitchFamily="34" charset="0"/>
              </a:rPr>
              <a:t>/ University of Chicago, </a:t>
            </a:r>
            <a:r>
              <a:rPr lang="en-US" sz="1400" b="1">
                <a:solidFill>
                  <a:schemeClr val="bg2">
                    <a:lumMod val="50000"/>
                  </a:schemeClr>
                </a:solidFill>
                <a:latin typeface="Arial" panose="020B0604020202020204" pitchFamily="34" charset="0"/>
                <a:cs typeface="Arial" panose="020B0604020202020204" pitchFamily="34" charset="0"/>
              </a:rPr>
              <a:t>John Doe </a:t>
            </a:r>
            <a:r>
              <a:rPr lang="en-US" sz="1400">
                <a:solidFill>
                  <a:schemeClr val="bg2">
                    <a:lumMod val="50000"/>
                  </a:schemeClr>
                </a:solidFill>
                <a:latin typeface="Arial" panose="020B0604020202020204" pitchFamily="34" charset="0"/>
                <a:cs typeface="Arial" panose="020B0604020202020204" pitchFamily="34" charset="0"/>
              </a:rPr>
              <a:t>/ Harvard University</a:t>
            </a:r>
            <a:endParaRPr lang="en-US"/>
          </a:p>
        </p:txBody>
      </p:sp>
      <p:sp>
        <p:nvSpPr>
          <p:cNvPr id="42" name="TextBox 41">
            <a:extLst>
              <a:ext uri="{FF2B5EF4-FFF2-40B4-BE49-F238E27FC236}">
                <a16:creationId xmlns:a16="http://schemas.microsoft.com/office/drawing/2014/main" id="{ADD17D77-9E8A-A7D1-4E73-BF1F0DD040AB}"/>
              </a:ext>
            </a:extLst>
          </p:cNvPr>
          <p:cNvSpPr txBox="1"/>
          <p:nvPr/>
        </p:nvSpPr>
        <p:spPr>
          <a:xfrm>
            <a:off x="202696" y="190590"/>
            <a:ext cx="4928194"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National Aeronautics and Space Administration</a:t>
            </a:r>
            <a:endParaRPr lang="en-US"/>
          </a:p>
        </p:txBody>
      </p:sp>
      <p:sp>
        <p:nvSpPr>
          <p:cNvPr id="54" name="Rectangle 53">
            <a:extLst>
              <a:ext uri="{FF2B5EF4-FFF2-40B4-BE49-F238E27FC236}">
                <a16:creationId xmlns:a16="http://schemas.microsoft.com/office/drawing/2014/main" id="{58951977-A0A0-4FA0-81E8-7E0C3EC820B4}"/>
              </a:ext>
            </a:extLst>
          </p:cNvPr>
          <p:cNvSpPr/>
          <p:nvPr/>
        </p:nvSpPr>
        <p:spPr>
          <a:xfrm>
            <a:off x="4136960" y="1462040"/>
            <a:ext cx="3932298" cy="177747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8579C51-BE45-E0E5-42C2-5370A791731C}"/>
              </a:ext>
            </a:extLst>
          </p:cNvPr>
          <p:cNvSpPr/>
          <p:nvPr/>
        </p:nvSpPr>
        <p:spPr>
          <a:xfrm>
            <a:off x="4122739" y="3532067"/>
            <a:ext cx="3946516" cy="256346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DDED8B-018B-2939-08C4-EA163B3AEAC6}"/>
              </a:ext>
            </a:extLst>
          </p:cNvPr>
          <p:cNvSpPr/>
          <p:nvPr/>
        </p:nvSpPr>
        <p:spPr>
          <a:xfrm>
            <a:off x="8171308" y="1445554"/>
            <a:ext cx="3932298" cy="34561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571D8DF-7869-2555-F7E2-B893036263D7}"/>
              </a:ext>
            </a:extLst>
          </p:cNvPr>
          <p:cNvSpPr/>
          <p:nvPr/>
        </p:nvSpPr>
        <p:spPr>
          <a:xfrm>
            <a:off x="8171308" y="4996543"/>
            <a:ext cx="3932297" cy="10989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076A961-A973-0743-59E0-7A85CBAA5579}"/>
              </a:ext>
            </a:extLst>
          </p:cNvPr>
          <p:cNvSpPr/>
          <p:nvPr/>
        </p:nvSpPr>
        <p:spPr>
          <a:xfrm>
            <a:off x="4122741" y="1463146"/>
            <a:ext cx="3946517" cy="19740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64D8ECC-0BD7-6644-F230-3037C38188AF}"/>
              </a:ext>
            </a:extLst>
          </p:cNvPr>
          <p:cNvSpPr txBox="1"/>
          <p:nvPr/>
        </p:nvSpPr>
        <p:spPr>
          <a:xfrm>
            <a:off x="739730" y="1509786"/>
            <a:ext cx="2627433" cy="307777"/>
          </a:xfrm>
          <a:prstGeom prst="rect">
            <a:avLst/>
          </a:prstGeom>
          <a:noFill/>
        </p:spPr>
        <p:txBody>
          <a:bodyPr wrap="square" rtlCol="0">
            <a:spAutoFit/>
          </a:bodyPr>
          <a:lstStyle/>
          <a:p>
            <a:pPr algn="ctr"/>
            <a:r>
              <a:rPr lang="en-US" sz="1400" b="1">
                <a:latin typeface="Aptos" panose="020B0004020202020204" pitchFamily="34" charset="0"/>
              </a:rPr>
              <a:t>ABSTRACT</a:t>
            </a:r>
          </a:p>
        </p:txBody>
      </p:sp>
      <p:sp>
        <p:nvSpPr>
          <p:cNvPr id="63" name="Rectangle 62">
            <a:extLst>
              <a:ext uri="{FF2B5EF4-FFF2-40B4-BE49-F238E27FC236}">
                <a16:creationId xmlns:a16="http://schemas.microsoft.com/office/drawing/2014/main" id="{3F340016-3979-94C2-2171-BF9A00E68012}"/>
              </a:ext>
            </a:extLst>
          </p:cNvPr>
          <p:cNvSpPr/>
          <p:nvPr/>
        </p:nvSpPr>
        <p:spPr>
          <a:xfrm>
            <a:off x="177692" y="3385203"/>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4" name="TextBox 1023">
            <a:extLst>
              <a:ext uri="{FF2B5EF4-FFF2-40B4-BE49-F238E27FC236}">
                <a16:creationId xmlns:a16="http://schemas.microsoft.com/office/drawing/2014/main" id="{C35FA771-BA14-AA87-EF6C-31B11970ECE5}"/>
              </a:ext>
            </a:extLst>
          </p:cNvPr>
          <p:cNvSpPr txBox="1"/>
          <p:nvPr/>
        </p:nvSpPr>
        <p:spPr>
          <a:xfrm>
            <a:off x="717157" y="3375673"/>
            <a:ext cx="2627433" cy="307777"/>
          </a:xfrm>
          <a:prstGeom prst="rect">
            <a:avLst/>
          </a:prstGeom>
          <a:noFill/>
        </p:spPr>
        <p:txBody>
          <a:bodyPr wrap="square" rtlCol="0">
            <a:spAutoFit/>
          </a:bodyPr>
          <a:lstStyle/>
          <a:p>
            <a:pPr algn="ctr"/>
            <a:r>
              <a:rPr lang="en-US" sz="1400" b="1">
                <a:latin typeface="Aptos" panose="020B0004020202020204" pitchFamily="34" charset="0"/>
              </a:rPr>
              <a:t>INTRODUCTION</a:t>
            </a:r>
          </a:p>
        </p:txBody>
      </p:sp>
      <p:sp>
        <p:nvSpPr>
          <p:cNvPr id="1025" name="Rectangle 1024">
            <a:extLst>
              <a:ext uri="{FF2B5EF4-FFF2-40B4-BE49-F238E27FC236}">
                <a16:creationId xmlns:a16="http://schemas.microsoft.com/office/drawing/2014/main" id="{158D20F0-1044-A38C-81D9-02C6E1994FA7}"/>
              </a:ext>
            </a:extLst>
          </p:cNvPr>
          <p:cNvSpPr/>
          <p:nvPr/>
        </p:nvSpPr>
        <p:spPr>
          <a:xfrm>
            <a:off x="4220244" y="1529718"/>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6" name="TextBox 1025">
            <a:extLst>
              <a:ext uri="{FF2B5EF4-FFF2-40B4-BE49-F238E27FC236}">
                <a16:creationId xmlns:a16="http://schemas.microsoft.com/office/drawing/2014/main" id="{743255C0-B742-1DB9-A127-561B8BA85E56}"/>
              </a:ext>
            </a:extLst>
          </p:cNvPr>
          <p:cNvSpPr txBox="1"/>
          <p:nvPr/>
        </p:nvSpPr>
        <p:spPr>
          <a:xfrm>
            <a:off x="4782282" y="1528917"/>
            <a:ext cx="2627433" cy="307777"/>
          </a:xfrm>
          <a:prstGeom prst="rect">
            <a:avLst/>
          </a:prstGeom>
          <a:noFill/>
        </p:spPr>
        <p:txBody>
          <a:bodyPr wrap="square" rtlCol="0">
            <a:spAutoFit/>
          </a:bodyPr>
          <a:lstStyle/>
          <a:p>
            <a:pPr algn="ctr"/>
            <a:r>
              <a:rPr lang="en-US" sz="1400" b="1">
                <a:latin typeface="Aptos" panose="020B0004020202020204" pitchFamily="34" charset="0"/>
              </a:rPr>
              <a:t>METHODS</a:t>
            </a:r>
          </a:p>
        </p:txBody>
      </p:sp>
      <p:sp>
        <p:nvSpPr>
          <p:cNvPr id="1027" name="Rectangle 1026">
            <a:extLst>
              <a:ext uri="{FF2B5EF4-FFF2-40B4-BE49-F238E27FC236}">
                <a16:creationId xmlns:a16="http://schemas.microsoft.com/office/drawing/2014/main" id="{ACD31702-F2ED-5689-5A2F-85C7329F8014}"/>
              </a:ext>
            </a:extLst>
          </p:cNvPr>
          <p:cNvSpPr/>
          <p:nvPr/>
        </p:nvSpPr>
        <p:spPr>
          <a:xfrm>
            <a:off x="4220244" y="3600654"/>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8" name="TextBox 1027">
            <a:extLst>
              <a:ext uri="{FF2B5EF4-FFF2-40B4-BE49-F238E27FC236}">
                <a16:creationId xmlns:a16="http://schemas.microsoft.com/office/drawing/2014/main" id="{BAB4183C-2417-9CA1-CF07-713DD88A769F}"/>
              </a:ext>
            </a:extLst>
          </p:cNvPr>
          <p:cNvSpPr txBox="1"/>
          <p:nvPr/>
        </p:nvSpPr>
        <p:spPr>
          <a:xfrm>
            <a:off x="4782282" y="3599853"/>
            <a:ext cx="2627433" cy="307777"/>
          </a:xfrm>
          <a:prstGeom prst="rect">
            <a:avLst/>
          </a:prstGeom>
          <a:noFill/>
        </p:spPr>
        <p:txBody>
          <a:bodyPr wrap="square" rtlCol="0">
            <a:spAutoFit/>
          </a:bodyPr>
          <a:lstStyle/>
          <a:p>
            <a:pPr algn="ctr"/>
            <a:r>
              <a:rPr lang="en-US" sz="1400" b="1">
                <a:latin typeface="Aptos" panose="020B0004020202020204" pitchFamily="34" charset="0"/>
              </a:rPr>
              <a:t>RESULTS</a:t>
            </a:r>
          </a:p>
        </p:txBody>
      </p:sp>
      <p:sp>
        <p:nvSpPr>
          <p:cNvPr id="1029" name="Rectangle 1028">
            <a:extLst>
              <a:ext uri="{FF2B5EF4-FFF2-40B4-BE49-F238E27FC236}">
                <a16:creationId xmlns:a16="http://schemas.microsoft.com/office/drawing/2014/main" id="{F4E1F2B1-585D-ECC5-5383-F6F2C6DD38D2}"/>
              </a:ext>
            </a:extLst>
          </p:cNvPr>
          <p:cNvSpPr/>
          <p:nvPr/>
        </p:nvSpPr>
        <p:spPr>
          <a:xfrm>
            <a:off x="8262797" y="1526201"/>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0" name="TextBox 1029">
            <a:extLst>
              <a:ext uri="{FF2B5EF4-FFF2-40B4-BE49-F238E27FC236}">
                <a16:creationId xmlns:a16="http://schemas.microsoft.com/office/drawing/2014/main" id="{55E2E2CC-54A7-B1F4-B748-EF850BC35667}"/>
              </a:ext>
            </a:extLst>
          </p:cNvPr>
          <p:cNvSpPr txBox="1"/>
          <p:nvPr/>
        </p:nvSpPr>
        <p:spPr>
          <a:xfrm>
            <a:off x="8824835" y="1525400"/>
            <a:ext cx="2627433" cy="307777"/>
          </a:xfrm>
          <a:prstGeom prst="rect">
            <a:avLst/>
          </a:prstGeom>
          <a:noFill/>
        </p:spPr>
        <p:txBody>
          <a:bodyPr wrap="square" rtlCol="0">
            <a:spAutoFit/>
          </a:bodyPr>
          <a:lstStyle/>
          <a:p>
            <a:pPr algn="ctr"/>
            <a:r>
              <a:rPr lang="en-US" sz="1400" b="1">
                <a:latin typeface="Aptos" panose="020B0004020202020204" pitchFamily="34" charset="0"/>
              </a:rPr>
              <a:t>CONCLUSIONS</a:t>
            </a:r>
          </a:p>
        </p:txBody>
      </p:sp>
      <p:sp>
        <p:nvSpPr>
          <p:cNvPr id="1031" name="Rectangle 1030">
            <a:extLst>
              <a:ext uri="{FF2B5EF4-FFF2-40B4-BE49-F238E27FC236}">
                <a16:creationId xmlns:a16="http://schemas.microsoft.com/office/drawing/2014/main" id="{DE9035B0-9C95-67DD-238A-C4257F43E529}"/>
              </a:ext>
            </a:extLst>
          </p:cNvPr>
          <p:cNvSpPr/>
          <p:nvPr/>
        </p:nvSpPr>
        <p:spPr>
          <a:xfrm>
            <a:off x="8262797" y="5079730"/>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3" name="TextBox 1032">
            <a:extLst>
              <a:ext uri="{FF2B5EF4-FFF2-40B4-BE49-F238E27FC236}">
                <a16:creationId xmlns:a16="http://schemas.microsoft.com/office/drawing/2014/main" id="{952F4C1C-5EC4-5C37-1573-DA8377E8F2DE}"/>
              </a:ext>
            </a:extLst>
          </p:cNvPr>
          <p:cNvSpPr txBox="1"/>
          <p:nvPr/>
        </p:nvSpPr>
        <p:spPr>
          <a:xfrm>
            <a:off x="8824835" y="5078929"/>
            <a:ext cx="2627433" cy="307777"/>
          </a:xfrm>
          <a:prstGeom prst="rect">
            <a:avLst/>
          </a:prstGeom>
          <a:noFill/>
        </p:spPr>
        <p:txBody>
          <a:bodyPr wrap="square" rtlCol="0">
            <a:spAutoFit/>
          </a:bodyPr>
          <a:lstStyle/>
          <a:p>
            <a:pPr algn="ctr"/>
            <a:r>
              <a:rPr lang="en-US" sz="1400" b="1">
                <a:latin typeface="Aptos" panose="020B0004020202020204" pitchFamily="34" charset="0"/>
              </a:rPr>
              <a:t>REFERENCES</a:t>
            </a:r>
          </a:p>
        </p:txBody>
      </p:sp>
      <p:sp>
        <p:nvSpPr>
          <p:cNvPr id="1034" name="TextBox 1033">
            <a:extLst>
              <a:ext uri="{FF2B5EF4-FFF2-40B4-BE49-F238E27FC236}">
                <a16:creationId xmlns:a16="http://schemas.microsoft.com/office/drawing/2014/main" id="{A326D48E-01D4-FEA5-D100-9F3E6063C104}"/>
              </a:ext>
            </a:extLst>
          </p:cNvPr>
          <p:cNvSpPr txBox="1"/>
          <p:nvPr/>
        </p:nvSpPr>
        <p:spPr>
          <a:xfrm>
            <a:off x="4136959" y="3939953"/>
            <a:ext cx="1304099" cy="1722908"/>
          </a:xfrm>
          <a:prstGeom prst="rect">
            <a:avLst/>
          </a:prstGeom>
          <a:noFill/>
        </p:spPr>
        <p:txBody>
          <a:bodyPr wrap="square" lIns="91440" tIns="45720" rIns="91440" bIns="45720" rtlCol="0" anchor="t">
            <a:spAutoFit/>
          </a:bodyPr>
          <a:lstStyle/>
          <a:p>
            <a:pPr>
              <a:lnSpc>
                <a:spcPct val="75757"/>
              </a:lnSpc>
              <a:spcAft>
                <a:spcPts val="400"/>
              </a:spcAft>
            </a:pPr>
            <a:r>
              <a:rPr lang="en-US" sz="900">
                <a:latin typeface="Arial" panose="020B0604020202020204" pitchFamily="34" charset="0"/>
                <a:cs typeface="Arial" panose="020B0604020202020204" pitchFamily="34" charset="0"/>
              </a:rPr>
              <a:t>This is just placeholder! Caption your data with some helpful info.</a:t>
            </a:r>
            <a:endParaRPr lang="en-US"/>
          </a:p>
          <a:p>
            <a:pPr>
              <a:lnSpc>
                <a:spcPct val="75757"/>
              </a:lnSpc>
              <a:spcAft>
                <a:spcPts val="400"/>
              </a:spcAft>
            </a:pPr>
            <a:r>
              <a:rPr lang="en-US" sz="900">
                <a:latin typeface="Arial" panose="020B0604020202020204" pitchFamily="34" charset="0"/>
                <a:cs typeface="Arial" panose="020B0604020202020204" pitchFamily="34" charset="0"/>
              </a:rPr>
              <a:t>Lorem ipsum dolor sit amet, consectur adipiscing elit. Nunc nec elit vitae ligula saggitus pulvinar. Suspendisse in turpis a lorem interdum faucibus at ac ipsum. Donec eget lorem usscipit libero congue viverra vel vel ex. </a:t>
            </a:r>
          </a:p>
        </p:txBody>
      </p:sp>
      <p:pic>
        <p:nvPicPr>
          <p:cNvPr id="1035" name="Picture 6">
            <a:extLst>
              <a:ext uri="{FF2B5EF4-FFF2-40B4-BE49-F238E27FC236}">
                <a16:creationId xmlns:a16="http://schemas.microsoft.com/office/drawing/2014/main" id="{91F42E88-3637-AEE4-28BE-AC86461F0A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3984232"/>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a:extLst>
              <a:ext uri="{FF2B5EF4-FFF2-40B4-BE49-F238E27FC236}">
                <a16:creationId xmlns:a16="http://schemas.microsoft.com/office/drawing/2014/main" id="{197DBCF8-7D39-13CB-0F9A-B511418159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3984233"/>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6">
            <a:extLst>
              <a:ext uri="{FF2B5EF4-FFF2-40B4-BE49-F238E27FC236}">
                <a16:creationId xmlns:a16="http://schemas.microsoft.com/office/drawing/2014/main" id="{DECC36D1-4E2D-FF9D-A416-37039DB9CA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4995749"/>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6">
            <a:extLst>
              <a:ext uri="{FF2B5EF4-FFF2-40B4-BE49-F238E27FC236}">
                <a16:creationId xmlns:a16="http://schemas.microsoft.com/office/drawing/2014/main" id="{E19E1514-B57C-0D49-CFF3-F80691B0B3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4995750"/>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8" descr="Flow diagram - Wikipedia">
            <a:extLst>
              <a:ext uri="{FF2B5EF4-FFF2-40B4-BE49-F238E27FC236}">
                <a16:creationId xmlns:a16="http://schemas.microsoft.com/office/drawing/2014/main" id="{65202C0E-1E02-B7D2-E13A-A3606D5184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0244" y="1874343"/>
            <a:ext cx="1864062" cy="1421993"/>
          </a:xfrm>
          <a:prstGeom prst="rect">
            <a:avLst/>
          </a:prstGeom>
          <a:noFill/>
          <a:extLst>
            <a:ext uri="{909E8E84-426E-40DD-AFC4-6F175D3DCCD1}">
              <a14:hiddenFill xmlns:a14="http://schemas.microsoft.com/office/drawing/2010/main">
                <a:solidFill>
                  <a:srgbClr val="FFFFFF"/>
                </a:solidFill>
              </a14:hiddenFill>
            </a:ext>
          </a:extLst>
        </p:spPr>
      </p:pic>
      <p:sp>
        <p:nvSpPr>
          <p:cNvPr id="1043" name="TextBox 1042">
            <a:extLst>
              <a:ext uri="{FF2B5EF4-FFF2-40B4-BE49-F238E27FC236}">
                <a16:creationId xmlns:a16="http://schemas.microsoft.com/office/drawing/2014/main" id="{556FE37E-1E71-0FC4-27A0-55508BBE055F}"/>
              </a:ext>
            </a:extLst>
          </p:cNvPr>
          <p:cNvSpPr txBox="1"/>
          <p:nvPr/>
        </p:nvSpPr>
        <p:spPr>
          <a:xfrm>
            <a:off x="7120504" y="1901623"/>
            <a:ext cx="948751" cy="1251368"/>
          </a:xfrm>
          <a:prstGeom prst="rect">
            <a:avLst/>
          </a:prstGeom>
          <a:noFill/>
        </p:spPr>
        <p:txBody>
          <a:bodyPr wrap="square" lIns="91440" tIns="45720" rIns="91440" bIns="45720" rtlCol="0" anchor="t">
            <a:spAutoFit/>
          </a:bodyPr>
          <a:lstStyle/>
          <a:p>
            <a:pPr>
              <a:lnSpc>
                <a:spcPct val="68181"/>
              </a:lnSpc>
              <a:spcAft>
                <a:spcPts val="400"/>
              </a:spcAft>
            </a:pPr>
            <a:r>
              <a:rPr lang="en-US" sz="1000">
                <a:latin typeface="Arial" panose="020B0604020202020204" pitchFamily="34" charset="0"/>
                <a:cs typeface="Arial" panose="020B0604020202020204" pitchFamily="34" charset="0"/>
              </a:rPr>
              <a:t>Explain your experimental setup and how you went about collecting data, and other stuff. This is just placeholder! More text.</a:t>
            </a:r>
            <a:endParaRPr lang="en-US"/>
          </a:p>
        </p:txBody>
      </p:sp>
      <p:pic>
        <p:nvPicPr>
          <p:cNvPr id="1044" name="Picture 10" descr="undefined">
            <a:extLst>
              <a:ext uri="{FF2B5EF4-FFF2-40B4-BE49-F238E27FC236}">
                <a16:creationId xmlns:a16="http://schemas.microsoft.com/office/drawing/2014/main" id="{F314BE95-B219-4173-5799-ECA97E3F00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2016" y="1920690"/>
            <a:ext cx="1008488" cy="1375646"/>
          </a:xfrm>
          <a:prstGeom prst="rect">
            <a:avLst/>
          </a:prstGeom>
          <a:noFill/>
          <a:extLst>
            <a:ext uri="{909E8E84-426E-40DD-AFC4-6F175D3DCCD1}">
              <a14:hiddenFill xmlns:a14="http://schemas.microsoft.com/office/drawing/2010/main">
                <a:solidFill>
                  <a:srgbClr val="FFFFFF"/>
                </a:solidFill>
              </a14:hiddenFill>
            </a:ext>
          </a:extLst>
        </p:spPr>
      </p:pic>
      <p:sp>
        <p:nvSpPr>
          <p:cNvPr id="1045" name="TextBox 1044">
            <a:extLst>
              <a:ext uri="{FF2B5EF4-FFF2-40B4-BE49-F238E27FC236}">
                <a16:creationId xmlns:a16="http://schemas.microsoft.com/office/drawing/2014/main" id="{76CB7F8B-5EB0-138A-0D17-1D48484C8540}"/>
              </a:ext>
            </a:extLst>
          </p:cNvPr>
          <p:cNvSpPr txBox="1"/>
          <p:nvPr/>
        </p:nvSpPr>
        <p:spPr>
          <a:xfrm>
            <a:off x="8445913" y="1965117"/>
            <a:ext cx="1872583" cy="1088439"/>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Curabitur dapibus lectus sit amet augue vehicula tincidunt.</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a:t>
            </a:r>
          </a:p>
        </p:txBody>
      </p:sp>
      <p:pic>
        <p:nvPicPr>
          <p:cNvPr id="1046" name="Picture 12" descr="Area chart - Wikipedia">
            <a:extLst>
              <a:ext uri="{FF2B5EF4-FFF2-40B4-BE49-F238E27FC236}">
                <a16:creationId xmlns:a16="http://schemas.microsoft.com/office/drawing/2014/main" id="{C6898DD0-295F-ABE1-3E99-8A01D16CC7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96027" y="3239518"/>
            <a:ext cx="3191583" cy="1595792"/>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4" descr="Pie chart - Wikipedia">
            <a:extLst>
              <a:ext uri="{FF2B5EF4-FFF2-40B4-BE49-F238E27FC236}">
                <a16:creationId xmlns:a16="http://schemas.microsoft.com/office/drawing/2014/main" id="{A184F640-66BB-11E6-345D-FAB2663C66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54436" y="1893717"/>
            <a:ext cx="1431737" cy="1383383"/>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3F3DB71D-2728-83A4-64B0-BD805D6E1704}"/>
              </a:ext>
            </a:extLst>
          </p:cNvPr>
          <p:cNvSpPr txBox="1"/>
          <p:nvPr/>
        </p:nvSpPr>
        <p:spPr>
          <a:xfrm>
            <a:off x="8185523" y="5386706"/>
            <a:ext cx="3918082" cy="612475"/>
          </a:xfrm>
          <a:prstGeom prst="rect">
            <a:avLst/>
          </a:prstGeom>
          <a:noFill/>
        </p:spPr>
        <p:txBody>
          <a:bodyPr wrap="square" lIns="91440" tIns="45720" rIns="91440" bIns="45720" rtlCol="0" anchor="t">
            <a:spAutoFit/>
          </a:bodyPr>
          <a:lstStyle/>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endParaRPr lang="en-US"/>
          </a:p>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p>
          <a:p>
            <a:pPr>
              <a:lnSpc>
                <a:spcPct val="79545"/>
              </a:lnSpc>
              <a:spcAft>
                <a:spcPts val="300"/>
              </a:spcAft>
            </a:pPr>
            <a:r>
              <a:rPr lang="en-US" sz="600">
                <a:latin typeface="Arial" panose="020B0604020202020204" pitchFamily="34" charset="0"/>
                <a:cs typeface="Arial" panose="020B0604020202020204" pitchFamily="34" charset="0"/>
              </a:rPr>
              <a:t>Code of ethics. (2011). In V. L. Burton (Ed.), Encyclopedia of small business (4th ed., Vol. 1, pp. 235-237). Detroit, MI: Gale.</a:t>
            </a:r>
          </a:p>
        </p:txBody>
      </p:sp>
      <p:sp>
        <p:nvSpPr>
          <p:cNvPr id="5" name="TextBox 4">
            <a:extLst>
              <a:ext uri="{FF2B5EF4-FFF2-40B4-BE49-F238E27FC236}">
                <a16:creationId xmlns:a16="http://schemas.microsoft.com/office/drawing/2014/main" id="{415B69EB-DE55-CCC4-D851-97B4BB1A6ADD}"/>
              </a:ext>
            </a:extLst>
          </p:cNvPr>
          <p:cNvSpPr txBox="1"/>
          <p:nvPr/>
        </p:nvSpPr>
        <p:spPr>
          <a:xfrm>
            <a:off x="4135061" y="6450218"/>
            <a:ext cx="7149351" cy="345992"/>
          </a:xfrm>
          <a:prstGeom prst="rect">
            <a:avLst/>
          </a:prstGeom>
          <a:noFill/>
        </p:spPr>
        <p:txBody>
          <a:bodyPr wrap="square" lIns="91440" tIns="45720" rIns="91440" bIns="45720" rtlCol="0" anchor="t">
            <a:spAutoFit/>
          </a:bodyPr>
          <a:lstStyle/>
          <a:p>
            <a:pPr>
              <a:lnSpc>
                <a:spcPct val="68181"/>
              </a:lnSpc>
            </a:pPr>
            <a:r>
              <a:rPr lang="en-US" sz="800">
                <a:solidFill>
                  <a:schemeClr val="bg2">
                    <a:lumMod val="50000"/>
                  </a:schemeClr>
                </a:solidFill>
                <a:latin typeface="Arial" panose="020B0604020202020204" pitchFamily="34" charset="0"/>
                <a:cs typeface="Arial" panose="020B0604020202020204" pitchFamily="34" charset="0"/>
              </a:rPr>
              <a:t>The authors would like to thank X’s mentorship throughout the course of the summer, as well as NASA OSTEM for this opportunity (list your acknowledgments; they’ll probably take up longer than what I’ve listed so I’m adding this filler text). This should hopefully be ample space now, but there’s plenty of space so feel free to add as many as you need to. Please submit any questions to </a:t>
            </a:r>
            <a:r>
              <a:rPr lang="en-US" sz="800" b="1">
                <a:solidFill>
                  <a:schemeClr val="bg2">
                    <a:lumMod val="50000"/>
                  </a:schemeClr>
                </a:solidFill>
                <a:latin typeface="Arial" panose="020B0604020202020204" pitchFamily="34" charset="0"/>
                <a:cs typeface="Arial" panose="020B0604020202020204" pitchFamily="34" charset="0"/>
              </a:rPr>
              <a:t>allisonli@uchicago.edu </a:t>
            </a:r>
            <a:r>
              <a:rPr lang="en-US" sz="800">
                <a:solidFill>
                  <a:schemeClr val="bg2">
                    <a:lumMod val="50000"/>
                  </a:schemeClr>
                </a:solidFill>
                <a:latin typeface="Arial" panose="020B0604020202020204" pitchFamily="34" charset="0"/>
                <a:cs typeface="Arial" panose="020B0604020202020204" pitchFamily="34" charset="0"/>
              </a:rPr>
              <a:t>or </a:t>
            </a:r>
            <a:r>
              <a:rPr lang="en-US" sz="800" b="1">
                <a:solidFill>
                  <a:schemeClr val="bg2">
                    <a:lumMod val="50000"/>
                  </a:schemeClr>
                </a:solidFill>
                <a:latin typeface="Arial" panose="020B0604020202020204" pitchFamily="34" charset="0"/>
                <a:cs typeface="Arial" panose="020B0604020202020204" pitchFamily="34" charset="0"/>
              </a:rPr>
              <a:t>johndoe@harvard.edu.</a:t>
            </a:r>
            <a:endParaRPr lang="en-US" sz="800">
              <a:solidFill>
                <a:schemeClr val="bg2">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9AE4EB4-E646-570F-2D43-20641C91280A}"/>
              </a:ext>
            </a:extLst>
          </p:cNvPr>
          <p:cNvSpPr txBox="1"/>
          <p:nvPr/>
        </p:nvSpPr>
        <p:spPr>
          <a:xfrm>
            <a:off x="4136958" y="6129514"/>
            <a:ext cx="7966647" cy="322268"/>
          </a:xfrm>
          <a:prstGeom prst="rect">
            <a:avLst/>
          </a:prstGeom>
          <a:noFill/>
        </p:spPr>
        <p:txBody>
          <a:bodyPr wrap="square" lIns="91440" tIns="45720" rIns="91440" bIns="45720" rtlCol="0" anchor="t">
            <a:spAutoFit/>
          </a:bodyPr>
          <a:lstStyle/>
          <a:p>
            <a:pP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Acknowledgements</a:t>
            </a:r>
            <a:endParaRPr lang="en-US" sz="1400">
              <a:solidFill>
                <a:schemeClr val="bg2">
                  <a:lumMod val="50000"/>
                </a:schemeClr>
              </a:solidFill>
              <a:latin typeface="Arial" panose="020B06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C6564BE5-A2E0-E587-EC06-DFB9B1C4AD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50839" y="6385839"/>
            <a:ext cx="322551" cy="3225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arvard Crimson Logo and symbol, meaning, history, PNG, brand">
            <a:extLst>
              <a:ext uri="{FF2B5EF4-FFF2-40B4-BE49-F238E27FC236}">
                <a16:creationId xmlns:a16="http://schemas.microsoft.com/office/drawing/2014/main" id="{BC31FE46-3149-0988-2D6F-50080928E4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40743" y="6354418"/>
            <a:ext cx="662862" cy="37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098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CF4EE564-4D79-908C-D83D-E1E79814828A}"/>
              </a:ext>
            </a:extLst>
          </p:cNvPr>
          <p:cNvSpPr/>
          <p:nvPr/>
        </p:nvSpPr>
        <p:spPr>
          <a:xfrm>
            <a:off x="88394" y="1446661"/>
            <a:ext cx="3932298" cy="17774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874F9EC-AE86-0336-161E-874243A6CA54}"/>
              </a:ext>
            </a:extLst>
          </p:cNvPr>
          <p:cNvSpPr/>
          <p:nvPr/>
        </p:nvSpPr>
        <p:spPr>
          <a:xfrm>
            <a:off x="88394" y="3308449"/>
            <a:ext cx="3932297" cy="33317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49AC6BC-3EB4-DD12-672A-1E0AD898B5A5}"/>
              </a:ext>
            </a:extLst>
          </p:cNvPr>
          <p:cNvSpPr/>
          <p:nvPr/>
        </p:nvSpPr>
        <p:spPr>
          <a:xfrm>
            <a:off x="0" y="-1"/>
            <a:ext cx="12192000" cy="13623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sp>
        <p:nvSpPr>
          <p:cNvPr id="3" name="Rectangle 2">
            <a:extLst>
              <a:ext uri="{FF2B5EF4-FFF2-40B4-BE49-F238E27FC236}">
                <a16:creationId xmlns:a16="http://schemas.microsoft.com/office/drawing/2014/main" id="{F853958E-B45E-1FDA-05E8-EF6B3F501C64}"/>
              </a:ext>
            </a:extLst>
          </p:cNvPr>
          <p:cNvSpPr/>
          <p:nvPr/>
        </p:nvSpPr>
        <p:spPr>
          <a:xfrm>
            <a:off x="4136959" y="6190392"/>
            <a:ext cx="7968543" cy="657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endParaRPr>
          </a:p>
        </p:txBody>
      </p:sp>
      <p:pic>
        <p:nvPicPr>
          <p:cNvPr id="7" name="Picture 6" descr="A logo with a red and white circle&#10;&#10;Description automatically generated">
            <a:extLst>
              <a:ext uri="{FF2B5EF4-FFF2-40B4-BE49-F238E27FC236}">
                <a16:creationId xmlns:a16="http://schemas.microsoft.com/office/drawing/2014/main" id="{48D31D70-C970-BB99-A514-5F8FB70C9ED4}"/>
              </a:ext>
            </a:extLst>
          </p:cNvPr>
          <p:cNvPicPr>
            <a:picLocks noChangeAspect="1"/>
          </p:cNvPicPr>
          <p:nvPr/>
        </p:nvPicPr>
        <p:blipFill>
          <a:blip r:embed="rId3"/>
          <a:stretch>
            <a:fillRect/>
          </a:stretch>
        </p:blipFill>
        <p:spPr>
          <a:xfrm>
            <a:off x="11169848" y="412234"/>
            <a:ext cx="768605" cy="637571"/>
          </a:xfrm>
          <a:prstGeom prst="rect">
            <a:avLst/>
          </a:prstGeom>
        </p:spPr>
      </p:pic>
      <p:sp>
        <p:nvSpPr>
          <p:cNvPr id="25" name="TextBox 24">
            <a:extLst>
              <a:ext uri="{FF2B5EF4-FFF2-40B4-BE49-F238E27FC236}">
                <a16:creationId xmlns:a16="http://schemas.microsoft.com/office/drawing/2014/main" id="{E46BBE58-4802-3DB3-B197-DD9B80A3DFCF}"/>
              </a:ext>
            </a:extLst>
          </p:cNvPr>
          <p:cNvSpPr txBox="1"/>
          <p:nvPr/>
        </p:nvSpPr>
        <p:spPr>
          <a:xfrm>
            <a:off x="202696" y="1901873"/>
            <a:ext cx="3751511" cy="1042080"/>
          </a:xfrm>
          <a:prstGeom prst="rect">
            <a:avLst/>
          </a:prstGeom>
          <a:noFill/>
        </p:spPr>
        <p:txBody>
          <a:bodyPr wrap="square" lIns="91440" tIns="45720" rIns="91440" bIns="45720" rtlCol="0" anchor="t">
            <a:spAutoFit/>
          </a:bodyPr>
          <a:lstStyle/>
          <a:p>
            <a:pPr>
              <a:lnSpc>
                <a:spcPct val="68181"/>
              </a:lnSpc>
              <a:spcAft>
                <a:spcPts val="200"/>
              </a:spcAft>
            </a:pPr>
            <a:r>
              <a:rPr lang="en-US" sz="1000">
                <a:latin typeface="Arial" panose="020B0604020202020204" pitchFamily="34" charset="0"/>
                <a:cs typeface="Arial" panose="020B0604020202020204" pitchFamily="34" charset="0"/>
              </a:rPr>
              <a:t>This is the context for why my research is important and the justification for my research question. This is my research question. These are the methods I used to set up my experimental design. This is what I found out, the implications for my conclusion, and any future next steps. All of this should be around 2-5 sentences. Extra text because I assume you’ll have more text and we want this bad boy to be filled up! Hope you all can find this template at least somewhat useful. Have a great rest of your day! More filler text is going here.</a:t>
            </a:r>
            <a:endParaRPr lang="en-US"/>
          </a:p>
        </p:txBody>
      </p:sp>
      <p:sp>
        <p:nvSpPr>
          <p:cNvPr id="28" name="Rectangle 27">
            <a:extLst>
              <a:ext uri="{FF2B5EF4-FFF2-40B4-BE49-F238E27FC236}">
                <a16:creationId xmlns:a16="http://schemas.microsoft.com/office/drawing/2014/main" id="{81B3A0CF-949F-2E20-300C-9B4709DFC9E1}"/>
              </a:ext>
            </a:extLst>
          </p:cNvPr>
          <p:cNvSpPr/>
          <p:nvPr/>
        </p:nvSpPr>
        <p:spPr>
          <a:xfrm>
            <a:off x="177692" y="1510587"/>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26" name="TextBox 25">
            <a:extLst>
              <a:ext uri="{FF2B5EF4-FFF2-40B4-BE49-F238E27FC236}">
                <a16:creationId xmlns:a16="http://schemas.microsoft.com/office/drawing/2014/main" id="{B347A98B-DFA4-9982-F2EE-C2152327B8B9}"/>
              </a:ext>
            </a:extLst>
          </p:cNvPr>
          <p:cNvSpPr txBox="1"/>
          <p:nvPr/>
        </p:nvSpPr>
        <p:spPr>
          <a:xfrm>
            <a:off x="88393" y="5368448"/>
            <a:ext cx="3932297"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Fusce faucibus felis ac mauris laoreet aliquam. Curabitur usscipit elit ac eros Bibendum malesuada.</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p:txBody>
      </p:sp>
      <p:pic>
        <p:nvPicPr>
          <p:cNvPr id="39" name="Picture 2">
            <a:extLst>
              <a:ext uri="{FF2B5EF4-FFF2-40B4-BE49-F238E27FC236}">
                <a16:creationId xmlns:a16="http://schemas.microsoft.com/office/drawing/2014/main" id="{15E1BA92-0A1B-43E1-E658-B07929D23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18" y="3745013"/>
            <a:ext cx="2719772" cy="152987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827C1D6A-8A53-8B4E-193D-77667CA39A99}"/>
              </a:ext>
            </a:extLst>
          </p:cNvPr>
          <p:cNvSpPr txBox="1"/>
          <p:nvPr/>
        </p:nvSpPr>
        <p:spPr>
          <a:xfrm>
            <a:off x="177692" y="6640177"/>
            <a:ext cx="1000819"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www.nasa.gov</a:t>
            </a:r>
            <a:endParaRPr lang="en-US"/>
          </a:p>
        </p:txBody>
      </p:sp>
      <p:sp>
        <p:nvSpPr>
          <p:cNvPr id="40" name="TextBox 39">
            <a:extLst>
              <a:ext uri="{FF2B5EF4-FFF2-40B4-BE49-F238E27FC236}">
                <a16:creationId xmlns:a16="http://schemas.microsoft.com/office/drawing/2014/main" id="{B274356A-92A1-1E18-9741-0C9B5B58BA02}"/>
              </a:ext>
            </a:extLst>
          </p:cNvPr>
          <p:cNvSpPr txBox="1"/>
          <p:nvPr/>
        </p:nvSpPr>
        <p:spPr>
          <a:xfrm>
            <a:off x="202696" y="442447"/>
            <a:ext cx="10611040" cy="534826"/>
          </a:xfrm>
          <a:prstGeom prst="rect">
            <a:avLst/>
          </a:prstGeom>
          <a:noFill/>
        </p:spPr>
        <p:txBody>
          <a:bodyPr wrap="square" lIns="91440" tIns="45720" rIns="91440" bIns="45720" rtlCol="0" anchor="t">
            <a:spAutoFit/>
          </a:bodyPr>
          <a:lstStyle/>
          <a:p>
            <a:pPr algn="ctr">
              <a:lnSpc>
                <a:spcPct val="61983"/>
              </a:lnSpc>
            </a:pPr>
            <a:r>
              <a:rPr lang="en-US" sz="2200" b="1">
                <a:latin typeface="Arial" panose="020B0604020202020204" pitchFamily="34" charset="0"/>
                <a:cs typeface="Arial" panose="020B0604020202020204" pitchFamily="34" charset="0"/>
              </a:rPr>
              <a:t>Long Scientific Title, But Probably No More Than Two Lines in Length (Feel Free to Adjust Sizing and Line Spacing if Necessary)</a:t>
            </a:r>
            <a:endParaRPr lang="en-US"/>
          </a:p>
        </p:txBody>
      </p:sp>
      <p:sp>
        <p:nvSpPr>
          <p:cNvPr id="41" name="TextBox 40">
            <a:extLst>
              <a:ext uri="{FF2B5EF4-FFF2-40B4-BE49-F238E27FC236}">
                <a16:creationId xmlns:a16="http://schemas.microsoft.com/office/drawing/2014/main" id="{B55D4ABF-89B4-20CC-79C6-0986E3BEA87F}"/>
              </a:ext>
            </a:extLst>
          </p:cNvPr>
          <p:cNvSpPr txBox="1"/>
          <p:nvPr/>
        </p:nvSpPr>
        <p:spPr>
          <a:xfrm>
            <a:off x="558807" y="895017"/>
            <a:ext cx="10611041" cy="329193"/>
          </a:xfrm>
          <a:prstGeom prst="rect">
            <a:avLst/>
          </a:prstGeom>
          <a:noFill/>
        </p:spPr>
        <p:txBody>
          <a:bodyPr wrap="square" lIns="91440" tIns="45720" rIns="91440" bIns="45720" rtlCol="0" anchor="t">
            <a:spAutoFit/>
          </a:bodyPr>
          <a:lstStyle/>
          <a:p>
            <a:pPr algn="ct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Allison Li </a:t>
            </a:r>
            <a:r>
              <a:rPr lang="en-US" sz="1400">
                <a:solidFill>
                  <a:schemeClr val="bg2">
                    <a:lumMod val="50000"/>
                  </a:schemeClr>
                </a:solidFill>
                <a:latin typeface="Arial" panose="020B0604020202020204" pitchFamily="34" charset="0"/>
                <a:cs typeface="Arial" panose="020B0604020202020204" pitchFamily="34" charset="0"/>
              </a:rPr>
              <a:t>/ University of Chicago, </a:t>
            </a:r>
            <a:r>
              <a:rPr lang="en-US" sz="1400" b="1">
                <a:solidFill>
                  <a:schemeClr val="bg2">
                    <a:lumMod val="50000"/>
                  </a:schemeClr>
                </a:solidFill>
                <a:latin typeface="Arial" panose="020B0604020202020204" pitchFamily="34" charset="0"/>
                <a:cs typeface="Arial" panose="020B0604020202020204" pitchFamily="34" charset="0"/>
              </a:rPr>
              <a:t>John Doe </a:t>
            </a:r>
            <a:r>
              <a:rPr lang="en-US" sz="1400">
                <a:solidFill>
                  <a:schemeClr val="bg2">
                    <a:lumMod val="50000"/>
                  </a:schemeClr>
                </a:solidFill>
                <a:latin typeface="Arial" panose="020B0604020202020204" pitchFamily="34" charset="0"/>
                <a:cs typeface="Arial" panose="020B0604020202020204" pitchFamily="34" charset="0"/>
              </a:rPr>
              <a:t>/ Harvard University</a:t>
            </a:r>
            <a:endParaRPr lang="en-US"/>
          </a:p>
        </p:txBody>
      </p:sp>
      <p:sp>
        <p:nvSpPr>
          <p:cNvPr id="42" name="TextBox 41">
            <a:extLst>
              <a:ext uri="{FF2B5EF4-FFF2-40B4-BE49-F238E27FC236}">
                <a16:creationId xmlns:a16="http://schemas.microsoft.com/office/drawing/2014/main" id="{ADD17D77-9E8A-A7D1-4E73-BF1F0DD040AB}"/>
              </a:ext>
            </a:extLst>
          </p:cNvPr>
          <p:cNvSpPr txBox="1"/>
          <p:nvPr/>
        </p:nvSpPr>
        <p:spPr>
          <a:xfrm>
            <a:off x="202696" y="190590"/>
            <a:ext cx="4928194" cy="193643"/>
          </a:xfrm>
          <a:prstGeom prst="rect">
            <a:avLst/>
          </a:prstGeom>
          <a:noFill/>
        </p:spPr>
        <p:txBody>
          <a:bodyPr wrap="square" lIns="91440" tIns="45720" rIns="91440" bIns="45720" rtlCol="0" anchor="t">
            <a:spAutoFit/>
          </a:bodyPr>
          <a:lstStyle/>
          <a:p>
            <a:pPr>
              <a:lnSpc>
                <a:spcPct val="68181"/>
              </a:lnSpc>
            </a:pPr>
            <a:r>
              <a:rPr lang="en-US" sz="900">
                <a:solidFill>
                  <a:schemeClr val="bg2">
                    <a:lumMod val="50000"/>
                  </a:schemeClr>
                </a:solidFill>
                <a:latin typeface="Arial" panose="020B0604020202020204" pitchFamily="34" charset="0"/>
                <a:cs typeface="Arial" panose="020B0604020202020204" pitchFamily="34" charset="0"/>
              </a:rPr>
              <a:t>National Aeronautics and Space Administration</a:t>
            </a:r>
            <a:endParaRPr lang="en-US"/>
          </a:p>
        </p:txBody>
      </p:sp>
      <p:sp>
        <p:nvSpPr>
          <p:cNvPr id="54" name="Rectangle 53">
            <a:extLst>
              <a:ext uri="{FF2B5EF4-FFF2-40B4-BE49-F238E27FC236}">
                <a16:creationId xmlns:a16="http://schemas.microsoft.com/office/drawing/2014/main" id="{58951977-A0A0-4FA0-81E8-7E0C3EC820B4}"/>
              </a:ext>
            </a:extLst>
          </p:cNvPr>
          <p:cNvSpPr/>
          <p:nvPr/>
        </p:nvSpPr>
        <p:spPr>
          <a:xfrm>
            <a:off x="4136960" y="1462040"/>
            <a:ext cx="3932298" cy="177747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8579C51-BE45-E0E5-42C2-5370A791731C}"/>
              </a:ext>
            </a:extLst>
          </p:cNvPr>
          <p:cNvSpPr/>
          <p:nvPr/>
        </p:nvSpPr>
        <p:spPr>
          <a:xfrm>
            <a:off x="4122739" y="3532067"/>
            <a:ext cx="3946516" cy="256346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DDED8B-018B-2939-08C4-EA163B3AEAC6}"/>
              </a:ext>
            </a:extLst>
          </p:cNvPr>
          <p:cNvSpPr/>
          <p:nvPr/>
        </p:nvSpPr>
        <p:spPr>
          <a:xfrm>
            <a:off x="8171308" y="1445554"/>
            <a:ext cx="3932298" cy="34561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571D8DF-7869-2555-F7E2-B893036263D7}"/>
              </a:ext>
            </a:extLst>
          </p:cNvPr>
          <p:cNvSpPr/>
          <p:nvPr/>
        </p:nvSpPr>
        <p:spPr>
          <a:xfrm>
            <a:off x="8171308" y="4996543"/>
            <a:ext cx="3932297" cy="10989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076A961-A973-0743-59E0-7A85CBAA5579}"/>
              </a:ext>
            </a:extLst>
          </p:cNvPr>
          <p:cNvSpPr/>
          <p:nvPr/>
        </p:nvSpPr>
        <p:spPr>
          <a:xfrm>
            <a:off x="4122741" y="1463146"/>
            <a:ext cx="3946517" cy="19740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64D8ECC-0BD7-6644-F230-3037C38188AF}"/>
              </a:ext>
            </a:extLst>
          </p:cNvPr>
          <p:cNvSpPr txBox="1"/>
          <p:nvPr/>
        </p:nvSpPr>
        <p:spPr>
          <a:xfrm>
            <a:off x="739730" y="1509786"/>
            <a:ext cx="2627433" cy="307777"/>
          </a:xfrm>
          <a:prstGeom prst="rect">
            <a:avLst/>
          </a:prstGeom>
          <a:noFill/>
        </p:spPr>
        <p:txBody>
          <a:bodyPr wrap="square" rtlCol="0">
            <a:spAutoFit/>
          </a:bodyPr>
          <a:lstStyle/>
          <a:p>
            <a:pPr algn="ctr"/>
            <a:r>
              <a:rPr lang="en-US" sz="1400" b="1">
                <a:latin typeface="Aptos" panose="020B0004020202020204" pitchFamily="34" charset="0"/>
              </a:rPr>
              <a:t>ABSTRACT</a:t>
            </a:r>
          </a:p>
        </p:txBody>
      </p:sp>
      <p:sp>
        <p:nvSpPr>
          <p:cNvPr id="63" name="Rectangle 62">
            <a:extLst>
              <a:ext uri="{FF2B5EF4-FFF2-40B4-BE49-F238E27FC236}">
                <a16:creationId xmlns:a16="http://schemas.microsoft.com/office/drawing/2014/main" id="{3F340016-3979-94C2-2171-BF9A00E68012}"/>
              </a:ext>
            </a:extLst>
          </p:cNvPr>
          <p:cNvSpPr/>
          <p:nvPr/>
        </p:nvSpPr>
        <p:spPr>
          <a:xfrm>
            <a:off x="177692" y="3385203"/>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4" name="TextBox 1023">
            <a:extLst>
              <a:ext uri="{FF2B5EF4-FFF2-40B4-BE49-F238E27FC236}">
                <a16:creationId xmlns:a16="http://schemas.microsoft.com/office/drawing/2014/main" id="{C35FA771-BA14-AA87-EF6C-31B11970ECE5}"/>
              </a:ext>
            </a:extLst>
          </p:cNvPr>
          <p:cNvSpPr txBox="1"/>
          <p:nvPr/>
        </p:nvSpPr>
        <p:spPr>
          <a:xfrm>
            <a:off x="717157" y="3375673"/>
            <a:ext cx="2627433" cy="307777"/>
          </a:xfrm>
          <a:prstGeom prst="rect">
            <a:avLst/>
          </a:prstGeom>
          <a:noFill/>
        </p:spPr>
        <p:txBody>
          <a:bodyPr wrap="square" rtlCol="0">
            <a:spAutoFit/>
          </a:bodyPr>
          <a:lstStyle/>
          <a:p>
            <a:pPr algn="ctr"/>
            <a:r>
              <a:rPr lang="en-US" sz="1400" b="1">
                <a:latin typeface="Aptos" panose="020B0004020202020204" pitchFamily="34" charset="0"/>
              </a:rPr>
              <a:t>INTRODUCTION</a:t>
            </a:r>
          </a:p>
        </p:txBody>
      </p:sp>
      <p:sp>
        <p:nvSpPr>
          <p:cNvPr id="1025" name="Rectangle 1024">
            <a:extLst>
              <a:ext uri="{FF2B5EF4-FFF2-40B4-BE49-F238E27FC236}">
                <a16:creationId xmlns:a16="http://schemas.microsoft.com/office/drawing/2014/main" id="{158D20F0-1044-A38C-81D9-02C6E1994FA7}"/>
              </a:ext>
            </a:extLst>
          </p:cNvPr>
          <p:cNvSpPr/>
          <p:nvPr/>
        </p:nvSpPr>
        <p:spPr>
          <a:xfrm>
            <a:off x="4220244" y="1529718"/>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6" name="TextBox 1025">
            <a:extLst>
              <a:ext uri="{FF2B5EF4-FFF2-40B4-BE49-F238E27FC236}">
                <a16:creationId xmlns:a16="http://schemas.microsoft.com/office/drawing/2014/main" id="{743255C0-B742-1DB9-A127-561B8BA85E56}"/>
              </a:ext>
            </a:extLst>
          </p:cNvPr>
          <p:cNvSpPr txBox="1"/>
          <p:nvPr/>
        </p:nvSpPr>
        <p:spPr>
          <a:xfrm>
            <a:off x="4782282" y="1528917"/>
            <a:ext cx="2627433" cy="307777"/>
          </a:xfrm>
          <a:prstGeom prst="rect">
            <a:avLst/>
          </a:prstGeom>
          <a:noFill/>
        </p:spPr>
        <p:txBody>
          <a:bodyPr wrap="square" rtlCol="0">
            <a:spAutoFit/>
          </a:bodyPr>
          <a:lstStyle/>
          <a:p>
            <a:pPr algn="ctr"/>
            <a:r>
              <a:rPr lang="en-US" sz="1400" b="1">
                <a:latin typeface="Aptos" panose="020B0004020202020204" pitchFamily="34" charset="0"/>
              </a:rPr>
              <a:t>METHODS</a:t>
            </a:r>
          </a:p>
        </p:txBody>
      </p:sp>
      <p:sp>
        <p:nvSpPr>
          <p:cNvPr id="1027" name="Rectangle 1026">
            <a:extLst>
              <a:ext uri="{FF2B5EF4-FFF2-40B4-BE49-F238E27FC236}">
                <a16:creationId xmlns:a16="http://schemas.microsoft.com/office/drawing/2014/main" id="{ACD31702-F2ED-5689-5A2F-85C7329F8014}"/>
              </a:ext>
            </a:extLst>
          </p:cNvPr>
          <p:cNvSpPr/>
          <p:nvPr/>
        </p:nvSpPr>
        <p:spPr>
          <a:xfrm>
            <a:off x="4220244" y="3600654"/>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28" name="TextBox 1027">
            <a:extLst>
              <a:ext uri="{FF2B5EF4-FFF2-40B4-BE49-F238E27FC236}">
                <a16:creationId xmlns:a16="http://schemas.microsoft.com/office/drawing/2014/main" id="{BAB4183C-2417-9CA1-CF07-713DD88A769F}"/>
              </a:ext>
            </a:extLst>
          </p:cNvPr>
          <p:cNvSpPr txBox="1"/>
          <p:nvPr/>
        </p:nvSpPr>
        <p:spPr>
          <a:xfrm>
            <a:off x="4782282" y="3599853"/>
            <a:ext cx="2627433" cy="307777"/>
          </a:xfrm>
          <a:prstGeom prst="rect">
            <a:avLst/>
          </a:prstGeom>
          <a:noFill/>
        </p:spPr>
        <p:txBody>
          <a:bodyPr wrap="square" rtlCol="0">
            <a:spAutoFit/>
          </a:bodyPr>
          <a:lstStyle/>
          <a:p>
            <a:pPr algn="ctr"/>
            <a:r>
              <a:rPr lang="en-US" sz="1400" b="1">
                <a:latin typeface="Aptos" panose="020B0004020202020204" pitchFamily="34" charset="0"/>
              </a:rPr>
              <a:t>RESULTS</a:t>
            </a:r>
          </a:p>
        </p:txBody>
      </p:sp>
      <p:sp>
        <p:nvSpPr>
          <p:cNvPr id="1029" name="Rectangle 1028">
            <a:extLst>
              <a:ext uri="{FF2B5EF4-FFF2-40B4-BE49-F238E27FC236}">
                <a16:creationId xmlns:a16="http://schemas.microsoft.com/office/drawing/2014/main" id="{F4E1F2B1-585D-ECC5-5383-F6F2C6DD38D2}"/>
              </a:ext>
            </a:extLst>
          </p:cNvPr>
          <p:cNvSpPr/>
          <p:nvPr/>
        </p:nvSpPr>
        <p:spPr>
          <a:xfrm>
            <a:off x="8262797" y="1526201"/>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0" name="TextBox 1029">
            <a:extLst>
              <a:ext uri="{FF2B5EF4-FFF2-40B4-BE49-F238E27FC236}">
                <a16:creationId xmlns:a16="http://schemas.microsoft.com/office/drawing/2014/main" id="{55E2E2CC-54A7-B1F4-B748-EF850BC35667}"/>
              </a:ext>
            </a:extLst>
          </p:cNvPr>
          <p:cNvSpPr txBox="1"/>
          <p:nvPr/>
        </p:nvSpPr>
        <p:spPr>
          <a:xfrm>
            <a:off x="8824835" y="1525400"/>
            <a:ext cx="2627433" cy="307777"/>
          </a:xfrm>
          <a:prstGeom prst="rect">
            <a:avLst/>
          </a:prstGeom>
          <a:noFill/>
        </p:spPr>
        <p:txBody>
          <a:bodyPr wrap="square" rtlCol="0">
            <a:spAutoFit/>
          </a:bodyPr>
          <a:lstStyle/>
          <a:p>
            <a:pPr algn="ctr"/>
            <a:r>
              <a:rPr lang="en-US" sz="1400" b="1">
                <a:latin typeface="Aptos" panose="020B0004020202020204" pitchFamily="34" charset="0"/>
              </a:rPr>
              <a:t>CONCLUSIONS</a:t>
            </a:r>
          </a:p>
        </p:txBody>
      </p:sp>
      <p:sp>
        <p:nvSpPr>
          <p:cNvPr id="1031" name="Rectangle 1030">
            <a:extLst>
              <a:ext uri="{FF2B5EF4-FFF2-40B4-BE49-F238E27FC236}">
                <a16:creationId xmlns:a16="http://schemas.microsoft.com/office/drawing/2014/main" id="{DE9035B0-9C95-67DD-238A-C4257F43E529}"/>
              </a:ext>
            </a:extLst>
          </p:cNvPr>
          <p:cNvSpPr/>
          <p:nvPr/>
        </p:nvSpPr>
        <p:spPr>
          <a:xfrm>
            <a:off x="8262797" y="5079730"/>
            <a:ext cx="3751511" cy="288718"/>
          </a:xfrm>
          <a:prstGeom prst="rect">
            <a:avLst/>
          </a:prstGeom>
          <a:solidFill>
            <a:schemeClr val="bg1"/>
          </a:solidFill>
          <a:ln w="9525">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lumMod val="85000"/>
                  </a:schemeClr>
                </a:solidFill>
              </a:ln>
            </a:endParaRPr>
          </a:p>
        </p:txBody>
      </p:sp>
      <p:sp>
        <p:nvSpPr>
          <p:cNvPr id="1033" name="TextBox 1032">
            <a:extLst>
              <a:ext uri="{FF2B5EF4-FFF2-40B4-BE49-F238E27FC236}">
                <a16:creationId xmlns:a16="http://schemas.microsoft.com/office/drawing/2014/main" id="{952F4C1C-5EC4-5C37-1573-DA8377E8F2DE}"/>
              </a:ext>
            </a:extLst>
          </p:cNvPr>
          <p:cNvSpPr txBox="1"/>
          <p:nvPr/>
        </p:nvSpPr>
        <p:spPr>
          <a:xfrm>
            <a:off x="8824835" y="5078929"/>
            <a:ext cx="2627433" cy="307777"/>
          </a:xfrm>
          <a:prstGeom prst="rect">
            <a:avLst/>
          </a:prstGeom>
          <a:noFill/>
        </p:spPr>
        <p:txBody>
          <a:bodyPr wrap="square" rtlCol="0">
            <a:spAutoFit/>
          </a:bodyPr>
          <a:lstStyle/>
          <a:p>
            <a:pPr algn="ctr"/>
            <a:r>
              <a:rPr lang="en-US" sz="1400" b="1">
                <a:latin typeface="Aptos" panose="020B0004020202020204" pitchFamily="34" charset="0"/>
              </a:rPr>
              <a:t>REFERENCES</a:t>
            </a:r>
          </a:p>
        </p:txBody>
      </p:sp>
      <p:sp>
        <p:nvSpPr>
          <p:cNvPr id="1034" name="TextBox 1033">
            <a:extLst>
              <a:ext uri="{FF2B5EF4-FFF2-40B4-BE49-F238E27FC236}">
                <a16:creationId xmlns:a16="http://schemas.microsoft.com/office/drawing/2014/main" id="{A326D48E-01D4-FEA5-D100-9F3E6063C104}"/>
              </a:ext>
            </a:extLst>
          </p:cNvPr>
          <p:cNvSpPr txBox="1"/>
          <p:nvPr/>
        </p:nvSpPr>
        <p:spPr>
          <a:xfrm>
            <a:off x="4136959" y="3939953"/>
            <a:ext cx="1304099" cy="1722908"/>
          </a:xfrm>
          <a:prstGeom prst="rect">
            <a:avLst/>
          </a:prstGeom>
          <a:noFill/>
        </p:spPr>
        <p:txBody>
          <a:bodyPr wrap="square" lIns="91440" tIns="45720" rIns="91440" bIns="45720" rtlCol="0" anchor="t">
            <a:spAutoFit/>
          </a:bodyPr>
          <a:lstStyle/>
          <a:p>
            <a:pPr>
              <a:lnSpc>
                <a:spcPct val="75757"/>
              </a:lnSpc>
              <a:spcAft>
                <a:spcPts val="400"/>
              </a:spcAft>
            </a:pPr>
            <a:r>
              <a:rPr lang="en-US" sz="900">
                <a:latin typeface="Arial" panose="020B0604020202020204" pitchFamily="34" charset="0"/>
                <a:cs typeface="Arial" panose="020B0604020202020204" pitchFamily="34" charset="0"/>
              </a:rPr>
              <a:t>This is just placeholder! Caption your data with some helpful info.</a:t>
            </a:r>
            <a:endParaRPr lang="en-US"/>
          </a:p>
          <a:p>
            <a:pPr>
              <a:lnSpc>
                <a:spcPct val="75757"/>
              </a:lnSpc>
              <a:spcAft>
                <a:spcPts val="400"/>
              </a:spcAft>
            </a:pPr>
            <a:r>
              <a:rPr lang="en-US" sz="900">
                <a:latin typeface="Arial" panose="020B0604020202020204" pitchFamily="34" charset="0"/>
                <a:cs typeface="Arial" panose="020B0604020202020204" pitchFamily="34" charset="0"/>
              </a:rPr>
              <a:t>Lorem ipsum dolor sit amet, consectur adipiscing elit. Nunc nec elit vitae ligula saggitus pulvinar. Suspendisse in turpis a lorem interdum faucibus at ac ipsum. Donec eget lorem usscipit libero congue viverra vel vel ex. </a:t>
            </a:r>
          </a:p>
        </p:txBody>
      </p:sp>
      <p:pic>
        <p:nvPicPr>
          <p:cNvPr id="1035" name="Picture 6">
            <a:extLst>
              <a:ext uri="{FF2B5EF4-FFF2-40B4-BE49-F238E27FC236}">
                <a16:creationId xmlns:a16="http://schemas.microsoft.com/office/drawing/2014/main" id="{91F42E88-3637-AEE4-28BE-AC86461F0A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3984232"/>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a:extLst>
              <a:ext uri="{FF2B5EF4-FFF2-40B4-BE49-F238E27FC236}">
                <a16:creationId xmlns:a16="http://schemas.microsoft.com/office/drawing/2014/main" id="{197DBCF8-7D39-13CB-0F9A-B511418159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3984233"/>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6">
            <a:extLst>
              <a:ext uri="{FF2B5EF4-FFF2-40B4-BE49-F238E27FC236}">
                <a16:creationId xmlns:a16="http://schemas.microsoft.com/office/drawing/2014/main" id="{DECC36D1-4E2D-FF9D-A416-37039DB9CA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46" y="4995749"/>
            <a:ext cx="1251942" cy="979197"/>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6">
            <a:extLst>
              <a:ext uri="{FF2B5EF4-FFF2-40B4-BE49-F238E27FC236}">
                <a16:creationId xmlns:a16="http://schemas.microsoft.com/office/drawing/2014/main" id="{E19E1514-B57C-0D49-CFF3-F80691B0B3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9814" y="4995750"/>
            <a:ext cx="1251941" cy="97919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8" descr="Flow diagram - Wikipedia">
            <a:extLst>
              <a:ext uri="{FF2B5EF4-FFF2-40B4-BE49-F238E27FC236}">
                <a16:creationId xmlns:a16="http://schemas.microsoft.com/office/drawing/2014/main" id="{65202C0E-1E02-B7D2-E13A-A3606D5184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0244" y="1874343"/>
            <a:ext cx="1864062" cy="1421993"/>
          </a:xfrm>
          <a:prstGeom prst="rect">
            <a:avLst/>
          </a:prstGeom>
          <a:noFill/>
          <a:extLst>
            <a:ext uri="{909E8E84-426E-40DD-AFC4-6F175D3DCCD1}">
              <a14:hiddenFill xmlns:a14="http://schemas.microsoft.com/office/drawing/2010/main">
                <a:solidFill>
                  <a:srgbClr val="FFFFFF"/>
                </a:solidFill>
              </a14:hiddenFill>
            </a:ext>
          </a:extLst>
        </p:spPr>
      </p:pic>
      <p:sp>
        <p:nvSpPr>
          <p:cNvPr id="1043" name="TextBox 1042">
            <a:extLst>
              <a:ext uri="{FF2B5EF4-FFF2-40B4-BE49-F238E27FC236}">
                <a16:creationId xmlns:a16="http://schemas.microsoft.com/office/drawing/2014/main" id="{556FE37E-1E71-0FC4-27A0-55508BBE055F}"/>
              </a:ext>
            </a:extLst>
          </p:cNvPr>
          <p:cNvSpPr txBox="1"/>
          <p:nvPr/>
        </p:nvSpPr>
        <p:spPr>
          <a:xfrm>
            <a:off x="7120504" y="1901623"/>
            <a:ext cx="948751" cy="1251368"/>
          </a:xfrm>
          <a:prstGeom prst="rect">
            <a:avLst/>
          </a:prstGeom>
          <a:noFill/>
        </p:spPr>
        <p:txBody>
          <a:bodyPr wrap="square" lIns="91440" tIns="45720" rIns="91440" bIns="45720" rtlCol="0" anchor="t">
            <a:spAutoFit/>
          </a:bodyPr>
          <a:lstStyle/>
          <a:p>
            <a:pPr>
              <a:lnSpc>
                <a:spcPct val="68181"/>
              </a:lnSpc>
              <a:spcAft>
                <a:spcPts val="400"/>
              </a:spcAft>
            </a:pPr>
            <a:r>
              <a:rPr lang="en-US" sz="1000">
                <a:latin typeface="Arial" panose="020B0604020202020204" pitchFamily="34" charset="0"/>
                <a:cs typeface="Arial" panose="020B0604020202020204" pitchFamily="34" charset="0"/>
              </a:rPr>
              <a:t>Explain your experimental setup and how you went about collecting data, and other stuff. This is just placeholder! More text.</a:t>
            </a:r>
            <a:endParaRPr lang="en-US"/>
          </a:p>
        </p:txBody>
      </p:sp>
      <p:pic>
        <p:nvPicPr>
          <p:cNvPr id="1044" name="Picture 10" descr="undefined">
            <a:extLst>
              <a:ext uri="{FF2B5EF4-FFF2-40B4-BE49-F238E27FC236}">
                <a16:creationId xmlns:a16="http://schemas.microsoft.com/office/drawing/2014/main" id="{F314BE95-B219-4173-5799-ECA97E3F00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2016" y="1920690"/>
            <a:ext cx="1008488" cy="1375646"/>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3F3DB71D-2728-83A4-64B0-BD805D6E1704}"/>
              </a:ext>
            </a:extLst>
          </p:cNvPr>
          <p:cNvSpPr txBox="1"/>
          <p:nvPr/>
        </p:nvSpPr>
        <p:spPr>
          <a:xfrm>
            <a:off x="8185523" y="5386706"/>
            <a:ext cx="3918082" cy="612475"/>
          </a:xfrm>
          <a:prstGeom prst="rect">
            <a:avLst/>
          </a:prstGeom>
          <a:noFill/>
        </p:spPr>
        <p:txBody>
          <a:bodyPr wrap="square" lIns="91440" tIns="45720" rIns="91440" bIns="45720" rtlCol="0" anchor="t">
            <a:spAutoFit/>
          </a:bodyPr>
          <a:lstStyle/>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endParaRPr lang="en-US"/>
          </a:p>
          <a:p>
            <a:pPr>
              <a:lnSpc>
                <a:spcPct val="79545"/>
              </a:lnSpc>
              <a:spcAft>
                <a:spcPts val="300"/>
              </a:spcAft>
            </a:pPr>
            <a:r>
              <a:rPr lang="en-US" sz="600">
                <a:latin typeface="Arial" panose="020B0604020202020204" pitchFamily="34" charset="0"/>
                <a:cs typeface="Arial" panose="020B0604020202020204" pitchFamily="34" charset="0"/>
              </a:rPr>
              <a:t>American Management Association. (2010). The AMA handbook of business writing: The ultimate guide to style, grammar, usage, punctuation, construction, and formatting. New York, NY: Author</a:t>
            </a:r>
          </a:p>
          <a:p>
            <a:pPr>
              <a:lnSpc>
                <a:spcPct val="79545"/>
              </a:lnSpc>
              <a:spcAft>
                <a:spcPts val="300"/>
              </a:spcAft>
            </a:pPr>
            <a:r>
              <a:rPr lang="en-US" sz="600">
                <a:latin typeface="Arial" panose="020B0604020202020204" pitchFamily="34" charset="0"/>
                <a:cs typeface="Arial" panose="020B0604020202020204" pitchFamily="34" charset="0"/>
              </a:rPr>
              <a:t>Code of ethics. (2011). In V. L. Burton (Ed.), Encyclopedia of small business (4th ed., Vol. 1, pp. 235-237). Detroit, MI: Gale.</a:t>
            </a:r>
          </a:p>
        </p:txBody>
      </p:sp>
      <p:sp>
        <p:nvSpPr>
          <p:cNvPr id="1051" name="TextBox 1050">
            <a:extLst>
              <a:ext uri="{FF2B5EF4-FFF2-40B4-BE49-F238E27FC236}">
                <a16:creationId xmlns:a16="http://schemas.microsoft.com/office/drawing/2014/main" id="{B08BEE97-2892-8B37-B44D-627A9E1054BB}"/>
              </a:ext>
            </a:extLst>
          </p:cNvPr>
          <p:cNvSpPr txBox="1"/>
          <p:nvPr/>
        </p:nvSpPr>
        <p:spPr>
          <a:xfrm>
            <a:off x="8338539" y="1937150"/>
            <a:ext cx="3559455" cy="1009444"/>
          </a:xfrm>
          <a:prstGeom prst="rect">
            <a:avLst/>
          </a:prstGeom>
          <a:noFill/>
        </p:spPr>
        <p:txBody>
          <a:bodyPr wrap="square" lIns="91440" tIns="45720" rIns="91440" bIns="45720" rtlCol="0" anchor="t">
            <a:spAutoFit/>
          </a:bodyPr>
          <a:lstStyle/>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a:t>
            </a:r>
            <a:endParaRPr lang="en-US"/>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Suspendisse in turpis a lorem interdum faucibus at ac ipsum. Nunc nec elit vitae ligula saggitus pulvinar. </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Explain the figure, if any, that show or justify your concluding results</a:t>
            </a:r>
          </a:p>
          <a:p>
            <a:pPr marL="285750" indent="-285750">
              <a:lnSpc>
                <a:spcPct val="68181"/>
              </a:lnSpc>
              <a:spcAft>
                <a:spcPts val="200"/>
              </a:spcAft>
              <a:buFont typeface="Arial" panose="020B0604020202020204" pitchFamily="34" charset="0"/>
              <a:buChar char="•"/>
            </a:pPr>
            <a:r>
              <a:rPr lang="en-US" sz="1000">
                <a:latin typeface="Arial" panose="020B0604020202020204" pitchFamily="34" charset="0"/>
                <a:cs typeface="Arial" panose="020B0604020202020204" pitchFamily="34" charset="0"/>
              </a:rPr>
              <a:t>Another bullet point for filler text space!</a:t>
            </a:r>
          </a:p>
        </p:txBody>
      </p:sp>
      <p:pic>
        <p:nvPicPr>
          <p:cNvPr id="1052" name="Picture 2" descr="undefined">
            <a:extLst>
              <a:ext uri="{FF2B5EF4-FFF2-40B4-BE49-F238E27FC236}">
                <a16:creationId xmlns:a16="http://schemas.microsoft.com/office/drawing/2014/main" id="{93DF26DE-4E2D-7D20-E090-34E2CC7EAB4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02771" y="3256903"/>
            <a:ext cx="2121781" cy="1527427"/>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45B7B6DF-3A32-1129-A579-1087CA99FA80}"/>
              </a:ext>
            </a:extLst>
          </p:cNvPr>
          <p:cNvSpPr txBox="1"/>
          <p:nvPr/>
        </p:nvSpPr>
        <p:spPr>
          <a:xfrm>
            <a:off x="10615866" y="3257015"/>
            <a:ext cx="1322587" cy="1251368"/>
          </a:xfrm>
          <a:prstGeom prst="rect">
            <a:avLst/>
          </a:prstGeom>
          <a:noFill/>
        </p:spPr>
        <p:txBody>
          <a:bodyPr wrap="square" lIns="91440" tIns="45720" rIns="91440" bIns="45720" rtlCol="0" anchor="t">
            <a:spAutoFit/>
          </a:bodyPr>
          <a:lstStyle/>
          <a:p>
            <a:pPr>
              <a:lnSpc>
                <a:spcPct val="68181"/>
              </a:lnSpc>
              <a:spcAft>
                <a:spcPts val="200"/>
              </a:spcAft>
            </a:pPr>
            <a:r>
              <a:rPr lang="en-US" sz="1000">
                <a:latin typeface="Arial" panose="020B0604020202020204" pitchFamily="34" charset="0"/>
                <a:cs typeface="Arial" panose="020B0604020202020204" pitchFamily="34" charset="0"/>
              </a:rPr>
              <a:t>Lorem ipsum dolor sit amet, consectur adipiscing elit. Curabitur dapibus lectus sit amet augue vehicula tincidunt. Suspendisse in turpis a lorem interdum faucibus at ac ipsum.</a:t>
            </a:r>
            <a:endParaRPr lang="en-US"/>
          </a:p>
        </p:txBody>
      </p:sp>
      <p:sp>
        <p:nvSpPr>
          <p:cNvPr id="5" name="TextBox 4">
            <a:extLst>
              <a:ext uri="{FF2B5EF4-FFF2-40B4-BE49-F238E27FC236}">
                <a16:creationId xmlns:a16="http://schemas.microsoft.com/office/drawing/2014/main" id="{202243CF-3260-61E3-E881-8DD364734D0E}"/>
              </a:ext>
            </a:extLst>
          </p:cNvPr>
          <p:cNvSpPr txBox="1"/>
          <p:nvPr/>
        </p:nvSpPr>
        <p:spPr>
          <a:xfrm>
            <a:off x="4135061" y="6450218"/>
            <a:ext cx="7149351" cy="345992"/>
          </a:xfrm>
          <a:prstGeom prst="rect">
            <a:avLst/>
          </a:prstGeom>
          <a:noFill/>
        </p:spPr>
        <p:txBody>
          <a:bodyPr wrap="square" lIns="91440" tIns="45720" rIns="91440" bIns="45720" rtlCol="0" anchor="t">
            <a:spAutoFit/>
          </a:bodyPr>
          <a:lstStyle/>
          <a:p>
            <a:pPr>
              <a:lnSpc>
                <a:spcPct val="68181"/>
              </a:lnSpc>
            </a:pPr>
            <a:r>
              <a:rPr lang="en-US" sz="800">
                <a:solidFill>
                  <a:schemeClr val="bg2">
                    <a:lumMod val="50000"/>
                  </a:schemeClr>
                </a:solidFill>
                <a:latin typeface="Arial" panose="020B0604020202020204" pitchFamily="34" charset="0"/>
                <a:cs typeface="Arial" panose="020B0604020202020204" pitchFamily="34" charset="0"/>
              </a:rPr>
              <a:t>The authors would like to thank X’s mentorship throughout the course of the summer, as well as NASA OSTEM for this opportunity (list your acknowledgments; they’ll probably take up longer than what I’ve listed so I’m adding this filler text). This should hopefully be ample space now, but there’s plenty of space so feel free to add as many as you need to. Please submit any questions to </a:t>
            </a:r>
            <a:r>
              <a:rPr lang="en-US" sz="800" b="1">
                <a:solidFill>
                  <a:schemeClr val="bg2">
                    <a:lumMod val="50000"/>
                  </a:schemeClr>
                </a:solidFill>
                <a:latin typeface="Arial" panose="020B0604020202020204" pitchFamily="34" charset="0"/>
                <a:cs typeface="Arial" panose="020B0604020202020204" pitchFamily="34" charset="0"/>
              </a:rPr>
              <a:t>allisonli@uchicago.edu </a:t>
            </a:r>
            <a:r>
              <a:rPr lang="en-US" sz="800">
                <a:solidFill>
                  <a:schemeClr val="bg2">
                    <a:lumMod val="50000"/>
                  </a:schemeClr>
                </a:solidFill>
                <a:latin typeface="Arial" panose="020B0604020202020204" pitchFamily="34" charset="0"/>
                <a:cs typeface="Arial" panose="020B0604020202020204" pitchFamily="34" charset="0"/>
              </a:rPr>
              <a:t>or </a:t>
            </a:r>
            <a:r>
              <a:rPr lang="en-US" sz="800" b="1">
                <a:solidFill>
                  <a:schemeClr val="bg2">
                    <a:lumMod val="50000"/>
                  </a:schemeClr>
                </a:solidFill>
                <a:latin typeface="Arial" panose="020B0604020202020204" pitchFamily="34" charset="0"/>
                <a:cs typeface="Arial" panose="020B0604020202020204" pitchFamily="34" charset="0"/>
              </a:rPr>
              <a:t>johndoe@harvard.edu.</a:t>
            </a:r>
            <a:endParaRPr lang="en-US" sz="800">
              <a:solidFill>
                <a:schemeClr val="bg2">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BF1DECE-ACE0-C8FD-7DF5-D01FECB3CAEC}"/>
              </a:ext>
            </a:extLst>
          </p:cNvPr>
          <p:cNvSpPr txBox="1"/>
          <p:nvPr/>
        </p:nvSpPr>
        <p:spPr>
          <a:xfrm>
            <a:off x="4136958" y="6129514"/>
            <a:ext cx="7966647" cy="322268"/>
          </a:xfrm>
          <a:prstGeom prst="rect">
            <a:avLst/>
          </a:prstGeom>
          <a:noFill/>
        </p:spPr>
        <p:txBody>
          <a:bodyPr wrap="square" lIns="91440" tIns="45720" rIns="91440" bIns="45720" rtlCol="0" anchor="t">
            <a:spAutoFit/>
          </a:bodyPr>
          <a:lstStyle/>
          <a:p>
            <a:pPr>
              <a:lnSpc>
                <a:spcPct val="116883"/>
              </a:lnSpc>
            </a:pPr>
            <a:r>
              <a:rPr lang="en-US" sz="1400" b="1">
                <a:solidFill>
                  <a:schemeClr val="bg2">
                    <a:lumMod val="50000"/>
                  </a:schemeClr>
                </a:solidFill>
                <a:latin typeface="Arial" panose="020B0604020202020204" pitchFamily="34" charset="0"/>
                <a:cs typeface="Arial" panose="020B0604020202020204" pitchFamily="34" charset="0"/>
              </a:rPr>
              <a:t>Acknowledgements</a:t>
            </a:r>
            <a:endParaRPr lang="en-US" sz="1400">
              <a:solidFill>
                <a:schemeClr val="bg2">
                  <a:lumMod val="50000"/>
                </a:schemeClr>
              </a:solidFill>
              <a:latin typeface="Arial" panose="020B06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BACFBCC3-F8F2-713B-F5E6-64F154C26C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50839" y="6385839"/>
            <a:ext cx="322551" cy="3225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arvard Crimson Logo and symbol, meaning, history, PNG, brand">
            <a:extLst>
              <a:ext uri="{FF2B5EF4-FFF2-40B4-BE49-F238E27FC236}">
                <a16:creationId xmlns:a16="http://schemas.microsoft.com/office/drawing/2014/main" id="{30B819A6-E0A7-31B9-61AD-BCE73E13A0E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40743" y="6354418"/>
            <a:ext cx="662862" cy="37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424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86ABC8CDE320C48BF3B8620B3102C63" ma:contentTypeVersion="16" ma:contentTypeDescription="Create a new document." ma:contentTypeScope="" ma:versionID="7945523e7d9fc6d179861b889d7e3c0f">
  <xsd:schema xmlns:xsd="http://www.w3.org/2001/XMLSchema" xmlns:xs="http://www.w3.org/2001/XMLSchema" xmlns:p="http://schemas.microsoft.com/office/2006/metadata/properties" xmlns:ns2="c5c101ce-8198-43b5-8890-c444f416894c" xmlns:ns3="83abae26-114d-4bf6-90b2-812a52f64660" targetNamespace="http://schemas.microsoft.com/office/2006/metadata/properties" ma:root="true" ma:fieldsID="28bb33d680c15fd149920816531c8347" ns2:_="" ns3:_="">
    <xsd:import namespace="c5c101ce-8198-43b5-8890-c444f416894c"/>
    <xsd:import namespace="83abae26-114d-4bf6-90b2-812a52f6466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Location"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element ref="ns3:SharedWithUsers" minOccurs="0"/>
                <xsd:element ref="ns3:SharedWithDetail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c101ce-8198-43b5-8890-c444f41689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fb68aea-d2ee-4a6c-85e6-e4b5686e96e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abae26-114d-4bf6-90b2-812a52f6466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50abfc2-4bf0-4a85-9e26-2ce31acb9532}" ma:internalName="TaxCatchAll" ma:showField="CatchAllData" ma:web="83abae26-114d-4bf6-90b2-812a52f64660">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5c101ce-8198-43b5-8890-c444f416894c">
      <Terms xmlns="http://schemas.microsoft.com/office/infopath/2007/PartnerControls"/>
    </lcf76f155ced4ddcb4097134ff3c332f>
    <TaxCatchAll xmlns="83abae26-114d-4bf6-90b2-812a52f64660" xsi:nil="true"/>
  </documentManagement>
</p:properties>
</file>

<file path=customXml/itemProps1.xml><?xml version="1.0" encoding="utf-8"?>
<ds:datastoreItem xmlns:ds="http://schemas.openxmlformats.org/officeDocument/2006/customXml" ds:itemID="{B165FBA8-2D8D-4DB0-9D97-678F732DD3F5}">
  <ds:schemaRefs>
    <ds:schemaRef ds:uri="http://schemas.microsoft.com/sharepoint/v3/contenttype/forms"/>
  </ds:schemaRefs>
</ds:datastoreItem>
</file>

<file path=customXml/itemProps2.xml><?xml version="1.0" encoding="utf-8"?>
<ds:datastoreItem xmlns:ds="http://schemas.openxmlformats.org/officeDocument/2006/customXml" ds:itemID="{91654B61-673B-4598-BDF2-3731630BA838}">
  <ds:schemaRefs>
    <ds:schemaRef ds:uri="83abae26-114d-4bf6-90b2-812a52f64660"/>
    <ds:schemaRef ds:uri="c5c101ce-8198-43b5-8890-c444f416894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C983736-7741-4305-A270-79143B9EEB85}">
  <ds:schemaRefs>
    <ds:schemaRef ds:uri="83abae26-114d-4bf6-90b2-812a52f64660"/>
    <ds:schemaRef ds:uri="c5c101ce-8198-43b5-8890-c444f416894c"/>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4</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 Allison M. (ARC-SG)[Intern]</dc:creator>
  <cp:revision>41</cp:revision>
  <dcterms:created xsi:type="dcterms:W3CDTF">2024-07-11T21:01:22Z</dcterms:created>
  <dcterms:modified xsi:type="dcterms:W3CDTF">2026-07-21T18:14:44Z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0x010100B86ABC8CDE320C48BF3B8620B3102C63</vt:lpwstr>
  </property>
  <property fmtid="{D5CDD505-2E9C-101B-9397-08002B2CF9AE}" pid="3" name="MediaServiceImageTags">
    <vt:lpwstr/>
  </property>
</Properties>
</file>